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uild Intelligence" id="{6ceed80d-cafe-7fba-cab9-673e81c4be24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25880"/>
            <a:ext cx="822960" cy="64008"/>
          </a:xfrm>
          <a:prstGeom prst="rect">
            <a:avLst/>
          </a:prstGeom>
          <a:solidFill>
            <a:schemeClr val="accent2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  <p:sp>
        <p:nvSpPr>
          <p:cNvPr id="3" name="Shape 0"/>
          <p:cNvSpPr/>
          <p:nvPr/>
        </p:nvSpPr>
        <p:spPr>
          <a:xfrm>
            <a:off x="457200" y="932688"/>
            <a:ext cx="822960" cy="457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477316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Unit IV  ·  AI-Enhanced Build Intelligence  ·  24CSE502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234440"/>
            <a:ext cx="822960" cy="6400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141732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2880360"/>
            <a:ext cx="78638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CFD8E6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14173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AI-Enhanced Build Intelligence</a:t>
            </a:r>
            <a:endParaRPr lang="en-US" sz="4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40080" y="28803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D8E6"/>
                </a:solidFill>
              </a:rPr>
              <a:t>Unit IV · AI-Assisted Build &amp; Configuration Automation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FD8E6"/>
                </a:solidFill>
              </a:rPr>
              <a:t>Automation in Software Development (24CSE502) · B.Tech CSE – AIDD, V Semester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Four AI techniques that make builds smarter</a:t>
            </a:r>
            <a:endParaRPr lang="en-US" sz="2400" dirty="0"/>
          </a:p>
        </p:txBody>
      </p:sp>
      <p:sp>
        <p:nvSpPr>
          <p:cNvPr id="3" name="Tech card 1"/>
          <p:cNvSpPr/>
          <p:nvPr/>
        </p:nvSpPr>
        <p:spPr>
          <a:xfrm>
            <a:off x="457200" y="1234440"/>
            <a:ext cx="4023360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ch accent 1"/>
          <p:cNvSpPr/>
          <p:nvPr/>
        </p:nvSpPr>
        <p:spPr>
          <a:xfrm>
            <a:off x="457200" y="1234440"/>
            <a:ext cx="64008" cy="12801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075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Smart cache invalidation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Rebuild only what a change can actually affect.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8541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Pattern: ROUTING</a:t>
            </a:r>
            <a:endParaRPr lang="en-US" sz="1050" dirty="0"/>
          </a:p>
        </p:txBody>
      </p:sp>
      <p:sp>
        <p:nvSpPr>
          <p:cNvPr id="8" name="Tech card 2"/>
          <p:cNvSpPr/>
          <p:nvPr/>
        </p:nvSpPr>
        <p:spPr>
          <a:xfrm>
            <a:off x="4663440" y="1234440"/>
            <a:ext cx="4023360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ch accent 2"/>
          <p:cNvSpPr/>
          <p:nvPr/>
        </p:nvSpPr>
        <p:spPr>
          <a:xfrm>
            <a:off x="4663440" y="1234440"/>
            <a:ext cx="64008" cy="12801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3075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Dynamic test-subset routing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69164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Run the tests most likely to catch this diff first.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18541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3"/>
                </a:solidFill>
              </a:rPr>
              <a:t>Pattern: ROUTING</a:t>
            </a:r>
            <a:endParaRPr lang="en-US" sz="1050" dirty="0"/>
          </a:p>
        </p:txBody>
      </p:sp>
      <p:sp>
        <p:nvSpPr>
          <p:cNvPr id="13" name="Tech card 3"/>
          <p:cNvSpPr/>
          <p:nvPr/>
        </p:nvSpPr>
        <p:spPr>
          <a:xfrm>
            <a:off x="457200" y="2651760"/>
            <a:ext cx="4023360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ch accent 3"/>
          <p:cNvSpPr/>
          <p:nvPr/>
        </p:nvSpPr>
        <p:spPr>
          <a:xfrm>
            <a:off x="457200" y="2651760"/>
            <a:ext cx="64008" cy="128016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7249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Log root-cause summarisation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10896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An LLM turns thousands of log lines into a cause and a fix.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60273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Pattern: SUMMARIZATION</a:t>
            </a:r>
            <a:endParaRPr lang="en-US" sz="1050" dirty="0"/>
          </a:p>
        </p:txBody>
      </p:sp>
      <p:sp>
        <p:nvSpPr>
          <p:cNvPr id="18" name="Tech card 4"/>
          <p:cNvSpPr/>
          <p:nvPr/>
        </p:nvSpPr>
        <p:spPr>
          <a:xfrm>
            <a:off x="4663440" y="2651760"/>
            <a:ext cx="4023360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ch accent 4"/>
          <p:cNvSpPr/>
          <p:nvPr/>
        </p:nvSpPr>
        <p:spPr>
          <a:xfrm>
            <a:off x="4663440" y="2651760"/>
            <a:ext cx="64008" cy="128016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27249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Build-failure prediction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310896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Score the risk from history before the costly build runs.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60273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4"/>
                </a:solidFill>
              </a:rPr>
              <a:t>Pattern: ANOMALY DETECTION</a:t>
            </a:r>
            <a:endParaRPr lang="en-US" sz="1050" dirty="0"/>
          </a:p>
        </p:txBody>
      </p:sp>
      <p:sp>
        <p:nvSpPr>
          <p:cNvPr id="23" name="Takeaway banner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The deterministic pipeline stays underneath — AI decides what to run, what to reuse and what to read.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Smart cache invalidation via impact analysis</a:t>
            </a:r>
            <a:endParaRPr lang="en-US" sz="2400" dirty="0"/>
          </a:p>
        </p:txBody>
      </p:sp>
      <p:sp>
        <p:nvSpPr>
          <p:cNvPr id="3" name="Flow box 1"/>
          <p:cNvSpPr/>
          <p:nvPr/>
        </p:nvSpPr>
        <p:spPr>
          <a:xfrm>
            <a:off x="457200" y="1234440"/>
            <a:ext cx="178308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178308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Code diff</a:t>
            </a:r>
            <a:endParaRPr lang="en-US" sz="1300" dirty="0"/>
          </a:p>
        </p:txBody>
      </p:sp>
      <p:sp>
        <p:nvSpPr>
          <p:cNvPr id="5" name="Flow arrow 1"/>
          <p:cNvSpPr/>
          <p:nvPr/>
        </p:nvSpPr>
        <p:spPr>
          <a:xfrm>
            <a:off x="2304288" y="1481328"/>
            <a:ext cx="237744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Flow box 2"/>
          <p:cNvSpPr/>
          <p:nvPr/>
        </p:nvSpPr>
        <p:spPr>
          <a:xfrm>
            <a:off x="2606040" y="1234440"/>
            <a:ext cx="178308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06040" y="1234440"/>
            <a:ext cx="178308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Dependency graph</a:t>
            </a:r>
            <a:endParaRPr lang="en-US" sz="1300" dirty="0"/>
          </a:p>
        </p:txBody>
      </p:sp>
      <p:sp>
        <p:nvSpPr>
          <p:cNvPr id="8" name="Flow arrow 2"/>
          <p:cNvSpPr/>
          <p:nvPr/>
        </p:nvSpPr>
        <p:spPr>
          <a:xfrm>
            <a:off x="4453128" y="1481328"/>
            <a:ext cx="237744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Flow box 3"/>
          <p:cNvSpPr/>
          <p:nvPr/>
        </p:nvSpPr>
        <p:spPr>
          <a:xfrm>
            <a:off x="4754880" y="1234440"/>
            <a:ext cx="178308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234440"/>
            <a:ext cx="178308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Change-impact analysis</a:t>
            </a:r>
            <a:endParaRPr lang="en-US" sz="1300" dirty="0"/>
          </a:p>
        </p:txBody>
      </p:sp>
      <p:sp>
        <p:nvSpPr>
          <p:cNvPr id="11" name="Flow arrow 3"/>
          <p:cNvSpPr/>
          <p:nvPr/>
        </p:nvSpPr>
        <p:spPr>
          <a:xfrm>
            <a:off x="6601968" y="1481328"/>
            <a:ext cx="237744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Flow box 4"/>
          <p:cNvSpPr/>
          <p:nvPr/>
        </p:nvSpPr>
        <p:spPr>
          <a:xfrm>
            <a:off x="6903720" y="1234440"/>
            <a:ext cx="178308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03720" y="1234440"/>
            <a:ext cx="178308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Invalidate only impacted cache</a:t>
            </a:r>
            <a:endParaRPr lang="en-US" sz="1300" dirty="0"/>
          </a:p>
        </p:txBody>
      </p:sp>
      <p:sp>
        <p:nvSpPr>
          <p:cNvPr id="14" name="Card How AI helps"/>
          <p:cNvSpPr/>
          <p:nvPr/>
        </p:nvSpPr>
        <p:spPr>
          <a:xfrm>
            <a:off x="457200" y="2286000"/>
            <a:ext cx="4023360" cy="2286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Card accent"/>
          <p:cNvSpPr/>
          <p:nvPr/>
        </p:nvSpPr>
        <p:spPr>
          <a:xfrm>
            <a:off x="457200" y="2286000"/>
            <a:ext cx="64008" cy="2286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35915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How AI helps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743200"/>
            <a:ext cx="370332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Walks reverse dependencies from the changed files to find what is truly affected.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Learns hidden links a static graph misses: generated code, configs, env variables.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Flags cache entries that were wrongly reused in past failed builds.</a:t>
            </a:r>
            <a:endParaRPr lang="en-US" sz="1200" dirty="0"/>
          </a:p>
        </p:txBody>
      </p:sp>
      <p:sp>
        <p:nvSpPr>
          <p:cNvPr id="18" name="Card Watch-outs"/>
          <p:cNvSpPr/>
          <p:nvPr/>
        </p:nvSpPr>
        <p:spPr>
          <a:xfrm>
            <a:off x="4663440" y="2286000"/>
            <a:ext cx="4023360" cy="2286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Card accent"/>
          <p:cNvSpPr/>
          <p:nvPr/>
        </p:nvSpPr>
        <p:spPr>
          <a:xfrm>
            <a:off x="4663440" y="2286000"/>
            <a:ext cx="64008" cy="22860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235915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Watch-outs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2743200"/>
            <a:ext cx="370332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Over-invalidation = slow builds; under-invalidation = stale, wrong artefacts.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Keep content-hash cache keys as the deterministic safety net.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Run a periodic clean build to verify cache correctness.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Dynamic test-subset routing from code diffs</a:t>
            </a:r>
            <a:endParaRPr lang="en-US" sz="2400" dirty="0"/>
          </a:p>
        </p:txBody>
      </p:sp>
      <p:sp>
        <p:nvSpPr>
          <p:cNvPr id="3" name="Flow box 1"/>
          <p:cNvSpPr/>
          <p:nvPr/>
        </p:nvSpPr>
        <p:spPr>
          <a:xfrm>
            <a:off x="457200" y="1234440"/>
            <a:ext cx="178308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178308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Code diff</a:t>
            </a:r>
            <a:endParaRPr lang="en-US" sz="1300" dirty="0"/>
          </a:p>
        </p:txBody>
      </p:sp>
      <p:sp>
        <p:nvSpPr>
          <p:cNvPr id="5" name="Flow arrow 1"/>
          <p:cNvSpPr/>
          <p:nvPr/>
        </p:nvSpPr>
        <p:spPr>
          <a:xfrm>
            <a:off x="2304288" y="1481328"/>
            <a:ext cx="237744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Flow box 2"/>
          <p:cNvSpPr/>
          <p:nvPr/>
        </p:nvSpPr>
        <p:spPr>
          <a:xfrm>
            <a:off x="2606040" y="1234440"/>
            <a:ext cx="178308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06040" y="1234440"/>
            <a:ext cx="178308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Map changes to tests</a:t>
            </a:r>
            <a:endParaRPr lang="en-US" sz="1300" dirty="0"/>
          </a:p>
        </p:txBody>
      </p:sp>
      <p:sp>
        <p:nvSpPr>
          <p:cNvPr id="8" name="Flow arrow 2"/>
          <p:cNvSpPr/>
          <p:nvPr/>
        </p:nvSpPr>
        <p:spPr>
          <a:xfrm>
            <a:off x="4453128" y="1481328"/>
            <a:ext cx="237744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Flow box 3"/>
          <p:cNvSpPr/>
          <p:nvPr/>
        </p:nvSpPr>
        <p:spPr>
          <a:xfrm>
            <a:off x="4754880" y="1234440"/>
            <a:ext cx="178308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234440"/>
            <a:ext cx="178308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Rank by failure likelihood</a:t>
            </a:r>
            <a:endParaRPr lang="en-US" sz="1300" dirty="0"/>
          </a:p>
        </p:txBody>
      </p:sp>
      <p:sp>
        <p:nvSpPr>
          <p:cNvPr id="11" name="Flow arrow 3"/>
          <p:cNvSpPr/>
          <p:nvPr/>
        </p:nvSpPr>
        <p:spPr>
          <a:xfrm>
            <a:off x="6601968" y="1481328"/>
            <a:ext cx="237744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Flow box 4"/>
          <p:cNvSpPr/>
          <p:nvPr/>
        </p:nvSpPr>
        <p:spPr>
          <a:xfrm>
            <a:off x="6903720" y="1234440"/>
            <a:ext cx="178308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03720" y="1234440"/>
            <a:ext cx="178308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Run subset first, full suite later</a:t>
            </a:r>
            <a:endParaRPr lang="en-US" sz="1300" dirty="0"/>
          </a:p>
        </p:txBody>
      </p:sp>
      <p:sp>
        <p:nvSpPr>
          <p:cNvPr id="14" name="Card How it works"/>
          <p:cNvSpPr/>
          <p:nvPr/>
        </p:nvSpPr>
        <p:spPr>
          <a:xfrm>
            <a:off x="457200" y="2286000"/>
            <a:ext cx="4023360" cy="2286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Card accent"/>
          <p:cNvSpPr/>
          <p:nvPr/>
        </p:nvSpPr>
        <p:spPr>
          <a:xfrm>
            <a:off x="457200" y="2286000"/>
            <a:ext cx="64008" cy="22860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35915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How it works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743200"/>
            <a:ext cx="370332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Mapping uses coverage data and past commit-to-failure history.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 model ranks tests by how likely they are to fail for this diff.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Developers get feedback in minutes instead of waiting for the whole suite.</a:t>
            </a:r>
            <a:endParaRPr lang="en-US" sz="1200" dirty="0"/>
          </a:p>
        </p:txBody>
      </p:sp>
      <p:sp>
        <p:nvSpPr>
          <p:cNvPr id="18" name="Card Safeguards"/>
          <p:cNvSpPr/>
          <p:nvPr/>
        </p:nvSpPr>
        <p:spPr>
          <a:xfrm>
            <a:off x="4663440" y="2286000"/>
            <a:ext cx="4023360" cy="2286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Card accent"/>
          <p:cNvSpPr/>
          <p:nvPr/>
        </p:nvSpPr>
        <p:spPr>
          <a:xfrm>
            <a:off x="4663440" y="2286000"/>
            <a:ext cx="64008" cy="22860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235915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Safeguards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2743200"/>
            <a:ext cx="370332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Routing pattern: the pipeline stays deterministic; only the selection is probabilistic.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Run the full suite on merge or nightly as the safety net.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Log skipped tests and track escaped defects to tune the model.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LLM root-cause summarisation of build logs</a:t>
            </a:r>
            <a:endParaRPr lang="en-US" sz="2400" dirty="0"/>
          </a:p>
        </p:txBody>
      </p:sp>
      <p:sp>
        <p:nvSpPr>
          <p:cNvPr id="3" name="Flow box 1"/>
          <p:cNvSpPr/>
          <p:nvPr/>
        </p:nvSpPr>
        <p:spPr>
          <a:xfrm>
            <a:off x="457200" y="1234440"/>
            <a:ext cx="178308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178308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Raw build log</a:t>
            </a:r>
            <a:endParaRPr lang="en-US" sz="1300" dirty="0"/>
          </a:p>
        </p:txBody>
      </p:sp>
      <p:sp>
        <p:nvSpPr>
          <p:cNvPr id="5" name="Flow arrow 1"/>
          <p:cNvSpPr/>
          <p:nvPr/>
        </p:nvSpPr>
        <p:spPr>
          <a:xfrm>
            <a:off x="2304288" y="1481328"/>
            <a:ext cx="237744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Flow box 2"/>
          <p:cNvSpPr/>
          <p:nvPr/>
        </p:nvSpPr>
        <p:spPr>
          <a:xfrm>
            <a:off x="2606040" y="1234440"/>
            <a:ext cx="178308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06040" y="1234440"/>
            <a:ext cx="178308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Filter &amp; redact noise</a:t>
            </a:r>
            <a:endParaRPr lang="en-US" sz="1300" dirty="0"/>
          </a:p>
        </p:txBody>
      </p:sp>
      <p:sp>
        <p:nvSpPr>
          <p:cNvPr id="8" name="Flow arrow 2"/>
          <p:cNvSpPr/>
          <p:nvPr/>
        </p:nvSpPr>
        <p:spPr>
          <a:xfrm>
            <a:off x="4453128" y="1481328"/>
            <a:ext cx="237744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Flow box 3"/>
          <p:cNvSpPr/>
          <p:nvPr/>
        </p:nvSpPr>
        <p:spPr>
          <a:xfrm>
            <a:off x="4754880" y="1234440"/>
            <a:ext cx="178308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234440"/>
            <a:ext cx="178308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LLM + diff context</a:t>
            </a:r>
            <a:endParaRPr lang="en-US" sz="1300" dirty="0"/>
          </a:p>
        </p:txBody>
      </p:sp>
      <p:sp>
        <p:nvSpPr>
          <p:cNvPr id="11" name="Flow arrow 3"/>
          <p:cNvSpPr/>
          <p:nvPr/>
        </p:nvSpPr>
        <p:spPr>
          <a:xfrm>
            <a:off x="6601968" y="1481328"/>
            <a:ext cx="237744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Flow box 4"/>
          <p:cNvSpPr/>
          <p:nvPr/>
        </p:nvSpPr>
        <p:spPr>
          <a:xfrm>
            <a:off x="6903720" y="1234440"/>
            <a:ext cx="178308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03720" y="1234440"/>
            <a:ext cx="178308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Cause · failing step · fix</a:t>
            </a:r>
            <a:endParaRPr lang="en-US" sz="1300" dirty="0"/>
          </a:p>
        </p:txBody>
      </p:sp>
      <p:sp>
        <p:nvSpPr>
          <p:cNvPr id="14" name="Card Example"/>
          <p:cNvSpPr/>
          <p:nvPr/>
        </p:nvSpPr>
        <p:spPr>
          <a:xfrm>
            <a:off x="457200" y="2286000"/>
            <a:ext cx="4023360" cy="2286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Card accent"/>
          <p:cNvSpPr/>
          <p:nvPr/>
        </p:nvSpPr>
        <p:spPr>
          <a:xfrm>
            <a:off x="457200" y="2286000"/>
            <a:ext cx="64008" cy="22860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35915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Example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743200"/>
            <a:ext cx="370332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Log: ModuleNotFoundError: No module named 'requests' at the pytest step.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Root cause: dependency missing from requirements.txt after this commit.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Suggested fix: add requests and re-run. Confidence: high.</a:t>
            </a:r>
            <a:endParaRPr lang="en-US" sz="1200" dirty="0"/>
          </a:p>
        </p:txBody>
      </p:sp>
      <p:sp>
        <p:nvSpPr>
          <p:cNvPr id="18" name="Card Trust, but verify"/>
          <p:cNvSpPr/>
          <p:nvPr/>
        </p:nvSpPr>
        <p:spPr>
          <a:xfrm>
            <a:off x="4663440" y="2286000"/>
            <a:ext cx="4023360" cy="2286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Card accent"/>
          <p:cNvSpPr/>
          <p:nvPr/>
        </p:nvSpPr>
        <p:spPr>
          <a:xfrm>
            <a:off x="4663440" y="2286000"/>
            <a:ext cx="64008" cy="22860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235915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Trust, but verify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2743200"/>
            <a:ext cx="370332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When several causes fit (flaky network + real regression), the LLM may name only one.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The summary is a proposal: a human confirms before reverting or fixing.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Redact secrets and tokens before logs leave your pipeline.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Build-failure prediction from telemetry</a:t>
            </a:r>
            <a:endParaRPr lang="en-US" sz="2400" dirty="0"/>
          </a:p>
        </p:txBody>
      </p:sp>
      <p:sp>
        <p:nvSpPr>
          <p:cNvPr id="3" name="Flow box 1"/>
          <p:cNvSpPr/>
          <p:nvPr/>
        </p:nvSpPr>
        <p:spPr>
          <a:xfrm>
            <a:off x="457200" y="1234440"/>
            <a:ext cx="178308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178308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Historical build telemetry</a:t>
            </a:r>
            <a:endParaRPr lang="en-US" sz="1300" dirty="0"/>
          </a:p>
        </p:txBody>
      </p:sp>
      <p:sp>
        <p:nvSpPr>
          <p:cNvPr id="5" name="Flow arrow 1"/>
          <p:cNvSpPr/>
          <p:nvPr/>
        </p:nvSpPr>
        <p:spPr>
          <a:xfrm>
            <a:off x="2304288" y="1481328"/>
            <a:ext cx="237744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Flow box 2"/>
          <p:cNvSpPr/>
          <p:nvPr/>
        </p:nvSpPr>
        <p:spPr>
          <a:xfrm>
            <a:off x="2606040" y="1234440"/>
            <a:ext cx="178308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06040" y="1234440"/>
            <a:ext cx="178308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Feature extraction</a:t>
            </a:r>
            <a:endParaRPr lang="en-US" sz="1300" dirty="0"/>
          </a:p>
        </p:txBody>
      </p:sp>
      <p:sp>
        <p:nvSpPr>
          <p:cNvPr id="8" name="Flow arrow 2"/>
          <p:cNvSpPr/>
          <p:nvPr/>
        </p:nvSpPr>
        <p:spPr>
          <a:xfrm>
            <a:off x="4453128" y="1481328"/>
            <a:ext cx="237744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Flow box 3"/>
          <p:cNvSpPr/>
          <p:nvPr/>
        </p:nvSpPr>
        <p:spPr>
          <a:xfrm>
            <a:off x="4754880" y="1234440"/>
            <a:ext cx="178308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234440"/>
            <a:ext cx="178308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Risk model</a:t>
            </a:r>
            <a:endParaRPr lang="en-US" sz="1300" dirty="0"/>
          </a:p>
        </p:txBody>
      </p:sp>
      <p:sp>
        <p:nvSpPr>
          <p:cNvPr id="11" name="Flow arrow 3"/>
          <p:cNvSpPr/>
          <p:nvPr/>
        </p:nvSpPr>
        <p:spPr>
          <a:xfrm>
            <a:off x="6601968" y="1481328"/>
            <a:ext cx="237744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Flow box 4"/>
          <p:cNvSpPr/>
          <p:nvPr/>
        </p:nvSpPr>
        <p:spPr>
          <a:xfrm>
            <a:off x="6903720" y="1234440"/>
            <a:ext cx="178308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03720" y="1234440"/>
            <a:ext cx="178308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Risk score → action</a:t>
            </a:r>
            <a:endParaRPr lang="en-US" sz="1300" dirty="0"/>
          </a:p>
        </p:txBody>
      </p:sp>
      <p:sp>
        <p:nvSpPr>
          <p:cNvPr id="14" name="Card Signals used"/>
          <p:cNvSpPr/>
          <p:nvPr/>
        </p:nvSpPr>
        <p:spPr>
          <a:xfrm>
            <a:off x="457200" y="2286000"/>
            <a:ext cx="4023360" cy="2286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Card accent"/>
          <p:cNvSpPr/>
          <p:nvPr/>
        </p:nvSpPr>
        <p:spPr>
          <a:xfrm>
            <a:off x="457200" y="2286000"/>
            <a:ext cx="64008" cy="22860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35915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Signals used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743200"/>
            <a:ext cx="370332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Diff size and files or modules touched.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Past failure rate of those modules.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Dependency or config changes; recent flaky or failed runs.</a:t>
            </a:r>
            <a:endParaRPr lang="en-US" sz="1200" dirty="0"/>
          </a:p>
        </p:txBody>
      </p:sp>
      <p:sp>
        <p:nvSpPr>
          <p:cNvPr id="18" name="Card How the score is used"/>
          <p:cNvSpPr/>
          <p:nvPr/>
        </p:nvSpPr>
        <p:spPr>
          <a:xfrm>
            <a:off x="4663440" y="2286000"/>
            <a:ext cx="4023360" cy="2286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Card accent"/>
          <p:cNvSpPr/>
          <p:nvPr/>
        </p:nvSpPr>
        <p:spPr>
          <a:xfrm>
            <a:off x="4663440" y="2286000"/>
            <a:ext cx="64008" cy="2286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235915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How the score is used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2743200"/>
            <a:ext cx="370332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High risk: full tests and extra review. Low risk: fast path.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It flags, it does not fix: detection stays separate from action.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Track precision/recall, retrain as code drifts; needs enough history (cold start).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Putting it together: DORA impact &amp; safeguards</a:t>
            </a:r>
            <a:endParaRPr lang="en-US" sz="2400" dirty="0"/>
          </a:p>
        </p:txBody>
      </p:sp>
      <p:sp>
        <p:nvSpPr>
          <p:cNvPr id="3" name="Flow box 1"/>
          <p:cNvSpPr/>
          <p:nvPr/>
        </p:nvSpPr>
        <p:spPr>
          <a:xfrm>
            <a:off x="457200" y="1234440"/>
            <a:ext cx="178308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178308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Predict risk</a:t>
            </a:r>
            <a:endParaRPr lang="en-US" sz="1300" dirty="0"/>
          </a:p>
        </p:txBody>
      </p:sp>
      <p:sp>
        <p:nvSpPr>
          <p:cNvPr id="5" name="Flow arrow 1"/>
          <p:cNvSpPr/>
          <p:nvPr/>
        </p:nvSpPr>
        <p:spPr>
          <a:xfrm>
            <a:off x="2304288" y="1481328"/>
            <a:ext cx="237744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Flow box 2"/>
          <p:cNvSpPr/>
          <p:nvPr/>
        </p:nvSpPr>
        <p:spPr>
          <a:xfrm>
            <a:off x="2606040" y="1234440"/>
            <a:ext cx="178308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06040" y="1234440"/>
            <a:ext cx="178308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Route tests</a:t>
            </a:r>
            <a:endParaRPr lang="en-US" sz="1300" dirty="0"/>
          </a:p>
        </p:txBody>
      </p:sp>
      <p:sp>
        <p:nvSpPr>
          <p:cNvPr id="8" name="Flow arrow 2"/>
          <p:cNvSpPr/>
          <p:nvPr/>
        </p:nvSpPr>
        <p:spPr>
          <a:xfrm>
            <a:off x="4453128" y="1481328"/>
            <a:ext cx="237744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Flow box 3"/>
          <p:cNvSpPr/>
          <p:nvPr/>
        </p:nvSpPr>
        <p:spPr>
          <a:xfrm>
            <a:off x="4754880" y="1234440"/>
            <a:ext cx="178308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234440"/>
            <a:ext cx="178308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Reuse cache</a:t>
            </a:r>
            <a:endParaRPr lang="en-US" sz="1300" dirty="0"/>
          </a:p>
        </p:txBody>
      </p:sp>
      <p:sp>
        <p:nvSpPr>
          <p:cNvPr id="11" name="Flow arrow 3"/>
          <p:cNvSpPr/>
          <p:nvPr/>
        </p:nvSpPr>
        <p:spPr>
          <a:xfrm>
            <a:off x="6601968" y="1481328"/>
            <a:ext cx="237744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Flow box 4"/>
          <p:cNvSpPr/>
          <p:nvPr/>
        </p:nvSpPr>
        <p:spPr>
          <a:xfrm>
            <a:off x="6903720" y="1234440"/>
            <a:ext cx="178308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03720" y="1234440"/>
            <a:ext cx="178308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Summarise failures</a:t>
            </a:r>
            <a:endParaRPr lang="en-US" sz="1300" dirty="0"/>
          </a:p>
        </p:txBody>
      </p:sp>
      <p:sp>
        <p:nvSpPr>
          <p:cNvPr id="14" name="Card Impact on DORA metrics"/>
          <p:cNvSpPr/>
          <p:nvPr/>
        </p:nvSpPr>
        <p:spPr>
          <a:xfrm>
            <a:off x="457200" y="2286000"/>
            <a:ext cx="4023360" cy="1645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Card accent"/>
          <p:cNvSpPr/>
          <p:nvPr/>
        </p:nvSpPr>
        <p:spPr>
          <a:xfrm>
            <a:off x="457200" y="2286000"/>
            <a:ext cx="64008" cy="1645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35915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Impact on DORA metrics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743200"/>
            <a:ext cx="3703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Lead Time: faster builds and quicker feedback.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Change Failure Rate: the relevant tests always run.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MTTR: faster diagnosis from log summaries.</a:t>
            </a:r>
            <a:endParaRPr lang="en-US" sz="1200" dirty="0"/>
          </a:p>
        </p:txBody>
      </p:sp>
      <p:sp>
        <p:nvSpPr>
          <p:cNvPr id="18" name="Card Safeguards"/>
          <p:cNvSpPr/>
          <p:nvPr/>
        </p:nvSpPr>
        <p:spPr>
          <a:xfrm>
            <a:off x="4663440" y="2286000"/>
            <a:ext cx="4023360" cy="1645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Card accent"/>
          <p:cNvSpPr/>
          <p:nvPr/>
        </p:nvSpPr>
        <p:spPr>
          <a:xfrm>
            <a:off x="4663440" y="2286000"/>
            <a:ext cx="64008" cy="164592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235915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Safeguards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2743200"/>
            <a:ext cx="3703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Deterministic fallback: clean build + full suite.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 human approves any action the AI proposes.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Measure build time, cache hit rate, escaped defects.</a:t>
            </a:r>
            <a:endParaRPr lang="en-US" sz="1200" dirty="0"/>
          </a:p>
        </p:txBody>
      </p:sp>
      <p:sp>
        <p:nvSpPr>
          <p:cNvPr id="22" name="Closing banner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AI sits on top of CI/CD: it chooses, ranks and explains — the pipeline still builds and tests.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ildIntel">
  <a:themeElements>
    <a:clrScheme name="BuildIntel">
      <a:dk1>
        <a:srgbClr val="1B1F2A"/>
      </a:dk1>
      <a:lt1>
        <a:srgbClr val="FFFFFF"/>
      </a:lt1>
      <a:dk2>
        <a:srgbClr val="1F2A44"/>
      </a:dk2>
      <a:lt2>
        <a:srgbClr val="EEF3F8"/>
      </a:lt2>
      <a:accent1>
        <a:srgbClr val="0FA3B1"/>
      </a:accent1>
      <a:accent2>
        <a:srgbClr val="F2A541"/>
      </a:accent2>
      <a:accent3>
        <a:srgbClr val="3D5A99"/>
      </a:accent3>
      <a:accent4>
        <a:srgbClr val="E4572E"/>
      </a:accent4>
      <a:accent5>
        <a:srgbClr val="5B8E7D"/>
      </a:accent5>
      <a:accent6>
        <a:srgbClr val="8A8FA3"/>
      </a:accent6>
      <a:hlink>
        <a:srgbClr val="0FA3B1"/>
      </a:hlink>
      <a:folHlink>
        <a:srgbClr val="8A8FA3"/>
      </a:folHlink>
    </a:clrScheme>
    <a:fontScheme name="BuildIntel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AI-Enhanced Build Intelligence</dc:title>
  <dc:subject>PptxGenJS Presentation</dc:subject>
  <dc:creator>PptxGenJS</dc:creator>
  <cp:lastModifiedBy>PptxGenJS</cp:lastModifiedBy>
  <cp:revision>1</cp:revision>
  <dcterms:created xsi:type="dcterms:W3CDTF">2026-10-12T04:59:46Z</dcterms:created>
  <dcterms:modified xsi:type="dcterms:W3CDTF">2026-10-12T04:59:46Z</dcterms:modified>
</cp:coreProperties>
</file>