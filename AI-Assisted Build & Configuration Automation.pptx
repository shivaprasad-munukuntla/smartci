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0"/>
  </p:notesMasterIdLst>
  <p:sldIdLst>
    <p:sldId id="256" r:id="rId2"/>
    <p:sldId id="257" r:id="rId3"/>
    <p:sldId id="259" r:id="rId4"/>
    <p:sldId id="261" r:id="rId5"/>
    <p:sldId id="263" r:id="rId6"/>
    <p:sldId id="265" r:id="rId7"/>
    <p:sldId id="266" r:id="rId8"/>
    <p:sldId id="267" r:id="rId9"/>
    <p:sldId id="269" r:id="rId10"/>
    <p:sldId id="270" r:id="rId11"/>
    <p:sldId id="271" r:id="rId12"/>
    <p:sldId id="272" r:id="rId13"/>
    <p:sldId id="273" r:id="rId14"/>
    <p:sldId id="274" r:id="rId15"/>
    <p:sldId id="275" r:id="rId16"/>
    <p:sldId id="276" r:id="rId17"/>
    <p:sldId id="277" r:id="rId18"/>
    <p:sldId id="278" r:id="rId19"/>
    <p:sldId id="279" r:id="rId20"/>
    <p:sldId id="280" r:id="rId21"/>
    <p:sldId id="281" r:id="rId22"/>
    <p:sldId id="282" r:id="rId23"/>
    <p:sldId id="283" r:id="rId24"/>
    <p:sldId id="284" r:id="rId25"/>
    <p:sldId id="285" r:id="rId26"/>
    <p:sldId id="286" r:id="rId27"/>
    <p:sldId id="287" r:id="rId28"/>
    <p:sldId id="288" r:id="rId29"/>
    <p:sldId id="289" r:id="rId30"/>
    <p:sldId id="290" r:id="rId31"/>
    <p:sldId id="291" r:id="rId32"/>
    <p:sldId id="292" r:id="rId33"/>
    <p:sldId id="293" r:id="rId34"/>
    <p:sldId id="294" r:id="rId35"/>
    <p:sldId id="295" r:id="rId36"/>
    <p:sldId id="296" r:id="rId37"/>
    <p:sldId id="297" r:id="rId38"/>
    <p:sldId id="298" r:id="rId39"/>
    <p:sldId id="299" r:id="rId40"/>
    <p:sldId id="300" r:id="rId41"/>
    <p:sldId id="301" r:id="rId42"/>
    <p:sldId id="302" r:id="rId43"/>
    <p:sldId id="303" r:id="rId44"/>
    <p:sldId id="304" r:id="rId45"/>
    <p:sldId id="305" r:id="rId46"/>
    <p:sldId id="306" r:id="rId47"/>
    <p:sldId id="307" r:id="rId48"/>
    <p:sldId id="308" r:id="rId49"/>
    <p:sldId id="309" r:id="rId50"/>
    <p:sldId id="310" r:id="rId51"/>
    <p:sldId id="311" r:id="rId52"/>
    <p:sldId id="312" r:id="rId53"/>
    <p:sldId id="313" r:id="rId54"/>
    <p:sldId id="314" r:id="rId55"/>
    <p:sldId id="315" r:id="rId56"/>
    <p:sldId id="316" r:id="rId57"/>
    <p:sldId id="317" r:id="rId58"/>
    <p:sldId id="318" r:id="rId59"/>
    <p:sldId id="319" r:id="rId60"/>
    <p:sldId id="320" r:id="rId61"/>
    <p:sldId id="321" r:id="rId62"/>
    <p:sldId id="322" r:id="rId63"/>
    <p:sldId id="323" r:id="rId64"/>
    <p:sldId id="324" r:id="rId65"/>
    <p:sldId id="325" r:id="rId66"/>
    <p:sldId id="326" r:id="rId67"/>
    <p:sldId id="327" r:id="rId68"/>
    <p:sldId id="328" r:id="rId69"/>
    <p:sldId id="329" r:id="rId70"/>
    <p:sldId id="330" r:id="rId71"/>
    <p:sldId id="331" r:id="rId72"/>
    <p:sldId id="332" r:id="rId73"/>
    <p:sldId id="333" r:id="rId74"/>
    <p:sldId id="334" r:id="rId75"/>
    <p:sldId id="335" r:id="rId76"/>
    <p:sldId id="336" r:id="rId77"/>
    <p:sldId id="337" r:id="rId78"/>
    <p:sldId id="338" r:id="rId79"/>
    <p:sldId id="339" r:id="rId80"/>
    <p:sldId id="340" r:id="rId81"/>
    <p:sldId id="341" r:id="rId82"/>
    <p:sldId id="342" r:id="rId83"/>
    <p:sldId id="343" r:id="rId84"/>
    <p:sldId id="344" r:id="rId85"/>
    <p:sldId id="345" r:id="rId86"/>
    <p:sldId id="346" r:id="rId87"/>
    <p:sldId id="347" r:id="rId88"/>
    <p:sldId id="348" r:id="rId8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6754" autoAdjust="0"/>
  </p:normalViewPr>
  <p:slideViewPr>
    <p:cSldViewPr snapToGrid="0" snapToObjects="1">
      <p:cViewPr varScale="1">
        <p:scale>
          <a:sx n="79" d="100"/>
          <a:sy n="79" d="100"/>
        </p:scale>
        <p:origin x="1570"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notesMaster" Target="notesMasters/notesMaster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viewProps" Target="view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105428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Module 4 — AI-Assisted Build and Configuration Automation. This nine-hour module is the engineering backbone of the entire course. We will spend roughly three hours on AI-enhanced build intelligence, where modern tools use machine learning and large language models to make CI builds dramatically faster and smarter. Then three hours on configuration management with Ansible — a real-world, agentless tool you will use on the job. And finally three hours on AI-driven infrastructure-as-code generation, the frontier of DevOps right now. Expect lots of code examples, real case studies from Google, Meta, Microsoft and Netflix, hands-on YAML and Python, and a closing recap with Q and A. By the end you will be able to evaluate, prompt, and integrate AI tools into any automation workflow.</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roadmap for Module 4 — your compass for the next nine hours. We have four interconnected pillars. Pillar one, AI-Enhanced Build Intelligence, makes the CI pipeline itself faster using smart caching, dynamic test routing, LLM log summarisation and failure prediction. Pillar two, Configuration Management with Ansible, teaches you how to manage servers at scale using agentless push, YAML playbooks, tasks, roles, modules, and idempotency guarantees. Pillar three, AI-Driven Infrastructure Generation, brings generative AI into the IaC authoring loop, turning natural-language prompts into Terraform and Ansible templates, then linting them with tflint and Checkov. Pillar four ties everything together — end-to-end pipeline, orchestration patterns, pitfalls, best practices. Each pillar builds on the previous one. Refer back to this roadmap whenever the topic shifts.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Briefly remind students what they learned in Modules 1, 2 and 3 — about two minutes per module. Module 1 covered AI-Driven SDLC Foundations — DORA metrics, attention and transformer architecture, and the automation landscape across plan, code, build, test, release and operate. Module 2 covered AI-Powered Developer Tooling — Copilot, Cursor, CodeWhisperer, Gemini Code Assist, prompt engineering techniques like zero-shot, few-shot, and chain-of-thought, plus PR summarisation. Module 3 covered AI-Augmented Test Automation — the testing pyramid, PyTest generation via LLMs, evaluating AI tests, self-healing locators, and OpenAPI to tests. Module 4 zooms out from the individual developer to the entire build and release pipeline. Everything in Module 4 is about system-level automation intelligence, not just code generation.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Section A. Over the next two hours we will cover four AI techniques that make CI builds smarter. Topic 1.1 is smart build-cache invalidation, where AI uses change-impact analysis to invalidate only what actually changed in the dependency graph. Topic 1.2 is dynamic test-subset routing, where AI maps code diffs to tests and runs only the tests that could possibly fail. Topic 1.3 is LLM-based build and error-log summarisation, where an LLM turns 50,000 log lines into a three-sentence root-cause summary. Topic 1.4 is build-failure prediction, where ML models predict which builds are likely to fail before they run. By the end of Section A you will understand how companies like Google, Meta, Microsoft and Netflix have applied these techniques to cut build times by 30 to 70 percent.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stage. Stage one, source trigger — a git push or pull request fires a webhook to the CI server. Stage two, checkout and resolve — pull source code, install dependencies, often rebuilt from scratch. Stage three, compile and build — compile source, package artifacts like JAR or Docker images. Stage four, test — run unit, integration and end-to-end test suites, usually the longest stage. Stage five, publish and notify — push artifacts to a registry, notify the team of green or red status. This pipeline shape — source, resolve, build, test, publish — has been the standard for 15-plus years. The problem is not the shape. It is the lack of intelligence. Every commit triggers every stage, regardless of what changed. This is the wasteful behaviour AI is going to fix.</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AI-enhanced pipeline looks the same on the surface — same five stages. But each stage now has an AI decision layer. The key insight is that AI does not replace the pipeline, it augments it. Stage one, source trigger, stays the same — no AI needed there. Stage two, smart resolve, uses AI change-impact analysis to decide what to rebuild. Stage three, smart build, selectively invalidates cache based on the dependency graph — this is Topic 1.1. Stage four, dynamic test selection, lets AI pick the test subset that maps to the changed code — this is Topic 1.2. Stage five, smart publish plus summarise, uses an LLM to summarise the root cause in two sentences on failure — this is Topic 1.3. Topic 1.4, build-failure prediction, runs as a pre-CI gate before stage one. Together these techniques deliver 30 to 70 percent faster builds.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Topic 1.1, the first of four AI techniques in Section A. Frame the problem. When you change one line in a file, traditional CI throws away the entire build cache and starts over. That is the equivalent of throwing away your entire meal because one dish was undercooked. In this topic we will explain what caching is, why cache invalidation is hard, and how AI solves it elegantly. We will build a dependency graph, identify the changed node, compute the impact set, and invalidate only the impact set. The AI extension adds semantic and co-failure edges to the graph — implicit dependencies that pure graph traversal misses. By the end of this topic you will understand how Google and Uber manage build caches for monorepos with millions of lines.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Caching is just remembering the answer to a question you have already been asked. If I ask you what 7 times 8 is, you answer 56 instantly — you do not re-derive it. Build caching is the same idea for compiled code. The cache stores the output of a previous build keyed by the input hash. If the input hash matches, you get a cache hit and reuse the output — fast. If the hash does not match, you get a cache miss and you rebuild and store — slow. Without caching, every CI run recompiles every file, re-resolves every dependency, and re-runs every step. A 10-minute build becomes 35 minutes. Walk through the diagram on the right. The cache key — the hash of inputs — is what determines whether you get a hit or a miss.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students through the four steps very slowly. Use a concrete example. Imagine a Python monorepo with three packages — web, api, and shared. If I change a function in shared/utils.py, then both web and api depend on it, so the impact set is shared, web, and api. But if I change a function in web/views.py, only web is in the impact set. The cache for api stays valid. Step one — build a directed dependency graph by parsing imports. Step two — diff the current commit against the previous one to find the changed nodes. Step three — traverse the graph from each changed node to compute the impact set. Step four — invalidate only the impact set. Emphasise that this is graph traversal, not AI yet. The AI part comes next.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four AI techniques. For LLM intent parsing — a commit message like fix token refresh bug tells the AI that the change is auth-related, so it expands the impact set to all auth modules, even ones that do not import the changed file directly. For embeddings — AI can detect that two files are semantically related even if they do not import each other. They might both handle authentication through different code paths. For architectural rules — if your repo has a rule like controllers must not call the database directly, and a commit touches a controller file that now imports a DB module, AI flags this as a rule violation and expands the impact set. For co-failure patterns — ML models analyse years of CI history and learn that whenever file A and file B change together, tests tend to fail, so they add B to A's impact set automatically.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code line by line. The build_import_graph function walks every .py file in the repo, parses it with the ast module, and records every import relationship as a graph edge. The impact_set function takes a set of changed files and returns all descendants in the graph — that is, every module that transitively depends on the changed files. This is the baseline — pure static analysis. The AI extension comes next. Highlight that this code is pure Python and runs in seconds even on large repos. The graph can be persisted between CI runs and updated incrementally. The next slide will show how Bazel — Google's build system — does this at industrial scale, and how AI extends the impact set with semantic and co-failure edges.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three-step pattern. Step one uses Bazel's rdeps — reverse dependencies — query to find all targets that explicitly depend on the changed files. This is the classical impact set. Step two: we then call a Python script that loads pre-computed embeddings of every code file and finds files that are semantically similar to the changed file, even without an explicit import. This catches implicit dependencies. The threshold of 0.85 is tunable — lower catches more but adds false positives. Step three: we invalidate the cache only for the union of both sets. Everything else stays cached. Tell students this is exactly how large monorepos at Google and Uber manage build caches. The combination of explicit rdeps plus AI semantic expansion is what gives sub-minute build feedback at monorepo scale.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the Google story. Google's monorepo is so large that a full rebuild of the entire codebase would take days. Yet developers at Google see sub-minute feedback on most changes. How? Bazel's combination of content-addressable storage and dependency-graph traversal. Every build output is hashed by its inputs — if the inputs have not changed, the output is reused. The dependency graph lets Bazel compute the exact set of targets affected by a change. Google runs 50,000-plus builds per day against an 80-million-line monorepo, and Bazel keeps incremental builds in the minutes range, not hours. Note that AI extends this pattern. Modern teams layer AI on top of Bazel to catch semantic dependencies that Bazel alone misses — files that are related by intent, not by import.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Topic 1.2 — Dynamic Test-Subset Routing. This is the parallel idea to Topic 1.1, but for tests instead of build caches. In Topic 1.1 we learned how to invalidate the cache smartly using change-impact analysis. Topic 1.2 applies the same logic to tests — instead of running every test on every commit, we run only the tests that could possibly be affected by the change. The savings are dramatic. For a 10,000-test suite, dynamic routing can cut test execution from 90 minutes to 5 minutes — an 18x speedup. Traditional CI does not map tests to code at all. AI does, by combining coverage maps, embedding similarity, and flake prediction. By the end of this topic you will understand how Meta's Sapienz tool selects less than 25 percent of tests per PR while catching 95 percent of real regressions.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numbers. 90 minutes per PR for a full test suite is a common number in mid-size companies — that is a serious bottleneck for developer productivity. 95 percent of those tests touch code that did not change in this commit — that is the opportunity. 1.2 million dollars per year in cloud costs is real money that companies could save by adopting dynamic test routing. Now multiply: at 200 engineers pushing 10 PRs per day, you are paying for 2,000 full-test-suite runs per day, and 95 percent of that compute is wasted on irrelevant tests. The opportunity is enormous. In the next slide we will see HOW dynamic test routing actually works — a four-step pipeline from diff to selected tests.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step. Step one — we start with the raw diff. What files changed, what functions inside them changed. Step two — we maintain a map of which test files touch which source files. Coverage tools like coverage.py, Jacoco, or Istanbul generate this map automatically on every CI run. Step three — we apply the change-impact analysis from Topic 1.1 to expand the changed-file list into a full impact set, then select every test that touches anything in that set. Step four — AI extends this with semantic matches using embeddings, and with flake-prone tests using an ML model trained on historical flake data. The result is a precise test subset that catches real regressions without wasting time on irrelevant tests.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three signals one at a time. The coverage map is deterministic — it tells us exactly which tests touch the changed code, no AI required. But coverage alone misses tests that should run because they are semantically related. That is where embeddings come in — code-embedding models like CodeBERT or UniXcoder turn each source file and test file into a vector, and similarity search finds tests that are close to the changed file in embedding space. Finally, flake prediction is the insurance policy — if a test has historically flaked when this code area is touched, run it anyway. The philosophy: false negatives — missing a test that would have failed — are expensive; false positives — running a test that passes — are cheap. So the union errs on the side of running more tests, not fewer.</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YAML. This GitHub Actions workflow has two jobs. The first job, compute-impact, checks out the code with full history, then runs a bash step that uses git diff to find which directories changed between the PR branch and main. It maps each changed directory to its corresponding test directory using AWK, and emits a JSON list as an output. The second job, run-selected-tests, depends on the first, then uses that JSON list as a matrix — GitHub Actions will spawn one parallel job per test directory, running only the relevant tests. Point out the simple AWK mapping. In a real repo you would replace this with a Python script that uses coverage data plus embeddings plus flake-prediction to produce a much smarter test list. This is the basic skeleton that every dynamic test-routing pipeline uses.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the Meta story. Meta has millions of tests. Running all of them on every PR is impossible. Their Sapienz tool uses a genetic algorithm — it treats test subsets like organisms competing for survival. Each generation, the algorithm tries a different subset. Subsets that catch more real bugs survive and reproduce; the rest die off. Over time, the algorithm learns which tests are most informative for each code area. Add the ML angle — they layer supervised models on top that predict test failure probability based on the diff: file type, change size, author history. Combined, they run less than 25 percent of tests per PR and still catch 95 percent or more of real regressions. The result is 75 percent test reduction and 3x faster CI. This is what AI-augmented test selection looks like at Meta scale.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Topic 1.3 — LLM-Based Build and Error-Log Summarisation. Frame the pain. A typical failed CI build produces 50,000 or more lines of logs. Developers spend 20 to 40 minutes skimming for the actual error. This is one of the biggest hidden taxes on developer productivity. In this topic we will see how an LLM can read those 50,000 lines in 3 seconds and produce a 3-sentence root-cause summary — with the exact file and line number. We will look at the four-stage workflow — collect, chunk and embed, retrieve and rank, and LLM summarise. We will study a reusable prompt template that you will use in your assignment. And we will see a real before-and-after example, plus the Microsoft Build Copilot case study.</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numbers. 52,000 lines for a Maven build is real — Maven is notoriously verbose. 27 minutes is the median time developers spend finding the actual error — that is per failed build, per developer. Multiply by 100 failed builds per day across a 200-person org and you are losing 45 hours of engineering time per day, every day. 68 percent of incidents involve log-skimming — this is the dominant debugging pattern in modern DevOps. Engineers know the answer is somewhere in the logs, they just cannot find it in time. The LLM opportunity is enormous — read the log, find the answer, summarise it in three sentences with the file and line number. That saves the developer 25 minutes per failed build.</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four stages. Step one — collect the raw log. CI tools already produce this. Step two — chunk it. Most LLMs have a context window of 8K to 200K tokens, so a 50,000-line log will not fit. We chunk it into 2,000-token pieces, embed each chunk, and drop chunks that obviously contain no error signal — typically that removes 70 percent of the noise. Step three — use hybrid retrieval, BM25 keyword search and vector similarity, to find the top-K chunks most relevant to error, fail, exception. Re-rank with a cross-encoder for precision. Step four — send the top-K chunks to an LLM with a structured prompt that asks for three things: root cause, file:line, suggested fix. The output is a 3-sentence summary that saves the developer 27 minutes.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prompt design. Note the structure — root cause, failing file, fix suggestion, confidence. This structure is important because it forces the LLM to commit to a specific answer rather than waffling. The first-error-that-caused-the-cascade rule is critical because failed builds produce cascading errors — you want the original sin, not the symptoms. The confidence field is honest engineering — if the LLM does not know, it says so. The log excerpts variable is filled by the retrieval pipeline from the previous slide. Tell students — you will use this exact prompt template in your assignment. Try it on a real failed CI log from your last project. Reuse it across Maven, Gradle, npm, pip, Docker, and Kubernetes failure logs by tweaking the system message slightly.</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students the value concretely. The left side is what a developer sees today — 12,000 lines of Maven output, of which we are showing the relevant 40 lines. Even within these 40 lines, the actual error is buried among INFO messages and repetitive ERROR lines. The right side is what the LLM produces in 3 seconds — root cause, failing file, fix suggestion, confidence. The LLM identified the exact failing file and line number — UserService.java line 42. It also proposed a likely fix — restore the missing import. The developer can now go straight to UserService.java line 42, saving 25 minutes of skimming. This is the kind of productivity multiplier that makes LLM log summarisation a no-brainer for any CI pipeline.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the Microsoft story. Emphasise the integration angle. The genius of Microsoft Build Copilot is not the LLM — it is the integration. They put the summary right at the top of the failure page, where the developer already is. No copy-paste into ChatGPT, no separate tool. The LLM is invisible — the developer just sees the answer. Behind the scenes, Azure DevOps runs the same chunk, embed, retrieve, summarise pipeline we discussed. Microsoft uses GPT-4-class models with a prompt similar to the one on the previous slide. The metric — 33 percent MTTR reduction — is significant. That is millions of dollars of engineering time recovered per year at Microsoft scale. Encourage students — when you build AI features, integrate them where the user already works. Do not make them switch tools.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Topic 1.4 — Build-Failure Prediction, the last topic in Section A. Frame it as the holy grail. The previous three topics were reactive — they made builds faster once they started running. Topic 1.4 is predictive — it tells you which builds are likely to fail before you run them. Use cases: pre-emptively warn the developer before they push, route risky PRs to a more thorough test subset, skip CI for low-risk changes to save compute, and prioritise code review for high-risk PRs. By the end of this topic you will understand what telemetry signals predict failure — six feature families — and what an ML model for failure prediction looks like, including the three-threshold action framework. We will close with the Netflix case study.</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feature family. Code-Diff Features are the most intuitive — bigger changes have higher failure probability. Lines changed, files touched, deletion ratio, files in historically-buggy directories, new files added. Author Features capture human factors — a developer new to a module is more likely to break it. Time Features capture organisational rhythms — Friday-afternoon commits fail more often, and commits near a release window are riskier. Dependency Features catch supply-chain risk — a transitive dependency upgrade can break things in surprising ways. Test-Suite Features tell you which tests are unreliable. Pipeline Features capture infrastructure noise — a saturated build runner can cause flaky failures. A real failure-prediction model uses 50 to 200 features. These six families are the dominant signal sources.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three steps. For Model Choice — do not start with deep learning. XGBoost or LightGBM will give you 90 percent of the benefit at 10 percent of the complexity, and your model will be interpretable — you can tell developers why their PR was flagged. For Training Data — 6 to 12 months of CI history is the sweet spot. Less than 6 months and your model has not seen enough failure modes. More than 12 months and your codebase has changed so much that old failures are no longer representative. Handle class imbalance with weighted loss or SMOTE — failures are typically less than 15 percent of builds. For Output — the three-threshold approach is the key. Do not just say this will fail. Give the developer a probability and let them decide. Allow a fast-path for low-risk PRs to save CI compute.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the Netflix story. Highlight that Netflix uses a relatively simple model — gradient-boosted trees, not deep learning. The complexity is in the features, not the model. They engineer 50-plus features per build. Talk about the precision-recall tradeoff. 80 percent precision means that when the model says this will fail, it is right 80 percent of the time. The other 20 percent are false alarms — but those are cheap: the developer just reviews extra carefully. The 35 percent recall means the model catches about a third of all failures. The other two-thirds are failures the model has never seen — those become new training data, so the model improves over time. This is the continuous-learning loop that makes failure prediction a long-term investment. The Netflix story shows that you do not need cutting-edge deep learning — you need solid feature engineering.</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four topics briefly. Topic 1.1, smart build-cache invalidation — build a dependency graph, invalidate only the impact set, AI extends the graph with semantic and co-failure edges. Topic 1.2, dynamic test-subset routing — coverage map plus embeddings plus flake prediction, run only the tests that could fail, 18x speedup typical. Topic 1.3, LLM log summarisation — chunk, embed, retrieve, summarise. 50,000 log lines become a 3-sentence root cause, saving 25 minutes per failed build. Topic 1.4, build-failure prediction — six feature families plus XGBoost, predict P of failure before CI runs, three thresholds, three actions. Re-emphasise the unifying principle. Every technique in Section A replaces brute-force with intelligence. Traditional CI says run everything. Section A says run only what could matter this time. Ask students — any questions on Section A before we move to Section B, Configuration Management with Ansible? Take a 5-minute break if needed.</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Section B. In Section A, we made builds smarter. In Section B, we shift from CI to the servers themselves. Ansible is the most widely-used configuration management tool in the world. We will spend roughly three hours learning its architecture, its YAML playbook syntax, roles, handlers, and the critical concept of idempotency. By the end of Section B, you will be able to write a production-quality Ansible role from scratch. The four words on screen — agentless, push-based, idempotent, YAML-native — are the four design decisions that made Ansible win the configuration management war. Keep them in mind throughout this section.</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Snowflake servers are servers that have been hand-configured so many times that no two are identical. They are untestable, unreproducible, and unrecoverable. Walk through the three approaches with the class. Manual SSH is the worst — there is no record of what was done. Bash scripts are better because they are version-controlled, but bash is imperative, so re-running the same script can produce different results. Ansible is the right answer — it is declarative and idempotent. In the Ansible world, you declare WHAT you want, not HOW to get there. Ansible figures out the how. This shift from imperative to declarative thinking is the single most important habit you must build as a DevOps engineer.</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introduce Ansible. Emphasise the four differentiators on screen. Open-source matters — it means no vendor lock-in and a huge community contributing modules. Declarative matters — you describe end state, not procedure. Agentless matters — there is no agent to install, upgrade, or debug on every server, which dramatically reduces the operational surface. YAML-native matters — playbooks are readable and easy to learn, and the same syntax carries over to Kubernetes, GitHub Actions, and other modern tooling. Ansible won the config-management war because it is the simplest tool that gets the job done. Chef and Puppet require agents. Salt is more powerful but harder to learn. Ansible is the right balance of simplicity and capability for ninety percent of use cases.</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column with the class. Ansible is agentless — that is its biggest advantage. Chef requires a Chef agent on every target host, which means more moving parts and more security surface. Puppet also uses agents, but its DSL is more declarative than Chef's Ruby. For the rest of this module, we will focus on Ansible. If your future employer uses Chef or Puppet, the concepts transfer — but the syntax does not. When to choose each? Ansible for greenfield projects. Chef if you have a strong Ruby team already. Puppet if you have legacy Puppet code to maintain. In modern practice, Ansible wins most new evaluations because of its agentless model and shallow learning curve.</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four-step flow with the class. Step one: the control node is where Ansible runs — usually your laptop for ad-hoc work, or a CI runner for production. The control node has Ansible installed. Step two: Ansible opens a standard SSH connection to each managed host. You use the same SSH keys you already use, with no special setup. Step three: Ansible copies a small Python module — like apt.py or copy.py — to the target host. This module is a self-contained Python script. Step four: the module runs, returns JSON output, and removes itself. The target host is left in a clean state. By contrast, Chef and Puppet install a permanent agent that has to be upgraded, has security implications, and consumes resources twenty-four hours a day.</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push and pull clearly. Push: the control node initiates the connection. Pull: the target hosts check in periodically to fetch their config. Walk through the pros and cons. Push is simpler and gives faster feedback — you run ansible-playbook, you see results in seconds. Pull is better for auto-remediating drift — even if someone manually edits a config file on a server, the next agent pull will revert it. Most modern teams use push. If they need drift correction, they run Ansible on a schedule via Ansible Tower or AWX, or via a CI pipeline that runs ansible-playbook every fifteen minutes. The push model combined with scheduled CI runs gives you the best of both worlds: simplicity, fast feedback, and automated drift correction without a permanent agent.</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four points. Standard OpenSSH means no special binaries to install on either side of the connection — if you can ssh to a host, Ansible can manage it. SSH keys are the recommended authentication method; disable password authentication in production for security. The forks setting controls parallelism — the default is five, but you can bump it to fifty or five hundred for large fleets, at the cost of CPU and memory on the control node. The SFTP-based module transport is the genius of Ansible — it means any host with Python 3 and SSH can be managed, with no special setup. If you can SSH to a host, Ansible can manage it. That is the entire onboarding story, and it is why Ansible spread so quickly.</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the inventory clearly: the inventory is a list of hosts that Ansible manages. It can be static — a plain text file — or dynamic — a script that queries your cloud provider. Walk through the three concepts. Static inventory is fine for small fleets of a few dozen hosts in an INI file under version control. Dynamic inventory is essential for cloud — hosts come and go all the time, and you cannot maintain a static list manually. Groups let you target subsets of your fleet — run a playbook only against the web tier, or only against the database tier. Variables attached to groups let you customise behaviour per tier — for example, all web servers might use ubuntu as the SSH user, while all database servers use postgres. The inventory is Ansible's address book.</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INI file with the class. The webservers, dbservers, and cache sections in square brackets define three groups. Each host line has the hostname plus optional inline variables — ansible_user sets the SSH user, ansible_port overrides the default SSH port. The production:children section is a group of groups — it lets you target all production hosts in one shot using the production pattern. The production:vars section defines variables shared by every host in the production group, like SSH common arguments and the environment tag. This is the simplest possible inventory — a flat INI file. For real cloud deployments, you would use a dynamic inventory script, but the concepts of groups, variables, and group-of-groups are identical.</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ad-hoc commands: ad-hoc commands are one-shot Ansible operations. You type a single command, Ansible runs it across your fleet, you see the results in seconds. Give examples: ping all hosts, gather facts such as OS version, IP addresses, memory and disks, reboot the web tier, install a package, copy a file. Stress the rule: if you run the same ad-hoc command twice, write a playbook instead. Ad-hoc commands are for exploration and one-off operations — playbooks are for repeatable, documented, version-controlled automation. Ad-hoc commands are the gateway drug to Ansible. Use them to learn the tool, then graduate to playbooks once you understand the patterns.</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command. Command one — ansible all minus m ping — is the simplest possible Ansible command. It pings every host in the inventory. Useful as a smoke test. Command two — ansible webservers minus m setup — the setup module gathers facts about each host: OS version, IP addresses, memory, disks, network interfaces. This is how you discover what you are managing. Command three — ansible production minus m command minus a df minus h — runs the df minus h shell command on every production host. The become flag tells Ansible to use sudo. Command four reboots every webserver — useful for kernel updates. Command five installs nginx on every webserver using the apt module. This is idempotent — running it one hundred times produces the same result as running it once.</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hierarchy. Playbook is the top-level file. Inside it, you have one or more plays. Each play targets a host group from the inventory and runs a list of tasks. Each task calls a module. Modules are the reusable building blocks — apt installs packages, copy copies files, template renders Jinja2 templates, service manages services. Think of the playbook as a script, the play as a scene, the task as a single action, and the module as the actor. Each level of the hierarchy has a clear role. In production codebases, you will see playbooks that are mostly a list of roles, with each role internally containing many tasks that call many modules. The structure scales cleanly.</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playbook. The hosts webservers line targets the webservers group from the inventory. The become yes line tells Ansible to use sudo for the tasks in this play. The vars block defines a variable, nginx_port, that could be referenced later in templates. The three tasks are: install nginx via the apt module, copy the nginx config via the template module, and ensure nginx is running via the service module. Note the notify restart nginx on the template task — this is a handler trigger. If the template task changes the file because the config was updated, the handler runs. If the file is unchanged, the handler is skipped. This is the classic Ansible pattern — install package, deploy config, start service. The handler ensures the service only restarts when the config actually changes.</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four parts of a task. The name is human-readable — Ansible prints it when running, so every task needs a meaningful name for debugging. The module is what gets called — apt, copy, service, file, template, git, docker, and so on. The when clause is a conditional — only run the task if the condition is true. The register and changed_when combo lets you capture output and override Ansible's automatic changed detection. Real Ansible tasks use all four parts. The name and module are mandatory. The when and register clauses are how you make playbooks dynamic — they let a single playbook adapt to different host facts, capture intermediate state, and propagate results to subsequent tasks. Master these four parts and you have unlocked the bulk of Ansible's expressiveness.</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three patterns. Pattern one: the loop clause iterates a list of items. The item variable inside double curly braces is replaced with each list entry in turn. Pattern two: the when clause only runs the task if the condition is true — ansible_distribution is a fact gathered by the setup module. Pattern three: the register clause captures the output of a command into a variable, which is then used by the next task — here, the debug module prints the captured status. Note the changed_when false on the command task — systemctl is-active is a read-only check, so we tell Ansible it never changes anything. Without that flag, Ansible would mark it as changed on every run, polluting your idempotency story. These three patterns — loop, when, register — appear in every non-trivial playbook.</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module family. Package Management is the bread and butter — apt, yum, pip, npm. File Operations — copy, template (which renders Jinja2), file (which manages permissions and state). Service Management — the service and systemd modules start, stop, restart, and enable services. User and Group — create users, set passwords, manage SSH keys. Cloud — Ansible can manage AWS, Azure, GCP, Docker, and Kubernetes resources directly from playbooks. Source Control — the git module clones or updates repositories for code deployment. End with the critical rule: always prefer modules over the command or shell modules. Modules are idempotent by design — they check before they act. The command module is not — it just runs whatever shell command you give it, every time, regardless of state. This rule is the single most important habit to build.</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most important modules. apt and yum install packages on Debian-family and Red Hat-family systems respectively. copy and template deploy files — template renders Jinja2, copy does not. file manages file state and permissions. service manages systemd services. user and group manage users. git clones repositories. command and shell run shell commands but break idempotency — use them sparingly and only when no module exists for what you need. debug prints messages during playbook runs — essential for debugging variable values and task flow. Memorise these twelve modules. They cover ninety-five percent of what you will ever do in Ansible. Whenever you reach for command or shell, pause and ask yourself whether a real module would do the job.</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variables versus facts. Variables are user-defined — you set them. Facts are system-discovered — Ansible gathers them automatically on each play using the setup module. Magic variables are special — they tell you about the Ansible runtime itself, like the name of the host in the inventory or the groups it belongs to. Variable precedence is a twenty-two-level hierarchy — defaults are weakest, extra-vars on the CLI are strongest. The twenty-two levels are confusing at first. Just remember: the more specific the source, the higher the precedence. CLI extra-vars always win because they are the most specific — they apply to one invocation of one playbook. Defaults are the weakest because they are meant to be overridden by anything else.</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playbook. The play-level vars — app_version, app_port, app_user — apply to every task in the play. The task-level vars — redis_host and server_id — apply only to the template task and are computed using both user variables and facts. The template task renders app.conf.j2, a Jinja2 template that uses these variables to produce the final config file. The debug task prints deployment information using both user vars and system facts — note the use of ansible_hostname, ansible_distribution, ansible_distribution_version, and ansible_default_ipv4.address. The magic variable groups cache zero returns the first host in the cache group, useful for service discovery. This pattern — vars at the play level, facts in templates, magic variables for service discovery — appears in every real Ansible playbook you will encounter.</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roles. The problem: a monolithic five-hundred-line playbook is hard to read, hard to test, and hard to reuse. The solution: roles bundle related tasks into a reusable unit with a standard directory structure. The standard layout — tasks, handlers, templates, files, vars, defaults, meta — is convention over configuration. Ansible knows where to find each file by name. Roles are reusable — you can install community roles from ansible-galaxy or share your own via Git. Roles compose — a site.yml playbook lists which roles to apply to which host groups. In real Ansible codebases, almost everything is a role. You rarely see large playbooks — you see small site.yml files that compose roles. That is the pattern you should adopt from day one.</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three files. The tasks slash main dot yml file is the role's main task list — Ansible automatically loads it when the role is referenced. The handlers slash main dot yml file defines handlers — also auto-loaded. The site.yml playbook applies the nginx role to the webservers group, with role-specific variables injected at the call site. Note that the role is self-contained — it does not know about the webservers group, it does not know about nginx_port. Those are injected by the calling playbook. This is what makes roles reusable — the same role can be applied to different host groups with different variables. This is the pattern you will see in every production Ansible codebase: small, focused roles composed by a thin site.yml.</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handlers. The problem: you have ten tasks that each modify a different nginx config file. Each change should restart nginx. But restarting ten times in one play is wasteful and slow — every restart drops connections, adds latency, and risks transient failures. Handlers solve this: each task notifies the handler, and the handler runs once at the end of the play. Walk through the flow with the class — task changes config file, notify restart nginx, handler is queued, at end of play the handler runs once. The critical point: if the task does not change the file — the idempotency check passes — the handler is not notified, so no restart happens. Handlers are how Ansible implements the pattern: restart only when needed, only once.</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playbook. Three tasks each deploy a different nginx config file. Each task notifies the same handler — restart nginx. At the end of the play, Ansible runs the handler once, regardless of how many tasks notified it. This is critical: even if all three files changed, nginx restarts once. If no files changed — config already correct — the handler does not run at all, saving a restart and avoiding dropped connections. Note the listen clause on the handler — it lets multiple notify names trigger the same handler. This is useful when you want different notify names like reload nginx and restart nginx to trigger the same underlying action. Handlers are the secret to efficient Ansible playbooks — without them, every config change would trigger a separate service restart.</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idempotency mathematically — f of f of x equals f of x. Give the Ansible version: if nginx is already installed and running, the apt and service modules report ok, meaning unchanged — they do nothing. No reinstall, no restart, no side effects. Why it matters: idempotency means you can safely re-run a playbook to fix drift. If someone manually edits nginx dot conf on a server, the next Ansible run will detect the drift and revert it — automatically, safely, with no human intervention. This is the single biggest difference between Ansible and bash scripting. Bash is imperative — running the same script twice can produce different results. Ansible is declarative — running the same playbook twice always produces the same result. That is the contract.</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four cards. Card one: each module checks the current state before acting. apt checks if the package is installed. service checks if the service is running. file checks if the file exists with the right permissions. Card two: the module compares current versus desired state. If they match — return ok, meaning no change. If they differ — apply the change and return changed. Card three: idempotency is per-module. The apt module is idempotent. The command module is not — it just runs whatever shell command you give it, every time. Card four: avoid command and shell for state-changing operations. If you must use them, use changed_when to mark them as idempotent. Idempotency is a module-author responsibility. When you write your own modules, you must implement the check-before-act pattern.</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two runs. Run one: the playbook installs nginx, copies the config, and starts the service. Each task reports changed — Ansible actually did work. Run two: the same playbook runs on the same hosts. Now each task reports ok — Ansible checked the state, found it already correct, and did nothing. The PLAY RECAP line shows zero changes — this is the idempotency signal. This is the most important test you can do with any Ansible playbook: run it twice. If the second run reports changed greater than zero, your playbook has an idempotency bug. Usually the culprit is a command or shell module that should be replaced with a real module. Make this two-run test a habit for every playbook you ship.</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the enterprise story. The pattern is universal across companies that have scaled Ansible: dynamic inventory for cloud-host tracking, roles for service modularity, site.yml for composition, and Ansible Tower or AWX for orchestration. The payoff is dramatic — new hosts are provisioned in minutes, drift auto-corrects on every scheduled run, junior engineers can deploy to thousands of servers safely. Mention specific companies: Red Hat uses Ansible to manage its own infrastructure. IBM uses it for client engagements. Cisco ships Ansible modules for its networking gear. NASA uses Ansible for research clusters. Twitter/X uses it for fleet management. When you join a company using Ansible at scale, the pattern you just learned is what you will see. Master it.</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seven sub-topics on screen. Architecture — agentless, push-based over SSH. Inventory — static INI or dynamic script, with groups and vars. Ad-hoc commands — one-shot operations for exploration. Playbooks and tasks — the YAML hierarchy of playbook, play, task, module. Modules — five thousand built-in, prefer them over command and shell. Roles and handlers — roles bundle related tasks; handlers batch service restarts. Idempotency — the heart of Ansible; running twice equals running once. Re-emphasise the unifying principle: Ansible treats infrastructure as code — declarative, idempotent, version-controlled. Now set up Section C: in Section B, we wrote Ansible playbooks by hand. Section C asks — can AI write them for us, from a natural-language description? Yes, but with caveats we will examine.</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Section A, we made builds smarter. In Section B, we learned Ansible. In Section C, we bring AI into the IaC authoring loop. The promise: describe your infrastructure in plain English, get a Terraform module or an Ansible playbook back. The reality: AI is great at the boilerplate, but you still need linting, policy checks, and human review. Section C covers both the promise and the guardrails. Over the next twenty-odd slides we will define IaC, contrast Terraform and Ansible, look at the manual-IaC problem, walk through natural-language to Terraform and Ansible pipelines, study tflint and Checkov, and close with the HashiCorp production case study. Pay close attention to the safety sections — they are the difference between an AI demo and an AI deployment.</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IaC. Old way: clicking through cloud consoles to provision resources. No record, no reproducibility, no audit trail. IaC way: write code that describes infrastructure, version-control it, peer-review it, apply via CI. Benefits: reproducible environments — you can recreate an entire production stack from scratch; audit trail — every change is a Git commit; fast provisioning — terraform apply takes minutes vs hours of clicking; disaster recovery — clone the repo, apply, you are back up; cost transparency — the code shows exactly what you are paying for. Tell students: IaC is not optional in modern DevOps. Every serious team uses it. The question is not whether to use IaC — it is which tool. Tomorrow you will choose between Terraform for provisioning cloud resources and Ansible for configuring the hosts that run on them.</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Clarify the difference. Terraform provisions cloud infrastructure — VPCs, EC2 instances, S3 buckets. It speaks the cloud provider's API. Ansible configures existing hosts — installs packages, manages files, starts services. It speaks SSH. Tell students: a typical pipeline — Terraform creates the EC2 instances, then Ansible installs nginx and deploys your app on them. They are not competing tools; they handle different layers of the stack. Note the state difference: Terraform keeps a statefile that tracks what resources exist. Ansible does not keep state — it checks the current state at every run. This is why Terraform is better for immutable infrastructure, where you provision fresh and destroy old; and Ansible is better for mutable infrastructure, where you configure existing hosts in place. Choose accordingly.</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numbers. Three weeks to write a production-grade Terraform module — that includes research, writing, testing, code review, and integration. Forty percent of Terraform code is duplicated boilerplate — provider config, tagging conventions, and naming standards. This is exactly the kind of work LLMs excel at. Sixty-five percent of IaC bugs are typos or copy-paste errors — wrong region, wrong AMI ID, missing tag — that an LLM would not make because it generates code from intent, not by copying. Tell students: these three stats are why AI-generated IaC is one of the highest-ROI applications of LLMs in DevOps. The job changes from typing code to reviewing intent. That is a much better use of a senior engineer's time.</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four capabilities. NL to Terraform: describe what you want in English, the LLM generates HCL. Best for boilerplate like VPCs, EC2, S3, IAM. NL to Ansible: describe desired host state, the LLM generates a playbook. AI-augmented linting: tflint and Checkov scan IaC for policy violations, AI explains the violations in plain English. AI-generated tests: LLM writes Terratest or Molecule tests that validate the generated IaC. Critical message: AI does NOT skip any step in the IaC pipeline. It accelerates each step — generation, linting, testing, review — but every step still happens. This is the responsible way to use AI for IaC. Skipping a step is malpractice; using AI to make every step faster is engineering.</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six stages. Stage 1: the engineer writes a description in English. Stage 2: the LLM generates the IaC code. Stage 3: tflint checks for syntax and provider issues. Stage 4: Checkov scans for security and compliance violations. Stage 5: Terratest deploys to a sandbox and validates behaviour. Stage 6: human review and CI apply. Emphasise: each stage is automated. The LLM accelerates stage 2 and provides natural-language explanations of failures in stages 3, 4, and 5. No stage is skipped. Tell students: this is the production pipeline you would build at a real company. Each stage catches different classes of errors — and AI helps with all of them. Memorise this picture; it is the architecture you will be tested on.</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four block types. Provider declares the cloud — aws, azurerm, google. Resource declares a single piece of infrastructure — an EC2 instance, an S3 bucket, and so on. Variable declares inputs — it makes modules reusable. Output declares values to expose — IPs, IDs, ARNs. Tell students: these four blocks cover 90% of Terraform code. The other 10% — modules, data sources, locals, dynamic blocks — you will learn as you go. Note the syntax: HCL is key-value pairs inside blocks. Strings are in double quotes. References use the var. prefix for variables and resource_type.resource_name for resources. Get comfortable with this layout — every Terraform file you write will look like this skeleton.</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code. The provider block configures AWS in us-east-1. Two variables: aws_region and instance_type, with the instance_type validated against a list. The aws_security_group resource creates a security group allowing SSH on port 22 and HTTP on port 80 from anywhere, with full egress. The aws_instance resource creates an EC2 instance using the security group. The output block exposes the instance's public IP. Tell students: this is a complete, runnable Terraform config. You would run terraform init to download the AWS provider, terraform plan to preview the changes, and terraform apply to actually create the resources. Notice the validation block — this is a great pattern to keep invalid inputs from ever reaching the cloud API.</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three elements of a good prompt. Context injection: tell the AI your cloud, region, naming conventions, and tag policy. Without context, you get generic Terraform that does not match your team's style. Few-shot examples: include two or three examples of similar Terraform from your repo. The AI learns your style — variable naming, tagging, and module structure. Constraint specification: tell the AI what is allowed and what is forbidden. Use only t3.micro or t3.small. All resources must have an Environment tag. Tell students: the quality of AI-generated Terraform is directly proportional to the quality of your prompt. Vague prompt equals vague output. Specific prompt equals specific output. Spend ten minutes on the prompt and save four hours of editing.</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prompt structure. Context: cloud, region, project, naming, tags. Constraints: instance types, S3 versioning, SSH restrictions, VPC. Request: a numbered list of five specific resources. Examples: reference to existing modules for style. Output Format: instruction to return only HCL, no prose. Tell students: notice how specific this prompt is. We did not say "provision some infra for image resizer" — we specified instance type, subnet, VPC, security group rules, IAM role, and output requirements. Specificity is the key to high-quality AI output. The next slide shows what the LLM produces from this prompt — every constraint is respected.</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what the AI generated. The code respects every constraint: instance type is t3.small for prod via a ternary, S3 bucket has versioning enabled, SSH is restricted to 10.0.0.0/8, VPC and subnet references are correct, all resources have the required tags, IAM role has the minimal S3 permissions, and outputs are exposed. Tell students: this output is genuinely production-ready. But you must still run tflint and Checkov before applying — AI can hallucinate, miss policy violations, or generate code that does not match your team's exact conventions. The linters are your safety net. Eight seconds of generation, four hours of review saved — but never zero review.</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the HashiCorp story. HashiCorp has the unique advantage of being both the vendor of Terraform and the operator of Terraform Cloud — so they can embed AI directly into the tool itself. The AI does not just generate code; it explains plan output in plain English, which is a huge win for non-experts who find terraform plan output cryptic. The 92% tflint pass rate is a real number — it shows that modern LLMs are quite good at HCL syntax. The 8% failure rate is caught by Sentinel policy checks, which is the safety net. Tell students: this is the pattern you will see increasingly — AI embedded directly into the tools you already use, not a separate chat interface. Watch for the same pattern in Ansible, GitHub Actions, and your CI tool of choice.</a:t>
            </a:r>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the Terraform pattern to Ansible. Best use cases: boilerplate installations, firewall configs, user creation, and service deployment — tasks that are well-documented and have clear module choices. Where AI struggles: complex workflows with cross-host dependencies, like waiting for the database to be ready before configuring the app server; conditional logic; and fact-gathering. AI tends to hallucinate module names or arguments — for example, it might invent an apt_repo module that does not exist. Safety pattern: ALWAYS run ansible-lint and ansible-playbook --check (dry-run mode) before applying. Never apply AI-generated playbooks directly to production. Tell students: treat AI-generated playbooks the same way you treat a junior engineer's PR — review every line. AI is a force multiplier, not a replacement for review.</a:t>
            </a:r>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prompt structure. Context: targets, OS, become, allowed modules. Constraints: every task must have a name, use loops for repeated installs, use handlers, specific state values. Request: a 9-step Flask app deployment. Output format: only YAML, no prose. Tell students: notice the constraints. Without them, AI might use command modules instead of apt, omit task names, or use handlers incorrectly. The constraints tell the AI EXACTLY how we want the code structured. This is the difference between generic output and output that matches your team's conventions. The next slide shows the AI's response — every constraint respected.</a:t>
            </a:r>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generated playbook. The play is correctly scoped to webservers with become: yes. Variables are defined for the user, directory, and repo. The first task uses a loop for the 5 packages — exactly as constrained. The user and file modules create the user and directory. The git module clones the repo. The command module creates the virtualenv with creates: to make it idempotent. The pip module installs requirements into the venv. The template module deploys the nginx config. The file module creates a symlink to enable the site. Both config tasks notify the restart nginx handler. The debug task prints a summary. The handler restarts nginx. Tell students: this is a solid Ansible playbook. It follows all the constraints. But — run ansible-lint on it. Lint will likely flag the command module for venv creation. Use ansible-lint output to fix and improve the AI-generated code.</a:t>
            </a:r>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safety check. Syntax lint catches syntactic errors. Policy scan catches security violations — this is critical because AI does not know your team's security policies. Dry-run previews changes without applying — never apply AI-generated code without first running plan or --check. Sandbox test deploys to an isolated account and runs integration tests — catches hallucinated resources. Code review is the final gate — a human reviews every line. Audit trail captures the entire pipeline from prompt to apply. Emphasise: AI does not replace any safety check. Every check still happens — just faster. Tell students: when you build AI-IaC pipelines at your future job, this is the safety stack you must implement. No exceptions.</a:t>
            </a:r>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numbers. Seventy-three percent of cloud security incidents come from IaC misconfiguration — not from zero-day vulnerabilities, not from external attackers, but from misconfigured infrastructure code. Five million dollars is the average breach cost — this is real money. Ten times cheaper to catch in CI than in production — a five-minute lint check saves a five-million-dollar incident. Tell students: if you remember nothing else from this module, remember this — lint your IaC. Always. In CI. Before every apply. The cost is zero, the benefit is enormous. There is no excuse. The next two slides introduce the two tools you will use — tflint for syntax, Checkov for security.</a:t>
            </a:r>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tflint. It is a Terraform linter that does static analysis. It catches syntax errors, deprecated syntax, and provider-specific issues like an invalid AMI ID or an unsupported instance type. Differs from terraform validate: terraform validate only checks HCL syntax — it does not know if your AMI ID is valid. tflint knows about AWS, Azure, and GCP specifics. Rule sets: built-in plus plugin rule sets maintained by the community. You can write custom rules in Ruby. CI integration: runs in GitHub Actions, GitLab CI, and Jenkins, fails the build on errors. Tell students: tflint is the bare minimum for any Terraform codebase. Add it to your CI pipeline today. There is no cost, no risk, only upside.</a:t>
            </a:r>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config and run. The .tflint.hcl config enables the AWS plugin and specific rules. The aws_instance_invalid_type rule catches invalid EC2 instance types. The aws_security_group_invalid_cidr_block rule catches invalid CIDR blocks. The terraform_deprecated_index rule catches deprecated HCL syntax. The terraform_unused_declarations rule is disabled because it is too noisy for this codebase. The run output shows a real failure: t3.large is flagged as invalid. The JSON output is for CI integration — you can pipe it through jq and post review comments on the PR. Tell students: tflint is fast (seconds), free, and catches real bugs. There is no excuse not to use it.</a:t>
            </a:r>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Checkov. It scans IaC for security and compliance violations. Over a thousand built-in policies. Differs from tflint: tflint catches syntax and provider issues. Checkov catches security and policy issues — open security groups, unencrypted S3, over-permissive IAM, missing tags. Policy frameworks: built-in policies map to CIS Benchmarks, PCI-DSS, HIPAA, NIST 800-53 — useful for compliance audits. Custom policies in Python or YAML. Output formats: CLI, JSON, SARIF, JUnit XML — integrates with GitHub Code Scanning, GitLab, SonarQube, and Splunk. Tell students: tflint and Checkov are complementary. Run both. tflint catches syntax issues. Checkov catches security issues. Together they cover the IaC quality spectrum.</a:t>
            </a:r>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Checkov run. The scan found 47 passed checks, 3 failed checks, and 1 skipped. The failures are real: S3 bucket missing access logging (CKV_AWS_18), S3 bucket missing default encryption (CKV_AWS_237), and IAM policy attached to user instead of group (CKV_AWS_40). Each failure has a guide URL — students can look up the remediation. The .checkov.yaml config shows soft-fail mode (warn but do not block CI) and skip-checks for legacy patterns being migrated. The GitHub Actions integration outputs SARIF format, which GitHub Code Scanning can render directly in the PR. Tell students: Checkov finds real security issues in seconds. Each issue has a remediation guide. This is the cheapest security audit you will ever run.</a:t>
            </a:r>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card. Card 1: AI explains Checkov violations in plain English — critical for new engineers who see "CKV_AWS_18 failed" and have no idea what it means. Card 2: AI proposes auto-fix patches — engineer reviews and accepts. Card 3: AI generates custom Checkov rules from English descriptions of team-specific policies. Card 4: AI cross-references IaC against cloud docs to catch hallucinated resources that linters miss. Emphasise: linters are deterministic and reliable but limited to known rules. AI is probabilistic and creative but unreliable. Use them together — linters as the safety net, AI as the explainer and extender. That is the frontier, and you will build products on top of it.</a:t>
            </a:r>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Section C. Re-emphasise the central pattern: AI accelerates IaC authoring. Linters and policy checks remain mandatory. AI does not replace any safety check — it makes each one faster. Set up Section D: in Section D, we bring everything together — build intelligence, Ansible, AI-driven IaC — into one end-to-end pipeline. We will look at orchestration patterns, pitfalls, best practices, and a module summary. Get ready to see how the parts connect in production. If you have questions on Section C, ask them now — Section D assumes you understood C. Otherwise, take a brief break and we will resume.</a:t>
            </a:r>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Sections A, B, and C we learned the building blocks — build intelligence, Ansible, AI-driven IaC. In Section D, we tie them together. We will see what an end-to-end AI-augmented CI/CD pipeline looks like, what orchestration patterns work in practice, what pitfalls to avoid, and what best practices to follow. We will end with a module summary that maps directly to your course outcomes. Stay engaged for the final stretch — Section D is where every concept from the previous three sections becomes one coherent system. The diagrams you see here will likely show up on your exam.</a:t>
            </a:r>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seven stages. Stage 1: developer commits, pre-commit hook runs AI review. Stage 2: AI change-impact analysis decides what to rebuild and which tests to run (Section A Topic 1.1). Stage 3: Terraform provisions new infra if needed — AI-assisted authoring from Section C. Stage 4: Ansible configures hosts — AI-assisted authoring from Section C. Stage 5: smart build cache from Section A Topic 1.1. Stage 6: dynamic test-subset routing from Section A Topic 1.2. Stage 7: LLM log summarisation and failure prediction from Section A Topics 1.3-1.4. Emphasise: every stage uses AI. No stage is replaced by AI. The human reviews at each gate. This is the responsible way to integrate AI into a production pipeline.</a:t>
            </a:r>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hub-and-spoke pattern. Problem: if every tool talks directly to LLM providers, you have no audit trail, no cost control, no consistent prompt templating, and no rate limiting. Solution: a central AI gateway that all tools talk to. The gateway handles auth (so you do not expose API keys to every tool), rate limiting (so a runaway script does not cost ten thousand dollars), logging (for audit), prompt templating (so prompts are consistent), and model routing (use GPT-4 for hard tasks, Llama 70B for cheap tasks). Tool-specific wrappers add tool context. Audit and replay is critical for regulated industries. Cost controls prevent runaway spend. Tell students: when you build AI-augmented DevOps at your future job, this is the architecture you will implement. Do not let every tool talk to the LLM directly — centralise.</a:t>
            </a:r>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pair of pitfalls and best practices. The pattern is consistent: pitfalls are about skipping safety steps; best practices are about keeping safety steps but using AI to accelerate the generation phase. Emphasise the most important rule: treat AI output as a junior engineer's PR. Review every line. AI is a force multiplier, not a replacement for review. Tell students: when you start using AI in production DevOps, you will be tempted to skip the review step because the output looks good. Resist the temptation. The output looks good because modern LLMs are good at sounding confident — but confident does not equal correct. Review every line. The cost of one bad apply far exceeds the cost of a careful review.</a:t>
            </a:r>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card. Card 1: build intelligence — the four AI techniques from Section A. Card 2: Ansible core — agentless, push-based, idempotent. Card 3: roles + handlers — the reusability pattern. Card 4: AI-generated IaC — the frontier with guardrails. Card 5: lint + policy — the safety net. Card 6: orchestration — the architecture pattern. End with the thesis: Module 4 made you fluent in the AI-augmented build + config layer. You can now write smarter pipelines, declarative configurations, and AI-assisted infrastructure code — with safety rails. The next module moves from build and config to operations — AIOps. The same AI techniques apply.</a:t>
            </a:r>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card. Card 1: textbooks from the syllabus — T1, T2, R1, R2, R3. Card 2: official documentation for Ansible, Terraform, tflint, Checkov. Card 3: industry reports — DORA and GitHub Octoverse. Card 4: prompt engineering guides — DAIR.AI and Anthropic. Card 5: tools to install locally — all free. Card 6: practice projects that map to module outcomes. Emphasise the final point: do not just read — DO. The assignments and lab exercises are where Module 4 concepts become skills. Tell students: spend at least two hours per week on hands-on practice. Module 4 is a skill, not a body of knowledge. Skills only develop through practice.</a:t>
            </a:r>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lecture. Thank students for their attention. Take questions. Remind them: Module 4 covered build intelligence, Ansible, and AI-driven IaC. The next module covers AIOps — anomaly detection, alert correlation, incident summarisation, and auto-remediation. We will see how the same AI techniques apply to operations, not just builds. Encourage students to start the practice projects immediately — skills decay without practice. Open the floor for Q&amp;A. Spend the remaining time answering questions, clarifying doubts, and helping students with the assignments. If no questions come, walk through one or two practice projects to seed their thinking.</a:t>
            </a:r>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8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4572000" cy="5143500"/>
          </a:xfrm>
          <a:prstGeom prst="rect">
            <a:avLst/>
          </a:prstGeom>
          <a:solidFill>
            <a:srgbClr val="FFFFFF"/>
          </a:solidFill>
          <a:ln/>
        </p:spPr>
        <p:txBody>
          <a:bodyPr wrap="square" rtlCol="0" anchor="ctr"/>
          <a:lstStyle/>
          <a:p>
            <a:pPr marL="0" indent="0">
              <a:buNone/>
            </a:pPr>
            <a:endParaRPr lang="en-US" dirty="0"/>
          </a:p>
        </p:txBody>
      </p:sp>
      <p:sp>
        <p:nvSpPr>
          <p:cNvPr id="3" name="Text 1"/>
          <p:cNvSpPr/>
          <p:nvPr/>
        </p:nvSpPr>
        <p:spPr>
          <a:xfrm>
            <a:off x="377190" y="451542"/>
            <a:ext cx="1627503" cy="331333"/>
          </a:xfrm>
          <a:prstGeom prst="roundRect">
            <a:avLst>
              <a:gd name="adj" fmla="val 2871877"/>
            </a:avLst>
          </a:prstGeom>
          <a:solidFill>
            <a:srgbClr val="FED7AA"/>
          </a:solidFill>
          <a:ln/>
        </p:spPr>
        <p:txBody>
          <a:bodyPr wrap="square" rtlCol="0" anchor="ctr"/>
          <a:lstStyle/>
          <a:p>
            <a:pPr marL="0" indent="0">
              <a:buNone/>
            </a:pPr>
            <a:endParaRPr lang="en-US" dirty="0"/>
          </a:p>
        </p:txBody>
      </p:sp>
      <p:sp>
        <p:nvSpPr>
          <p:cNvPr id="4" name="Text 2"/>
          <p:cNvSpPr/>
          <p:nvPr/>
        </p:nvSpPr>
        <p:spPr>
          <a:xfrm>
            <a:off x="400050" y="464344"/>
            <a:ext cx="1581783" cy="305730"/>
          </a:xfrm>
          <a:prstGeom prst="rect">
            <a:avLst/>
          </a:prstGeom>
          <a:noFill/>
          <a:ln/>
        </p:spPr>
        <p:txBody>
          <a:bodyPr wrap="none" lIns="0" tIns="0" rIns="0" bIns="0" rtlCol="0" anchor="ctr"/>
          <a:lstStyle/>
          <a:p>
            <a:pPr marL="0" indent="0" algn="ctr">
              <a:lnSpc>
                <a:spcPts val="1733"/>
              </a:lnSpc>
              <a:buNone/>
            </a:pPr>
            <a:r>
              <a:rPr lang="en-US" sz="1238" b="1" kern="0" spc="28" dirty="0">
                <a:solidFill>
                  <a:srgbClr val="C2410C"/>
                </a:solidFill>
                <a:latin typeface="Liberation Sans Narrow" pitchFamily="34" charset="0"/>
                <a:ea typeface="Liberation Sans Narrow" pitchFamily="34" charset="-122"/>
                <a:cs typeface="Liberation Sans Narrow" pitchFamily="34" charset="-120"/>
              </a:rPr>
              <a:t>UNIT IV • 9 HOURS</a:t>
            </a:r>
            <a:endParaRPr lang="en-US" sz="1238" dirty="0"/>
          </a:p>
        </p:txBody>
      </p:sp>
      <p:sp>
        <p:nvSpPr>
          <p:cNvPr id="5" name="Text 3"/>
          <p:cNvSpPr/>
          <p:nvPr/>
        </p:nvSpPr>
        <p:spPr>
          <a:xfrm>
            <a:off x="400050" y="770074"/>
            <a:ext cx="3771900" cy="2392210"/>
          </a:xfrm>
          <a:prstGeom prst="rect">
            <a:avLst/>
          </a:prstGeom>
          <a:noFill/>
          <a:ln/>
        </p:spPr>
        <p:txBody>
          <a:bodyPr wrap="square" lIns="0" tIns="0" rIns="0" bIns="0" rtlCol="0" anchor="t"/>
          <a:lstStyle/>
          <a:p>
            <a:pPr marL="0" indent="0" algn="l">
              <a:lnSpc>
                <a:spcPts val="4361"/>
              </a:lnSpc>
              <a:buNone/>
            </a:pPr>
            <a:r>
              <a:rPr lang="en-US" sz="4275" b="1" kern="0" spc="-84" dirty="0">
                <a:solidFill>
                  <a:srgbClr val="0F172A"/>
                </a:solidFill>
                <a:latin typeface="Carlito" pitchFamily="34" charset="0"/>
                <a:ea typeface="Carlito" pitchFamily="34" charset="-122"/>
                <a:cs typeface="Carlito" pitchFamily="34" charset="-120"/>
              </a:rPr>
              <a:t>AI-Assisted </a:t>
            </a:r>
            <a:r>
              <a:rPr lang="en-US" sz="4275" b="1" kern="0" spc="-84" dirty="0">
                <a:solidFill>
                  <a:srgbClr val="F97316"/>
                </a:solidFill>
                <a:latin typeface="Carlito" pitchFamily="34" charset="0"/>
                <a:ea typeface="Carlito" pitchFamily="34" charset="-122"/>
                <a:cs typeface="Carlito" pitchFamily="34" charset="-120"/>
              </a:rPr>
              <a:t>Build</a:t>
            </a:r>
            <a:r>
              <a:rPr lang="en-US" sz="4275" b="1" kern="0" spc="-84" dirty="0">
                <a:solidFill>
                  <a:srgbClr val="0F172A"/>
                </a:solidFill>
                <a:latin typeface="Carlito" pitchFamily="34" charset="0"/>
                <a:ea typeface="Carlito" pitchFamily="34" charset="-122"/>
                <a:cs typeface="Carlito" pitchFamily="34" charset="-120"/>
              </a:rPr>
              <a:t> &amp; Configuration Automation</a:t>
            </a:r>
            <a:endParaRPr lang="en-US" sz="4275" dirty="0"/>
          </a:p>
        </p:txBody>
      </p:sp>
      <p:sp>
        <p:nvSpPr>
          <p:cNvPr id="6" name="Text 4"/>
          <p:cNvSpPr/>
          <p:nvPr/>
        </p:nvSpPr>
        <p:spPr>
          <a:xfrm>
            <a:off x="400050" y="3185108"/>
            <a:ext cx="571500" cy="42863"/>
          </a:xfrm>
          <a:prstGeom prst="roundRect">
            <a:avLst>
              <a:gd name="adj" fmla="val 66666"/>
            </a:avLst>
          </a:prstGeom>
          <a:solidFill>
            <a:srgbClr val="F97316"/>
          </a:solidFill>
          <a:ln/>
        </p:spPr>
        <p:txBody>
          <a:bodyPr wrap="square" rtlCol="0" anchor="ctr"/>
          <a:lstStyle/>
          <a:p>
            <a:pPr marL="0" indent="0">
              <a:buNone/>
            </a:pPr>
            <a:endParaRPr lang="en-US" dirty="0"/>
          </a:p>
        </p:txBody>
      </p:sp>
      <p:sp>
        <p:nvSpPr>
          <p:cNvPr id="7" name="Text 5"/>
          <p:cNvSpPr/>
          <p:nvPr/>
        </p:nvSpPr>
        <p:spPr>
          <a:xfrm>
            <a:off x="400050" y="3399420"/>
            <a:ext cx="3771900" cy="499804"/>
          </a:xfrm>
          <a:prstGeom prst="rect">
            <a:avLst/>
          </a:prstGeom>
          <a:noFill/>
          <a:ln/>
        </p:spPr>
        <p:txBody>
          <a:bodyPr wrap="square" lIns="0" tIns="0" rIns="0" bIns="0" rtlCol="0" anchor="t"/>
          <a:lstStyle/>
          <a:p>
            <a:pPr marL="0" indent="0" algn="l">
              <a:lnSpc>
                <a:spcPts val="1822"/>
              </a:lnSpc>
              <a:buNone/>
            </a:pPr>
            <a:r>
              <a:rPr lang="en-US" sz="1350" dirty="0">
                <a:solidFill>
                  <a:srgbClr val="334155"/>
                </a:solidFill>
                <a:latin typeface="Carlito" pitchFamily="34" charset="0"/>
                <a:ea typeface="Carlito" pitchFamily="34" charset="-122"/>
                <a:cs typeface="Carlito" pitchFamily="34" charset="-120"/>
              </a:rPr>
              <a:t>Smart build intelligence · Ansible configuration · AI-driven infrastructure as code</a:t>
            </a:r>
            <a:endParaRPr lang="en-US" sz="1350" dirty="0"/>
          </a:p>
        </p:txBody>
      </p:sp>
      <p:sp>
        <p:nvSpPr>
          <p:cNvPr id="8" name="Text 6"/>
          <p:cNvSpPr/>
          <p:nvPr/>
        </p:nvSpPr>
        <p:spPr>
          <a:xfrm>
            <a:off x="400050" y="3990789"/>
            <a:ext cx="3881628" cy="194328"/>
          </a:xfrm>
          <a:prstGeom prst="rect">
            <a:avLst/>
          </a:prstGeom>
          <a:noFill/>
          <a:ln/>
        </p:spPr>
        <p:txBody>
          <a:bodyPr wrap="square" lIns="0" tIns="0" rIns="0" bIns="0" rtlCol="0" anchor="t"/>
          <a:lstStyle/>
          <a:p>
            <a:pPr marL="0" indent="0" algn="l">
              <a:lnSpc>
                <a:spcPts val="1418"/>
              </a:lnSpc>
              <a:buNone/>
            </a:pPr>
            <a:r>
              <a:rPr lang="en-US" sz="1013" kern="0" spc="11" dirty="0">
                <a:solidFill>
                  <a:srgbClr val="64748B"/>
                </a:solidFill>
                <a:latin typeface="Courier New" pitchFamily="34" charset="0"/>
                <a:ea typeface="Courier New" pitchFamily="34" charset="-122"/>
                <a:cs typeface="Courier New" pitchFamily="34" charset="-120"/>
              </a:rPr>
              <a:t>Course: 24CSE539 | V Semester | AI Driven DevOps</a:t>
            </a:r>
            <a:endParaRPr lang="en-US" sz="1013" dirty="0"/>
          </a:p>
        </p:txBody>
      </p:sp>
      <p:sp>
        <p:nvSpPr>
          <p:cNvPr id="9" name="Text 7"/>
          <p:cNvSpPr/>
          <p:nvPr/>
        </p:nvSpPr>
        <p:spPr>
          <a:xfrm>
            <a:off x="400050" y="4170722"/>
            <a:ext cx="3771900" cy="14288"/>
          </a:xfrm>
          <a:prstGeom prst="rect">
            <a:avLst/>
          </a:prstGeom>
          <a:solidFill>
            <a:srgbClr val="CBD5E1"/>
          </a:solidFill>
          <a:ln/>
        </p:spPr>
        <p:txBody>
          <a:bodyPr wrap="square" rtlCol="0" anchor="ctr"/>
          <a:lstStyle/>
          <a:p>
            <a:pPr marL="0" indent="0">
              <a:buNone/>
            </a:pPr>
            <a:endParaRPr lang="en-US" dirty="0"/>
          </a:p>
        </p:txBody>
      </p:sp>
      <p:sp>
        <p:nvSpPr>
          <p:cNvPr id="10" name="Text 8"/>
          <p:cNvSpPr/>
          <p:nvPr/>
        </p:nvSpPr>
        <p:spPr>
          <a:xfrm>
            <a:off x="400050" y="4399211"/>
            <a:ext cx="228600" cy="228600"/>
          </a:xfrm>
          <a:prstGeom prst="rect">
            <a:avLst/>
          </a:prstGeom>
          <a:noFill/>
          <a:ln/>
        </p:spPr>
        <p:txBody>
          <a:bodyPr wrap="none" lIns="0" tIns="0" rIns="0" bIns="0" rtlCol="0" anchor="ctr"/>
          <a:lstStyle/>
          <a:p>
            <a:pPr marL="0" indent="0" algn="ctr">
              <a:buNone/>
            </a:pPr>
            <a:r>
              <a:rPr lang="en-US" sz="2250" dirty="0">
                <a:solidFill>
                  <a:srgbClr val="F97316"/>
                </a:solidFill>
                <a:latin typeface="Segoe UI Symbol" pitchFamily="34" charset="0"/>
                <a:ea typeface="Segoe UI Symbol" pitchFamily="34" charset="-122"/>
                <a:cs typeface="Segoe UI Symbol" pitchFamily="34" charset="-120"/>
              </a:rPr>
              <a:t>☻</a:t>
            </a:r>
            <a:endParaRPr lang="en-US" sz="2250" dirty="0"/>
          </a:p>
        </p:txBody>
      </p:sp>
      <p:sp>
        <p:nvSpPr>
          <p:cNvPr id="11" name="Text 9"/>
          <p:cNvSpPr/>
          <p:nvPr/>
        </p:nvSpPr>
        <p:spPr>
          <a:xfrm>
            <a:off x="714375" y="4313597"/>
            <a:ext cx="2330006" cy="192573"/>
          </a:xfrm>
          <a:prstGeom prst="rect">
            <a:avLst/>
          </a:prstGeom>
          <a:noFill/>
          <a:ln/>
        </p:spPr>
        <p:txBody>
          <a:bodyPr wrap="square" lIns="0" tIns="0" rIns="0" bIns="0" rtlCol="0" anchor="t">
            <a:normAutofit fontScale="70000" lnSpcReduction="20000"/>
          </a:bodyPr>
          <a:lstStyle/>
          <a:p>
            <a:pPr marL="0" indent="0" algn="l">
              <a:lnSpc>
                <a:spcPts val="1733"/>
              </a:lnSpc>
              <a:buNone/>
            </a:pPr>
            <a:r>
              <a:rPr lang="en-US" sz="1238" dirty="0">
                <a:solidFill>
                  <a:srgbClr val="0F172A"/>
                </a:solidFill>
                <a:latin typeface="Carlito" pitchFamily="34" charset="0"/>
                <a:ea typeface="Carlito" pitchFamily="34" charset="-122"/>
                <a:cs typeface="Carlito" pitchFamily="34" charset="-120"/>
              </a:rPr>
              <a:t>Faculty: Mr. Shiva Prasad M</a:t>
            </a:r>
            <a:endParaRPr lang="en-US" sz="1238" dirty="0"/>
          </a:p>
        </p:txBody>
      </p:sp>
      <p:sp>
        <p:nvSpPr>
          <p:cNvPr id="12" name="Text 10"/>
          <p:cNvSpPr/>
          <p:nvPr/>
        </p:nvSpPr>
        <p:spPr>
          <a:xfrm>
            <a:off x="714375" y="4533602"/>
            <a:ext cx="2330006" cy="152698"/>
          </a:xfrm>
          <a:prstGeom prst="rect">
            <a:avLst/>
          </a:prstGeom>
          <a:noFill/>
          <a:ln/>
        </p:spPr>
        <p:txBody>
          <a:bodyPr wrap="square" lIns="0" tIns="0" rIns="0" bIns="0" rtlCol="0" anchor="t"/>
          <a:lstStyle/>
          <a:p>
            <a:pPr marL="0" indent="0" algn="l">
              <a:lnSpc>
                <a:spcPts val="1418"/>
              </a:lnSpc>
              <a:buNone/>
            </a:pPr>
            <a:r>
              <a:rPr lang="en-US" sz="1013" dirty="0">
                <a:solidFill>
                  <a:srgbClr val="64748B"/>
                </a:solidFill>
                <a:latin typeface="Carlito" pitchFamily="34" charset="0"/>
                <a:ea typeface="Carlito" pitchFamily="34" charset="-122"/>
                <a:cs typeface="Carlito" pitchFamily="34" charset="-120"/>
              </a:rPr>
              <a:t>Department of CSE (AI Driven DevOps)</a:t>
            </a:r>
            <a:endParaRPr lang="en-US" sz="1013" dirty="0"/>
          </a:p>
        </p:txBody>
      </p:sp>
      <p:pic>
        <p:nvPicPr>
          <p:cNvPr id="13" name="Image 0" descr="/tmp/h2p-fit-1791792721512-cklq2k.png"/>
          <p:cNvPicPr>
            <a:picLocks noChangeAspect="1"/>
          </p:cNvPicPr>
          <p:nvPr/>
        </p:nvPicPr>
        <p:blipFill>
          <a:blip r:embed="rId3"/>
          <a:stretch>
            <a:fillRect/>
          </a:stretch>
        </p:blipFill>
        <p:spPr>
          <a:xfrm>
            <a:off x="4572000" y="0"/>
            <a:ext cx="4572000" cy="5143500"/>
          </a:xfrm>
          <a:prstGeom prst="rect">
            <a:avLst/>
          </a:prstGeom>
        </p:spPr>
      </p:pic>
      <p:sp>
        <p:nvSpPr>
          <p:cNvPr id="14" name="Text 11"/>
          <p:cNvSpPr/>
          <p:nvPr/>
        </p:nvSpPr>
        <p:spPr>
          <a:xfrm>
            <a:off x="7589634" y="200025"/>
            <a:ext cx="1554366" cy="925830"/>
          </a:xfrm>
          <a:prstGeom prst="rect">
            <a:avLst/>
          </a:prstGeom>
          <a:noFill/>
          <a:ln/>
        </p:spPr>
        <p:txBody>
          <a:bodyPr wrap="square" lIns="0" tIns="0" rIns="0" bIns="0" rtlCol="0" anchor="t"/>
          <a:lstStyle/>
          <a:p>
            <a:pPr marL="0" indent="0" algn="l">
              <a:lnSpc>
                <a:spcPts val="6750"/>
              </a:lnSpc>
              <a:buNone/>
            </a:pPr>
            <a:r>
              <a:rPr lang="en-US" sz="6750" b="1" kern="0" spc="-225" dirty="0">
                <a:solidFill>
                  <a:srgbClr val="FFFFFF">
                    <a:alpha val="45000"/>
                  </a:srgbClr>
                </a:solidFill>
                <a:latin typeface="Liberation Sans Narrow" pitchFamily="34" charset="0"/>
                <a:ea typeface="Liberation Sans Narrow" pitchFamily="34" charset="-122"/>
                <a:cs typeface="Liberation Sans Narrow" pitchFamily="34" charset="-120"/>
              </a:rPr>
              <a:t>M4</a:t>
            </a:r>
            <a:endParaRPr lang="en-US" sz="6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34340" y="451542"/>
            <a:ext cx="1848847" cy="331333"/>
          </a:xfrm>
          <a:prstGeom prst="roundRect">
            <a:avLst>
              <a:gd name="adj" fmla="val 2871877"/>
            </a:avLst>
          </a:prstGeom>
          <a:solidFill>
            <a:srgbClr val="FED7AA"/>
          </a:solidFill>
          <a:ln/>
        </p:spPr>
        <p:txBody>
          <a:bodyPr wrap="square" rtlCol="0" anchor="ctr"/>
          <a:lstStyle/>
          <a:p>
            <a:pPr marL="0" indent="0">
              <a:buNone/>
            </a:pPr>
            <a:endParaRPr lang="en-US" dirty="0"/>
          </a:p>
        </p:txBody>
      </p:sp>
      <p:sp>
        <p:nvSpPr>
          <p:cNvPr id="3" name="Text 1"/>
          <p:cNvSpPr/>
          <p:nvPr/>
        </p:nvSpPr>
        <p:spPr>
          <a:xfrm>
            <a:off x="457200" y="464344"/>
            <a:ext cx="1803127" cy="305730"/>
          </a:xfrm>
          <a:prstGeom prst="rect">
            <a:avLst/>
          </a:prstGeom>
          <a:noFill/>
          <a:ln/>
        </p:spPr>
        <p:txBody>
          <a:bodyPr wrap="none" lIns="0" tIns="0" rIns="0" bIns="0" rtlCol="0" anchor="ctr"/>
          <a:lstStyle/>
          <a:p>
            <a:pPr marL="0" indent="0" algn="ctr">
              <a:lnSpc>
                <a:spcPts val="1733"/>
              </a:lnSpc>
              <a:buNone/>
            </a:pPr>
            <a:r>
              <a:rPr lang="en-US" sz="1238" b="1" kern="0" spc="28" dirty="0">
                <a:solidFill>
                  <a:srgbClr val="C2410C"/>
                </a:solidFill>
                <a:latin typeface="Liberation Sans Narrow" pitchFamily="34" charset="0"/>
                <a:ea typeface="Liberation Sans Narrow" pitchFamily="34" charset="-122"/>
                <a:cs typeface="Liberation Sans Narrow" pitchFamily="34" charset="-120"/>
              </a:rPr>
              <a:t>MODULE 4 OVERVIEW</a:t>
            </a:r>
            <a:endParaRPr lang="en-US" sz="1238" dirty="0"/>
          </a:p>
        </p:txBody>
      </p:sp>
      <p:sp>
        <p:nvSpPr>
          <p:cNvPr id="4" name="Text 2"/>
          <p:cNvSpPr/>
          <p:nvPr/>
        </p:nvSpPr>
        <p:spPr>
          <a:xfrm>
            <a:off x="457200" y="855799"/>
            <a:ext cx="8636000" cy="475211"/>
          </a:xfrm>
          <a:prstGeom prst="rect">
            <a:avLst/>
          </a:prstGeom>
          <a:noFill/>
          <a:ln/>
        </p:spPr>
        <p:txBody>
          <a:bodyPr wrap="none" lIns="0" tIns="0" rIns="0" bIns="0" rtlCol="0" anchor="t"/>
          <a:lstStyle/>
          <a:p>
            <a:pPr marL="0" indent="0" algn="l">
              <a:lnSpc>
                <a:spcPts val="3465"/>
              </a:lnSpc>
              <a:buNone/>
            </a:pPr>
            <a:r>
              <a:rPr lang="en-US" sz="2475" b="1" kern="0" spc="-28" dirty="0">
                <a:solidFill>
                  <a:srgbClr val="0F172A"/>
                </a:solidFill>
                <a:latin typeface="Liberation Sans Narrow" pitchFamily="34" charset="0"/>
                <a:ea typeface="Liberation Sans Narrow" pitchFamily="34" charset="-122"/>
                <a:cs typeface="Liberation Sans Narrow" pitchFamily="34" charset="-120"/>
              </a:rPr>
              <a:t>Module 4 Roadmap</a:t>
            </a:r>
            <a:endParaRPr lang="en-US" sz="2475" dirty="0"/>
          </a:p>
        </p:txBody>
      </p:sp>
      <p:sp>
        <p:nvSpPr>
          <p:cNvPr id="5" name="Text 3"/>
          <p:cNvSpPr/>
          <p:nvPr/>
        </p:nvSpPr>
        <p:spPr>
          <a:xfrm>
            <a:off x="457200" y="1381534"/>
            <a:ext cx="571500" cy="42863"/>
          </a:xfrm>
          <a:prstGeom prst="roundRect">
            <a:avLst>
              <a:gd name="adj" fmla="val 66666"/>
            </a:avLst>
          </a:prstGeom>
          <a:solidFill>
            <a:srgbClr val="F97316"/>
          </a:solidFill>
          <a:ln/>
        </p:spPr>
        <p:txBody>
          <a:bodyPr wrap="square" rtlCol="0" anchor="ctr"/>
          <a:lstStyle/>
          <a:p>
            <a:pPr marL="0" indent="0">
              <a:buNone/>
            </a:pPr>
            <a:endParaRPr lang="en-US" dirty="0"/>
          </a:p>
        </p:txBody>
      </p:sp>
      <p:sp>
        <p:nvSpPr>
          <p:cNvPr id="6" name="Text 4"/>
          <p:cNvSpPr/>
          <p:nvPr/>
        </p:nvSpPr>
        <p:spPr>
          <a:xfrm>
            <a:off x="457200" y="1495834"/>
            <a:ext cx="8229600" cy="237606"/>
          </a:xfrm>
          <a:prstGeom prst="rect">
            <a:avLst/>
          </a:prstGeom>
          <a:noFill/>
          <a:ln/>
        </p:spPr>
        <p:txBody>
          <a:bodyPr wrap="square" lIns="0" tIns="0" rIns="0" bIns="0" rtlCol="0" anchor="t"/>
          <a:lstStyle/>
          <a:p>
            <a:pPr marL="0" indent="0" algn="l">
              <a:lnSpc>
                <a:spcPts val="1733"/>
              </a:lnSpc>
              <a:buNone/>
            </a:pPr>
            <a:r>
              <a:rPr lang="en-US" sz="1238" dirty="0">
                <a:solidFill>
                  <a:srgbClr val="334155"/>
                </a:solidFill>
                <a:latin typeface="Carlito" pitchFamily="34" charset="0"/>
                <a:ea typeface="Carlito" pitchFamily="34" charset="-122"/>
                <a:cs typeface="Carlito" pitchFamily="34" charset="-120"/>
              </a:rPr>
              <a:t>Four interconnected pillars — each builds on the previous one.</a:t>
            </a:r>
            <a:endParaRPr lang="en-US" sz="1238" dirty="0"/>
          </a:p>
        </p:txBody>
      </p:sp>
      <p:sp>
        <p:nvSpPr>
          <p:cNvPr id="7" name="Text 5"/>
          <p:cNvSpPr/>
          <p:nvPr/>
        </p:nvSpPr>
        <p:spPr>
          <a:xfrm>
            <a:off x="457200" y="1873002"/>
            <a:ext cx="4043363" cy="1335212"/>
          </a:xfrm>
          <a:prstGeom prst="roundRect">
            <a:avLst>
              <a:gd name="adj" fmla="val 9987"/>
            </a:avLst>
          </a:prstGeom>
          <a:solidFill>
            <a:srgbClr val="F8FAFC"/>
          </a:solidFill>
          <a:ln/>
        </p:spPr>
        <p:txBody>
          <a:bodyPr wrap="square" rtlCol="0" anchor="ctr"/>
          <a:lstStyle/>
          <a:p>
            <a:pPr marL="0" indent="0">
              <a:buNone/>
            </a:pPr>
            <a:endParaRPr lang="en-US" dirty="0"/>
          </a:p>
        </p:txBody>
      </p:sp>
      <p:sp>
        <p:nvSpPr>
          <p:cNvPr id="8" name="Shape 6"/>
          <p:cNvSpPr/>
          <p:nvPr/>
        </p:nvSpPr>
        <p:spPr>
          <a:xfrm>
            <a:off x="457200" y="1887289"/>
            <a:ext cx="4043363" cy="0"/>
          </a:xfrm>
          <a:prstGeom prst="line">
            <a:avLst/>
          </a:prstGeom>
          <a:noFill/>
          <a:ln w="28575">
            <a:solidFill>
              <a:srgbClr val="F97316"/>
            </a:solidFill>
            <a:prstDash val="solid"/>
          </a:ln>
        </p:spPr>
      </p:sp>
      <p:sp>
        <p:nvSpPr>
          <p:cNvPr id="9" name="Shape 7"/>
          <p:cNvSpPr/>
          <p:nvPr/>
        </p:nvSpPr>
        <p:spPr>
          <a:xfrm>
            <a:off x="4496991" y="1873002"/>
            <a:ext cx="0" cy="1335212"/>
          </a:xfrm>
          <a:prstGeom prst="line">
            <a:avLst/>
          </a:prstGeom>
          <a:noFill/>
          <a:ln w="7144">
            <a:solidFill>
              <a:srgbClr val="CBD5E1"/>
            </a:solidFill>
            <a:prstDash val="solid"/>
          </a:ln>
        </p:spPr>
      </p:sp>
      <p:sp>
        <p:nvSpPr>
          <p:cNvPr id="10" name="Shape 8"/>
          <p:cNvSpPr/>
          <p:nvPr/>
        </p:nvSpPr>
        <p:spPr>
          <a:xfrm>
            <a:off x="457200" y="3204642"/>
            <a:ext cx="4043363" cy="0"/>
          </a:xfrm>
          <a:prstGeom prst="line">
            <a:avLst/>
          </a:prstGeom>
          <a:noFill/>
          <a:ln w="7144">
            <a:solidFill>
              <a:srgbClr val="CBD5E1"/>
            </a:solidFill>
            <a:prstDash val="solid"/>
          </a:ln>
        </p:spPr>
      </p:sp>
      <p:sp>
        <p:nvSpPr>
          <p:cNvPr id="11" name="Shape 9"/>
          <p:cNvSpPr/>
          <p:nvPr/>
        </p:nvSpPr>
        <p:spPr>
          <a:xfrm>
            <a:off x="460772" y="1873002"/>
            <a:ext cx="0" cy="1335212"/>
          </a:xfrm>
          <a:prstGeom prst="line">
            <a:avLst/>
          </a:prstGeom>
          <a:noFill/>
          <a:ln w="7144">
            <a:solidFill>
              <a:srgbClr val="CBD5E1"/>
            </a:solidFill>
            <a:prstDash val="solid"/>
          </a:ln>
        </p:spPr>
      </p:sp>
      <p:sp>
        <p:nvSpPr>
          <p:cNvPr id="12" name="Text 10"/>
          <p:cNvSpPr/>
          <p:nvPr/>
        </p:nvSpPr>
        <p:spPr>
          <a:xfrm>
            <a:off x="3144736" y="1830139"/>
            <a:ext cx="1554366" cy="1213768"/>
          </a:xfrm>
          <a:prstGeom prst="rect">
            <a:avLst/>
          </a:prstGeom>
          <a:noFill/>
          <a:ln/>
        </p:spPr>
        <p:txBody>
          <a:bodyPr wrap="square" lIns="0" tIns="0" rIns="0" bIns="0" rtlCol="0" anchor="t"/>
          <a:lstStyle/>
          <a:p>
            <a:pPr marL="0" indent="0" algn="l">
              <a:lnSpc>
                <a:spcPts val="9450"/>
              </a:lnSpc>
              <a:buNone/>
            </a:pPr>
            <a:r>
              <a:rPr lang="en-US" sz="6750" b="1" dirty="0">
                <a:solidFill>
                  <a:srgbClr val="F97316">
                    <a:alpha val="7000"/>
                  </a:srgbClr>
                </a:solidFill>
                <a:latin typeface="Liberation Sans Narrow" pitchFamily="34" charset="0"/>
                <a:ea typeface="Liberation Sans Narrow" pitchFamily="34" charset="-122"/>
                <a:cs typeface="Liberation Sans Narrow" pitchFamily="34" charset="-120"/>
              </a:rPr>
              <a:t>01</a:t>
            </a:r>
            <a:endParaRPr lang="en-US" sz="6750" dirty="0"/>
          </a:p>
        </p:txBody>
      </p:sp>
      <p:sp>
        <p:nvSpPr>
          <p:cNvPr id="13" name="Text 11"/>
          <p:cNvSpPr/>
          <p:nvPr/>
        </p:nvSpPr>
        <p:spPr>
          <a:xfrm>
            <a:off x="607436" y="2058739"/>
            <a:ext cx="725371" cy="432054"/>
          </a:xfrm>
          <a:prstGeom prst="rect">
            <a:avLst/>
          </a:prstGeom>
          <a:noFill/>
          <a:ln/>
        </p:spPr>
        <p:txBody>
          <a:bodyPr wrap="none" lIns="0" tIns="0" rIns="0" bIns="0" rtlCol="0" anchor="t"/>
          <a:lstStyle/>
          <a:p>
            <a:pPr marL="0" indent="0" algn="l">
              <a:lnSpc>
                <a:spcPts val="3150"/>
              </a:lnSpc>
              <a:buNone/>
            </a:pPr>
            <a:r>
              <a:rPr lang="en-US" sz="3150" b="1" dirty="0">
                <a:solidFill>
                  <a:srgbClr val="F97316"/>
                </a:solidFill>
                <a:latin typeface="Liberation Sans Narrow" pitchFamily="34" charset="0"/>
                <a:ea typeface="Liberation Sans Narrow" pitchFamily="34" charset="-122"/>
                <a:cs typeface="Liberation Sans Narrow" pitchFamily="34" charset="-120"/>
              </a:rPr>
              <a:t>01</a:t>
            </a:r>
            <a:endParaRPr lang="en-US" sz="3150" dirty="0"/>
          </a:p>
        </p:txBody>
      </p:sp>
      <p:sp>
        <p:nvSpPr>
          <p:cNvPr id="14" name="Text 12"/>
          <p:cNvSpPr/>
          <p:nvPr/>
        </p:nvSpPr>
        <p:spPr>
          <a:xfrm>
            <a:off x="1135856" y="2151608"/>
            <a:ext cx="214313" cy="214313"/>
          </a:xfrm>
          <a:prstGeom prst="rect">
            <a:avLst/>
          </a:prstGeom>
          <a:noFill/>
          <a:ln/>
        </p:spPr>
        <p:txBody>
          <a:bodyPr wrap="none" lIns="0" tIns="0" rIns="0" bIns="0" rtlCol="0" anchor="ctr"/>
          <a:lstStyle/>
          <a:p>
            <a:pPr marL="0" indent="0" algn="ctr">
              <a:buNone/>
            </a:pPr>
            <a:r>
              <a:rPr lang="en-US" sz="2109" dirty="0">
                <a:solidFill>
                  <a:srgbClr val="F97316"/>
                </a:solidFill>
                <a:latin typeface="Segoe UI Symbol" pitchFamily="34" charset="0"/>
                <a:ea typeface="Segoe UI Symbol" pitchFamily="34" charset="-122"/>
                <a:cs typeface="Segoe UI Symbol" pitchFamily="34" charset="-120"/>
              </a:rPr>
              <a:t>⚡</a:t>
            </a:r>
            <a:endParaRPr lang="en-US" sz="2109" dirty="0"/>
          </a:p>
        </p:txBody>
      </p:sp>
      <p:sp>
        <p:nvSpPr>
          <p:cNvPr id="15" name="Text 13"/>
          <p:cNvSpPr/>
          <p:nvPr/>
        </p:nvSpPr>
        <p:spPr>
          <a:xfrm>
            <a:off x="650081" y="2530227"/>
            <a:ext cx="3767328" cy="230614"/>
          </a:xfrm>
          <a:prstGeom prst="rect">
            <a:avLst/>
          </a:prstGeom>
          <a:noFill/>
          <a:ln/>
        </p:spPr>
        <p:txBody>
          <a:bodyPr wrap="square" lIns="0" tIns="0" rIns="0" bIns="0" rtlCol="0" anchor="t"/>
          <a:lstStyle/>
          <a:p>
            <a:pPr marL="0" indent="0" algn="l">
              <a:lnSpc>
                <a:spcPts val="1682"/>
              </a:lnSpc>
              <a:buNone/>
            </a:pPr>
            <a:r>
              <a:rPr lang="en-US" sz="1463" b="1" dirty="0">
                <a:solidFill>
                  <a:srgbClr val="0F172A"/>
                </a:solidFill>
                <a:latin typeface="Carlito" pitchFamily="34" charset="0"/>
                <a:ea typeface="Carlito" pitchFamily="34" charset="-122"/>
                <a:cs typeface="Carlito" pitchFamily="34" charset="-120"/>
              </a:rPr>
              <a:t>AI-Enhanced Build Intelligence</a:t>
            </a:r>
            <a:endParaRPr lang="en-US" sz="1463" dirty="0"/>
          </a:p>
        </p:txBody>
      </p:sp>
      <p:sp>
        <p:nvSpPr>
          <p:cNvPr id="16" name="Text 14"/>
          <p:cNvSpPr/>
          <p:nvPr/>
        </p:nvSpPr>
        <p:spPr>
          <a:xfrm>
            <a:off x="650081" y="2815196"/>
            <a:ext cx="3657600" cy="228712"/>
          </a:xfrm>
          <a:prstGeom prst="rect">
            <a:avLst/>
          </a:prstGeom>
          <a:noFill/>
          <a:ln/>
        </p:spPr>
        <p:txBody>
          <a:bodyPr wrap="square" lIns="0" tIns="0" rIns="0" bIns="0" rtlCol="0" anchor="t"/>
          <a:lstStyle/>
          <a:p>
            <a:pPr marL="0" indent="0" algn="l">
              <a:lnSpc>
                <a:spcPts val="1496"/>
              </a:lnSpc>
              <a:buNone/>
            </a:pPr>
            <a:r>
              <a:rPr lang="en-US" sz="1069" dirty="0">
                <a:solidFill>
                  <a:srgbClr val="334155"/>
                </a:solidFill>
                <a:latin typeface="Carlito" pitchFamily="34" charset="0"/>
                <a:ea typeface="Carlito" pitchFamily="34" charset="-122"/>
                <a:cs typeface="Carlito" pitchFamily="34" charset="-120"/>
              </a:rPr>
              <a:t>Smart cache invalidation, dynamic test routing, LLM log summarisation, build-failure prediction.</a:t>
            </a:r>
            <a:endParaRPr lang="en-US" sz="1069" dirty="0"/>
          </a:p>
        </p:txBody>
      </p:sp>
      <p:sp>
        <p:nvSpPr>
          <p:cNvPr id="17" name="Text 15"/>
          <p:cNvSpPr/>
          <p:nvPr/>
        </p:nvSpPr>
        <p:spPr>
          <a:xfrm>
            <a:off x="4643438" y="1873002"/>
            <a:ext cx="4043363" cy="1335212"/>
          </a:xfrm>
          <a:prstGeom prst="roundRect">
            <a:avLst>
              <a:gd name="adj" fmla="val 9987"/>
            </a:avLst>
          </a:prstGeom>
          <a:solidFill>
            <a:srgbClr val="F8FAFC"/>
          </a:solidFill>
          <a:ln/>
        </p:spPr>
        <p:txBody>
          <a:bodyPr wrap="square" rtlCol="0" anchor="ctr"/>
          <a:lstStyle/>
          <a:p>
            <a:pPr marL="0" indent="0">
              <a:buNone/>
            </a:pPr>
            <a:endParaRPr lang="en-US" dirty="0"/>
          </a:p>
        </p:txBody>
      </p:sp>
      <p:sp>
        <p:nvSpPr>
          <p:cNvPr id="18" name="Shape 16"/>
          <p:cNvSpPr/>
          <p:nvPr/>
        </p:nvSpPr>
        <p:spPr>
          <a:xfrm>
            <a:off x="4643438" y="1887289"/>
            <a:ext cx="4043363" cy="0"/>
          </a:xfrm>
          <a:prstGeom prst="line">
            <a:avLst/>
          </a:prstGeom>
          <a:noFill/>
          <a:ln w="28575">
            <a:solidFill>
              <a:srgbClr val="F97316"/>
            </a:solidFill>
            <a:prstDash val="solid"/>
          </a:ln>
        </p:spPr>
      </p:sp>
      <p:sp>
        <p:nvSpPr>
          <p:cNvPr id="19" name="Shape 17"/>
          <p:cNvSpPr/>
          <p:nvPr/>
        </p:nvSpPr>
        <p:spPr>
          <a:xfrm>
            <a:off x="8683228" y="1873002"/>
            <a:ext cx="0" cy="1335212"/>
          </a:xfrm>
          <a:prstGeom prst="line">
            <a:avLst/>
          </a:prstGeom>
          <a:noFill/>
          <a:ln w="7144">
            <a:solidFill>
              <a:srgbClr val="CBD5E1"/>
            </a:solidFill>
            <a:prstDash val="solid"/>
          </a:ln>
        </p:spPr>
      </p:sp>
      <p:sp>
        <p:nvSpPr>
          <p:cNvPr id="20" name="Shape 18"/>
          <p:cNvSpPr/>
          <p:nvPr/>
        </p:nvSpPr>
        <p:spPr>
          <a:xfrm>
            <a:off x="4643438" y="3204642"/>
            <a:ext cx="4043363" cy="0"/>
          </a:xfrm>
          <a:prstGeom prst="line">
            <a:avLst/>
          </a:prstGeom>
          <a:noFill/>
          <a:ln w="7144">
            <a:solidFill>
              <a:srgbClr val="CBD5E1"/>
            </a:solidFill>
            <a:prstDash val="solid"/>
          </a:ln>
        </p:spPr>
      </p:sp>
      <p:sp>
        <p:nvSpPr>
          <p:cNvPr id="21" name="Shape 19"/>
          <p:cNvSpPr/>
          <p:nvPr/>
        </p:nvSpPr>
        <p:spPr>
          <a:xfrm>
            <a:off x="4647009" y="1873002"/>
            <a:ext cx="0" cy="1335212"/>
          </a:xfrm>
          <a:prstGeom prst="line">
            <a:avLst/>
          </a:prstGeom>
          <a:noFill/>
          <a:ln w="7144">
            <a:solidFill>
              <a:srgbClr val="CBD5E1"/>
            </a:solidFill>
            <a:prstDash val="solid"/>
          </a:ln>
        </p:spPr>
      </p:sp>
      <p:sp>
        <p:nvSpPr>
          <p:cNvPr id="22" name="Text 20"/>
          <p:cNvSpPr/>
          <p:nvPr/>
        </p:nvSpPr>
        <p:spPr>
          <a:xfrm>
            <a:off x="7330973" y="1830139"/>
            <a:ext cx="1554366" cy="1213768"/>
          </a:xfrm>
          <a:prstGeom prst="rect">
            <a:avLst/>
          </a:prstGeom>
          <a:noFill/>
          <a:ln/>
        </p:spPr>
        <p:txBody>
          <a:bodyPr wrap="square" lIns="0" tIns="0" rIns="0" bIns="0" rtlCol="0" anchor="t"/>
          <a:lstStyle/>
          <a:p>
            <a:pPr marL="0" indent="0" algn="l">
              <a:lnSpc>
                <a:spcPts val="9450"/>
              </a:lnSpc>
              <a:buNone/>
            </a:pPr>
            <a:r>
              <a:rPr lang="en-US" sz="6750" b="1" dirty="0">
                <a:solidFill>
                  <a:srgbClr val="F97316">
                    <a:alpha val="7000"/>
                  </a:srgbClr>
                </a:solidFill>
                <a:latin typeface="Liberation Sans Narrow" pitchFamily="34" charset="0"/>
                <a:ea typeface="Liberation Sans Narrow" pitchFamily="34" charset="-122"/>
                <a:cs typeface="Liberation Sans Narrow" pitchFamily="34" charset="-120"/>
              </a:rPr>
              <a:t>02</a:t>
            </a:r>
            <a:endParaRPr lang="en-US" sz="6750" dirty="0"/>
          </a:p>
        </p:txBody>
      </p:sp>
      <p:sp>
        <p:nvSpPr>
          <p:cNvPr id="23" name="Text 21"/>
          <p:cNvSpPr/>
          <p:nvPr/>
        </p:nvSpPr>
        <p:spPr>
          <a:xfrm>
            <a:off x="4793673" y="2058739"/>
            <a:ext cx="725371" cy="432054"/>
          </a:xfrm>
          <a:prstGeom prst="rect">
            <a:avLst/>
          </a:prstGeom>
          <a:noFill/>
          <a:ln/>
        </p:spPr>
        <p:txBody>
          <a:bodyPr wrap="none" lIns="0" tIns="0" rIns="0" bIns="0" rtlCol="0" anchor="t"/>
          <a:lstStyle/>
          <a:p>
            <a:pPr marL="0" indent="0" algn="l">
              <a:lnSpc>
                <a:spcPts val="3150"/>
              </a:lnSpc>
              <a:buNone/>
            </a:pPr>
            <a:r>
              <a:rPr lang="en-US" sz="3150" b="1" dirty="0">
                <a:solidFill>
                  <a:srgbClr val="F97316"/>
                </a:solidFill>
                <a:latin typeface="Liberation Sans Narrow" pitchFamily="34" charset="0"/>
                <a:ea typeface="Liberation Sans Narrow" pitchFamily="34" charset="-122"/>
                <a:cs typeface="Liberation Sans Narrow" pitchFamily="34" charset="-120"/>
              </a:rPr>
              <a:t>02</a:t>
            </a:r>
            <a:endParaRPr lang="en-US" sz="3150" dirty="0"/>
          </a:p>
        </p:txBody>
      </p:sp>
      <p:sp>
        <p:nvSpPr>
          <p:cNvPr id="24" name="Text 22"/>
          <p:cNvSpPr/>
          <p:nvPr/>
        </p:nvSpPr>
        <p:spPr>
          <a:xfrm>
            <a:off x="5322094" y="2151608"/>
            <a:ext cx="214313" cy="214313"/>
          </a:xfrm>
          <a:prstGeom prst="rect">
            <a:avLst/>
          </a:prstGeom>
          <a:noFill/>
          <a:ln/>
        </p:spPr>
        <p:txBody>
          <a:bodyPr wrap="none" lIns="0" tIns="0" rIns="0" bIns="0" rtlCol="0" anchor="ctr"/>
          <a:lstStyle/>
          <a:p>
            <a:pPr marL="0" indent="0" algn="ctr">
              <a:buNone/>
            </a:pPr>
            <a:r>
              <a:rPr lang="en-US" sz="2109" dirty="0">
                <a:solidFill>
                  <a:srgbClr val="F97316"/>
                </a:solidFill>
                <a:latin typeface="Segoe UI Symbol" pitchFamily="34" charset="0"/>
                <a:ea typeface="Segoe UI Symbol" pitchFamily="34" charset="-122"/>
                <a:cs typeface="Segoe UI Symbol" pitchFamily="34" charset="-120"/>
              </a:rPr>
              <a:t>⚙</a:t>
            </a:r>
            <a:endParaRPr lang="en-US" sz="2109" dirty="0"/>
          </a:p>
        </p:txBody>
      </p:sp>
      <p:sp>
        <p:nvSpPr>
          <p:cNvPr id="25" name="Text 23"/>
          <p:cNvSpPr/>
          <p:nvPr/>
        </p:nvSpPr>
        <p:spPr>
          <a:xfrm>
            <a:off x="4836319" y="2530227"/>
            <a:ext cx="3767328" cy="230614"/>
          </a:xfrm>
          <a:prstGeom prst="rect">
            <a:avLst/>
          </a:prstGeom>
          <a:noFill/>
          <a:ln/>
        </p:spPr>
        <p:txBody>
          <a:bodyPr wrap="square" lIns="0" tIns="0" rIns="0" bIns="0" rtlCol="0" anchor="t"/>
          <a:lstStyle/>
          <a:p>
            <a:pPr marL="0" indent="0" algn="l">
              <a:lnSpc>
                <a:spcPts val="1682"/>
              </a:lnSpc>
              <a:buNone/>
            </a:pPr>
            <a:r>
              <a:rPr lang="en-US" sz="1463" b="1" dirty="0">
                <a:solidFill>
                  <a:srgbClr val="0F172A"/>
                </a:solidFill>
                <a:latin typeface="Carlito" pitchFamily="34" charset="0"/>
                <a:ea typeface="Carlito" pitchFamily="34" charset="-122"/>
                <a:cs typeface="Carlito" pitchFamily="34" charset="-120"/>
              </a:rPr>
              <a:t>Configuration Management with Ansible</a:t>
            </a:r>
            <a:endParaRPr lang="en-US" sz="1463" dirty="0"/>
          </a:p>
        </p:txBody>
      </p:sp>
      <p:sp>
        <p:nvSpPr>
          <p:cNvPr id="26" name="Text 24"/>
          <p:cNvSpPr/>
          <p:nvPr/>
        </p:nvSpPr>
        <p:spPr>
          <a:xfrm>
            <a:off x="4836319" y="2815196"/>
            <a:ext cx="3657600" cy="228712"/>
          </a:xfrm>
          <a:prstGeom prst="rect">
            <a:avLst/>
          </a:prstGeom>
          <a:noFill/>
          <a:ln/>
        </p:spPr>
        <p:txBody>
          <a:bodyPr wrap="square" lIns="0" tIns="0" rIns="0" bIns="0" rtlCol="0" anchor="t"/>
          <a:lstStyle/>
          <a:p>
            <a:pPr marL="0" indent="0" algn="l">
              <a:lnSpc>
                <a:spcPts val="1496"/>
              </a:lnSpc>
              <a:buNone/>
            </a:pPr>
            <a:r>
              <a:rPr lang="en-US" sz="1069" dirty="0">
                <a:solidFill>
                  <a:srgbClr val="334155"/>
                </a:solidFill>
                <a:latin typeface="Carlito" pitchFamily="34" charset="0"/>
                <a:ea typeface="Carlito" pitchFamily="34" charset="-122"/>
                <a:cs typeface="Carlito" pitchFamily="34" charset="-120"/>
              </a:rPr>
              <a:t>Agentless push model, YAML playbooks, tasks, roles, modules, idempotency guarantees.</a:t>
            </a:r>
            <a:endParaRPr lang="en-US" sz="1069" dirty="0"/>
          </a:p>
        </p:txBody>
      </p:sp>
      <p:sp>
        <p:nvSpPr>
          <p:cNvPr id="27" name="Text 25"/>
          <p:cNvSpPr/>
          <p:nvPr/>
        </p:nvSpPr>
        <p:spPr>
          <a:xfrm>
            <a:off x="457200" y="3351088"/>
            <a:ext cx="4043363" cy="1335212"/>
          </a:xfrm>
          <a:prstGeom prst="roundRect">
            <a:avLst>
              <a:gd name="adj" fmla="val 9987"/>
            </a:avLst>
          </a:prstGeom>
          <a:solidFill>
            <a:srgbClr val="F8FAFC"/>
          </a:solidFill>
          <a:ln/>
        </p:spPr>
        <p:txBody>
          <a:bodyPr wrap="square" rtlCol="0" anchor="ctr"/>
          <a:lstStyle/>
          <a:p>
            <a:pPr marL="0" indent="0">
              <a:buNone/>
            </a:pPr>
            <a:endParaRPr lang="en-US" dirty="0"/>
          </a:p>
        </p:txBody>
      </p:sp>
      <p:sp>
        <p:nvSpPr>
          <p:cNvPr id="28" name="Shape 26"/>
          <p:cNvSpPr/>
          <p:nvPr/>
        </p:nvSpPr>
        <p:spPr>
          <a:xfrm>
            <a:off x="457200" y="3365376"/>
            <a:ext cx="4043363" cy="0"/>
          </a:xfrm>
          <a:prstGeom prst="line">
            <a:avLst/>
          </a:prstGeom>
          <a:noFill/>
          <a:ln w="28575">
            <a:solidFill>
              <a:srgbClr val="F97316"/>
            </a:solidFill>
            <a:prstDash val="solid"/>
          </a:ln>
        </p:spPr>
      </p:sp>
      <p:sp>
        <p:nvSpPr>
          <p:cNvPr id="29" name="Shape 27"/>
          <p:cNvSpPr/>
          <p:nvPr/>
        </p:nvSpPr>
        <p:spPr>
          <a:xfrm>
            <a:off x="4496991" y="3351088"/>
            <a:ext cx="0" cy="1335212"/>
          </a:xfrm>
          <a:prstGeom prst="line">
            <a:avLst/>
          </a:prstGeom>
          <a:noFill/>
          <a:ln w="7144">
            <a:solidFill>
              <a:srgbClr val="CBD5E1"/>
            </a:solidFill>
            <a:prstDash val="solid"/>
          </a:ln>
        </p:spPr>
      </p:sp>
      <p:sp>
        <p:nvSpPr>
          <p:cNvPr id="30" name="Shape 28"/>
          <p:cNvSpPr/>
          <p:nvPr/>
        </p:nvSpPr>
        <p:spPr>
          <a:xfrm>
            <a:off x="457200" y="4682728"/>
            <a:ext cx="4043363" cy="0"/>
          </a:xfrm>
          <a:prstGeom prst="line">
            <a:avLst/>
          </a:prstGeom>
          <a:noFill/>
          <a:ln w="7144">
            <a:solidFill>
              <a:srgbClr val="CBD5E1"/>
            </a:solidFill>
            <a:prstDash val="solid"/>
          </a:ln>
        </p:spPr>
      </p:sp>
      <p:sp>
        <p:nvSpPr>
          <p:cNvPr id="31" name="Shape 29"/>
          <p:cNvSpPr/>
          <p:nvPr/>
        </p:nvSpPr>
        <p:spPr>
          <a:xfrm>
            <a:off x="460772" y="3351088"/>
            <a:ext cx="0" cy="1335212"/>
          </a:xfrm>
          <a:prstGeom prst="line">
            <a:avLst/>
          </a:prstGeom>
          <a:noFill/>
          <a:ln w="7144">
            <a:solidFill>
              <a:srgbClr val="CBD5E1"/>
            </a:solidFill>
            <a:prstDash val="solid"/>
          </a:ln>
        </p:spPr>
      </p:sp>
      <p:sp>
        <p:nvSpPr>
          <p:cNvPr id="32" name="Text 30"/>
          <p:cNvSpPr/>
          <p:nvPr/>
        </p:nvSpPr>
        <p:spPr>
          <a:xfrm>
            <a:off x="3144736" y="3308226"/>
            <a:ext cx="1554366" cy="1213768"/>
          </a:xfrm>
          <a:prstGeom prst="rect">
            <a:avLst/>
          </a:prstGeom>
          <a:noFill/>
          <a:ln/>
        </p:spPr>
        <p:txBody>
          <a:bodyPr wrap="square" lIns="0" tIns="0" rIns="0" bIns="0" rtlCol="0" anchor="t"/>
          <a:lstStyle/>
          <a:p>
            <a:pPr marL="0" indent="0" algn="l">
              <a:lnSpc>
                <a:spcPts val="9450"/>
              </a:lnSpc>
              <a:buNone/>
            </a:pPr>
            <a:r>
              <a:rPr lang="en-US" sz="6750" b="1" dirty="0">
                <a:solidFill>
                  <a:srgbClr val="F97316">
                    <a:alpha val="7000"/>
                  </a:srgbClr>
                </a:solidFill>
                <a:latin typeface="Liberation Sans Narrow" pitchFamily="34" charset="0"/>
                <a:ea typeface="Liberation Sans Narrow" pitchFamily="34" charset="-122"/>
                <a:cs typeface="Liberation Sans Narrow" pitchFamily="34" charset="-120"/>
              </a:rPr>
              <a:t>03</a:t>
            </a:r>
            <a:endParaRPr lang="en-US" sz="6750" dirty="0"/>
          </a:p>
        </p:txBody>
      </p:sp>
      <p:sp>
        <p:nvSpPr>
          <p:cNvPr id="33" name="Text 31"/>
          <p:cNvSpPr/>
          <p:nvPr/>
        </p:nvSpPr>
        <p:spPr>
          <a:xfrm>
            <a:off x="607436" y="3536826"/>
            <a:ext cx="725371" cy="432054"/>
          </a:xfrm>
          <a:prstGeom prst="rect">
            <a:avLst/>
          </a:prstGeom>
          <a:noFill/>
          <a:ln/>
        </p:spPr>
        <p:txBody>
          <a:bodyPr wrap="none" lIns="0" tIns="0" rIns="0" bIns="0" rtlCol="0" anchor="t"/>
          <a:lstStyle/>
          <a:p>
            <a:pPr marL="0" indent="0" algn="l">
              <a:lnSpc>
                <a:spcPts val="3150"/>
              </a:lnSpc>
              <a:buNone/>
            </a:pPr>
            <a:r>
              <a:rPr lang="en-US" sz="3150" b="1" dirty="0">
                <a:solidFill>
                  <a:srgbClr val="F97316"/>
                </a:solidFill>
                <a:latin typeface="Liberation Sans Narrow" pitchFamily="34" charset="0"/>
                <a:ea typeface="Liberation Sans Narrow" pitchFamily="34" charset="-122"/>
                <a:cs typeface="Liberation Sans Narrow" pitchFamily="34" charset="-120"/>
              </a:rPr>
              <a:t>03</a:t>
            </a:r>
            <a:endParaRPr lang="en-US" sz="3150" dirty="0"/>
          </a:p>
        </p:txBody>
      </p:sp>
      <p:sp>
        <p:nvSpPr>
          <p:cNvPr id="34" name="Text 32"/>
          <p:cNvSpPr/>
          <p:nvPr/>
        </p:nvSpPr>
        <p:spPr>
          <a:xfrm>
            <a:off x="1135856" y="3629695"/>
            <a:ext cx="214313" cy="214313"/>
          </a:xfrm>
          <a:prstGeom prst="rect">
            <a:avLst/>
          </a:prstGeom>
          <a:noFill/>
          <a:ln/>
        </p:spPr>
        <p:txBody>
          <a:bodyPr wrap="none" lIns="0" tIns="0" rIns="0" bIns="0" rtlCol="0" anchor="ctr"/>
          <a:lstStyle/>
          <a:p>
            <a:pPr marL="0" indent="0" algn="ctr">
              <a:buNone/>
            </a:pPr>
            <a:r>
              <a:rPr lang="en-US" sz="2109" dirty="0">
                <a:solidFill>
                  <a:srgbClr val="F97316"/>
                </a:solidFill>
                <a:latin typeface="Segoe UI Symbol" pitchFamily="34" charset="0"/>
                <a:ea typeface="Segoe UI Symbol" pitchFamily="34" charset="-122"/>
                <a:cs typeface="Segoe UI Symbol" pitchFamily="34" charset="-120"/>
              </a:rPr>
              <a:t>✦</a:t>
            </a:r>
            <a:endParaRPr lang="en-US" sz="2109" dirty="0"/>
          </a:p>
        </p:txBody>
      </p:sp>
      <p:sp>
        <p:nvSpPr>
          <p:cNvPr id="35" name="Text 33"/>
          <p:cNvSpPr/>
          <p:nvPr/>
        </p:nvSpPr>
        <p:spPr>
          <a:xfrm>
            <a:off x="650081" y="4008313"/>
            <a:ext cx="3767328" cy="230614"/>
          </a:xfrm>
          <a:prstGeom prst="rect">
            <a:avLst/>
          </a:prstGeom>
          <a:noFill/>
          <a:ln/>
        </p:spPr>
        <p:txBody>
          <a:bodyPr wrap="square" lIns="0" tIns="0" rIns="0" bIns="0" rtlCol="0" anchor="t"/>
          <a:lstStyle/>
          <a:p>
            <a:pPr marL="0" indent="0" algn="l">
              <a:lnSpc>
                <a:spcPts val="1682"/>
              </a:lnSpc>
              <a:buNone/>
            </a:pPr>
            <a:r>
              <a:rPr lang="en-US" sz="1463" b="1" dirty="0">
                <a:solidFill>
                  <a:srgbClr val="0F172A"/>
                </a:solidFill>
                <a:latin typeface="Carlito" pitchFamily="34" charset="0"/>
                <a:ea typeface="Carlito" pitchFamily="34" charset="-122"/>
                <a:cs typeface="Carlito" pitchFamily="34" charset="-120"/>
              </a:rPr>
              <a:t>AI-Driven Infrastructure Generation</a:t>
            </a:r>
            <a:endParaRPr lang="en-US" sz="1463" dirty="0"/>
          </a:p>
        </p:txBody>
      </p:sp>
      <p:sp>
        <p:nvSpPr>
          <p:cNvPr id="36" name="Text 34"/>
          <p:cNvSpPr/>
          <p:nvPr/>
        </p:nvSpPr>
        <p:spPr>
          <a:xfrm>
            <a:off x="650081" y="4293282"/>
            <a:ext cx="3657600" cy="228712"/>
          </a:xfrm>
          <a:prstGeom prst="rect">
            <a:avLst/>
          </a:prstGeom>
          <a:noFill/>
          <a:ln/>
        </p:spPr>
        <p:txBody>
          <a:bodyPr wrap="square" lIns="0" tIns="0" rIns="0" bIns="0" rtlCol="0" anchor="t"/>
          <a:lstStyle/>
          <a:p>
            <a:pPr marL="0" indent="0" algn="l">
              <a:lnSpc>
                <a:spcPts val="1496"/>
              </a:lnSpc>
              <a:buNone/>
            </a:pPr>
            <a:r>
              <a:rPr lang="en-US" sz="1069" dirty="0">
                <a:solidFill>
                  <a:srgbClr val="334155"/>
                </a:solidFill>
                <a:latin typeface="Carlito" pitchFamily="34" charset="0"/>
                <a:ea typeface="Carlito" pitchFamily="34" charset="-122"/>
                <a:cs typeface="Carlito" pitchFamily="34" charset="-120"/>
              </a:rPr>
              <a:t>Natural-language to Terraform/Ansible, AI-augmented linting with tflint and Checkov.</a:t>
            </a:r>
            <a:endParaRPr lang="en-US" sz="1069" dirty="0"/>
          </a:p>
        </p:txBody>
      </p:sp>
      <p:sp>
        <p:nvSpPr>
          <p:cNvPr id="37" name="Text 35"/>
          <p:cNvSpPr/>
          <p:nvPr/>
        </p:nvSpPr>
        <p:spPr>
          <a:xfrm>
            <a:off x="4643438" y="3351088"/>
            <a:ext cx="4043363" cy="1335212"/>
          </a:xfrm>
          <a:prstGeom prst="roundRect">
            <a:avLst>
              <a:gd name="adj" fmla="val 9987"/>
            </a:avLst>
          </a:prstGeom>
          <a:solidFill>
            <a:srgbClr val="F8FAFC"/>
          </a:solidFill>
          <a:ln/>
        </p:spPr>
        <p:txBody>
          <a:bodyPr wrap="square" rtlCol="0" anchor="ctr"/>
          <a:lstStyle/>
          <a:p>
            <a:pPr marL="0" indent="0">
              <a:buNone/>
            </a:pPr>
            <a:endParaRPr lang="en-US" dirty="0"/>
          </a:p>
        </p:txBody>
      </p:sp>
      <p:sp>
        <p:nvSpPr>
          <p:cNvPr id="38" name="Shape 36"/>
          <p:cNvSpPr/>
          <p:nvPr/>
        </p:nvSpPr>
        <p:spPr>
          <a:xfrm>
            <a:off x="4643438" y="3365376"/>
            <a:ext cx="4043363" cy="0"/>
          </a:xfrm>
          <a:prstGeom prst="line">
            <a:avLst/>
          </a:prstGeom>
          <a:noFill/>
          <a:ln w="28575">
            <a:solidFill>
              <a:srgbClr val="F97316"/>
            </a:solidFill>
            <a:prstDash val="solid"/>
          </a:ln>
        </p:spPr>
      </p:sp>
      <p:sp>
        <p:nvSpPr>
          <p:cNvPr id="39" name="Shape 37"/>
          <p:cNvSpPr/>
          <p:nvPr/>
        </p:nvSpPr>
        <p:spPr>
          <a:xfrm>
            <a:off x="8683228" y="3351088"/>
            <a:ext cx="0" cy="1335212"/>
          </a:xfrm>
          <a:prstGeom prst="line">
            <a:avLst/>
          </a:prstGeom>
          <a:noFill/>
          <a:ln w="7144">
            <a:solidFill>
              <a:srgbClr val="CBD5E1"/>
            </a:solidFill>
            <a:prstDash val="solid"/>
          </a:ln>
        </p:spPr>
      </p:sp>
      <p:sp>
        <p:nvSpPr>
          <p:cNvPr id="40" name="Shape 38"/>
          <p:cNvSpPr/>
          <p:nvPr/>
        </p:nvSpPr>
        <p:spPr>
          <a:xfrm>
            <a:off x="4643438" y="4682728"/>
            <a:ext cx="4043363" cy="0"/>
          </a:xfrm>
          <a:prstGeom prst="line">
            <a:avLst/>
          </a:prstGeom>
          <a:noFill/>
          <a:ln w="7144">
            <a:solidFill>
              <a:srgbClr val="CBD5E1"/>
            </a:solidFill>
            <a:prstDash val="solid"/>
          </a:ln>
        </p:spPr>
      </p:sp>
      <p:sp>
        <p:nvSpPr>
          <p:cNvPr id="41" name="Shape 39"/>
          <p:cNvSpPr/>
          <p:nvPr/>
        </p:nvSpPr>
        <p:spPr>
          <a:xfrm>
            <a:off x="4647009" y="3351088"/>
            <a:ext cx="0" cy="1335212"/>
          </a:xfrm>
          <a:prstGeom prst="line">
            <a:avLst/>
          </a:prstGeom>
          <a:noFill/>
          <a:ln w="7144">
            <a:solidFill>
              <a:srgbClr val="CBD5E1"/>
            </a:solidFill>
            <a:prstDash val="solid"/>
          </a:ln>
        </p:spPr>
      </p:sp>
      <p:sp>
        <p:nvSpPr>
          <p:cNvPr id="42" name="Text 40"/>
          <p:cNvSpPr/>
          <p:nvPr/>
        </p:nvSpPr>
        <p:spPr>
          <a:xfrm>
            <a:off x="7330973" y="3308226"/>
            <a:ext cx="1554366" cy="1213768"/>
          </a:xfrm>
          <a:prstGeom prst="rect">
            <a:avLst/>
          </a:prstGeom>
          <a:noFill/>
          <a:ln/>
        </p:spPr>
        <p:txBody>
          <a:bodyPr wrap="square" lIns="0" tIns="0" rIns="0" bIns="0" rtlCol="0" anchor="t"/>
          <a:lstStyle/>
          <a:p>
            <a:pPr marL="0" indent="0" algn="l">
              <a:lnSpc>
                <a:spcPts val="9450"/>
              </a:lnSpc>
              <a:buNone/>
            </a:pPr>
            <a:r>
              <a:rPr lang="en-US" sz="6750" b="1" dirty="0">
                <a:solidFill>
                  <a:srgbClr val="F97316">
                    <a:alpha val="7000"/>
                  </a:srgbClr>
                </a:solidFill>
                <a:latin typeface="Liberation Sans Narrow" pitchFamily="34" charset="0"/>
                <a:ea typeface="Liberation Sans Narrow" pitchFamily="34" charset="-122"/>
                <a:cs typeface="Liberation Sans Narrow" pitchFamily="34" charset="-120"/>
              </a:rPr>
              <a:t>04</a:t>
            </a:r>
            <a:endParaRPr lang="en-US" sz="6750" dirty="0"/>
          </a:p>
        </p:txBody>
      </p:sp>
      <p:sp>
        <p:nvSpPr>
          <p:cNvPr id="43" name="Text 41"/>
          <p:cNvSpPr/>
          <p:nvPr/>
        </p:nvSpPr>
        <p:spPr>
          <a:xfrm>
            <a:off x="4793673" y="3536826"/>
            <a:ext cx="725371" cy="432054"/>
          </a:xfrm>
          <a:prstGeom prst="rect">
            <a:avLst/>
          </a:prstGeom>
          <a:noFill/>
          <a:ln/>
        </p:spPr>
        <p:txBody>
          <a:bodyPr wrap="none" lIns="0" tIns="0" rIns="0" bIns="0" rtlCol="0" anchor="t"/>
          <a:lstStyle/>
          <a:p>
            <a:pPr marL="0" indent="0" algn="l">
              <a:lnSpc>
                <a:spcPts val="3150"/>
              </a:lnSpc>
              <a:buNone/>
            </a:pPr>
            <a:r>
              <a:rPr lang="en-US" sz="3150" b="1" dirty="0">
                <a:solidFill>
                  <a:srgbClr val="F97316"/>
                </a:solidFill>
                <a:latin typeface="Liberation Sans Narrow" pitchFamily="34" charset="0"/>
                <a:ea typeface="Liberation Sans Narrow" pitchFamily="34" charset="-122"/>
                <a:cs typeface="Liberation Sans Narrow" pitchFamily="34" charset="-120"/>
              </a:rPr>
              <a:t>04</a:t>
            </a:r>
            <a:endParaRPr lang="en-US" sz="3150" dirty="0"/>
          </a:p>
        </p:txBody>
      </p:sp>
      <p:sp>
        <p:nvSpPr>
          <p:cNvPr id="44" name="Text 42"/>
          <p:cNvSpPr/>
          <p:nvPr/>
        </p:nvSpPr>
        <p:spPr>
          <a:xfrm>
            <a:off x="5322094" y="3629695"/>
            <a:ext cx="214313" cy="214313"/>
          </a:xfrm>
          <a:prstGeom prst="rect">
            <a:avLst/>
          </a:prstGeom>
          <a:noFill/>
          <a:ln/>
        </p:spPr>
        <p:txBody>
          <a:bodyPr wrap="none" lIns="0" tIns="0" rIns="0" bIns="0" rtlCol="0" anchor="ctr"/>
          <a:lstStyle/>
          <a:p>
            <a:pPr marL="0" indent="0" algn="ctr">
              <a:buNone/>
            </a:pPr>
            <a:r>
              <a:rPr lang="en-US" sz="2109" dirty="0">
                <a:solidFill>
                  <a:srgbClr val="F97316"/>
                </a:solidFill>
                <a:latin typeface="Segoe UI Symbol" pitchFamily="34" charset="0"/>
                <a:ea typeface="Segoe UI Symbol" pitchFamily="34" charset="-122"/>
                <a:cs typeface="Segoe UI Symbol" pitchFamily="34" charset="-120"/>
              </a:rPr>
              <a:t>✦</a:t>
            </a:r>
            <a:endParaRPr lang="en-US" sz="2109" dirty="0"/>
          </a:p>
        </p:txBody>
      </p:sp>
      <p:sp>
        <p:nvSpPr>
          <p:cNvPr id="45" name="Text 43"/>
          <p:cNvSpPr/>
          <p:nvPr/>
        </p:nvSpPr>
        <p:spPr>
          <a:xfrm>
            <a:off x="4836319" y="4008313"/>
            <a:ext cx="3657600" cy="230614"/>
          </a:xfrm>
          <a:prstGeom prst="rect">
            <a:avLst/>
          </a:prstGeom>
          <a:noFill/>
          <a:ln/>
        </p:spPr>
        <p:txBody>
          <a:bodyPr wrap="none" lIns="0" tIns="0" rIns="0" bIns="0" rtlCol="0" anchor="t"/>
          <a:lstStyle/>
          <a:p>
            <a:pPr marL="0" indent="0" algn="l">
              <a:lnSpc>
                <a:spcPts val="1682"/>
              </a:lnSpc>
              <a:buNone/>
            </a:pPr>
            <a:r>
              <a:rPr lang="en-US" sz="1463" b="1" dirty="0">
                <a:solidFill>
                  <a:srgbClr val="0F172A"/>
                </a:solidFill>
                <a:latin typeface="Carlito" pitchFamily="34" charset="0"/>
                <a:ea typeface="Carlito" pitchFamily="34" charset="-122"/>
                <a:cs typeface="Carlito" pitchFamily="34" charset="-120"/>
              </a:rPr>
              <a:t>Integration &amp; Wrap-up</a:t>
            </a:r>
            <a:endParaRPr lang="en-US" sz="1463" dirty="0"/>
          </a:p>
        </p:txBody>
      </p:sp>
      <p:sp>
        <p:nvSpPr>
          <p:cNvPr id="46" name="Text 44"/>
          <p:cNvSpPr/>
          <p:nvPr/>
        </p:nvSpPr>
        <p:spPr>
          <a:xfrm>
            <a:off x="4836319" y="4293282"/>
            <a:ext cx="3657600" cy="228712"/>
          </a:xfrm>
          <a:prstGeom prst="rect">
            <a:avLst/>
          </a:prstGeom>
          <a:noFill/>
          <a:ln/>
        </p:spPr>
        <p:txBody>
          <a:bodyPr wrap="square" lIns="0" tIns="0" rIns="0" bIns="0" rtlCol="0" anchor="t"/>
          <a:lstStyle/>
          <a:p>
            <a:pPr marL="0" indent="0" algn="l">
              <a:lnSpc>
                <a:spcPts val="1496"/>
              </a:lnSpc>
              <a:buNone/>
            </a:pPr>
            <a:r>
              <a:rPr lang="en-US" sz="1069" dirty="0">
                <a:solidFill>
                  <a:srgbClr val="334155"/>
                </a:solidFill>
                <a:latin typeface="Carlito" pitchFamily="34" charset="0"/>
                <a:ea typeface="Carlito" pitchFamily="34" charset="-122"/>
                <a:cs typeface="Carlito" pitchFamily="34" charset="-120"/>
              </a:rPr>
              <a:t>End-to-end pipeline, orchestration patterns, pitfalls, best practices, and Module summary.</a:t>
            </a:r>
            <a:endParaRPr lang="en-US" sz="1069"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8636000" cy="432054"/>
          </a:xfrm>
          <a:prstGeom prst="rect">
            <a:avLst/>
          </a:prstGeom>
          <a:noFill/>
          <a:ln/>
        </p:spPr>
        <p:txBody>
          <a:bodyPr wrap="square" lIns="0" tIns="0" rIns="0" bIns="0" rtlCol="0" anchor="t"/>
          <a:lstStyle/>
          <a:p>
            <a:pPr marL="0" indent="0" algn="l">
              <a:lnSpc>
                <a:spcPts val="3150"/>
              </a:lnSpc>
              <a:buNone/>
            </a:pPr>
            <a:r>
              <a:rPr lang="en-US" sz="2250" b="1" dirty="0">
                <a:solidFill>
                  <a:srgbClr val="0F172A"/>
                </a:solidFill>
                <a:latin typeface="Carlito" pitchFamily="34" charset="0"/>
                <a:ea typeface="Carlito" pitchFamily="34" charset="-122"/>
                <a:cs typeface="Carlito" pitchFamily="34" charset="-120"/>
              </a:rPr>
              <a:t>Where we left off — Modules 1 → 3 recap</a:t>
            </a:r>
            <a:endParaRPr lang="en-US" sz="2250" dirty="0"/>
          </a:p>
        </p:txBody>
      </p:sp>
      <p:sp>
        <p:nvSpPr>
          <p:cNvPr id="3" name="Text 1"/>
          <p:cNvSpPr/>
          <p:nvPr/>
        </p:nvSpPr>
        <p:spPr>
          <a:xfrm>
            <a:off x="457200" y="928688"/>
            <a:ext cx="571500" cy="42863"/>
          </a:xfrm>
          <a:prstGeom prst="roundRect">
            <a:avLst>
              <a:gd name="adj" fmla="val 66666"/>
            </a:avLst>
          </a:prstGeom>
          <a:solidFill>
            <a:srgbClr val="F97316"/>
          </a:solidFill>
          <a:ln/>
        </p:spPr>
        <p:txBody>
          <a:bodyPr wrap="square" rtlCol="0" anchor="ctr"/>
          <a:lstStyle/>
          <a:p>
            <a:pPr marL="0" indent="0">
              <a:buNone/>
            </a:pPr>
            <a:endParaRPr lang="en-US" dirty="0"/>
          </a:p>
        </p:txBody>
      </p:sp>
      <p:sp>
        <p:nvSpPr>
          <p:cNvPr id="4" name="Text 2"/>
          <p:cNvSpPr/>
          <p:nvPr/>
        </p:nvSpPr>
        <p:spPr>
          <a:xfrm>
            <a:off x="457200" y="1028700"/>
            <a:ext cx="8636000" cy="237606"/>
          </a:xfrm>
          <a:prstGeom prst="rect">
            <a:avLst/>
          </a:prstGeom>
          <a:noFill/>
          <a:ln/>
        </p:spPr>
        <p:txBody>
          <a:bodyPr wrap="square" lIns="0" tIns="0" rIns="0" bIns="0" rtlCol="0" anchor="t"/>
          <a:lstStyle/>
          <a:p>
            <a:pPr marL="0" indent="0" algn="l">
              <a:lnSpc>
                <a:spcPts val="1733"/>
              </a:lnSpc>
              <a:buNone/>
            </a:pPr>
            <a:r>
              <a:rPr lang="en-US" sz="1238" dirty="0">
                <a:solidFill>
                  <a:srgbClr val="334155"/>
                </a:solidFill>
                <a:latin typeface="Liberation Sans Narrow" pitchFamily="34" charset="0"/>
                <a:ea typeface="Liberation Sans Narrow" pitchFamily="34" charset="-122"/>
                <a:cs typeface="Liberation Sans Narrow" pitchFamily="34" charset="-120"/>
              </a:rPr>
              <a:t>Module 4 builds on this foundation.</a:t>
            </a:r>
            <a:endParaRPr lang="en-US" sz="1238" dirty="0"/>
          </a:p>
        </p:txBody>
      </p:sp>
      <p:sp>
        <p:nvSpPr>
          <p:cNvPr id="5" name="Text 3"/>
          <p:cNvSpPr/>
          <p:nvPr/>
        </p:nvSpPr>
        <p:spPr>
          <a:xfrm>
            <a:off x="1115541" y="1905930"/>
            <a:ext cx="6912918" cy="42863"/>
          </a:xfrm>
          <a:prstGeom prst="roundRect">
            <a:avLst>
              <a:gd name="adj" fmla="val 66666"/>
            </a:avLst>
          </a:prstGeom>
          <a:solidFill>
            <a:srgbClr val="F97316"/>
          </a:solidFill>
          <a:ln/>
        </p:spPr>
        <p:txBody>
          <a:bodyPr wrap="square" rtlCol="0" anchor="ctr"/>
          <a:lstStyle/>
          <a:p>
            <a:pPr marL="0" indent="0">
              <a:buNone/>
            </a:pPr>
            <a:endParaRPr lang="en-US" dirty="0"/>
          </a:p>
        </p:txBody>
      </p:sp>
      <p:sp>
        <p:nvSpPr>
          <p:cNvPr id="6" name="Text 4"/>
          <p:cNvSpPr/>
          <p:nvPr/>
        </p:nvSpPr>
        <p:spPr>
          <a:xfrm>
            <a:off x="457200" y="4217045"/>
            <a:ext cx="8229600" cy="469255"/>
          </a:xfrm>
          <a:prstGeom prst="roundRect">
            <a:avLst>
              <a:gd name="adj" fmla="val 16239"/>
            </a:avLst>
          </a:prstGeom>
          <a:solidFill>
            <a:srgbClr val="F8FAFC"/>
          </a:solidFill>
          <a:ln/>
        </p:spPr>
        <p:txBody>
          <a:bodyPr wrap="square" rtlCol="0" anchor="ctr"/>
          <a:lstStyle/>
          <a:p>
            <a:pPr marL="0" indent="0">
              <a:buNone/>
            </a:pPr>
            <a:endParaRPr lang="en-US" dirty="0"/>
          </a:p>
        </p:txBody>
      </p:sp>
      <p:sp>
        <p:nvSpPr>
          <p:cNvPr id="7" name="Shape 5"/>
          <p:cNvSpPr/>
          <p:nvPr/>
        </p:nvSpPr>
        <p:spPr>
          <a:xfrm>
            <a:off x="478631" y="4217045"/>
            <a:ext cx="0" cy="469255"/>
          </a:xfrm>
          <a:prstGeom prst="line">
            <a:avLst/>
          </a:prstGeom>
          <a:noFill/>
          <a:ln w="42863">
            <a:solidFill>
              <a:srgbClr val="F97316"/>
            </a:solidFill>
            <a:prstDash val="solid"/>
          </a:ln>
        </p:spPr>
      </p:sp>
      <p:sp>
        <p:nvSpPr>
          <p:cNvPr id="8" name="Text 6"/>
          <p:cNvSpPr/>
          <p:nvPr/>
        </p:nvSpPr>
        <p:spPr>
          <a:xfrm>
            <a:off x="457200" y="4217045"/>
            <a:ext cx="8229600" cy="506795"/>
          </a:xfrm>
          <a:prstGeom prst="rect">
            <a:avLst/>
          </a:prstGeom>
          <a:noFill/>
          <a:ln/>
        </p:spPr>
        <p:txBody>
          <a:bodyPr wrap="square" lIns="171450" tIns="128588" rIns="171450" bIns="128588" rtlCol="0" anchor="t"/>
          <a:lstStyle/>
          <a:p>
            <a:pPr marL="0" indent="0" algn="l">
              <a:lnSpc>
                <a:spcPts val="1671"/>
              </a:lnSpc>
              <a:buNone/>
            </a:pPr>
            <a:r>
              <a:rPr lang="en-US" sz="1238" dirty="0">
                <a:solidFill>
                  <a:srgbClr val="0F172A"/>
                </a:solidFill>
                <a:latin typeface="Carlito" pitchFamily="34" charset="0"/>
                <a:ea typeface="Carlito" pitchFamily="34" charset="-122"/>
                <a:cs typeface="Carlito" pitchFamily="34" charset="-120"/>
              </a:rPr>
              <a:t>Modules 1-3 made developers faster at writing code and tests. </a:t>
            </a:r>
            <a:r>
              <a:rPr lang="en-US" sz="1238" b="1" dirty="0">
                <a:solidFill>
                  <a:srgbClr val="C2410C"/>
                </a:solidFill>
                <a:latin typeface="Carlito" pitchFamily="34" charset="0"/>
                <a:ea typeface="Carlito" pitchFamily="34" charset="-122"/>
                <a:cs typeface="Carlito" pitchFamily="34" charset="-120"/>
              </a:rPr>
              <a:t>Module 4 makes the PIPELINE itself smarter.</a:t>
            </a:r>
            <a:endParaRPr lang="en-US" sz="1238" dirty="0"/>
          </a:p>
        </p:txBody>
      </p:sp>
      <p:sp>
        <p:nvSpPr>
          <p:cNvPr id="9" name="Text 7"/>
          <p:cNvSpPr/>
          <p:nvPr/>
        </p:nvSpPr>
        <p:spPr>
          <a:xfrm>
            <a:off x="1308088" y="1691618"/>
            <a:ext cx="600075" cy="600075"/>
          </a:xfrm>
          <a:prstGeom prst="ellipse">
            <a:avLst/>
          </a:prstGeom>
          <a:solidFill>
            <a:srgbClr val="FFFFFF"/>
          </a:solidFill>
          <a:ln w="28575">
            <a:solidFill>
              <a:srgbClr val="0F172A"/>
            </a:solidFill>
            <a:prstDash val="solid"/>
          </a:ln>
          <a:effectLst>
            <a:outerShdw blurRad="133350" dist="38100" dir="5400000" algn="bl" rotWithShape="0">
              <a:srgbClr val="0F172A">
                <a:alpha val="10000"/>
              </a:srgbClr>
            </a:outerShdw>
          </a:effectLst>
        </p:spPr>
        <p:txBody>
          <a:bodyPr wrap="square" rtlCol="0" anchor="ctr"/>
          <a:lstStyle/>
          <a:p>
            <a:pPr marL="0" indent="0">
              <a:buNone/>
            </a:pPr>
            <a:endParaRPr lang="en-US" dirty="0"/>
          </a:p>
        </p:txBody>
      </p:sp>
      <p:sp>
        <p:nvSpPr>
          <p:cNvPr id="10" name="Text 8"/>
          <p:cNvSpPr/>
          <p:nvPr/>
        </p:nvSpPr>
        <p:spPr>
          <a:xfrm>
            <a:off x="1293800" y="1677330"/>
            <a:ext cx="628650" cy="628650"/>
          </a:xfrm>
          <a:prstGeom prst="rect">
            <a:avLst/>
          </a:prstGeom>
          <a:noFill/>
          <a:ln/>
        </p:spPr>
        <p:txBody>
          <a:bodyPr wrap="none" lIns="0" tIns="0" rIns="0" bIns="0" rtlCol="0" anchor="ctr"/>
          <a:lstStyle/>
          <a:p>
            <a:pPr marL="0" indent="0" algn="ctr">
              <a:lnSpc>
                <a:spcPts val="2047"/>
              </a:lnSpc>
              <a:buNone/>
            </a:pPr>
            <a:r>
              <a:rPr lang="en-US" sz="1463" b="1" dirty="0">
                <a:solidFill>
                  <a:srgbClr val="0F172A"/>
                </a:solidFill>
                <a:latin typeface="Liberation Sans Narrow" pitchFamily="34" charset="0"/>
                <a:ea typeface="Liberation Sans Narrow" pitchFamily="34" charset="-122"/>
                <a:cs typeface="Liberation Sans Narrow" pitchFamily="34" charset="-120"/>
              </a:rPr>
              <a:t>M1</a:t>
            </a:r>
            <a:endParaRPr lang="en-US" sz="1463" dirty="0"/>
          </a:p>
        </p:txBody>
      </p:sp>
      <p:sp>
        <p:nvSpPr>
          <p:cNvPr id="11" name="Text 9"/>
          <p:cNvSpPr/>
          <p:nvPr/>
        </p:nvSpPr>
        <p:spPr>
          <a:xfrm>
            <a:off x="668191" y="2405993"/>
            <a:ext cx="1879869" cy="185166"/>
          </a:xfrm>
          <a:prstGeom prst="rect">
            <a:avLst/>
          </a:prstGeom>
          <a:noFill/>
          <a:ln/>
        </p:spPr>
        <p:txBody>
          <a:bodyPr wrap="square" lIns="0" tIns="0" rIns="0" bIns="0" rtlCol="0" anchor="t"/>
          <a:lstStyle/>
          <a:p>
            <a:pPr marL="0" indent="0" algn="ctr">
              <a:lnSpc>
                <a:spcPts val="1350"/>
              </a:lnSpc>
              <a:buNone/>
            </a:pPr>
            <a:r>
              <a:rPr lang="en-US" sz="1125" b="1" dirty="0">
                <a:solidFill>
                  <a:srgbClr val="0F172A"/>
                </a:solidFill>
                <a:latin typeface="Carlito" pitchFamily="34" charset="0"/>
                <a:ea typeface="Carlito" pitchFamily="34" charset="-122"/>
                <a:cs typeface="Carlito" pitchFamily="34" charset="-120"/>
              </a:rPr>
              <a:t>AI-Driven SDLC Foundations</a:t>
            </a:r>
            <a:endParaRPr lang="en-US" sz="1125" dirty="0"/>
          </a:p>
        </p:txBody>
      </p:sp>
      <p:sp>
        <p:nvSpPr>
          <p:cNvPr id="12" name="Text 10"/>
          <p:cNvSpPr/>
          <p:nvPr/>
        </p:nvSpPr>
        <p:spPr>
          <a:xfrm>
            <a:off x="514350" y="2884572"/>
            <a:ext cx="2187550" cy="468701"/>
          </a:xfrm>
          <a:prstGeom prst="rect">
            <a:avLst/>
          </a:prstGeom>
          <a:noFill/>
          <a:ln/>
        </p:spPr>
        <p:txBody>
          <a:bodyPr wrap="square" lIns="42863" tIns="0" rIns="42863" bIns="0" rtlCol="0" anchor="t"/>
          <a:lstStyle/>
          <a:p>
            <a:pPr marL="0" indent="0" algn="ctr">
              <a:lnSpc>
                <a:spcPts val="1139"/>
              </a:lnSpc>
              <a:buNone/>
            </a:pPr>
            <a:r>
              <a:rPr lang="en-US" sz="844" dirty="0">
                <a:solidFill>
                  <a:srgbClr val="334155"/>
                </a:solidFill>
                <a:latin typeface="Carlito" pitchFamily="34" charset="0"/>
                <a:ea typeface="Carlito" pitchFamily="34" charset="-122"/>
                <a:cs typeface="Carlito" pitchFamily="34" charset="-120"/>
              </a:rPr>
              <a:t>DORA metrics, attention/transformers, automation landscape across plan→code→build→test→release→operate.</a:t>
            </a:r>
            <a:endParaRPr lang="en-US" sz="844" dirty="0"/>
          </a:p>
        </p:txBody>
      </p:sp>
      <p:sp>
        <p:nvSpPr>
          <p:cNvPr id="13" name="Text 11"/>
          <p:cNvSpPr/>
          <p:nvPr/>
        </p:nvSpPr>
        <p:spPr>
          <a:xfrm>
            <a:off x="3446971" y="1691618"/>
            <a:ext cx="600075" cy="600075"/>
          </a:xfrm>
          <a:prstGeom prst="ellipse">
            <a:avLst/>
          </a:prstGeom>
          <a:solidFill>
            <a:srgbClr val="FFFFFF"/>
          </a:solidFill>
          <a:ln w="28575">
            <a:solidFill>
              <a:srgbClr val="0F172A"/>
            </a:solidFill>
            <a:prstDash val="solid"/>
          </a:ln>
          <a:effectLst>
            <a:outerShdw blurRad="133350" dist="38100" dir="5400000" algn="bl" rotWithShape="0">
              <a:srgbClr val="0F172A">
                <a:alpha val="10000"/>
              </a:srgbClr>
            </a:outerShdw>
          </a:effectLst>
        </p:spPr>
        <p:txBody>
          <a:bodyPr wrap="square" rtlCol="0" anchor="ctr"/>
          <a:lstStyle/>
          <a:p>
            <a:pPr marL="0" indent="0">
              <a:buNone/>
            </a:pPr>
            <a:endParaRPr lang="en-US" dirty="0"/>
          </a:p>
        </p:txBody>
      </p:sp>
      <p:sp>
        <p:nvSpPr>
          <p:cNvPr id="14" name="Text 12"/>
          <p:cNvSpPr/>
          <p:nvPr/>
        </p:nvSpPr>
        <p:spPr>
          <a:xfrm>
            <a:off x="3432683" y="1677330"/>
            <a:ext cx="628650" cy="628650"/>
          </a:xfrm>
          <a:prstGeom prst="rect">
            <a:avLst/>
          </a:prstGeom>
          <a:noFill/>
          <a:ln/>
        </p:spPr>
        <p:txBody>
          <a:bodyPr wrap="none" lIns="0" tIns="0" rIns="0" bIns="0" rtlCol="0" anchor="ctr"/>
          <a:lstStyle/>
          <a:p>
            <a:pPr marL="0" indent="0" algn="ctr">
              <a:lnSpc>
                <a:spcPts val="2047"/>
              </a:lnSpc>
              <a:buNone/>
            </a:pPr>
            <a:r>
              <a:rPr lang="en-US" sz="1463" b="1" dirty="0">
                <a:solidFill>
                  <a:srgbClr val="0F172A"/>
                </a:solidFill>
                <a:latin typeface="Liberation Sans Narrow" pitchFamily="34" charset="0"/>
                <a:ea typeface="Liberation Sans Narrow" pitchFamily="34" charset="-122"/>
                <a:cs typeface="Liberation Sans Narrow" pitchFamily="34" charset="-120"/>
              </a:rPr>
              <a:t>M2</a:t>
            </a:r>
            <a:endParaRPr lang="en-US" sz="1463" dirty="0"/>
          </a:p>
        </p:txBody>
      </p:sp>
      <p:sp>
        <p:nvSpPr>
          <p:cNvPr id="15" name="Text 13"/>
          <p:cNvSpPr/>
          <p:nvPr/>
        </p:nvSpPr>
        <p:spPr>
          <a:xfrm>
            <a:off x="2754639" y="2405993"/>
            <a:ext cx="1984628" cy="185166"/>
          </a:xfrm>
          <a:prstGeom prst="rect">
            <a:avLst/>
          </a:prstGeom>
          <a:noFill/>
          <a:ln/>
        </p:spPr>
        <p:txBody>
          <a:bodyPr wrap="square" lIns="0" tIns="0" rIns="0" bIns="0" rtlCol="0" anchor="t"/>
          <a:lstStyle/>
          <a:p>
            <a:pPr marL="0" indent="0" algn="ctr">
              <a:lnSpc>
                <a:spcPts val="1350"/>
              </a:lnSpc>
              <a:buNone/>
            </a:pPr>
            <a:r>
              <a:rPr lang="en-US" sz="1125" b="1" dirty="0">
                <a:solidFill>
                  <a:srgbClr val="0F172A"/>
                </a:solidFill>
                <a:latin typeface="Carlito" pitchFamily="34" charset="0"/>
                <a:ea typeface="Carlito" pitchFamily="34" charset="-122"/>
                <a:cs typeface="Carlito" pitchFamily="34" charset="-120"/>
              </a:rPr>
              <a:t>AI-Powered Developer Tooling</a:t>
            </a:r>
            <a:endParaRPr lang="en-US" sz="1125" dirty="0"/>
          </a:p>
        </p:txBody>
      </p:sp>
      <p:sp>
        <p:nvSpPr>
          <p:cNvPr id="16" name="Text 14"/>
          <p:cNvSpPr/>
          <p:nvPr/>
        </p:nvSpPr>
        <p:spPr>
          <a:xfrm>
            <a:off x="2816201" y="2871750"/>
            <a:ext cx="1861617" cy="624935"/>
          </a:xfrm>
          <a:prstGeom prst="rect">
            <a:avLst/>
          </a:prstGeom>
          <a:noFill/>
          <a:ln/>
        </p:spPr>
        <p:txBody>
          <a:bodyPr wrap="square" lIns="42863" tIns="0" rIns="42863" bIns="0" rtlCol="0" anchor="t"/>
          <a:lstStyle/>
          <a:p>
            <a:pPr marL="0" indent="0" algn="ctr">
              <a:lnSpc>
                <a:spcPts val="1139"/>
              </a:lnSpc>
              <a:buNone/>
            </a:pPr>
            <a:r>
              <a:rPr lang="en-US" sz="844" dirty="0">
                <a:solidFill>
                  <a:srgbClr val="334155"/>
                </a:solidFill>
                <a:latin typeface="Carlito" pitchFamily="34" charset="0"/>
                <a:ea typeface="Carlito" pitchFamily="34" charset="-122"/>
                <a:cs typeface="Carlito" pitchFamily="34" charset="-120"/>
              </a:rPr>
              <a:t>Copilot, Cursor, CodeWhisperer, Gemini Code Assist. Prompt engineering: zero/few-shot, chain-of-thought. PR summarisation.</a:t>
            </a:r>
            <a:endParaRPr lang="en-US" sz="844" dirty="0"/>
          </a:p>
        </p:txBody>
      </p:sp>
      <p:sp>
        <p:nvSpPr>
          <p:cNvPr id="17" name="Text 15"/>
          <p:cNvSpPr/>
          <p:nvPr/>
        </p:nvSpPr>
        <p:spPr>
          <a:xfrm>
            <a:off x="5422888" y="1691618"/>
            <a:ext cx="600075" cy="600075"/>
          </a:xfrm>
          <a:prstGeom prst="ellipse">
            <a:avLst/>
          </a:prstGeom>
          <a:solidFill>
            <a:srgbClr val="FFFFFF"/>
          </a:solidFill>
          <a:ln w="28575">
            <a:solidFill>
              <a:srgbClr val="0F172A"/>
            </a:solidFill>
            <a:prstDash val="solid"/>
          </a:ln>
          <a:effectLst>
            <a:outerShdw blurRad="133350" dist="38100" dir="5400000" algn="bl" rotWithShape="0">
              <a:srgbClr val="0F172A">
                <a:alpha val="10000"/>
              </a:srgbClr>
            </a:outerShdw>
          </a:effectLst>
        </p:spPr>
        <p:txBody>
          <a:bodyPr wrap="square" rtlCol="0" anchor="ctr"/>
          <a:lstStyle/>
          <a:p>
            <a:pPr marL="0" indent="0">
              <a:buNone/>
            </a:pPr>
            <a:endParaRPr lang="en-US" dirty="0"/>
          </a:p>
        </p:txBody>
      </p:sp>
      <p:sp>
        <p:nvSpPr>
          <p:cNvPr id="18" name="Text 16"/>
          <p:cNvSpPr/>
          <p:nvPr/>
        </p:nvSpPr>
        <p:spPr>
          <a:xfrm>
            <a:off x="5408600" y="1677330"/>
            <a:ext cx="628650" cy="628650"/>
          </a:xfrm>
          <a:prstGeom prst="rect">
            <a:avLst/>
          </a:prstGeom>
          <a:noFill/>
          <a:ln/>
        </p:spPr>
        <p:txBody>
          <a:bodyPr wrap="none" lIns="0" tIns="0" rIns="0" bIns="0" rtlCol="0" anchor="ctr"/>
          <a:lstStyle/>
          <a:p>
            <a:pPr marL="0" indent="0" algn="ctr">
              <a:lnSpc>
                <a:spcPts val="2047"/>
              </a:lnSpc>
              <a:buNone/>
            </a:pPr>
            <a:r>
              <a:rPr lang="en-US" sz="1463" b="1" dirty="0">
                <a:solidFill>
                  <a:srgbClr val="0F172A"/>
                </a:solidFill>
                <a:latin typeface="Liberation Sans Narrow" pitchFamily="34" charset="0"/>
                <a:ea typeface="Liberation Sans Narrow" pitchFamily="34" charset="-122"/>
                <a:cs typeface="Liberation Sans Narrow" pitchFamily="34" charset="-120"/>
              </a:rPr>
              <a:t>M3</a:t>
            </a:r>
            <a:endParaRPr lang="en-US" sz="1463" dirty="0"/>
          </a:p>
        </p:txBody>
      </p:sp>
      <p:sp>
        <p:nvSpPr>
          <p:cNvPr id="19" name="Text 17"/>
          <p:cNvSpPr/>
          <p:nvPr/>
        </p:nvSpPr>
        <p:spPr>
          <a:xfrm>
            <a:off x="4792117" y="2405993"/>
            <a:ext cx="1861617" cy="370332"/>
          </a:xfrm>
          <a:prstGeom prst="rect">
            <a:avLst/>
          </a:prstGeom>
          <a:noFill/>
          <a:ln/>
        </p:spPr>
        <p:txBody>
          <a:bodyPr wrap="square" lIns="0" tIns="0" rIns="0" bIns="0" rtlCol="0" anchor="t"/>
          <a:lstStyle/>
          <a:p>
            <a:pPr marL="0" indent="0" algn="ctr">
              <a:lnSpc>
                <a:spcPts val="1350"/>
              </a:lnSpc>
              <a:buNone/>
            </a:pPr>
            <a:r>
              <a:rPr lang="en-US" sz="1125" b="1" dirty="0">
                <a:solidFill>
                  <a:srgbClr val="0F172A"/>
                </a:solidFill>
                <a:latin typeface="Carlito" pitchFamily="34" charset="0"/>
                <a:ea typeface="Carlito" pitchFamily="34" charset="-122"/>
                <a:cs typeface="Carlito" pitchFamily="34" charset="-120"/>
              </a:rPr>
              <a:t>AI-Augmented Test Automation</a:t>
            </a:r>
            <a:endParaRPr lang="en-US" sz="1125" dirty="0"/>
          </a:p>
        </p:txBody>
      </p:sp>
      <p:sp>
        <p:nvSpPr>
          <p:cNvPr id="20" name="Text 18"/>
          <p:cNvSpPr/>
          <p:nvPr/>
        </p:nvSpPr>
        <p:spPr>
          <a:xfrm>
            <a:off x="4792117" y="2806043"/>
            <a:ext cx="1861617" cy="468701"/>
          </a:xfrm>
          <a:prstGeom prst="rect">
            <a:avLst/>
          </a:prstGeom>
          <a:noFill/>
          <a:ln/>
        </p:spPr>
        <p:txBody>
          <a:bodyPr wrap="square" lIns="42863" tIns="0" rIns="42863" bIns="0" rtlCol="0" anchor="t"/>
          <a:lstStyle/>
          <a:p>
            <a:pPr marL="0" indent="0" algn="ctr">
              <a:lnSpc>
                <a:spcPts val="1139"/>
              </a:lnSpc>
              <a:buNone/>
            </a:pPr>
            <a:r>
              <a:rPr lang="en-US" sz="844" dirty="0">
                <a:solidFill>
                  <a:srgbClr val="334155"/>
                </a:solidFill>
                <a:latin typeface="Carlito" pitchFamily="34" charset="0"/>
                <a:ea typeface="Carlito" pitchFamily="34" charset="-122"/>
                <a:cs typeface="Carlito" pitchFamily="34" charset="-120"/>
              </a:rPr>
              <a:t>Testing pyramid, PyTest generation via LLMs, evaluating AI tests, self-healing locators, OpenAPI→tests.</a:t>
            </a:r>
            <a:endParaRPr lang="en-US" sz="844" dirty="0"/>
          </a:p>
        </p:txBody>
      </p:sp>
      <p:sp>
        <p:nvSpPr>
          <p:cNvPr id="21" name="Text 19"/>
          <p:cNvSpPr/>
          <p:nvPr/>
        </p:nvSpPr>
        <p:spPr>
          <a:xfrm>
            <a:off x="7398804" y="1691618"/>
            <a:ext cx="600075" cy="600075"/>
          </a:xfrm>
          <a:prstGeom prst="ellipse">
            <a:avLst/>
          </a:prstGeom>
          <a:solidFill>
            <a:srgbClr val="F97316"/>
          </a:solidFill>
          <a:ln w="28575">
            <a:solidFill>
              <a:srgbClr val="C2410C"/>
            </a:solidFill>
            <a:prstDash val="solid"/>
          </a:ln>
          <a:effectLst>
            <a:outerShdw blurRad="101600" dist="50800" dir="16200000" algn="bl" rotWithShape="0">
              <a:srgbClr val="F97316">
                <a:alpha val="18000"/>
              </a:srgbClr>
            </a:outerShdw>
          </a:effectLst>
        </p:spPr>
        <p:txBody>
          <a:bodyPr wrap="square" rtlCol="0" anchor="ctr"/>
          <a:lstStyle/>
          <a:p>
            <a:pPr marL="0" indent="0">
              <a:buNone/>
            </a:pPr>
            <a:endParaRPr lang="en-US" dirty="0"/>
          </a:p>
        </p:txBody>
      </p:sp>
      <p:sp>
        <p:nvSpPr>
          <p:cNvPr id="22" name="Text 20"/>
          <p:cNvSpPr/>
          <p:nvPr/>
        </p:nvSpPr>
        <p:spPr>
          <a:xfrm>
            <a:off x="7384517" y="1677330"/>
            <a:ext cx="628650" cy="628650"/>
          </a:xfrm>
          <a:prstGeom prst="rect">
            <a:avLst/>
          </a:prstGeom>
          <a:noFill/>
          <a:ln/>
        </p:spPr>
        <p:txBody>
          <a:bodyPr wrap="none" lIns="0" tIns="0" rIns="0" bIns="0" rtlCol="0" anchor="ctr"/>
          <a:lstStyle/>
          <a:p>
            <a:pPr marL="0" indent="0" algn="ctr">
              <a:lnSpc>
                <a:spcPts val="2047"/>
              </a:lnSpc>
              <a:buNone/>
            </a:pPr>
            <a:r>
              <a:rPr lang="en-US" sz="1463" b="1" dirty="0">
                <a:solidFill>
                  <a:srgbClr val="FFFFFF"/>
                </a:solidFill>
                <a:latin typeface="Liberation Sans Narrow" pitchFamily="34" charset="0"/>
                <a:ea typeface="Liberation Sans Narrow" pitchFamily="34" charset="-122"/>
                <a:cs typeface="Liberation Sans Narrow" pitchFamily="34" charset="-120"/>
              </a:rPr>
              <a:t>M4</a:t>
            </a:r>
            <a:endParaRPr lang="en-US" sz="1463" dirty="0"/>
          </a:p>
        </p:txBody>
      </p:sp>
      <p:sp>
        <p:nvSpPr>
          <p:cNvPr id="23" name="Text 21"/>
          <p:cNvSpPr/>
          <p:nvPr/>
        </p:nvSpPr>
        <p:spPr>
          <a:xfrm>
            <a:off x="6840453" y="2405993"/>
            <a:ext cx="1716777" cy="185166"/>
          </a:xfrm>
          <a:prstGeom prst="rect">
            <a:avLst/>
          </a:prstGeom>
          <a:noFill/>
          <a:ln/>
        </p:spPr>
        <p:txBody>
          <a:bodyPr wrap="none" lIns="0" tIns="0" rIns="0" bIns="0" rtlCol="0" anchor="t"/>
          <a:lstStyle/>
          <a:p>
            <a:pPr marL="0" indent="0" algn="ctr">
              <a:lnSpc>
                <a:spcPts val="1350"/>
              </a:lnSpc>
              <a:buNone/>
            </a:pPr>
            <a:r>
              <a:rPr lang="en-US" sz="1125" b="1" dirty="0">
                <a:solidFill>
                  <a:srgbClr val="0F172A"/>
                </a:solidFill>
                <a:latin typeface="Carlito" pitchFamily="34" charset="0"/>
                <a:ea typeface="Carlito" pitchFamily="34" charset="-122"/>
                <a:cs typeface="Carlito" pitchFamily="34" charset="-120"/>
              </a:rPr>
              <a:t>Build &amp; Config Automation</a:t>
            </a:r>
            <a:endParaRPr lang="en-US" sz="1125" dirty="0"/>
          </a:p>
        </p:txBody>
      </p:sp>
      <p:sp>
        <p:nvSpPr>
          <p:cNvPr id="24" name="Text 22"/>
          <p:cNvSpPr/>
          <p:nvPr/>
        </p:nvSpPr>
        <p:spPr>
          <a:xfrm>
            <a:off x="7300488" y="2625679"/>
            <a:ext cx="796707" cy="166396"/>
          </a:xfrm>
          <a:prstGeom prst="roundRect">
            <a:avLst>
              <a:gd name="adj" fmla="val 5718572"/>
            </a:avLst>
          </a:prstGeom>
          <a:solidFill>
            <a:srgbClr val="F97316"/>
          </a:solidFill>
          <a:ln/>
        </p:spPr>
        <p:txBody>
          <a:bodyPr wrap="square" rtlCol="0" anchor="ctr"/>
          <a:lstStyle/>
          <a:p>
            <a:pPr marL="0" indent="0">
              <a:buNone/>
            </a:pPr>
            <a:endParaRPr lang="en-US" dirty="0"/>
          </a:p>
        </p:txBody>
      </p:sp>
      <p:sp>
        <p:nvSpPr>
          <p:cNvPr id="25" name="Text 23"/>
          <p:cNvSpPr/>
          <p:nvPr/>
        </p:nvSpPr>
        <p:spPr>
          <a:xfrm>
            <a:off x="7275840" y="2634593"/>
            <a:ext cx="846003" cy="148568"/>
          </a:xfrm>
          <a:prstGeom prst="rect">
            <a:avLst/>
          </a:prstGeom>
          <a:noFill/>
          <a:ln/>
        </p:spPr>
        <p:txBody>
          <a:bodyPr wrap="none" lIns="0" tIns="0" rIns="0" bIns="0" rtlCol="0" anchor="ctr"/>
          <a:lstStyle/>
          <a:p>
            <a:pPr marL="0" indent="0" algn="ctr">
              <a:lnSpc>
                <a:spcPts val="945"/>
              </a:lnSpc>
              <a:buNone/>
            </a:pPr>
            <a:r>
              <a:rPr lang="en-US" sz="800" b="1" kern="0" spc="28" dirty="0">
                <a:solidFill>
                  <a:srgbClr val="FFFFFF"/>
                </a:solidFill>
                <a:latin typeface="Carlito" pitchFamily="34" charset="0"/>
                <a:ea typeface="Carlito" pitchFamily="34" charset="-122"/>
                <a:cs typeface="Carlito" pitchFamily="34" charset="-120"/>
              </a:rPr>
              <a:t>YOU ARE HERE</a:t>
            </a:r>
            <a:endParaRPr lang="en-US" sz="800" dirty="0"/>
          </a:p>
        </p:txBody>
      </p:sp>
      <p:sp>
        <p:nvSpPr>
          <p:cNvPr id="26" name="Text 24"/>
          <p:cNvSpPr/>
          <p:nvPr/>
        </p:nvSpPr>
        <p:spPr>
          <a:xfrm>
            <a:off x="6768033" y="2840310"/>
            <a:ext cx="1861617" cy="312468"/>
          </a:xfrm>
          <a:prstGeom prst="rect">
            <a:avLst/>
          </a:prstGeom>
          <a:noFill/>
          <a:ln/>
        </p:spPr>
        <p:txBody>
          <a:bodyPr wrap="square" lIns="42863" tIns="0" rIns="42863" bIns="0" rtlCol="0" anchor="t"/>
          <a:lstStyle/>
          <a:p>
            <a:pPr marL="0" indent="0" algn="ctr">
              <a:lnSpc>
                <a:spcPts val="1139"/>
              </a:lnSpc>
              <a:buNone/>
            </a:pPr>
            <a:r>
              <a:rPr lang="en-US" sz="844" dirty="0">
                <a:solidFill>
                  <a:srgbClr val="334155"/>
                </a:solidFill>
                <a:latin typeface="Carlito" pitchFamily="34" charset="0"/>
                <a:ea typeface="Carlito" pitchFamily="34" charset="-122"/>
                <a:cs typeface="Carlito" pitchFamily="34" charset="-120"/>
              </a:rPr>
              <a:t>Smart builds, Ansible, AI-generated IaC.</a:t>
            </a:r>
            <a:endParaRPr lang="en-US" sz="844"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tmp/h2p-fit-1791792727317-d3jdkj.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34340" y="1053180"/>
            <a:ext cx="892812" cy="271281"/>
          </a:xfrm>
          <a:prstGeom prst="roundRect">
            <a:avLst>
              <a:gd name="adj" fmla="val 3507608"/>
            </a:avLst>
          </a:prstGeom>
          <a:solidFill>
            <a:srgbClr val="F97316">
              <a:alpha val="95000"/>
            </a:srgbClr>
          </a:solidFill>
          <a:ln/>
        </p:spPr>
        <p:txBody>
          <a:bodyPr wrap="square" rtlCol="0" anchor="ctr"/>
          <a:lstStyle/>
          <a:p>
            <a:pPr marL="0" indent="0">
              <a:buNone/>
            </a:pPr>
            <a:endParaRPr lang="en-US" dirty="0"/>
          </a:p>
        </p:txBody>
      </p:sp>
      <p:sp>
        <p:nvSpPr>
          <p:cNvPr id="4" name="Text 1"/>
          <p:cNvSpPr/>
          <p:nvPr/>
        </p:nvSpPr>
        <p:spPr>
          <a:xfrm>
            <a:off x="457200" y="1065981"/>
            <a:ext cx="847092" cy="245678"/>
          </a:xfrm>
          <a:prstGeom prst="rect">
            <a:avLst/>
          </a:prstGeom>
          <a:noFill/>
          <a:ln/>
        </p:spPr>
        <p:txBody>
          <a:bodyPr wrap="none" lIns="0" tIns="0" rIns="0" bIns="0" rtlCol="0" anchor="ctr"/>
          <a:lstStyle/>
          <a:p>
            <a:pPr marL="0" indent="0" algn="ctr">
              <a:lnSpc>
                <a:spcPts val="1260"/>
              </a:lnSpc>
              <a:buNone/>
            </a:pPr>
            <a:r>
              <a:rPr lang="en-US" sz="900" b="1" kern="0" spc="68" dirty="0">
                <a:solidFill>
                  <a:srgbClr val="FFFFFF"/>
                </a:solidFill>
                <a:latin typeface="Carlito" pitchFamily="34" charset="0"/>
                <a:ea typeface="Carlito" pitchFamily="34" charset="-122"/>
                <a:cs typeface="Carlito" pitchFamily="34" charset="-120"/>
              </a:rPr>
              <a:t>SECTION A</a:t>
            </a:r>
            <a:endParaRPr lang="en-US" sz="900" dirty="0"/>
          </a:p>
        </p:txBody>
      </p:sp>
      <p:sp>
        <p:nvSpPr>
          <p:cNvPr id="5" name="Text 2"/>
          <p:cNvSpPr/>
          <p:nvPr/>
        </p:nvSpPr>
        <p:spPr>
          <a:xfrm>
            <a:off x="457200" y="1454534"/>
            <a:ext cx="3128391" cy="740664"/>
          </a:xfrm>
          <a:prstGeom prst="rect">
            <a:avLst/>
          </a:prstGeom>
          <a:noFill/>
          <a:ln/>
        </p:spPr>
        <p:txBody>
          <a:bodyPr wrap="none" lIns="0" tIns="0" rIns="0" bIns="0" rtlCol="0" anchor="t"/>
          <a:lstStyle/>
          <a:p>
            <a:pPr marL="0" indent="0" algn="l">
              <a:lnSpc>
                <a:spcPts val="5400"/>
              </a:lnSpc>
              <a:buNone/>
            </a:pPr>
            <a:r>
              <a:rPr lang="en-US" sz="5400" b="1" kern="0" spc="-112" dirty="0">
                <a:solidFill>
                  <a:srgbClr val="F97316"/>
                </a:solidFill>
                <a:latin typeface="Liberation Sans Narrow" pitchFamily="34" charset="0"/>
                <a:ea typeface="Liberation Sans Narrow" pitchFamily="34" charset="-122"/>
                <a:cs typeface="Liberation Sans Narrow" pitchFamily="34" charset="-120"/>
              </a:rPr>
              <a:t>01 / 04</a:t>
            </a:r>
            <a:endParaRPr lang="en-US" sz="5400" dirty="0"/>
          </a:p>
        </p:txBody>
      </p:sp>
      <p:sp>
        <p:nvSpPr>
          <p:cNvPr id="6" name="Text 3"/>
          <p:cNvSpPr/>
          <p:nvPr/>
        </p:nvSpPr>
        <p:spPr>
          <a:xfrm>
            <a:off x="457200" y="2254634"/>
            <a:ext cx="5372100" cy="1036737"/>
          </a:xfrm>
          <a:prstGeom prst="rect">
            <a:avLst/>
          </a:prstGeom>
          <a:noFill/>
          <a:ln/>
        </p:spPr>
        <p:txBody>
          <a:bodyPr wrap="square" lIns="0" tIns="0" rIns="0" bIns="0" rtlCol="0" anchor="t"/>
          <a:lstStyle/>
          <a:p>
            <a:pPr marL="0" indent="0" algn="l">
              <a:lnSpc>
                <a:spcPts val="3780"/>
              </a:lnSpc>
              <a:buNone/>
            </a:pPr>
            <a:r>
              <a:rPr lang="en-US" sz="3600" b="1" kern="0" spc="-56" dirty="0">
                <a:solidFill>
                  <a:srgbClr val="FFFFFF"/>
                </a:solidFill>
                <a:latin typeface="Carlito" pitchFamily="34" charset="0"/>
                <a:ea typeface="Carlito" pitchFamily="34" charset="-122"/>
                <a:cs typeface="Carlito" pitchFamily="34" charset="-120"/>
              </a:rPr>
              <a:t>AI-Enhanced Build Intelligence</a:t>
            </a:r>
            <a:endParaRPr lang="en-US" sz="3600" dirty="0"/>
          </a:p>
        </p:txBody>
      </p:sp>
      <p:sp>
        <p:nvSpPr>
          <p:cNvPr id="7" name="Text 4"/>
          <p:cNvSpPr/>
          <p:nvPr/>
        </p:nvSpPr>
        <p:spPr>
          <a:xfrm>
            <a:off x="457200" y="3371738"/>
            <a:ext cx="571500" cy="42863"/>
          </a:xfrm>
          <a:prstGeom prst="roundRect">
            <a:avLst>
              <a:gd name="adj" fmla="val 66666"/>
            </a:avLst>
          </a:prstGeom>
          <a:solidFill>
            <a:srgbClr val="F97316"/>
          </a:solidFill>
          <a:ln/>
        </p:spPr>
        <p:txBody>
          <a:bodyPr wrap="square" rtlCol="0" anchor="ctr"/>
          <a:lstStyle/>
          <a:p>
            <a:pPr marL="0" indent="0">
              <a:buNone/>
            </a:pPr>
            <a:endParaRPr lang="en-US" dirty="0"/>
          </a:p>
        </p:txBody>
      </p:sp>
      <p:sp>
        <p:nvSpPr>
          <p:cNvPr id="8" name="Text 5"/>
          <p:cNvSpPr/>
          <p:nvPr/>
        </p:nvSpPr>
        <p:spPr>
          <a:xfrm>
            <a:off x="457200" y="3557476"/>
            <a:ext cx="5372100" cy="561526"/>
          </a:xfrm>
          <a:prstGeom prst="rect">
            <a:avLst/>
          </a:prstGeom>
          <a:noFill/>
          <a:ln/>
        </p:spPr>
        <p:txBody>
          <a:bodyPr wrap="square" lIns="0" tIns="0" rIns="0" bIns="0" rtlCol="0" anchor="t"/>
          <a:lstStyle/>
          <a:p>
            <a:pPr marL="0" indent="0" algn="l">
              <a:lnSpc>
                <a:spcPts val="2047"/>
              </a:lnSpc>
              <a:buNone/>
            </a:pPr>
            <a:r>
              <a:rPr lang="en-US" sz="1463" dirty="0">
                <a:solidFill>
                  <a:srgbClr val="FFFFFF">
                    <a:alpha val="92000"/>
                  </a:srgbClr>
                </a:solidFill>
                <a:latin typeface="Carlito" pitchFamily="34" charset="0"/>
                <a:ea typeface="Carlito" pitchFamily="34" charset="-122"/>
                <a:cs typeface="Carlito" pitchFamily="34" charset="-120"/>
              </a:rPr>
              <a:t>Make every build faster, smarter, and more predictable — using AI.</a:t>
            </a:r>
            <a:endParaRPr lang="en-US" sz="1463" dirty="0"/>
          </a:p>
        </p:txBody>
      </p:sp>
      <p:sp>
        <p:nvSpPr>
          <p:cNvPr id="9" name="Text 6"/>
          <p:cNvSpPr/>
          <p:nvPr/>
        </p:nvSpPr>
        <p:spPr>
          <a:xfrm>
            <a:off x="7730207" y="4774927"/>
            <a:ext cx="1401382" cy="153570"/>
          </a:xfrm>
          <a:prstGeom prst="rect">
            <a:avLst/>
          </a:prstGeom>
          <a:noFill/>
          <a:ln/>
        </p:spPr>
        <p:txBody>
          <a:bodyPr wrap="none" lIns="0" tIns="0" rIns="0" bIns="0" rtlCol="0" anchor="t"/>
          <a:lstStyle/>
          <a:p>
            <a:pPr marL="0" indent="0" algn="l">
              <a:lnSpc>
                <a:spcPts val="1103"/>
              </a:lnSpc>
              <a:buNone/>
            </a:pPr>
            <a:r>
              <a:rPr lang="en-US" sz="800" kern="0" spc="56" dirty="0">
                <a:solidFill>
                  <a:srgbClr val="FFFFFF">
                    <a:alpha val="70000"/>
                  </a:srgbClr>
                </a:solidFill>
                <a:latin typeface="Liberation Sans Narrow" pitchFamily="34" charset="0"/>
                <a:ea typeface="Liberation Sans Narrow" pitchFamily="34" charset="-122"/>
                <a:cs typeface="Liberation Sans Narrow" pitchFamily="34" charset="-120"/>
              </a:rPr>
              <a:t>MODULE 4 • SECTION A</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8636000" cy="432054"/>
          </a:xfrm>
          <a:prstGeom prst="rect">
            <a:avLst/>
          </a:prstGeom>
          <a:noFill/>
          <a:ln/>
        </p:spPr>
        <p:txBody>
          <a:bodyPr wrap="square" lIns="0" tIns="0" rIns="0" bIns="0" rtlCol="0" anchor="t"/>
          <a:lstStyle/>
          <a:p>
            <a:pPr marL="0" indent="0" algn="l">
              <a:lnSpc>
                <a:spcPts val="3150"/>
              </a:lnSpc>
              <a:buNone/>
            </a:pPr>
            <a:r>
              <a:rPr lang="en-US" sz="2250" b="1" dirty="0">
                <a:solidFill>
                  <a:srgbClr val="0F172A"/>
                </a:solidFill>
                <a:latin typeface="Carlito" pitchFamily="34" charset="0"/>
                <a:ea typeface="Carlito" pitchFamily="34" charset="-122"/>
                <a:cs typeface="Carlito" pitchFamily="34" charset="-120"/>
              </a:rPr>
              <a:t>Traditional Build Pipeline — Anatomy</a:t>
            </a:r>
            <a:endParaRPr lang="en-US" sz="2250" dirty="0"/>
          </a:p>
        </p:txBody>
      </p:sp>
      <p:sp>
        <p:nvSpPr>
          <p:cNvPr id="3" name="Text 1"/>
          <p:cNvSpPr/>
          <p:nvPr/>
        </p:nvSpPr>
        <p:spPr>
          <a:xfrm>
            <a:off x="457200" y="928688"/>
            <a:ext cx="571500" cy="42863"/>
          </a:xfrm>
          <a:prstGeom prst="roundRect">
            <a:avLst>
              <a:gd name="adj" fmla="val 66666"/>
            </a:avLst>
          </a:prstGeom>
          <a:solidFill>
            <a:srgbClr val="F97316"/>
          </a:solidFill>
          <a:ln/>
        </p:spPr>
        <p:txBody>
          <a:bodyPr wrap="square" rtlCol="0" anchor="ctr"/>
          <a:lstStyle/>
          <a:p>
            <a:pPr marL="0" indent="0">
              <a:buNone/>
            </a:pPr>
            <a:endParaRPr lang="en-US" dirty="0"/>
          </a:p>
        </p:txBody>
      </p:sp>
      <p:sp>
        <p:nvSpPr>
          <p:cNvPr id="4" name="Text 2"/>
          <p:cNvSpPr/>
          <p:nvPr/>
        </p:nvSpPr>
        <p:spPr>
          <a:xfrm>
            <a:off x="457200" y="1028700"/>
            <a:ext cx="8229600" cy="237606"/>
          </a:xfrm>
          <a:prstGeom prst="rect">
            <a:avLst/>
          </a:prstGeom>
          <a:noFill/>
          <a:ln/>
        </p:spPr>
        <p:txBody>
          <a:bodyPr wrap="square" lIns="0" tIns="0" rIns="0" bIns="0" rtlCol="0" anchor="t"/>
          <a:lstStyle/>
          <a:p>
            <a:pPr marL="0" indent="0" algn="l">
              <a:lnSpc>
                <a:spcPts val="1733"/>
              </a:lnSpc>
              <a:buNone/>
            </a:pPr>
            <a:r>
              <a:rPr lang="en-US" sz="1238" dirty="0">
                <a:solidFill>
                  <a:srgbClr val="334155"/>
                </a:solidFill>
                <a:latin typeface="Carlito" pitchFamily="34" charset="0"/>
                <a:ea typeface="Carlito" pitchFamily="34" charset="-122"/>
                <a:cs typeface="Carlito" pitchFamily="34" charset="-120"/>
              </a:rPr>
              <a:t>Five linear stages — every commit runs all five, regardless of what changed.</a:t>
            </a:r>
            <a:endParaRPr lang="en-US" sz="1238" dirty="0"/>
          </a:p>
        </p:txBody>
      </p:sp>
      <p:sp>
        <p:nvSpPr>
          <p:cNvPr id="5" name="Text 3"/>
          <p:cNvSpPr/>
          <p:nvPr/>
        </p:nvSpPr>
        <p:spPr>
          <a:xfrm>
            <a:off x="457200" y="1348718"/>
            <a:ext cx="1554435" cy="2408895"/>
          </a:xfrm>
          <a:prstGeom prst="roundRect">
            <a:avLst>
              <a:gd name="adj" fmla="val 8579"/>
            </a:avLst>
          </a:prstGeom>
          <a:solidFill>
            <a:srgbClr val="F8FAFC"/>
          </a:solidFill>
          <a:ln/>
        </p:spPr>
        <p:txBody>
          <a:bodyPr wrap="square" rtlCol="0" anchor="ctr"/>
          <a:lstStyle/>
          <a:p>
            <a:pPr marL="0" indent="0">
              <a:buNone/>
            </a:pPr>
            <a:endParaRPr lang="en-US" dirty="0"/>
          </a:p>
        </p:txBody>
      </p:sp>
      <p:sp>
        <p:nvSpPr>
          <p:cNvPr id="6" name="Shape 4"/>
          <p:cNvSpPr/>
          <p:nvPr/>
        </p:nvSpPr>
        <p:spPr>
          <a:xfrm>
            <a:off x="457200" y="1366577"/>
            <a:ext cx="1554435" cy="0"/>
          </a:xfrm>
          <a:prstGeom prst="line">
            <a:avLst/>
          </a:prstGeom>
          <a:noFill/>
          <a:ln w="35719">
            <a:solidFill>
              <a:srgbClr val="F97316"/>
            </a:solidFill>
            <a:prstDash val="solid"/>
          </a:ln>
        </p:spPr>
      </p:sp>
      <p:sp>
        <p:nvSpPr>
          <p:cNvPr id="7" name="Shape 5"/>
          <p:cNvSpPr/>
          <p:nvPr/>
        </p:nvSpPr>
        <p:spPr>
          <a:xfrm>
            <a:off x="2008063" y="1348718"/>
            <a:ext cx="0" cy="2408895"/>
          </a:xfrm>
          <a:prstGeom prst="line">
            <a:avLst/>
          </a:prstGeom>
          <a:noFill/>
          <a:ln w="7144">
            <a:solidFill>
              <a:srgbClr val="CBD5E1"/>
            </a:solidFill>
            <a:prstDash val="solid"/>
          </a:ln>
        </p:spPr>
      </p:sp>
      <p:sp>
        <p:nvSpPr>
          <p:cNvPr id="8" name="Shape 6"/>
          <p:cNvSpPr/>
          <p:nvPr/>
        </p:nvSpPr>
        <p:spPr>
          <a:xfrm>
            <a:off x="457200" y="3754041"/>
            <a:ext cx="1554435" cy="0"/>
          </a:xfrm>
          <a:prstGeom prst="line">
            <a:avLst/>
          </a:prstGeom>
          <a:noFill/>
          <a:ln w="7144">
            <a:solidFill>
              <a:srgbClr val="CBD5E1"/>
            </a:solidFill>
            <a:prstDash val="solid"/>
          </a:ln>
        </p:spPr>
      </p:sp>
      <p:sp>
        <p:nvSpPr>
          <p:cNvPr id="9" name="Shape 7"/>
          <p:cNvSpPr/>
          <p:nvPr/>
        </p:nvSpPr>
        <p:spPr>
          <a:xfrm>
            <a:off x="460772" y="1348718"/>
            <a:ext cx="0" cy="2408895"/>
          </a:xfrm>
          <a:prstGeom prst="line">
            <a:avLst/>
          </a:prstGeom>
          <a:noFill/>
          <a:ln w="7144">
            <a:solidFill>
              <a:srgbClr val="CBD5E1"/>
            </a:solidFill>
            <a:prstDash val="solid"/>
          </a:ln>
        </p:spPr>
      </p:sp>
      <p:sp>
        <p:nvSpPr>
          <p:cNvPr id="10" name="Text 8"/>
          <p:cNvSpPr/>
          <p:nvPr/>
        </p:nvSpPr>
        <p:spPr>
          <a:xfrm>
            <a:off x="578644" y="1534455"/>
            <a:ext cx="1025798" cy="246888"/>
          </a:xfrm>
          <a:prstGeom prst="rect">
            <a:avLst/>
          </a:prstGeom>
          <a:noFill/>
          <a:ln/>
        </p:spPr>
        <p:txBody>
          <a:bodyPr wrap="none" lIns="0" tIns="0" rIns="0" bIns="0" rtlCol="0" anchor="t"/>
          <a:lstStyle/>
          <a:p>
            <a:pPr marL="0" indent="0" algn="l">
              <a:lnSpc>
                <a:spcPts val="1800"/>
              </a:lnSpc>
              <a:buNone/>
            </a:pPr>
            <a:r>
              <a:rPr lang="en-US" sz="1800" b="1" dirty="0">
                <a:solidFill>
                  <a:srgbClr val="F97316"/>
                </a:solidFill>
                <a:latin typeface="Liberation Sans Narrow" pitchFamily="34" charset="0"/>
                <a:ea typeface="Liberation Sans Narrow" pitchFamily="34" charset="-122"/>
                <a:cs typeface="Liberation Sans Narrow" pitchFamily="34" charset="-120"/>
              </a:rPr>
              <a:t>01</a:t>
            </a:r>
            <a:endParaRPr lang="en-US" sz="1800" dirty="0"/>
          </a:p>
        </p:txBody>
      </p:sp>
      <p:sp>
        <p:nvSpPr>
          <p:cNvPr id="11" name="Text 9"/>
          <p:cNvSpPr/>
          <p:nvPr/>
        </p:nvSpPr>
        <p:spPr>
          <a:xfrm>
            <a:off x="1618729" y="1513024"/>
            <a:ext cx="271463" cy="271463"/>
          </a:xfrm>
          <a:prstGeom prst="roundRect">
            <a:avLst>
              <a:gd name="adj" fmla="val 35088"/>
            </a:avLst>
          </a:prstGeom>
          <a:solidFill>
            <a:srgbClr val="F97316">
              <a:alpha val="12000"/>
            </a:srgbClr>
          </a:solidFill>
          <a:ln/>
        </p:spPr>
        <p:txBody>
          <a:bodyPr wrap="square" rtlCol="0" anchor="ctr"/>
          <a:lstStyle/>
          <a:p>
            <a:pPr marL="0" indent="0">
              <a:buNone/>
            </a:pPr>
            <a:endParaRPr lang="en-US" dirty="0"/>
          </a:p>
        </p:txBody>
      </p:sp>
      <p:sp>
        <p:nvSpPr>
          <p:cNvPr id="12" name="Text 10"/>
          <p:cNvSpPr/>
          <p:nvPr/>
        </p:nvSpPr>
        <p:spPr>
          <a:xfrm>
            <a:off x="1640518" y="1534812"/>
            <a:ext cx="227886" cy="227886"/>
          </a:xfrm>
          <a:prstGeom prst="rect">
            <a:avLst/>
          </a:prstGeom>
          <a:noFill/>
          <a:ln/>
        </p:spPr>
        <p:txBody>
          <a:bodyPr wrap="none" lIns="0" tIns="0" rIns="0" bIns="0" rtlCol="0" anchor="ctr"/>
          <a:lstStyle/>
          <a:p>
            <a:pPr marL="0" indent="0" algn="ctr">
              <a:buNone/>
            </a:pPr>
            <a:r>
              <a:rPr lang="en-US" sz="1547" dirty="0">
                <a:solidFill>
                  <a:srgbClr val="F97316"/>
                </a:solidFill>
                <a:latin typeface="Segoe UI Symbol" pitchFamily="34" charset="0"/>
                <a:ea typeface="Segoe UI Symbol" pitchFamily="34" charset="-122"/>
                <a:cs typeface="Segoe UI Symbol" pitchFamily="34" charset="-120"/>
              </a:rPr>
              <a:t>✦</a:t>
            </a:r>
            <a:endParaRPr lang="en-US" sz="1547" dirty="0"/>
          </a:p>
        </p:txBody>
      </p:sp>
      <p:sp>
        <p:nvSpPr>
          <p:cNvPr id="13" name="Text 11"/>
          <p:cNvSpPr/>
          <p:nvPr/>
        </p:nvSpPr>
        <p:spPr>
          <a:xfrm>
            <a:off x="578644" y="1841636"/>
            <a:ext cx="1311548" cy="168530"/>
          </a:xfrm>
          <a:prstGeom prst="rect">
            <a:avLst/>
          </a:prstGeom>
          <a:noFill/>
          <a:ln/>
        </p:spPr>
        <p:txBody>
          <a:bodyPr wrap="none" lIns="0" tIns="0" rIns="0" bIns="0" rtlCol="0" anchor="t"/>
          <a:lstStyle/>
          <a:p>
            <a:pPr marL="0" indent="0" algn="l">
              <a:lnSpc>
                <a:spcPts val="1229"/>
              </a:lnSpc>
              <a:buNone/>
            </a:pPr>
            <a:r>
              <a:rPr lang="en-US" sz="1069" b="1" dirty="0">
                <a:solidFill>
                  <a:srgbClr val="0F172A"/>
                </a:solidFill>
                <a:latin typeface="Carlito" pitchFamily="34" charset="0"/>
                <a:ea typeface="Carlito" pitchFamily="34" charset="-122"/>
                <a:cs typeface="Carlito" pitchFamily="34" charset="-120"/>
              </a:rPr>
              <a:t>Source Trigger</a:t>
            </a:r>
            <a:endParaRPr lang="en-US" sz="1069" dirty="0"/>
          </a:p>
        </p:txBody>
      </p:sp>
      <p:sp>
        <p:nvSpPr>
          <p:cNvPr id="14" name="Text 12"/>
          <p:cNvSpPr/>
          <p:nvPr/>
        </p:nvSpPr>
        <p:spPr>
          <a:xfrm>
            <a:off x="578644" y="2054833"/>
            <a:ext cx="1390241" cy="518248"/>
          </a:xfrm>
          <a:prstGeom prst="rect">
            <a:avLst/>
          </a:prstGeom>
          <a:noFill/>
          <a:ln/>
        </p:spPr>
        <p:txBody>
          <a:bodyPr wrap="square" lIns="0" tIns="0" rIns="0" bIns="0" rtlCol="0" anchor="t"/>
          <a:lstStyle/>
          <a:p>
            <a:pPr marL="0" indent="0" algn="l">
              <a:lnSpc>
                <a:spcPts val="1260"/>
              </a:lnSpc>
              <a:buNone/>
            </a:pPr>
            <a:r>
              <a:rPr lang="en-US" sz="900" dirty="0">
                <a:solidFill>
                  <a:srgbClr val="334155"/>
                </a:solidFill>
                <a:latin typeface="Carlito" pitchFamily="34" charset="0"/>
                <a:ea typeface="Carlito" pitchFamily="34" charset="-122"/>
                <a:cs typeface="Carlito" pitchFamily="34" charset="-120"/>
              </a:rPr>
              <a:t>Git push or PR opened fires webhook to CI server.</a:t>
            </a:r>
            <a:endParaRPr lang="en-US" sz="900" dirty="0"/>
          </a:p>
        </p:txBody>
      </p:sp>
      <p:sp>
        <p:nvSpPr>
          <p:cNvPr id="15" name="Text 13"/>
          <p:cNvSpPr/>
          <p:nvPr/>
        </p:nvSpPr>
        <p:spPr>
          <a:xfrm>
            <a:off x="2125935" y="1348718"/>
            <a:ext cx="1554435" cy="2408895"/>
          </a:xfrm>
          <a:prstGeom prst="roundRect">
            <a:avLst>
              <a:gd name="adj" fmla="val 8579"/>
            </a:avLst>
          </a:prstGeom>
          <a:solidFill>
            <a:srgbClr val="F8FAFC"/>
          </a:solidFill>
          <a:ln/>
        </p:spPr>
        <p:txBody>
          <a:bodyPr wrap="square" rtlCol="0" anchor="ctr"/>
          <a:lstStyle/>
          <a:p>
            <a:pPr marL="0" indent="0">
              <a:buNone/>
            </a:pPr>
            <a:endParaRPr lang="en-US" dirty="0"/>
          </a:p>
        </p:txBody>
      </p:sp>
      <p:sp>
        <p:nvSpPr>
          <p:cNvPr id="16" name="Shape 14"/>
          <p:cNvSpPr/>
          <p:nvPr/>
        </p:nvSpPr>
        <p:spPr>
          <a:xfrm>
            <a:off x="2125935" y="1366577"/>
            <a:ext cx="1554435" cy="0"/>
          </a:xfrm>
          <a:prstGeom prst="line">
            <a:avLst/>
          </a:prstGeom>
          <a:noFill/>
          <a:ln w="35719">
            <a:solidFill>
              <a:srgbClr val="F97316"/>
            </a:solidFill>
            <a:prstDash val="solid"/>
          </a:ln>
        </p:spPr>
      </p:sp>
      <p:sp>
        <p:nvSpPr>
          <p:cNvPr id="17" name="Shape 15"/>
          <p:cNvSpPr/>
          <p:nvPr/>
        </p:nvSpPr>
        <p:spPr>
          <a:xfrm>
            <a:off x="3676799" y="1348718"/>
            <a:ext cx="0" cy="2408895"/>
          </a:xfrm>
          <a:prstGeom prst="line">
            <a:avLst/>
          </a:prstGeom>
          <a:noFill/>
          <a:ln w="7144">
            <a:solidFill>
              <a:srgbClr val="CBD5E1"/>
            </a:solidFill>
            <a:prstDash val="solid"/>
          </a:ln>
        </p:spPr>
      </p:sp>
      <p:sp>
        <p:nvSpPr>
          <p:cNvPr id="18" name="Shape 16"/>
          <p:cNvSpPr/>
          <p:nvPr/>
        </p:nvSpPr>
        <p:spPr>
          <a:xfrm>
            <a:off x="2125935" y="3754041"/>
            <a:ext cx="1554435" cy="0"/>
          </a:xfrm>
          <a:prstGeom prst="line">
            <a:avLst/>
          </a:prstGeom>
          <a:noFill/>
          <a:ln w="7144">
            <a:solidFill>
              <a:srgbClr val="CBD5E1"/>
            </a:solidFill>
            <a:prstDash val="solid"/>
          </a:ln>
        </p:spPr>
      </p:sp>
      <p:sp>
        <p:nvSpPr>
          <p:cNvPr id="19" name="Shape 17"/>
          <p:cNvSpPr/>
          <p:nvPr/>
        </p:nvSpPr>
        <p:spPr>
          <a:xfrm>
            <a:off x="2129507" y="1348718"/>
            <a:ext cx="0" cy="2408895"/>
          </a:xfrm>
          <a:prstGeom prst="line">
            <a:avLst/>
          </a:prstGeom>
          <a:noFill/>
          <a:ln w="7144">
            <a:solidFill>
              <a:srgbClr val="CBD5E1"/>
            </a:solidFill>
            <a:prstDash val="solid"/>
          </a:ln>
        </p:spPr>
      </p:sp>
      <p:sp>
        <p:nvSpPr>
          <p:cNvPr id="20" name="Text 18"/>
          <p:cNvSpPr/>
          <p:nvPr/>
        </p:nvSpPr>
        <p:spPr>
          <a:xfrm>
            <a:off x="2247379" y="1534455"/>
            <a:ext cx="1025798" cy="246888"/>
          </a:xfrm>
          <a:prstGeom prst="rect">
            <a:avLst/>
          </a:prstGeom>
          <a:noFill/>
          <a:ln/>
        </p:spPr>
        <p:txBody>
          <a:bodyPr wrap="none" lIns="0" tIns="0" rIns="0" bIns="0" rtlCol="0" anchor="t"/>
          <a:lstStyle/>
          <a:p>
            <a:pPr marL="0" indent="0" algn="l">
              <a:lnSpc>
                <a:spcPts val="1800"/>
              </a:lnSpc>
              <a:buNone/>
            </a:pPr>
            <a:r>
              <a:rPr lang="en-US" sz="1800" b="1" dirty="0">
                <a:solidFill>
                  <a:srgbClr val="F97316"/>
                </a:solidFill>
                <a:latin typeface="Liberation Sans Narrow" pitchFamily="34" charset="0"/>
                <a:ea typeface="Liberation Sans Narrow" pitchFamily="34" charset="-122"/>
                <a:cs typeface="Liberation Sans Narrow" pitchFamily="34" charset="-120"/>
              </a:rPr>
              <a:t>02</a:t>
            </a:r>
            <a:endParaRPr lang="en-US" sz="1800" dirty="0"/>
          </a:p>
        </p:txBody>
      </p:sp>
      <p:sp>
        <p:nvSpPr>
          <p:cNvPr id="21" name="Text 19"/>
          <p:cNvSpPr/>
          <p:nvPr/>
        </p:nvSpPr>
        <p:spPr>
          <a:xfrm>
            <a:off x="3287464" y="1513024"/>
            <a:ext cx="271463" cy="271463"/>
          </a:xfrm>
          <a:prstGeom prst="roundRect">
            <a:avLst>
              <a:gd name="adj" fmla="val 35088"/>
            </a:avLst>
          </a:prstGeom>
          <a:solidFill>
            <a:srgbClr val="F97316">
              <a:alpha val="12000"/>
            </a:srgbClr>
          </a:solidFill>
          <a:ln/>
        </p:spPr>
        <p:txBody>
          <a:bodyPr wrap="square" rtlCol="0" anchor="ctr"/>
          <a:lstStyle/>
          <a:p>
            <a:pPr marL="0" indent="0">
              <a:buNone/>
            </a:pPr>
            <a:endParaRPr lang="en-US" dirty="0"/>
          </a:p>
        </p:txBody>
      </p:sp>
      <p:sp>
        <p:nvSpPr>
          <p:cNvPr id="22" name="Text 20"/>
          <p:cNvSpPr/>
          <p:nvPr/>
        </p:nvSpPr>
        <p:spPr>
          <a:xfrm>
            <a:off x="3309253" y="1534812"/>
            <a:ext cx="227886" cy="227886"/>
          </a:xfrm>
          <a:prstGeom prst="rect">
            <a:avLst/>
          </a:prstGeom>
          <a:noFill/>
          <a:ln/>
        </p:spPr>
        <p:txBody>
          <a:bodyPr wrap="none" lIns="0" tIns="0" rIns="0" bIns="0" rtlCol="0" anchor="ctr"/>
          <a:lstStyle/>
          <a:p>
            <a:pPr marL="0" indent="0" algn="ctr">
              <a:buNone/>
            </a:pPr>
            <a:r>
              <a:rPr lang="en-US" sz="1547" dirty="0">
                <a:solidFill>
                  <a:srgbClr val="F97316"/>
                </a:solidFill>
                <a:latin typeface="Segoe UI Symbol" pitchFamily="34" charset="0"/>
                <a:ea typeface="Segoe UI Symbol" pitchFamily="34" charset="-122"/>
                <a:cs typeface="Segoe UI Symbol" pitchFamily="34" charset="-120"/>
              </a:rPr>
              <a:t>↓</a:t>
            </a:r>
            <a:endParaRPr lang="en-US" sz="1547" dirty="0"/>
          </a:p>
        </p:txBody>
      </p:sp>
      <p:sp>
        <p:nvSpPr>
          <p:cNvPr id="23" name="Text 21"/>
          <p:cNvSpPr/>
          <p:nvPr/>
        </p:nvSpPr>
        <p:spPr>
          <a:xfrm>
            <a:off x="2247379" y="1841636"/>
            <a:ext cx="1311548" cy="168530"/>
          </a:xfrm>
          <a:prstGeom prst="rect">
            <a:avLst/>
          </a:prstGeom>
          <a:noFill/>
          <a:ln/>
        </p:spPr>
        <p:txBody>
          <a:bodyPr wrap="none" lIns="0" tIns="0" rIns="0" bIns="0" rtlCol="0" anchor="t"/>
          <a:lstStyle/>
          <a:p>
            <a:pPr marL="0" indent="0" algn="l">
              <a:lnSpc>
                <a:spcPts val="1229"/>
              </a:lnSpc>
              <a:buNone/>
            </a:pPr>
            <a:r>
              <a:rPr lang="en-US" sz="1069" b="1" dirty="0">
                <a:solidFill>
                  <a:srgbClr val="0F172A"/>
                </a:solidFill>
                <a:latin typeface="Carlito" pitchFamily="34" charset="0"/>
                <a:ea typeface="Carlito" pitchFamily="34" charset="-122"/>
                <a:cs typeface="Carlito" pitchFamily="34" charset="-120"/>
              </a:rPr>
              <a:t>Checkout &amp; Resolve</a:t>
            </a:r>
            <a:endParaRPr lang="en-US" sz="1069" dirty="0"/>
          </a:p>
        </p:txBody>
      </p:sp>
      <p:sp>
        <p:nvSpPr>
          <p:cNvPr id="24" name="Text 22"/>
          <p:cNvSpPr/>
          <p:nvPr/>
        </p:nvSpPr>
        <p:spPr>
          <a:xfrm>
            <a:off x="2247379" y="2054833"/>
            <a:ext cx="1390241" cy="518248"/>
          </a:xfrm>
          <a:prstGeom prst="rect">
            <a:avLst/>
          </a:prstGeom>
          <a:noFill/>
          <a:ln/>
        </p:spPr>
        <p:txBody>
          <a:bodyPr wrap="square" lIns="0" tIns="0" rIns="0" bIns="0" rtlCol="0" anchor="t"/>
          <a:lstStyle/>
          <a:p>
            <a:pPr marL="0" indent="0" algn="l">
              <a:lnSpc>
                <a:spcPts val="1260"/>
              </a:lnSpc>
              <a:buNone/>
            </a:pPr>
            <a:r>
              <a:rPr lang="en-US" sz="900" dirty="0">
                <a:solidFill>
                  <a:srgbClr val="334155"/>
                </a:solidFill>
                <a:latin typeface="Carlito" pitchFamily="34" charset="0"/>
                <a:ea typeface="Carlito" pitchFamily="34" charset="-122"/>
                <a:cs typeface="Carlito" pitchFamily="34" charset="-120"/>
              </a:rPr>
              <a:t>Pull source, install dependencies (often rebuilt from scratch).</a:t>
            </a:r>
            <a:endParaRPr lang="en-US" sz="900" dirty="0"/>
          </a:p>
        </p:txBody>
      </p:sp>
      <p:sp>
        <p:nvSpPr>
          <p:cNvPr id="25" name="Text 23"/>
          <p:cNvSpPr/>
          <p:nvPr/>
        </p:nvSpPr>
        <p:spPr>
          <a:xfrm>
            <a:off x="3794671" y="1348718"/>
            <a:ext cx="1554547" cy="2408895"/>
          </a:xfrm>
          <a:prstGeom prst="roundRect">
            <a:avLst>
              <a:gd name="adj" fmla="val 8578"/>
            </a:avLst>
          </a:prstGeom>
          <a:solidFill>
            <a:srgbClr val="F8FAFC"/>
          </a:solidFill>
          <a:ln/>
        </p:spPr>
        <p:txBody>
          <a:bodyPr wrap="square" rtlCol="0" anchor="ctr"/>
          <a:lstStyle/>
          <a:p>
            <a:pPr marL="0" indent="0">
              <a:buNone/>
            </a:pPr>
            <a:endParaRPr lang="en-US" dirty="0"/>
          </a:p>
        </p:txBody>
      </p:sp>
      <p:sp>
        <p:nvSpPr>
          <p:cNvPr id="26" name="Shape 24"/>
          <p:cNvSpPr/>
          <p:nvPr/>
        </p:nvSpPr>
        <p:spPr>
          <a:xfrm>
            <a:off x="3794671" y="1366577"/>
            <a:ext cx="1554547" cy="0"/>
          </a:xfrm>
          <a:prstGeom prst="line">
            <a:avLst/>
          </a:prstGeom>
          <a:noFill/>
          <a:ln w="35719">
            <a:solidFill>
              <a:srgbClr val="F97316"/>
            </a:solidFill>
            <a:prstDash val="solid"/>
          </a:ln>
        </p:spPr>
      </p:sp>
      <p:sp>
        <p:nvSpPr>
          <p:cNvPr id="27" name="Shape 25"/>
          <p:cNvSpPr/>
          <p:nvPr/>
        </p:nvSpPr>
        <p:spPr>
          <a:xfrm>
            <a:off x="5345646" y="1348718"/>
            <a:ext cx="0" cy="2408895"/>
          </a:xfrm>
          <a:prstGeom prst="line">
            <a:avLst/>
          </a:prstGeom>
          <a:noFill/>
          <a:ln w="7144">
            <a:solidFill>
              <a:srgbClr val="CBD5E1"/>
            </a:solidFill>
            <a:prstDash val="solid"/>
          </a:ln>
        </p:spPr>
      </p:sp>
      <p:sp>
        <p:nvSpPr>
          <p:cNvPr id="28" name="Shape 26"/>
          <p:cNvSpPr/>
          <p:nvPr/>
        </p:nvSpPr>
        <p:spPr>
          <a:xfrm>
            <a:off x="3794671" y="3754041"/>
            <a:ext cx="1554547" cy="0"/>
          </a:xfrm>
          <a:prstGeom prst="line">
            <a:avLst/>
          </a:prstGeom>
          <a:noFill/>
          <a:ln w="7144">
            <a:solidFill>
              <a:srgbClr val="CBD5E1"/>
            </a:solidFill>
            <a:prstDash val="solid"/>
          </a:ln>
        </p:spPr>
      </p:sp>
      <p:sp>
        <p:nvSpPr>
          <p:cNvPr id="29" name="Shape 27"/>
          <p:cNvSpPr/>
          <p:nvPr/>
        </p:nvSpPr>
        <p:spPr>
          <a:xfrm>
            <a:off x="3798243" y="1348718"/>
            <a:ext cx="0" cy="2408895"/>
          </a:xfrm>
          <a:prstGeom prst="line">
            <a:avLst/>
          </a:prstGeom>
          <a:noFill/>
          <a:ln w="7144">
            <a:solidFill>
              <a:srgbClr val="CBD5E1"/>
            </a:solidFill>
            <a:prstDash val="solid"/>
          </a:ln>
        </p:spPr>
      </p:sp>
      <p:sp>
        <p:nvSpPr>
          <p:cNvPr id="30" name="Text 28"/>
          <p:cNvSpPr/>
          <p:nvPr/>
        </p:nvSpPr>
        <p:spPr>
          <a:xfrm>
            <a:off x="3916114" y="1534455"/>
            <a:ext cx="1025909" cy="246888"/>
          </a:xfrm>
          <a:prstGeom prst="rect">
            <a:avLst/>
          </a:prstGeom>
          <a:noFill/>
          <a:ln/>
        </p:spPr>
        <p:txBody>
          <a:bodyPr wrap="none" lIns="0" tIns="0" rIns="0" bIns="0" rtlCol="0" anchor="t"/>
          <a:lstStyle/>
          <a:p>
            <a:pPr marL="0" indent="0" algn="l">
              <a:lnSpc>
                <a:spcPts val="1800"/>
              </a:lnSpc>
              <a:buNone/>
            </a:pPr>
            <a:r>
              <a:rPr lang="en-US" sz="1800" b="1" dirty="0">
                <a:solidFill>
                  <a:srgbClr val="F97316"/>
                </a:solidFill>
                <a:latin typeface="Liberation Sans Narrow" pitchFamily="34" charset="0"/>
                <a:ea typeface="Liberation Sans Narrow" pitchFamily="34" charset="-122"/>
                <a:cs typeface="Liberation Sans Narrow" pitchFamily="34" charset="-120"/>
              </a:rPr>
              <a:t>03</a:t>
            </a:r>
            <a:endParaRPr lang="en-US" sz="1800" dirty="0"/>
          </a:p>
        </p:txBody>
      </p:sp>
      <p:sp>
        <p:nvSpPr>
          <p:cNvPr id="31" name="Text 29"/>
          <p:cNvSpPr/>
          <p:nvPr/>
        </p:nvSpPr>
        <p:spPr>
          <a:xfrm>
            <a:off x="4956311" y="1513024"/>
            <a:ext cx="271463" cy="271463"/>
          </a:xfrm>
          <a:prstGeom prst="roundRect">
            <a:avLst>
              <a:gd name="adj" fmla="val 35088"/>
            </a:avLst>
          </a:prstGeom>
          <a:solidFill>
            <a:srgbClr val="F97316">
              <a:alpha val="12000"/>
            </a:srgbClr>
          </a:solidFill>
          <a:ln/>
        </p:spPr>
        <p:txBody>
          <a:bodyPr wrap="square" rtlCol="0" anchor="ctr"/>
          <a:lstStyle/>
          <a:p>
            <a:pPr marL="0" indent="0">
              <a:buNone/>
            </a:pPr>
            <a:endParaRPr lang="en-US" dirty="0"/>
          </a:p>
        </p:txBody>
      </p:sp>
      <p:sp>
        <p:nvSpPr>
          <p:cNvPr id="32" name="Text 30"/>
          <p:cNvSpPr/>
          <p:nvPr/>
        </p:nvSpPr>
        <p:spPr>
          <a:xfrm>
            <a:off x="4978100" y="1534812"/>
            <a:ext cx="227886" cy="227886"/>
          </a:xfrm>
          <a:prstGeom prst="rect">
            <a:avLst/>
          </a:prstGeom>
          <a:noFill/>
          <a:ln/>
        </p:spPr>
        <p:txBody>
          <a:bodyPr wrap="none" lIns="0" tIns="0" rIns="0" bIns="0" rtlCol="0" anchor="ctr"/>
          <a:lstStyle/>
          <a:p>
            <a:pPr marL="0" indent="0" algn="ctr">
              <a:buNone/>
            </a:pPr>
            <a:r>
              <a:rPr lang="en-US" sz="1547" dirty="0">
                <a:solidFill>
                  <a:srgbClr val="F97316"/>
                </a:solidFill>
                <a:latin typeface="Segoe UI Symbol" pitchFamily="34" charset="0"/>
                <a:ea typeface="Segoe UI Symbol" pitchFamily="34" charset="-122"/>
                <a:cs typeface="Segoe UI Symbol" pitchFamily="34" charset="-120"/>
              </a:rPr>
              <a:t>⚒</a:t>
            </a:r>
            <a:endParaRPr lang="en-US" sz="1547" dirty="0"/>
          </a:p>
        </p:txBody>
      </p:sp>
      <p:sp>
        <p:nvSpPr>
          <p:cNvPr id="33" name="Text 31"/>
          <p:cNvSpPr/>
          <p:nvPr/>
        </p:nvSpPr>
        <p:spPr>
          <a:xfrm>
            <a:off x="3916114" y="1841636"/>
            <a:ext cx="1311659" cy="168530"/>
          </a:xfrm>
          <a:prstGeom prst="rect">
            <a:avLst/>
          </a:prstGeom>
          <a:noFill/>
          <a:ln/>
        </p:spPr>
        <p:txBody>
          <a:bodyPr wrap="none" lIns="0" tIns="0" rIns="0" bIns="0" rtlCol="0" anchor="t"/>
          <a:lstStyle/>
          <a:p>
            <a:pPr marL="0" indent="0" algn="l">
              <a:lnSpc>
                <a:spcPts val="1229"/>
              </a:lnSpc>
              <a:buNone/>
            </a:pPr>
            <a:r>
              <a:rPr lang="en-US" sz="1069" b="1" dirty="0">
                <a:solidFill>
                  <a:srgbClr val="0F172A"/>
                </a:solidFill>
                <a:latin typeface="Carlito" pitchFamily="34" charset="0"/>
                <a:ea typeface="Carlito" pitchFamily="34" charset="-122"/>
                <a:cs typeface="Carlito" pitchFamily="34" charset="-120"/>
              </a:rPr>
              <a:t>Compile &amp; Build</a:t>
            </a:r>
            <a:endParaRPr lang="en-US" sz="1069" dirty="0"/>
          </a:p>
        </p:txBody>
      </p:sp>
      <p:sp>
        <p:nvSpPr>
          <p:cNvPr id="34" name="Text 32"/>
          <p:cNvSpPr/>
          <p:nvPr/>
        </p:nvSpPr>
        <p:spPr>
          <a:xfrm>
            <a:off x="3916114" y="2054833"/>
            <a:ext cx="1390359" cy="518248"/>
          </a:xfrm>
          <a:prstGeom prst="rect">
            <a:avLst/>
          </a:prstGeom>
          <a:noFill/>
          <a:ln/>
        </p:spPr>
        <p:txBody>
          <a:bodyPr wrap="square" lIns="0" tIns="0" rIns="0" bIns="0" rtlCol="0" anchor="t"/>
          <a:lstStyle/>
          <a:p>
            <a:pPr marL="0" indent="0" algn="l">
              <a:lnSpc>
                <a:spcPts val="1260"/>
              </a:lnSpc>
              <a:buNone/>
            </a:pPr>
            <a:r>
              <a:rPr lang="en-US" sz="900" dirty="0">
                <a:solidFill>
                  <a:srgbClr val="334155"/>
                </a:solidFill>
                <a:latin typeface="Carlito" pitchFamily="34" charset="0"/>
                <a:ea typeface="Carlito" pitchFamily="34" charset="-122"/>
                <a:cs typeface="Carlito" pitchFamily="34" charset="-120"/>
              </a:rPr>
              <a:t>Compile source, package artifacts (JAR, Docker image, etc.).</a:t>
            </a:r>
            <a:endParaRPr lang="en-US" sz="900" dirty="0"/>
          </a:p>
        </p:txBody>
      </p:sp>
      <p:sp>
        <p:nvSpPr>
          <p:cNvPr id="35" name="Text 33"/>
          <p:cNvSpPr/>
          <p:nvPr/>
        </p:nvSpPr>
        <p:spPr>
          <a:xfrm>
            <a:off x="5463518" y="1348718"/>
            <a:ext cx="1554435" cy="2408895"/>
          </a:xfrm>
          <a:prstGeom prst="roundRect">
            <a:avLst>
              <a:gd name="adj" fmla="val 8579"/>
            </a:avLst>
          </a:prstGeom>
          <a:solidFill>
            <a:srgbClr val="F8FAFC"/>
          </a:solidFill>
          <a:ln/>
        </p:spPr>
        <p:txBody>
          <a:bodyPr wrap="square" rtlCol="0" anchor="ctr"/>
          <a:lstStyle/>
          <a:p>
            <a:pPr marL="0" indent="0">
              <a:buNone/>
            </a:pPr>
            <a:endParaRPr lang="en-US" dirty="0"/>
          </a:p>
        </p:txBody>
      </p:sp>
      <p:sp>
        <p:nvSpPr>
          <p:cNvPr id="36" name="Shape 34"/>
          <p:cNvSpPr/>
          <p:nvPr/>
        </p:nvSpPr>
        <p:spPr>
          <a:xfrm>
            <a:off x="5463518" y="1366577"/>
            <a:ext cx="1554435" cy="0"/>
          </a:xfrm>
          <a:prstGeom prst="line">
            <a:avLst/>
          </a:prstGeom>
          <a:noFill/>
          <a:ln w="35719">
            <a:solidFill>
              <a:srgbClr val="F97316"/>
            </a:solidFill>
            <a:prstDash val="solid"/>
          </a:ln>
        </p:spPr>
      </p:sp>
      <p:sp>
        <p:nvSpPr>
          <p:cNvPr id="37" name="Shape 35"/>
          <p:cNvSpPr/>
          <p:nvPr/>
        </p:nvSpPr>
        <p:spPr>
          <a:xfrm>
            <a:off x="7014381" y="1348718"/>
            <a:ext cx="0" cy="2408895"/>
          </a:xfrm>
          <a:prstGeom prst="line">
            <a:avLst/>
          </a:prstGeom>
          <a:noFill/>
          <a:ln w="7144">
            <a:solidFill>
              <a:srgbClr val="CBD5E1"/>
            </a:solidFill>
            <a:prstDash val="solid"/>
          </a:ln>
        </p:spPr>
      </p:sp>
      <p:sp>
        <p:nvSpPr>
          <p:cNvPr id="38" name="Shape 36"/>
          <p:cNvSpPr/>
          <p:nvPr/>
        </p:nvSpPr>
        <p:spPr>
          <a:xfrm>
            <a:off x="5463518" y="3754041"/>
            <a:ext cx="1554435" cy="0"/>
          </a:xfrm>
          <a:prstGeom prst="line">
            <a:avLst/>
          </a:prstGeom>
          <a:noFill/>
          <a:ln w="7144">
            <a:solidFill>
              <a:srgbClr val="CBD5E1"/>
            </a:solidFill>
            <a:prstDash val="solid"/>
          </a:ln>
        </p:spPr>
      </p:sp>
      <p:sp>
        <p:nvSpPr>
          <p:cNvPr id="39" name="Shape 37"/>
          <p:cNvSpPr/>
          <p:nvPr/>
        </p:nvSpPr>
        <p:spPr>
          <a:xfrm>
            <a:off x="5467090" y="1348718"/>
            <a:ext cx="0" cy="2408895"/>
          </a:xfrm>
          <a:prstGeom prst="line">
            <a:avLst/>
          </a:prstGeom>
          <a:noFill/>
          <a:ln w="7144">
            <a:solidFill>
              <a:srgbClr val="CBD5E1"/>
            </a:solidFill>
            <a:prstDash val="solid"/>
          </a:ln>
        </p:spPr>
      </p:sp>
      <p:sp>
        <p:nvSpPr>
          <p:cNvPr id="40" name="Text 38"/>
          <p:cNvSpPr/>
          <p:nvPr/>
        </p:nvSpPr>
        <p:spPr>
          <a:xfrm>
            <a:off x="5584961" y="1534455"/>
            <a:ext cx="1025798" cy="246888"/>
          </a:xfrm>
          <a:prstGeom prst="rect">
            <a:avLst/>
          </a:prstGeom>
          <a:noFill/>
          <a:ln/>
        </p:spPr>
        <p:txBody>
          <a:bodyPr wrap="none" lIns="0" tIns="0" rIns="0" bIns="0" rtlCol="0" anchor="t"/>
          <a:lstStyle/>
          <a:p>
            <a:pPr marL="0" indent="0" algn="l">
              <a:lnSpc>
                <a:spcPts val="1800"/>
              </a:lnSpc>
              <a:buNone/>
            </a:pPr>
            <a:r>
              <a:rPr lang="en-US" sz="1800" b="1" dirty="0">
                <a:solidFill>
                  <a:srgbClr val="F97316"/>
                </a:solidFill>
                <a:latin typeface="Liberation Sans Narrow" pitchFamily="34" charset="0"/>
                <a:ea typeface="Liberation Sans Narrow" pitchFamily="34" charset="-122"/>
                <a:cs typeface="Liberation Sans Narrow" pitchFamily="34" charset="-120"/>
              </a:rPr>
              <a:t>04</a:t>
            </a:r>
            <a:endParaRPr lang="en-US" sz="1800" dirty="0"/>
          </a:p>
        </p:txBody>
      </p:sp>
      <p:sp>
        <p:nvSpPr>
          <p:cNvPr id="41" name="Text 39"/>
          <p:cNvSpPr/>
          <p:nvPr/>
        </p:nvSpPr>
        <p:spPr>
          <a:xfrm>
            <a:off x="6625047" y="1513024"/>
            <a:ext cx="271463" cy="271463"/>
          </a:xfrm>
          <a:prstGeom prst="roundRect">
            <a:avLst>
              <a:gd name="adj" fmla="val 35088"/>
            </a:avLst>
          </a:prstGeom>
          <a:solidFill>
            <a:srgbClr val="F97316">
              <a:alpha val="12000"/>
            </a:srgbClr>
          </a:solidFill>
          <a:ln/>
        </p:spPr>
        <p:txBody>
          <a:bodyPr wrap="square" rtlCol="0" anchor="ctr"/>
          <a:lstStyle/>
          <a:p>
            <a:pPr marL="0" indent="0">
              <a:buNone/>
            </a:pPr>
            <a:endParaRPr lang="en-US" dirty="0"/>
          </a:p>
        </p:txBody>
      </p:sp>
      <p:sp>
        <p:nvSpPr>
          <p:cNvPr id="42" name="Text 40"/>
          <p:cNvSpPr/>
          <p:nvPr/>
        </p:nvSpPr>
        <p:spPr>
          <a:xfrm>
            <a:off x="6646835" y="1534812"/>
            <a:ext cx="227886" cy="227886"/>
          </a:xfrm>
          <a:prstGeom prst="rect">
            <a:avLst/>
          </a:prstGeom>
          <a:noFill/>
          <a:ln/>
        </p:spPr>
        <p:txBody>
          <a:bodyPr wrap="none" lIns="0" tIns="0" rIns="0" bIns="0" rtlCol="0" anchor="ctr"/>
          <a:lstStyle/>
          <a:p>
            <a:pPr marL="0" indent="0" algn="ctr">
              <a:buNone/>
            </a:pPr>
            <a:r>
              <a:rPr lang="en-US" sz="1547" dirty="0">
                <a:solidFill>
                  <a:srgbClr val="F97316"/>
                </a:solidFill>
                <a:latin typeface="Segoe UI Symbol" pitchFamily="34" charset="0"/>
                <a:ea typeface="Segoe UI Symbol" pitchFamily="34" charset="-122"/>
                <a:cs typeface="Segoe UI Symbol" pitchFamily="34" charset="-120"/>
              </a:rPr>
              <a:t>⚗</a:t>
            </a:r>
            <a:endParaRPr lang="en-US" sz="1547" dirty="0"/>
          </a:p>
        </p:txBody>
      </p:sp>
      <p:sp>
        <p:nvSpPr>
          <p:cNvPr id="43" name="Text 41"/>
          <p:cNvSpPr/>
          <p:nvPr/>
        </p:nvSpPr>
        <p:spPr>
          <a:xfrm>
            <a:off x="5584961" y="1841636"/>
            <a:ext cx="1311548" cy="168530"/>
          </a:xfrm>
          <a:prstGeom prst="rect">
            <a:avLst/>
          </a:prstGeom>
          <a:noFill/>
          <a:ln/>
        </p:spPr>
        <p:txBody>
          <a:bodyPr wrap="none" lIns="0" tIns="0" rIns="0" bIns="0" rtlCol="0" anchor="t"/>
          <a:lstStyle/>
          <a:p>
            <a:pPr marL="0" indent="0" algn="l">
              <a:lnSpc>
                <a:spcPts val="1229"/>
              </a:lnSpc>
              <a:buNone/>
            </a:pPr>
            <a:r>
              <a:rPr lang="en-US" sz="1069" b="1" dirty="0">
                <a:solidFill>
                  <a:srgbClr val="0F172A"/>
                </a:solidFill>
                <a:latin typeface="Carlito" pitchFamily="34" charset="0"/>
                <a:ea typeface="Carlito" pitchFamily="34" charset="-122"/>
                <a:cs typeface="Carlito" pitchFamily="34" charset="-120"/>
              </a:rPr>
              <a:t>Test</a:t>
            </a:r>
            <a:endParaRPr lang="en-US" sz="1069" dirty="0"/>
          </a:p>
        </p:txBody>
      </p:sp>
      <p:sp>
        <p:nvSpPr>
          <p:cNvPr id="44" name="Text 42"/>
          <p:cNvSpPr/>
          <p:nvPr/>
        </p:nvSpPr>
        <p:spPr>
          <a:xfrm>
            <a:off x="5584961" y="2054833"/>
            <a:ext cx="1390241" cy="518248"/>
          </a:xfrm>
          <a:prstGeom prst="rect">
            <a:avLst/>
          </a:prstGeom>
          <a:noFill/>
          <a:ln/>
        </p:spPr>
        <p:txBody>
          <a:bodyPr wrap="square" lIns="0" tIns="0" rIns="0" bIns="0" rtlCol="0" anchor="t"/>
          <a:lstStyle/>
          <a:p>
            <a:pPr marL="0" indent="0" algn="l">
              <a:lnSpc>
                <a:spcPts val="1260"/>
              </a:lnSpc>
              <a:buNone/>
            </a:pPr>
            <a:r>
              <a:rPr lang="en-US" sz="900" dirty="0">
                <a:solidFill>
                  <a:srgbClr val="334155"/>
                </a:solidFill>
                <a:latin typeface="Carlito" pitchFamily="34" charset="0"/>
                <a:ea typeface="Carlito" pitchFamily="34" charset="-122"/>
                <a:cs typeface="Carlito" pitchFamily="34" charset="-120"/>
              </a:rPr>
              <a:t>Run unit + integration + e2e test suites — usually the longest stage.</a:t>
            </a:r>
            <a:endParaRPr lang="en-US" sz="900" dirty="0"/>
          </a:p>
        </p:txBody>
      </p:sp>
      <p:sp>
        <p:nvSpPr>
          <p:cNvPr id="45" name="Text 43"/>
          <p:cNvSpPr/>
          <p:nvPr/>
        </p:nvSpPr>
        <p:spPr>
          <a:xfrm>
            <a:off x="7132253" y="1348718"/>
            <a:ext cx="1554547" cy="2408895"/>
          </a:xfrm>
          <a:prstGeom prst="roundRect">
            <a:avLst>
              <a:gd name="adj" fmla="val 8578"/>
            </a:avLst>
          </a:prstGeom>
          <a:solidFill>
            <a:srgbClr val="F8FAFC"/>
          </a:solidFill>
          <a:ln/>
        </p:spPr>
        <p:txBody>
          <a:bodyPr wrap="square" rtlCol="0" anchor="ctr"/>
          <a:lstStyle/>
          <a:p>
            <a:pPr marL="0" indent="0">
              <a:buNone/>
            </a:pPr>
            <a:endParaRPr lang="en-US" dirty="0"/>
          </a:p>
        </p:txBody>
      </p:sp>
      <p:sp>
        <p:nvSpPr>
          <p:cNvPr id="46" name="Shape 44"/>
          <p:cNvSpPr/>
          <p:nvPr/>
        </p:nvSpPr>
        <p:spPr>
          <a:xfrm>
            <a:off x="7132253" y="1366577"/>
            <a:ext cx="1554547" cy="0"/>
          </a:xfrm>
          <a:prstGeom prst="line">
            <a:avLst/>
          </a:prstGeom>
          <a:noFill/>
          <a:ln w="35719">
            <a:solidFill>
              <a:srgbClr val="F97316"/>
            </a:solidFill>
            <a:prstDash val="solid"/>
          </a:ln>
        </p:spPr>
      </p:sp>
      <p:sp>
        <p:nvSpPr>
          <p:cNvPr id="47" name="Shape 45"/>
          <p:cNvSpPr/>
          <p:nvPr/>
        </p:nvSpPr>
        <p:spPr>
          <a:xfrm>
            <a:off x="8683228" y="1348718"/>
            <a:ext cx="0" cy="2408895"/>
          </a:xfrm>
          <a:prstGeom prst="line">
            <a:avLst/>
          </a:prstGeom>
          <a:noFill/>
          <a:ln w="7144">
            <a:solidFill>
              <a:srgbClr val="CBD5E1"/>
            </a:solidFill>
            <a:prstDash val="solid"/>
          </a:ln>
        </p:spPr>
      </p:sp>
      <p:sp>
        <p:nvSpPr>
          <p:cNvPr id="48" name="Shape 46"/>
          <p:cNvSpPr/>
          <p:nvPr/>
        </p:nvSpPr>
        <p:spPr>
          <a:xfrm>
            <a:off x="7132253" y="3754041"/>
            <a:ext cx="1554547" cy="0"/>
          </a:xfrm>
          <a:prstGeom prst="line">
            <a:avLst/>
          </a:prstGeom>
          <a:noFill/>
          <a:ln w="7144">
            <a:solidFill>
              <a:srgbClr val="CBD5E1"/>
            </a:solidFill>
            <a:prstDash val="solid"/>
          </a:ln>
        </p:spPr>
      </p:sp>
      <p:sp>
        <p:nvSpPr>
          <p:cNvPr id="49" name="Shape 47"/>
          <p:cNvSpPr/>
          <p:nvPr/>
        </p:nvSpPr>
        <p:spPr>
          <a:xfrm>
            <a:off x="7135825" y="1348718"/>
            <a:ext cx="0" cy="2408895"/>
          </a:xfrm>
          <a:prstGeom prst="line">
            <a:avLst/>
          </a:prstGeom>
          <a:noFill/>
          <a:ln w="7144">
            <a:solidFill>
              <a:srgbClr val="CBD5E1"/>
            </a:solidFill>
            <a:prstDash val="solid"/>
          </a:ln>
        </p:spPr>
      </p:sp>
      <p:sp>
        <p:nvSpPr>
          <p:cNvPr id="50" name="Text 48"/>
          <p:cNvSpPr/>
          <p:nvPr/>
        </p:nvSpPr>
        <p:spPr>
          <a:xfrm>
            <a:off x="7253697" y="1534455"/>
            <a:ext cx="1025909" cy="246888"/>
          </a:xfrm>
          <a:prstGeom prst="rect">
            <a:avLst/>
          </a:prstGeom>
          <a:noFill/>
          <a:ln/>
        </p:spPr>
        <p:txBody>
          <a:bodyPr wrap="none" lIns="0" tIns="0" rIns="0" bIns="0" rtlCol="0" anchor="t"/>
          <a:lstStyle/>
          <a:p>
            <a:pPr marL="0" indent="0" algn="l">
              <a:lnSpc>
                <a:spcPts val="1800"/>
              </a:lnSpc>
              <a:buNone/>
            </a:pPr>
            <a:r>
              <a:rPr lang="en-US" sz="1800" b="1" dirty="0">
                <a:solidFill>
                  <a:srgbClr val="F97316"/>
                </a:solidFill>
                <a:latin typeface="Liberation Sans Narrow" pitchFamily="34" charset="0"/>
                <a:ea typeface="Liberation Sans Narrow" pitchFamily="34" charset="-122"/>
                <a:cs typeface="Liberation Sans Narrow" pitchFamily="34" charset="-120"/>
              </a:rPr>
              <a:t>05</a:t>
            </a:r>
            <a:endParaRPr lang="en-US" sz="1800" dirty="0"/>
          </a:p>
        </p:txBody>
      </p:sp>
      <p:sp>
        <p:nvSpPr>
          <p:cNvPr id="51" name="Text 49"/>
          <p:cNvSpPr/>
          <p:nvPr/>
        </p:nvSpPr>
        <p:spPr>
          <a:xfrm>
            <a:off x="8293894" y="1513024"/>
            <a:ext cx="271463" cy="271463"/>
          </a:xfrm>
          <a:prstGeom prst="roundRect">
            <a:avLst>
              <a:gd name="adj" fmla="val 35088"/>
            </a:avLst>
          </a:prstGeom>
          <a:solidFill>
            <a:srgbClr val="F97316">
              <a:alpha val="12000"/>
            </a:srgbClr>
          </a:solidFill>
          <a:ln/>
        </p:spPr>
        <p:txBody>
          <a:bodyPr wrap="square" rtlCol="0" anchor="ctr"/>
          <a:lstStyle/>
          <a:p>
            <a:pPr marL="0" indent="0">
              <a:buNone/>
            </a:pPr>
            <a:endParaRPr lang="en-US" dirty="0"/>
          </a:p>
        </p:txBody>
      </p:sp>
      <p:sp>
        <p:nvSpPr>
          <p:cNvPr id="52" name="Text 50"/>
          <p:cNvSpPr/>
          <p:nvPr/>
        </p:nvSpPr>
        <p:spPr>
          <a:xfrm>
            <a:off x="8315682" y="1534812"/>
            <a:ext cx="227886" cy="227886"/>
          </a:xfrm>
          <a:prstGeom prst="rect">
            <a:avLst/>
          </a:prstGeom>
          <a:noFill/>
          <a:ln/>
        </p:spPr>
        <p:txBody>
          <a:bodyPr wrap="none" lIns="0" tIns="0" rIns="0" bIns="0" rtlCol="0" anchor="ctr"/>
          <a:lstStyle/>
          <a:p>
            <a:pPr marL="0" indent="0" algn="ctr">
              <a:buNone/>
            </a:pPr>
            <a:r>
              <a:rPr lang="en-US" sz="1547" dirty="0">
                <a:solidFill>
                  <a:srgbClr val="F97316"/>
                </a:solidFill>
                <a:latin typeface="Segoe UI Symbol" pitchFamily="34" charset="0"/>
                <a:ea typeface="Segoe UI Symbol" pitchFamily="34" charset="-122"/>
                <a:cs typeface="Segoe UI Symbol" pitchFamily="34" charset="-120"/>
              </a:rPr>
              <a:t>✦</a:t>
            </a:r>
            <a:endParaRPr lang="en-US" sz="1547" dirty="0"/>
          </a:p>
        </p:txBody>
      </p:sp>
      <p:sp>
        <p:nvSpPr>
          <p:cNvPr id="53" name="Text 51"/>
          <p:cNvSpPr/>
          <p:nvPr/>
        </p:nvSpPr>
        <p:spPr>
          <a:xfrm>
            <a:off x="7253697" y="1841636"/>
            <a:ext cx="1311659" cy="168530"/>
          </a:xfrm>
          <a:prstGeom prst="rect">
            <a:avLst/>
          </a:prstGeom>
          <a:noFill/>
          <a:ln/>
        </p:spPr>
        <p:txBody>
          <a:bodyPr wrap="none" lIns="0" tIns="0" rIns="0" bIns="0" rtlCol="0" anchor="t"/>
          <a:lstStyle/>
          <a:p>
            <a:pPr marL="0" indent="0" algn="l">
              <a:lnSpc>
                <a:spcPts val="1229"/>
              </a:lnSpc>
              <a:buNone/>
            </a:pPr>
            <a:r>
              <a:rPr lang="en-US" sz="1069" b="1" dirty="0">
                <a:solidFill>
                  <a:srgbClr val="0F172A"/>
                </a:solidFill>
                <a:latin typeface="Carlito" pitchFamily="34" charset="0"/>
                <a:ea typeface="Carlito" pitchFamily="34" charset="-122"/>
                <a:cs typeface="Carlito" pitchFamily="34" charset="-120"/>
              </a:rPr>
              <a:t>Publish &amp; Notify</a:t>
            </a:r>
            <a:endParaRPr lang="en-US" sz="1069" dirty="0"/>
          </a:p>
        </p:txBody>
      </p:sp>
      <p:sp>
        <p:nvSpPr>
          <p:cNvPr id="54" name="Text 52"/>
          <p:cNvSpPr/>
          <p:nvPr/>
        </p:nvSpPr>
        <p:spPr>
          <a:xfrm>
            <a:off x="7253697" y="2054833"/>
            <a:ext cx="1390359" cy="518248"/>
          </a:xfrm>
          <a:prstGeom prst="rect">
            <a:avLst/>
          </a:prstGeom>
          <a:noFill/>
          <a:ln/>
        </p:spPr>
        <p:txBody>
          <a:bodyPr wrap="square" lIns="0" tIns="0" rIns="0" bIns="0" rtlCol="0" anchor="t"/>
          <a:lstStyle/>
          <a:p>
            <a:pPr marL="0" indent="0" algn="l">
              <a:lnSpc>
                <a:spcPts val="1260"/>
              </a:lnSpc>
              <a:buNone/>
            </a:pPr>
            <a:r>
              <a:rPr lang="en-US" sz="900" dirty="0">
                <a:solidFill>
                  <a:srgbClr val="334155"/>
                </a:solidFill>
                <a:latin typeface="Carlito" pitchFamily="34" charset="0"/>
                <a:ea typeface="Carlito" pitchFamily="34" charset="-122"/>
                <a:cs typeface="Carlito" pitchFamily="34" charset="-120"/>
              </a:rPr>
              <a:t>Push artifacts to registry, notify team of green/red status.</a:t>
            </a:r>
            <a:endParaRPr lang="en-US" sz="900" dirty="0"/>
          </a:p>
        </p:txBody>
      </p:sp>
      <p:sp>
        <p:nvSpPr>
          <p:cNvPr id="55" name="Text 53"/>
          <p:cNvSpPr/>
          <p:nvPr/>
        </p:nvSpPr>
        <p:spPr>
          <a:xfrm>
            <a:off x="457200" y="3800475"/>
            <a:ext cx="1554435" cy="302341"/>
          </a:xfrm>
          <a:prstGeom prst="rect">
            <a:avLst/>
          </a:prstGeom>
          <a:noFill/>
          <a:ln/>
        </p:spPr>
        <p:txBody>
          <a:bodyPr wrap="none" lIns="0" tIns="0" rIns="0" bIns="0" rtlCol="0" anchor="t"/>
          <a:lstStyle/>
          <a:p>
            <a:pPr marL="0" indent="0" algn="l">
              <a:buNone/>
            </a:pPr>
            <a:r>
              <a:rPr lang="en-US" sz="1575" b="1" dirty="0">
                <a:solidFill>
                  <a:srgbClr val="F97316"/>
                </a:solidFill>
                <a:latin typeface="Segoe UI Symbol" pitchFamily="34" charset="0"/>
                <a:ea typeface="Segoe UI Symbol" pitchFamily="34" charset="-122"/>
                <a:cs typeface="Segoe UI Symbol" pitchFamily="34" charset="-120"/>
              </a:rPr>
              <a:t>→</a:t>
            </a:r>
            <a:endParaRPr lang="en-US" sz="1575" dirty="0"/>
          </a:p>
        </p:txBody>
      </p:sp>
      <p:sp>
        <p:nvSpPr>
          <p:cNvPr id="56" name="Text 54"/>
          <p:cNvSpPr/>
          <p:nvPr/>
        </p:nvSpPr>
        <p:spPr>
          <a:xfrm>
            <a:off x="2125935" y="3800475"/>
            <a:ext cx="1554435" cy="302341"/>
          </a:xfrm>
          <a:prstGeom prst="rect">
            <a:avLst/>
          </a:prstGeom>
          <a:noFill/>
          <a:ln/>
        </p:spPr>
        <p:txBody>
          <a:bodyPr wrap="none" lIns="0" tIns="0" rIns="0" bIns="0" rtlCol="0" anchor="t"/>
          <a:lstStyle/>
          <a:p>
            <a:pPr marL="0" indent="0" algn="l">
              <a:buNone/>
            </a:pPr>
            <a:r>
              <a:rPr lang="en-US" sz="1575" b="1" dirty="0">
                <a:solidFill>
                  <a:srgbClr val="F97316"/>
                </a:solidFill>
                <a:latin typeface="Segoe UI Symbol" pitchFamily="34" charset="0"/>
                <a:ea typeface="Segoe UI Symbol" pitchFamily="34" charset="-122"/>
                <a:cs typeface="Segoe UI Symbol" pitchFamily="34" charset="-120"/>
              </a:rPr>
              <a:t>→</a:t>
            </a:r>
            <a:endParaRPr lang="en-US" sz="1575" dirty="0"/>
          </a:p>
        </p:txBody>
      </p:sp>
      <p:sp>
        <p:nvSpPr>
          <p:cNvPr id="57" name="Text 55"/>
          <p:cNvSpPr/>
          <p:nvPr/>
        </p:nvSpPr>
        <p:spPr>
          <a:xfrm>
            <a:off x="3794671" y="3800475"/>
            <a:ext cx="1554547" cy="302341"/>
          </a:xfrm>
          <a:prstGeom prst="rect">
            <a:avLst/>
          </a:prstGeom>
          <a:noFill/>
          <a:ln/>
        </p:spPr>
        <p:txBody>
          <a:bodyPr wrap="none" lIns="0" tIns="0" rIns="0" bIns="0" rtlCol="0" anchor="t"/>
          <a:lstStyle/>
          <a:p>
            <a:pPr marL="0" indent="0" algn="l">
              <a:buNone/>
            </a:pPr>
            <a:r>
              <a:rPr lang="en-US" sz="1575" b="1" dirty="0">
                <a:solidFill>
                  <a:srgbClr val="F97316"/>
                </a:solidFill>
                <a:latin typeface="Segoe UI Symbol" pitchFamily="34" charset="0"/>
                <a:ea typeface="Segoe UI Symbol" pitchFamily="34" charset="-122"/>
                <a:cs typeface="Segoe UI Symbol" pitchFamily="34" charset="-120"/>
              </a:rPr>
              <a:t>→</a:t>
            </a:r>
            <a:endParaRPr lang="en-US" sz="1575" dirty="0"/>
          </a:p>
        </p:txBody>
      </p:sp>
      <p:sp>
        <p:nvSpPr>
          <p:cNvPr id="58" name="Text 56"/>
          <p:cNvSpPr/>
          <p:nvPr/>
        </p:nvSpPr>
        <p:spPr>
          <a:xfrm>
            <a:off x="5463518" y="3800475"/>
            <a:ext cx="1554435" cy="302341"/>
          </a:xfrm>
          <a:prstGeom prst="rect">
            <a:avLst/>
          </a:prstGeom>
          <a:noFill/>
          <a:ln/>
        </p:spPr>
        <p:txBody>
          <a:bodyPr wrap="none" lIns="0" tIns="0" rIns="0" bIns="0" rtlCol="0" anchor="t"/>
          <a:lstStyle/>
          <a:p>
            <a:pPr marL="0" indent="0" algn="l">
              <a:buNone/>
            </a:pPr>
            <a:r>
              <a:rPr lang="en-US" sz="1575" b="1" dirty="0">
                <a:solidFill>
                  <a:srgbClr val="F97316"/>
                </a:solidFill>
                <a:latin typeface="Segoe UI Symbol" pitchFamily="34" charset="0"/>
                <a:ea typeface="Segoe UI Symbol" pitchFamily="34" charset="-122"/>
                <a:cs typeface="Segoe UI Symbol" pitchFamily="34" charset="-120"/>
              </a:rPr>
              <a:t>→</a:t>
            </a:r>
            <a:endParaRPr lang="en-US" sz="1575" dirty="0"/>
          </a:p>
        </p:txBody>
      </p:sp>
      <p:sp>
        <p:nvSpPr>
          <p:cNvPr id="59" name="Text 57"/>
          <p:cNvSpPr/>
          <p:nvPr/>
        </p:nvSpPr>
        <p:spPr>
          <a:xfrm>
            <a:off x="7132253" y="3800475"/>
            <a:ext cx="1554547" cy="279946"/>
          </a:xfrm>
          <a:prstGeom prst="rect">
            <a:avLst/>
          </a:prstGeom>
          <a:noFill/>
          <a:ln/>
        </p:spPr>
        <p:txBody>
          <a:bodyPr wrap="none" lIns="0" tIns="0" rIns="0" bIns="0" rtlCol="0" anchor="ctr"/>
          <a:lstStyle/>
          <a:p>
            <a:pPr marL="0" indent="0" algn="ctr">
              <a:buNone/>
            </a:pPr>
            <a:r>
              <a:rPr lang="en-US" sz="1575" b="1" dirty="0">
                <a:solidFill>
                  <a:srgbClr val="F97316"/>
                </a:solidFill>
                <a:latin typeface="Segoe UI Symbol" pitchFamily="34" charset="0"/>
                <a:ea typeface="Segoe UI Symbol" pitchFamily="34" charset="-122"/>
                <a:cs typeface="Segoe UI Symbol" pitchFamily="34" charset="-120"/>
              </a:rPr>
              <a:t>✓</a:t>
            </a:r>
            <a:endParaRPr lang="en-US" sz="1575" dirty="0"/>
          </a:p>
        </p:txBody>
      </p:sp>
      <p:sp>
        <p:nvSpPr>
          <p:cNvPr id="60" name="Text 58"/>
          <p:cNvSpPr/>
          <p:nvPr/>
        </p:nvSpPr>
        <p:spPr>
          <a:xfrm>
            <a:off x="457200" y="4057650"/>
            <a:ext cx="8229600" cy="628650"/>
          </a:xfrm>
          <a:prstGeom prst="roundRect">
            <a:avLst>
              <a:gd name="adj" fmla="val 12121"/>
            </a:avLst>
          </a:prstGeom>
          <a:solidFill>
            <a:srgbClr val="F1F5F9"/>
          </a:solidFill>
          <a:ln/>
        </p:spPr>
        <p:txBody>
          <a:bodyPr wrap="square" rtlCol="0" anchor="ctr"/>
          <a:lstStyle/>
          <a:p>
            <a:pPr marL="0" indent="0">
              <a:buNone/>
            </a:pPr>
            <a:endParaRPr lang="en-US" dirty="0"/>
          </a:p>
        </p:txBody>
      </p:sp>
      <p:sp>
        <p:nvSpPr>
          <p:cNvPr id="61" name="Shape 59"/>
          <p:cNvSpPr/>
          <p:nvPr/>
        </p:nvSpPr>
        <p:spPr>
          <a:xfrm>
            <a:off x="478631" y="4057650"/>
            <a:ext cx="0" cy="628650"/>
          </a:xfrm>
          <a:prstGeom prst="line">
            <a:avLst/>
          </a:prstGeom>
          <a:noFill/>
          <a:ln w="42863">
            <a:solidFill>
              <a:srgbClr val="F97316"/>
            </a:solidFill>
            <a:prstDash val="solid"/>
          </a:ln>
        </p:spPr>
      </p:sp>
      <p:sp>
        <p:nvSpPr>
          <p:cNvPr id="62" name="Text 60"/>
          <p:cNvSpPr/>
          <p:nvPr/>
        </p:nvSpPr>
        <p:spPr>
          <a:xfrm>
            <a:off x="457200" y="4057650"/>
            <a:ext cx="8229600" cy="678942"/>
          </a:xfrm>
          <a:prstGeom prst="rect">
            <a:avLst/>
          </a:prstGeom>
          <a:noFill/>
          <a:ln/>
        </p:spPr>
        <p:txBody>
          <a:bodyPr wrap="square" lIns="157163" tIns="114300" rIns="157163" bIns="114300" rtlCol="0" anchor="t"/>
          <a:lstStyle/>
          <a:p>
            <a:pPr marL="0" indent="0" algn="l">
              <a:lnSpc>
                <a:spcPts val="1575"/>
              </a:lnSpc>
              <a:buNone/>
            </a:pPr>
            <a:r>
              <a:rPr lang="en-US" sz="1125" b="1" dirty="0">
                <a:solidFill>
                  <a:srgbClr val="C2410C"/>
                </a:solidFill>
                <a:latin typeface="Carlito" pitchFamily="34" charset="0"/>
                <a:ea typeface="Carlito" pitchFamily="34" charset="-122"/>
                <a:cs typeface="Carlito" pitchFamily="34" charset="-120"/>
              </a:rPr>
              <a:t>Problem:</a:t>
            </a:r>
            <a:r>
              <a:rPr lang="en-US" sz="1125" dirty="0">
                <a:solidFill>
                  <a:srgbClr val="0F172A"/>
                </a:solidFill>
                <a:latin typeface="Carlito" pitchFamily="34" charset="0"/>
                <a:ea typeface="Carlito" pitchFamily="34" charset="-122"/>
                <a:cs typeface="Carlito" pitchFamily="34" charset="-120"/>
              </a:rPr>
              <a:t> Stages 2, 3, and 4 re-execute EVERYTHING, even when only one module changed. This is what AI-enhanced build intelligence fixes.</a:t>
            </a:r>
            <a:endParaRPr lang="en-US" sz="112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8636000" cy="388776"/>
          </a:xfrm>
          <a:prstGeom prst="rect">
            <a:avLst/>
          </a:prstGeom>
          <a:noFill/>
          <a:ln/>
        </p:spPr>
        <p:txBody>
          <a:bodyPr wrap="square" lIns="0" tIns="0" rIns="0" bIns="0" rtlCol="0" anchor="t"/>
          <a:lstStyle/>
          <a:p>
            <a:pPr marL="0" indent="0" algn="l">
              <a:lnSpc>
                <a:spcPts val="2835"/>
              </a:lnSpc>
              <a:buNone/>
            </a:pPr>
            <a:r>
              <a:rPr lang="en-US" sz="2025" b="1" dirty="0">
                <a:solidFill>
                  <a:srgbClr val="0F172A"/>
                </a:solidFill>
                <a:latin typeface="Carlito" pitchFamily="34" charset="0"/>
                <a:ea typeface="Carlito" pitchFamily="34" charset="-122"/>
                <a:cs typeface="Carlito" pitchFamily="34" charset="-120"/>
              </a:rPr>
              <a:t>AI-Enhanced Build Pipeline — Overview</a:t>
            </a:r>
            <a:endParaRPr lang="en-US" sz="2025" dirty="0"/>
          </a:p>
        </p:txBody>
      </p:sp>
      <p:sp>
        <p:nvSpPr>
          <p:cNvPr id="3" name="Text 1"/>
          <p:cNvSpPr/>
          <p:nvPr/>
        </p:nvSpPr>
        <p:spPr>
          <a:xfrm>
            <a:off x="457200" y="874328"/>
            <a:ext cx="571500" cy="42863"/>
          </a:xfrm>
          <a:prstGeom prst="roundRect">
            <a:avLst>
              <a:gd name="adj" fmla="val 66666"/>
            </a:avLst>
          </a:prstGeom>
          <a:solidFill>
            <a:srgbClr val="F97316"/>
          </a:solidFill>
          <a:ln/>
        </p:spPr>
        <p:txBody>
          <a:bodyPr wrap="square" rtlCol="0" anchor="ctr"/>
          <a:lstStyle/>
          <a:p>
            <a:pPr marL="0" indent="0">
              <a:buNone/>
            </a:pPr>
            <a:endParaRPr lang="en-US" dirty="0"/>
          </a:p>
        </p:txBody>
      </p:sp>
      <p:sp>
        <p:nvSpPr>
          <p:cNvPr id="4" name="Text 2"/>
          <p:cNvSpPr/>
          <p:nvPr/>
        </p:nvSpPr>
        <p:spPr>
          <a:xfrm>
            <a:off x="434340" y="1025833"/>
            <a:ext cx="1560195" cy="271281"/>
          </a:xfrm>
          <a:prstGeom prst="roundRect">
            <a:avLst>
              <a:gd name="adj" fmla="val 21067"/>
            </a:avLst>
          </a:prstGeom>
          <a:solidFill>
            <a:srgbClr val="F1F5F9"/>
          </a:solidFill>
          <a:ln/>
        </p:spPr>
        <p:txBody>
          <a:bodyPr wrap="square" rtlCol="0" anchor="ctr"/>
          <a:lstStyle/>
          <a:p>
            <a:pPr marL="0" indent="0">
              <a:buNone/>
            </a:pPr>
            <a:endParaRPr lang="en-US" dirty="0"/>
          </a:p>
        </p:txBody>
      </p:sp>
      <p:sp>
        <p:nvSpPr>
          <p:cNvPr id="5" name="Text 3"/>
          <p:cNvSpPr/>
          <p:nvPr/>
        </p:nvSpPr>
        <p:spPr>
          <a:xfrm>
            <a:off x="457200" y="1038634"/>
            <a:ext cx="1514475" cy="245678"/>
          </a:xfrm>
          <a:prstGeom prst="rect">
            <a:avLst/>
          </a:prstGeom>
          <a:noFill/>
          <a:ln/>
        </p:spPr>
        <p:txBody>
          <a:bodyPr wrap="none" lIns="0" tIns="0" rIns="0" bIns="0" rtlCol="0" anchor="ctr"/>
          <a:lstStyle/>
          <a:p>
            <a:pPr marL="0" indent="0" algn="ctr">
              <a:lnSpc>
                <a:spcPts val="1260"/>
              </a:lnSpc>
              <a:buNone/>
            </a:pPr>
            <a:r>
              <a:rPr lang="en-US" sz="900" b="1" kern="0" spc="68" dirty="0">
                <a:solidFill>
                  <a:srgbClr val="64748B"/>
                </a:solidFill>
                <a:latin typeface="Courier New" pitchFamily="34" charset="0"/>
                <a:ea typeface="Courier New" pitchFamily="34" charset="-122"/>
                <a:cs typeface="Courier New" pitchFamily="34" charset="-120"/>
              </a:rPr>
              <a:t>TRADITIONAL PIPELINE</a:t>
            </a:r>
            <a:endParaRPr lang="en-US" sz="900" dirty="0"/>
          </a:p>
        </p:txBody>
      </p:sp>
      <p:sp>
        <p:nvSpPr>
          <p:cNvPr id="6" name="Text 4"/>
          <p:cNvSpPr/>
          <p:nvPr/>
        </p:nvSpPr>
        <p:spPr>
          <a:xfrm>
            <a:off x="460772" y="1345034"/>
            <a:ext cx="1570174" cy="525400"/>
          </a:xfrm>
          <a:prstGeom prst="roundRect">
            <a:avLst>
              <a:gd name="adj" fmla="val 14503"/>
            </a:avLst>
          </a:prstGeom>
          <a:solidFill>
            <a:srgbClr val="E2E8F0"/>
          </a:solidFill>
          <a:ln w="7144">
            <a:solidFill>
              <a:srgbClr val="CBD5E1"/>
            </a:solidFill>
            <a:prstDash val="solid"/>
          </a:ln>
        </p:spPr>
        <p:txBody>
          <a:bodyPr wrap="square" rtlCol="0" anchor="ctr"/>
          <a:lstStyle/>
          <a:p>
            <a:pPr marL="0" indent="0">
              <a:buNone/>
            </a:pPr>
            <a:endParaRPr lang="en-US" dirty="0"/>
          </a:p>
        </p:txBody>
      </p:sp>
      <p:sp>
        <p:nvSpPr>
          <p:cNvPr id="7" name="Text 5"/>
          <p:cNvSpPr/>
          <p:nvPr/>
        </p:nvSpPr>
        <p:spPr>
          <a:xfrm>
            <a:off x="550069" y="1448619"/>
            <a:ext cx="1391580" cy="162020"/>
          </a:xfrm>
          <a:prstGeom prst="rect">
            <a:avLst/>
          </a:prstGeom>
          <a:noFill/>
          <a:ln/>
        </p:spPr>
        <p:txBody>
          <a:bodyPr wrap="none" lIns="0" tIns="0" rIns="0" bIns="0" rtlCol="0" anchor="t"/>
          <a:lstStyle/>
          <a:p>
            <a:pPr marL="0" indent="0" algn="l">
              <a:lnSpc>
                <a:spcPts val="1181"/>
              </a:lnSpc>
              <a:buNone/>
            </a:pPr>
            <a:r>
              <a:rPr lang="en-US" sz="844" b="1" dirty="0">
                <a:solidFill>
                  <a:srgbClr val="334155"/>
                </a:solidFill>
                <a:latin typeface="Carlito" pitchFamily="34" charset="0"/>
                <a:ea typeface="Carlito" pitchFamily="34" charset="-122"/>
                <a:cs typeface="Carlito" pitchFamily="34" charset="-120"/>
              </a:rPr>
              <a:t>Source Trigger</a:t>
            </a:r>
            <a:endParaRPr lang="en-US" sz="844" dirty="0"/>
          </a:p>
        </p:txBody>
      </p:sp>
      <p:sp>
        <p:nvSpPr>
          <p:cNvPr id="8" name="Text 6"/>
          <p:cNvSpPr/>
          <p:nvPr/>
        </p:nvSpPr>
        <p:spPr>
          <a:xfrm>
            <a:off x="550069" y="1641500"/>
            <a:ext cx="1391580" cy="125350"/>
          </a:xfrm>
          <a:prstGeom prst="rect">
            <a:avLst/>
          </a:prstGeom>
          <a:noFill/>
          <a:ln/>
        </p:spPr>
        <p:txBody>
          <a:bodyPr wrap="none" lIns="0" tIns="0" rIns="0" bIns="0" rtlCol="0" anchor="t"/>
          <a:lstStyle/>
          <a:p>
            <a:pPr marL="0" indent="0" algn="l">
              <a:lnSpc>
                <a:spcPts val="987"/>
              </a:lnSpc>
              <a:buNone/>
            </a:pPr>
            <a:r>
              <a:rPr lang="en-US" sz="800" dirty="0">
                <a:solidFill>
                  <a:srgbClr val="334155"/>
                </a:solidFill>
                <a:latin typeface="Carlito" pitchFamily="34" charset="0"/>
                <a:ea typeface="Carlito" pitchFamily="34" charset="-122"/>
                <a:cs typeface="Carlito" pitchFamily="34" charset="-120"/>
              </a:rPr>
              <a:t>Git push / PR.</a:t>
            </a:r>
            <a:endParaRPr lang="en-US" sz="800" dirty="0"/>
          </a:p>
        </p:txBody>
      </p:sp>
      <p:sp>
        <p:nvSpPr>
          <p:cNvPr id="9" name="Text 7"/>
          <p:cNvSpPr/>
          <p:nvPr/>
        </p:nvSpPr>
        <p:spPr>
          <a:xfrm>
            <a:off x="2123815" y="1345034"/>
            <a:ext cx="1570174" cy="525400"/>
          </a:xfrm>
          <a:prstGeom prst="roundRect">
            <a:avLst>
              <a:gd name="adj" fmla="val 14503"/>
            </a:avLst>
          </a:prstGeom>
          <a:solidFill>
            <a:srgbClr val="E2E8F0"/>
          </a:solidFill>
          <a:ln w="7144">
            <a:solidFill>
              <a:srgbClr val="CBD5E1"/>
            </a:solidFill>
            <a:prstDash val="solid"/>
          </a:ln>
        </p:spPr>
        <p:txBody>
          <a:bodyPr wrap="square" rtlCol="0" anchor="ctr"/>
          <a:lstStyle/>
          <a:p>
            <a:pPr marL="0" indent="0">
              <a:buNone/>
            </a:pPr>
            <a:endParaRPr lang="en-US" dirty="0"/>
          </a:p>
        </p:txBody>
      </p:sp>
      <p:sp>
        <p:nvSpPr>
          <p:cNvPr id="10" name="Text 8"/>
          <p:cNvSpPr/>
          <p:nvPr/>
        </p:nvSpPr>
        <p:spPr>
          <a:xfrm>
            <a:off x="2213111" y="1448619"/>
            <a:ext cx="1391580" cy="162020"/>
          </a:xfrm>
          <a:prstGeom prst="rect">
            <a:avLst/>
          </a:prstGeom>
          <a:noFill/>
          <a:ln/>
        </p:spPr>
        <p:txBody>
          <a:bodyPr wrap="none" lIns="0" tIns="0" rIns="0" bIns="0" rtlCol="0" anchor="t"/>
          <a:lstStyle/>
          <a:p>
            <a:pPr marL="0" indent="0" algn="l">
              <a:lnSpc>
                <a:spcPts val="1181"/>
              </a:lnSpc>
              <a:buNone/>
            </a:pPr>
            <a:r>
              <a:rPr lang="en-US" sz="844" b="1" dirty="0">
                <a:solidFill>
                  <a:srgbClr val="334155"/>
                </a:solidFill>
                <a:latin typeface="Carlito" pitchFamily="34" charset="0"/>
                <a:ea typeface="Carlito" pitchFamily="34" charset="-122"/>
                <a:cs typeface="Carlito" pitchFamily="34" charset="-120"/>
              </a:rPr>
              <a:t>Resolve ALL</a:t>
            </a:r>
            <a:endParaRPr lang="en-US" sz="844" dirty="0"/>
          </a:p>
        </p:txBody>
      </p:sp>
      <p:sp>
        <p:nvSpPr>
          <p:cNvPr id="11" name="Text 9"/>
          <p:cNvSpPr/>
          <p:nvPr/>
        </p:nvSpPr>
        <p:spPr>
          <a:xfrm>
            <a:off x="2213111" y="1641500"/>
            <a:ext cx="1391580" cy="125350"/>
          </a:xfrm>
          <a:prstGeom prst="rect">
            <a:avLst/>
          </a:prstGeom>
          <a:noFill/>
          <a:ln/>
        </p:spPr>
        <p:txBody>
          <a:bodyPr wrap="none" lIns="0" tIns="0" rIns="0" bIns="0" rtlCol="0" anchor="t"/>
          <a:lstStyle/>
          <a:p>
            <a:pPr marL="0" indent="0" algn="l">
              <a:lnSpc>
                <a:spcPts val="987"/>
              </a:lnSpc>
              <a:buNone/>
            </a:pPr>
            <a:r>
              <a:rPr lang="en-US" sz="800" dirty="0">
                <a:solidFill>
                  <a:srgbClr val="334155"/>
                </a:solidFill>
                <a:latin typeface="Carlito" pitchFamily="34" charset="0"/>
                <a:ea typeface="Carlito" pitchFamily="34" charset="-122"/>
                <a:cs typeface="Carlito" pitchFamily="34" charset="-120"/>
              </a:rPr>
              <a:t>Install every dep.</a:t>
            </a:r>
            <a:endParaRPr lang="en-US" sz="800" dirty="0"/>
          </a:p>
        </p:txBody>
      </p:sp>
      <p:sp>
        <p:nvSpPr>
          <p:cNvPr id="12" name="Text 10"/>
          <p:cNvSpPr/>
          <p:nvPr/>
        </p:nvSpPr>
        <p:spPr>
          <a:xfrm>
            <a:off x="3786857" y="1345034"/>
            <a:ext cx="1570174" cy="525400"/>
          </a:xfrm>
          <a:prstGeom prst="roundRect">
            <a:avLst>
              <a:gd name="adj" fmla="val 14503"/>
            </a:avLst>
          </a:prstGeom>
          <a:solidFill>
            <a:srgbClr val="E2E8F0"/>
          </a:solidFill>
          <a:ln w="7144">
            <a:solidFill>
              <a:srgbClr val="CBD5E1"/>
            </a:solidFill>
            <a:prstDash val="solid"/>
          </a:ln>
        </p:spPr>
        <p:txBody>
          <a:bodyPr wrap="square" rtlCol="0" anchor="ctr"/>
          <a:lstStyle/>
          <a:p>
            <a:pPr marL="0" indent="0">
              <a:buNone/>
            </a:pPr>
            <a:endParaRPr lang="en-US" dirty="0"/>
          </a:p>
        </p:txBody>
      </p:sp>
      <p:sp>
        <p:nvSpPr>
          <p:cNvPr id="13" name="Text 11"/>
          <p:cNvSpPr/>
          <p:nvPr/>
        </p:nvSpPr>
        <p:spPr>
          <a:xfrm>
            <a:off x="3876154" y="1448619"/>
            <a:ext cx="1391580" cy="162020"/>
          </a:xfrm>
          <a:prstGeom prst="rect">
            <a:avLst/>
          </a:prstGeom>
          <a:noFill/>
          <a:ln/>
        </p:spPr>
        <p:txBody>
          <a:bodyPr wrap="none" lIns="0" tIns="0" rIns="0" bIns="0" rtlCol="0" anchor="t"/>
          <a:lstStyle/>
          <a:p>
            <a:pPr marL="0" indent="0" algn="l">
              <a:lnSpc>
                <a:spcPts val="1181"/>
              </a:lnSpc>
              <a:buNone/>
            </a:pPr>
            <a:r>
              <a:rPr lang="en-US" sz="844" b="1" dirty="0">
                <a:solidFill>
                  <a:srgbClr val="334155"/>
                </a:solidFill>
                <a:latin typeface="Carlito" pitchFamily="34" charset="0"/>
                <a:ea typeface="Carlito" pitchFamily="34" charset="-122"/>
                <a:cs typeface="Carlito" pitchFamily="34" charset="-120"/>
              </a:rPr>
              <a:t>Build ALL</a:t>
            </a:r>
            <a:endParaRPr lang="en-US" sz="844" dirty="0"/>
          </a:p>
        </p:txBody>
      </p:sp>
      <p:sp>
        <p:nvSpPr>
          <p:cNvPr id="14" name="Text 12"/>
          <p:cNvSpPr/>
          <p:nvPr/>
        </p:nvSpPr>
        <p:spPr>
          <a:xfrm>
            <a:off x="3876154" y="1641500"/>
            <a:ext cx="1391580" cy="125350"/>
          </a:xfrm>
          <a:prstGeom prst="rect">
            <a:avLst/>
          </a:prstGeom>
          <a:noFill/>
          <a:ln/>
        </p:spPr>
        <p:txBody>
          <a:bodyPr wrap="none" lIns="0" tIns="0" rIns="0" bIns="0" rtlCol="0" anchor="t"/>
          <a:lstStyle/>
          <a:p>
            <a:pPr marL="0" indent="0" algn="l">
              <a:lnSpc>
                <a:spcPts val="987"/>
              </a:lnSpc>
              <a:buNone/>
            </a:pPr>
            <a:r>
              <a:rPr lang="en-US" sz="800" dirty="0">
                <a:solidFill>
                  <a:srgbClr val="334155"/>
                </a:solidFill>
                <a:latin typeface="Carlito" pitchFamily="34" charset="0"/>
                <a:ea typeface="Carlito" pitchFamily="34" charset="-122"/>
                <a:cs typeface="Carlito" pitchFamily="34" charset="-120"/>
              </a:rPr>
              <a:t>Compile everything.</a:t>
            </a:r>
            <a:endParaRPr lang="en-US" sz="800" dirty="0"/>
          </a:p>
        </p:txBody>
      </p:sp>
      <p:sp>
        <p:nvSpPr>
          <p:cNvPr id="15" name="Text 13"/>
          <p:cNvSpPr/>
          <p:nvPr/>
        </p:nvSpPr>
        <p:spPr>
          <a:xfrm>
            <a:off x="5449900" y="1345034"/>
            <a:ext cx="1570174" cy="525400"/>
          </a:xfrm>
          <a:prstGeom prst="roundRect">
            <a:avLst>
              <a:gd name="adj" fmla="val 14503"/>
            </a:avLst>
          </a:prstGeom>
          <a:solidFill>
            <a:srgbClr val="E2E8F0"/>
          </a:solidFill>
          <a:ln w="7144">
            <a:solidFill>
              <a:srgbClr val="CBD5E1"/>
            </a:solidFill>
            <a:prstDash val="solid"/>
          </a:ln>
        </p:spPr>
        <p:txBody>
          <a:bodyPr wrap="square" rtlCol="0" anchor="ctr"/>
          <a:lstStyle/>
          <a:p>
            <a:pPr marL="0" indent="0">
              <a:buNone/>
            </a:pPr>
            <a:endParaRPr lang="en-US" dirty="0"/>
          </a:p>
        </p:txBody>
      </p:sp>
      <p:sp>
        <p:nvSpPr>
          <p:cNvPr id="16" name="Text 14"/>
          <p:cNvSpPr/>
          <p:nvPr/>
        </p:nvSpPr>
        <p:spPr>
          <a:xfrm>
            <a:off x="5539197" y="1448619"/>
            <a:ext cx="1391580" cy="162020"/>
          </a:xfrm>
          <a:prstGeom prst="rect">
            <a:avLst/>
          </a:prstGeom>
          <a:noFill/>
          <a:ln/>
        </p:spPr>
        <p:txBody>
          <a:bodyPr wrap="none" lIns="0" tIns="0" rIns="0" bIns="0" rtlCol="0" anchor="t"/>
          <a:lstStyle/>
          <a:p>
            <a:pPr marL="0" indent="0" algn="l">
              <a:lnSpc>
                <a:spcPts val="1181"/>
              </a:lnSpc>
              <a:buNone/>
            </a:pPr>
            <a:r>
              <a:rPr lang="en-US" sz="844" b="1" dirty="0">
                <a:solidFill>
                  <a:srgbClr val="334155"/>
                </a:solidFill>
                <a:latin typeface="Carlito" pitchFamily="34" charset="0"/>
                <a:ea typeface="Carlito" pitchFamily="34" charset="-122"/>
                <a:cs typeface="Carlito" pitchFamily="34" charset="-120"/>
              </a:rPr>
              <a:t>Test ALL</a:t>
            </a:r>
            <a:endParaRPr lang="en-US" sz="844" dirty="0"/>
          </a:p>
        </p:txBody>
      </p:sp>
      <p:sp>
        <p:nvSpPr>
          <p:cNvPr id="17" name="Text 15"/>
          <p:cNvSpPr/>
          <p:nvPr/>
        </p:nvSpPr>
        <p:spPr>
          <a:xfrm>
            <a:off x="5539197" y="1641500"/>
            <a:ext cx="1391580" cy="125350"/>
          </a:xfrm>
          <a:prstGeom prst="rect">
            <a:avLst/>
          </a:prstGeom>
          <a:noFill/>
          <a:ln/>
        </p:spPr>
        <p:txBody>
          <a:bodyPr wrap="none" lIns="0" tIns="0" rIns="0" bIns="0" rtlCol="0" anchor="t"/>
          <a:lstStyle/>
          <a:p>
            <a:pPr marL="0" indent="0" algn="l">
              <a:lnSpc>
                <a:spcPts val="987"/>
              </a:lnSpc>
              <a:buNone/>
            </a:pPr>
            <a:r>
              <a:rPr lang="en-US" sz="800" dirty="0">
                <a:solidFill>
                  <a:srgbClr val="334155"/>
                </a:solidFill>
                <a:latin typeface="Carlito" pitchFamily="34" charset="0"/>
                <a:ea typeface="Carlito" pitchFamily="34" charset="-122"/>
                <a:cs typeface="Carlito" pitchFamily="34" charset="-120"/>
              </a:rPr>
              <a:t>Run full suite.</a:t>
            </a:r>
            <a:endParaRPr lang="en-US" sz="800" dirty="0"/>
          </a:p>
        </p:txBody>
      </p:sp>
      <p:sp>
        <p:nvSpPr>
          <p:cNvPr id="18" name="Text 16"/>
          <p:cNvSpPr/>
          <p:nvPr/>
        </p:nvSpPr>
        <p:spPr>
          <a:xfrm>
            <a:off x="7112943" y="1345034"/>
            <a:ext cx="1570286" cy="525400"/>
          </a:xfrm>
          <a:prstGeom prst="roundRect">
            <a:avLst>
              <a:gd name="adj" fmla="val 14503"/>
            </a:avLst>
          </a:prstGeom>
          <a:solidFill>
            <a:srgbClr val="E2E8F0"/>
          </a:solidFill>
          <a:ln w="7144">
            <a:solidFill>
              <a:srgbClr val="CBD5E1"/>
            </a:solidFill>
            <a:prstDash val="solid"/>
          </a:ln>
        </p:spPr>
        <p:txBody>
          <a:bodyPr wrap="square" rtlCol="0" anchor="ctr"/>
          <a:lstStyle/>
          <a:p>
            <a:pPr marL="0" indent="0">
              <a:buNone/>
            </a:pPr>
            <a:endParaRPr lang="en-US" dirty="0"/>
          </a:p>
        </p:txBody>
      </p:sp>
      <p:sp>
        <p:nvSpPr>
          <p:cNvPr id="19" name="Text 17"/>
          <p:cNvSpPr/>
          <p:nvPr/>
        </p:nvSpPr>
        <p:spPr>
          <a:xfrm>
            <a:off x="7202239" y="1448619"/>
            <a:ext cx="1391692" cy="162020"/>
          </a:xfrm>
          <a:prstGeom prst="rect">
            <a:avLst/>
          </a:prstGeom>
          <a:noFill/>
          <a:ln/>
        </p:spPr>
        <p:txBody>
          <a:bodyPr wrap="none" lIns="0" tIns="0" rIns="0" bIns="0" rtlCol="0" anchor="t"/>
          <a:lstStyle/>
          <a:p>
            <a:pPr marL="0" indent="0" algn="l">
              <a:lnSpc>
                <a:spcPts val="1181"/>
              </a:lnSpc>
              <a:buNone/>
            </a:pPr>
            <a:r>
              <a:rPr lang="en-US" sz="844" b="1" dirty="0">
                <a:solidFill>
                  <a:srgbClr val="334155"/>
                </a:solidFill>
                <a:latin typeface="Carlito" pitchFamily="34" charset="0"/>
                <a:ea typeface="Carlito" pitchFamily="34" charset="-122"/>
                <a:cs typeface="Carlito" pitchFamily="34" charset="-120"/>
              </a:rPr>
              <a:t>Publish</a:t>
            </a:r>
            <a:endParaRPr lang="en-US" sz="844" dirty="0"/>
          </a:p>
        </p:txBody>
      </p:sp>
      <p:sp>
        <p:nvSpPr>
          <p:cNvPr id="20" name="Text 18"/>
          <p:cNvSpPr/>
          <p:nvPr/>
        </p:nvSpPr>
        <p:spPr>
          <a:xfrm>
            <a:off x="7202239" y="1641500"/>
            <a:ext cx="1391692" cy="125350"/>
          </a:xfrm>
          <a:prstGeom prst="rect">
            <a:avLst/>
          </a:prstGeom>
          <a:noFill/>
          <a:ln/>
        </p:spPr>
        <p:txBody>
          <a:bodyPr wrap="none" lIns="0" tIns="0" rIns="0" bIns="0" rtlCol="0" anchor="t"/>
          <a:lstStyle/>
          <a:p>
            <a:pPr marL="0" indent="0" algn="l">
              <a:lnSpc>
                <a:spcPts val="987"/>
              </a:lnSpc>
              <a:buNone/>
            </a:pPr>
            <a:r>
              <a:rPr lang="en-US" sz="800" dirty="0">
                <a:solidFill>
                  <a:srgbClr val="334155"/>
                </a:solidFill>
                <a:latin typeface="Carlito" pitchFamily="34" charset="0"/>
                <a:ea typeface="Carlito" pitchFamily="34" charset="-122"/>
                <a:cs typeface="Carlito" pitchFamily="34" charset="-120"/>
              </a:rPr>
              <a:t>Push artifacts.</a:t>
            </a:r>
            <a:endParaRPr lang="en-US" sz="800" dirty="0"/>
          </a:p>
        </p:txBody>
      </p:sp>
      <p:sp>
        <p:nvSpPr>
          <p:cNvPr id="21" name="Text 19"/>
          <p:cNvSpPr/>
          <p:nvPr/>
        </p:nvSpPr>
        <p:spPr>
          <a:xfrm>
            <a:off x="457200" y="1959732"/>
            <a:ext cx="1577318" cy="172749"/>
          </a:xfrm>
          <a:prstGeom prst="rect">
            <a:avLst/>
          </a:prstGeom>
          <a:noFill/>
          <a:ln/>
        </p:spPr>
        <p:txBody>
          <a:bodyPr wrap="none" lIns="0" tIns="0" rIns="0" bIns="0" rtlCol="0" anchor="t"/>
          <a:lstStyle/>
          <a:p>
            <a:pPr marL="0" indent="0" algn="l">
              <a:buNone/>
            </a:pPr>
            <a:r>
              <a:rPr lang="en-US" sz="900" b="1" dirty="0">
                <a:solidFill>
                  <a:srgbClr val="F97316"/>
                </a:solidFill>
                <a:latin typeface="Segoe UI Symbol" pitchFamily="34" charset="0"/>
                <a:ea typeface="Segoe UI Symbol" pitchFamily="34" charset="-122"/>
                <a:cs typeface="Segoe UI Symbol" pitchFamily="34" charset="-120"/>
              </a:rPr>
              <a:t>↓</a:t>
            </a:r>
            <a:endParaRPr lang="en-US" sz="900" dirty="0"/>
          </a:p>
        </p:txBody>
      </p:sp>
      <p:sp>
        <p:nvSpPr>
          <p:cNvPr id="22" name="Text 20"/>
          <p:cNvSpPr/>
          <p:nvPr/>
        </p:nvSpPr>
        <p:spPr>
          <a:xfrm>
            <a:off x="2120243" y="1959732"/>
            <a:ext cx="1577318" cy="172749"/>
          </a:xfrm>
          <a:prstGeom prst="rect">
            <a:avLst/>
          </a:prstGeom>
          <a:noFill/>
          <a:ln/>
        </p:spPr>
        <p:txBody>
          <a:bodyPr wrap="none" lIns="0" tIns="0" rIns="0" bIns="0" rtlCol="0" anchor="t"/>
          <a:lstStyle/>
          <a:p>
            <a:pPr marL="0" indent="0" algn="l">
              <a:buNone/>
            </a:pPr>
            <a:r>
              <a:rPr lang="en-US" sz="900" b="1" dirty="0">
                <a:solidFill>
                  <a:srgbClr val="F97316"/>
                </a:solidFill>
                <a:latin typeface="Segoe UI Symbol" pitchFamily="34" charset="0"/>
                <a:ea typeface="Segoe UI Symbol" pitchFamily="34" charset="-122"/>
                <a:cs typeface="Segoe UI Symbol" pitchFamily="34" charset="-120"/>
              </a:rPr>
              <a:t>↓</a:t>
            </a:r>
            <a:endParaRPr lang="en-US" sz="900" dirty="0"/>
          </a:p>
        </p:txBody>
      </p:sp>
      <p:sp>
        <p:nvSpPr>
          <p:cNvPr id="23" name="Text 21"/>
          <p:cNvSpPr/>
          <p:nvPr/>
        </p:nvSpPr>
        <p:spPr>
          <a:xfrm>
            <a:off x="3783285" y="1959732"/>
            <a:ext cx="1577318" cy="172749"/>
          </a:xfrm>
          <a:prstGeom prst="rect">
            <a:avLst/>
          </a:prstGeom>
          <a:noFill/>
          <a:ln/>
        </p:spPr>
        <p:txBody>
          <a:bodyPr wrap="none" lIns="0" tIns="0" rIns="0" bIns="0" rtlCol="0" anchor="t"/>
          <a:lstStyle/>
          <a:p>
            <a:pPr marL="0" indent="0" algn="l">
              <a:buNone/>
            </a:pPr>
            <a:r>
              <a:rPr lang="en-US" sz="900" b="1" dirty="0">
                <a:solidFill>
                  <a:srgbClr val="F97316"/>
                </a:solidFill>
                <a:latin typeface="Segoe UI Symbol" pitchFamily="34" charset="0"/>
                <a:ea typeface="Segoe UI Symbol" pitchFamily="34" charset="-122"/>
                <a:cs typeface="Segoe UI Symbol" pitchFamily="34" charset="-120"/>
              </a:rPr>
              <a:t>↓</a:t>
            </a:r>
            <a:endParaRPr lang="en-US" sz="900" dirty="0"/>
          </a:p>
        </p:txBody>
      </p:sp>
      <p:sp>
        <p:nvSpPr>
          <p:cNvPr id="24" name="Text 22"/>
          <p:cNvSpPr/>
          <p:nvPr/>
        </p:nvSpPr>
        <p:spPr>
          <a:xfrm>
            <a:off x="5446328" y="1959732"/>
            <a:ext cx="1577318" cy="172749"/>
          </a:xfrm>
          <a:prstGeom prst="rect">
            <a:avLst/>
          </a:prstGeom>
          <a:noFill/>
          <a:ln/>
        </p:spPr>
        <p:txBody>
          <a:bodyPr wrap="none" lIns="0" tIns="0" rIns="0" bIns="0" rtlCol="0" anchor="t"/>
          <a:lstStyle/>
          <a:p>
            <a:pPr marL="0" indent="0" algn="l">
              <a:buNone/>
            </a:pPr>
            <a:r>
              <a:rPr lang="en-US" sz="900" b="1" dirty="0">
                <a:solidFill>
                  <a:srgbClr val="F97316"/>
                </a:solidFill>
                <a:latin typeface="Segoe UI Symbol" pitchFamily="34" charset="0"/>
                <a:ea typeface="Segoe UI Symbol" pitchFamily="34" charset="-122"/>
                <a:cs typeface="Segoe UI Symbol" pitchFamily="34" charset="-120"/>
              </a:rPr>
              <a:t>↓</a:t>
            </a:r>
            <a:endParaRPr lang="en-US" sz="900" dirty="0"/>
          </a:p>
        </p:txBody>
      </p:sp>
      <p:sp>
        <p:nvSpPr>
          <p:cNvPr id="25" name="Text 23"/>
          <p:cNvSpPr/>
          <p:nvPr/>
        </p:nvSpPr>
        <p:spPr>
          <a:xfrm>
            <a:off x="7109371" y="1959732"/>
            <a:ext cx="1577429" cy="159953"/>
          </a:xfrm>
          <a:prstGeom prst="rect">
            <a:avLst/>
          </a:prstGeom>
          <a:noFill/>
          <a:ln/>
        </p:spPr>
        <p:txBody>
          <a:bodyPr wrap="none" lIns="0" tIns="0" rIns="0" bIns="0" rtlCol="0" anchor="ctr"/>
          <a:lstStyle/>
          <a:p>
            <a:pPr marL="0" indent="0" algn="ctr">
              <a:buNone/>
            </a:pPr>
            <a:r>
              <a:rPr lang="en-US" sz="900" b="1" dirty="0">
                <a:solidFill>
                  <a:srgbClr val="F97316"/>
                </a:solidFill>
                <a:latin typeface="Segoe UI Symbol" pitchFamily="34" charset="0"/>
                <a:ea typeface="Segoe UI Symbol" pitchFamily="34" charset="-122"/>
                <a:cs typeface="Segoe UI Symbol" pitchFamily="34" charset="-120"/>
              </a:rPr>
              <a:t>↓</a:t>
            </a:r>
            <a:endParaRPr lang="en-US" sz="900" dirty="0"/>
          </a:p>
        </p:txBody>
      </p:sp>
      <p:sp>
        <p:nvSpPr>
          <p:cNvPr id="26" name="Text 24"/>
          <p:cNvSpPr/>
          <p:nvPr/>
        </p:nvSpPr>
        <p:spPr>
          <a:xfrm>
            <a:off x="434340" y="2182674"/>
            <a:ext cx="1560195" cy="271281"/>
          </a:xfrm>
          <a:prstGeom prst="roundRect">
            <a:avLst>
              <a:gd name="adj" fmla="val 21067"/>
            </a:avLst>
          </a:prstGeom>
          <a:solidFill>
            <a:srgbClr val="F97316"/>
          </a:solidFill>
          <a:ln/>
        </p:spPr>
        <p:txBody>
          <a:bodyPr wrap="square" rtlCol="0" anchor="ctr"/>
          <a:lstStyle/>
          <a:p>
            <a:pPr marL="0" indent="0">
              <a:buNone/>
            </a:pPr>
            <a:endParaRPr lang="en-US" dirty="0"/>
          </a:p>
        </p:txBody>
      </p:sp>
      <p:sp>
        <p:nvSpPr>
          <p:cNvPr id="27" name="Text 25"/>
          <p:cNvSpPr/>
          <p:nvPr/>
        </p:nvSpPr>
        <p:spPr>
          <a:xfrm>
            <a:off x="457200" y="2195475"/>
            <a:ext cx="1514475" cy="245678"/>
          </a:xfrm>
          <a:prstGeom prst="rect">
            <a:avLst/>
          </a:prstGeom>
          <a:noFill/>
          <a:ln/>
        </p:spPr>
        <p:txBody>
          <a:bodyPr wrap="none" lIns="0" tIns="0" rIns="0" bIns="0" rtlCol="0" anchor="ctr"/>
          <a:lstStyle/>
          <a:p>
            <a:pPr marL="0" indent="0" algn="ctr">
              <a:lnSpc>
                <a:spcPts val="1260"/>
              </a:lnSpc>
              <a:buNone/>
            </a:pPr>
            <a:r>
              <a:rPr lang="en-US" sz="900" b="1" kern="0" spc="68" dirty="0">
                <a:solidFill>
                  <a:srgbClr val="FFFFFF"/>
                </a:solidFill>
                <a:latin typeface="Courier New" pitchFamily="34" charset="0"/>
                <a:ea typeface="Courier New" pitchFamily="34" charset="-122"/>
                <a:cs typeface="Courier New" pitchFamily="34" charset="-120"/>
              </a:rPr>
              <a:t>AI-ENHANCED PIPELINE</a:t>
            </a:r>
            <a:endParaRPr lang="en-US" sz="900" dirty="0"/>
          </a:p>
        </p:txBody>
      </p:sp>
      <p:sp>
        <p:nvSpPr>
          <p:cNvPr id="28" name="Text 26"/>
          <p:cNvSpPr/>
          <p:nvPr/>
        </p:nvSpPr>
        <p:spPr>
          <a:xfrm>
            <a:off x="464344" y="2505447"/>
            <a:ext cx="1563030" cy="699641"/>
          </a:xfrm>
          <a:prstGeom prst="roundRect">
            <a:avLst>
              <a:gd name="adj" fmla="val 10891"/>
            </a:avLst>
          </a:prstGeom>
          <a:solidFill>
            <a:srgbClr val="FFF7ED"/>
          </a:solidFill>
          <a:ln w="14288">
            <a:solidFill>
              <a:srgbClr val="F97316"/>
            </a:solidFill>
            <a:prstDash val="solid"/>
          </a:ln>
        </p:spPr>
        <p:txBody>
          <a:bodyPr wrap="square" rtlCol="0" anchor="ctr"/>
          <a:lstStyle/>
          <a:p>
            <a:pPr marL="0" indent="0">
              <a:buNone/>
            </a:pPr>
            <a:endParaRPr lang="en-US" dirty="0"/>
          </a:p>
        </p:txBody>
      </p:sp>
      <p:sp>
        <p:nvSpPr>
          <p:cNvPr id="29" name="Text 27"/>
          <p:cNvSpPr/>
          <p:nvPr/>
        </p:nvSpPr>
        <p:spPr>
          <a:xfrm>
            <a:off x="557213" y="2612603"/>
            <a:ext cx="1377293" cy="162020"/>
          </a:xfrm>
          <a:prstGeom prst="rect">
            <a:avLst/>
          </a:prstGeom>
          <a:noFill/>
          <a:ln/>
        </p:spPr>
        <p:txBody>
          <a:bodyPr wrap="none" lIns="0" tIns="0" rIns="0" bIns="0" rtlCol="0" anchor="t"/>
          <a:lstStyle/>
          <a:p>
            <a:pPr marL="0" indent="0" algn="l">
              <a:lnSpc>
                <a:spcPts val="1181"/>
              </a:lnSpc>
              <a:buNone/>
            </a:pPr>
            <a:r>
              <a:rPr lang="en-US" sz="844" b="1" dirty="0">
                <a:solidFill>
                  <a:srgbClr val="C2410C"/>
                </a:solidFill>
                <a:latin typeface="Carlito" pitchFamily="34" charset="0"/>
                <a:ea typeface="Carlito" pitchFamily="34" charset="-122"/>
                <a:cs typeface="Carlito" pitchFamily="34" charset="-120"/>
              </a:rPr>
              <a:t>Source Trigger</a:t>
            </a:r>
            <a:endParaRPr lang="en-US" sz="844" dirty="0"/>
          </a:p>
        </p:txBody>
      </p:sp>
      <p:sp>
        <p:nvSpPr>
          <p:cNvPr id="30" name="Text 28"/>
          <p:cNvSpPr/>
          <p:nvPr/>
        </p:nvSpPr>
        <p:spPr>
          <a:xfrm>
            <a:off x="557213" y="2805485"/>
            <a:ext cx="1377293" cy="148106"/>
          </a:xfrm>
          <a:prstGeom prst="rect">
            <a:avLst/>
          </a:prstGeom>
          <a:noFill/>
          <a:ln/>
        </p:spPr>
        <p:txBody>
          <a:bodyPr wrap="none" lIns="0" tIns="0" rIns="0" bIns="0" rtlCol="0" anchor="t"/>
          <a:lstStyle/>
          <a:p>
            <a:pPr marL="0" indent="0" algn="l">
              <a:lnSpc>
                <a:spcPts val="987"/>
              </a:lnSpc>
              <a:buNone/>
            </a:pPr>
            <a:r>
              <a:rPr lang="en-US" sz="800" dirty="0">
                <a:solidFill>
                  <a:srgbClr val="0F172A"/>
                </a:solidFill>
                <a:latin typeface="Carlito" pitchFamily="34" charset="0"/>
                <a:ea typeface="Carlito" pitchFamily="34" charset="-122"/>
                <a:cs typeface="Carlito" pitchFamily="34" charset="-120"/>
              </a:rPr>
              <a:t>Same as before.</a:t>
            </a:r>
            <a:endParaRPr lang="en-US" sz="800" dirty="0"/>
          </a:p>
        </p:txBody>
      </p:sp>
      <p:sp>
        <p:nvSpPr>
          <p:cNvPr id="31" name="Text 29"/>
          <p:cNvSpPr/>
          <p:nvPr/>
        </p:nvSpPr>
        <p:spPr>
          <a:xfrm>
            <a:off x="557213" y="2987985"/>
            <a:ext cx="1377293" cy="109947"/>
          </a:xfrm>
          <a:prstGeom prst="rect">
            <a:avLst/>
          </a:prstGeom>
          <a:noFill/>
          <a:ln/>
        </p:spPr>
        <p:txBody>
          <a:bodyPr wrap="none" lIns="0" tIns="0" rIns="0" bIns="0" rtlCol="0" anchor="t"/>
          <a:lstStyle/>
          <a:p>
            <a:pPr marL="0" indent="0" algn="l">
              <a:lnSpc>
                <a:spcPts val="866"/>
              </a:lnSpc>
              <a:buNone/>
            </a:pPr>
            <a:r>
              <a:rPr lang="en-US" sz="800" dirty="0">
                <a:solidFill>
                  <a:srgbClr val="64748B"/>
                </a:solidFill>
                <a:latin typeface="Carlito" pitchFamily="34" charset="0"/>
                <a:ea typeface="Carlito" pitchFamily="34" charset="-122"/>
                <a:cs typeface="Carlito" pitchFamily="34" charset="-120"/>
              </a:rPr>
              <a:t>— no AI needed</a:t>
            </a:r>
            <a:endParaRPr lang="en-US" sz="800" dirty="0"/>
          </a:p>
        </p:txBody>
      </p:sp>
      <p:sp>
        <p:nvSpPr>
          <p:cNvPr id="32" name="Text 30"/>
          <p:cNvSpPr/>
          <p:nvPr/>
        </p:nvSpPr>
        <p:spPr>
          <a:xfrm>
            <a:off x="2127386" y="2505447"/>
            <a:ext cx="1563030" cy="699641"/>
          </a:xfrm>
          <a:prstGeom prst="roundRect">
            <a:avLst>
              <a:gd name="adj" fmla="val 10891"/>
            </a:avLst>
          </a:prstGeom>
          <a:solidFill>
            <a:srgbClr val="FFF7ED"/>
          </a:solidFill>
          <a:ln w="14288">
            <a:solidFill>
              <a:srgbClr val="F97316"/>
            </a:solidFill>
            <a:prstDash val="solid"/>
          </a:ln>
        </p:spPr>
        <p:txBody>
          <a:bodyPr wrap="square" rtlCol="0" anchor="ctr"/>
          <a:lstStyle/>
          <a:p>
            <a:pPr marL="0" indent="0">
              <a:buNone/>
            </a:pPr>
            <a:endParaRPr lang="en-US" dirty="0"/>
          </a:p>
        </p:txBody>
      </p:sp>
      <p:sp>
        <p:nvSpPr>
          <p:cNvPr id="33" name="Text 31"/>
          <p:cNvSpPr/>
          <p:nvPr/>
        </p:nvSpPr>
        <p:spPr>
          <a:xfrm>
            <a:off x="3429301" y="2432842"/>
            <a:ext cx="207795" cy="155144"/>
          </a:xfrm>
          <a:prstGeom prst="roundRect">
            <a:avLst>
              <a:gd name="adj" fmla="val 6133318"/>
            </a:avLst>
          </a:prstGeom>
          <a:solidFill>
            <a:srgbClr val="F97316"/>
          </a:solidFill>
          <a:ln/>
        </p:spPr>
        <p:txBody>
          <a:bodyPr wrap="square" rtlCol="0" anchor="ctr"/>
          <a:lstStyle/>
          <a:p>
            <a:pPr marL="0" indent="0">
              <a:buNone/>
            </a:pPr>
            <a:endParaRPr lang="en-US" dirty="0"/>
          </a:p>
        </p:txBody>
      </p:sp>
      <p:sp>
        <p:nvSpPr>
          <p:cNvPr id="34" name="Text 32"/>
          <p:cNvSpPr/>
          <p:nvPr/>
        </p:nvSpPr>
        <p:spPr>
          <a:xfrm>
            <a:off x="3411699" y="2441153"/>
            <a:ext cx="185849" cy="138522"/>
          </a:xfrm>
          <a:prstGeom prst="rect">
            <a:avLst/>
          </a:prstGeom>
          <a:noFill/>
          <a:ln/>
        </p:spPr>
        <p:txBody>
          <a:bodyPr wrap="none" lIns="0" tIns="0" rIns="0" bIns="0" rtlCol="0" anchor="ctr"/>
          <a:lstStyle/>
          <a:p>
            <a:pPr marL="0" indent="0" algn="ctr">
              <a:lnSpc>
                <a:spcPts val="866"/>
              </a:lnSpc>
              <a:buNone/>
            </a:pPr>
            <a:r>
              <a:rPr lang="en-US" sz="800" b="1" kern="0" spc="28" dirty="0">
                <a:solidFill>
                  <a:srgbClr val="FFFFFF"/>
                </a:solidFill>
                <a:latin typeface="Carlito" pitchFamily="34" charset="0"/>
                <a:ea typeface="Carlito" pitchFamily="34" charset="-122"/>
                <a:cs typeface="Carlito" pitchFamily="34" charset="-120"/>
              </a:rPr>
              <a:t>AI</a:t>
            </a:r>
            <a:endParaRPr lang="en-US" sz="800" dirty="0"/>
          </a:p>
        </p:txBody>
      </p:sp>
      <p:sp>
        <p:nvSpPr>
          <p:cNvPr id="35" name="Text 33"/>
          <p:cNvSpPr/>
          <p:nvPr/>
        </p:nvSpPr>
        <p:spPr>
          <a:xfrm>
            <a:off x="2220255" y="2612603"/>
            <a:ext cx="1377293" cy="162020"/>
          </a:xfrm>
          <a:prstGeom prst="rect">
            <a:avLst/>
          </a:prstGeom>
          <a:noFill/>
          <a:ln/>
        </p:spPr>
        <p:txBody>
          <a:bodyPr wrap="none" lIns="0" tIns="0" rIns="0" bIns="0" rtlCol="0" anchor="t"/>
          <a:lstStyle/>
          <a:p>
            <a:pPr marL="0" indent="0" algn="l">
              <a:lnSpc>
                <a:spcPts val="1181"/>
              </a:lnSpc>
              <a:buNone/>
            </a:pPr>
            <a:r>
              <a:rPr lang="en-US" sz="844" b="1" dirty="0">
                <a:solidFill>
                  <a:srgbClr val="C2410C"/>
                </a:solidFill>
                <a:latin typeface="Carlito" pitchFamily="34" charset="0"/>
                <a:ea typeface="Carlito" pitchFamily="34" charset="-122"/>
                <a:cs typeface="Carlito" pitchFamily="34" charset="-120"/>
              </a:rPr>
              <a:t>Smart Resolve</a:t>
            </a:r>
            <a:endParaRPr lang="en-US" sz="844" dirty="0"/>
          </a:p>
        </p:txBody>
      </p:sp>
      <p:sp>
        <p:nvSpPr>
          <p:cNvPr id="36" name="Text 34"/>
          <p:cNvSpPr/>
          <p:nvPr/>
        </p:nvSpPr>
        <p:spPr>
          <a:xfrm>
            <a:off x="2220255" y="2805485"/>
            <a:ext cx="1459930" cy="292447"/>
          </a:xfrm>
          <a:prstGeom prst="rect">
            <a:avLst/>
          </a:prstGeom>
          <a:noFill/>
          <a:ln/>
        </p:spPr>
        <p:txBody>
          <a:bodyPr wrap="square" lIns="0" tIns="0" rIns="0" bIns="0" rtlCol="0" anchor="t"/>
          <a:lstStyle/>
          <a:p>
            <a:pPr marL="0" indent="0" algn="l">
              <a:lnSpc>
                <a:spcPts val="987"/>
              </a:lnSpc>
              <a:buNone/>
            </a:pPr>
            <a:r>
              <a:rPr lang="en-US" sz="800" dirty="0">
                <a:solidFill>
                  <a:srgbClr val="0F172A"/>
                </a:solidFill>
                <a:latin typeface="Carlito" pitchFamily="34" charset="0"/>
                <a:ea typeface="Carlito" pitchFamily="34" charset="-122"/>
                <a:cs typeface="Carlito" pitchFamily="34" charset="-120"/>
              </a:rPr>
              <a:t>AI change-impact analysis decides what to rebuild.</a:t>
            </a:r>
            <a:endParaRPr lang="en-US" sz="800" dirty="0"/>
          </a:p>
        </p:txBody>
      </p:sp>
      <p:sp>
        <p:nvSpPr>
          <p:cNvPr id="37" name="Text 35"/>
          <p:cNvSpPr/>
          <p:nvPr/>
        </p:nvSpPr>
        <p:spPr>
          <a:xfrm>
            <a:off x="3790429" y="2505447"/>
            <a:ext cx="1563030" cy="699641"/>
          </a:xfrm>
          <a:prstGeom prst="roundRect">
            <a:avLst>
              <a:gd name="adj" fmla="val 10891"/>
            </a:avLst>
          </a:prstGeom>
          <a:solidFill>
            <a:srgbClr val="FFF7ED"/>
          </a:solidFill>
          <a:ln w="14288">
            <a:solidFill>
              <a:srgbClr val="F97316"/>
            </a:solidFill>
            <a:prstDash val="solid"/>
          </a:ln>
        </p:spPr>
        <p:txBody>
          <a:bodyPr wrap="square" rtlCol="0" anchor="ctr"/>
          <a:lstStyle/>
          <a:p>
            <a:pPr marL="0" indent="0">
              <a:buNone/>
            </a:pPr>
            <a:endParaRPr lang="en-US" dirty="0"/>
          </a:p>
        </p:txBody>
      </p:sp>
      <p:sp>
        <p:nvSpPr>
          <p:cNvPr id="38" name="Text 36"/>
          <p:cNvSpPr/>
          <p:nvPr/>
        </p:nvSpPr>
        <p:spPr>
          <a:xfrm>
            <a:off x="5092344" y="2432842"/>
            <a:ext cx="207795" cy="155144"/>
          </a:xfrm>
          <a:prstGeom prst="roundRect">
            <a:avLst>
              <a:gd name="adj" fmla="val 6133318"/>
            </a:avLst>
          </a:prstGeom>
          <a:solidFill>
            <a:srgbClr val="F97316"/>
          </a:solidFill>
          <a:ln/>
        </p:spPr>
        <p:txBody>
          <a:bodyPr wrap="square" rtlCol="0" anchor="ctr"/>
          <a:lstStyle/>
          <a:p>
            <a:pPr marL="0" indent="0">
              <a:buNone/>
            </a:pPr>
            <a:endParaRPr lang="en-US" dirty="0"/>
          </a:p>
        </p:txBody>
      </p:sp>
      <p:sp>
        <p:nvSpPr>
          <p:cNvPr id="39" name="Text 37"/>
          <p:cNvSpPr/>
          <p:nvPr/>
        </p:nvSpPr>
        <p:spPr>
          <a:xfrm>
            <a:off x="5074741" y="2441153"/>
            <a:ext cx="185849" cy="138522"/>
          </a:xfrm>
          <a:prstGeom prst="rect">
            <a:avLst/>
          </a:prstGeom>
          <a:noFill/>
          <a:ln/>
        </p:spPr>
        <p:txBody>
          <a:bodyPr wrap="none" lIns="0" tIns="0" rIns="0" bIns="0" rtlCol="0" anchor="ctr"/>
          <a:lstStyle/>
          <a:p>
            <a:pPr marL="0" indent="0" algn="ctr">
              <a:lnSpc>
                <a:spcPts val="866"/>
              </a:lnSpc>
              <a:buNone/>
            </a:pPr>
            <a:r>
              <a:rPr lang="en-US" sz="800" b="1" kern="0" spc="28" dirty="0">
                <a:solidFill>
                  <a:srgbClr val="FFFFFF"/>
                </a:solidFill>
                <a:latin typeface="Carlito" pitchFamily="34" charset="0"/>
                <a:ea typeface="Carlito" pitchFamily="34" charset="-122"/>
                <a:cs typeface="Carlito" pitchFamily="34" charset="-120"/>
              </a:rPr>
              <a:t>AI</a:t>
            </a:r>
            <a:endParaRPr lang="en-US" sz="800" dirty="0"/>
          </a:p>
        </p:txBody>
      </p:sp>
      <p:sp>
        <p:nvSpPr>
          <p:cNvPr id="40" name="Text 38"/>
          <p:cNvSpPr/>
          <p:nvPr/>
        </p:nvSpPr>
        <p:spPr>
          <a:xfrm>
            <a:off x="3883298" y="2612603"/>
            <a:ext cx="1377293" cy="162020"/>
          </a:xfrm>
          <a:prstGeom prst="rect">
            <a:avLst/>
          </a:prstGeom>
          <a:noFill/>
          <a:ln/>
        </p:spPr>
        <p:txBody>
          <a:bodyPr wrap="none" lIns="0" tIns="0" rIns="0" bIns="0" rtlCol="0" anchor="t"/>
          <a:lstStyle/>
          <a:p>
            <a:pPr marL="0" indent="0" algn="l">
              <a:lnSpc>
                <a:spcPts val="1181"/>
              </a:lnSpc>
              <a:buNone/>
            </a:pPr>
            <a:r>
              <a:rPr lang="en-US" sz="844" b="1" dirty="0">
                <a:solidFill>
                  <a:srgbClr val="C2410C"/>
                </a:solidFill>
                <a:latin typeface="Carlito" pitchFamily="34" charset="0"/>
                <a:ea typeface="Carlito" pitchFamily="34" charset="-122"/>
                <a:cs typeface="Carlito" pitchFamily="34" charset="-120"/>
              </a:rPr>
              <a:t>Smart Build</a:t>
            </a:r>
            <a:endParaRPr lang="en-US" sz="844" dirty="0"/>
          </a:p>
        </p:txBody>
      </p:sp>
      <p:sp>
        <p:nvSpPr>
          <p:cNvPr id="41" name="Text 39"/>
          <p:cNvSpPr/>
          <p:nvPr/>
        </p:nvSpPr>
        <p:spPr>
          <a:xfrm>
            <a:off x="3883298" y="2805485"/>
            <a:ext cx="1459930" cy="292447"/>
          </a:xfrm>
          <a:prstGeom prst="rect">
            <a:avLst/>
          </a:prstGeom>
          <a:noFill/>
          <a:ln/>
        </p:spPr>
        <p:txBody>
          <a:bodyPr wrap="square" lIns="0" tIns="0" rIns="0" bIns="0" rtlCol="0" anchor="t"/>
          <a:lstStyle/>
          <a:p>
            <a:pPr marL="0" indent="0" algn="l">
              <a:lnSpc>
                <a:spcPts val="987"/>
              </a:lnSpc>
              <a:buNone/>
            </a:pPr>
            <a:r>
              <a:rPr lang="en-US" sz="800" dirty="0">
                <a:solidFill>
                  <a:srgbClr val="0F172A"/>
                </a:solidFill>
                <a:latin typeface="Carlito" pitchFamily="34" charset="0"/>
                <a:ea typeface="Carlito" pitchFamily="34" charset="-122"/>
                <a:cs typeface="Carlito" pitchFamily="34" charset="-120"/>
              </a:rPr>
              <a:t>Cache is selectively invalidated based on dependency graph.</a:t>
            </a:r>
            <a:endParaRPr lang="en-US" sz="800" dirty="0"/>
          </a:p>
        </p:txBody>
      </p:sp>
      <p:sp>
        <p:nvSpPr>
          <p:cNvPr id="42" name="Text 40"/>
          <p:cNvSpPr/>
          <p:nvPr/>
        </p:nvSpPr>
        <p:spPr>
          <a:xfrm>
            <a:off x="5453472" y="2505447"/>
            <a:ext cx="1563030" cy="699641"/>
          </a:xfrm>
          <a:prstGeom prst="roundRect">
            <a:avLst>
              <a:gd name="adj" fmla="val 10891"/>
            </a:avLst>
          </a:prstGeom>
          <a:solidFill>
            <a:srgbClr val="FFF7ED"/>
          </a:solidFill>
          <a:ln w="14288">
            <a:solidFill>
              <a:srgbClr val="F97316"/>
            </a:solidFill>
            <a:prstDash val="solid"/>
          </a:ln>
        </p:spPr>
        <p:txBody>
          <a:bodyPr wrap="square" rtlCol="0" anchor="ctr"/>
          <a:lstStyle/>
          <a:p>
            <a:pPr marL="0" indent="0">
              <a:buNone/>
            </a:pPr>
            <a:endParaRPr lang="en-US" dirty="0"/>
          </a:p>
        </p:txBody>
      </p:sp>
      <p:sp>
        <p:nvSpPr>
          <p:cNvPr id="43" name="Text 41"/>
          <p:cNvSpPr/>
          <p:nvPr/>
        </p:nvSpPr>
        <p:spPr>
          <a:xfrm>
            <a:off x="6755386" y="2432842"/>
            <a:ext cx="207795" cy="155144"/>
          </a:xfrm>
          <a:prstGeom prst="roundRect">
            <a:avLst>
              <a:gd name="adj" fmla="val 6133318"/>
            </a:avLst>
          </a:prstGeom>
          <a:solidFill>
            <a:srgbClr val="F97316"/>
          </a:solidFill>
          <a:ln/>
        </p:spPr>
        <p:txBody>
          <a:bodyPr wrap="square" rtlCol="0" anchor="ctr"/>
          <a:lstStyle/>
          <a:p>
            <a:pPr marL="0" indent="0">
              <a:buNone/>
            </a:pPr>
            <a:endParaRPr lang="en-US" dirty="0"/>
          </a:p>
        </p:txBody>
      </p:sp>
      <p:sp>
        <p:nvSpPr>
          <p:cNvPr id="44" name="Text 42"/>
          <p:cNvSpPr/>
          <p:nvPr/>
        </p:nvSpPr>
        <p:spPr>
          <a:xfrm>
            <a:off x="6737784" y="2441153"/>
            <a:ext cx="185849" cy="138522"/>
          </a:xfrm>
          <a:prstGeom prst="rect">
            <a:avLst/>
          </a:prstGeom>
          <a:noFill/>
          <a:ln/>
        </p:spPr>
        <p:txBody>
          <a:bodyPr wrap="none" lIns="0" tIns="0" rIns="0" bIns="0" rtlCol="0" anchor="ctr"/>
          <a:lstStyle/>
          <a:p>
            <a:pPr marL="0" indent="0" algn="ctr">
              <a:lnSpc>
                <a:spcPts val="866"/>
              </a:lnSpc>
              <a:buNone/>
            </a:pPr>
            <a:r>
              <a:rPr lang="en-US" sz="800" b="1" kern="0" spc="28" dirty="0">
                <a:solidFill>
                  <a:srgbClr val="FFFFFF"/>
                </a:solidFill>
                <a:latin typeface="Carlito" pitchFamily="34" charset="0"/>
                <a:ea typeface="Carlito" pitchFamily="34" charset="-122"/>
                <a:cs typeface="Carlito" pitchFamily="34" charset="-120"/>
              </a:rPr>
              <a:t>AI</a:t>
            </a:r>
            <a:endParaRPr lang="en-US" sz="800" dirty="0"/>
          </a:p>
        </p:txBody>
      </p:sp>
      <p:sp>
        <p:nvSpPr>
          <p:cNvPr id="45" name="Text 43"/>
          <p:cNvSpPr/>
          <p:nvPr/>
        </p:nvSpPr>
        <p:spPr>
          <a:xfrm>
            <a:off x="5546341" y="2612603"/>
            <a:ext cx="1377293" cy="162020"/>
          </a:xfrm>
          <a:prstGeom prst="rect">
            <a:avLst/>
          </a:prstGeom>
          <a:noFill/>
          <a:ln/>
        </p:spPr>
        <p:txBody>
          <a:bodyPr wrap="none" lIns="0" tIns="0" rIns="0" bIns="0" rtlCol="0" anchor="t"/>
          <a:lstStyle/>
          <a:p>
            <a:pPr marL="0" indent="0" algn="l">
              <a:lnSpc>
                <a:spcPts val="1181"/>
              </a:lnSpc>
              <a:buNone/>
            </a:pPr>
            <a:r>
              <a:rPr lang="en-US" sz="844" b="1" dirty="0">
                <a:solidFill>
                  <a:srgbClr val="C2410C"/>
                </a:solidFill>
                <a:latin typeface="Carlito" pitchFamily="34" charset="0"/>
                <a:ea typeface="Carlito" pitchFamily="34" charset="-122"/>
                <a:cs typeface="Carlito" pitchFamily="34" charset="-120"/>
              </a:rPr>
              <a:t>Dynamic Test Selection</a:t>
            </a:r>
            <a:endParaRPr lang="en-US" sz="844" dirty="0"/>
          </a:p>
        </p:txBody>
      </p:sp>
      <p:sp>
        <p:nvSpPr>
          <p:cNvPr id="46" name="Text 44"/>
          <p:cNvSpPr/>
          <p:nvPr/>
        </p:nvSpPr>
        <p:spPr>
          <a:xfrm>
            <a:off x="5546341" y="2805485"/>
            <a:ext cx="1459930" cy="292447"/>
          </a:xfrm>
          <a:prstGeom prst="rect">
            <a:avLst/>
          </a:prstGeom>
          <a:noFill/>
          <a:ln/>
        </p:spPr>
        <p:txBody>
          <a:bodyPr wrap="square" lIns="0" tIns="0" rIns="0" bIns="0" rtlCol="0" anchor="t"/>
          <a:lstStyle/>
          <a:p>
            <a:pPr marL="0" indent="0" algn="l">
              <a:lnSpc>
                <a:spcPts val="987"/>
              </a:lnSpc>
              <a:buNone/>
            </a:pPr>
            <a:r>
              <a:rPr lang="en-US" sz="800" dirty="0">
                <a:solidFill>
                  <a:srgbClr val="0F172A"/>
                </a:solidFill>
                <a:latin typeface="Carlito" pitchFamily="34" charset="0"/>
                <a:ea typeface="Carlito" pitchFamily="34" charset="-122"/>
                <a:cs typeface="Carlito" pitchFamily="34" charset="-120"/>
              </a:rPr>
              <a:t>AI picks the test subset that maps to the changed code.</a:t>
            </a:r>
            <a:endParaRPr lang="en-US" sz="800" dirty="0"/>
          </a:p>
        </p:txBody>
      </p:sp>
      <p:sp>
        <p:nvSpPr>
          <p:cNvPr id="47" name="Text 45"/>
          <p:cNvSpPr/>
          <p:nvPr/>
        </p:nvSpPr>
        <p:spPr>
          <a:xfrm>
            <a:off x="7116514" y="2505447"/>
            <a:ext cx="1563142" cy="699641"/>
          </a:xfrm>
          <a:prstGeom prst="roundRect">
            <a:avLst>
              <a:gd name="adj" fmla="val 10891"/>
            </a:avLst>
          </a:prstGeom>
          <a:solidFill>
            <a:srgbClr val="FFF7ED"/>
          </a:solidFill>
          <a:ln w="14288">
            <a:solidFill>
              <a:srgbClr val="F97316"/>
            </a:solidFill>
            <a:prstDash val="solid"/>
          </a:ln>
        </p:spPr>
        <p:txBody>
          <a:bodyPr wrap="square" rtlCol="0" anchor="ctr"/>
          <a:lstStyle/>
          <a:p>
            <a:pPr marL="0" indent="0">
              <a:buNone/>
            </a:pPr>
            <a:endParaRPr lang="en-US" dirty="0"/>
          </a:p>
        </p:txBody>
      </p:sp>
      <p:sp>
        <p:nvSpPr>
          <p:cNvPr id="48" name="Text 46"/>
          <p:cNvSpPr/>
          <p:nvPr/>
        </p:nvSpPr>
        <p:spPr>
          <a:xfrm>
            <a:off x="8418541" y="2432842"/>
            <a:ext cx="207795" cy="155144"/>
          </a:xfrm>
          <a:prstGeom prst="roundRect">
            <a:avLst>
              <a:gd name="adj" fmla="val 6133318"/>
            </a:avLst>
          </a:prstGeom>
          <a:solidFill>
            <a:srgbClr val="F97316"/>
          </a:solidFill>
          <a:ln/>
        </p:spPr>
        <p:txBody>
          <a:bodyPr wrap="square" rtlCol="0" anchor="ctr"/>
          <a:lstStyle/>
          <a:p>
            <a:pPr marL="0" indent="0">
              <a:buNone/>
            </a:pPr>
            <a:endParaRPr lang="en-US" dirty="0"/>
          </a:p>
        </p:txBody>
      </p:sp>
      <p:sp>
        <p:nvSpPr>
          <p:cNvPr id="49" name="Text 47"/>
          <p:cNvSpPr/>
          <p:nvPr/>
        </p:nvSpPr>
        <p:spPr>
          <a:xfrm>
            <a:off x="8400938" y="2441153"/>
            <a:ext cx="185849" cy="138522"/>
          </a:xfrm>
          <a:prstGeom prst="rect">
            <a:avLst/>
          </a:prstGeom>
          <a:noFill/>
          <a:ln/>
        </p:spPr>
        <p:txBody>
          <a:bodyPr wrap="none" lIns="0" tIns="0" rIns="0" bIns="0" rtlCol="0" anchor="ctr"/>
          <a:lstStyle/>
          <a:p>
            <a:pPr marL="0" indent="0" algn="ctr">
              <a:lnSpc>
                <a:spcPts val="866"/>
              </a:lnSpc>
              <a:buNone/>
            </a:pPr>
            <a:r>
              <a:rPr lang="en-US" sz="800" b="1" kern="0" spc="28" dirty="0">
                <a:solidFill>
                  <a:srgbClr val="FFFFFF"/>
                </a:solidFill>
                <a:latin typeface="Carlito" pitchFamily="34" charset="0"/>
                <a:ea typeface="Carlito" pitchFamily="34" charset="-122"/>
                <a:cs typeface="Carlito" pitchFamily="34" charset="-120"/>
              </a:rPr>
              <a:t>AI</a:t>
            </a:r>
            <a:endParaRPr lang="en-US" sz="800" dirty="0"/>
          </a:p>
        </p:txBody>
      </p:sp>
      <p:sp>
        <p:nvSpPr>
          <p:cNvPr id="50" name="Text 48"/>
          <p:cNvSpPr/>
          <p:nvPr/>
        </p:nvSpPr>
        <p:spPr>
          <a:xfrm>
            <a:off x="7209383" y="2612603"/>
            <a:ext cx="1377404" cy="162020"/>
          </a:xfrm>
          <a:prstGeom prst="rect">
            <a:avLst/>
          </a:prstGeom>
          <a:noFill/>
          <a:ln/>
        </p:spPr>
        <p:txBody>
          <a:bodyPr wrap="none" lIns="0" tIns="0" rIns="0" bIns="0" rtlCol="0" anchor="t"/>
          <a:lstStyle/>
          <a:p>
            <a:pPr marL="0" indent="0" algn="l">
              <a:lnSpc>
                <a:spcPts val="1181"/>
              </a:lnSpc>
              <a:buNone/>
            </a:pPr>
            <a:r>
              <a:rPr lang="en-US" sz="844" b="1" dirty="0">
                <a:solidFill>
                  <a:srgbClr val="C2410C"/>
                </a:solidFill>
                <a:latin typeface="Carlito" pitchFamily="34" charset="0"/>
                <a:ea typeface="Carlito" pitchFamily="34" charset="-122"/>
                <a:cs typeface="Carlito" pitchFamily="34" charset="-120"/>
              </a:rPr>
              <a:t>Smart Publish + Summarise</a:t>
            </a:r>
            <a:endParaRPr lang="en-US" sz="844" dirty="0"/>
          </a:p>
        </p:txBody>
      </p:sp>
      <p:sp>
        <p:nvSpPr>
          <p:cNvPr id="51" name="Text 49"/>
          <p:cNvSpPr/>
          <p:nvPr/>
        </p:nvSpPr>
        <p:spPr>
          <a:xfrm>
            <a:off x="7209383" y="2805485"/>
            <a:ext cx="1460049" cy="292447"/>
          </a:xfrm>
          <a:prstGeom prst="rect">
            <a:avLst/>
          </a:prstGeom>
          <a:noFill/>
          <a:ln/>
        </p:spPr>
        <p:txBody>
          <a:bodyPr wrap="square" lIns="0" tIns="0" rIns="0" bIns="0" rtlCol="0" anchor="t"/>
          <a:lstStyle/>
          <a:p>
            <a:pPr marL="0" indent="0" algn="l">
              <a:lnSpc>
                <a:spcPts val="987"/>
              </a:lnSpc>
              <a:buNone/>
            </a:pPr>
            <a:r>
              <a:rPr lang="en-US" sz="800" dirty="0">
                <a:solidFill>
                  <a:srgbClr val="0F172A"/>
                </a:solidFill>
                <a:latin typeface="Carlito" pitchFamily="34" charset="0"/>
                <a:ea typeface="Carlito" pitchFamily="34" charset="-122"/>
                <a:cs typeface="Carlito" pitchFamily="34" charset="-120"/>
              </a:rPr>
              <a:t>On failure, LLM summarises the root cause in 2 sentences.</a:t>
            </a:r>
            <a:endParaRPr lang="en-US" sz="800" dirty="0"/>
          </a:p>
        </p:txBody>
      </p:sp>
      <p:sp>
        <p:nvSpPr>
          <p:cNvPr id="52" name="Text 50"/>
          <p:cNvSpPr/>
          <p:nvPr/>
        </p:nvSpPr>
        <p:spPr>
          <a:xfrm>
            <a:off x="457200" y="3297957"/>
            <a:ext cx="8229600" cy="418579"/>
          </a:xfrm>
          <a:prstGeom prst="roundRect">
            <a:avLst>
              <a:gd name="adj" fmla="val 18204"/>
            </a:avLst>
          </a:prstGeom>
          <a:solidFill>
            <a:srgbClr val="FFF7ED"/>
          </a:solidFill>
          <a:ln/>
        </p:spPr>
        <p:txBody>
          <a:bodyPr wrap="square" rtlCol="0" anchor="ctr"/>
          <a:lstStyle/>
          <a:p>
            <a:pPr marL="0" indent="0">
              <a:buNone/>
            </a:pPr>
            <a:endParaRPr lang="en-US" dirty="0"/>
          </a:p>
        </p:txBody>
      </p:sp>
      <p:sp>
        <p:nvSpPr>
          <p:cNvPr id="53" name="Shape 51"/>
          <p:cNvSpPr/>
          <p:nvPr/>
        </p:nvSpPr>
        <p:spPr>
          <a:xfrm>
            <a:off x="478631" y="3297957"/>
            <a:ext cx="0" cy="418579"/>
          </a:xfrm>
          <a:prstGeom prst="line">
            <a:avLst/>
          </a:prstGeom>
          <a:noFill/>
          <a:ln w="42863">
            <a:solidFill>
              <a:srgbClr val="F97316"/>
            </a:solidFill>
            <a:prstDash val="solid"/>
          </a:ln>
        </p:spPr>
      </p:sp>
      <p:sp>
        <p:nvSpPr>
          <p:cNvPr id="54" name="Text 52"/>
          <p:cNvSpPr/>
          <p:nvPr/>
        </p:nvSpPr>
        <p:spPr>
          <a:xfrm>
            <a:off x="657225" y="3412257"/>
            <a:ext cx="7872413" cy="189979"/>
          </a:xfrm>
          <a:prstGeom prst="rect">
            <a:avLst/>
          </a:prstGeom>
          <a:noFill/>
          <a:ln/>
        </p:spPr>
        <p:txBody>
          <a:bodyPr wrap="square" lIns="0" tIns="0" rIns="0" bIns="0" rtlCol="0" anchor="t"/>
          <a:lstStyle/>
          <a:p>
            <a:pPr marL="0" indent="0" algn="l">
              <a:lnSpc>
                <a:spcPts val="1496"/>
              </a:lnSpc>
              <a:buNone/>
            </a:pPr>
            <a:r>
              <a:rPr lang="en-US" sz="1069" b="1" dirty="0">
                <a:solidFill>
                  <a:srgbClr val="C2410C"/>
                </a:solidFill>
                <a:latin typeface="Segoe UI Symbol" pitchFamily="34" charset="0"/>
                <a:ea typeface="Segoe UI Symbol" pitchFamily="34" charset="-122"/>
                <a:cs typeface="Segoe UI Symbol" pitchFamily="34" charset="-120"/>
              </a:rPr>
              <a:t>➤</a:t>
            </a:r>
            <a:r>
              <a:rPr lang="en-US" sz="1069" b="1" dirty="0">
                <a:solidFill>
                  <a:srgbClr val="0F172A"/>
                </a:solidFill>
                <a:latin typeface="Carlito" pitchFamily="34" charset="0"/>
                <a:ea typeface="Carlito" pitchFamily="34" charset="-122"/>
                <a:cs typeface="Carlito" pitchFamily="34" charset="-120"/>
              </a:rPr>
              <a:t> Result: </a:t>
            </a:r>
            <a:r>
              <a:rPr lang="en-US" sz="1069" b="1" dirty="0">
                <a:solidFill>
                  <a:srgbClr val="C2410C"/>
                </a:solidFill>
                <a:latin typeface="Liberation Sans Narrow" pitchFamily="34" charset="0"/>
                <a:ea typeface="Liberation Sans Narrow" pitchFamily="34" charset="-122"/>
                <a:cs typeface="Liberation Sans Narrow" pitchFamily="34" charset="-120"/>
              </a:rPr>
              <a:t>30-70% faster builds</a:t>
            </a:r>
            <a:r>
              <a:rPr lang="en-US" sz="1069" b="1" dirty="0">
                <a:solidFill>
                  <a:srgbClr val="0F172A"/>
                </a:solidFill>
                <a:latin typeface="Carlito" pitchFamily="34" charset="0"/>
                <a:ea typeface="Carlito" pitchFamily="34" charset="-122"/>
                <a:cs typeface="Carlito" pitchFamily="34" charset="-120"/>
              </a:rPr>
              <a:t>, faster MTTR, fewer flaky-test false alarms.</a:t>
            </a:r>
            <a:endParaRPr lang="en-US" sz="1069"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008720"/>
            <a:ext cx="2124931" cy="305730"/>
          </a:xfrm>
          <a:prstGeom prst="roundRect">
            <a:avLst>
              <a:gd name="adj" fmla="val 3112379"/>
            </a:avLst>
          </a:prstGeom>
          <a:solidFill>
            <a:srgbClr val="FED7AA"/>
          </a:solidFill>
          <a:ln/>
        </p:spPr>
        <p:txBody>
          <a:bodyPr wrap="square" rtlCol="0" anchor="ctr"/>
          <a:lstStyle/>
          <a:p>
            <a:pPr marL="0" indent="0">
              <a:buNone/>
            </a:pPr>
            <a:endParaRPr lang="en-US" dirty="0"/>
          </a:p>
        </p:txBody>
      </p:sp>
      <p:sp>
        <p:nvSpPr>
          <p:cNvPr id="3" name="Text 1"/>
          <p:cNvSpPr/>
          <p:nvPr/>
        </p:nvSpPr>
        <p:spPr>
          <a:xfrm>
            <a:off x="457200" y="1008720"/>
            <a:ext cx="2124931" cy="305730"/>
          </a:xfrm>
          <a:prstGeom prst="rect">
            <a:avLst/>
          </a:prstGeom>
          <a:noFill/>
          <a:ln/>
        </p:spPr>
        <p:txBody>
          <a:bodyPr wrap="none" lIns="0" tIns="0" rIns="0" bIns="0" rtlCol="0" anchor="ctr"/>
          <a:lstStyle/>
          <a:p>
            <a:pPr marL="0" indent="0" algn="ctr">
              <a:lnSpc>
                <a:spcPts val="1733"/>
              </a:lnSpc>
              <a:buNone/>
            </a:pPr>
            <a:r>
              <a:rPr lang="en-US" sz="1238" b="1" kern="0" spc="28" dirty="0">
                <a:solidFill>
                  <a:srgbClr val="C2410C"/>
                </a:solidFill>
                <a:latin typeface="Liberation Sans Narrow" pitchFamily="34" charset="0"/>
                <a:ea typeface="Liberation Sans Narrow" pitchFamily="34" charset="-122"/>
                <a:cs typeface="Liberation Sans Narrow" pitchFamily="34" charset="-120"/>
              </a:rPr>
              <a:t>SECTION A • TOPIC 1 OF 4</a:t>
            </a:r>
            <a:endParaRPr lang="en-US" sz="1238" dirty="0"/>
          </a:p>
        </p:txBody>
      </p:sp>
      <p:sp>
        <p:nvSpPr>
          <p:cNvPr id="4" name="Text 2"/>
          <p:cNvSpPr/>
          <p:nvPr/>
        </p:nvSpPr>
        <p:spPr>
          <a:xfrm>
            <a:off x="457200" y="1443038"/>
            <a:ext cx="7528441" cy="998366"/>
          </a:xfrm>
          <a:prstGeom prst="rect">
            <a:avLst/>
          </a:prstGeom>
          <a:noFill/>
          <a:ln/>
        </p:spPr>
        <p:txBody>
          <a:bodyPr wrap="none" lIns="0" tIns="0" rIns="0" bIns="0" rtlCol="0" anchor="t">
            <a:normAutofit/>
          </a:bodyPr>
          <a:lstStyle/>
          <a:p>
            <a:pPr marL="0" indent="0" algn="l">
              <a:lnSpc>
                <a:spcPts val="7290"/>
              </a:lnSpc>
              <a:buNone/>
            </a:pPr>
            <a:r>
              <a:rPr lang="en-US" sz="8100" b="1" kern="0" spc="-225" dirty="0">
                <a:solidFill>
                  <a:srgbClr val="F97316"/>
                </a:solidFill>
                <a:latin typeface="Liberation Sans Narrow" pitchFamily="34" charset="0"/>
                <a:ea typeface="Liberation Sans Narrow" pitchFamily="34" charset="-122"/>
                <a:cs typeface="Liberation Sans Narrow" pitchFamily="34" charset="-120"/>
              </a:rPr>
              <a:t>1.1</a:t>
            </a:r>
            <a:endParaRPr lang="en-US" sz="8100" dirty="0"/>
          </a:p>
        </p:txBody>
      </p:sp>
      <p:sp>
        <p:nvSpPr>
          <p:cNvPr id="5" name="Text 3"/>
          <p:cNvSpPr/>
          <p:nvPr/>
        </p:nvSpPr>
        <p:spPr>
          <a:xfrm>
            <a:off x="457200" y="2468835"/>
            <a:ext cx="4705276" cy="972122"/>
          </a:xfrm>
          <a:prstGeom prst="rect">
            <a:avLst/>
          </a:prstGeom>
          <a:noFill/>
          <a:ln/>
        </p:spPr>
        <p:txBody>
          <a:bodyPr wrap="square" lIns="0" tIns="0" rIns="0" bIns="0" rtlCol="0" anchor="t"/>
          <a:lstStyle/>
          <a:p>
            <a:pPr marL="0" indent="0" algn="l">
              <a:lnSpc>
                <a:spcPts val="3544"/>
              </a:lnSpc>
              <a:buNone/>
            </a:pPr>
            <a:r>
              <a:rPr lang="en-US" sz="3375" b="1" kern="0" spc="-67" dirty="0">
                <a:solidFill>
                  <a:srgbClr val="0F172A"/>
                </a:solidFill>
                <a:latin typeface="Carlito" pitchFamily="34" charset="0"/>
                <a:ea typeface="Carlito" pitchFamily="34" charset="-122"/>
                <a:cs typeface="Carlito" pitchFamily="34" charset="-120"/>
              </a:rPr>
              <a:t>Smart Build-Cache Invalidation</a:t>
            </a:r>
            <a:endParaRPr lang="en-US" sz="3375" dirty="0"/>
          </a:p>
        </p:txBody>
      </p:sp>
      <p:sp>
        <p:nvSpPr>
          <p:cNvPr id="6" name="Text 4"/>
          <p:cNvSpPr/>
          <p:nvPr/>
        </p:nvSpPr>
        <p:spPr>
          <a:xfrm>
            <a:off x="457200" y="3497535"/>
            <a:ext cx="571500" cy="42863"/>
          </a:xfrm>
          <a:prstGeom prst="roundRect">
            <a:avLst>
              <a:gd name="adj" fmla="val 66666"/>
            </a:avLst>
          </a:prstGeom>
          <a:solidFill>
            <a:srgbClr val="F97316"/>
          </a:solidFill>
          <a:ln/>
        </p:spPr>
        <p:txBody>
          <a:bodyPr wrap="square" rtlCol="0" anchor="ctr"/>
          <a:lstStyle/>
          <a:p>
            <a:pPr marL="0" indent="0">
              <a:buNone/>
            </a:pPr>
            <a:endParaRPr lang="en-US" dirty="0"/>
          </a:p>
        </p:txBody>
      </p:sp>
      <p:sp>
        <p:nvSpPr>
          <p:cNvPr id="7" name="Text 5"/>
          <p:cNvSpPr/>
          <p:nvPr/>
        </p:nvSpPr>
        <p:spPr>
          <a:xfrm>
            <a:off x="457200" y="3654698"/>
            <a:ext cx="4705276" cy="518368"/>
          </a:xfrm>
          <a:prstGeom prst="rect">
            <a:avLst/>
          </a:prstGeom>
          <a:noFill/>
          <a:ln/>
        </p:spPr>
        <p:txBody>
          <a:bodyPr wrap="square" lIns="0" tIns="0" rIns="0" bIns="0" rtlCol="0" anchor="t"/>
          <a:lstStyle/>
          <a:p>
            <a:pPr marL="0" indent="0" algn="l">
              <a:lnSpc>
                <a:spcPts val="1890"/>
              </a:lnSpc>
              <a:buNone/>
            </a:pPr>
            <a:r>
              <a:rPr lang="en-US" sz="1350" dirty="0">
                <a:solidFill>
                  <a:srgbClr val="334155"/>
                </a:solidFill>
                <a:latin typeface="Carlito" pitchFamily="34" charset="0"/>
                <a:ea typeface="Carlito" pitchFamily="34" charset="-122"/>
                <a:cs typeface="Carlito" pitchFamily="34" charset="-120"/>
              </a:rPr>
              <a:t>Use change-impact analysis to invalidate only what actually changed in the dependency graph.</a:t>
            </a:r>
            <a:endParaRPr lang="en-US" sz="1350" dirty="0"/>
          </a:p>
        </p:txBody>
      </p:sp>
      <p:sp>
        <p:nvSpPr>
          <p:cNvPr id="8" name="Text 6"/>
          <p:cNvSpPr/>
          <p:nvPr/>
        </p:nvSpPr>
        <p:spPr>
          <a:xfrm>
            <a:off x="5391076" y="457200"/>
            <a:ext cx="3295613" cy="4229100"/>
          </a:xfrm>
          <a:prstGeom prst="roundRect">
            <a:avLst>
              <a:gd name="adj" fmla="val 4046"/>
            </a:avLst>
          </a:prstGeom>
          <a:solidFill>
            <a:srgbClr val="FFF7ED"/>
          </a:solidFill>
          <a:ln/>
        </p:spPr>
        <p:txBody>
          <a:bodyPr wrap="square" rtlCol="0" anchor="ctr"/>
          <a:lstStyle/>
          <a:p>
            <a:pPr marL="0" indent="0">
              <a:buNone/>
            </a:pPr>
            <a:endParaRPr lang="en-US" dirty="0"/>
          </a:p>
        </p:txBody>
      </p:sp>
      <p:sp>
        <p:nvSpPr>
          <p:cNvPr id="9" name="Shape 7"/>
          <p:cNvSpPr/>
          <p:nvPr/>
        </p:nvSpPr>
        <p:spPr>
          <a:xfrm>
            <a:off x="5419651" y="457200"/>
            <a:ext cx="0" cy="4229100"/>
          </a:xfrm>
          <a:prstGeom prst="line">
            <a:avLst/>
          </a:prstGeom>
          <a:noFill/>
          <a:ln w="57150">
            <a:solidFill>
              <a:srgbClr val="F97316"/>
            </a:solidFill>
            <a:prstDash val="solid"/>
          </a:ln>
        </p:spPr>
      </p:sp>
      <p:sp>
        <p:nvSpPr>
          <p:cNvPr id="10" name="Text 8"/>
          <p:cNvSpPr/>
          <p:nvPr/>
        </p:nvSpPr>
        <p:spPr>
          <a:xfrm>
            <a:off x="7621555" y="3471863"/>
            <a:ext cx="1258729" cy="957263"/>
          </a:xfrm>
          <a:prstGeom prst="rect">
            <a:avLst/>
          </a:prstGeom>
          <a:noFill/>
          <a:ln/>
        </p:spPr>
        <p:txBody>
          <a:bodyPr wrap="none" lIns="0" tIns="0" rIns="0" bIns="0" rtlCol="0" anchor="t"/>
          <a:lstStyle/>
          <a:p>
            <a:pPr marL="0" indent="0" algn="l">
              <a:lnSpc>
                <a:spcPts val="11250"/>
              </a:lnSpc>
              <a:buNone/>
            </a:pPr>
            <a:r>
              <a:rPr lang="en-US" sz="11250" b="1" dirty="0">
                <a:solidFill>
                  <a:srgbClr val="F97316">
                    <a:alpha val="8000"/>
                  </a:srgbClr>
                </a:solidFill>
                <a:latin typeface="Courier New" pitchFamily="34" charset="0"/>
                <a:ea typeface="Courier New" pitchFamily="34" charset="-122"/>
                <a:cs typeface="Courier New" pitchFamily="34" charset="-120"/>
              </a:rPr>
              <a:t>?</a:t>
            </a:r>
            <a:endParaRPr lang="en-US" sz="11250" dirty="0"/>
          </a:p>
        </p:txBody>
      </p:sp>
      <p:sp>
        <p:nvSpPr>
          <p:cNvPr id="11" name="Text 9"/>
          <p:cNvSpPr/>
          <p:nvPr/>
        </p:nvSpPr>
        <p:spPr>
          <a:xfrm>
            <a:off x="5676826" y="1777454"/>
            <a:ext cx="2781263" cy="153570"/>
          </a:xfrm>
          <a:prstGeom prst="rect">
            <a:avLst/>
          </a:prstGeom>
          <a:noFill/>
          <a:ln/>
        </p:spPr>
        <p:txBody>
          <a:bodyPr wrap="none" lIns="0" tIns="0" rIns="0" bIns="0" rtlCol="0" anchor="t"/>
          <a:lstStyle/>
          <a:p>
            <a:pPr marL="0" indent="0" algn="l">
              <a:lnSpc>
                <a:spcPts val="1103"/>
              </a:lnSpc>
              <a:buNone/>
            </a:pPr>
            <a:r>
              <a:rPr lang="en-US" sz="800" b="1" kern="0" spc="84" dirty="0">
                <a:solidFill>
                  <a:srgbClr val="C2410C"/>
                </a:solidFill>
                <a:latin typeface="Carlito" pitchFamily="34" charset="0"/>
                <a:ea typeface="Carlito" pitchFamily="34" charset="-122"/>
                <a:cs typeface="Carlito" pitchFamily="34" charset="-120"/>
              </a:rPr>
              <a:t>THE KEY QUESTION</a:t>
            </a:r>
            <a:endParaRPr lang="en-US" sz="800" dirty="0"/>
          </a:p>
        </p:txBody>
      </p:sp>
      <p:sp>
        <p:nvSpPr>
          <p:cNvPr id="12" name="Text 10"/>
          <p:cNvSpPr/>
          <p:nvPr/>
        </p:nvSpPr>
        <p:spPr>
          <a:xfrm>
            <a:off x="5676826" y="2017440"/>
            <a:ext cx="2781263" cy="782254"/>
          </a:xfrm>
          <a:prstGeom prst="rect">
            <a:avLst/>
          </a:prstGeom>
          <a:noFill/>
          <a:ln/>
        </p:spPr>
        <p:txBody>
          <a:bodyPr wrap="square" lIns="0" tIns="0" rIns="0" bIns="0" rtlCol="0" anchor="t"/>
          <a:lstStyle/>
          <a:p>
            <a:pPr marL="0" indent="0" algn="l">
              <a:lnSpc>
                <a:spcPts val="1901"/>
              </a:lnSpc>
              <a:buNone/>
            </a:pPr>
            <a:r>
              <a:rPr lang="en-US" sz="1463" b="1" dirty="0">
                <a:solidFill>
                  <a:srgbClr val="0F172A"/>
                </a:solidFill>
                <a:latin typeface="Carlito" pitchFamily="34" charset="0"/>
                <a:ea typeface="Carlito" pitchFamily="34" charset="-122"/>
                <a:cs typeface="Carlito" pitchFamily="34" charset="-120"/>
              </a:rPr>
              <a:t>Question: When a developer changes </a:t>
            </a:r>
            <a:r>
              <a:rPr lang="en-US" sz="1463" b="1" dirty="0">
                <a:solidFill>
                  <a:srgbClr val="C2410C"/>
                </a:solidFill>
                <a:latin typeface="Carlito" pitchFamily="34" charset="0"/>
                <a:ea typeface="Carlito" pitchFamily="34" charset="-122"/>
                <a:cs typeface="Carlito" pitchFamily="34" charset="-120"/>
              </a:rPr>
              <a:t>ONE file</a:t>
            </a:r>
            <a:r>
              <a:rPr lang="en-US" sz="1463" b="1" dirty="0">
                <a:solidFill>
                  <a:srgbClr val="0F172A"/>
                </a:solidFill>
                <a:latin typeface="Carlito" pitchFamily="34" charset="0"/>
                <a:ea typeface="Carlito" pitchFamily="34" charset="-122"/>
                <a:cs typeface="Carlito" pitchFamily="34" charset="-120"/>
              </a:rPr>
              <a:t>, why does CI rebuild </a:t>
            </a:r>
            <a:r>
              <a:rPr lang="en-US" sz="1463" b="1" dirty="0">
                <a:solidFill>
                  <a:srgbClr val="C2410C"/>
                </a:solidFill>
                <a:latin typeface="Carlito" pitchFamily="34" charset="0"/>
                <a:ea typeface="Carlito" pitchFamily="34" charset="-122"/>
                <a:cs typeface="Carlito" pitchFamily="34" charset="-120"/>
              </a:rPr>
              <a:t>EVERYTHING</a:t>
            </a:r>
            <a:r>
              <a:rPr lang="en-US" sz="1463" b="1" dirty="0">
                <a:solidFill>
                  <a:srgbClr val="0F172A"/>
                </a:solidFill>
                <a:latin typeface="Carlito" pitchFamily="34" charset="0"/>
                <a:ea typeface="Carlito" pitchFamily="34" charset="-122"/>
                <a:cs typeface="Carlito" pitchFamily="34" charset="-120"/>
              </a:rPr>
              <a:t>?</a:t>
            </a:r>
            <a:endParaRPr lang="en-US" sz="1463" dirty="0"/>
          </a:p>
        </p:txBody>
      </p:sp>
      <p:sp>
        <p:nvSpPr>
          <p:cNvPr id="13" name="Text 11"/>
          <p:cNvSpPr/>
          <p:nvPr/>
        </p:nvSpPr>
        <p:spPr>
          <a:xfrm>
            <a:off x="5676826" y="2870336"/>
            <a:ext cx="2781263" cy="535245"/>
          </a:xfrm>
          <a:prstGeom prst="rect">
            <a:avLst/>
          </a:prstGeom>
          <a:noFill/>
          <a:ln/>
        </p:spPr>
        <p:txBody>
          <a:bodyPr wrap="square" lIns="0" tIns="128588" rIns="0" bIns="0" rtlCol="0" anchor="t"/>
          <a:lstStyle/>
          <a:p>
            <a:r>
              <a:rPr lang="en-US" sz="1013" dirty="0">
                <a:solidFill>
                  <a:srgbClr val="334155"/>
                </a:solidFill>
                <a:latin typeface="Carlito" pitchFamily="34" charset="0"/>
                <a:ea typeface="Carlito" pitchFamily="34" charset="-122"/>
                <a:cs typeface="Carlito" pitchFamily="34" charset="-120"/>
              </a:rPr>
              <a:t>Answer: </a:t>
            </a:r>
            <a:r>
              <a:rPr lang="en-IN" sz="1050" dirty="0"/>
              <a:t>Many CI pipelines rely on coarse cache keys and don’t use fine-grained dependency information. AI-assisted change-impact analysis can close that gap.</a:t>
            </a:r>
            <a:endParaRPr lang="en-US" sz="1013"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8636000" cy="410355"/>
          </a:xfrm>
          <a:prstGeom prst="rect">
            <a:avLst/>
          </a:prstGeom>
          <a:noFill/>
          <a:ln/>
        </p:spPr>
        <p:txBody>
          <a:bodyPr wrap="none" lIns="0" tIns="0" rIns="0" bIns="0" rtlCol="0" anchor="t"/>
          <a:lstStyle/>
          <a:p>
            <a:pPr marL="0" indent="0" algn="l">
              <a:lnSpc>
                <a:spcPts val="2993"/>
              </a:lnSpc>
              <a:buNone/>
            </a:pPr>
            <a:r>
              <a:rPr lang="en-US" sz="2138" b="1" dirty="0">
                <a:solidFill>
                  <a:srgbClr val="0F172A"/>
                </a:solidFill>
                <a:latin typeface="Carlito" pitchFamily="34" charset="0"/>
                <a:ea typeface="Carlito" pitchFamily="34" charset="-122"/>
                <a:cs typeface="Carlito" pitchFamily="34" charset="-120"/>
              </a:rPr>
              <a:t>What Is Build Caching?</a:t>
            </a:r>
            <a:endParaRPr lang="en-US" sz="2138" dirty="0"/>
          </a:p>
        </p:txBody>
      </p:sp>
      <p:sp>
        <p:nvSpPr>
          <p:cNvPr id="3" name="Text 1"/>
          <p:cNvSpPr/>
          <p:nvPr/>
        </p:nvSpPr>
        <p:spPr>
          <a:xfrm>
            <a:off x="457200" y="894308"/>
            <a:ext cx="571500" cy="42863"/>
          </a:xfrm>
          <a:prstGeom prst="roundRect">
            <a:avLst>
              <a:gd name="adj" fmla="val 66666"/>
            </a:avLst>
          </a:prstGeom>
          <a:solidFill>
            <a:srgbClr val="F97316"/>
          </a:solidFill>
          <a:ln/>
        </p:spPr>
        <p:txBody>
          <a:bodyPr wrap="square" rtlCol="0" anchor="ctr"/>
          <a:lstStyle/>
          <a:p>
            <a:pPr marL="0" indent="0">
              <a:buNone/>
            </a:pPr>
            <a:endParaRPr lang="en-US" dirty="0"/>
          </a:p>
        </p:txBody>
      </p:sp>
      <p:sp>
        <p:nvSpPr>
          <p:cNvPr id="4" name="Text 2"/>
          <p:cNvSpPr/>
          <p:nvPr/>
        </p:nvSpPr>
        <p:spPr>
          <a:xfrm>
            <a:off x="457200" y="1037183"/>
            <a:ext cx="4740994" cy="1052810"/>
          </a:xfrm>
          <a:prstGeom prst="roundRect">
            <a:avLst>
              <a:gd name="adj" fmla="val 7238"/>
            </a:avLst>
          </a:prstGeom>
          <a:solidFill>
            <a:srgbClr val="F8FAFC"/>
          </a:solidFill>
          <a:ln/>
        </p:spPr>
        <p:txBody>
          <a:bodyPr wrap="square" rtlCol="0" anchor="ctr"/>
          <a:lstStyle/>
          <a:p>
            <a:pPr marL="0" indent="0">
              <a:buNone/>
            </a:pPr>
            <a:endParaRPr lang="en-US" dirty="0"/>
          </a:p>
        </p:txBody>
      </p:sp>
      <p:sp>
        <p:nvSpPr>
          <p:cNvPr id="5" name="Shape 3"/>
          <p:cNvSpPr/>
          <p:nvPr/>
        </p:nvSpPr>
        <p:spPr>
          <a:xfrm>
            <a:off x="457200" y="1040755"/>
            <a:ext cx="4740994" cy="0"/>
          </a:xfrm>
          <a:prstGeom prst="line">
            <a:avLst/>
          </a:prstGeom>
          <a:noFill/>
          <a:ln w="7144">
            <a:solidFill>
              <a:srgbClr val="CBD5E1"/>
            </a:solidFill>
            <a:prstDash val="solid"/>
          </a:ln>
        </p:spPr>
      </p:sp>
      <p:sp>
        <p:nvSpPr>
          <p:cNvPr id="6" name="Shape 4"/>
          <p:cNvSpPr/>
          <p:nvPr/>
        </p:nvSpPr>
        <p:spPr>
          <a:xfrm>
            <a:off x="5194622" y="1037183"/>
            <a:ext cx="0" cy="1052810"/>
          </a:xfrm>
          <a:prstGeom prst="line">
            <a:avLst/>
          </a:prstGeom>
          <a:noFill/>
          <a:ln w="7144">
            <a:solidFill>
              <a:srgbClr val="CBD5E1"/>
            </a:solidFill>
            <a:prstDash val="solid"/>
          </a:ln>
        </p:spPr>
      </p:sp>
      <p:sp>
        <p:nvSpPr>
          <p:cNvPr id="7" name="Shape 5"/>
          <p:cNvSpPr/>
          <p:nvPr/>
        </p:nvSpPr>
        <p:spPr>
          <a:xfrm>
            <a:off x="457200" y="2182286"/>
            <a:ext cx="4740994" cy="0"/>
          </a:xfrm>
          <a:prstGeom prst="line">
            <a:avLst/>
          </a:prstGeom>
          <a:noFill/>
          <a:ln w="7144">
            <a:solidFill>
              <a:srgbClr val="CBD5E1"/>
            </a:solidFill>
            <a:prstDash val="solid"/>
          </a:ln>
        </p:spPr>
      </p:sp>
      <p:sp>
        <p:nvSpPr>
          <p:cNvPr id="8" name="Shape 6"/>
          <p:cNvSpPr/>
          <p:nvPr/>
        </p:nvSpPr>
        <p:spPr>
          <a:xfrm>
            <a:off x="475059" y="1037183"/>
            <a:ext cx="0" cy="1052810"/>
          </a:xfrm>
          <a:prstGeom prst="line">
            <a:avLst/>
          </a:prstGeom>
          <a:noFill/>
          <a:ln w="35719">
            <a:solidFill>
              <a:srgbClr val="F97316"/>
            </a:solidFill>
            <a:prstDash val="solid"/>
          </a:ln>
        </p:spPr>
      </p:sp>
      <p:sp>
        <p:nvSpPr>
          <p:cNvPr id="9" name="Text 7"/>
          <p:cNvSpPr/>
          <p:nvPr/>
        </p:nvSpPr>
        <p:spPr>
          <a:xfrm>
            <a:off x="621506" y="1309985"/>
            <a:ext cx="4416735" cy="807440"/>
          </a:xfrm>
          <a:prstGeom prst="rect">
            <a:avLst/>
          </a:prstGeom>
          <a:noFill/>
          <a:ln/>
        </p:spPr>
        <p:txBody>
          <a:bodyPr wrap="square" lIns="128588" tIns="100013" rIns="128588" bIns="100013" rtlCol="0" anchor="t"/>
          <a:lstStyle/>
          <a:p>
            <a:pPr marL="0" indent="0" algn="l">
              <a:lnSpc>
                <a:spcPts val="1339"/>
              </a:lnSpc>
              <a:buNone/>
            </a:pPr>
            <a:r>
              <a:rPr lang="en-US" sz="956" dirty="0">
                <a:solidFill>
                  <a:srgbClr val="0F172A"/>
                </a:solidFill>
                <a:latin typeface="Carlito" pitchFamily="34" charset="0"/>
                <a:ea typeface="Carlito" pitchFamily="34" charset="-122"/>
                <a:cs typeface="Carlito" pitchFamily="34" charset="-120"/>
              </a:rPr>
              <a:t>A build cache stores the OUTPUT of a previous build (compiled artifacts, downloaded dependencies, intermediate object files) keyed by the INPUT hash (source files, dependency versions, env vars). If the input hash matches, the cache returns the stored output instantly — no recompilation.</a:t>
            </a:r>
            <a:endParaRPr lang="en-US" sz="956" dirty="0"/>
          </a:p>
        </p:txBody>
      </p:sp>
      <p:sp>
        <p:nvSpPr>
          <p:cNvPr id="10" name="Text 8"/>
          <p:cNvSpPr/>
          <p:nvPr/>
        </p:nvSpPr>
        <p:spPr>
          <a:xfrm>
            <a:off x="621506" y="1144339"/>
            <a:ext cx="4440957" cy="153514"/>
          </a:xfrm>
          <a:prstGeom prst="rect">
            <a:avLst/>
          </a:prstGeom>
          <a:noFill/>
          <a:ln/>
        </p:spPr>
        <p:txBody>
          <a:bodyPr wrap="none" lIns="0" tIns="0" rIns="0" bIns="0" rtlCol="0" anchor="t"/>
          <a:lstStyle/>
          <a:p>
            <a:pPr marL="0" indent="0" algn="l">
              <a:lnSpc>
                <a:spcPts val="1024"/>
              </a:lnSpc>
              <a:buNone/>
            </a:pPr>
            <a:r>
              <a:rPr lang="en-US" sz="800" b="1" kern="0" spc="56" dirty="0">
                <a:solidFill>
                  <a:srgbClr val="C2410C"/>
                </a:solidFill>
                <a:latin typeface="Liberation Sans Narrow" pitchFamily="34" charset="0"/>
                <a:ea typeface="Liberation Sans Narrow" pitchFamily="34" charset="-122"/>
                <a:cs typeface="Liberation Sans Narrow" pitchFamily="34" charset="-120"/>
              </a:rPr>
              <a:t>01 · DEFINITION</a:t>
            </a:r>
            <a:endParaRPr lang="en-US" sz="800" dirty="0"/>
          </a:p>
        </p:txBody>
      </p:sp>
      <p:sp>
        <p:nvSpPr>
          <p:cNvPr id="11" name="Text 9"/>
          <p:cNvSpPr/>
          <p:nvPr/>
        </p:nvSpPr>
        <p:spPr>
          <a:xfrm>
            <a:off x="660798" y="2428024"/>
            <a:ext cx="4740994" cy="712812"/>
          </a:xfrm>
          <a:prstGeom prst="roundRect">
            <a:avLst>
              <a:gd name="adj" fmla="val 10690"/>
            </a:avLst>
          </a:prstGeom>
          <a:solidFill>
            <a:srgbClr val="F8FAFC"/>
          </a:solidFill>
          <a:ln/>
        </p:spPr>
        <p:txBody>
          <a:bodyPr wrap="square" rtlCol="0" anchor="ctr"/>
          <a:lstStyle/>
          <a:p>
            <a:pPr marL="0" indent="0">
              <a:buNone/>
            </a:pPr>
            <a:endParaRPr lang="en-US" dirty="0"/>
          </a:p>
        </p:txBody>
      </p:sp>
      <p:sp>
        <p:nvSpPr>
          <p:cNvPr id="12" name="Shape 10"/>
          <p:cNvSpPr/>
          <p:nvPr/>
        </p:nvSpPr>
        <p:spPr>
          <a:xfrm>
            <a:off x="457200" y="2275155"/>
            <a:ext cx="4740994" cy="0"/>
          </a:xfrm>
          <a:prstGeom prst="line">
            <a:avLst/>
          </a:prstGeom>
          <a:noFill/>
          <a:ln w="7144">
            <a:solidFill>
              <a:srgbClr val="CBD5E1"/>
            </a:solidFill>
            <a:prstDash val="solid"/>
          </a:ln>
        </p:spPr>
      </p:sp>
      <p:sp>
        <p:nvSpPr>
          <p:cNvPr id="13" name="Shape 11"/>
          <p:cNvSpPr/>
          <p:nvPr/>
        </p:nvSpPr>
        <p:spPr>
          <a:xfrm>
            <a:off x="5194622" y="2271583"/>
            <a:ext cx="0" cy="712812"/>
          </a:xfrm>
          <a:prstGeom prst="line">
            <a:avLst/>
          </a:prstGeom>
          <a:noFill/>
          <a:ln w="7144">
            <a:solidFill>
              <a:srgbClr val="CBD5E1"/>
            </a:solidFill>
            <a:prstDash val="solid"/>
          </a:ln>
        </p:spPr>
      </p:sp>
      <p:sp>
        <p:nvSpPr>
          <p:cNvPr id="15" name="Shape 13"/>
          <p:cNvSpPr/>
          <p:nvPr/>
        </p:nvSpPr>
        <p:spPr>
          <a:xfrm>
            <a:off x="475059" y="2271583"/>
            <a:ext cx="0" cy="712812"/>
          </a:xfrm>
          <a:prstGeom prst="line">
            <a:avLst/>
          </a:prstGeom>
          <a:noFill/>
          <a:ln w="35719">
            <a:solidFill>
              <a:srgbClr val="F97316"/>
            </a:solidFill>
            <a:prstDash val="solid"/>
          </a:ln>
        </p:spPr>
      </p:sp>
      <p:sp>
        <p:nvSpPr>
          <p:cNvPr id="16" name="Text 14"/>
          <p:cNvSpPr/>
          <p:nvPr/>
        </p:nvSpPr>
        <p:spPr>
          <a:xfrm>
            <a:off x="546497" y="2518552"/>
            <a:ext cx="4334247" cy="345619"/>
          </a:xfrm>
          <a:prstGeom prst="rect">
            <a:avLst/>
          </a:prstGeom>
          <a:noFill/>
          <a:ln/>
        </p:spPr>
        <p:txBody>
          <a:bodyPr wrap="square" lIns="128588" tIns="100013" rIns="128588" bIns="100013" rtlCol="0" anchor="t"/>
          <a:lstStyle/>
          <a:p>
            <a:pPr marL="0" indent="0" algn="l">
              <a:lnSpc>
                <a:spcPts val="1339"/>
              </a:lnSpc>
              <a:buNone/>
            </a:pPr>
            <a:r>
              <a:rPr lang="en-US" sz="956" dirty="0">
                <a:solidFill>
                  <a:srgbClr val="0F172A"/>
                </a:solidFill>
                <a:latin typeface="Carlito" pitchFamily="34" charset="0"/>
                <a:ea typeface="Carlito" pitchFamily="34" charset="-122"/>
                <a:cs typeface="Carlito" pitchFamily="34" charset="-120"/>
              </a:rPr>
              <a:t>Without caching, every CI run recompiles every file, re-resolves every dependency, and re-runs every step. A 10-minute build becomes 35 minutes.</a:t>
            </a:r>
            <a:endParaRPr lang="en-US" sz="956" dirty="0"/>
          </a:p>
        </p:txBody>
      </p:sp>
      <p:sp>
        <p:nvSpPr>
          <p:cNvPr id="17" name="Text 15"/>
          <p:cNvSpPr/>
          <p:nvPr/>
        </p:nvSpPr>
        <p:spPr>
          <a:xfrm>
            <a:off x="621506" y="2378740"/>
            <a:ext cx="4440957" cy="153514"/>
          </a:xfrm>
          <a:prstGeom prst="rect">
            <a:avLst/>
          </a:prstGeom>
          <a:noFill/>
          <a:ln/>
        </p:spPr>
        <p:txBody>
          <a:bodyPr wrap="none" lIns="0" tIns="0" rIns="0" bIns="0" rtlCol="0" anchor="t"/>
          <a:lstStyle/>
          <a:p>
            <a:pPr marL="0" indent="0" algn="l">
              <a:lnSpc>
                <a:spcPts val="1024"/>
              </a:lnSpc>
              <a:buNone/>
            </a:pPr>
            <a:r>
              <a:rPr lang="en-US" sz="800" b="1" kern="0" spc="56" dirty="0">
                <a:solidFill>
                  <a:srgbClr val="C2410C"/>
                </a:solidFill>
                <a:latin typeface="Liberation Sans Narrow" pitchFamily="34" charset="0"/>
                <a:ea typeface="Liberation Sans Narrow" pitchFamily="34" charset="-122"/>
                <a:cs typeface="Liberation Sans Narrow" pitchFamily="34" charset="-120"/>
              </a:rPr>
              <a:t>02 · WITHOUT CACHING</a:t>
            </a:r>
            <a:endParaRPr lang="en-US" sz="800" dirty="0"/>
          </a:p>
        </p:txBody>
      </p:sp>
      <p:sp>
        <p:nvSpPr>
          <p:cNvPr id="31" name="Text 29"/>
          <p:cNvSpPr/>
          <p:nvPr/>
        </p:nvSpPr>
        <p:spPr>
          <a:xfrm>
            <a:off x="5344641" y="1040755"/>
            <a:ext cx="3338475" cy="3641973"/>
          </a:xfrm>
          <a:prstGeom prst="roundRect">
            <a:avLst>
              <a:gd name="adj" fmla="val 3994"/>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32" name="Text 30"/>
          <p:cNvSpPr/>
          <p:nvPr/>
        </p:nvSpPr>
        <p:spPr>
          <a:xfrm>
            <a:off x="5476801" y="1201489"/>
            <a:ext cx="3074157" cy="153570"/>
          </a:xfrm>
          <a:prstGeom prst="rect">
            <a:avLst/>
          </a:prstGeom>
          <a:noFill/>
          <a:ln/>
        </p:spPr>
        <p:txBody>
          <a:bodyPr wrap="none" lIns="0" tIns="0" rIns="0" bIns="0" rtlCol="0" anchor="t"/>
          <a:lstStyle/>
          <a:p>
            <a:pPr marL="0" indent="0" algn="l">
              <a:lnSpc>
                <a:spcPts val="1103"/>
              </a:lnSpc>
              <a:buNone/>
            </a:pPr>
            <a:r>
              <a:rPr lang="en-US" sz="800" b="1" kern="0" spc="56" dirty="0">
                <a:solidFill>
                  <a:srgbClr val="C2410C"/>
                </a:solidFill>
                <a:latin typeface="Carlito" pitchFamily="34" charset="0"/>
                <a:ea typeface="Carlito" pitchFamily="34" charset="-122"/>
                <a:cs typeface="Carlito" pitchFamily="34" charset="-120"/>
              </a:rPr>
              <a:t>CACHE LOOKUP FLOW</a:t>
            </a:r>
            <a:endParaRPr lang="en-US" sz="800" dirty="0"/>
          </a:p>
        </p:txBody>
      </p:sp>
      <p:sp>
        <p:nvSpPr>
          <p:cNvPr id="33" name="Text 31"/>
          <p:cNvSpPr/>
          <p:nvPr/>
        </p:nvSpPr>
        <p:spPr>
          <a:xfrm>
            <a:off x="5483944" y="1434331"/>
            <a:ext cx="3059869" cy="268560"/>
          </a:xfrm>
          <a:prstGeom prst="roundRect">
            <a:avLst>
              <a:gd name="adj" fmla="val 28374"/>
            </a:avLst>
          </a:prstGeom>
          <a:solidFill>
            <a:srgbClr val="FFFFFF"/>
          </a:solidFill>
          <a:ln w="14288">
            <a:solidFill>
              <a:srgbClr val="0F172A"/>
            </a:solidFill>
            <a:prstDash val="solid"/>
          </a:ln>
        </p:spPr>
        <p:txBody>
          <a:bodyPr wrap="square" rtlCol="0" anchor="ctr"/>
          <a:lstStyle/>
          <a:p>
            <a:pPr marL="0" indent="0">
              <a:buNone/>
            </a:pPr>
            <a:endParaRPr lang="en-US" dirty="0"/>
          </a:p>
        </p:txBody>
      </p:sp>
      <p:sp>
        <p:nvSpPr>
          <p:cNvPr id="34" name="Text 32"/>
          <p:cNvSpPr/>
          <p:nvPr/>
        </p:nvSpPr>
        <p:spPr>
          <a:xfrm>
            <a:off x="5476801" y="1427187"/>
            <a:ext cx="3074157" cy="282848"/>
          </a:xfrm>
          <a:prstGeom prst="rect">
            <a:avLst/>
          </a:prstGeom>
          <a:noFill/>
          <a:ln/>
        </p:spPr>
        <p:txBody>
          <a:bodyPr wrap="none" lIns="0" tIns="0" rIns="0" bIns="0" rtlCol="0" anchor="ctr"/>
          <a:lstStyle/>
          <a:p>
            <a:pPr marL="0" indent="0" algn="ctr">
              <a:lnSpc>
                <a:spcPts val="1103"/>
              </a:lnSpc>
              <a:buNone/>
            </a:pPr>
            <a:r>
              <a:rPr lang="en-US" sz="800" b="1" dirty="0">
                <a:solidFill>
                  <a:srgbClr val="0F172A"/>
                </a:solidFill>
                <a:latin typeface="Carlito" pitchFamily="34" charset="0"/>
                <a:ea typeface="Carlito" pitchFamily="34" charset="-122"/>
                <a:cs typeface="Carlito" pitchFamily="34" charset="-120"/>
              </a:rPr>
              <a:t>Source + Deps</a:t>
            </a:r>
            <a:endParaRPr lang="en-US" sz="800" dirty="0"/>
          </a:p>
        </p:txBody>
      </p:sp>
      <p:sp>
        <p:nvSpPr>
          <p:cNvPr id="35" name="Text 33"/>
          <p:cNvSpPr/>
          <p:nvPr/>
        </p:nvSpPr>
        <p:spPr>
          <a:xfrm>
            <a:off x="5476801" y="1795760"/>
            <a:ext cx="3074157" cy="153570"/>
          </a:xfrm>
          <a:prstGeom prst="rect">
            <a:avLst/>
          </a:prstGeom>
          <a:noFill/>
          <a:ln/>
        </p:spPr>
        <p:txBody>
          <a:bodyPr wrap="none" lIns="0" tIns="0" rIns="0" bIns="0" rtlCol="0" anchor="t"/>
          <a:lstStyle/>
          <a:p>
            <a:pPr marL="0" indent="0" algn="ctr">
              <a:lnSpc>
                <a:spcPts val="1103"/>
              </a:lnSpc>
              <a:buNone/>
            </a:pPr>
            <a:r>
              <a:rPr lang="en-US" sz="800" b="1" dirty="0">
                <a:solidFill>
                  <a:srgbClr val="0F172A"/>
                </a:solidFill>
                <a:latin typeface="Courier New" pitchFamily="34" charset="0"/>
                <a:ea typeface="Courier New" pitchFamily="34" charset="-122"/>
                <a:cs typeface="Courier New" pitchFamily="34" charset="-120"/>
              </a:rPr>
              <a:t>│ hash(inputs)</a:t>
            </a:r>
            <a:endParaRPr lang="en-US" sz="800" dirty="0"/>
          </a:p>
        </p:txBody>
      </p:sp>
      <p:sp>
        <p:nvSpPr>
          <p:cNvPr id="36" name="Text 34"/>
          <p:cNvSpPr/>
          <p:nvPr/>
        </p:nvSpPr>
        <p:spPr>
          <a:xfrm>
            <a:off x="5483944" y="2028602"/>
            <a:ext cx="3059869" cy="268560"/>
          </a:xfrm>
          <a:prstGeom prst="roundRect">
            <a:avLst>
              <a:gd name="adj" fmla="val 28374"/>
            </a:avLst>
          </a:prstGeom>
          <a:solidFill>
            <a:srgbClr val="FFF7ED"/>
          </a:solidFill>
          <a:ln w="14288">
            <a:solidFill>
              <a:srgbClr val="F97316"/>
            </a:solidFill>
            <a:prstDash val="solid"/>
          </a:ln>
        </p:spPr>
        <p:txBody>
          <a:bodyPr wrap="square" rtlCol="0" anchor="ctr"/>
          <a:lstStyle/>
          <a:p>
            <a:pPr marL="0" indent="0">
              <a:buNone/>
            </a:pPr>
            <a:endParaRPr lang="en-US" dirty="0"/>
          </a:p>
        </p:txBody>
      </p:sp>
      <p:sp>
        <p:nvSpPr>
          <p:cNvPr id="37" name="Text 35"/>
          <p:cNvSpPr/>
          <p:nvPr/>
        </p:nvSpPr>
        <p:spPr>
          <a:xfrm>
            <a:off x="5476801" y="2021458"/>
            <a:ext cx="3074157" cy="282848"/>
          </a:xfrm>
          <a:prstGeom prst="rect">
            <a:avLst/>
          </a:prstGeom>
          <a:noFill/>
          <a:ln/>
        </p:spPr>
        <p:txBody>
          <a:bodyPr wrap="none" lIns="0" tIns="0" rIns="0" bIns="0" rtlCol="0" anchor="ctr"/>
          <a:lstStyle/>
          <a:p>
            <a:pPr marL="0" indent="0" algn="ctr">
              <a:lnSpc>
                <a:spcPts val="1103"/>
              </a:lnSpc>
              <a:buNone/>
            </a:pPr>
            <a:r>
              <a:rPr lang="en-US" sz="800" b="1" dirty="0">
                <a:solidFill>
                  <a:srgbClr val="0F172A"/>
                </a:solidFill>
                <a:latin typeface="Carlito" pitchFamily="34" charset="0"/>
                <a:ea typeface="Carlito" pitchFamily="34" charset="-122"/>
                <a:cs typeface="Carlito" pitchFamily="34" charset="-120"/>
              </a:rPr>
              <a:t>Cache Hit?</a:t>
            </a:r>
            <a:endParaRPr lang="en-US" sz="800" dirty="0"/>
          </a:p>
        </p:txBody>
      </p:sp>
      <p:sp>
        <p:nvSpPr>
          <p:cNvPr id="38" name="Text 36"/>
          <p:cNvSpPr/>
          <p:nvPr/>
        </p:nvSpPr>
        <p:spPr>
          <a:xfrm>
            <a:off x="5476801" y="2390031"/>
            <a:ext cx="1945897" cy="112541"/>
          </a:xfrm>
          <a:prstGeom prst="rect">
            <a:avLst/>
          </a:prstGeom>
          <a:noFill/>
          <a:ln/>
        </p:spPr>
        <p:txBody>
          <a:bodyPr wrap="none" lIns="0" tIns="0" rIns="0" bIns="0" rtlCol="0" anchor="t">
            <a:normAutofit fontScale="25000" lnSpcReduction="20000"/>
          </a:bodyPr>
          <a:lstStyle/>
          <a:p>
            <a:pPr marL="0" indent="0" algn="ctr">
              <a:lnSpc>
                <a:spcPts val="1103"/>
              </a:lnSpc>
              <a:buNone/>
            </a:pPr>
            <a:r>
              <a:rPr lang="en-US" sz="800" b="1" dirty="0">
                <a:solidFill>
                  <a:srgbClr val="15803D"/>
                </a:solidFill>
                <a:latin typeface="Courier New" pitchFamily="34" charset="0"/>
                <a:ea typeface="Courier New" pitchFamily="34" charset="-122"/>
                <a:cs typeface="Courier New" pitchFamily="34" charset="-120"/>
              </a:rPr>
              <a:t>YES ↓</a:t>
            </a:r>
            <a:endParaRPr lang="en-US" sz="800" dirty="0"/>
          </a:p>
        </p:txBody>
      </p:sp>
      <p:sp>
        <p:nvSpPr>
          <p:cNvPr id="39" name="Text 37"/>
          <p:cNvSpPr/>
          <p:nvPr/>
        </p:nvSpPr>
        <p:spPr>
          <a:xfrm>
            <a:off x="5483944" y="2537147"/>
            <a:ext cx="1494160" cy="408533"/>
          </a:xfrm>
          <a:prstGeom prst="roundRect">
            <a:avLst>
              <a:gd name="adj" fmla="val 18652"/>
            </a:avLst>
          </a:prstGeom>
          <a:solidFill>
            <a:srgbClr val="ECFDF5"/>
          </a:solidFill>
          <a:ln w="14288">
            <a:solidFill>
              <a:srgbClr val="16A34A"/>
            </a:solidFill>
            <a:prstDash val="solid"/>
          </a:ln>
        </p:spPr>
        <p:txBody>
          <a:bodyPr wrap="square" rtlCol="0" anchor="ctr"/>
          <a:lstStyle/>
          <a:p>
            <a:pPr marL="0" indent="0">
              <a:buNone/>
            </a:pPr>
            <a:endParaRPr lang="en-US" dirty="0"/>
          </a:p>
        </p:txBody>
      </p:sp>
      <p:sp>
        <p:nvSpPr>
          <p:cNvPr id="40" name="Text 38"/>
          <p:cNvSpPr/>
          <p:nvPr/>
        </p:nvSpPr>
        <p:spPr>
          <a:xfrm>
            <a:off x="5476801" y="2530004"/>
            <a:ext cx="1508447" cy="463895"/>
          </a:xfrm>
          <a:prstGeom prst="rect">
            <a:avLst/>
          </a:prstGeom>
          <a:noFill/>
          <a:ln/>
        </p:spPr>
        <p:txBody>
          <a:bodyPr wrap="square" lIns="85725" tIns="57150" rIns="85725" bIns="57150" rtlCol="0" anchor="t"/>
          <a:lstStyle/>
          <a:p>
            <a:pPr marL="0" indent="0" algn="ctr">
              <a:lnSpc>
                <a:spcPts val="1103"/>
              </a:lnSpc>
              <a:buNone/>
            </a:pPr>
            <a:r>
              <a:rPr lang="en-US" sz="800" b="1" dirty="0">
                <a:solidFill>
                  <a:srgbClr val="15803D"/>
                </a:solidFill>
                <a:latin typeface="Carlito" pitchFamily="34" charset="0"/>
                <a:ea typeface="Carlito" pitchFamily="34" charset="-122"/>
                <a:cs typeface="Carlito" pitchFamily="34" charset="-120"/>
              </a:rPr>
              <a:t>Reuse Output ✓</a:t>
            </a:r>
            <a:endParaRPr lang="en-US" sz="800" dirty="0"/>
          </a:p>
          <a:p>
            <a:pPr marL="0" indent="0" algn="ctr">
              <a:lnSpc>
                <a:spcPts val="1103"/>
              </a:lnSpc>
              <a:buNone/>
            </a:pPr>
            <a:r>
              <a:rPr lang="en-US" sz="800" b="1" dirty="0">
                <a:solidFill>
                  <a:srgbClr val="15803D"/>
                </a:solidFill>
                <a:latin typeface="Carlito" pitchFamily="34" charset="0"/>
                <a:ea typeface="Carlito" pitchFamily="34" charset="-122"/>
                <a:cs typeface="Carlito" pitchFamily="34" charset="-120"/>
              </a:rPr>
              <a:t>FAST</a:t>
            </a:r>
            <a:endParaRPr lang="en-US" sz="800" dirty="0"/>
          </a:p>
        </p:txBody>
      </p:sp>
      <p:sp>
        <p:nvSpPr>
          <p:cNvPr id="41" name="Text 39"/>
          <p:cNvSpPr/>
          <p:nvPr/>
        </p:nvSpPr>
        <p:spPr>
          <a:xfrm>
            <a:off x="6167434" y="2390031"/>
            <a:ext cx="2383523" cy="112541"/>
          </a:xfrm>
          <a:prstGeom prst="rect">
            <a:avLst/>
          </a:prstGeom>
          <a:noFill/>
          <a:ln/>
        </p:spPr>
        <p:txBody>
          <a:bodyPr wrap="none" lIns="0" tIns="0" rIns="0" bIns="0" rtlCol="0" anchor="t">
            <a:normAutofit fontScale="25000" lnSpcReduction="20000"/>
          </a:bodyPr>
          <a:lstStyle/>
          <a:p>
            <a:pPr marL="0" indent="0" algn="ctr">
              <a:lnSpc>
                <a:spcPts val="1103"/>
              </a:lnSpc>
              <a:buNone/>
            </a:pPr>
            <a:r>
              <a:rPr lang="en-US" sz="800" b="1" dirty="0">
                <a:solidFill>
                  <a:srgbClr val="C2410C"/>
                </a:solidFill>
                <a:latin typeface="Courier New" pitchFamily="34" charset="0"/>
                <a:ea typeface="Courier New" pitchFamily="34" charset="-122"/>
                <a:cs typeface="Courier New" pitchFamily="34" charset="-120"/>
              </a:rPr>
              <a:t>NO ↓</a:t>
            </a:r>
            <a:endParaRPr lang="en-US" sz="800" dirty="0"/>
          </a:p>
        </p:txBody>
      </p:sp>
      <p:sp>
        <p:nvSpPr>
          <p:cNvPr id="42" name="Text 40"/>
          <p:cNvSpPr/>
          <p:nvPr/>
        </p:nvSpPr>
        <p:spPr>
          <a:xfrm>
            <a:off x="7049542" y="2537147"/>
            <a:ext cx="1494272" cy="408533"/>
          </a:xfrm>
          <a:prstGeom prst="roundRect">
            <a:avLst>
              <a:gd name="adj" fmla="val 18652"/>
            </a:avLst>
          </a:prstGeom>
          <a:solidFill>
            <a:srgbClr val="FFF7ED"/>
          </a:solidFill>
          <a:ln w="14288">
            <a:solidFill>
              <a:srgbClr val="F97316"/>
            </a:solidFill>
            <a:prstDash val="solid"/>
          </a:ln>
        </p:spPr>
        <p:txBody>
          <a:bodyPr wrap="square" rtlCol="0" anchor="ctr"/>
          <a:lstStyle/>
          <a:p>
            <a:pPr marL="0" indent="0">
              <a:buNone/>
            </a:pPr>
            <a:endParaRPr lang="en-US" dirty="0"/>
          </a:p>
        </p:txBody>
      </p:sp>
      <p:sp>
        <p:nvSpPr>
          <p:cNvPr id="43" name="Text 41"/>
          <p:cNvSpPr/>
          <p:nvPr/>
        </p:nvSpPr>
        <p:spPr>
          <a:xfrm>
            <a:off x="7042398" y="2530004"/>
            <a:ext cx="1508559" cy="463895"/>
          </a:xfrm>
          <a:prstGeom prst="rect">
            <a:avLst/>
          </a:prstGeom>
          <a:noFill/>
          <a:ln/>
        </p:spPr>
        <p:txBody>
          <a:bodyPr wrap="square" lIns="85725" tIns="57150" rIns="85725" bIns="57150" rtlCol="0" anchor="t"/>
          <a:lstStyle/>
          <a:p>
            <a:pPr marL="0" indent="0" algn="ctr">
              <a:lnSpc>
                <a:spcPts val="1103"/>
              </a:lnSpc>
              <a:buNone/>
            </a:pPr>
            <a:r>
              <a:rPr lang="en-US" sz="800" b="1" dirty="0">
                <a:solidFill>
                  <a:srgbClr val="C2410C"/>
                </a:solidFill>
                <a:latin typeface="Carlito" pitchFamily="34" charset="0"/>
                <a:ea typeface="Carlito" pitchFamily="34" charset="-122"/>
                <a:cs typeface="Carlito" pitchFamily="34" charset="-120"/>
              </a:rPr>
              <a:t>Rebuild + Store</a:t>
            </a:r>
            <a:endParaRPr lang="en-US" sz="800" dirty="0"/>
          </a:p>
          <a:p>
            <a:pPr marL="0" indent="0" algn="ctr">
              <a:lnSpc>
                <a:spcPts val="1103"/>
              </a:lnSpc>
              <a:buNone/>
            </a:pPr>
            <a:r>
              <a:rPr lang="en-US" sz="800" b="1" dirty="0">
                <a:solidFill>
                  <a:srgbClr val="C2410C"/>
                </a:solidFill>
                <a:latin typeface="Carlito" pitchFamily="34" charset="0"/>
                <a:ea typeface="Carlito" pitchFamily="34" charset="-122"/>
                <a:cs typeface="Carlito" pitchFamily="34" charset="-120"/>
              </a:rPr>
              <a:t>SLOW</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8636000" cy="410355"/>
          </a:xfrm>
          <a:prstGeom prst="rect">
            <a:avLst/>
          </a:prstGeom>
          <a:noFill/>
          <a:ln/>
        </p:spPr>
        <p:txBody>
          <a:bodyPr wrap="square" lIns="0" tIns="0" rIns="0" bIns="0" rtlCol="0" anchor="t"/>
          <a:lstStyle/>
          <a:p>
            <a:pPr marL="0" indent="0" algn="l">
              <a:lnSpc>
                <a:spcPts val="2993"/>
              </a:lnSpc>
              <a:buNone/>
            </a:pPr>
            <a:r>
              <a:rPr lang="en-US" sz="2138" b="1" dirty="0">
                <a:solidFill>
                  <a:srgbClr val="0F172A"/>
                </a:solidFill>
                <a:latin typeface="Carlito" pitchFamily="34" charset="0"/>
                <a:ea typeface="Carlito" pitchFamily="34" charset="-122"/>
                <a:cs typeface="Carlito" pitchFamily="34" charset="-120"/>
              </a:rPr>
              <a:t>Change-Impact Analysis — The Concept</a:t>
            </a:r>
            <a:endParaRPr lang="en-US" sz="2138" dirty="0"/>
          </a:p>
        </p:txBody>
      </p:sp>
      <p:sp>
        <p:nvSpPr>
          <p:cNvPr id="3" name="Text 1"/>
          <p:cNvSpPr/>
          <p:nvPr/>
        </p:nvSpPr>
        <p:spPr>
          <a:xfrm>
            <a:off x="457200" y="894308"/>
            <a:ext cx="571500" cy="42863"/>
          </a:xfrm>
          <a:prstGeom prst="roundRect">
            <a:avLst>
              <a:gd name="adj" fmla="val 66666"/>
            </a:avLst>
          </a:prstGeom>
          <a:solidFill>
            <a:srgbClr val="F97316"/>
          </a:solidFill>
          <a:ln/>
        </p:spPr>
        <p:txBody>
          <a:bodyPr wrap="square" rtlCol="0" anchor="ctr"/>
          <a:lstStyle/>
          <a:p>
            <a:pPr marL="0" indent="0">
              <a:buNone/>
            </a:pPr>
            <a:endParaRPr lang="en-US" dirty="0"/>
          </a:p>
        </p:txBody>
      </p:sp>
      <p:sp>
        <p:nvSpPr>
          <p:cNvPr id="4" name="Text 2"/>
          <p:cNvSpPr/>
          <p:nvPr/>
        </p:nvSpPr>
        <p:spPr>
          <a:xfrm>
            <a:off x="457200" y="980033"/>
            <a:ext cx="8229600" cy="216027"/>
          </a:xfrm>
          <a:prstGeom prst="rect">
            <a:avLst/>
          </a:prstGeom>
          <a:noFill/>
          <a:ln/>
        </p:spPr>
        <p:txBody>
          <a:bodyPr wrap="square" lIns="0" tIns="0" rIns="0" bIns="0" rtlCol="0" anchor="t"/>
          <a:lstStyle/>
          <a:p>
            <a:pPr marL="0" indent="0" algn="l">
              <a:lnSpc>
                <a:spcPts val="1575"/>
              </a:lnSpc>
              <a:buNone/>
            </a:pPr>
            <a:r>
              <a:rPr lang="en-US" sz="1125" dirty="0">
                <a:solidFill>
                  <a:srgbClr val="334155"/>
                </a:solidFill>
                <a:latin typeface="Carlito" pitchFamily="34" charset="0"/>
                <a:ea typeface="Carlito" pitchFamily="34" charset="-122"/>
                <a:cs typeface="Carlito" pitchFamily="34" charset="-120"/>
              </a:rPr>
              <a:t>When file X changes, what ELSE must be rebuilt or re-tested?</a:t>
            </a:r>
            <a:endParaRPr lang="en-US" sz="1125" dirty="0"/>
          </a:p>
        </p:txBody>
      </p:sp>
      <p:sp>
        <p:nvSpPr>
          <p:cNvPr id="5" name="Text 3"/>
          <p:cNvSpPr/>
          <p:nvPr/>
        </p:nvSpPr>
        <p:spPr>
          <a:xfrm>
            <a:off x="460772" y="1269355"/>
            <a:ext cx="4050506" cy="1645965"/>
          </a:xfrm>
          <a:prstGeom prst="roundRect">
            <a:avLst>
              <a:gd name="adj" fmla="val 8102"/>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6" name="Text 4"/>
          <p:cNvSpPr/>
          <p:nvPr/>
        </p:nvSpPr>
        <p:spPr>
          <a:xfrm>
            <a:off x="3467619" y="2340248"/>
            <a:ext cx="1165774" cy="442913"/>
          </a:xfrm>
          <a:prstGeom prst="rect">
            <a:avLst/>
          </a:prstGeom>
          <a:noFill/>
          <a:ln/>
        </p:spPr>
        <p:txBody>
          <a:bodyPr wrap="square" lIns="0" tIns="0" rIns="0" bIns="0" rtlCol="0" anchor="t"/>
          <a:lstStyle/>
          <a:p>
            <a:pPr marL="0" indent="0" algn="l">
              <a:lnSpc>
                <a:spcPts val="5063"/>
              </a:lnSpc>
              <a:buNone/>
            </a:pPr>
            <a:r>
              <a:rPr lang="en-US" sz="5063" b="1" dirty="0">
                <a:solidFill>
                  <a:srgbClr val="F97316">
                    <a:alpha val="7000"/>
                  </a:srgbClr>
                </a:solidFill>
                <a:latin typeface="Liberation Sans Narrow" pitchFamily="34" charset="0"/>
                <a:ea typeface="Liberation Sans Narrow" pitchFamily="34" charset="-122"/>
                <a:cs typeface="Liberation Sans Narrow" pitchFamily="34" charset="-120"/>
              </a:rPr>
              <a:t>01</a:t>
            </a:r>
            <a:endParaRPr lang="en-US" sz="5063" dirty="0"/>
          </a:p>
        </p:txBody>
      </p:sp>
      <p:sp>
        <p:nvSpPr>
          <p:cNvPr id="7" name="Text 5"/>
          <p:cNvSpPr/>
          <p:nvPr/>
        </p:nvSpPr>
        <p:spPr>
          <a:xfrm>
            <a:off x="621506" y="1401514"/>
            <a:ext cx="328613" cy="328613"/>
          </a:xfrm>
          <a:prstGeom prst="roundRect">
            <a:avLst>
              <a:gd name="adj" fmla="val 34783"/>
            </a:avLst>
          </a:prstGeom>
          <a:solidFill>
            <a:srgbClr val="F97316"/>
          </a:solidFill>
          <a:ln/>
        </p:spPr>
        <p:txBody>
          <a:bodyPr wrap="square" rtlCol="0" anchor="ctr"/>
          <a:lstStyle/>
          <a:p>
            <a:pPr marL="0" indent="0">
              <a:buNone/>
            </a:pPr>
            <a:endParaRPr lang="en-US" dirty="0"/>
          </a:p>
        </p:txBody>
      </p:sp>
      <p:sp>
        <p:nvSpPr>
          <p:cNvPr id="8" name="Text 6"/>
          <p:cNvSpPr/>
          <p:nvPr/>
        </p:nvSpPr>
        <p:spPr>
          <a:xfrm>
            <a:off x="621506" y="1401514"/>
            <a:ext cx="371475" cy="328613"/>
          </a:xfrm>
          <a:prstGeom prst="rect">
            <a:avLst/>
          </a:prstGeom>
          <a:noFill/>
          <a:ln/>
        </p:spPr>
        <p:txBody>
          <a:bodyPr wrap="none" lIns="0" tIns="0" rIns="0" bIns="0" rtlCol="0" anchor="ctr"/>
          <a:lstStyle/>
          <a:p>
            <a:pPr marL="0" indent="0" algn="ctr">
              <a:lnSpc>
                <a:spcPts val="1733"/>
              </a:lnSpc>
              <a:buNone/>
            </a:pPr>
            <a:r>
              <a:rPr lang="en-US" sz="1238" b="1" dirty="0">
                <a:solidFill>
                  <a:srgbClr val="FFFFFF"/>
                </a:solidFill>
                <a:latin typeface="Liberation Sans Narrow" pitchFamily="34" charset="0"/>
                <a:ea typeface="Liberation Sans Narrow" pitchFamily="34" charset="-122"/>
                <a:cs typeface="Liberation Sans Narrow" pitchFamily="34" charset="-120"/>
              </a:rPr>
              <a:t>01</a:t>
            </a:r>
            <a:endParaRPr lang="en-US" sz="1238" dirty="0"/>
          </a:p>
        </p:txBody>
      </p:sp>
      <p:sp>
        <p:nvSpPr>
          <p:cNvPr id="9" name="Text 7"/>
          <p:cNvSpPr/>
          <p:nvPr/>
        </p:nvSpPr>
        <p:spPr>
          <a:xfrm>
            <a:off x="1035844" y="1465808"/>
            <a:ext cx="200025" cy="200025"/>
          </a:xfrm>
          <a:prstGeom prst="rect">
            <a:avLst/>
          </a:prstGeom>
          <a:noFill/>
          <a:ln/>
        </p:spPr>
        <p:txBody>
          <a:bodyPr wrap="none" lIns="0" tIns="0" rIns="0" bIns="0" rtlCol="0" anchor="ctr"/>
          <a:lstStyle/>
          <a:p>
            <a:pPr marL="0" indent="0" algn="ctr">
              <a:buNone/>
            </a:pPr>
            <a:r>
              <a:rPr lang="en-US" sz="1969" dirty="0">
                <a:solidFill>
                  <a:srgbClr val="F97316"/>
                </a:solidFill>
                <a:latin typeface="Segoe UI Symbol" pitchFamily="34" charset="0"/>
                <a:ea typeface="Segoe UI Symbol" pitchFamily="34" charset="-122"/>
                <a:cs typeface="Segoe UI Symbol" pitchFamily="34" charset="-120"/>
              </a:rPr>
              <a:t>✿</a:t>
            </a:r>
            <a:endParaRPr lang="en-US" sz="1969" dirty="0"/>
          </a:p>
        </p:txBody>
      </p:sp>
      <p:sp>
        <p:nvSpPr>
          <p:cNvPr id="10" name="Text 8"/>
          <p:cNvSpPr/>
          <p:nvPr/>
        </p:nvSpPr>
        <p:spPr>
          <a:xfrm>
            <a:off x="621506" y="1787277"/>
            <a:ext cx="3729038" cy="195172"/>
          </a:xfrm>
          <a:prstGeom prst="rect">
            <a:avLst/>
          </a:prstGeom>
          <a:noFill/>
          <a:ln/>
        </p:spPr>
        <p:txBody>
          <a:bodyPr wrap="none" lIns="0" tIns="0" rIns="0" bIns="0" rtlCol="0" anchor="t"/>
          <a:lstStyle/>
          <a:p>
            <a:pPr marL="0" indent="0" algn="l">
              <a:lnSpc>
                <a:spcPts val="1423"/>
              </a:lnSpc>
              <a:buNone/>
            </a:pPr>
            <a:r>
              <a:rPr lang="en-US" sz="1238" b="1" dirty="0">
                <a:solidFill>
                  <a:srgbClr val="0F172A"/>
                </a:solidFill>
                <a:latin typeface="Carlito" pitchFamily="34" charset="0"/>
                <a:ea typeface="Carlito" pitchFamily="34" charset="-122"/>
                <a:cs typeface="Carlito" pitchFamily="34" charset="-120"/>
              </a:rPr>
              <a:t>Build a Dependency Graph</a:t>
            </a:r>
            <a:endParaRPr lang="en-US" sz="1238" dirty="0"/>
          </a:p>
        </p:txBody>
      </p:sp>
      <p:sp>
        <p:nvSpPr>
          <p:cNvPr id="11" name="Text 9"/>
          <p:cNvSpPr/>
          <p:nvPr/>
        </p:nvSpPr>
        <p:spPr>
          <a:xfrm>
            <a:off x="621506" y="2025142"/>
            <a:ext cx="3729038" cy="367198"/>
          </a:xfrm>
          <a:prstGeom prst="rect">
            <a:avLst/>
          </a:prstGeom>
          <a:noFill/>
          <a:ln/>
        </p:spPr>
        <p:txBody>
          <a:bodyPr wrap="square" lIns="0" tIns="0" rIns="0" bIns="0" rtlCol="0" anchor="t"/>
          <a:lstStyle/>
          <a:p>
            <a:pPr marL="0" indent="0" algn="l">
              <a:lnSpc>
                <a:spcPts val="1339"/>
              </a:lnSpc>
              <a:buNone/>
            </a:pPr>
            <a:r>
              <a:rPr lang="en-US" sz="956" dirty="0">
                <a:solidFill>
                  <a:srgbClr val="334155"/>
                </a:solidFill>
                <a:latin typeface="Carlito" pitchFamily="34" charset="0"/>
                <a:ea typeface="Carlito" pitchFamily="34" charset="-122"/>
                <a:cs typeface="Carlito" pitchFamily="34" charset="-120"/>
              </a:rPr>
              <a:t>Parse every module/file in the codebase. Build a directed graph where an edge A→B means B depends on A.</a:t>
            </a:r>
            <a:endParaRPr lang="en-US" sz="956" dirty="0"/>
          </a:p>
        </p:txBody>
      </p:sp>
      <p:sp>
        <p:nvSpPr>
          <p:cNvPr id="12" name="Text 10"/>
          <p:cNvSpPr/>
          <p:nvPr/>
        </p:nvSpPr>
        <p:spPr>
          <a:xfrm>
            <a:off x="4632722" y="1269355"/>
            <a:ext cx="4050506" cy="1645965"/>
          </a:xfrm>
          <a:prstGeom prst="roundRect">
            <a:avLst>
              <a:gd name="adj" fmla="val 8102"/>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13" name="Text 11"/>
          <p:cNvSpPr/>
          <p:nvPr/>
        </p:nvSpPr>
        <p:spPr>
          <a:xfrm>
            <a:off x="7639569" y="2340248"/>
            <a:ext cx="1165774" cy="442913"/>
          </a:xfrm>
          <a:prstGeom prst="rect">
            <a:avLst/>
          </a:prstGeom>
          <a:noFill/>
          <a:ln/>
        </p:spPr>
        <p:txBody>
          <a:bodyPr wrap="square" lIns="0" tIns="0" rIns="0" bIns="0" rtlCol="0" anchor="t"/>
          <a:lstStyle/>
          <a:p>
            <a:pPr marL="0" indent="0" algn="l">
              <a:lnSpc>
                <a:spcPts val="5063"/>
              </a:lnSpc>
              <a:buNone/>
            </a:pPr>
            <a:r>
              <a:rPr lang="en-US" sz="5063" b="1" dirty="0">
                <a:solidFill>
                  <a:srgbClr val="F97316">
                    <a:alpha val="7000"/>
                  </a:srgbClr>
                </a:solidFill>
                <a:latin typeface="Liberation Sans Narrow" pitchFamily="34" charset="0"/>
                <a:ea typeface="Liberation Sans Narrow" pitchFamily="34" charset="-122"/>
                <a:cs typeface="Liberation Sans Narrow" pitchFamily="34" charset="-120"/>
              </a:rPr>
              <a:t>02</a:t>
            </a:r>
            <a:endParaRPr lang="en-US" sz="5063" dirty="0"/>
          </a:p>
        </p:txBody>
      </p:sp>
      <p:sp>
        <p:nvSpPr>
          <p:cNvPr id="14" name="Text 12"/>
          <p:cNvSpPr/>
          <p:nvPr/>
        </p:nvSpPr>
        <p:spPr>
          <a:xfrm>
            <a:off x="4793456" y="1401514"/>
            <a:ext cx="328613" cy="328613"/>
          </a:xfrm>
          <a:prstGeom prst="roundRect">
            <a:avLst>
              <a:gd name="adj" fmla="val 34783"/>
            </a:avLst>
          </a:prstGeom>
          <a:solidFill>
            <a:srgbClr val="F97316"/>
          </a:solidFill>
          <a:ln/>
        </p:spPr>
        <p:txBody>
          <a:bodyPr wrap="square" rtlCol="0" anchor="ctr"/>
          <a:lstStyle/>
          <a:p>
            <a:pPr marL="0" indent="0">
              <a:buNone/>
            </a:pPr>
            <a:endParaRPr lang="en-US" dirty="0"/>
          </a:p>
        </p:txBody>
      </p:sp>
      <p:sp>
        <p:nvSpPr>
          <p:cNvPr id="15" name="Text 13"/>
          <p:cNvSpPr/>
          <p:nvPr/>
        </p:nvSpPr>
        <p:spPr>
          <a:xfrm>
            <a:off x="4793456" y="1401514"/>
            <a:ext cx="371475" cy="328613"/>
          </a:xfrm>
          <a:prstGeom prst="rect">
            <a:avLst/>
          </a:prstGeom>
          <a:noFill/>
          <a:ln/>
        </p:spPr>
        <p:txBody>
          <a:bodyPr wrap="none" lIns="0" tIns="0" rIns="0" bIns="0" rtlCol="0" anchor="ctr"/>
          <a:lstStyle/>
          <a:p>
            <a:pPr marL="0" indent="0" algn="ctr">
              <a:lnSpc>
                <a:spcPts val="1733"/>
              </a:lnSpc>
              <a:buNone/>
            </a:pPr>
            <a:r>
              <a:rPr lang="en-US" sz="1238" b="1" dirty="0">
                <a:solidFill>
                  <a:srgbClr val="FFFFFF"/>
                </a:solidFill>
                <a:latin typeface="Liberation Sans Narrow" pitchFamily="34" charset="0"/>
                <a:ea typeface="Liberation Sans Narrow" pitchFamily="34" charset="-122"/>
                <a:cs typeface="Liberation Sans Narrow" pitchFamily="34" charset="-120"/>
              </a:rPr>
              <a:t>02</a:t>
            </a:r>
            <a:endParaRPr lang="en-US" sz="1238" dirty="0"/>
          </a:p>
        </p:txBody>
      </p:sp>
      <p:sp>
        <p:nvSpPr>
          <p:cNvPr id="16" name="Text 14"/>
          <p:cNvSpPr/>
          <p:nvPr/>
        </p:nvSpPr>
        <p:spPr>
          <a:xfrm>
            <a:off x="5207794" y="1465808"/>
            <a:ext cx="200025" cy="200025"/>
          </a:xfrm>
          <a:prstGeom prst="rect">
            <a:avLst/>
          </a:prstGeom>
          <a:noFill/>
          <a:ln/>
        </p:spPr>
        <p:txBody>
          <a:bodyPr wrap="none" lIns="0" tIns="0" rIns="0" bIns="0" rtlCol="0" anchor="ctr"/>
          <a:lstStyle/>
          <a:p>
            <a:pPr marL="0" indent="0" algn="ctr">
              <a:buNone/>
            </a:pPr>
            <a:r>
              <a:rPr lang="en-US" sz="1969" dirty="0">
                <a:solidFill>
                  <a:srgbClr val="F97316"/>
                </a:solidFill>
                <a:latin typeface="Segoe UI Symbol" pitchFamily="34" charset="0"/>
                <a:ea typeface="Segoe UI Symbol" pitchFamily="34" charset="-122"/>
                <a:cs typeface="Segoe UI Symbol" pitchFamily="34" charset="-120"/>
              </a:rPr>
              <a:t>✦</a:t>
            </a:r>
            <a:endParaRPr lang="en-US" sz="1969" dirty="0"/>
          </a:p>
        </p:txBody>
      </p:sp>
      <p:sp>
        <p:nvSpPr>
          <p:cNvPr id="17" name="Text 15"/>
          <p:cNvSpPr/>
          <p:nvPr/>
        </p:nvSpPr>
        <p:spPr>
          <a:xfrm>
            <a:off x="4793456" y="1787277"/>
            <a:ext cx="3729038" cy="195172"/>
          </a:xfrm>
          <a:prstGeom prst="rect">
            <a:avLst/>
          </a:prstGeom>
          <a:noFill/>
          <a:ln/>
        </p:spPr>
        <p:txBody>
          <a:bodyPr wrap="none" lIns="0" tIns="0" rIns="0" bIns="0" rtlCol="0" anchor="t"/>
          <a:lstStyle/>
          <a:p>
            <a:pPr marL="0" indent="0" algn="l">
              <a:lnSpc>
                <a:spcPts val="1423"/>
              </a:lnSpc>
              <a:buNone/>
            </a:pPr>
            <a:r>
              <a:rPr lang="en-US" sz="1238" b="1" dirty="0">
                <a:solidFill>
                  <a:srgbClr val="0F172A"/>
                </a:solidFill>
                <a:latin typeface="Carlito" pitchFamily="34" charset="0"/>
                <a:ea typeface="Carlito" pitchFamily="34" charset="-122"/>
                <a:cs typeface="Carlito" pitchFamily="34" charset="-120"/>
              </a:rPr>
              <a:t>Identify the Changed Node</a:t>
            </a:r>
            <a:endParaRPr lang="en-US" sz="1238" dirty="0"/>
          </a:p>
        </p:txBody>
      </p:sp>
      <p:sp>
        <p:nvSpPr>
          <p:cNvPr id="18" name="Text 16"/>
          <p:cNvSpPr/>
          <p:nvPr/>
        </p:nvSpPr>
        <p:spPr>
          <a:xfrm>
            <a:off x="4793456" y="2025142"/>
            <a:ext cx="3729038" cy="367198"/>
          </a:xfrm>
          <a:prstGeom prst="rect">
            <a:avLst/>
          </a:prstGeom>
          <a:noFill/>
          <a:ln/>
        </p:spPr>
        <p:txBody>
          <a:bodyPr wrap="square" lIns="0" tIns="0" rIns="0" bIns="0" rtlCol="0" anchor="t"/>
          <a:lstStyle/>
          <a:p>
            <a:pPr marL="0" indent="0" algn="l">
              <a:lnSpc>
                <a:spcPts val="1339"/>
              </a:lnSpc>
              <a:buNone/>
            </a:pPr>
            <a:r>
              <a:rPr lang="en-US" sz="956" dirty="0">
                <a:solidFill>
                  <a:srgbClr val="334155"/>
                </a:solidFill>
                <a:latin typeface="Carlito" pitchFamily="34" charset="0"/>
                <a:ea typeface="Carlito" pitchFamily="34" charset="-122"/>
                <a:cs typeface="Carlito" pitchFamily="34" charset="-120"/>
              </a:rPr>
              <a:t>Compare the current commit with the previous one. The diff tells us which files (graph nodes) changed.</a:t>
            </a:r>
            <a:endParaRPr lang="en-US" sz="956" dirty="0"/>
          </a:p>
        </p:txBody>
      </p:sp>
      <p:sp>
        <p:nvSpPr>
          <p:cNvPr id="19" name="Text 17"/>
          <p:cNvSpPr/>
          <p:nvPr/>
        </p:nvSpPr>
        <p:spPr>
          <a:xfrm>
            <a:off x="460772" y="3036763"/>
            <a:ext cx="4050506" cy="1645965"/>
          </a:xfrm>
          <a:prstGeom prst="roundRect">
            <a:avLst>
              <a:gd name="adj" fmla="val 8102"/>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20" name="Text 18"/>
          <p:cNvSpPr/>
          <p:nvPr/>
        </p:nvSpPr>
        <p:spPr>
          <a:xfrm>
            <a:off x="3467619" y="4107656"/>
            <a:ext cx="1165774" cy="442913"/>
          </a:xfrm>
          <a:prstGeom prst="rect">
            <a:avLst/>
          </a:prstGeom>
          <a:noFill/>
          <a:ln/>
        </p:spPr>
        <p:txBody>
          <a:bodyPr wrap="square" lIns="0" tIns="0" rIns="0" bIns="0" rtlCol="0" anchor="t"/>
          <a:lstStyle/>
          <a:p>
            <a:pPr marL="0" indent="0" algn="l">
              <a:lnSpc>
                <a:spcPts val="5063"/>
              </a:lnSpc>
              <a:buNone/>
            </a:pPr>
            <a:r>
              <a:rPr lang="en-US" sz="5063" b="1" dirty="0">
                <a:solidFill>
                  <a:srgbClr val="F97316">
                    <a:alpha val="7000"/>
                  </a:srgbClr>
                </a:solidFill>
                <a:latin typeface="Liberation Sans Narrow" pitchFamily="34" charset="0"/>
                <a:ea typeface="Liberation Sans Narrow" pitchFamily="34" charset="-122"/>
                <a:cs typeface="Liberation Sans Narrow" pitchFamily="34" charset="-120"/>
              </a:rPr>
              <a:t>03</a:t>
            </a:r>
            <a:endParaRPr lang="en-US" sz="5063" dirty="0"/>
          </a:p>
        </p:txBody>
      </p:sp>
      <p:sp>
        <p:nvSpPr>
          <p:cNvPr id="21" name="Text 19"/>
          <p:cNvSpPr/>
          <p:nvPr/>
        </p:nvSpPr>
        <p:spPr>
          <a:xfrm>
            <a:off x="621506" y="3168923"/>
            <a:ext cx="328613" cy="328613"/>
          </a:xfrm>
          <a:prstGeom prst="roundRect">
            <a:avLst>
              <a:gd name="adj" fmla="val 34783"/>
            </a:avLst>
          </a:prstGeom>
          <a:solidFill>
            <a:srgbClr val="F97316"/>
          </a:solidFill>
          <a:ln/>
        </p:spPr>
        <p:txBody>
          <a:bodyPr wrap="square" rtlCol="0" anchor="ctr"/>
          <a:lstStyle/>
          <a:p>
            <a:pPr marL="0" indent="0">
              <a:buNone/>
            </a:pPr>
            <a:endParaRPr lang="en-US" dirty="0"/>
          </a:p>
        </p:txBody>
      </p:sp>
      <p:sp>
        <p:nvSpPr>
          <p:cNvPr id="22" name="Text 20"/>
          <p:cNvSpPr/>
          <p:nvPr/>
        </p:nvSpPr>
        <p:spPr>
          <a:xfrm>
            <a:off x="621506" y="3168923"/>
            <a:ext cx="371475" cy="328613"/>
          </a:xfrm>
          <a:prstGeom prst="rect">
            <a:avLst/>
          </a:prstGeom>
          <a:noFill/>
          <a:ln/>
        </p:spPr>
        <p:txBody>
          <a:bodyPr wrap="none" lIns="0" tIns="0" rIns="0" bIns="0" rtlCol="0" anchor="ctr"/>
          <a:lstStyle/>
          <a:p>
            <a:pPr marL="0" indent="0" algn="ctr">
              <a:lnSpc>
                <a:spcPts val="1733"/>
              </a:lnSpc>
              <a:buNone/>
            </a:pPr>
            <a:r>
              <a:rPr lang="en-US" sz="1238" b="1" dirty="0">
                <a:solidFill>
                  <a:srgbClr val="FFFFFF"/>
                </a:solidFill>
                <a:latin typeface="Liberation Sans Narrow" pitchFamily="34" charset="0"/>
                <a:ea typeface="Liberation Sans Narrow" pitchFamily="34" charset="-122"/>
                <a:cs typeface="Liberation Sans Narrow" pitchFamily="34" charset="-120"/>
              </a:rPr>
              <a:t>03</a:t>
            </a:r>
            <a:endParaRPr lang="en-US" sz="1238" dirty="0"/>
          </a:p>
        </p:txBody>
      </p:sp>
      <p:sp>
        <p:nvSpPr>
          <p:cNvPr id="23" name="Text 21"/>
          <p:cNvSpPr/>
          <p:nvPr/>
        </p:nvSpPr>
        <p:spPr>
          <a:xfrm>
            <a:off x="1035844" y="3233217"/>
            <a:ext cx="200025" cy="200025"/>
          </a:xfrm>
          <a:prstGeom prst="rect">
            <a:avLst/>
          </a:prstGeom>
          <a:noFill/>
          <a:ln/>
        </p:spPr>
        <p:txBody>
          <a:bodyPr wrap="none" lIns="0" tIns="0" rIns="0" bIns="0" rtlCol="0" anchor="ctr"/>
          <a:lstStyle/>
          <a:p>
            <a:pPr marL="0" indent="0" algn="ctr">
              <a:buNone/>
            </a:pPr>
            <a:r>
              <a:rPr lang="en-US" sz="1969" dirty="0">
                <a:solidFill>
                  <a:srgbClr val="F97316"/>
                </a:solidFill>
                <a:latin typeface="Segoe UI Symbol" pitchFamily="34" charset="0"/>
                <a:ea typeface="Segoe UI Symbol" pitchFamily="34" charset="-122"/>
                <a:cs typeface="Segoe UI Symbol" pitchFamily="34" charset="-120"/>
              </a:rPr>
              <a:t>✦</a:t>
            </a:r>
            <a:endParaRPr lang="en-US" sz="1969" dirty="0"/>
          </a:p>
        </p:txBody>
      </p:sp>
      <p:sp>
        <p:nvSpPr>
          <p:cNvPr id="24" name="Text 22"/>
          <p:cNvSpPr/>
          <p:nvPr/>
        </p:nvSpPr>
        <p:spPr>
          <a:xfrm>
            <a:off x="621506" y="3554685"/>
            <a:ext cx="3729038" cy="195172"/>
          </a:xfrm>
          <a:prstGeom prst="rect">
            <a:avLst/>
          </a:prstGeom>
          <a:noFill/>
          <a:ln/>
        </p:spPr>
        <p:txBody>
          <a:bodyPr wrap="none" lIns="0" tIns="0" rIns="0" bIns="0" rtlCol="0" anchor="t"/>
          <a:lstStyle/>
          <a:p>
            <a:pPr marL="0" indent="0" algn="l">
              <a:lnSpc>
                <a:spcPts val="1423"/>
              </a:lnSpc>
              <a:buNone/>
            </a:pPr>
            <a:r>
              <a:rPr lang="en-US" sz="1238" b="1" dirty="0">
                <a:solidFill>
                  <a:srgbClr val="0F172A"/>
                </a:solidFill>
                <a:latin typeface="Carlito" pitchFamily="34" charset="0"/>
                <a:ea typeface="Carlito" pitchFamily="34" charset="-122"/>
                <a:cs typeface="Carlito" pitchFamily="34" charset="-120"/>
              </a:rPr>
              <a:t>Compute the Impact Set</a:t>
            </a:r>
            <a:endParaRPr lang="en-US" sz="1238" dirty="0"/>
          </a:p>
        </p:txBody>
      </p:sp>
      <p:sp>
        <p:nvSpPr>
          <p:cNvPr id="25" name="Text 23"/>
          <p:cNvSpPr/>
          <p:nvPr/>
        </p:nvSpPr>
        <p:spPr>
          <a:xfrm>
            <a:off x="621506" y="3792550"/>
            <a:ext cx="3729038" cy="367198"/>
          </a:xfrm>
          <a:prstGeom prst="rect">
            <a:avLst/>
          </a:prstGeom>
          <a:noFill/>
          <a:ln/>
        </p:spPr>
        <p:txBody>
          <a:bodyPr wrap="square" lIns="0" tIns="0" rIns="0" bIns="0" rtlCol="0" anchor="t"/>
          <a:lstStyle/>
          <a:p>
            <a:pPr marL="0" indent="0" algn="l">
              <a:lnSpc>
                <a:spcPts val="1339"/>
              </a:lnSpc>
              <a:buNone/>
            </a:pPr>
            <a:r>
              <a:rPr lang="en-US" sz="956" dirty="0">
                <a:solidFill>
                  <a:srgbClr val="334155"/>
                </a:solidFill>
                <a:latin typeface="Carlito" pitchFamily="34" charset="0"/>
                <a:ea typeface="Carlito" pitchFamily="34" charset="-122"/>
                <a:cs typeface="Carlito" pitchFamily="34" charset="-120"/>
              </a:rPr>
              <a:t>Traverse the graph from each changed node. Every reachable node is in the impact set — it MIGHT be affected and must be re-validated.</a:t>
            </a:r>
            <a:endParaRPr lang="en-US" sz="956" dirty="0"/>
          </a:p>
        </p:txBody>
      </p:sp>
      <p:sp>
        <p:nvSpPr>
          <p:cNvPr id="26" name="Text 24"/>
          <p:cNvSpPr/>
          <p:nvPr/>
        </p:nvSpPr>
        <p:spPr>
          <a:xfrm>
            <a:off x="4632722" y="3036763"/>
            <a:ext cx="4050506" cy="1645965"/>
          </a:xfrm>
          <a:prstGeom prst="roundRect">
            <a:avLst>
              <a:gd name="adj" fmla="val 8102"/>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27" name="Text 25"/>
          <p:cNvSpPr/>
          <p:nvPr/>
        </p:nvSpPr>
        <p:spPr>
          <a:xfrm>
            <a:off x="7639569" y="4107656"/>
            <a:ext cx="1165774" cy="442913"/>
          </a:xfrm>
          <a:prstGeom prst="rect">
            <a:avLst/>
          </a:prstGeom>
          <a:noFill/>
          <a:ln/>
        </p:spPr>
        <p:txBody>
          <a:bodyPr wrap="square" lIns="0" tIns="0" rIns="0" bIns="0" rtlCol="0" anchor="t"/>
          <a:lstStyle/>
          <a:p>
            <a:pPr marL="0" indent="0" algn="l">
              <a:lnSpc>
                <a:spcPts val="5063"/>
              </a:lnSpc>
              <a:buNone/>
            </a:pPr>
            <a:r>
              <a:rPr lang="en-US" sz="5063" b="1" dirty="0">
                <a:solidFill>
                  <a:srgbClr val="F97316">
                    <a:alpha val="7000"/>
                  </a:srgbClr>
                </a:solidFill>
                <a:latin typeface="Liberation Sans Narrow" pitchFamily="34" charset="0"/>
                <a:ea typeface="Liberation Sans Narrow" pitchFamily="34" charset="-122"/>
                <a:cs typeface="Liberation Sans Narrow" pitchFamily="34" charset="-120"/>
              </a:rPr>
              <a:t>04</a:t>
            </a:r>
            <a:endParaRPr lang="en-US" sz="5063" dirty="0"/>
          </a:p>
        </p:txBody>
      </p:sp>
      <p:sp>
        <p:nvSpPr>
          <p:cNvPr id="28" name="Text 26"/>
          <p:cNvSpPr/>
          <p:nvPr/>
        </p:nvSpPr>
        <p:spPr>
          <a:xfrm>
            <a:off x="4793456" y="3168923"/>
            <a:ext cx="328613" cy="328613"/>
          </a:xfrm>
          <a:prstGeom prst="roundRect">
            <a:avLst>
              <a:gd name="adj" fmla="val 34783"/>
            </a:avLst>
          </a:prstGeom>
          <a:solidFill>
            <a:srgbClr val="F97316"/>
          </a:solidFill>
          <a:ln/>
        </p:spPr>
        <p:txBody>
          <a:bodyPr wrap="square" rtlCol="0" anchor="ctr"/>
          <a:lstStyle/>
          <a:p>
            <a:pPr marL="0" indent="0">
              <a:buNone/>
            </a:pPr>
            <a:endParaRPr lang="en-US" dirty="0"/>
          </a:p>
        </p:txBody>
      </p:sp>
      <p:sp>
        <p:nvSpPr>
          <p:cNvPr id="29" name="Text 27"/>
          <p:cNvSpPr/>
          <p:nvPr/>
        </p:nvSpPr>
        <p:spPr>
          <a:xfrm>
            <a:off x="4793456" y="3168923"/>
            <a:ext cx="371475" cy="328613"/>
          </a:xfrm>
          <a:prstGeom prst="rect">
            <a:avLst/>
          </a:prstGeom>
          <a:noFill/>
          <a:ln/>
        </p:spPr>
        <p:txBody>
          <a:bodyPr wrap="none" lIns="0" tIns="0" rIns="0" bIns="0" rtlCol="0" anchor="ctr"/>
          <a:lstStyle/>
          <a:p>
            <a:pPr marL="0" indent="0" algn="ctr">
              <a:lnSpc>
                <a:spcPts val="1733"/>
              </a:lnSpc>
              <a:buNone/>
            </a:pPr>
            <a:r>
              <a:rPr lang="en-US" sz="1238" b="1" dirty="0">
                <a:solidFill>
                  <a:srgbClr val="FFFFFF"/>
                </a:solidFill>
                <a:latin typeface="Liberation Sans Narrow" pitchFamily="34" charset="0"/>
                <a:ea typeface="Liberation Sans Narrow" pitchFamily="34" charset="-122"/>
                <a:cs typeface="Liberation Sans Narrow" pitchFamily="34" charset="-120"/>
              </a:rPr>
              <a:t>04</a:t>
            </a:r>
            <a:endParaRPr lang="en-US" sz="1238" dirty="0"/>
          </a:p>
        </p:txBody>
      </p:sp>
      <p:sp>
        <p:nvSpPr>
          <p:cNvPr id="30" name="Text 28"/>
          <p:cNvSpPr/>
          <p:nvPr/>
        </p:nvSpPr>
        <p:spPr>
          <a:xfrm>
            <a:off x="5207794" y="3233217"/>
            <a:ext cx="200025" cy="200025"/>
          </a:xfrm>
          <a:prstGeom prst="rect">
            <a:avLst/>
          </a:prstGeom>
          <a:noFill/>
          <a:ln/>
        </p:spPr>
        <p:txBody>
          <a:bodyPr wrap="none" lIns="0" tIns="0" rIns="0" bIns="0" rtlCol="0" anchor="ctr"/>
          <a:lstStyle/>
          <a:p>
            <a:pPr marL="0" indent="0" algn="ctr">
              <a:buNone/>
            </a:pPr>
            <a:r>
              <a:rPr lang="en-US" sz="1969" dirty="0">
                <a:solidFill>
                  <a:srgbClr val="F97316"/>
                </a:solidFill>
                <a:latin typeface="Segoe UI Symbol" pitchFamily="34" charset="0"/>
                <a:ea typeface="Segoe UI Symbol" pitchFamily="34" charset="-122"/>
                <a:cs typeface="Segoe UI Symbol" pitchFamily="34" charset="-120"/>
              </a:rPr>
              <a:t>✕</a:t>
            </a:r>
            <a:endParaRPr lang="en-US" sz="1969" dirty="0"/>
          </a:p>
        </p:txBody>
      </p:sp>
      <p:sp>
        <p:nvSpPr>
          <p:cNvPr id="31" name="Text 29"/>
          <p:cNvSpPr/>
          <p:nvPr/>
        </p:nvSpPr>
        <p:spPr>
          <a:xfrm>
            <a:off x="4793456" y="3554685"/>
            <a:ext cx="3838765" cy="195172"/>
          </a:xfrm>
          <a:prstGeom prst="rect">
            <a:avLst/>
          </a:prstGeom>
          <a:noFill/>
          <a:ln/>
        </p:spPr>
        <p:txBody>
          <a:bodyPr wrap="square" lIns="0" tIns="0" rIns="0" bIns="0" rtlCol="0" anchor="t"/>
          <a:lstStyle/>
          <a:p>
            <a:pPr marL="0" indent="0" algn="l">
              <a:lnSpc>
                <a:spcPts val="1423"/>
              </a:lnSpc>
              <a:buNone/>
            </a:pPr>
            <a:r>
              <a:rPr lang="en-US" sz="1238" b="1" dirty="0">
                <a:solidFill>
                  <a:srgbClr val="0F172A"/>
                </a:solidFill>
                <a:latin typeface="Carlito" pitchFamily="34" charset="0"/>
                <a:ea typeface="Carlito" pitchFamily="34" charset="-122"/>
                <a:cs typeface="Carlito" pitchFamily="34" charset="-120"/>
              </a:rPr>
              <a:t>Invalidate Only the Impact Set</a:t>
            </a:r>
            <a:endParaRPr lang="en-US" sz="1238" dirty="0"/>
          </a:p>
        </p:txBody>
      </p:sp>
      <p:sp>
        <p:nvSpPr>
          <p:cNvPr id="32" name="Text 30"/>
          <p:cNvSpPr/>
          <p:nvPr/>
        </p:nvSpPr>
        <p:spPr>
          <a:xfrm>
            <a:off x="4793456" y="3792550"/>
            <a:ext cx="3729038" cy="367198"/>
          </a:xfrm>
          <a:prstGeom prst="rect">
            <a:avLst/>
          </a:prstGeom>
          <a:noFill/>
          <a:ln/>
        </p:spPr>
        <p:txBody>
          <a:bodyPr wrap="square" lIns="0" tIns="0" rIns="0" bIns="0" rtlCol="0" anchor="t"/>
          <a:lstStyle/>
          <a:p>
            <a:pPr marL="0" indent="0" algn="l">
              <a:lnSpc>
                <a:spcPts val="1339"/>
              </a:lnSpc>
              <a:buNone/>
            </a:pPr>
            <a:r>
              <a:rPr lang="en-US" sz="956" dirty="0">
                <a:solidFill>
                  <a:srgbClr val="334155"/>
                </a:solidFill>
                <a:latin typeface="Carlito" pitchFamily="34" charset="0"/>
                <a:ea typeface="Carlito" pitchFamily="34" charset="-122"/>
                <a:cs typeface="Carlito" pitchFamily="34" charset="-120"/>
              </a:rPr>
              <a:t>Throw away cache entries for the impact set ONLY. Everything else stays cached. Build re-runs only for what could be affected.</a:t>
            </a:r>
            <a:endParaRPr lang="en-US" sz="956"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8636000" cy="319339"/>
          </a:xfrm>
          <a:prstGeom prst="rect">
            <a:avLst/>
          </a:prstGeom>
          <a:noFill/>
          <a:ln/>
        </p:spPr>
        <p:txBody>
          <a:bodyPr wrap="square" lIns="0" tIns="0" rIns="0" bIns="0" rtlCol="0" anchor="t"/>
          <a:lstStyle/>
          <a:p>
            <a:pPr marL="0" indent="0" algn="l">
              <a:lnSpc>
                <a:spcPts val="2329"/>
              </a:lnSpc>
              <a:buNone/>
            </a:pPr>
            <a:r>
              <a:rPr lang="en-US" sz="2025" b="1" dirty="0">
                <a:solidFill>
                  <a:srgbClr val="0F172A"/>
                </a:solidFill>
                <a:latin typeface="Carlito" pitchFamily="34" charset="0"/>
                <a:ea typeface="Carlito" pitchFamily="34" charset="-122"/>
                <a:cs typeface="Carlito" pitchFamily="34" charset="-120"/>
              </a:rPr>
              <a:t>How AI Makes Change-Impact Analysis Smarter</a:t>
            </a:r>
            <a:endParaRPr lang="en-US" sz="2025" dirty="0"/>
          </a:p>
        </p:txBody>
      </p:sp>
      <p:sp>
        <p:nvSpPr>
          <p:cNvPr id="3" name="Text 1"/>
          <p:cNvSpPr/>
          <p:nvPr/>
        </p:nvSpPr>
        <p:spPr>
          <a:xfrm>
            <a:off x="457200" y="810034"/>
            <a:ext cx="571500" cy="42863"/>
          </a:xfrm>
          <a:prstGeom prst="roundRect">
            <a:avLst>
              <a:gd name="adj" fmla="val 66666"/>
            </a:avLst>
          </a:prstGeom>
          <a:solidFill>
            <a:srgbClr val="F97316"/>
          </a:solidFill>
          <a:ln/>
        </p:spPr>
        <p:txBody>
          <a:bodyPr wrap="square" rtlCol="0" anchor="ctr"/>
          <a:lstStyle/>
          <a:p>
            <a:pPr marL="0" indent="0">
              <a:buNone/>
            </a:pPr>
            <a:endParaRPr lang="en-US" dirty="0"/>
          </a:p>
        </p:txBody>
      </p:sp>
      <p:sp>
        <p:nvSpPr>
          <p:cNvPr id="4" name="Shape 2"/>
          <p:cNvSpPr/>
          <p:nvPr/>
        </p:nvSpPr>
        <p:spPr>
          <a:xfrm>
            <a:off x="457200" y="2012528"/>
            <a:ext cx="4729163" cy="0"/>
          </a:xfrm>
          <a:prstGeom prst="line">
            <a:avLst/>
          </a:prstGeom>
          <a:noFill/>
          <a:ln w="7144">
            <a:solidFill>
              <a:srgbClr val="CBD5E1"/>
            </a:solidFill>
            <a:prstDash val="solid"/>
          </a:ln>
        </p:spPr>
      </p:sp>
      <p:sp>
        <p:nvSpPr>
          <p:cNvPr id="5" name="Text 3"/>
          <p:cNvSpPr/>
          <p:nvPr/>
        </p:nvSpPr>
        <p:spPr>
          <a:xfrm>
            <a:off x="457200" y="1309092"/>
            <a:ext cx="328613" cy="328613"/>
          </a:xfrm>
          <a:prstGeom prst="roundRect">
            <a:avLst>
              <a:gd name="adj" fmla="val 28985"/>
            </a:avLst>
          </a:prstGeom>
          <a:solidFill>
            <a:srgbClr val="F97316">
              <a:alpha val="12000"/>
            </a:srgbClr>
          </a:solidFill>
          <a:ln/>
        </p:spPr>
        <p:txBody>
          <a:bodyPr wrap="square" rtlCol="0" anchor="ctr"/>
          <a:lstStyle/>
          <a:p>
            <a:pPr marL="0" indent="0">
              <a:buNone/>
            </a:pPr>
            <a:endParaRPr lang="en-US" sz="2400" dirty="0"/>
          </a:p>
        </p:txBody>
      </p:sp>
      <p:sp>
        <p:nvSpPr>
          <p:cNvPr id="6" name="Text 4"/>
          <p:cNvSpPr/>
          <p:nvPr/>
        </p:nvSpPr>
        <p:spPr>
          <a:xfrm>
            <a:off x="486847" y="1338739"/>
            <a:ext cx="269319" cy="269319"/>
          </a:xfrm>
          <a:prstGeom prst="rect">
            <a:avLst/>
          </a:prstGeom>
          <a:noFill/>
          <a:ln/>
        </p:spPr>
        <p:txBody>
          <a:bodyPr wrap="none" lIns="0" tIns="0" rIns="0" bIns="0" rtlCol="0" anchor="ctr"/>
          <a:lstStyle/>
          <a:p>
            <a:pPr marL="0" indent="0" algn="ctr">
              <a:buNone/>
            </a:pPr>
            <a:r>
              <a:rPr lang="en-US" sz="2400" dirty="0">
                <a:solidFill>
                  <a:srgbClr val="F97316"/>
                </a:solidFill>
                <a:latin typeface="Segoe UI Symbol" pitchFamily="34" charset="0"/>
                <a:ea typeface="Segoe UI Symbol" pitchFamily="34" charset="-122"/>
                <a:cs typeface="Segoe UI Symbol" pitchFamily="34" charset="-120"/>
              </a:rPr>
              <a:t>✦</a:t>
            </a:r>
            <a:endParaRPr lang="en-US" sz="2400" dirty="0"/>
          </a:p>
        </p:txBody>
      </p:sp>
      <p:sp>
        <p:nvSpPr>
          <p:cNvPr id="7" name="Text 5"/>
          <p:cNvSpPr/>
          <p:nvPr/>
        </p:nvSpPr>
        <p:spPr>
          <a:xfrm>
            <a:off x="885825" y="1430536"/>
            <a:ext cx="1170638" cy="145357"/>
          </a:xfrm>
          <a:prstGeom prst="rect">
            <a:avLst/>
          </a:prstGeom>
          <a:noFill/>
          <a:ln/>
        </p:spPr>
        <p:txBody>
          <a:bodyPr wrap="none" lIns="0" tIns="0" rIns="0" bIns="0" rtlCol="0" anchor="t">
            <a:normAutofit/>
          </a:bodyPr>
          <a:lstStyle/>
          <a:p>
            <a:pPr marL="0" indent="0" algn="l">
              <a:lnSpc>
                <a:spcPts val="945"/>
              </a:lnSpc>
              <a:buNone/>
            </a:pPr>
            <a:r>
              <a:rPr lang="en-US" sz="900" b="1" kern="0" spc="56" dirty="0">
                <a:solidFill>
                  <a:srgbClr val="C2410C"/>
                </a:solidFill>
                <a:latin typeface="Carlito" pitchFamily="34" charset="0"/>
                <a:ea typeface="Carlito" pitchFamily="34" charset="-122"/>
                <a:cs typeface="Carlito" pitchFamily="34" charset="-120"/>
              </a:rPr>
              <a:t>LLM INTENT PARSING</a:t>
            </a:r>
            <a:endParaRPr lang="en-US" sz="900" dirty="0"/>
          </a:p>
        </p:txBody>
      </p:sp>
      <p:sp>
        <p:nvSpPr>
          <p:cNvPr id="8" name="Text 6"/>
          <p:cNvSpPr/>
          <p:nvPr/>
        </p:nvSpPr>
        <p:spPr>
          <a:xfrm>
            <a:off x="885825" y="1603325"/>
            <a:ext cx="4300538" cy="319906"/>
          </a:xfrm>
          <a:prstGeom prst="rect">
            <a:avLst/>
          </a:prstGeom>
          <a:noFill/>
          <a:ln/>
        </p:spPr>
        <p:txBody>
          <a:bodyPr wrap="square" lIns="0" tIns="0" rIns="0" bIns="0" rtlCol="0" anchor="t"/>
          <a:lstStyle/>
          <a:p>
            <a:pPr marL="0" indent="0" algn="l">
              <a:lnSpc>
                <a:spcPts val="1260"/>
              </a:lnSpc>
              <a:buNone/>
            </a:pPr>
            <a:r>
              <a:rPr lang="en-US" sz="1050" dirty="0">
                <a:solidFill>
                  <a:srgbClr val="0F172A"/>
                </a:solidFill>
                <a:latin typeface="Carlito" pitchFamily="34" charset="0"/>
                <a:ea typeface="Carlito" pitchFamily="34" charset="-122"/>
                <a:cs typeface="Carlito" pitchFamily="34" charset="-120"/>
              </a:rPr>
              <a:t>LLM parses natural-language commit messages and code diffs to understand the INTENT of a change, not just the file paths.</a:t>
            </a:r>
            <a:endParaRPr lang="en-US" sz="1050" dirty="0"/>
          </a:p>
        </p:txBody>
      </p:sp>
      <p:sp>
        <p:nvSpPr>
          <p:cNvPr id="9" name="Shape 7"/>
          <p:cNvSpPr/>
          <p:nvPr/>
        </p:nvSpPr>
        <p:spPr>
          <a:xfrm>
            <a:off x="457200" y="2805261"/>
            <a:ext cx="4729163" cy="0"/>
          </a:xfrm>
          <a:prstGeom prst="line">
            <a:avLst/>
          </a:prstGeom>
          <a:noFill/>
          <a:ln w="7144">
            <a:solidFill>
              <a:srgbClr val="CBD5E1"/>
            </a:solidFill>
            <a:prstDash val="solid"/>
          </a:ln>
        </p:spPr>
      </p:sp>
      <p:sp>
        <p:nvSpPr>
          <p:cNvPr id="10" name="Text 8"/>
          <p:cNvSpPr/>
          <p:nvPr/>
        </p:nvSpPr>
        <p:spPr>
          <a:xfrm>
            <a:off x="457200" y="2101825"/>
            <a:ext cx="328613" cy="328613"/>
          </a:xfrm>
          <a:prstGeom prst="roundRect">
            <a:avLst>
              <a:gd name="adj" fmla="val 28985"/>
            </a:avLst>
          </a:prstGeom>
          <a:solidFill>
            <a:srgbClr val="F97316">
              <a:alpha val="12000"/>
            </a:srgbClr>
          </a:solidFill>
          <a:ln/>
        </p:spPr>
        <p:txBody>
          <a:bodyPr wrap="square" rtlCol="0" anchor="ctr"/>
          <a:lstStyle/>
          <a:p>
            <a:pPr marL="0" indent="0">
              <a:buNone/>
            </a:pPr>
            <a:endParaRPr lang="en-US" sz="2400" dirty="0"/>
          </a:p>
        </p:txBody>
      </p:sp>
      <p:sp>
        <p:nvSpPr>
          <p:cNvPr id="11" name="Text 9"/>
          <p:cNvSpPr/>
          <p:nvPr/>
        </p:nvSpPr>
        <p:spPr>
          <a:xfrm>
            <a:off x="486847" y="2131472"/>
            <a:ext cx="269319" cy="269319"/>
          </a:xfrm>
          <a:prstGeom prst="rect">
            <a:avLst/>
          </a:prstGeom>
          <a:noFill/>
          <a:ln/>
        </p:spPr>
        <p:txBody>
          <a:bodyPr wrap="none" lIns="0" tIns="0" rIns="0" bIns="0" rtlCol="0" anchor="ctr"/>
          <a:lstStyle/>
          <a:p>
            <a:pPr marL="0" indent="0" algn="ctr">
              <a:buNone/>
            </a:pPr>
            <a:r>
              <a:rPr lang="en-US" sz="2400" dirty="0">
                <a:solidFill>
                  <a:srgbClr val="F97316"/>
                </a:solidFill>
                <a:latin typeface="Segoe UI Symbol" pitchFamily="34" charset="0"/>
                <a:ea typeface="Segoe UI Symbol" pitchFamily="34" charset="-122"/>
                <a:cs typeface="Segoe UI Symbol" pitchFamily="34" charset="-120"/>
              </a:rPr>
              <a:t>◆</a:t>
            </a:r>
            <a:endParaRPr lang="en-US" sz="2400" dirty="0"/>
          </a:p>
        </p:txBody>
      </p:sp>
      <p:sp>
        <p:nvSpPr>
          <p:cNvPr id="12" name="Text 10"/>
          <p:cNvSpPr/>
          <p:nvPr/>
        </p:nvSpPr>
        <p:spPr>
          <a:xfrm>
            <a:off x="885825" y="2223269"/>
            <a:ext cx="1270479" cy="145357"/>
          </a:xfrm>
          <a:prstGeom prst="rect">
            <a:avLst/>
          </a:prstGeom>
          <a:noFill/>
          <a:ln/>
        </p:spPr>
        <p:txBody>
          <a:bodyPr wrap="none" lIns="0" tIns="0" rIns="0" bIns="0" rtlCol="0" anchor="t">
            <a:normAutofit/>
          </a:bodyPr>
          <a:lstStyle/>
          <a:p>
            <a:pPr marL="0" indent="0" algn="l">
              <a:lnSpc>
                <a:spcPts val="945"/>
              </a:lnSpc>
              <a:buNone/>
            </a:pPr>
            <a:r>
              <a:rPr lang="en-US" sz="1000" b="1" kern="0" spc="56" dirty="0">
                <a:solidFill>
                  <a:srgbClr val="C2410C"/>
                </a:solidFill>
                <a:latin typeface="Carlito" pitchFamily="34" charset="0"/>
                <a:ea typeface="Carlito" pitchFamily="34" charset="-122"/>
                <a:cs typeface="Carlito" pitchFamily="34" charset="-120"/>
              </a:rPr>
              <a:t>EMBEDDING CLUSTERS</a:t>
            </a:r>
            <a:endParaRPr lang="en-US" sz="1000" dirty="0"/>
          </a:p>
        </p:txBody>
      </p:sp>
      <p:sp>
        <p:nvSpPr>
          <p:cNvPr id="13" name="Text 11"/>
          <p:cNvSpPr/>
          <p:nvPr/>
        </p:nvSpPr>
        <p:spPr>
          <a:xfrm>
            <a:off x="885825" y="2396058"/>
            <a:ext cx="5028278" cy="319906"/>
          </a:xfrm>
          <a:prstGeom prst="rect">
            <a:avLst/>
          </a:prstGeom>
          <a:noFill/>
          <a:ln/>
        </p:spPr>
        <p:txBody>
          <a:bodyPr wrap="square" lIns="0" tIns="0" rIns="0" bIns="0" rtlCol="0" anchor="t"/>
          <a:lstStyle/>
          <a:p>
            <a:pPr marL="0" indent="0" algn="l">
              <a:lnSpc>
                <a:spcPts val="1260"/>
              </a:lnSpc>
              <a:buNone/>
            </a:pPr>
            <a:r>
              <a:rPr lang="en-US" sz="1050" dirty="0">
                <a:solidFill>
                  <a:srgbClr val="0F172A"/>
                </a:solidFill>
                <a:latin typeface="Carlito" pitchFamily="34" charset="0"/>
                <a:ea typeface="Carlito" pitchFamily="34" charset="-122"/>
                <a:cs typeface="Carlito" pitchFamily="34" charset="-120"/>
              </a:rPr>
              <a:t>Embeddings cluster semantically similar modules — if you change an auth helper, AI flags other auth-related modules even without explicit imports.</a:t>
            </a:r>
            <a:endParaRPr lang="en-US" sz="1050" dirty="0"/>
          </a:p>
        </p:txBody>
      </p:sp>
      <p:sp>
        <p:nvSpPr>
          <p:cNvPr id="14" name="Shape 12"/>
          <p:cNvSpPr/>
          <p:nvPr/>
        </p:nvSpPr>
        <p:spPr>
          <a:xfrm>
            <a:off x="457200" y="3597994"/>
            <a:ext cx="4729163" cy="0"/>
          </a:xfrm>
          <a:prstGeom prst="line">
            <a:avLst/>
          </a:prstGeom>
          <a:noFill/>
          <a:ln w="7144">
            <a:solidFill>
              <a:srgbClr val="CBD5E1"/>
            </a:solidFill>
            <a:prstDash val="solid"/>
          </a:ln>
        </p:spPr>
      </p:sp>
      <p:sp>
        <p:nvSpPr>
          <p:cNvPr id="15" name="Text 13"/>
          <p:cNvSpPr/>
          <p:nvPr/>
        </p:nvSpPr>
        <p:spPr>
          <a:xfrm>
            <a:off x="457200" y="2894558"/>
            <a:ext cx="328613" cy="328613"/>
          </a:xfrm>
          <a:prstGeom prst="roundRect">
            <a:avLst>
              <a:gd name="adj" fmla="val 28985"/>
            </a:avLst>
          </a:prstGeom>
          <a:solidFill>
            <a:srgbClr val="F97316">
              <a:alpha val="12000"/>
            </a:srgbClr>
          </a:solidFill>
          <a:ln/>
        </p:spPr>
        <p:txBody>
          <a:bodyPr wrap="square" rtlCol="0" anchor="ctr"/>
          <a:lstStyle/>
          <a:p>
            <a:pPr marL="0" indent="0">
              <a:buNone/>
            </a:pPr>
            <a:endParaRPr lang="en-US" sz="2400" dirty="0"/>
          </a:p>
        </p:txBody>
      </p:sp>
      <p:sp>
        <p:nvSpPr>
          <p:cNvPr id="16" name="Text 14"/>
          <p:cNvSpPr/>
          <p:nvPr/>
        </p:nvSpPr>
        <p:spPr>
          <a:xfrm>
            <a:off x="486847" y="2924205"/>
            <a:ext cx="269319" cy="269319"/>
          </a:xfrm>
          <a:prstGeom prst="rect">
            <a:avLst/>
          </a:prstGeom>
          <a:noFill/>
          <a:ln/>
        </p:spPr>
        <p:txBody>
          <a:bodyPr wrap="none" lIns="0" tIns="0" rIns="0" bIns="0" rtlCol="0" anchor="ctr"/>
          <a:lstStyle/>
          <a:p>
            <a:pPr marL="0" indent="0" algn="ctr">
              <a:buNone/>
            </a:pPr>
            <a:r>
              <a:rPr lang="en-US" sz="2400" dirty="0">
                <a:solidFill>
                  <a:srgbClr val="F97316"/>
                </a:solidFill>
                <a:latin typeface="Segoe UI Symbol" pitchFamily="34" charset="0"/>
                <a:ea typeface="Segoe UI Symbol" pitchFamily="34" charset="-122"/>
                <a:cs typeface="Segoe UI Symbol" pitchFamily="34" charset="-120"/>
              </a:rPr>
              <a:t>▤</a:t>
            </a:r>
            <a:endParaRPr lang="en-US" sz="2400" dirty="0"/>
          </a:p>
        </p:txBody>
      </p:sp>
      <p:sp>
        <p:nvSpPr>
          <p:cNvPr id="17" name="Text 15"/>
          <p:cNvSpPr/>
          <p:nvPr/>
        </p:nvSpPr>
        <p:spPr>
          <a:xfrm>
            <a:off x="885825" y="3016002"/>
            <a:ext cx="1281711" cy="145357"/>
          </a:xfrm>
          <a:prstGeom prst="rect">
            <a:avLst/>
          </a:prstGeom>
          <a:noFill/>
          <a:ln/>
        </p:spPr>
        <p:txBody>
          <a:bodyPr wrap="none" lIns="0" tIns="0" rIns="0" bIns="0" rtlCol="0" anchor="t">
            <a:normAutofit/>
          </a:bodyPr>
          <a:lstStyle/>
          <a:p>
            <a:pPr marL="0" indent="0" algn="l">
              <a:lnSpc>
                <a:spcPts val="945"/>
              </a:lnSpc>
              <a:buNone/>
            </a:pPr>
            <a:r>
              <a:rPr lang="en-US" sz="900" b="1" kern="0" spc="56" dirty="0">
                <a:solidFill>
                  <a:srgbClr val="C2410C"/>
                </a:solidFill>
                <a:latin typeface="Carlito" pitchFamily="34" charset="0"/>
                <a:ea typeface="Carlito" pitchFamily="34" charset="-122"/>
                <a:cs typeface="Carlito" pitchFamily="34" charset="-120"/>
              </a:rPr>
              <a:t>ARCHITECTURAL RULES</a:t>
            </a:r>
            <a:endParaRPr lang="en-US" sz="900" dirty="0"/>
          </a:p>
        </p:txBody>
      </p:sp>
      <p:sp>
        <p:nvSpPr>
          <p:cNvPr id="18" name="Text 16"/>
          <p:cNvSpPr/>
          <p:nvPr/>
        </p:nvSpPr>
        <p:spPr>
          <a:xfrm>
            <a:off x="885824" y="3188791"/>
            <a:ext cx="4910291" cy="319906"/>
          </a:xfrm>
          <a:prstGeom prst="rect">
            <a:avLst/>
          </a:prstGeom>
          <a:noFill/>
          <a:ln/>
        </p:spPr>
        <p:txBody>
          <a:bodyPr wrap="square" lIns="0" tIns="0" rIns="0" bIns="0" rtlCol="0" anchor="t"/>
          <a:lstStyle/>
          <a:p>
            <a:pPr marL="0" indent="0" algn="l">
              <a:lnSpc>
                <a:spcPts val="1260"/>
              </a:lnSpc>
              <a:buNone/>
            </a:pPr>
            <a:r>
              <a:rPr lang="en-US" sz="1050" dirty="0">
                <a:solidFill>
                  <a:srgbClr val="0F172A"/>
                </a:solidFill>
                <a:latin typeface="Carlito" pitchFamily="34" charset="0"/>
                <a:ea typeface="Carlito" pitchFamily="34" charset="-122"/>
                <a:cs typeface="Carlito" pitchFamily="34" charset="-120"/>
              </a:rPr>
              <a:t>LLM reads architectural rules (e.g., "controllers must not call DB directly") and uses them to expand the impact set when a rule boundary is touched.</a:t>
            </a:r>
            <a:endParaRPr lang="en-US" sz="1050" dirty="0"/>
          </a:p>
        </p:txBody>
      </p:sp>
      <p:sp>
        <p:nvSpPr>
          <p:cNvPr id="19" name="Text 17"/>
          <p:cNvSpPr/>
          <p:nvPr/>
        </p:nvSpPr>
        <p:spPr>
          <a:xfrm>
            <a:off x="457200" y="3687291"/>
            <a:ext cx="328613" cy="328613"/>
          </a:xfrm>
          <a:prstGeom prst="roundRect">
            <a:avLst>
              <a:gd name="adj" fmla="val 28985"/>
            </a:avLst>
          </a:prstGeom>
          <a:solidFill>
            <a:srgbClr val="F97316">
              <a:alpha val="12000"/>
            </a:srgbClr>
          </a:solidFill>
          <a:ln/>
        </p:spPr>
        <p:txBody>
          <a:bodyPr wrap="square" rtlCol="0" anchor="ctr"/>
          <a:lstStyle/>
          <a:p>
            <a:pPr marL="0" indent="0">
              <a:buNone/>
            </a:pPr>
            <a:endParaRPr lang="en-US" sz="2400" dirty="0"/>
          </a:p>
        </p:txBody>
      </p:sp>
      <p:sp>
        <p:nvSpPr>
          <p:cNvPr id="20" name="Text 18"/>
          <p:cNvSpPr/>
          <p:nvPr/>
        </p:nvSpPr>
        <p:spPr>
          <a:xfrm>
            <a:off x="486847" y="3716938"/>
            <a:ext cx="269319" cy="269319"/>
          </a:xfrm>
          <a:prstGeom prst="rect">
            <a:avLst/>
          </a:prstGeom>
          <a:noFill/>
          <a:ln/>
        </p:spPr>
        <p:txBody>
          <a:bodyPr wrap="none" lIns="0" tIns="0" rIns="0" bIns="0" rtlCol="0" anchor="ctr"/>
          <a:lstStyle/>
          <a:p>
            <a:pPr marL="0" indent="0" algn="ctr">
              <a:buNone/>
            </a:pPr>
            <a:r>
              <a:rPr lang="en-US" sz="2400" dirty="0">
                <a:solidFill>
                  <a:srgbClr val="F97316"/>
                </a:solidFill>
                <a:latin typeface="Segoe UI Symbol" pitchFamily="34" charset="0"/>
                <a:ea typeface="Segoe UI Symbol" pitchFamily="34" charset="-122"/>
                <a:cs typeface="Segoe UI Symbol" pitchFamily="34" charset="-120"/>
              </a:rPr>
              <a:t>✓</a:t>
            </a:r>
            <a:endParaRPr lang="en-US" sz="2400" dirty="0"/>
          </a:p>
        </p:txBody>
      </p:sp>
      <p:sp>
        <p:nvSpPr>
          <p:cNvPr id="21" name="Text 19"/>
          <p:cNvSpPr/>
          <p:nvPr/>
        </p:nvSpPr>
        <p:spPr>
          <a:xfrm>
            <a:off x="885825" y="3808735"/>
            <a:ext cx="1241220" cy="145357"/>
          </a:xfrm>
          <a:prstGeom prst="rect">
            <a:avLst/>
          </a:prstGeom>
          <a:noFill/>
          <a:ln/>
        </p:spPr>
        <p:txBody>
          <a:bodyPr wrap="none" lIns="0" tIns="0" rIns="0" bIns="0" rtlCol="0" anchor="t">
            <a:normAutofit/>
          </a:bodyPr>
          <a:lstStyle/>
          <a:p>
            <a:pPr marL="0" indent="0" algn="l">
              <a:lnSpc>
                <a:spcPts val="945"/>
              </a:lnSpc>
              <a:buNone/>
            </a:pPr>
            <a:r>
              <a:rPr lang="en-US" sz="900" b="1" kern="0" spc="56" dirty="0">
                <a:solidFill>
                  <a:srgbClr val="C2410C"/>
                </a:solidFill>
                <a:latin typeface="Carlito" pitchFamily="34" charset="0"/>
                <a:ea typeface="Carlito" pitchFamily="34" charset="-122"/>
                <a:cs typeface="Carlito" pitchFamily="34" charset="-120"/>
              </a:rPr>
              <a:t>CO-FAILURE PATTERNS</a:t>
            </a:r>
            <a:endParaRPr lang="en-US" sz="900" dirty="0"/>
          </a:p>
        </p:txBody>
      </p:sp>
      <p:sp>
        <p:nvSpPr>
          <p:cNvPr id="22" name="Text 20"/>
          <p:cNvSpPr/>
          <p:nvPr/>
        </p:nvSpPr>
        <p:spPr>
          <a:xfrm>
            <a:off x="885825" y="3981524"/>
            <a:ext cx="4300538" cy="345499"/>
          </a:xfrm>
          <a:prstGeom prst="rect">
            <a:avLst/>
          </a:prstGeom>
          <a:noFill/>
          <a:ln/>
        </p:spPr>
        <p:txBody>
          <a:bodyPr wrap="square" lIns="0" tIns="0" rIns="0" bIns="0" rtlCol="0" anchor="t"/>
          <a:lstStyle/>
          <a:p>
            <a:pPr marL="0" indent="0" algn="l">
              <a:lnSpc>
                <a:spcPts val="1260"/>
              </a:lnSpc>
              <a:buNone/>
            </a:pPr>
            <a:r>
              <a:rPr lang="en-US" sz="1050" dirty="0">
                <a:solidFill>
                  <a:srgbClr val="0F172A"/>
                </a:solidFill>
                <a:latin typeface="Carlito" pitchFamily="34" charset="0"/>
                <a:ea typeface="Carlito" pitchFamily="34" charset="-122"/>
                <a:cs typeface="Carlito" pitchFamily="34" charset="-120"/>
              </a:rPr>
              <a:t>ML models trained on historical breakage data learn which files tend to fail together. These co-failure patterns become extra edges in the impact graph.</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8636000" cy="388776"/>
          </a:xfrm>
          <a:prstGeom prst="rect">
            <a:avLst/>
          </a:prstGeom>
          <a:noFill/>
          <a:ln/>
        </p:spPr>
        <p:txBody>
          <a:bodyPr wrap="square" lIns="0" tIns="0" rIns="0" bIns="0" rtlCol="0" anchor="t"/>
          <a:lstStyle/>
          <a:p>
            <a:pPr marL="0" indent="0" algn="l">
              <a:lnSpc>
                <a:spcPts val="2835"/>
              </a:lnSpc>
              <a:buNone/>
            </a:pPr>
            <a:r>
              <a:rPr lang="en-US" sz="1000" b="1" dirty="0">
                <a:latin typeface="Carlito" pitchFamily="34" charset="0"/>
                <a:ea typeface="Carlito" pitchFamily="34" charset="-122"/>
                <a:cs typeface="Carlito" pitchFamily="34" charset="-120"/>
              </a:rPr>
              <a:t>Code Example — Build a Dependency Graph</a:t>
            </a:r>
            <a:endParaRPr lang="en-US" sz="1000" dirty="0"/>
          </a:p>
        </p:txBody>
      </p:sp>
      <p:sp>
        <p:nvSpPr>
          <p:cNvPr id="3" name="Text 1"/>
          <p:cNvSpPr/>
          <p:nvPr/>
        </p:nvSpPr>
        <p:spPr>
          <a:xfrm>
            <a:off x="457200" y="874328"/>
            <a:ext cx="571500" cy="42863"/>
          </a:xfrm>
          <a:prstGeom prst="roundRect">
            <a:avLst>
              <a:gd name="adj" fmla="val 66666"/>
            </a:avLst>
          </a:prstGeom>
          <a:solidFill>
            <a:srgbClr val="F97316"/>
          </a:solidFill>
          <a:ln/>
        </p:spPr>
        <p:txBody>
          <a:bodyPr wrap="square" rtlCol="0" anchor="ctr"/>
          <a:lstStyle/>
          <a:p>
            <a:pPr marL="0" indent="0">
              <a:buNone/>
            </a:pPr>
            <a:endParaRPr lang="en-US" sz="1000" dirty="0"/>
          </a:p>
        </p:txBody>
      </p:sp>
      <p:sp>
        <p:nvSpPr>
          <p:cNvPr id="4" name="Text 2"/>
          <p:cNvSpPr/>
          <p:nvPr/>
        </p:nvSpPr>
        <p:spPr>
          <a:xfrm>
            <a:off x="457200" y="960053"/>
            <a:ext cx="8229600" cy="205177"/>
          </a:xfrm>
          <a:prstGeom prst="rect">
            <a:avLst/>
          </a:prstGeom>
          <a:noFill/>
          <a:ln/>
        </p:spPr>
        <p:txBody>
          <a:bodyPr wrap="square" lIns="0" tIns="0" rIns="0" bIns="0" rtlCol="0" anchor="t"/>
          <a:lstStyle/>
          <a:p>
            <a:pPr marL="0" indent="0" algn="l">
              <a:lnSpc>
                <a:spcPts val="1496"/>
              </a:lnSpc>
              <a:buNone/>
            </a:pPr>
            <a:r>
              <a:rPr lang="en-US" sz="1000" dirty="0">
                <a:latin typeface="Carlito" pitchFamily="34" charset="0"/>
                <a:ea typeface="Carlito" pitchFamily="34" charset="-122"/>
                <a:cs typeface="Carlito" pitchFamily="34" charset="-120"/>
              </a:rPr>
              <a:t>Python snippet — parse imports, build directed graph.</a:t>
            </a:r>
            <a:endParaRPr lang="en-US" sz="1000" dirty="0"/>
          </a:p>
        </p:txBody>
      </p:sp>
      <p:sp>
        <p:nvSpPr>
          <p:cNvPr id="5" name="Text 3"/>
          <p:cNvSpPr/>
          <p:nvPr/>
        </p:nvSpPr>
        <p:spPr>
          <a:xfrm>
            <a:off x="7278945" y="1311711"/>
            <a:ext cx="1316415" cy="182398"/>
          </a:xfrm>
          <a:prstGeom prst="roundRect">
            <a:avLst>
              <a:gd name="adj" fmla="val 31333"/>
            </a:avLst>
          </a:prstGeom>
          <a:solidFill>
            <a:srgbClr val="F97316">
              <a:alpha val="95000"/>
            </a:srgbClr>
          </a:solidFill>
          <a:ln/>
        </p:spPr>
        <p:txBody>
          <a:bodyPr wrap="square" rtlCol="0" anchor="ctr"/>
          <a:lstStyle/>
          <a:p>
            <a:pPr marL="0" indent="0">
              <a:buNone/>
            </a:pPr>
            <a:endParaRPr lang="en-US" sz="1000" dirty="0"/>
          </a:p>
        </p:txBody>
      </p:sp>
      <p:sp>
        <p:nvSpPr>
          <p:cNvPr id="6" name="Text 4"/>
          <p:cNvSpPr/>
          <p:nvPr/>
        </p:nvSpPr>
        <p:spPr>
          <a:xfrm>
            <a:off x="7301805" y="1321482"/>
            <a:ext cx="1270695" cy="162855"/>
          </a:xfrm>
          <a:prstGeom prst="rect">
            <a:avLst/>
          </a:prstGeom>
          <a:noFill/>
          <a:ln/>
        </p:spPr>
        <p:txBody>
          <a:bodyPr wrap="none" lIns="0" tIns="0" rIns="0" bIns="0" rtlCol="0" anchor="ctr"/>
          <a:lstStyle/>
          <a:p>
            <a:pPr marL="0" indent="0" algn="ctr">
              <a:lnSpc>
                <a:spcPts val="945"/>
              </a:lnSpc>
              <a:buNone/>
            </a:pPr>
            <a:r>
              <a:rPr lang="en-US" sz="1000" b="1" kern="0" spc="56" dirty="0">
                <a:latin typeface="Courier New" pitchFamily="34" charset="0"/>
                <a:ea typeface="Courier New" pitchFamily="34" charset="-122"/>
                <a:cs typeface="Courier New" pitchFamily="34" charset="-120"/>
              </a:rPr>
              <a:t>PYTHON · build_graph.py</a:t>
            </a:r>
            <a:endParaRPr lang="en-US" sz="1000" dirty="0"/>
          </a:p>
        </p:txBody>
      </p:sp>
      <p:sp>
        <p:nvSpPr>
          <p:cNvPr id="7" name="Text 5"/>
          <p:cNvSpPr/>
          <p:nvPr/>
        </p:nvSpPr>
        <p:spPr>
          <a:xfrm>
            <a:off x="642938" y="1392920"/>
            <a:ext cx="3729038" cy="165449"/>
          </a:xfrm>
          <a:prstGeom prst="rect">
            <a:avLst/>
          </a:prstGeom>
          <a:noFill/>
          <a:ln/>
        </p:spPr>
        <p:txBody>
          <a:bodyPr wrap="none" lIns="0" tIns="0" rIns="0" bIns="0" rtlCol="0" anchor="t">
            <a:noAutofit/>
          </a:bodyPr>
          <a:lstStyle/>
          <a:p>
            <a:pPr marL="0" indent="0" algn="l">
              <a:lnSpc>
                <a:spcPts val="1519"/>
              </a:lnSpc>
              <a:buNone/>
            </a:pPr>
            <a:r>
              <a:rPr lang="en-US" sz="1000" i="1" dirty="0">
                <a:latin typeface="Courier New" pitchFamily="34" charset="0"/>
                <a:ea typeface="Courier New" pitchFamily="34" charset="-122"/>
                <a:cs typeface="Courier New" pitchFamily="34" charset="-120"/>
              </a:rPr>
              <a:t># build_graph.py — scan imports and build dependency graph</a:t>
            </a:r>
            <a:endParaRPr lang="en-US" sz="1000" dirty="0"/>
          </a:p>
        </p:txBody>
      </p:sp>
      <p:sp>
        <p:nvSpPr>
          <p:cNvPr id="8" name="Text 6"/>
          <p:cNvSpPr/>
          <p:nvPr/>
        </p:nvSpPr>
        <p:spPr>
          <a:xfrm>
            <a:off x="642938" y="1585801"/>
            <a:ext cx="551640" cy="169736"/>
          </a:xfrm>
          <a:prstGeom prst="rect">
            <a:avLst/>
          </a:prstGeom>
          <a:noFill/>
          <a:ln/>
        </p:spPr>
        <p:txBody>
          <a:bodyPr wrap="none" lIns="0" tIns="0" rIns="0" bIns="0" rtlCol="0" anchor="t"/>
          <a:lstStyle/>
          <a:p>
            <a:pPr marL="0" indent="0" algn="l">
              <a:lnSpc>
                <a:spcPts val="1519"/>
              </a:lnSpc>
              <a:buNone/>
            </a:pPr>
            <a:r>
              <a:rPr lang="en-US" sz="1000" dirty="0">
                <a:latin typeface="Courier New" pitchFamily="34" charset="0"/>
                <a:ea typeface="Courier New" pitchFamily="34" charset="-122"/>
                <a:cs typeface="Courier New" pitchFamily="34" charset="-120"/>
              </a:rPr>
              <a:t>import</a:t>
            </a:r>
            <a:endParaRPr lang="en-US" sz="1000" dirty="0"/>
          </a:p>
        </p:txBody>
      </p:sp>
      <p:sp>
        <p:nvSpPr>
          <p:cNvPr id="9" name="Text 7"/>
          <p:cNvSpPr/>
          <p:nvPr/>
        </p:nvSpPr>
        <p:spPr>
          <a:xfrm>
            <a:off x="2250281" y="1585801"/>
            <a:ext cx="205740" cy="165449"/>
          </a:xfrm>
          <a:prstGeom prst="rect">
            <a:avLst/>
          </a:prstGeom>
          <a:noFill/>
          <a:ln/>
        </p:spPr>
        <p:txBody>
          <a:bodyPr wrap="none" lIns="0" tIns="0" rIns="0" bIns="0" rtlCol="0" anchor="t">
            <a:noAutofit/>
          </a:bodyPr>
          <a:lstStyle/>
          <a:p>
            <a:pPr marL="0" indent="0" algn="l">
              <a:lnSpc>
                <a:spcPts val="1519"/>
              </a:lnSpc>
              <a:buNone/>
            </a:pPr>
            <a:r>
              <a:rPr lang="en-US" sz="1000" dirty="0">
                <a:latin typeface="Courier New" pitchFamily="34" charset="0"/>
                <a:ea typeface="Courier New" pitchFamily="34" charset="-122"/>
                <a:cs typeface="Courier New" pitchFamily="34" charset="-120"/>
              </a:rPr>
              <a:t>as</a:t>
            </a:r>
            <a:endParaRPr lang="en-US" sz="1000" dirty="0"/>
          </a:p>
        </p:txBody>
      </p:sp>
      <p:sp>
        <p:nvSpPr>
          <p:cNvPr id="10" name="Text 8"/>
          <p:cNvSpPr/>
          <p:nvPr/>
        </p:nvSpPr>
        <p:spPr>
          <a:xfrm>
            <a:off x="642938" y="1778682"/>
            <a:ext cx="411480" cy="169736"/>
          </a:xfrm>
          <a:prstGeom prst="rect">
            <a:avLst/>
          </a:prstGeom>
          <a:noFill/>
          <a:ln/>
        </p:spPr>
        <p:txBody>
          <a:bodyPr wrap="none" lIns="0" tIns="0" rIns="0" bIns="0" rtlCol="0" anchor="t"/>
          <a:lstStyle/>
          <a:p>
            <a:pPr marL="0" indent="0" algn="l">
              <a:lnSpc>
                <a:spcPts val="1519"/>
              </a:lnSpc>
              <a:buNone/>
            </a:pPr>
            <a:r>
              <a:rPr lang="en-US" sz="1000" dirty="0">
                <a:latin typeface="Courier New" pitchFamily="34" charset="0"/>
                <a:ea typeface="Courier New" pitchFamily="34" charset="-122"/>
                <a:cs typeface="Courier New" pitchFamily="34" charset="-120"/>
              </a:rPr>
              <a:t>from</a:t>
            </a:r>
            <a:endParaRPr lang="en-US" sz="1000" dirty="0"/>
          </a:p>
        </p:txBody>
      </p:sp>
      <p:sp>
        <p:nvSpPr>
          <p:cNvPr id="11" name="Text 9"/>
          <p:cNvSpPr/>
          <p:nvPr/>
        </p:nvSpPr>
        <p:spPr>
          <a:xfrm>
            <a:off x="1478756" y="1778682"/>
            <a:ext cx="551640" cy="169736"/>
          </a:xfrm>
          <a:prstGeom prst="rect">
            <a:avLst/>
          </a:prstGeom>
          <a:noFill/>
          <a:ln/>
        </p:spPr>
        <p:txBody>
          <a:bodyPr wrap="none" lIns="0" tIns="0" rIns="0" bIns="0" rtlCol="0" anchor="t"/>
          <a:lstStyle/>
          <a:p>
            <a:pPr marL="0" indent="0" algn="l">
              <a:lnSpc>
                <a:spcPts val="1519"/>
              </a:lnSpc>
              <a:buNone/>
            </a:pPr>
            <a:r>
              <a:rPr lang="en-US" sz="1000" dirty="0">
                <a:latin typeface="Courier New" pitchFamily="34" charset="0"/>
                <a:ea typeface="Courier New" pitchFamily="34" charset="-122"/>
                <a:cs typeface="Courier New" pitchFamily="34" charset="-120"/>
              </a:rPr>
              <a:t>import</a:t>
            </a:r>
            <a:endParaRPr lang="en-US" sz="1000" dirty="0"/>
          </a:p>
        </p:txBody>
      </p:sp>
      <p:sp>
        <p:nvSpPr>
          <p:cNvPr id="12" name="Text 10"/>
          <p:cNvSpPr/>
          <p:nvPr/>
        </p:nvSpPr>
        <p:spPr>
          <a:xfrm>
            <a:off x="642938" y="2164445"/>
            <a:ext cx="308610" cy="169736"/>
          </a:xfrm>
          <a:prstGeom prst="rect">
            <a:avLst/>
          </a:prstGeom>
          <a:noFill/>
          <a:ln/>
        </p:spPr>
        <p:txBody>
          <a:bodyPr wrap="none" lIns="0" tIns="0" rIns="0" bIns="0" rtlCol="0" anchor="t"/>
          <a:lstStyle/>
          <a:p>
            <a:pPr marL="0" indent="0" algn="l">
              <a:lnSpc>
                <a:spcPts val="1519"/>
              </a:lnSpc>
              <a:buNone/>
            </a:pPr>
            <a:r>
              <a:rPr lang="en-US" sz="1000" dirty="0">
                <a:latin typeface="Courier New" pitchFamily="34" charset="0"/>
                <a:ea typeface="Courier New" pitchFamily="34" charset="-122"/>
                <a:cs typeface="Courier New" pitchFamily="34" charset="-120"/>
              </a:rPr>
              <a:t>def</a:t>
            </a:r>
            <a:endParaRPr lang="en-US" sz="1000" dirty="0"/>
          </a:p>
        </p:txBody>
      </p:sp>
      <p:sp>
        <p:nvSpPr>
          <p:cNvPr id="13" name="Text 11"/>
          <p:cNvSpPr/>
          <p:nvPr/>
        </p:nvSpPr>
        <p:spPr>
          <a:xfrm>
            <a:off x="900113" y="2164445"/>
            <a:ext cx="1446609" cy="169736"/>
          </a:xfrm>
          <a:prstGeom prst="rect">
            <a:avLst/>
          </a:prstGeom>
          <a:noFill/>
          <a:ln/>
        </p:spPr>
        <p:txBody>
          <a:bodyPr wrap="none" lIns="0" tIns="0" rIns="0" bIns="0" rtlCol="0" anchor="t"/>
          <a:lstStyle/>
          <a:p>
            <a:pPr marL="0" indent="0" algn="l">
              <a:lnSpc>
                <a:spcPts val="1519"/>
              </a:lnSpc>
              <a:buNone/>
            </a:pPr>
            <a:r>
              <a:rPr lang="en-US" sz="1000" dirty="0">
                <a:latin typeface="Courier New" pitchFamily="34" charset="0"/>
                <a:ea typeface="Courier New" pitchFamily="34" charset="-122"/>
                <a:cs typeface="Courier New" pitchFamily="34" charset="-120"/>
              </a:rPr>
              <a:t>build_import_graph</a:t>
            </a:r>
            <a:endParaRPr lang="en-US" sz="1000" dirty="0"/>
          </a:p>
        </p:txBody>
      </p:sp>
      <p:sp>
        <p:nvSpPr>
          <p:cNvPr id="14" name="Text 12"/>
          <p:cNvSpPr/>
          <p:nvPr/>
        </p:nvSpPr>
        <p:spPr>
          <a:xfrm>
            <a:off x="2828925" y="2164445"/>
            <a:ext cx="308610" cy="169736"/>
          </a:xfrm>
          <a:prstGeom prst="rect">
            <a:avLst/>
          </a:prstGeom>
          <a:noFill/>
          <a:ln/>
        </p:spPr>
        <p:txBody>
          <a:bodyPr wrap="none" lIns="0" tIns="0" rIns="0" bIns="0" rtlCol="0" anchor="t"/>
          <a:lstStyle/>
          <a:p>
            <a:pPr marL="0" indent="0" algn="l">
              <a:lnSpc>
                <a:spcPts val="1519"/>
              </a:lnSpc>
              <a:buNone/>
            </a:pPr>
            <a:r>
              <a:rPr lang="en-US" sz="1000" dirty="0">
                <a:latin typeface="Courier New" pitchFamily="34" charset="0"/>
                <a:ea typeface="Courier New" pitchFamily="34" charset="-122"/>
                <a:cs typeface="Courier New" pitchFamily="34" charset="-120"/>
              </a:rPr>
              <a:t>str</a:t>
            </a:r>
            <a:endParaRPr lang="en-US" sz="1000" dirty="0"/>
          </a:p>
        </p:txBody>
      </p:sp>
      <p:sp>
        <p:nvSpPr>
          <p:cNvPr id="15" name="Text 13"/>
          <p:cNvSpPr/>
          <p:nvPr/>
        </p:nvSpPr>
        <p:spPr>
          <a:xfrm>
            <a:off x="900113" y="2550207"/>
            <a:ext cx="308610" cy="169736"/>
          </a:xfrm>
          <a:prstGeom prst="rect">
            <a:avLst/>
          </a:prstGeom>
          <a:noFill/>
          <a:ln/>
        </p:spPr>
        <p:txBody>
          <a:bodyPr wrap="none" lIns="0" tIns="0" rIns="0" bIns="0" rtlCol="0" anchor="t"/>
          <a:lstStyle/>
          <a:p>
            <a:pPr marL="0" indent="0" algn="l">
              <a:lnSpc>
                <a:spcPts val="1519"/>
              </a:lnSpc>
              <a:buNone/>
            </a:pPr>
            <a:r>
              <a:rPr lang="en-US" sz="1000" dirty="0">
                <a:latin typeface="Courier New" pitchFamily="34" charset="0"/>
                <a:ea typeface="Courier New" pitchFamily="34" charset="-122"/>
                <a:cs typeface="Courier New" pitchFamily="34" charset="-120"/>
              </a:rPr>
              <a:t>for</a:t>
            </a:r>
            <a:endParaRPr lang="en-US" sz="1000" dirty="0"/>
          </a:p>
        </p:txBody>
      </p:sp>
      <p:sp>
        <p:nvSpPr>
          <p:cNvPr id="16" name="Text 14"/>
          <p:cNvSpPr/>
          <p:nvPr/>
        </p:nvSpPr>
        <p:spPr>
          <a:xfrm>
            <a:off x="1350169" y="2550207"/>
            <a:ext cx="205740" cy="169736"/>
          </a:xfrm>
          <a:prstGeom prst="rect">
            <a:avLst/>
          </a:prstGeom>
          <a:noFill/>
          <a:ln/>
        </p:spPr>
        <p:txBody>
          <a:bodyPr wrap="none" lIns="0" tIns="0" rIns="0" bIns="0" rtlCol="0" anchor="t"/>
          <a:lstStyle/>
          <a:p>
            <a:pPr marL="0" indent="0" algn="l">
              <a:lnSpc>
                <a:spcPts val="1519"/>
              </a:lnSpc>
              <a:buNone/>
            </a:pPr>
            <a:r>
              <a:rPr lang="en-US" sz="1000" dirty="0">
                <a:latin typeface="Courier New" pitchFamily="34" charset="0"/>
                <a:ea typeface="Courier New" pitchFamily="34" charset="-122"/>
                <a:cs typeface="Courier New" pitchFamily="34" charset="-120"/>
              </a:rPr>
              <a:t>in</a:t>
            </a:r>
            <a:endParaRPr lang="en-US" sz="1000" dirty="0"/>
          </a:p>
        </p:txBody>
      </p:sp>
      <p:sp>
        <p:nvSpPr>
          <p:cNvPr id="17" name="Text 15"/>
          <p:cNvSpPr/>
          <p:nvPr/>
        </p:nvSpPr>
        <p:spPr>
          <a:xfrm>
            <a:off x="2957513" y="2550207"/>
            <a:ext cx="551640" cy="169736"/>
          </a:xfrm>
          <a:prstGeom prst="rect">
            <a:avLst/>
          </a:prstGeom>
          <a:noFill/>
          <a:ln/>
        </p:spPr>
        <p:txBody>
          <a:bodyPr wrap="none" lIns="0" tIns="0" rIns="0" bIns="0" rtlCol="0" anchor="t"/>
          <a:lstStyle/>
          <a:p>
            <a:pPr marL="0" indent="0" algn="l">
              <a:lnSpc>
                <a:spcPts val="1519"/>
              </a:lnSpc>
              <a:buNone/>
            </a:pPr>
            <a:r>
              <a:rPr lang="en-US" sz="1000" dirty="0">
                <a:latin typeface="Courier New" pitchFamily="34" charset="0"/>
                <a:ea typeface="Courier New" pitchFamily="34" charset="-122"/>
                <a:cs typeface="Courier New" pitchFamily="34" charset="-120"/>
              </a:rPr>
              <a:t>"*.py"</a:t>
            </a:r>
            <a:endParaRPr lang="en-US" sz="1000" dirty="0"/>
          </a:p>
        </p:txBody>
      </p:sp>
      <p:sp>
        <p:nvSpPr>
          <p:cNvPr id="18" name="Text 16"/>
          <p:cNvSpPr/>
          <p:nvPr/>
        </p:nvSpPr>
        <p:spPr>
          <a:xfrm>
            <a:off x="2507456" y="2935970"/>
            <a:ext cx="308610" cy="169736"/>
          </a:xfrm>
          <a:prstGeom prst="rect">
            <a:avLst/>
          </a:prstGeom>
          <a:noFill/>
          <a:ln/>
        </p:spPr>
        <p:txBody>
          <a:bodyPr wrap="none" lIns="0" tIns="0" rIns="0" bIns="0" rtlCol="0" anchor="t"/>
          <a:lstStyle/>
          <a:p>
            <a:pPr marL="0" indent="0" algn="l">
              <a:lnSpc>
                <a:spcPts val="1519"/>
              </a:lnSpc>
              <a:buNone/>
            </a:pPr>
            <a:r>
              <a:rPr lang="en-US" sz="1000" dirty="0">
                <a:latin typeface="Courier New" pitchFamily="34" charset="0"/>
                <a:ea typeface="Courier New" pitchFamily="34" charset="-122"/>
                <a:cs typeface="Courier New" pitchFamily="34" charset="-120"/>
              </a:rPr>
              <a:t>str</a:t>
            </a:r>
            <a:endParaRPr lang="en-US" sz="1000" dirty="0"/>
          </a:p>
        </p:txBody>
      </p:sp>
      <p:sp>
        <p:nvSpPr>
          <p:cNvPr id="19" name="Text 17"/>
          <p:cNvSpPr/>
          <p:nvPr/>
        </p:nvSpPr>
        <p:spPr>
          <a:xfrm>
            <a:off x="1157288" y="3321732"/>
            <a:ext cx="308610" cy="169736"/>
          </a:xfrm>
          <a:prstGeom prst="rect">
            <a:avLst/>
          </a:prstGeom>
          <a:noFill/>
          <a:ln/>
        </p:spPr>
        <p:txBody>
          <a:bodyPr wrap="none" lIns="0" tIns="0" rIns="0" bIns="0" rtlCol="0" anchor="t"/>
          <a:lstStyle/>
          <a:p>
            <a:pPr marL="0" indent="0" algn="l">
              <a:lnSpc>
                <a:spcPts val="1519"/>
              </a:lnSpc>
              <a:buNone/>
            </a:pPr>
            <a:r>
              <a:rPr lang="en-US" sz="1000" dirty="0">
                <a:latin typeface="Courier New" pitchFamily="34" charset="0"/>
                <a:ea typeface="Courier New" pitchFamily="34" charset="-122"/>
                <a:cs typeface="Courier New" pitchFamily="34" charset="-120"/>
              </a:rPr>
              <a:t>for</a:t>
            </a:r>
            <a:endParaRPr lang="en-US" sz="1000" dirty="0"/>
          </a:p>
        </p:txBody>
      </p:sp>
      <p:sp>
        <p:nvSpPr>
          <p:cNvPr id="20" name="Text 18"/>
          <p:cNvSpPr/>
          <p:nvPr/>
        </p:nvSpPr>
        <p:spPr>
          <a:xfrm>
            <a:off x="1735931" y="3321732"/>
            <a:ext cx="205740" cy="165449"/>
          </a:xfrm>
          <a:prstGeom prst="rect">
            <a:avLst/>
          </a:prstGeom>
          <a:noFill/>
          <a:ln/>
        </p:spPr>
        <p:txBody>
          <a:bodyPr wrap="none" lIns="0" tIns="0" rIns="0" bIns="0" rtlCol="0" anchor="t">
            <a:noAutofit/>
          </a:bodyPr>
          <a:lstStyle/>
          <a:p>
            <a:pPr marL="0" indent="0" algn="l">
              <a:lnSpc>
                <a:spcPts val="1519"/>
              </a:lnSpc>
              <a:buNone/>
            </a:pPr>
            <a:r>
              <a:rPr lang="en-US" sz="1000" dirty="0">
                <a:latin typeface="Courier New" pitchFamily="34" charset="0"/>
                <a:ea typeface="Courier New" pitchFamily="34" charset="-122"/>
                <a:cs typeface="Courier New" pitchFamily="34" charset="-120"/>
              </a:rPr>
              <a:t>in</a:t>
            </a:r>
            <a:endParaRPr lang="en-US" sz="1000" dirty="0"/>
          </a:p>
        </p:txBody>
      </p:sp>
      <p:sp>
        <p:nvSpPr>
          <p:cNvPr id="21" name="Text 19"/>
          <p:cNvSpPr/>
          <p:nvPr/>
        </p:nvSpPr>
        <p:spPr>
          <a:xfrm>
            <a:off x="1414463" y="3514613"/>
            <a:ext cx="205740" cy="165449"/>
          </a:xfrm>
          <a:prstGeom prst="rect">
            <a:avLst/>
          </a:prstGeom>
          <a:noFill/>
          <a:ln/>
        </p:spPr>
        <p:txBody>
          <a:bodyPr wrap="none" lIns="0" tIns="0" rIns="0" bIns="0" rtlCol="0" anchor="t">
            <a:noAutofit/>
          </a:bodyPr>
          <a:lstStyle/>
          <a:p>
            <a:pPr marL="0" indent="0" algn="l">
              <a:lnSpc>
                <a:spcPts val="1519"/>
              </a:lnSpc>
              <a:buNone/>
            </a:pPr>
            <a:r>
              <a:rPr lang="en-US" sz="1000" dirty="0">
                <a:latin typeface="Courier New" pitchFamily="34" charset="0"/>
                <a:ea typeface="Courier New" pitchFamily="34" charset="-122"/>
                <a:cs typeface="Courier New" pitchFamily="34" charset="-120"/>
              </a:rPr>
              <a:t>if</a:t>
            </a:r>
            <a:endParaRPr lang="en-US" sz="1000" dirty="0"/>
          </a:p>
        </p:txBody>
      </p:sp>
      <p:sp>
        <p:nvSpPr>
          <p:cNvPr id="22" name="Text 20"/>
          <p:cNvSpPr/>
          <p:nvPr/>
        </p:nvSpPr>
        <p:spPr>
          <a:xfrm>
            <a:off x="3857625" y="3707495"/>
            <a:ext cx="308610" cy="169736"/>
          </a:xfrm>
          <a:prstGeom prst="rect">
            <a:avLst/>
          </a:prstGeom>
          <a:noFill/>
          <a:ln/>
        </p:spPr>
        <p:txBody>
          <a:bodyPr wrap="none" lIns="0" tIns="0" rIns="0" bIns="0" rtlCol="0" anchor="t"/>
          <a:lstStyle/>
          <a:p>
            <a:pPr marL="0" indent="0" algn="l">
              <a:lnSpc>
                <a:spcPts val="1519"/>
              </a:lnSpc>
              <a:buNone/>
            </a:pPr>
            <a:r>
              <a:rPr lang="en-US" sz="1000" dirty="0">
                <a:latin typeface="Courier New" pitchFamily="34" charset="0"/>
                <a:ea typeface="Courier New" pitchFamily="34" charset="-122"/>
                <a:cs typeface="Courier New" pitchFamily="34" charset="-120"/>
              </a:rPr>
              <a:t>"."</a:t>
            </a:r>
            <a:endParaRPr lang="en-US" sz="1000" dirty="0"/>
          </a:p>
        </p:txBody>
      </p:sp>
      <p:sp>
        <p:nvSpPr>
          <p:cNvPr id="23" name="Text 21"/>
          <p:cNvSpPr/>
          <p:nvPr/>
        </p:nvSpPr>
        <p:spPr>
          <a:xfrm>
            <a:off x="4225282" y="3707495"/>
            <a:ext cx="139080" cy="165449"/>
          </a:xfrm>
          <a:prstGeom prst="rect">
            <a:avLst/>
          </a:prstGeom>
          <a:noFill/>
          <a:ln/>
        </p:spPr>
        <p:txBody>
          <a:bodyPr wrap="none" lIns="0" tIns="0" rIns="0" bIns="0" rtlCol="0" anchor="t">
            <a:noAutofit/>
          </a:bodyPr>
          <a:lstStyle/>
          <a:p>
            <a:pPr marL="0" indent="0" algn="l">
              <a:lnSpc>
                <a:spcPts val="1519"/>
              </a:lnSpc>
              <a:buNone/>
            </a:pPr>
            <a:r>
              <a:rPr lang="en-US" sz="1000" dirty="0">
                <a:latin typeface="Liberation Sans Narrow" pitchFamily="34" charset="0"/>
                <a:ea typeface="Liberation Sans Narrow" pitchFamily="34" charset="-122"/>
                <a:cs typeface="Liberation Sans Narrow" pitchFamily="34" charset="-120"/>
              </a:rPr>
              <a:t>1</a:t>
            </a:r>
            <a:endParaRPr lang="en-US" sz="1000" dirty="0"/>
          </a:p>
        </p:txBody>
      </p:sp>
      <p:sp>
        <p:nvSpPr>
          <p:cNvPr id="24" name="Text 22"/>
          <p:cNvSpPr/>
          <p:nvPr/>
        </p:nvSpPr>
        <p:spPr>
          <a:xfrm>
            <a:off x="900113" y="3900376"/>
            <a:ext cx="551640" cy="169736"/>
          </a:xfrm>
          <a:prstGeom prst="rect">
            <a:avLst/>
          </a:prstGeom>
          <a:noFill/>
          <a:ln/>
        </p:spPr>
        <p:txBody>
          <a:bodyPr wrap="none" lIns="0" tIns="0" rIns="0" bIns="0" rtlCol="0" anchor="t"/>
          <a:lstStyle/>
          <a:p>
            <a:pPr marL="0" indent="0" algn="l">
              <a:lnSpc>
                <a:spcPts val="1519"/>
              </a:lnSpc>
              <a:buNone/>
            </a:pPr>
            <a:r>
              <a:rPr lang="en-US" sz="1000" dirty="0">
                <a:latin typeface="Courier New" pitchFamily="34" charset="0"/>
                <a:ea typeface="Courier New" pitchFamily="34" charset="-122"/>
                <a:cs typeface="Courier New" pitchFamily="34" charset="-120"/>
              </a:rPr>
              <a:t>return</a:t>
            </a:r>
            <a:endParaRPr lang="en-US" sz="1000" dirty="0"/>
          </a:p>
        </p:txBody>
      </p:sp>
      <p:sp>
        <p:nvSpPr>
          <p:cNvPr id="25" name="Text 23"/>
          <p:cNvSpPr/>
          <p:nvPr/>
        </p:nvSpPr>
        <p:spPr>
          <a:xfrm>
            <a:off x="642938" y="4286138"/>
            <a:ext cx="308610" cy="91440"/>
          </a:xfrm>
          <a:prstGeom prst="rect">
            <a:avLst/>
          </a:prstGeom>
          <a:noFill/>
          <a:ln/>
        </p:spPr>
        <p:txBody>
          <a:bodyPr wrap="none" lIns="0" tIns="0" rIns="0" bIns="0" rtlCol="0" anchor="t"/>
          <a:lstStyle/>
          <a:p>
            <a:pPr marL="0" indent="0" algn="l">
              <a:lnSpc>
                <a:spcPts val="1519"/>
              </a:lnSpc>
              <a:buNone/>
            </a:pPr>
            <a:r>
              <a:rPr lang="en-US" sz="1000" dirty="0">
                <a:latin typeface="Courier New" pitchFamily="34" charset="0"/>
                <a:ea typeface="Courier New" pitchFamily="34" charset="-122"/>
                <a:cs typeface="Courier New" pitchFamily="34" charset="-120"/>
              </a:rPr>
              <a:t>def</a:t>
            </a:r>
            <a:endParaRPr lang="en-US" sz="1000" dirty="0"/>
          </a:p>
        </p:txBody>
      </p:sp>
      <p:sp>
        <p:nvSpPr>
          <p:cNvPr id="26" name="Text 24"/>
          <p:cNvSpPr/>
          <p:nvPr/>
        </p:nvSpPr>
        <p:spPr>
          <a:xfrm>
            <a:off x="890250" y="4286138"/>
            <a:ext cx="823397" cy="91440"/>
          </a:xfrm>
          <a:prstGeom prst="rect">
            <a:avLst/>
          </a:prstGeom>
          <a:noFill/>
          <a:ln/>
        </p:spPr>
        <p:txBody>
          <a:bodyPr wrap="none" lIns="0" tIns="0" rIns="0" bIns="0" rtlCol="0" anchor="t"/>
          <a:lstStyle/>
          <a:p>
            <a:pPr marL="0" indent="0" algn="l">
              <a:lnSpc>
                <a:spcPts val="1519"/>
              </a:lnSpc>
              <a:buNone/>
            </a:pPr>
            <a:r>
              <a:rPr lang="en-US" sz="1000" dirty="0">
                <a:latin typeface="Courier New" pitchFamily="34" charset="0"/>
                <a:ea typeface="Courier New" pitchFamily="34" charset="-122"/>
                <a:cs typeface="Courier New" pitchFamily="34" charset="-120"/>
              </a:rPr>
              <a:t>impact_set</a:t>
            </a:r>
            <a:endParaRPr lang="en-US" sz="1000" dirty="0"/>
          </a:p>
        </p:txBody>
      </p:sp>
      <p:sp>
        <p:nvSpPr>
          <p:cNvPr id="27" name="Text 25"/>
          <p:cNvSpPr/>
          <p:nvPr/>
        </p:nvSpPr>
        <p:spPr>
          <a:xfrm>
            <a:off x="1607344" y="4479020"/>
            <a:ext cx="308610" cy="91440"/>
          </a:xfrm>
          <a:prstGeom prst="rect">
            <a:avLst/>
          </a:prstGeom>
          <a:noFill/>
          <a:ln/>
        </p:spPr>
        <p:txBody>
          <a:bodyPr wrap="none" lIns="0" tIns="0" rIns="0" bIns="0" rtlCol="0" anchor="t"/>
          <a:lstStyle/>
          <a:p>
            <a:pPr marL="0" indent="0" algn="l">
              <a:lnSpc>
                <a:spcPts val="1519"/>
              </a:lnSpc>
              <a:buNone/>
            </a:pPr>
            <a:r>
              <a:rPr lang="en-US" sz="1000" dirty="0">
                <a:latin typeface="Courier New" pitchFamily="34" charset="0"/>
                <a:ea typeface="Courier New" pitchFamily="34" charset="-122"/>
                <a:cs typeface="Courier New" pitchFamily="34" charset="-120"/>
              </a:rPr>
              <a:t>set</a:t>
            </a:r>
            <a:endParaRPr lang="en-US" sz="1000" dirty="0"/>
          </a:p>
        </p:txBody>
      </p:sp>
      <p:sp>
        <p:nvSpPr>
          <p:cNvPr id="28" name="Text 26"/>
          <p:cNvSpPr/>
          <p:nvPr/>
        </p:nvSpPr>
        <p:spPr>
          <a:xfrm>
            <a:off x="900113" y="4671901"/>
            <a:ext cx="308610" cy="91440"/>
          </a:xfrm>
          <a:prstGeom prst="rect">
            <a:avLst/>
          </a:prstGeom>
          <a:noFill/>
          <a:ln/>
        </p:spPr>
        <p:txBody>
          <a:bodyPr wrap="none" lIns="0" tIns="0" rIns="0" bIns="0" rtlCol="0" anchor="t"/>
          <a:lstStyle/>
          <a:p>
            <a:pPr marL="0" indent="0" algn="l">
              <a:lnSpc>
                <a:spcPts val="1519"/>
              </a:lnSpc>
              <a:buNone/>
            </a:pPr>
            <a:r>
              <a:rPr lang="en-US" sz="1000" dirty="0">
                <a:latin typeface="Courier New" pitchFamily="34" charset="0"/>
                <a:ea typeface="Courier New" pitchFamily="34" charset="-122"/>
                <a:cs typeface="Courier New" pitchFamily="34" charset="-120"/>
              </a:rPr>
              <a:t>for</a:t>
            </a:r>
            <a:endParaRPr lang="en-US" sz="1000" dirty="0"/>
          </a:p>
        </p:txBody>
      </p:sp>
      <p:sp>
        <p:nvSpPr>
          <p:cNvPr id="29" name="Text 27"/>
          <p:cNvSpPr/>
          <p:nvPr/>
        </p:nvSpPr>
        <p:spPr>
          <a:xfrm>
            <a:off x="1285875" y="4671901"/>
            <a:ext cx="205740" cy="91440"/>
          </a:xfrm>
          <a:prstGeom prst="rect">
            <a:avLst/>
          </a:prstGeom>
          <a:noFill/>
          <a:ln/>
        </p:spPr>
        <p:txBody>
          <a:bodyPr wrap="none" lIns="0" tIns="0" rIns="0" bIns="0" rtlCol="0" anchor="t"/>
          <a:lstStyle/>
          <a:p>
            <a:pPr marL="0" indent="0" algn="l">
              <a:lnSpc>
                <a:spcPts val="1519"/>
              </a:lnSpc>
              <a:buNone/>
            </a:pPr>
            <a:r>
              <a:rPr lang="en-US" sz="1000" dirty="0">
                <a:latin typeface="Courier New" pitchFamily="34" charset="0"/>
                <a:ea typeface="Courier New" pitchFamily="34" charset="-122"/>
                <a:cs typeface="Courier New" pitchFamily="34" charset="-120"/>
              </a:rPr>
              <a:t>in</a:t>
            </a:r>
            <a:endParaRPr lang="en-US" sz="1000" dirty="0"/>
          </a:p>
        </p:txBody>
      </p:sp>
      <p:sp>
        <p:nvSpPr>
          <p:cNvPr id="30" name="Text 28"/>
          <p:cNvSpPr/>
          <p:nvPr/>
        </p:nvSpPr>
        <p:spPr>
          <a:xfrm>
            <a:off x="900113" y="5057663"/>
            <a:ext cx="551640" cy="91440"/>
          </a:xfrm>
          <a:prstGeom prst="rect">
            <a:avLst/>
          </a:prstGeom>
          <a:noFill/>
          <a:ln/>
        </p:spPr>
        <p:txBody>
          <a:bodyPr wrap="none" lIns="0" tIns="0" rIns="0" bIns="0" rtlCol="0" anchor="t"/>
          <a:lstStyle/>
          <a:p>
            <a:pPr marL="0" indent="0" algn="l">
              <a:lnSpc>
                <a:spcPts val="1519"/>
              </a:lnSpc>
              <a:buNone/>
            </a:pPr>
            <a:r>
              <a:rPr lang="en-US" sz="1000" dirty="0">
                <a:latin typeface="Courier New" pitchFamily="34" charset="0"/>
                <a:ea typeface="Courier New" pitchFamily="34" charset="-122"/>
                <a:cs typeface="Courier New" pitchFamily="34" charset="-120"/>
              </a:rPr>
              <a:t>return</a:t>
            </a:r>
            <a:endParaRPr lang="en-US" sz="1000" dirty="0"/>
          </a:p>
        </p:txBody>
      </p:sp>
      <p:sp>
        <p:nvSpPr>
          <p:cNvPr id="31" name="Text 29"/>
          <p:cNvSpPr/>
          <p:nvPr/>
        </p:nvSpPr>
        <p:spPr>
          <a:xfrm>
            <a:off x="642938" y="5443426"/>
            <a:ext cx="4114800" cy="91440"/>
          </a:xfrm>
          <a:prstGeom prst="rect">
            <a:avLst/>
          </a:prstGeom>
          <a:noFill/>
          <a:ln/>
        </p:spPr>
        <p:txBody>
          <a:bodyPr wrap="none" lIns="0" tIns="0" rIns="0" bIns="0" rtlCol="0" anchor="t"/>
          <a:lstStyle/>
          <a:p>
            <a:pPr marL="0" indent="0" algn="l">
              <a:lnSpc>
                <a:spcPts val="1519"/>
              </a:lnSpc>
              <a:buNone/>
            </a:pPr>
            <a:r>
              <a:rPr lang="en-US" sz="1000" i="1" dirty="0">
                <a:latin typeface="Courier New" pitchFamily="34" charset="0"/>
                <a:ea typeface="Courier New" pitchFamily="34" charset="-122"/>
                <a:cs typeface="Courier New" pitchFamily="34" charset="-120"/>
              </a:rPr>
              <a:t># AI augments this with semantic + co-failure edges (next slide)</a:t>
            </a:r>
            <a:endParaRPr lang="en-US" sz="1000" dirty="0"/>
          </a:p>
        </p:txBody>
      </p:sp>
      <p:sp>
        <p:nvSpPr>
          <p:cNvPr id="32" name="Text 30"/>
          <p:cNvSpPr/>
          <p:nvPr/>
        </p:nvSpPr>
        <p:spPr>
          <a:xfrm>
            <a:off x="457200" y="4506367"/>
            <a:ext cx="8229600" cy="194328"/>
          </a:xfrm>
          <a:prstGeom prst="rect">
            <a:avLst/>
          </a:prstGeom>
          <a:noFill/>
          <a:ln/>
        </p:spPr>
        <p:txBody>
          <a:bodyPr wrap="square" lIns="0" tIns="0" rIns="0" bIns="0" rtlCol="0" anchor="t"/>
          <a:lstStyle/>
          <a:p>
            <a:pPr marL="0" indent="0" algn="l">
              <a:lnSpc>
                <a:spcPts val="1418"/>
              </a:lnSpc>
              <a:buNone/>
            </a:pPr>
            <a:r>
              <a:rPr lang="en-US" sz="1000" i="1" dirty="0">
                <a:latin typeface="Carlito" pitchFamily="34" charset="0"/>
                <a:ea typeface="Carlito" pitchFamily="34" charset="-122"/>
                <a:cs typeface="Carlito" pitchFamily="34" charset="-120"/>
              </a:rPr>
              <a:t>Pure graph traversal finds </a:t>
            </a:r>
            <a:r>
              <a:rPr lang="en-US" sz="1000" b="1" i="1" dirty="0">
                <a:latin typeface="Carlito" pitchFamily="34" charset="0"/>
                <a:ea typeface="Carlito" pitchFamily="34" charset="-122"/>
                <a:cs typeface="Carlito" pitchFamily="34" charset="-120"/>
              </a:rPr>
              <a:t>EXPLICIT</a:t>
            </a:r>
            <a:r>
              <a:rPr lang="en-US" sz="1000" i="1" dirty="0">
                <a:latin typeface="Carlito" pitchFamily="34" charset="0"/>
                <a:ea typeface="Carlito" pitchFamily="34" charset="-122"/>
                <a:cs typeface="Carlito" pitchFamily="34" charset="-120"/>
              </a:rPr>
              <a:t> dependencies. AI extends it with </a:t>
            </a:r>
            <a:r>
              <a:rPr lang="en-US" sz="1000" b="1" i="1" dirty="0">
                <a:latin typeface="Carlito" pitchFamily="34" charset="0"/>
                <a:ea typeface="Carlito" pitchFamily="34" charset="-122"/>
                <a:cs typeface="Carlito" pitchFamily="34" charset="-120"/>
              </a:rPr>
              <a:t>IMPLICIT</a:t>
            </a:r>
            <a:r>
              <a:rPr lang="en-US" sz="1000" i="1" dirty="0">
                <a:latin typeface="Carlito" pitchFamily="34" charset="0"/>
                <a:ea typeface="Carlito" pitchFamily="34" charset="-122"/>
                <a:cs typeface="Carlito" pitchFamily="34" charset="-120"/>
              </a:rPr>
              <a:t> dependencies.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8636000" cy="388776"/>
          </a:xfrm>
          <a:prstGeom prst="rect">
            <a:avLst/>
          </a:prstGeom>
          <a:noFill/>
          <a:ln/>
        </p:spPr>
        <p:txBody>
          <a:bodyPr wrap="square" lIns="0" tIns="0" rIns="0" bIns="0" rtlCol="0" anchor="t"/>
          <a:lstStyle/>
          <a:p>
            <a:pPr marL="0" indent="0" algn="l">
              <a:lnSpc>
                <a:spcPts val="2835"/>
              </a:lnSpc>
              <a:buNone/>
            </a:pPr>
            <a:r>
              <a:rPr lang="en-US" sz="2025" b="1" dirty="0">
                <a:solidFill>
                  <a:srgbClr val="0F172A"/>
                </a:solidFill>
                <a:latin typeface="Carlito" pitchFamily="34" charset="0"/>
                <a:ea typeface="Carlito" pitchFamily="34" charset="-122"/>
                <a:cs typeface="Carlito" pitchFamily="34" charset="-120"/>
              </a:rPr>
              <a:t>Code Example — Bazel Query + AI Augmentation</a:t>
            </a:r>
            <a:endParaRPr lang="en-US" sz="2025" dirty="0"/>
          </a:p>
        </p:txBody>
      </p:sp>
      <p:sp>
        <p:nvSpPr>
          <p:cNvPr id="3" name="Text 1"/>
          <p:cNvSpPr/>
          <p:nvPr/>
        </p:nvSpPr>
        <p:spPr>
          <a:xfrm>
            <a:off x="457200" y="874328"/>
            <a:ext cx="571500" cy="42863"/>
          </a:xfrm>
          <a:prstGeom prst="roundRect">
            <a:avLst>
              <a:gd name="adj" fmla="val 66666"/>
            </a:avLst>
          </a:prstGeom>
          <a:solidFill>
            <a:srgbClr val="F97316"/>
          </a:solidFill>
          <a:ln/>
        </p:spPr>
        <p:txBody>
          <a:bodyPr wrap="square" rtlCol="0" anchor="ctr"/>
          <a:lstStyle/>
          <a:p>
            <a:pPr marL="0" indent="0">
              <a:buNone/>
            </a:pPr>
            <a:endParaRPr lang="en-US" dirty="0"/>
          </a:p>
        </p:txBody>
      </p:sp>
      <p:sp>
        <p:nvSpPr>
          <p:cNvPr id="4" name="Text 2"/>
          <p:cNvSpPr/>
          <p:nvPr/>
        </p:nvSpPr>
        <p:spPr>
          <a:xfrm>
            <a:off x="457200" y="960053"/>
            <a:ext cx="8636000" cy="205177"/>
          </a:xfrm>
          <a:prstGeom prst="rect">
            <a:avLst/>
          </a:prstGeom>
          <a:noFill/>
          <a:ln/>
        </p:spPr>
        <p:txBody>
          <a:bodyPr wrap="square" lIns="0" tIns="0" rIns="0" bIns="0" rtlCol="0" anchor="t"/>
          <a:lstStyle/>
          <a:p>
            <a:pPr marL="0" indent="0" algn="l">
              <a:lnSpc>
                <a:spcPts val="1496"/>
              </a:lnSpc>
              <a:buNone/>
            </a:pPr>
            <a:r>
              <a:rPr lang="en-US" sz="1069" dirty="0">
                <a:solidFill>
                  <a:srgbClr val="334155"/>
                </a:solidFill>
                <a:latin typeface="Carlito" pitchFamily="34" charset="0"/>
                <a:ea typeface="Carlito" pitchFamily="34" charset="-122"/>
                <a:cs typeface="Carlito" pitchFamily="34" charset="-120"/>
              </a:rPr>
              <a:t>Industry-grade impact analysis using Bazel.</a:t>
            </a:r>
            <a:endParaRPr lang="en-US" sz="1069" dirty="0"/>
          </a:p>
        </p:txBody>
      </p:sp>
      <p:sp>
        <p:nvSpPr>
          <p:cNvPr id="5" name="Text 3"/>
          <p:cNvSpPr/>
          <p:nvPr/>
        </p:nvSpPr>
        <p:spPr>
          <a:xfrm>
            <a:off x="457200" y="1195100"/>
            <a:ext cx="1189434" cy="225528"/>
          </a:xfrm>
          <a:prstGeom prst="roundRect">
            <a:avLst>
              <a:gd name="adj" fmla="val 4219199"/>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6" name="Text 4"/>
          <p:cNvSpPr/>
          <p:nvPr/>
        </p:nvSpPr>
        <p:spPr>
          <a:xfrm>
            <a:off x="457200" y="1207182"/>
            <a:ext cx="1218009" cy="237920"/>
          </a:xfrm>
          <a:prstGeom prst="rect">
            <a:avLst/>
          </a:prstGeom>
          <a:noFill/>
          <a:ln/>
        </p:spPr>
        <p:txBody>
          <a:bodyPr wrap="none" lIns="0" tIns="0" rIns="0" bIns="0" rtlCol="0" anchor="t"/>
          <a:lstStyle/>
          <a:p>
            <a:pPr marL="0" indent="0" algn="l">
              <a:lnSpc>
                <a:spcPts val="1024"/>
              </a:lnSpc>
              <a:buNone/>
            </a:pPr>
            <a:r>
              <a:rPr lang="en-US" sz="731" b="1" dirty="0">
                <a:solidFill>
                  <a:srgbClr val="C2410C"/>
                </a:solidFill>
                <a:latin typeface="Liberation Sans Narrow" pitchFamily="34" charset="0"/>
                <a:ea typeface="Liberation Sans Narrow" pitchFamily="34" charset="-122"/>
                <a:cs typeface="Liberation Sans Narrow" pitchFamily="34" charset="-120"/>
              </a:rPr>
              <a:t>STEP 1</a:t>
            </a:r>
            <a:r>
              <a:rPr lang="en-US" sz="731" b="1" dirty="0">
                <a:solidFill>
                  <a:srgbClr val="334155"/>
                </a:solidFill>
                <a:latin typeface="Carlito" pitchFamily="34" charset="0"/>
                <a:ea typeface="Carlito" pitchFamily="34" charset="-122"/>
                <a:cs typeface="Carlito" pitchFamily="34" charset="-120"/>
              </a:rPr>
              <a:t> Pure Bazel rdeps</a:t>
            </a:r>
            <a:endParaRPr lang="en-US" sz="731" dirty="0"/>
          </a:p>
        </p:txBody>
      </p:sp>
      <p:sp>
        <p:nvSpPr>
          <p:cNvPr id="7" name="Text 5"/>
          <p:cNvSpPr/>
          <p:nvPr/>
        </p:nvSpPr>
        <p:spPr>
          <a:xfrm>
            <a:off x="1707356" y="1210754"/>
            <a:ext cx="1412342" cy="194221"/>
          </a:xfrm>
          <a:prstGeom prst="roundRect">
            <a:avLst>
              <a:gd name="adj" fmla="val 4899303"/>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8" name="Text 6"/>
          <p:cNvSpPr/>
          <p:nvPr/>
        </p:nvSpPr>
        <p:spPr>
          <a:xfrm>
            <a:off x="1703784" y="1207182"/>
            <a:ext cx="1448060" cy="237920"/>
          </a:xfrm>
          <a:prstGeom prst="rect">
            <a:avLst/>
          </a:prstGeom>
          <a:noFill/>
          <a:ln/>
        </p:spPr>
        <p:txBody>
          <a:bodyPr wrap="none" lIns="85725" tIns="28575" rIns="85725" bIns="28575" rtlCol="0" anchor="t"/>
          <a:lstStyle/>
          <a:p>
            <a:pPr marL="0" indent="0" algn="l">
              <a:lnSpc>
                <a:spcPts val="1024"/>
              </a:lnSpc>
              <a:buNone/>
            </a:pPr>
            <a:r>
              <a:rPr lang="en-US" sz="731" b="1" dirty="0">
                <a:solidFill>
                  <a:srgbClr val="C2410C"/>
                </a:solidFill>
                <a:latin typeface="Liberation Sans Narrow" pitchFamily="34" charset="0"/>
                <a:ea typeface="Liberation Sans Narrow" pitchFamily="34" charset="-122"/>
                <a:cs typeface="Liberation Sans Narrow" pitchFamily="34" charset="-120"/>
              </a:rPr>
              <a:t>STEP 2</a:t>
            </a:r>
            <a:r>
              <a:rPr lang="en-US" sz="731" b="1" dirty="0">
                <a:solidFill>
                  <a:srgbClr val="334155"/>
                </a:solidFill>
                <a:latin typeface="Carlito" pitchFamily="34" charset="0"/>
                <a:ea typeface="Carlito" pitchFamily="34" charset="-122"/>
                <a:cs typeface="Carlito" pitchFamily="34" charset="-120"/>
              </a:rPr>
              <a:t> AI semantic expansion</a:t>
            </a:r>
            <a:endParaRPr lang="en-US" sz="731" dirty="0"/>
          </a:p>
        </p:txBody>
      </p:sp>
      <p:sp>
        <p:nvSpPr>
          <p:cNvPr id="9" name="Text 7"/>
          <p:cNvSpPr/>
          <p:nvPr/>
        </p:nvSpPr>
        <p:spPr>
          <a:xfrm>
            <a:off x="3183992" y="1210754"/>
            <a:ext cx="1575308" cy="194221"/>
          </a:xfrm>
          <a:prstGeom prst="roundRect">
            <a:avLst>
              <a:gd name="adj" fmla="val 4899303"/>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10" name="Text 8"/>
          <p:cNvSpPr/>
          <p:nvPr/>
        </p:nvSpPr>
        <p:spPr>
          <a:xfrm>
            <a:off x="3180420" y="1207182"/>
            <a:ext cx="5506380" cy="237920"/>
          </a:xfrm>
          <a:prstGeom prst="rect">
            <a:avLst/>
          </a:prstGeom>
          <a:noFill/>
          <a:ln/>
        </p:spPr>
        <p:txBody>
          <a:bodyPr wrap="none" lIns="85725" tIns="28575" rIns="85725" bIns="28575" rtlCol="0" anchor="t"/>
          <a:lstStyle/>
          <a:p>
            <a:pPr marL="0" indent="0" algn="l">
              <a:lnSpc>
                <a:spcPts val="1024"/>
              </a:lnSpc>
              <a:buNone/>
            </a:pPr>
            <a:r>
              <a:rPr lang="en-US" sz="800" b="1" dirty="0">
                <a:solidFill>
                  <a:srgbClr val="C2410C"/>
                </a:solidFill>
                <a:latin typeface="Liberation Sans Narrow" pitchFamily="34" charset="0"/>
                <a:ea typeface="Liberation Sans Narrow" pitchFamily="34" charset="-122"/>
                <a:cs typeface="Liberation Sans Narrow" pitchFamily="34" charset="-120"/>
              </a:rPr>
              <a:t>STEP 3</a:t>
            </a:r>
            <a:r>
              <a:rPr lang="en-US" sz="800" b="1" dirty="0">
                <a:solidFill>
                  <a:srgbClr val="334155"/>
                </a:solidFill>
                <a:latin typeface="Carlito" pitchFamily="34" charset="0"/>
                <a:ea typeface="Carlito" pitchFamily="34" charset="-122"/>
                <a:cs typeface="Carlito" pitchFamily="34" charset="-120"/>
              </a:rPr>
              <a:t> Surgical cache invalidation</a:t>
            </a:r>
            <a:endParaRPr lang="en-US" sz="800" dirty="0"/>
          </a:p>
        </p:txBody>
      </p:sp>
      <p:sp>
        <p:nvSpPr>
          <p:cNvPr id="11" name="Text 9"/>
          <p:cNvSpPr/>
          <p:nvPr/>
        </p:nvSpPr>
        <p:spPr>
          <a:xfrm>
            <a:off x="7756684" y="1555938"/>
            <a:ext cx="838676" cy="182398"/>
          </a:xfrm>
          <a:prstGeom prst="roundRect">
            <a:avLst>
              <a:gd name="adj" fmla="val 31333"/>
            </a:avLst>
          </a:prstGeom>
          <a:solidFill>
            <a:srgbClr val="F97316">
              <a:alpha val="95000"/>
            </a:srgbClr>
          </a:solidFill>
          <a:ln/>
        </p:spPr>
        <p:txBody>
          <a:bodyPr wrap="square" rtlCol="0" anchor="ctr"/>
          <a:lstStyle/>
          <a:p>
            <a:pPr marL="0" indent="0">
              <a:buNone/>
            </a:pPr>
            <a:endParaRPr lang="en-US" dirty="0"/>
          </a:p>
        </p:txBody>
      </p:sp>
      <p:sp>
        <p:nvSpPr>
          <p:cNvPr id="12" name="Text 10"/>
          <p:cNvSpPr/>
          <p:nvPr/>
        </p:nvSpPr>
        <p:spPr>
          <a:xfrm>
            <a:off x="7726046" y="1565709"/>
            <a:ext cx="899952" cy="162855"/>
          </a:xfrm>
          <a:prstGeom prst="rect">
            <a:avLst/>
          </a:prstGeom>
          <a:noFill/>
          <a:ln/>
        </p:spPr>
        <p:txBody>
          <a:bodyPr wrap="none" lIns="0" tIns="0" rIns="0" bIns="0" rtlCol="0" anchor="ctr"/>
          <a:lstStyle/>
          <a:p>
            <a:pPr marL="0" indent="0" algn="ctr">
              <a:lnSpc>
                <a:spcPts val="945"/>
              </a:lnSpc>
              <a:buNone/>
            </a:pPr>
            <a:r>
              <a:rPr lang="en-US" sz="800" b="1" kern="0" spc="56" dirty="0">
                <a:solidFill>
                  <a:srgbClr val="FFFFFF"/>
                </a:solidFill>
                <a:latin typeface="Courier New" pitchFamily="34" charset="0"/>
                <a:ea typeface="Courier New" pitchFamily="34" charset="-122"/>
                <a:cs typeface="Courier New" pitchFamily="34" charset="-120"/>
              </a:rPr>
              <a:t>BASH + PYTHON</a:t>
            </a:r>
            <a:endParaRPr lang="en-US" sz="800" dirty="0"/>
          </a:p>
        </p:txBody>
      </p:sp>
      <p:sp>
        <p:nvSpPr>
          <p:cNvPr id="13" name="Text 11"/>
          <p:cNvSpPr/>
          <p:nvPr/>
        </p:nvSpPr>
        <p:spPr>
          <a:xfrm>
            <a:off x="628650" y="1615715"/>
            <a:ext cx="3143250" cy="154305"/>
          </a:xfrm>
          <a:prstGeom prst="rect">
            <a:avLst/>
          </a:prstGeom>
          <a:noFill/>
          <a:ln/>
        </p:spPr>
        <p:txBody>
          <a:bodyPr wrap="none" lIns="0" tIns="0" rIns="0" bIns="0" rtlCol="0" anchor="t"/>
          <a:lstStyle/>
          <a:p>
            <a:pPr marL="0" indent="0" algn="l">
              <a:lnSpc>
                <a:spcPts val="1305"/>
              </a:lnSpc>
              <a:buNone/>
            </a:pPr>
            <a:r>
              <a:rPr lang="en-US" sz="900" i="1" dirty="0">
                <a:solidFill>
                  <a:srgbClr val="94A3B8"/>
                </a:solidFill>
                <a:latin typeface="Courier New" pitchFamily="34" charset="0"/>
                <a:ea typeface="Courier New" pitchFamily="34" charset="-122"/>
                <a:cs typeface="Courier New" pitchFamily="34" charset="-120"/>
              </a:rPr>
              <a:t># 1. Pure Bazel: list targets affected by changed files</a:t>
            </a:r>
            <a:endParaRPr lang="en-US" sz="900" dirty="0"/>
          </a:p>
        </p:txBody>
      </p:sp>
      <p:sp>
        <p:nvSpPr>
          <p:cNvPr id="14" name="Text 12"/>
          <p:cNvSpPr/>
          <p:nvPr/>
        </p:nvSpPr>
        <p:spPr>
          <a:xfrm>
            <a:off x="742950" y="1947007"/>
            <a:ext cx="4000500" cy="154305"/>
          </a:xfrm>
          <a:prstGeom prst="rect">
            <a:avLst/>
          </a:prstGeom>
          <a:noFill/>
          <a:ln/>
        </p:spPr>
        <p:txBody>
          <a:bodyPr wrap="none" lIns="0" tIns="0" rIns="0" bIns="0" rtlCol="0" anchor="t"/>
          <a:lstStyle/>
          <a:p>
            <a:pPr marL="0" indent="0" algn="l">
              <a:lnSpc>
                <a:spcPts val="1305"/>
              </a:lnSpc>
              <a:buNone/>
            </a:pPr>
            <a:r>
              <a:rPr lang="en-US" sz="900" dirty="0">
                <a:solidFill>
                  <a:srgbClr val="86EFAC"/>
                </a:solidFill>
                <a:latin typeface="Courier New" pitchFamily="34" charset="0"/>
                <a:ea typeface="Courier New" pitchFamily="34" charset="-122"/>
                <a:cs typeface="Courier New" pitchFamily="34" charset="-120"/>
              </a:rPr>
              <a:t>'rdeps(//..., set(//services/auth:login.py //services/auth:token.py))'</a:t>
            </a:r>
            <a:endParaRPr lang="en-US" sz="900" dirty="0"/>
          </a:p>
        </p:txBody>
      </p:sp>
      <p:sp>
        <p:nvSpPr>
          <p:cNvPr id="15" name="Text 13"/>
          <p:cNvSpPr/>
          <p:nvPr/>
        </p:nvSpPr>
        <p:spPr>
          <a:xfrm>
            <a:off x="628650" y="2443944"/>
            <a:ext cx="1913382" cy="138214"/>
          </a:xfrm>
          <a:prstGeom prst="rect">
            <a:avLst/>
          </a:prstGeom>
          <a:noFill/>
          <a:ln/>
        </p:spPr>
        <p:txBody>
          <a:bodyPr wrap="none" lIns="0" tIns="0" rIns="0" bIns="0" rtlCol="0" anchor="t">
            <a:normAutofit fontScale="32500" lnSpcReduction="20000"/>
          </a:bodyPr>
          <a:lstStyle/>
          <a:p>
            <a:pPr marL="0" indent="0" algn="l">
              <a:lnSpc>
                <a:spcPts val="1305"/>
              </a:lnSpc>
              <a:buNone/>
            </a:pPr>
            <a:r>
              <a:rPr lang="en-US" sz="900" i="1" dirty="0">
                <a:solidFill>
                  <a:srgbClr val="94A3B8"/>
                </a:solidFill>
                <a:latin typeface="Courier New" pitchFamily="34" charset="0"/>
                <a:ea typeface="Courier New" pitchFamily="34" charset="-122"/>
                <a:cs typeface="Courier New" pitchFamily="34" charset="-120"/>
              </a:rPr>
              <a:t># Output (explicit dependents):</a:t>
            </a:r>
            <a:endParaRPr lang="en-US" sz="900" dirty="0"/>
          </a:p>
        </p:txBody>
      </p:sp>
      <p:sp>
        <p:nvSpPr>
          <p:cNvPr id="16" name="Text 14"/>
          <p:cNvSpPr/>
          <p:nvPr/>
        </p:nvSpPr>
        <p:spPr>
          <a:xfrm>
            <a:off x="628650" y="2609590"/>
            <a:ext cx="1604772" cy="138214"/>
          </a:xfrm>
          <a:prstGeom prst="rect">
            <a:avLst/>
          </a:prstGeom>
          <a:noFill/>
          <a:ln/>
        </p:spPr>
        <p:txBody>
          <a:bodyPr wrap="none" lIns="0" tIns="0" rIns="0" bIns="0" rtlCol="0" anchor="t">
            <a:normAutofit fontScale="32500" lnSpcReduction="20000"/>
          </a:bodyPr>
          <a:lstStyle/>
          <a:p>
            <a:pPr marL="0" indent="0" algn="l">
              <a:lnSpc>
                <a:spcPts val="1305"/>
              </a:lnSpc>
              <a:buNone/>
            </a:pPr>
            <a:r>
              <a:rPr lang="en-US" sz="900" i="1" dirty="0">
                <a:solidFill>
                  <a:srgbClr val="94A3B8"/>
                </a:solidFill>
                <a:latin typeface="Courier New" pitchFamily="34" charset="0"/>
                <a:ea typeface="Courier New" pitchFamily="34" charset="-122"/>
                <a:cs typeface="Courier New" pitchFamily="34" charset="-120"/>
              </a:rPr>
              <a:t># //services/auth:auth_lib</a:t>
            </a:r>
            <a:endParaRPr lang="en-US" sz="900" dirty="0"/>
          </a:p>
        </p:txBody>
      </p:sp>
      <p:sp>
        <p:nvSpPr>
          <p:cNvPr id="17" name="Text 15"/>
          <p:cNvSpPr/>
          <p:nvPr/>
        </p:nvSpPr>
        <p:spPr>
          <a:xfrm>
            <a:off x="628650" y="2775235"/>
            <a:ext cx="1666494" cy="138214"/>
          </a:xfrm>
          <a:prstGeom prst="rect">
            <a:avLst/>
          </a:prstGeom>
          <a:noFill/>
          <a:ln/>
        </p:spPr>
        <p:txBody>
          <a:bodyPr wrap="none" lIns="0" tIns="0" rIns="0" bIns="0" rtlCol="0" anchor="t">
            <a:normAutofit fontScale="32500" lnSpcReduction="20000"/>
          </a:bodyPr>
          <a:lstStyle/>
          <a:p>
            <a:pPr marL="0" indent="0" algn="l">
              <a:lnSpc>
                <a:spcPts val="1305"/>
              </a:lnSpc>
              <a:buNone/>
            </a:pPr>
            <a:r>
              <a:rPr lang="en-US" sz="900" i="1" dirty="0">
                <a:solidFill>
                  <a:srgbClr val="94A3B8"/>
                </a:solidFill>
                <a:latin typeface="Courier New" pitchFamily="34" charset="0"/>
                <a:ea typeface="Courier New" pitchFamily="34" charset="-122"/>
                <a:cs typeface="Courier New" pitchFamily="34" charset="-120"/>
              </a:rPr>
              <a:t># //services/api:api_server</a:t>
            </a:r>
            <a:endParaRPr lang="en-US" sz="900" dirty="0"/>
          </a:p>
        </p:txBody>
      </p:sp>
      <p:sp>
        <p:nvSpPr>
          <p:cNvPr id="18" name="Text 16"/>
          <p:cNvSpPr/>
          <p:nvPr/>
        </p:nvSpPr>
        <p:spPr>
          <a:xfrm>
            <a:off x="628650" y="2940881"/>
            <a:ext cx="1481328" cy="154305"/>
          </a:xfrm>
          <a:prstGeom prst="rect">
            <a:avLst/>
          </a:prstGeom>
          <a:noFill/>
          <a:ln/>
        </p:spPr>
        <p:txBody>
          <a:bodyPr wrap="none" lIns="0" tIns="0" rIns="0" bIns="0" rtlCol="0" anchor="t"/>
          <a:lstStyle/>
          <a:p>
            <a:pPr marL="0" indent="0" algn="l">
              <a:lnSpc>
                <a:spcPts val="1305"/>
              </a:lnSpc>
              <a:buNone/>
            </a:pPr>
            <a:r>
              <a:rPr lang="en-US" sz="900" i="1" dirty="0">
                <a:solidFill>
                  <a:srgbClr val="94A3B8"/>
                </a:solidFill>
                <a:latin typeface="Courier New" pitchFamily="34" charset="0"/>
                <a:ea typeface="Courier New" pitchFamily="34" charset="-122"/>
                <a:cs typeface="Courier New" pitchFamily="34" charset="-120"/>
              </a:rPr>
              <a:t># //services/web:web_app</a:t>
            </a:r>
            <a:endParaRPr lang="en-US" sz="900" dirty="0"/>
          </a:p>
        </p:txBody>
      </p:sp>
      <p:sp>
        <p:nvSpPr>
          <p:cNvPr id="19" name="Text 17"/>
          <p:cNvSpPr/>
          <p:nvPr/>
        </p:nvSpPr>
        <p:spPr>
          <a:xfrm>
            <a:off x="628650" y="3272172"/>
            <a:ext cx="3943350" cy="138214"/>
          </a:xfrm>
          <a:prstGeom prst="rect">
            <a:avLst/>
          </a:prstGeom>
          <a:noFill/>
          <a:ln/>
        </p:spPr>
        <p:txBody>
          <a:bodyPr wrap="none" lIns="0" tIns="0" rIns="0" bIns="0" rtlCol="0" anchor="t">
            <a:normAutofit fontScale="32500" lnSpcReduction="20000"/>
          </a:bodyPr>
          <a:lstStyle/>
          <a:p>
            <a:pPr marL="0" indent="0" algn="l">
              <a:lnSpc>
                <a:spcPts val="1305"/>
              </a:lnSpc>
              <a:buNone/>
            </a:pPr>
            <a:r>
              <a:rPr lang="en-US" sz="900" i="1" dirty="0">
                <a:solidFill>
                  <a:srgbClr val="94A3B8"/>
                </a:solidFill>
                <a:latin typeface="Courier New" pitchFamily="34" charset="0"/>
                <a:ea typeface="Courier New" pitchFamily="34" charset="-122"/>
                <a:cs typeface="Courier New" pitchFamily="34" charset="-120"/>
              </a:rPr>
              <a:t># 2. AI-augmented: also flag SEMANTIC dependents (no explicit import)</a:t>
            </a:r>
            <a:endParaRPr lang="en-US" sz="900" dirty="0"/>
          </a:p>
        </p:txBody>
      </p:sp>
      <p:sp>
        <p:nvSpPr>
          <p:cNvPr id="20" name="Text 18"/>
          <p:cNvSpPr/>
          <p:nvPr/>
        </p:nvSpPr>
        <p:spPr>
          <a:xfrm>
            <a:off x="628650" y="3437818"/>
            <a:ext cx="4514850" cy="154305"/>
          </a:xfrm>
          <a:prstGeom prst="rect">
            <a:avLst/>
          </a:prstGeom>
          <a:noFill/>
          <a:ln/>
        </p:spPr>
        <p:txBody>
          <a:bodyPr wrap="none" lIns="0" tIns="0" rIns="0" bIns="0" rtlCol="0" anchor="t"/>
          <a:lstStyle/>
          <a:p>
            <a:pPr marL="0" indent="0" algn="l">
              <a:lnSpc>
                <a:spcPts val="1305"/>
              </a:lnSpc>
              <a:buNone/>
            </a:pPr>
            <a:r>
              <a:rPr lang="en-US" sz="900" i="1" dirty="0">
                <a:solidFill>
                  <a:srgbClr val="94A3B8"/>
                </a:solidFill>
                <a:latin typeface="Courier New" pitchFamily="34" charset="0"/>
                <a:ea typeface="Courier New" pitchFamily="34" charset="-122"/>
                <a:cs typeface="Courier New" pitchFamily="34" charset="-120"/>
              </a:rPr>
              <a:t>#    Use embeddings to find code that 'talks about' auth even without importing</a:t>
            </a:r>
            <a:endParaRPr lang="en-US" sz="900" dirty="0"/>
          </a:p>
        </p:txBody>
      </p:sp>
      <p:sp>
        <p:nvSpPr>
          <p:cNvPr id="21" name="Text 19"/>
          <p:cNvSpPr/>
          <p:nvPr/>
        </p:nvSpPr>
        <p:spPr>
          <a:xfrm>
            <a:off x="1428750" y="4100401"/>
            <a:ext cx="365760" cy="154305"/>
          </a:xfrm>
          <a:prstGeom prst="rect">
            <a:avLst/>
          </a:prstGeom>
          <a:noFill/>
          <a:ln/>
        </p:spPr>
        <p:txBody>
          <a:bodyPr wrap="none" lIns="0" tIns="0" rIns="0" bIns="0" rtlCol="0" anchor="t"/>
          <a:lstStyle/>
          <a:p>
            <a:pPr marL="0" indent="0" algn="l">
              <a:lnSpc>
                <a:spcPts val="1305"/>
              </a:lnSpc>
              <a:buNone/>
            </a:pPr>
            <a:r>
              <a:rPr lang="en-US" sz="900" dirty="0">
                <a:solidFill>
                  <a:srgbClr val="93C5FD"/>
                </a:solidFill>
                <a:latin typeface="Liberation Sans Narrow" pitchFamily="34" charset="0"/>
                <a:ea typeface="Liberation Sans Narrow" pitchFamily="34" charset="-122"/>
                <a:cs typeface="Liberation Sans Narrow" pitchFamily="34" charset="-120"/>
              </a:rPr>
              <a:t>0.85</a:t>
            </a:r>
            <a:endParaRPr lang="en-US" sz="900" dirty="0"/>
          </a:p>
        </p:txBody>
      </p:sp>
      <p:sp>
        <p:nvSpPr>
          <p:cNvPr id="22" name="Text 20"/>
          <p:cNvSpPr/>
          <p:nvPr/>
        </p:nvSpPr>
        <p:spPr>
          <a:xfrm>
            <a:off x="628650" y="4431692"/>
            <a:ext cx="2654046" cy="111733"/>
          </a:xfrm>
          <a:prstGeom prst="rect">
            <a:avLst/>
          </a:prstGeom>
          <a:noFill/>
          <a:ln/>
        </p:spPr>
        <p:txBody>
          <a:bodyPr wrap="none" lIns="0" tIns="0" rIns="0" bIns="0" rtlCol="0" anchor="t"/>
          <a:lstStyle/>
          <a:p>
            <a:pPr marL="0" indent="0" algn="l">
              <a:lnSpc>
                <a:spcPts val="1305"/>
              </a:lnSpc>
              <a:buNone/>
            </a:pPr>
            <a:r>
              <a:rPr lang="en-US" sz="900" i="1" dirty="0">
                <a:solidFill>
                  <a:srgbClr val="94A3B8"/>
                </a:solidFill>
                <a:latin typeface="Courier New" pitchFamily="34" charset="0"/>
                <a:ea typeface="Courier New" pitchFamily="34" charset="-122"/>
                <a:cs typeface="Courier New" pitchFamily="34" charset="-120"/>
              </a:rPr>
              <a:t># Output (semantic dependents added by AI):</a:t>
            </a:r>
            <a:endParaRPr lang="en-US" sz="900" dirty="0"/>
          </a:p>
        </p:txBody>
      </p:sp>
      <p:sp>
        <p:nvSpPr>
          <p:cNvPr id="23" name="Text 21"/>
          <p:cNvSpPr/>
          <p:nvPr/>
        </p:nvSpPr>
        <p:spPr>
          <a:xfrm>
            <a:off x="628650" y="4597338"/>
            <a:ext cx="2971800" cy="91440"/>
          </a:xfrm>
          <a:prstGeom prst="rect">
            <a:avLst/>
          </a:prstGeom>
          <a:noFill/>
          <a:ln/>
        </p:spPr>
        <p:txBody>
          <a:bodyPr wrap="none" lIns="0" tIns="0" rIns="0" bIns="0" rtlCol="0" anchor="t"/>
          <a:lstStyle/>
          <a:p>
            <a:pPr marL="0" indent="0" algn="l">
              <a:lnSpc>
                <a:spcPts val="1305"/>
              </a:lnSpc>
              <a:buNone/>
            </a:pPr>
            <a:r>
              <a:rPr lang="en-US" sz="900" i="1" dirty="0">
                <a:solidFill>
                  <a:srgbClr val="94A3B8"/>
                </a:solidFill>
                <a:latin typeface="Courier New" pitchFamily="34" charset="0"/>
                <a:ea typeface="Courier New" pitchFamily="34" charset="-122"/>
                <a:cs typeface="Courier New" pitchFamily="34" charset="-120"/>
              </a:rPr>
              <a:t># //services/oauth:oauth_handler   (similarity 0.92)</a:t>
            </a:r>
            <a:endParaRPr lang="en-US" sz="900" dirty="0"/>
          </a:p>
        </p:txBody>
      </p:sp>
      <p:sp>
        <p:nvSpPr>
          <p:cNvPr id="24" name="Text 22"/>
          <p:cNvSpPr/>
          <p:nvPr/>
        </p:nvSpPr>
        <p:spPr>
          <a:xfrm>
            <a:off x="628650" y="4762984"/>
            <a:ext cx="2971800" cy="91440"/>
          </a:xfrm>
          <a:prstGeom prst="rect">
            <a:avLst/>
          </a:prstGeom>
          <a:noFill/>
          <a:ln/>
        </p:spPr>
        <p:txBody>
          <a:bodyPr wrap="none" lIns="0" tIns="0" rIns="0" bIns="0" rtlCol="0" anchor="t"/>
          <a:lstStyle/>
          <a:p>
            <a:pPr marL="0" indent="0" algn="l">
              <a:lnSpc>
                <a:spcPts val="1305"/>
              </a:lnSpc>
              <a:buNone/>
            </a:pPr>
            <a:r>
              <a:rPr lang="en-US" sz="900" i="1" dirty="0">
                <a:solidFill>
                  <a:srgbClr val="94A3B8"/>
                </a:solidFill>
                <a:latin typeface="Courier New" pitchFamily="34" charset="0"/>
                <a:ea typeface="Courier New" pitchFamily="34" charset="-122"/>
                <a:cs typeface="Courier New" pitchFamily="34" charset="-120"/>
              </a:rPr>
              <a:t># //tests/integration:test_login   (similarity 0.88)</a:t>
            </a:r>
            <a:endParaRPr lang="en-US" sz="900" dirty="0"/>
          </a:p>
        </p:txBody>
      </p:sp>
      <p:sp>
        <p:nvSpPr>
          <p:cNvPr id="25" name="Text 23"/>
          <p:cNvSpPr/>
          <p:nvPr/>
        </p:nvSpPr>
        <p:spPr>
          <a:xfrm>
            <a:off x="628650" y="5094275"/>
            <a:ext cx="4286250" cy="91440"/>
          </a:xfrm>
          <a:prstGeom prst="rect">
            <a:avLst/>
          </a:prstGeom>
          <a:noFill/>
          <a:ln/>
        </p:spPr>
        <p:txBody>
          <a:bodyPr wrap="none" lIns="0" tIns="0" rIns="0" bIns="0" rtlCol="0" anchor="t"/>
          <a:lstStyle/>
          <a:p>
            <a:pPr marL="0" indent="0" algn="l">
              <a:lnSpc>
                <a:spcPts val="1305"/>
              </a:lnSpc>
              <a:buNone/>
            </a:pPr>
            <a:r>
              <a:rPr lang="en-US" sz="900" i="1" dirty="0">
                <a:solidFill>
                  <a:srgbClr val="94A3B8"/>
                </a:solidFill>
                <a:latin typeface="Courier New" pitchFamily="34" charset="0"/>
                <a:ea typeface="Courier New" pitchFamily="34" charset="-122"/>
                <a:cs typeface="Courier New" pitchFamily="34" charset="-120"/>
              </a:rPr>
              <a:t># 3. Final: invalidate cache ONLY for the union of explicit + semantic sets</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8636000" cy="410355"/>
          </a:xfrm>
          <a:prstGeom prst="rect">
            <a:avLst/>
          </a:prstGeom>
          <a:noFill/>
          <a:ln/>
        </p:spPr>
        <p:txBody>
          <a:bodyPr wrap="square" lIns="0" tIns="0" rIns="0" bIns="0" rtlCol="0" anchor="t"/>
          <a:lstStyle/>
          <a:p>
            <a:pPr marL="0" indent="0" algn="l">
              <a:lnSpc>
                <a:spcPts val="2993"/>
              </a:lnSpc>
              <a:buNone/>
            </a:pPr>
            <a:r>
              <a:rPr lang="en-US" sz="2138" b="1" dirty="0">
                <a:solidFill>
                  <a:srgbClr val="0F172A"/>
                </a:solidFill>
                <a:latin typeface="Carlito" pitchFamily="34" charset="0"/>
                <a:ea typeface="Carlito" pitchFamily="34" charset="-122"/>
                <a:cs typeface="Carlito" pitchFamily="34" charset="-120"/>
              </a:rPr>
              <a:t>Case Study — Google Blaze / Bazel</a:t>
            </a:r>
            <a:endParaRPr lang="en-US" sz="2138" dirty="0"/>
          </a:p>
        </p:txBody>
      </p:sp>
      <p:sp>
        <p:nvSpPr>
          <p:cNvPr id="3" name="Text 1"/>
          <p:cNvSpPr/>
          <p:nvPr/>
        </p:nvSpPr>
        <p:spPr>
          <a:xfrm>
            <a:off x="457200" y="894308"/>
            <a:ext cx="571500" cy="42863"/>
          </a:xfrm>
          <a:prstGeom prst="roundRect">
            <a:avLst>
              <a:gd name="adj" fmla="val 66666"/>
            </a:avLst>
          </a:prstGeom>
          <a:solidFill>
            <a:srgbClr val="F97316"/>
          </a:solidFill>
          <a:ln/>
        </p:spPr>
        <p:txBody>
          <a:bodyPr wrap="square" rtlCol="0" anchor="ctr"/>
          <a:lstStyle/>
          <a:p>
            <a:pPr marL="0" indent="0">
              <a:buNone/>
            </a:pPr>
            <a:endParaRPr lang="en-US" dirty="0"/>
          </a:p>
        </p:txBody>
      </p:sp>
      <p:sp>
        <p:nvSpPr>
          <p:cNvPr id="4" name="Text 2"/>
          <p:cNvSpPr/>
          <p:nvPr/>
        </p:nvSpPr>
        <p:spPr>
          <a:xfrm>
            <a:off x="460772" y="1040755"/>
            <a:ext cx="3181759" cy="3641973"/>
          </a:xfrm>
          <a:prstGeom prst="roundRect">
            <a:avLst>
              <a:gd name="adj" fmla="val 4191"/>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5" name="Text 3"/>
          <p:cNvSpPr/>
          <p:nvPr/>
        </p:nvSpPr>
        <p:spPr>
          <a:xfrm>
            <a:off x="650081" y="1215777"/>
            <a:ext cx="228600" cy="228600"/>
          </a:xfrm>
          <a:prstGeom prst="rect">
            <a:avLst/>
          </a:prstGeom>
          <a:noFill/>
          <a:ln/>
        </p:spPr>
        <p:txBody>
          <a:bodyPr wrap="none" lIns="0" tIns="0" rIns="0" bIns="0" rtlCol="0" anchor="ctr"/>
          <a:lstStyle/>
          <a:p>
            <a:pPr marL="0" indent="0" algn="ctr">
              <a:buNone/>
            </a:pPr>
            <a:r>
              <a:rPr lang="en-US" sz="2250" dirty="0">
                <a:solidFill>
                  <a:srgbClr val="F97316"/>
                </a:solidFill>
                <a:latin typeface="Segoe UI Symbol" pitchFamily="34" charset="0"/>
                <a:ea typeface="Segoe UI Symbol" pitchFamily="34" charset="-122"/>
                <a:cs typeface="Segoe UI Symbol" pitchFamily="34" charset="-120"/>
              </a:rPr>
              <a:t>▥</a:t>
            </a:r>
            <a:endParaRPr lang="en-US" sz="2250" dirty="0"/>
          </a:p>
        </p:txBody>
      </p:sp>
      <p:sp>
        <p:nvSpPr>
          <p:cNvPr id="6" name="Text 4"/>
          <p:cNvSpPr/>
          <p:nvPr/>
        </p:nvSpPr>
        <p:spPr>
          <a:xfrm>
            <a:off x="964406" y="1270025"/>
            <a:ext cx="2488816" cy="153591"/>
          </a:xfrm>
          <a:prstGeom prst="rect">
            <a:avLst/>
          </a:prstGeom>
          <a:noFill/>
          <a:ln/>
        </p:spPr>
        <p:txBody>
          <a:bodyPr wrap="none" lIns="0" tIns="0" rIns="0" bIns="0" rtlCol="0" anchor="t"/>
          <a:lstStyle/>
          <a:p>
            <a:pPr marL="0" indent="0" algn="l">
              <a:lnSpc>
                <a:spcPts val="945"/>
              </a:lnSpc>
              <a:buNone/>
            </a:pPr>
            <a:r>
              <a:rPr lang="en-US" sz="800" b="1" kern="0" spc="84" dirty="0">
                <a:solidFill>
                  <a:srgbClr val="C2410C"/>
                </a:solidFill>
                <a:latin typeface="Carlito" pitchFamily="34" charset="0"/>
                <a:ea typeface="Carlito" pitchFamily="34" charset="-122"/>
                <a:cs typeface="Carlito" pitchFamily="34" charset="-120"/>
              </a:rPr>
              <a:t>FACTS</a:t>
            </a:r>
            <a:endParaRPr lang="en-US" sz="800" dirty="0"/>
          </a:p>
        </p:txBody>
      </p:sp>
      <p:sp>
        <p:nvSpPr>
          <p:cNvPr id="7" name="Shape 5"/>
          <p:cNvSpPr/>
          <p:nvPr/>
        </p:nvSpPr>
        <p:spPr>
          <a:xfrm>
            <a:off x="650081" y="1935063"/>
            <a:ext cx="2803141" cy="0"/>
          </a:xfrm>
          <a:prstGeom prst="line">
            <a:avLst/>
          </a:prstGeom>
          <a:noFill/>
          <a:ln w="7144">
            <a:solidFill>
              <a:srgbClr val="CBD5E1"/>
            </a:solidFill>
            <a:prstDash val="solid"/>
          </a:ln>
        </p:spPr>
      </p:sp>
      <p:sp>
        <p:nvSpPr>
          <p:cNvPr id="8" name="Text 6"/>
          <p:cNvSpPr/>
          <p:nvPr/>
        </p:nvSpPr>
        <p:spPr>
          <a:xfrm>
            <a:off x="650081" y="1544389"/>
            <a:ext cx="2803141" cy="116782"/>
          </a:xfrm>
          <a:prstGeom prst="rect">
            <a:avLst/>
          </a:prstGeom>
          <a:noFill/>
          <a:ln/>
        </p:spPr>
        <p:txBody>
          <a:bodyPr wrap="none" lIns="0" tIns="0" rIns="0" bIns="0" rtlCol="0" anchor="t">
            <a:normAutofit fontScale="62500" lnSpcReduction="20000"/>
          </a:bodyPr>
          <a:lstStyle/>
          <a:p>
            <a:pPr marL="0" indent="0" algn="l">
              <a:lnSpc>
                <a:spcPts val="1024"/>
              </a:lnSpc>
              <a:buNone/>
            </a:pPr>
            <a:r>
              <a:rPr lang="en-US" sz="800" kern="0" spc="28" dirty="0">
                <a:solidFill>
                  <a:srgbClr val="64748B"/>
                </a:solidFill>
                <a:latin typeface="Courier New" pitchFamily="34" charset="0"/>
                <a:ea typeface="Courier New" pitchFamily="34" charset="-122"/>
                <a:cs typeface="Courier New" pitchFamily="34" charset="-120"/>
              </a:rPr>
              <a:t>COMPANY</a:t>
            </a:r>
            <a:endParaRPr lang="en-US" sz="800" dirty="0"/>
          </a:p>
        </p:txBody>
      </p:sp>
      <p:sp>
        <p:nvSpPr>
          <p:cNvPr id="9" name="Text 7"/>
          <p:cNvSpPr/>
          <p:nvPr/>
        </p:nvSpPr>
        <p:spPr>
          <a:xfrm>
            <a:off x="650081" y="1688604"/>
            <a:ext cx="2803141" cy="171450"/>
          </a:xfrm>
          <a:prstGeom prst="rect">
            <a:avLst/>
          </a:prstGeom>
          <a:noFill/>
          <a:ln/>
        </p:spPr>
        <p:txBody>
          <a:bodyPr wrap="none" lIns="0" tIns="0" rIns="0" bIns="0" rtlCol="0" anchor="t"/>
          <a:lstStyle/>
          <a:p>
            <a:pPr marL="0" indent="0" algn="l">
              <a:lnSpc>
                <a:spcPts val="1350"/>
              </a:lnSpc>
              <a:buNone/>
            </a:pPr>
            <a:r>
              <a:rPr lang="en-US" sz="1125" b="1" dirty="0">
                <a:solidFill>
                  <a:srgbClr val="0F172A"/>
                </a:solidFill>
                <a:latin typeface="Carlito" pitchFamily="34" charset="0"/>
                <a:ea typeface="Carlito" pitchFamily="34" charset="-122"/>
                <a:cs typeface="Carlito" pitchFamily="34" charset="-120"/>
              </a:rPr>
              <a:t>Google</a:t>
            </a:r>
            <a:endParaRPr lang="en-US" sz="1125" dirty="0"/>
          </a:p>
        </p:txBody>
      </p:sp>
      <p:sp>
        <p:nvSpPr>
          <p:cNvPr id="10" name="Shape 8"/>
          <p:cNvSpPr/>
          <p:nvPr/>
        </p:nvSpPr>
        <p:spPr>
          <a:xfrm>
            <a:off x="650081" y="2429321"/>
            <a:ext cx="2803141" cy="0"/>
          </a:xfrm>
          <a:prstGeom prst="line">
            <a:avLst/>
          </a:prstGeom>
          <a:noFill/>
          <a:ln w="7144">
            <a:solidFill>
              <a:srgbClr val="CBD5E1"/>
            </a:solidFill>
            <a:prstDash val="solid"/>
          </a:ln>
        </p:spPr>
      </p:sp>
      <p:sp>
        <p:nvSpPr>
          <p:cNvPr id="11" name="Text 9"/>
          <p:cNvSpPr/>
          <p:nvPr/>
        </p:nvSpPr>
        <p:spPr>
          <a:xfrm>
            <a:off x="650081" y="2038648"/>
            <a:ext cx="2803141" cy="116782"/>
          </a:xfrm>
          <a:prstGeom prst="rect">
            <a:avLst/>
          </a:prstGeom>
          <a:noFill/>
          <a:ln/>
        </p:spPr>
        <p:txBody>
          <a:bodyPr wrap="none" lIns="0" tIns="0" rIns="0" bIns="0" rtlCol="0" anchor="t">
            <a:normAutofit fontScale="62500" lnSpcReduction="20000"/>
          </a:bodyPr>
          <a:lstStyle/>
          <a:p>
            <a:pPr marL="0" indent="0" algn="l">
              <a:lnSpc>
                <a:spcPts val="1024"/>
              </a:lnSpc>
              <a:buNone/>
            </a:pPr>
            <a:r>
              <a:rPr lang="en-US" sz="800" kern="0" spc="28" dirty="0">
                <a:solidFill>
                  <a:srgbClr val="64748B"/>
                </a:solidFill>
                <a:latin typeface="Courier New" pitchFamily="34" charset="0"/>
                <a:ea typeface="Courier New" pitchFamily="34" charset="-122"/>
                <a:cs typeface="Courier New" pitchFamily="34" charset="-120"/>
              </a:rPr>
              <a:t>SCALE</a:t>
            </a:r>
            <a:endParaRPr lang="en-US" sz="800" dirty="0"/>
          </a:p>
        </p:txBody>
      </p:sp>
      <p:sp>
        <p:nvSpPr>
          <p:cNvPr id="12" name="Text 10"/>
          <p:cNvSpPr/>
          <p:nvPr/>
        </p:nvSpPr>
        <p:spPr>
          <a:xfrm>
            <a:off x="650081" y="2182862"/>
            <a:ext cx="2803141" cy="171450"/>
          </a:xfrm>
          <a:prstGeom prst="rect">
            <a:avLst/>
          </a:prstGeom>
          <a:noFill/>
          <a:ln/>
        </p:spPr>
        <p:txBody>
          <a:bodyPr wrap="none" lIns="0" tIns="0" rIns="0" bIns="0" rtlCol="0" anchor="t"/>
          <a:lstStyle/>
          <a:p>
            <a:pPr marL="0" indent="0" algn="l">
              <a:lnSpc>
                <a:spcPts val="1350"/>
              </a:lnSpc>
              <a:buNone/>
            </a:pPr>
            <a:r>
              <a:rPr lang="en-US" sz="1125" b="1" dirty="0">
                <a:solidFill>
                  <a:srgbClr val="F97316"/>
                </a:solidFill>
                <a:latin typeface="Liberation Sans Narrow" pitchFamily="34" charset="0"/>
                <a:ea typeface="Liberation Sans Narrow" pitchFamily="34" charset="-122"/>
                <a:cs typeface="Liberation Sans Narrow" pitchFamily="34" charset="-120"/>
              </a:rPr>
              <a:t>50,000+</a:t>
            </a:r>
            <a:r>
              <a:rPr lang="en-US" sz="1125" b="1" dirty="0">
                <a:solidFill>
                  <a:srgbClr val="0F172A"/>
                </a:solidFill>
                <a:latin typeface="Carlito" pitchFamily="34" charset="0"/>
                <a:ea typeface="Carlito" pitchFamily="34" charset="-122"/>
                <a:cs typeface="Carlito" pitchFamily="34" charset="-120"/>
              </a:rPr>
              <a:t> builds per day</a:t>
            </a:r>
            <a:endParaRPr lang="en-US" sz="1125" dirty="0"/>
          </a:p>
        </p:txBody>
      </p:sp>
      <p:sp>
        <p:nvSpPr>
          <p:cNvPr id="13" name="Shape 11"/>
          <p:cNvSpPr/>
          <p:nvPr/>
        </p:nvSpPr>
        <p:spPr>
          <a:xfrm>
            <a:off x="650081" y="2923580"/>
            <a:ext cx="2803141" cy="0"/>
          </a:xfrm>
          <a:prstGeom prst="line">
            <a:avLst/>
          </a:prstGeom>
          <a:noFill/>
          <a:ln w="7144">
            <a:solidFill>
              <a:srgbClr val="CBD5E1"/>
            </a:solidFill>
            <a:prstDash val="solid"/>
          </a:ln>
        </p:spPr>
      </p:sp>
      <p:sp>
        <p:nvSpPr>
          <p:cNvPr id="14" name="Text 12"/>
          <p:cNvSpPr/>
          <p:nvPr/>
        </p:nvSpPr>
        <p:spPr>
          <a:xfrm>
            <a:off x="650081" y="2532906"/>
            <a:ext cx="2803141" cy="116782"/>
          </a:xfrm>
          <a:prstGeom prst="rect">
            <a:avLst/>
          </a:prstGeom>
          <a:noFill/>
          <a:ln/>
        </p:spPr>
        <p:txBody>
          <a:bodyPr wrap="none" lIns="0" tIns="0" rIns="0" bIns="0" rtlCol="0" anchor="t">
            <a:normAutofit fontScale="62500" lnSpcReduction="20000"/>
          </a:bodyPr>
          <a:lstStyle/>
          <a:p>
            <a:pPr marL="0" indent="0" algn="l">
              <a:lnSpc>
                <a:spcPts val="1024"/>
              </a:lnSpc>
              <a:buNone/>
            </a:pPr>
            <a:r>
              <a:rPr lang="en-US" sz="800" kern="0" spc="28" dirty="0">
                <a:solidFill>
                  <a:srgbClr val="64748B"/>
                </a:solidFill>
                <a:latin typeface="Courier New" pitchFamily="34" charset="0"/>
                <a:ea typeface="Courier New" pitchFamily="34" charset="-122"/>
                <a:cs typeface="Courier New" pitchFamily="34" charset="-120"/>
              </a:rPr>
              <a:t>REPO SIZE</a:t>
            </a:r>
            <a:endParaRPr lang="en-US" sz="800" dirty="0"/>
          </a:p>
        </p:txBody>
      </p:sp>
      <p:sp>
        <p:nvSpPr>
          <p:cNvPr id="15" name="Text 13"/>
          <p:cNvSpPr/>
          <p:nvPr/>
        </p:nvSpPr>
        <p:spPr>
          <a:xfrm>
            <a:off x="650081" y="2677120"/>
            <a:ext cx="2912869" cy="171450"/>
          </a:xfrm>
          <a:prstGeom prst="rect">
            <a:avLst/>
          </a:prstGeom>
          <a:noFill/>
          <a:ln/>
        </p:spPr>
        <p:txBody>
          <a:bodyPr wrap="square" lIns="0" tIns="0" rIns="0" bIns="0" rtlCol="0" anchor="t"/>
          <a:lstStyle/>
          <a:p>
            <a:pPr marL="0" indent="0" algn="l">
              <a:lnSpc>
                <a:spcPts val="1350"/>
              </a:lnSpc>
              <a:buNone/>
            </a:pPr>
            <a:r>
              <a:rPr lang="en-US" sz="1125" b="1" dirty="0">
                <a:solidFill>
                  <a:srgbClr val="F97316"/>
                </a:solidFill>
                <a:latin typeface="Liberation Sans Narrow" pitchFamily="34" charset="0"/>
                <a:ea typeface="Liberation Sans Narrow" pitchFamily="34" charset="-122"/>
                <a:cs typeface="Liberation Sans Narrow" pitchFamily="34" charset="-120"/>
              </a:rPr>
              <a:t>80+ million</a:t>
            </a:r>
            <a:r>
              <a:rPr lang="en-US" sz="1125" b="1" dirty="0">
                <a:solidFill>
                  <a:srgbClr val="0F172A"/>
                </a:solidFill>
                <a:latin typeface="Carlito" pitchFamily="34" charset="0"/>
                <a:ea typeface="Carlito" pitchFamily="34" charset="-122"/>
                <a:cs typeface="Carlito" pitchFamily="34" charset="-120"/>
              </a:rPr>
              <a:t> lines (monorepo)</a:t>
            </a:r>
            <a:endParaRPr lang="en-US" sz="1125" dirty="0"/>
          </a:p>
        </p:txBody>
      </p:sp>
      <p:sp>
        <p:nvSpPr>
          <p:cNvPr id="16" name="Shape 14"/>
          <p:cNvSpPr/>
          <p:nvPr/>
        </p:nvSpPr>
        <p:spPr>
          <a:xfrm>
            <a:off x="650081" y="3417838"/>
            <a:ext cx="2803141" cy="0"/>
          </a:xfrm>
          <a:prstGeom prst="line">
            <a:avLst/>
          </a:prstGeom>
          <a:noFill/>
          <a:ln w="7144">
            <a:solidFill>
              <a:srgbClr val="CBD5E1"/>
            </a:solidFill>
            <a:prstDash val="solid"/>
          </a:ln>
        </p:spPr>
      </p:sp>
      <p:sp>
        <p:nvSpPr>
          <p:cNvPr id="17" name="Text 15"/>
          <p:cNvSpPr/>
          <p:nvPr/>
        </p:nvSpPr>
        <p:spPr>
          <a:xfrm>
            <a:off x="650081" y="3027164"/>
            <a:ext cx="2803141" cy="116782"/>
          </a:xfrm>
          <a:prstGeom prst="rect">
            <a:avLst/>
          </a:prstGeom>
          <a:noFill/>
          <a:ln/>
        </p:spPr>
        <p:txBody>
          <a:bodyPr wrap="none" lIns="0" tIns="0" rIns="0" bIns="0" rtlCol="0" anchor="t">
            <a:normAutofit fontScale="62500" lnSpcReduction="20000"/>
          </a:bodyPr>
          <a:lstStyle/>
          <a:p>
            <a:pPr marL="0" indent="0" algn="l">
              <a:lnSpc>
                <a:spcPts val="1024"/>
              </a:lnSpc>
              <a:buNone/>
            </a:pPr>
            <a:r>
              <a:rPr lang="en-US" sz="800" kern="0" spc="28" dirty="0">
                <a:solidFill>
                  <a:srgbClr val="64748B"/>
                </a:solidFill>
                <a:latin typeface="Courier New" pitchFamily="34" charset="0"/>
                <a:ea typeface="Courier New" pitchFamily="34" charset="-122"/>
                <a:cs typeface="Courier New" pitchFamily="34" charset="-120"/>
              </a:rPr>
              <a:t>TOOL</a:t>
            </a:r>
            <a:endParaRPr lang="en-US" sz="800" dirty="0"/>
          </a:p>
        </p:txBody>
      </p:sp>
      <p:sp>
        <p:nvSpPr>
          <p:cNvPr id="18" name="Text 16"/>
          <p:cNvSpPr/>
          <p:nvPr/>
        </p:nvSpPr>
        <p:spPr>
          <a:xfrm>
            <a:off x="650081" y="3171379"/>
            <a:ext cx="2912869" cy="171450"/>
          </a:xfrm>
          <a:prstGeom prst="rect">
            <a:avLst/>
          </a:prstGeom>
          <a:noFill/>
          <a:ln/>
        </p:spPr>
        <p:txBody>
          <a:bodyPr wrap="square" lIns="0" tIns="0" rIns="0" bIns="0" rtlCol="0" anchor="t"/>
          <a:lstStyle/>
          <a:p>
            <a:pPr marL="0" indent="0" algn="l">
              <a:lnSpc>
                <a:spcPts val="1350"/>
              </a:lnSpc>
              <a:buNone/>
            </a:pPr>
            <a:r>
              <a:rPr lang="en-US" sz="1125" b="1" dirty="0">
                <a:solidFill>
                  <a:srgbClr val="0F172A"/>
                </a:solidFill>
                <a:latin typeface="Carlito" pitchFamily="34" charset="0"/>
                <a:ea typeface="Carlito" pitchFamily="34" charset="-122"/>
                <a:cs typeface="Carlito" pitchFamily="34" charset="-120"/>
              </a:rPr>
              <a:t>Bazel </a:t>
            </a:r>
            <a:r>
              <a:rPr lang="en-US" sz="800" b="1" dirty="0">
                <a:solidFill>
                  <a:srgbClr val="64748B"/>
                </a:solidFill>
                <a:latin typeface="Liberation Sans Narrow" pitchFamily="34" charset="0"/>
                <a:ea typeface="Liberation Sans Narrow" pitchFamily="34" charset="-122"/>
                <a:cs typeface="Liberation Sans Narrow" pitchFamily="34" charset="-120"/>
              </a:rPr>
              <a:t>(open-sourced 2015)</a:t>
            </a:r>
            <a:endParaRPr lang="en-US" sz="1125" dirty="0"/>
          </a:p>
        </p:txBody>
      </p:sp>
      <p:sp>
        <p:nvSpPr>
          <p:cNvPr id="19" name="Text 17"/>
          <p:cNvSpPr/>
          <p:nvPr/>
        </p:nvSpPr>
        <p:spPr>
          <a:xfrm>
            <a:off x="650081" y="3521422"/>
            <a:ext cx="2803141" cy="116782"/>
          </a:xfrm>
          <a:prstGeom prst="rect">
            <a:avLst/>
          </a:prstGeom>
          <a:noFill/>
          <a:ln/>
        </p:spPr>
        <p:txBody>
          <a:bodyPr wrap="none" lIns="0" tIns="0" rIns="0" bIns="0" rtlCol="0" anchor="t">
            <a:normAutofit fontScale="62500" lnSpcReduction="20000"/>
          </a:bodyPr>
          <a:lstStyle/>
          <a:p>
            <a:pPr marL="0" indent="0" algn="l">
              <a:lnSpc>
                <a:spcPts val="1024"/>
              </a:lnSpc>
              <a:buNone/>
            </a:pPr>
            <a:r>
              <a:rPr lang="en-US" sz="800" kern="0" spc="28" dirty="0">
                <a:solidFill>
                  <a:srgbClr val="64748B"/>
                </a:solidFill>
                <a:latin typeface="Courier New" pitchFamily="34" charset="0"/>
                <a:ea typeface="Courier New" pitchFamily="34" charset="-122"/>
                <a:cs typeface="Courier New" pitchFamily="34" charset="-120"/>
              </a:rPr>
              <a:t>IMPACT</a:t>
            </a:r>
            <a:endParaRPr lang="en-US" sz="800" dirty="0"/>
          </a:p>
        </p:txBody>
      </p:sp>
      <p:sp>
        <p:nvSpPr>
          <p:cNvPr id="20" name="Text 18"/>
          <p:cNvSpPr/>
          <p:nvPr/>
        </p:nvSpPr>
        <p:spPr>
          <a:xfrm>
            <a:off x="650081" y="3665637"/>
            <a:ext cx="2912869" cy="185166"/>
          </a:xfrm>
          <a:prstGeom prst="rect">
            <a:avLst/>
          </a:prstGeom>
          <a:noFill/>
          <a:ln/>
        </p:spPr>
        <p:txBody>
          <a:bodyPr wrap="square" lIns="0" tIns="0" rIns="0" bIns="0" rtlCol="0" anchor="t"/>
          <a:lstStyle/>
          <a:p>
            <a:pPr marL="0" indent="0" algn="l">
              <a:lnSpc>
                <a:spcPts val="1350"/>
              </a:lnSpc>
              <a:buNone/>
            </a:pPr>
            <a:r>
              <a:rPr lang="en-US" sz="1125" b="1" dirty="0">
                <a:solidFill>
                  <a:srgbClr val="0F172A"/>
                </a:solidFill>
                <a:latin typeface="Carlito" pitchFamily="34" charset="0"/>
                <a:ea typeface="Carlito" pitchFamily="34" charset="-122"/>
                <a:cs typeface="Carlito" pitchFamily="34" charset="-120"/>
              </a:rPr>
              <a:t>Cut incremental build from </a:t>
            </a:r>
            <a:r>
              <a:rPr lang="en-US" sz="1125" b="1" dirty="0">
                <a:solidFill>
                  <a:srgbClr val="F97316"/>
                </a:solidFill>
                <a:latin typeface="Carlito" pitchFamily="34" charset="0"/>
                <a:ea typeface="Carlito" pitchFamily="34" charset="-122"/>
                <a:cs typeface="Carlito" pitchFamily="34" charset="-120"/>
              </a:rPr>
              <a:t>hours → minutes</a:t>
            </a:r>
            <a:endParaRPr lang="en-US" sz="1125" dirty="0"/>
          </a:p>
        </p:txBody>
      </p:sp>
      <p:sp>
        <p:nvSpPr>
          <p:cNvPr id="21" name="Text 19"/>
          <p:cNvSpPr/>
          <p:nvPr/>
        </p:nvSpPr>
        <p:spPr>
          <a:xfrm>
            <a:off x="3817553" y="1080046"/>
            <a:ext cx="5326447" cy="240619"/>
          </a:xfrm>
          <a:prstGeom prst="rect">
            <a:avLst/>
          </a:prstGeom>
          <a:noFill/>
          <a:ln/>
        </p:spPr>
        <p:txBody>
          <a:bodyPr wrap="square" lIns="0" tIns="0" rIns="0" bIns="0" rtlCol="0" anchor="t"/>
          <a:lstStyle/>
          <a:p>
            <a:pPr marL="0" indent="0" algn="l">
              <a:lnSpc>
                <a:spcPts val="1755"/>
              </a:lnSpc>
              <a:buNone/>
            </a:pPr>
            <a:r>
              <a:rPr lang="en-US" sz="1463" b="1" dirty="0">
                <a:solidFill>
                  <a:srgbClr val="0F172A"/>
                </a:solidFill>
                <a:latin typeface="Carlito" pitchFamily="34" charset="0"/>
                <a:ea typeface="Carlito" pitchFamily="34" charset="-122"/>
                <a:cs typeface="Carlito" pitchFamily="34" charset="-120"/>
              </a:rPr>
              <a:t>How Google Uses Smart Caching at Monorepo Scale</a:t>
            </a:r>
            <a:endParaRPr lang="en-US" sz="1463" dirty="0"/>
          </a:p>
        </p:txBody>
      </p:sp>
      <p:sp>
        <p:nvSpPr>
          <p:cNvPr id="22" name="Text 20"/>
          <p:cNvSpPr/>
          <p:nvPr/>
        </p:nvSpPr>
        <p:spPr>
          <a:xfrm>
            <a:off x="3817553" y="1402854"/>
            <a:ext cx="4869247" cy="590217"/>
          </a:xfrm>
          <a:prstGeom prst="rect">
            <a:avLst/>
          </a:prstGeom>
          <a:noFill/>
          <a:ln/>
        </p:spPr>
        <p:txBody>
          <a:bodyPr wrap="square" lIns="0" tIns="0" rIns="0" bIns="0" rtlCol="0" anchor="t"/>
          <a:lstStyle/>
          <a:p>
            <a:pPr marL="0" indent="0" algn="l">
              <a:lnSpc>
                <a:spcPts val="1434"/>
              </a:lnSpc>
              <a:buNone/>
            </a:pPr>
            <a:r>
              <a:rPr lang="en-US" sz="956" dirty="0">
                <a:solidFill>
                  <a:srgbClr val="0F172A"/>
                </a:solidFill>
                <a:latin typeface="Carlito" pitchFamily="34" charset="0"/>
                <a:ea typeface="Carlito" pitchFamily="34" charset="-122"/>
                <a:cs typeface="Carlito" pitchFamily="34" charset="-120"/>
              </a:rPr>
              <a:t>Google's monorepo houses almost all of its product code in one giant repository. Naively rebuilding everything on every change would be catastrophic — a single character change would trigger a multi-hour build.</a:t>
            </a:r>
            <a:endParaRPr lang="en-US" sz="956" dirty="0"/>
          </a:p>
        </p:txBody>
      </p:sp>
      <p:sp>
        <p:nvSpPr>
          <p:cNvPr id="23" name="Text 21"/>
          <p:cNvSpPr/>
          <p:nvPr/>
        </p:nvSpPr>
        <p:spPr>
          <a:xfrm>
            <a:off x="3817553" y="2049363"/>
            <a:ext cx="4869247" cy="786956"/>
          </a:xfrm>
          <a:prstGeom prst="rect">
            <a:avLst/>
          </a:prstGeom>
          <a:noFill/>
          <a:ln/>
        </p:spPr>
        <p:txBody>
          <a:bodyPr wrap="square" lIns="0" tIns="0" rIns="0" bIns="0" rtlCol="0" anchor="t"/>
          <a:lstStyle/>
          <a:p>
            <a:pPr marL="0" indent="0" algn="l">
              <a:lnSpc>
                <a:spcPts val="1434"/>
              </a:lnSpc>
              <a:buNone/>
            </a:pPr>
            <a:r>
              <a:rPr lang="en-US" sz="956" dirty="0">
                <a:solidFill>
                  <a:srgbClr val="0F172A"/>
                </a:solidFill>
                <a:latin typeface="Carlito" pitchFamily="34" charset="0"/>
                <a:ea typeface="Carlito" pitchFamily="34" charset="-122"/>
                <a:cs typeface="Carlito" pitchFamily="34" charset="-120"/>
              </a:rPr>
              <a:t>Bazel solves this with </a:t>
            </a:r>
            <a:r>
              <a:rPr lang="en-US" sz="956" b="1" dirty="0">
                <a:solidFill>
                  <a:srgbClr val="C2410C"/>
                </a:solidFill>
                <a:latin typeface="Carlito" pitchFamily="34" charset="0"/>
                <a:ea typeface="Carlito" pitchFamily="34" charset="-122"/>
                <a:cs typeface="Carlito" pitchFamily="34" charset="-120"/>
              </a:rPr>
              <a:t>content-addressable storage</a:t>
            </a:r>
            <a:r>
              <a:rPr lang="en-US" sz="956" dirty="0">
                <a:solidFill>
                  <a:srgbClr val="0F172A"/>
                </a:solidFill>
                <a:latin typeface="Carlito" pitchFamily="34" charset="0"/>
                <a:ea typeface="Carlito" pitchFamily="34" charset="-122"/>
                <a:cs typeface="Carlito" pitchFamily="34" charset="-120"/>
              </a:rPr>
              <a:t>: every build target's output is keyed by the hash of ALL its inputs (source + deps + toolchain). When a developer changes one file, Bazel computes the new hash for every dependent target. Only targets whose hash actually changed are rebuilt. Everything else is served from cache — instantaneously.</a:t>
            </a:r>
            <a:endParaRPr lang="en-US" sz="956" dirty="0"/>
          </a:p>
        </p:txBody>
      </p:sp>
      <p:sp>
        <p:nvSpPr>
          <p:cNvPr id="24" name="Text 22"/>
          <p:cNvSpPr/>
          <p:nvPr/>
        </p:nvSpPr>
        <p:spPr>
          <a:xfrm>
            <a:off x="3817553" y="2878038"/>
            <a:ext cx="4869247" cy="688591"/>
          </a:xfrm>
          <a:prstGeom prst="roundRect">
            <a:avLst>
              <a:gd name="adj" fmla="val 11066"/>
            </a:avLst>
          </a:prstGeom>
          <a:solidFill>
            <a:srgbClr val="FFF7ED"/>
          </a:solidFill>
          <a:ln/>
        </p:spPr>
        <p:txBody>
          <a:bodyPr wrap="square" rtlCol="0" anchor="ctr"/>
          <a:lstStyle/>
          <a:p>
            <a:pPr marL="0" indent="0">
              <a:buNone/>
            </a:pPr>
            <a:endParaRPr lang="en-US" dirty="0"/>
          </a:p>
        </p:txBody>
      </p:sp>
      <p:sp>
        <p:nvSpPr>
          <p:cNvPr id="25" name="Shape 23"/>
          <p:cNvSpPr/>
          <p:nvPr/>
        </p:nvSpPr>
        <p:spPr>
          <a:xfrm>
            <a:off x="3838984" y="2878038"/>
            <a:ext cx="0" cy="688591"/>
          </a:xfrm>
          <a:prstGeom prst="line">
            <a:avLst/>
          </a:prstGeom>
          <a:noFill/>
          <a:ln w="42863">
            <a:solidFill>
              <a:srgbClr val="F97316"/>
            </a:solidFill>
            <a:prstDash val="solid"/>
          </a:ln>
        </p:spPr>
      </p:sp>
      <p:sp>
        <p:nvSpPr>
          <p:cNvPr id="26" name="Text 24"/>
          <p:cNvSpPr/>
          <p:nvPr/>
        </p:nvSpPr>
        <p:spPr>
          <a:xfrm>
            <a:off x="3989003" y="3133762"/>
            <a:ext cx="4314490" cy="345619"/>
          </a:xfrm>
          <a:prstGeom prst="rect">
            <a:avLst/>
          </a:prstGeom>
          <a:noFill/>
          <a:ln/>
        </p:spPr>
        <p:txBody>
          <a:bodyPr wrap="square" lIns="128588" tIns="100013" rIns="128588" bIns="100013" rtlCol="0" anchor="t"/>
          <a:lstStyle/>
          <a:p>
            <a:pPr marL="0" indent="0" algn="l">
              <a:lnSpc>
                <a:spcPts val="1339"/>
              </a:lnSpc>
              <a:buNone/>
            </a:pPr>
            <a:r>
              <a:rPr lang="en-US" sz="956" b="1" dirty="0">
                <a:solidFill>
                  <a:srgbClr val="0F172A"/>
                </a:solidFill>
                <a:latin typeface="Carlito" pitchFamily="34" charset="0"/>
                <a:ea typeface="Carlito" pitchFamily="34" charset="-122"/>
                <a:cs typeface="Carlito" pitchFamily="34" charset="-120"/>
              </a:rPr>
              <a:t>Content-addressable caching + dependency graph traversal = builds that scale to millions of lines.</a:t>
            </a:r>
            <a:endParaRPr lang="en-US" sz="956" dirty="0"/>
          </a:p>
        </p:txBody>
      </p:sp>
      <p:sp>
        <p:nvSpPr>
          <p:cNvPr id="27" name="Text 25"/>
          <p:cNvSpPr/>
          <p:nvPr/>
        </p:nvSpPr>
        <p:spPr>
          <a:xfrm>
            <a:off x="3989003" y="2978051"/>
            <a:ext cx="4569209" cy="153591"/>
          </a:xfrm>
          <a:prstGeom prst="rect">
            <a:avLst/>
          </a:prstGeom>
          <a:noFill/>
          <a:ln/>
        </p:spPr>
        <p:txBody>
          <a:bodyPr wrap="none" lIns="0" tIns="0" rIns="0" bIns="0" rtlCol="0" anchor="t"/>
          <a:lstStyle/>
          <a:p>
            <a:pPr marL="0" indent="0" algn="l">
              <a:lnSpc>
                <a:spcPts val="945"/>
              </a:lnSpc>
              <a:buNone/>
            </a:pPr>
            <a:r>
              <a:rPr lang="en-US" sz="800" b="1" kern="0" spc="84" dirty="0">
                <a:solidFill>
                  <a:srgbClr val="C2410C"/>
                </a:solidFill>
                <a:latin typeface="Carlito" pitchFamily="34" charset="0"/>
                <a:ea typeface="Carlito" pitchFamily="34" charset="-122"/>
                <a:cs typeface="Carlito" pitchFamily="34" charset="-120"/>
              </a:rPr>
              <a:t>LESSON</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008720"/>
            <a:ext cx="2124931" cy="305730"/>
          </a:xfrm>
          <a:prstGeom prst="roundRect">
            <a:avLst>
              <a:gd name="adj" fmla="val 3112379"/>
            </a:avLst>
          </a:prstGeom>
          <a:solidFill>
            <a:srgbClr val="FED7AA"/>
          </a:solidFill>
          <a:ln/>
        </p:spPr>
        <p:txBody>
          <a:bodyPr wrap="square" rtlCol="0" anchor="ctr"/>
          <a:lstStyle/>
          <a:p>
            <a:pPr marL="0" indent="0">
              <a:buNone/>
            </a:pPr>
            <a:endParaRPr lang="en-US" dirty="0"/>
          </a:p>
        </p:txBody>
      </p:sp>
      <p:sp>
        <p:nvSpPr>
          <p:cNvPr id="3" name="Text 1"/>
          <p:cNvSpPr/>
          <p:nvPr/>
        </p:nvSpPr>
        <p:spPr>
          <a:xfrm>
            <a:off x="457200" y="1008720"/>
            <a:ext cx="2124931" cy="305730"/>
          </a:xfrm>
          <a:prstGeom prst="rect">
            <a:avLst/>
          </a:prstGeom>
          <a:noFill/>
          <a:ln/>
        </p:spPr>
        <p:txBody>
          <a:bodyPr wrap="none" lIns="0" tIns="0" rIns="0" bIns="0" rtlCol="0" anchor="ctr"/>
          <a:lstStyle/>
          <a:p>
            <a:pPr marL="0" indent="0" algn="ctr">
              <a:lnSpc>
                <a:spcPts val="1733"/>
              </a:lnSpc>
              <a:buNone/>
            </a:pPr>
            <a:r>
              <a:rPr lang="en-US" sz="1238" b="1" kern="0" spc="28" dirty="0">
                <a:solidFill>
                  <a:srgbClr val="C2410C"/>
                </a:solidFill>
                <a:latin typeface="Liberation Sans Narrow" pitchFamily="34" charset="0"/>
                <a:ea typeface="Liberation Sans Narrow" pitchFamily="34" charset="-122"/>
                <a:cs typeface="Liberation Sans Narrow" pitchFamily="34" charset="-120"/>
              </a:rPr>
              <a:t>SECTION A • TOPIC 2 OF 4</a:t>
            </a:r>
            <a:endParaRPr lang="en-US" sz="1238" dirty="0"/>
          </a:p>
        </p:txBody>
      </p:sp>
      <p:sp>
        <p:nvSpPr>
          <p:cNvPr id="4" name="Text 2"/>
          <p:cNvSpPr/>
          <p:nvPr/>
        </p:nvSpPr>
        <p:spPr>
          <a:xfrm>
            <a:off x="457200" y="1443038"/>
            <a:ext cx="7528441" cy="998366"/>
          </a:xfrm>
          <a:prstGeom prst="rect">
            <a:avLst/>
          </a:prstGeom>
          <a:noFill/>
          <a:ln/>
        </p:spPr>
        <p:txBody>
          <a:bodyPr wrap="none" lIns="0" tIns="0" rIns="0" bIns="0" rtlCol="0" anchor="t">
            <a:normAutofit/>
          </a:bodyPr>
          <a:lstStyle/>
          <a:p>
            <a:pPr marL="0" indent="0" algn="l">
              <a:lnSpc>
                <a:spcPts val="7290"/>
              </a:lnSpc>
              <a:buNone/>
            </a:pPr>
            <a:r>
              <a:rPr lang="en-US" sz="8100" b="1" kern="0" spc="-225" dirty="0">
                <a:solidFill>
                  <a:srgbClr val="F97316"/>
                </a:solidFill>
                <a:latin typeface="Liberation Sans Narrow" pitchFamily="34" charset="0"/>
                <a:ea typeface="Liberation Sans Narrow" pitchFamily="34" charset="-122"/>
                <a:cs typeface="Liberation Sans Narrow" pitchFamily="34" charset="-120"/>
              </a:rPr>
              <a:t>1.2</a:t>
            </a:r>
            <a:endParaRPr lang="en-US" sz="8100" dirty="0"/>
          </a:p>
        </p:txBody>
      </p:sp>
      <p:sp>
        <p:nvSpPr>
          <p:cNvPr id="5" name="Text 3"/>
          <p:cNvSpPr/>
          <p:nvPr/>
        </p:nvSpPr>
        <p:spPr>
          <a:xfrm>
            <a:off x="457200" y="2468835"/>
            <a:ext cx="4705276" cy="972122"/>
          </a:xfrm>
          <a:prstGeom prst="rect">
            <a:avLst/>
          </a:prstGeom>
          <a:noFill/>
          <a:ln/>
        </p:spPr>
        <p:txBody>
          <a:bodyPr wrap="square" lIns="0" tIns="0" rIns="0" bIns="0" rtlCol="0" anchor="t"/>
          <a:lstStyle/>
          <a:p>
            <a:pPr marL="0" indent="0" algn="l">
              <a:lnSpc>
                <a:spcPts val="3544"/>
              </a:lnSpc>
              <a:buNone/>
            </a:pPr>
            <a:r>
              <a:rPr lang="en-US" sz="3375" b="1" kern="0" spc="-67" dirty="0">
                <a:solidFill>
                  <a:srgbClr val="0F172A"/>
                </a:solidFill>
                <a:latin typeface="Carlito" pitchFamily="34" charset="0"/>
                <a:ea typeface="Carlito" pitchFamily="34" charset="-122"/>
                <a:cs typeface="Carlito" pitchFamily="34" charset="-120"/>
              </a:rPr>
              <a:t>Dynamic Test-Subset Routing</a:t>
            </a:r>
            <a:endParaRPr lang="en-US" sz="3375" dirty="0"/>
          </a:p>
        </p:txBody>
      </p:sp>
      <p:sp>
        <p:nvSpPr>
          <p:cNvPr id="6" name="Text 4"/>
          <p:cNvSpPr/>
          <p:nvPr/>
        </p:nvSpPr>
        <p:spPr>
          <a:xfrm>
            <a:off x="457200" y="3497535"/>
            <a:ext cx="571500" cy="42863"/>
          </a:xfrm>
          <a:prstGeom prst="roundRect">
            <a:avLst>
              <a:gd name="adj" fmla="val 66666"/>
            </a:avLst>
          </a:prstGeom>
          <a:solidFill>
            <a:srgbClr val="F97316"/>
          </a:solidFill>
          <a:ln/>
        </p:spPr>
        <p:txBody>
          <a:bodyPr wrap="square" rtlCol="0" anchor="ctr"/>
          <a:lstStyle/>
          <a:p>
            <a:pPr marL="0" indent="0">
              <a:buNone/>
            </a:pPr>
            <a:endParaRPr lang="en-US" dirty="0"/>
          </a:p>
        </p:txBody>
      </p:sp>
      <p:sp>
        <p:nvSpPr>
          <p:cNvPr id="7" name="Text 5"/>
          <p:cNvSpPr/>
          <p:nvPr/>
        </p:nvSpPr>
        <p:spPr>
          <a:xfrm>
            <a:off x="457200" y="3654698"/>
            <a:ext cx="4705276" cy="518368"/>
          </a:xfrm>
          <a:prstGeom prst="rect">
            <a:avLst/>
          </a:prstGeom>
          <a:noFill/>
          <a:ln/>
        </p:spPr>
        <p:txBody>
          <a:bodyPr wrap="square" lIns="0" tIns="0" rIns="0" bIns="0" rtlCol="0" anchor="t"/>
          <a:lstStyle/>
          <a:p>
            <a:pPr marL="0" indent="0" algn="l">
              <a:lnSpc>
                <a:spcPts val="1890"/>
              </a:lnSpc>
              <a:buNone/>
            </a:pPr>
            <a:r>
              <a:rPr lang="en-US" sz="1350" dirty="0">
                <a:solidFill>
                  <a:srgbClr val="334155"/>
                </a:solidFill>
                <a:latin typeface="Carlito" pitchFamily="34" charset="0"/>
                <a:ea typeface="Carlito" pitchFamily="34" charset="-122"/>
                <a:cs typeface="Carlito" pitchFamily="34" charset="-120"/>
              </a:rPr>
              <a:t>From code-diff analysis — run only the tests that could possibly fail.</a:t>
            </a:r>
            <a:endParaRPr lang="en-US" sz="1350" dirty="0"/>
          </a:p>
        </p:txBody>
      </p:sp>
      <p:sp>
        <p:nvSpPr>
          <p:cNvPr id="8" name="Text 6"/>
          <p:cNvSpPr/>
          <p:nvPr/>
        </p:nvSpPr>
        <p:spPr>
          <a:xfrm>
            <a:off x="5391076" y="457200"/>
            <a:ext cx="3295613" cy="4229100"/>
          </a:xfrm>
          <a:prstGeom prst="roundRect">
            <a:avLst>
              <a:gd name="adj" fmla="val 4046"/>
            </a:avLst>
          </a:prstGeom>
          <a:solidFill>
            <a:srgbClr val="FFF7ED"/>
          </a:solidFill>
          <a:ln/>
        </p:spPr>
        <p:txBody>
          <a:bodyPr wrap="square" rtlCol="0" anchor="ctr"/>
          <a:lstStyle/>
          <a:p>
            <a:pPr marL="0" indent="0">
              <a:buNone/>
            </a:pPr>
            <a:endParaRPr lang="en-US" dirty="0"/>
          </a:p>
        </p:txBody>
      </p:sp>
      <p:sp>
        <p:nvSpPr>
          <p:cNvPr id="9" name="Shape 7"/>
          <p:cNvSpPr/>
          <p:nvPr/>
        </p:nvSpPr>
        <p:spPr>
          <a:xfrm>
            <a:off x="5419651" y="457200"/>
            <a:ext cx="0" cy="4229100"/>
          </a:xfrm>
          <a:prstGeom prst="line">
            <a:avLst/>
          </a:prstGeom>
          <a:noFill/>
          <a:ln w="57150">
            <a:solidFill>
              <a:srgbClr val="F97316"/>
            </a:solidFill>
            <a:prstDash val="solid"/>
          </a:ln>
        </p:spPr>
      </p:sp>
      <p:sp>
        <p:nvSpPr>
          <p:cNvPr id="10" name="Text 8"/>
          <p:cNvSpPr/>
          <p:nvPr/>
        </p:nvSpPr>
        <p:spPr>
          <a:xfrm>
            <a:off x="7621555" y="3471863"/>
            <a:ext cx="1258729" cy="957263"/>
          </a:xfrm>
          <a:prstGeom prst="rect">
            <a:avLst/>
          </a:prstGeom>
          <a:noFill/>
          <a:ln/>
        </p:spPr>
        <p:txBody>
          <a:bodyPr wrap="none" lIns="0" tIns="0" rIns="0" bIns="0" rtlCol="0" anchor="t"/>
          <a:lstStyle/>
          <a:p>
            <a:pPr marL="0" indent="0" algn="l">
              <a:lnSpc>
                <a:spcPts val="11250"/>
              </a:lnSpc>
              <a:buNone/>
            </a:pPr>
            <a:r>
              <a:rPr lang="en-US" sz="11250" b="1" dirty="0">
                <a:solidFill>
                  <a:srgbClr val="F97316">
                    <a:alpha val="8000"/>
                  </a:srgbClr>
                </a:solidFill>
                <a:latin typeface="Courier New" pitchFamily="34" charset="0"/>
                <a:ea typeface="Courier New" pitchFamily="34" charset="-122"/>
                <a:cs typeface="Courier New" pitchFamily="34" charset="-120"/>
              </a:rPr>
              <a:t>?</a:t>
            </a:r>
            <a:endParaRPr lang="en-US" sz="11250" dirty="0"/>
          </a:p>
        </p:txBody>
      </p:sp>
      <p:sp>
        <p:nvSpPr>
          <p:cNvPr id="11" name="Text 9"/>
          <p:cNvSpPr/>
          <p:nvPr/>
        </p:nvSpPr>
        <p:spPr>
          <a:xfrm>
            <a:off x="5676826" y="1777454"/>
            <a:ext cx="2781263" cy="153570"/>
          </a:xfrm>
          <a:prstGeom prst="rect">
            <a:avLst/>
          </a:prstGeom>
          <a:noFill/>
          <a:ln/>
        </p:spPr>
        <p:txBody>
          <a:bodyPr wrap="none" lIns="0" tIns="0" rIns="0" bIns="0" rtlCol="0" anchor="t"/>
          <a:lstStyle/>
          <a:p>
            <a:pPr marL="0" indent="0" algn="l">
              <a:lnSpc>
                <a:spcPts val="1103"/>
              </a:lnSpc>
              <a:buNone/>
            </a:pPr>
            <a:r>
              <a:rPr lang="en-US" sz="800" b="1" kern="0" spc="84" dirty="0">
                <a:solidFill>
                  <a:srgbClr val="C2410C"/>
                </a:solidFill>
                <a:latin typeface="Carlito" pitchFamily="34" charset="0"/>
                <a:ea typeface="Carlito" pitchFamily="34" charset="-122"/>
                <a:cs typeface="Carlito" pitchFamily="34" charset="-120"/>
              </a:rPr>
              <a:t>THE KEY QUESTION</a:t>
            </a:r>
            <a:endParaRPr lang="en-US" sz="800" dirty="0"/>
          </a:p>
        </p:txBody>
      </p:sp>
      <p:sp>
        <p:nvSpPr>
          <p:cNvPr id="12" name="Text 10"/>
          <p:cNvSpPr/>
          <p:nvPr/>
        </p:nvSpPr>
        <p:spPr>
          <a:xfrm>
            <a:off x="5676826" y="2017440"/>
            <a:ext cx="2781263" cy="782254"/>
          </a:xfrm>
          <a:prstGeom prst="rect">
            <a:avLst/>
          </a:prstGeom>
          <a:noFill/>
          <a:ln/>
        </p:spPr>
        <p:txBody>
          <a:bodyPr wrap="square" lIns="0" tIns="0" rIns="0" bIns="0" rtlCol="0" anchor="t"/>
          <a:lstStyle/>
          <a:p>
            <a:pPr marL="0" indent="0" algn="l">
              <a:lnSpc>
                <a:spcPts val="1901"/>
              </a:lnSpc>
              <a:buNone/>
            </a:pPr>
            <a:r>
              <a:rPr lang="en-US" sz="1463" b="1" dirty="0">
                <a:solidFill>
                  <a:srgbClr val="0F172A"/>
                </a:solidFill>
                <a:latin typeface="Carlito" pitchFamily="34" charset="0"/>
                <a:ea typeface="Carlito" pitchFamily="34" charset="-122"/>
                <a:cs typeface="Carlito" pitchFamily="34" charset="-120"/>
              </a:rPr>
              <a:t>Question: If only </a:t>
            </a:r>
            <a:r>
              <a:rPr lang="en-US" sz="1463" b="1" dirty="0">
                <a:solidFill>
                  <a:srgbClr val="C2410C"/>
                </a:solidFill>
                <a:latin typeface="Liberation Sans Narrow" pitchFamily="34" charset="0"/>
                <a:ea typeface="Liberation Sans Narrow" pitchFamily="34" charset="-122"/>
                <a:cs typeface="Liberation Sans Narrow" pitchFamily="34" charset="-120"/>
              </a:rPr>
              <a:t>5% of the codebase</a:t>
            </a:r>
            <a:r>
              <a:rPr lang="en-US" sz="1463" b="1" dirty="0">
                <a:solidFill>
                  <a:srgbClr val="0F172A"/>
                </a:solidFill>
                <a:latin typeface="Carlito" pitchFamily="34" charset="0"/>
                <a:ea typeface="Carlito" pitchFamily="34" charset="-122"/>
                <a:cs typeface="Carlito" pitchFamily="34" charset="-120"/>
              </a:rPr>
              <a:t> changed, why does CI run </a:t>
            </a:r>
            <a:r>
              <a:rPr lang="en-US" sz="1463" b="1" dirty="0">
                <a:solidFill>
                  <a:srgbClr val="C2410C"/>
                </a:solidFill>
                <a:latin typeface="Liberation Sans Narrow" pitchFamily="34" charset="0"/>
                <a:ea typeface="Liberation Sans Narrow" pitchFamily="34" charset="-122"/>
                <a:cs typeface="Liberation Sans Narrow" pitchFamily="34" charset="-120"/>
              </a:rPr>
              <a:t>100% of the tests</a:t>
            </a:r>
            <a:r>
              <a:rPr lang="en-US" sz="1463" b="1" dirty="0">
                <a:solidFill>
                  <a:srgbClr val="0F172A"/>
                </a:solidFill>
                <a:latin typeface="Carlito" pitchFamily="34" charset="0"/>
                <a:ea typeface="Carlito" pitchFamily="34" charset="-122"/>
                <a:cs typeface="Carlito" pitchFamily="34" charset="-120"/>
              </a:rPr>
              <a:t>?</a:t>
            </a:r>
            <a:endParaRPr lang="en-US" sz="1463" dirty="0"/>
          </a:p>
        </p:txBody>
      </p:sp>
      <p:sp>
        <p:nvSpPr>
          <p:cNvPr id="13" name="Text 11"/>
          <p:cNvSpPr/>
          <p:nvPr/>
        </p:nvSpPr>
        <p:spPr>
          <a:xfrm>
            <a:off x="5676826" y="2870336"/>
            <a:ext cx="2781263" cy="535245"/>
          </a:xfrm>
          <a:prstGeom prst="rect">
            <a:avLst/>
          </a:prstGeom>
          <a:noFill/>
          <a:ln/>
        </p:spPr>
        <p:txBody>
          <a:bodyPr wrap="square" lIns="0" tIns="128588" rIns="0" bIns="0" rtlCol="0" anchor="t"/>
          <a:lstStyle/>
          <a:p>
            <a:pPr marL="0" indent="0" algn="l">
              <a:lnSpc>
                <a:spcPts val="1418"/>
              </a:lnSpc>
              <a:buNone/>
            </a:pPr>
            <a:r>
              <a:rPr lang="en-US" sz="1013" dirty="0">
                <a:solidFill>
                  <a:srgbClr val="334155"/>
                </a:solidFill>
                <a:latin typeface="Carlito" pitchFamily="34" charset="0"/>
                <a:ea typeface="Carlito" pitchFamily="34" charset="-122"/>
                <a:cs typeface="Carlito" pitchFamily="34" charset="-120"/>
              </a:rPr>
              <a:t>Answer: Because traditional CI does not map tests to code. </a:t>
            </a:r>
            <a:r>
              <a:rPr lang="en-US" sz="1013" b="1" dirty="0">
                <a:solidFill>
                  <a:srgbClr val="C2410C"/>
                </a:solidFill>
                <a:latin typeface="Carlito" pitchFamily="34" charset="0"/>
                <a:ea typeface="Carlito" pitchFamily="34" charset="-122"/>
                <a:cs typeface="Carlito" pitchFamily="34" charset="-120"/>
              </a:rPr>
              <a:t>AI does.</a:t>
            </a:r>
            <a:endParaRPr lang="en-US" sz="1013"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8636000" cy="432054"/>
          </a:xfrm>
          <a:prstGeom prst="rect">
            <a:avLst/>
          </a:prstGeom>
          <a:noFill/>
          <a:ln/>
        </p:spPr>
        <p:txBody>
          <a:bodyPr wrap="none" lIns="0" tIns="0" rIns="0" bIns="0" rtlCol="0" anchor="t"/>
          <a:lstStyle/>
          <a:p>
            <a:pPr marL="0" indent="0" algn="l">
              <a:lnSpc>
                <a:spcPts val="3150"/>
              </a:lnSpc>
              <a:buNone/>
            </a:pPr>
            <a:r>
              <a:rPr lang="en-US" sz="2250" b="1" dirty="0">
                <a:solidFill>
                  <a:srgbClr val="0F172A"/>
                </a:solidFill>
                <a:latin typeface="Carlito" pitchFamily="34" charset="0"/>
                <a:ea typeface="Carlito" pitchFamily="34" charset="-122"/>
                <a:cs typeface="Carlito" pitchFamily="34" charset="-120"/>
              </a:rPr>
              <a:t>The Test-Cost Problem</a:t>
            </a:r>
            <a:endParaRPr lang="en-US" sz="2250" dirty="0"/>
          </a:p>
        </p:txBody>
      </p:sp>
      <p:sp>
        <p:nvSpPr>
          <p:cNvPr id="3" name="Text 1"/>
          <p:cNvSpPr/>
          <p:nvPr/>
        </p:nvSpPr>
        <p:spPr>
          <a:xfrm>
            <a:off x="457200" y="928688"/>
            <a:ext cx="571500" cy="42863"/>
          </a:xfrm>
          <a:prstGeom prst="roundRect">
            <a:avLst>
              <a:gd name="adj" fmla="val 66666"/>
            </a:avLst>
          </a:prstGeom>
          <a:solidFill>
            <a:srgbClr val="F97316"/>
          </a:solidFill>
          <a:ln/>
        </p:spPr>
        <p:txBody>
          <a:bodyPr wrap="square" rtlCol="0" anchor="ctr"/>
          <a:lstStyle/>
          <a:p>
            <a:pPr marL="0" indent="0">
              <a:buNone/>
            </a:pPr>
            <a:endParaRPr lang="en-US" dirty="0"/>
          </a:p>
        </p:txBody>
      </p:sp>
      <p:sp>
        <p:nvSpPr>
          <p:cNvPr id="4" name="Text 2"/>
          <p:cNvSpPr/>
          <p:nvPr/>
        </p:nvSpPr>
        <p:spPr>
          <a:xfrm>
            <a:off x="457200" y="1100138"/>
            <a:ext cx="2647876" cy="2800350"/>
          </a:xfrm>
          <a:prstGeom prst="roundRect">
            <a:avLst>
              <a:gd name="adj" fmla="val 5036"/>
            </a:avLst>
          </a:prstGeom>
          <a:solidFill>
            <a:srgbClr val="F8FAFC"/>
          </a:solidFill>
          <a:ln/>
        </p:spPr>
        <p:txBody>
          <a:bodyPr wrap="square" rtlCol="0" anchor="ctr"/>
          <a:lstStyle/>
          <a:p>
            <a:pPr marL="0" indent="0">
              <a:buNone/>
            </a:pPr>
            <a:endParaRPr lang="en-US" dirty="0"/>
          </a:p>
        </p:txBody>
      </p:sp>
      <p:sp>
        <p:nvSpPr>
          <p:cNvPr id="5" name="Shape 3"/>
          <p:cNvSpPr/>
          <p:nvPr/>
        </p:nvSpPr>
        <p:spPr>
          <a:xfrm>
            <a:off x="457200" y="3879056"/>
            <a:ext cx="2647876" cy="0"/>
          </a:xfrm>
          <a:prstGeom prst="line">
            <a:avLst/>
          </a:prstGeom>
          <a:noFill/>
          <a:ln w="42863">
            <a:solidFill>
              <a:srgbClr val="F97316"/>
            </a:solidFill>
            <a:prstDash val="solid"/>
          </a:ln>
        </p:spPr>
      </p:sp>
      <p:sp>
        <p:nvSpPr>
          <p:cNvPr id="6" name="Text 4"/>
          <p:cNvSpPr/>
          <p:nvPr/>
        </p:nvSpPr>
        <p:spPr>
          <a:xfrm>
            <a:off x="628650" y="1300163"/>
            <a:ext cx="314325" cy="314325"/>
          </a:xfrm>
          <a:prstGeom prst="roundRect">
            <a:avLst>
              <a:gd name="adj" fmla="val 36364"/>
            </a:avLst>
          </a:prstGeom>
          <a:solidFill>
            <a:srgbClr val="F97316">
              <a:alpha val="12000"/>
            </a:srgbClr>
          </a:solidFill>
          <a:ln/>
        </p:spPr>
        <p:txBody>
          <a:bodyPr wrap="square" rtlCol="0" anchor="ctr"/>
          <a:lstStyle/>
          <a:p>
            <a:pPr marL="0" indent="0">
              <a:buNone/>
            </a:pPr>
            <a:endParaRPr lang="en-US" dirty="0"/>
          </a:p>
        </p:txBody>
      </p:sp>
      <p:sp>
        <p:nvSpPr>
          <p:cNvPr id="7" name="Text 5"/>
          <p:cNvSpPr/>
          <p:nvPr/>
        </p:nvSpPr>
        <p:spPr>
          <a:xfrm>
            <a:off x="651153" y="1322665"/>
            <a:ext cx="269319" cy="269319"/>
          </a:xfrm>
          <a:prstGeom prst="rect">
            <a:avLst/>
          </a:prstGeom>
          <a:noFill/>
          <a:ln/>
        </p:spPr>
        <p:txBody>
          <a:bodyPr wrap="none" lIns="0" tIns="0" rIns="0" bIns="0" rtlCol="0" anchor="ctr"/>
          <a:lstStyle/>
          <a:p>
            <a:pPr marL="0" indent="0" algn="ctr">
              <a:buNone/>
            </a:pPr>
            <a:r>
              <a:rPr lang="en-US" sz="1828" dirty="0">
                <a:solidFill>
                  <a:srgbClr val="F97316"/>
                </a:solidFill>
                <a:latin typeface="Segoe UI Symbol" pitchFamily="34" charset="0"/>
                <a:ea typeface="Segoe UI Symbol" pitchFamily="34" charset="-122"/>
                <a:cs typeface="Segoe UI Symbol" pitchFamily="34" charset="-120"/>
              </a:rPr>
              <a:t>◔</a:t>
            </a:r>
            <a:endParaRPr lang="en-US" sz="1828" dirty="0"/>
          </a:p>
        </p:txBody>
      </p:sp>
      <p:sp>
        <p:nvSpPr>
          <p:cNvPr id="8" name="Text 6"/>
          <p:cNvSpPr/>
          <p:nvPr/>
        </p:nvSpPr>
        <p:spPr>
          <a:xfrm>
            <a:off x="2357484" y="1401626"/>
            <a:ext cx="652222" cy="153570"/>
          </a:xfrm>
          <a:prstGeom prst="rect">
            <a:avLst/>
          </a:prstGeom>
          <a:noFill/>
          <a:ln/>
        </p:spPr>
        <p:txBody>
          <a:bodyPr wrap="none" lIns="0" tIns="0" rIns="0" bIns="0" rtlCol="0" anchor="t"/>
          <a:lstStyle/>
          <a:p>
            <a:pPr marL="0" indent="0" algn="l">
              <a:lnSpc>
                <a:spcPts val="1103"/>
              </a:lnSpc>
              <a:buNone/>
            </a:pPr>
            <a:r>
              <a:rPr lang="en-US" sz="788" dirty="0">
                <a:solidFill>
                  <a:srgbClr val="64748B"/>
                </a:solidFill>
                <a:latin typeface="Courier New" pitchFamily="34" charset="0"/>
                <a:ea typeface="Courier New" pitchFamily="34" charset="-122"/>
                <a:cs typeface="Courier New" pitchFamily="34" charset="-120"/>
              </a:rPr>
              <a:t>Wall-clock</a:t>
            </a:r>
            <a:endParaRPr lang="en-US" sz="788" dirty="0"/>
          </a:p>
        </p:txBody>
      </p:sp>
      <p:sp>
        <p:nvSpPr>
          <p:cNvPr id="9" name="Text 7"/>
          <p:cNvSpPr/>
          <p:nvPr/>
        </p:nvSpPr>
        <p:spPr>
          <a:xfrm>
            <a:off x="528741" y="1685925"/>
            <a:ext cx="2504793" cy="672656"/>
          </a:xfrm>
          <a:prstGeom prst="rect">
            <a:avLst/>
          </a:prstGeom>
          <a:noFill/>
          <a:ln/>
        </p:spPr>
        <p:txBody>
          <a:bodyPr wrap="none" lIns="0" tIns="0" rIns="0" bIns="0" rtlCol="0" anchor="t">
            <a:normAutofit/>
          </a:bodyPr>
          <a:lstStyle/>
          <a:p>
            <a:pPr marL="0" indent="0" algn="l">
              <a:lnSpc>
                <a:spcPts val="4950"/>
              </a:lnSpc>
              <a:buNone/>
            </a:pPr>
            <a:r>
              <a:rPr lang="en-US" sz="4950" b="1" kern="0" spc="-112" dirty="0">
                <a:solidFill>
                  <a:srgbClr val="F97316"/>
                </a:solidFill>
                <a:latin typeface="Liberation Sans Narrow" pitchFamily="34" charset="0"/>
                <a:ea typeface="Liberation Sans Narrow" pitchFamily="34" charset="-122"/>
                <a:cs typeface="Liberation Sans Narrow" pitchFamily="34" charset="-120"/>
              </a:rPr>
              <a:t>90 min</a:t>
            </a:r>
            <a:endParaRPr lang="en-US" sz="4950" dirty="0"/>
          </a:p>
        </p:txBody>
      </p:sp>
      <p:sp>
        <p:nvSpPr>
          <p:cNvPr id="10" name="Text 8"/>
          <p:cNvSpPr/>
          <p:nvPr/>
        </p:nvSpPr>
        <p:spPr>
          <a:xfrm>
            <a:off x="628650" y="2386013"/>
            <a:ext cx="2304976" cy="395648"/>
          </a:xfrm>
          <a:prstGeom prst="rect">
            <a:avLst/>
          </a:prstGeom>
          <a:noFill/>
          <a:ln/>
        </p:spPr>
        <p:txBody>
          <a:bodyPr wrap="square" lIns="0" tIns="0" rIns="0" bIns="0" rtlCol="0" anchor="t"/>
          <a:lstStyle/>
          <a:p>
            <a:pPr marL="0" indent="0" algn="l">
              <a:lnSpc>
                <a:spcPts val="1443"/>
              </a:lnSpc>
              <a:buNone/>
            </a:pPr>
            <a:r>
              <a:rPr lang="en-US" sz="1069" dirty="0">
                <a:solidFill>
                  <a:srgbClr val="0F172A"/>
                </a:solidFill>
                <a:latin typeface="Carlito" pitchFamily="34" charset="0"/>
                <a:ea typeface="Carlito" pitchFamily="34" charset="-122"/>
                <a:cs typeface="Carlito" pitchFamily="34" charset="-120"/>
              </a:rPr>
              <a:t>Average wall-clock time for a full test suite in a 200-engineer org.</a:t>
            </a:r>
            <a:endParaRPr lang="en-US" sz="1069" dirty="0"/>
          </a:p>
        </p:txBody>
      </p:sp>
      <p:sp>
        <p:nvSpPr>
          <p:cNvPr id="11" name="Text 9"/>
          <p:cNvSpPr/>
          <p:nvPr/>
        </p:nvSpPr>
        <p:spPr>
          <a:xfrm>
            <a:off x="3247951" y="1100138"/>
            <a:ext cx="2647987" cy="2800350"/>
          </a:xfrm>
          <a:prstGeom prst="roundRect">
            <a:avLst>
              <a:gd name="adj" fmla="val 5036"/>
            </a:avLst>
          </a:prstGeom>
          <a:solidFill>
            <a:srgbClr val="F8FAFC"/>
          </a:solidFill>
          <a:ln/>
        </p:spPr>
        <p:txBody>
          <a:bodyPr wrap="square" rtlCol="0" anchor="ctr"/>
          <a:lstStyle/>
          <a:p>
            <a:pPr marL="0" indent="0">
              <a:buNone/>
            </a:pPr>
            <a:endParaRPr lang="en-US" dirty="0"/>
          </a:p>
        </p:txBody>
      </p:sp>
      <p:sp>
        <p:nvSpPr>
          <p:cNvPr id="12" name="Shape 10"/>
          <p:cNvSpPr/>
          <p:nvPr/>
        </p:nvSpPr>
        <p:spPr>
          <a:xfrm>
            <a:off x="3247951" y="3879056"/>
            <a:ext cx="2647987" cy="0"/>
          </a:xfrm>
          <a:prstGeom prst="line">
            <a:avLst/>
          </a:prstGeom>
          <a:noFill/>
          <a:ln w="42863">
            <a:solidFill>
              <a:srgbClr val="F97316"/>
            </a:solidFill>
            <a:prstDash val="solid"/>
          </a:ln>
        </p:spPr>
      </p:sp>
      <p:sp>
        <p:nvSpPr>
          <p:cNvPr id="13" name="Text 11"/>
          <p:cNvSpPr/>
          <p:nvPr/>
        </p:nvSpPr>
        <p:spPr>
          <a:xfrm>
            <a:off x="3419401" y="1300163"/>
            <a:ext cx="314325" cy="314325"/>
          </a:xfrm>
          <a:prstGeom prst="roundRect">
            <a:avLst>
              <a:gd name="adj" fmla="val 36364"/>
            </a:avLst>
          </a:prstGeom>
          <a:solidFill>
            <a:srgbClr val="F97316">
              <a:alpha val="12000"/>
            </a:srgbClr>
          </a:solidFill>
          <a:ln/>
        </p:spPr>
        <p:txBody>
          <a:bodyPr wrap="square" rtlCol="0" anchor="ctr"/>
          <a:lstStyle/>
          <a:p>
            <a:pPr marL="0" indent="0">
              <a:buNone/>
            </a:pPr>
            <a:endParaRPr lang="en-US" dirty="0"/>
          </a:p>
        </p:txBody>
      </p:sp>
      <p:sp>
        <p:nvSpPr>
          <p:cNvPr id="14" name="Text 12"/>
          <p:cNvSpPr/>
          <p:nvPr/>
        </p:nvSpPr>
        <p:spPr>
          <a:xfrm>
            <a:off x="3441903" y="1322665"/>
            <a:ext cx="269319" cy="269319"/>
          </a:xfrm>
          <a:prstGeom prst="rect">
            <a:avLst/>
          </a:prstGeom>
          <a:noFill/>
          <a:ln/>
        </p:spPr>
        <p:txBody>
          <a:bodyPr wrap="none" lIns="0" tIns="0" rIns="0" bIns="0" rtlCol="0" anchor="ctr"/>
          <a:lstStyle/>
          <a:p>
            <a:pPr marL="0" indent="0" algn="ctr">
              <a:buNone/>
            </a:pPr>
            <a:r>
              <a:rPr lang="en-US" sz="1828" dirty="0">
                <a:solidFill>
                  <a:srgbClr val="F97316"/>
                </a:solidFill>
                <a:latin typeface="Segoe UI Symbol" pitchFamily="34" charset="0"/>
                <a:ea typeface="Segoe UI Symbol" pitchFamily="34" charset="-122"/>
                <a:cs typeface="Segoe UI Symbol" pitchFamily="34" charset="-120"/>
              </a:rPr>
              <a:t>☰</a:t>
            </a:r>
            <a:endParaRPr lang="en-US" sz="1828" dirty="0"/>
          </a:p>
        </p:txBody>
      </p:sp>
      <p:sp>
        <p:nvSpPr>
          <p:cNvPr id="15" name="Text 13"/>
          <p:cNvSpPr/>
          <p:nvPr/>
        </p:nvSpPr>
        <p:spPr>
          <a:xfrm>
            <a:off x="5199902" y="1401626"/>
            <a:ext cx="599115" cy="153570"/>
          </a:xfrm>
          <a:prstGeom prst="rect">
            <a:avLst/>
          </a:prstGeom>
          <a:noFill/>
          <a:ln/>
        </p:spPr>
        <p:txBody>
          <a:bodyPr wrap="none" lIns="0" tIns="0" rIns="0" bIns="0" rtlCol="0" anchor="t"/>
          <a:lstStyle/>
          <a:p>
            <a:pPr marL="0" indent="0" algn="l">
              <a:lnSpc>
                <a:spcPts val="1103"/>
              </a:lnSpc>
              <a:buNone/>
            </a:pPr>
            <a:r>
              <a:rPr lang="en-US" sz="788" dirty="0">
                <a:solidFill>
                  <a:srgbClr val="64748B"/>
                </a:solidFill>
                <a:latin typeface="Courier New" pitchFamily="34" charset="0"/>
                <a:ea typeface="Courier New" pitchFamily="34" charset="-122"/>
                <a:cs typeface="Courier New" pitchFamily="34" charset="-120"/>
              </a:rPr>
              <a:t>Relevance</a:t>
            </a:r>
            <a:endParaRPr lang="en-US" sz="788" dirty="0"/>
          </a:p>
        </p:txBody>
      </p:sp>
      <p:sp>
        <p:nvSpPr>
          <p:cNvPr id="16" name="Text 14"/>
          <p:cNvSpPr/>
          <p:nvPr/>
        </p:nvSpPr>
        <p:spPr>
          <a:xfrm>
            <a:off x="3419401" y="1685925"/>
            <a:ext cx="2305087" cy="672656"/>
          </a:xfrm>
          <a:prstGeom prst="rect">
            <a:avLst/>
          </a:prstGeom>
          <a:noFill/>
          <a:ln/>
        </p:spPr>
        <p:txBody>
          <a:bodyPr wrap="none" lIns="0" tIns="0" rIns="0" bIns="0" rtlCol="0" anchor="t">
            <a:normAutofit/>
          </a:bodyPr>
          <a:lstStyle/>
          <a:p>
            <a:pPr marL="0" indent="0" algn="l">
              <a:lnSpc>
                <a:spcPts val="4950"/>
              </a:lnSpc>
              <a:buNone/>
            </a:pPr>
            <a:r>
              <a:rPr lang="en-US" sz="4950" b="1" kern="0" spc="-112" dirty="0">
                <a:solidFill>
                  <a:srgbClr val="F97316"/>
                </a:solidFill>
                <a:latin typeface="Liberation Sans Narrow" pitchFamily="34" charset="0"/>
                <a:ea typeface="Liberation Sans Narrow" pitchFamily="34" charset="-122"/>
                <a:cs typeface="Liberation Sans Narrow" pitchFamily="34" charset="-120"/>
              </a:rPr>
              <a:t>95%</a:t>
            </a:r>
            <a:endParaRPr lang="en-US" sz="4950" dirty="0"/>
          </a:p>
        </p:txBody>
      </p:sp>
      <p:sp>
        <p:nvSpPr>
          <p:cNvPr id="17" name="Text 15"/>
          <p:cNvSpPr/>
          <p:nvPr/>
        </p:nvSpPr>
        <p:spPr>
          <a:xfrm>
            <a:off x="3419401" y="2386013"/>
            <a:ext cx="2305087" cy="395648"/>
          </a:xfrm>
          <a:prstGeom prst="rect">
            <a:avLst/>
          </a:prstGeom>
          <a:noFill/>
          <a:ln/>
        </p:spPr>
        <p:txBody>
          <a:bodyPr wrap="square" lIns="0" tIns="0" rIns="0" bIns="0" rtlCol="0" anchor="t"/>
          <a:lstStyle/>
          <a:p>
            <a:pPr marL="0" indent="0" algn="l">
              <a:lnSpc>
                <a:spcPts val="1443"/>
              </a:lnSpc>
              <a:buNone/>
            </a:pPr>
            <a:r>
              <a:rPr lang="en-US" sz="1069" dirty="0">
                <a:solidFill>
                  <a:srgbClr val="0F172A"/>
                </a:solidFill>
                <a:latin typeface="Carlito" pitchFamily="34" charset="0"/>
                <a:ea typeface="Carlito" pitchFamily="34" charset="-122"/>
                <a:cs typeface="Carlito" pitchFamily="34" charset="-120"/>
              </a:rPr>
              <a:t>of those tests touch code that DID NOT change in this commit.</a:t>
            </a:r>
            <a:endParaRPr lang="en-US" sz="1069" dirty="0"/>
          </a:p>
        </p:txBody>
      </p:sp>
      <p:sp>
        <p:nvSpPr>
          <p:cNvPr id="18" name="Text 16"/>
          <p:cNvSpPr/>
          <p:nvPr/>
        </p:nvSpPr>
        <p:spPr>
          <a:xfrm>
            <a:off x="6038813" y="1100138"/>
            <a:ext cx="2647987" cy="2800350"/>
          </a:xfrm>
          <a:prstGeom prst="roundRect">
            <a:avLst>
              <a:gd name="adj" fmla="val 5036"/>
            </a:avLst>
          </a:prstGeom>
          <a:solidFill>
            <a:srgbClr val="F8FAFC"/>
          </a:solidFill>
          <a:ln/>
        </p:spPr>
        <p:txBody>
          <a:bodyPr wrap="square" rtlCol="0" anchor="ctr"/>
          <a:lstStyle/>
          <a:p>
            <a:pPr marL="0" indent="0">
              <a:buNone/>
            </a:pPr>
            <a:endParaRPr lang="en-US" dirty="0"/>
          </a:p>
        </p:txBody>
      </p:sp>
      <p:sp>
        <p:nvSpPr>
          <p:cNvPr id="19" name="Shape 17"/>
          <p:cNvSpPr/>
          <p:nvPr/>
        </p:nvSpPr>
        <p:spPr>
          <a:xfrm>
            <a:off x="6038813" y="3879056"/>
            <a:ext cx="2647987" cy="0"/>
          </a:xfrm>
          <a:prstGeom prst="line">
            <a:avLst/>
          </a:prstGeom>
          <a:noFill/>
          <a:ln w="42863">
            <a:solidFill>
              <a:srgbClr val="F97316"/>
            </a:solidFill>
            <a:prstDash val="solid"/>
          </a:ln>
        </p:spPr>
      </p:sp>
      <p:sp>
        <p:nvSpPr>
          <p:cNvPr id="20" name="Text 18"/>
          <p:cNvSpPr/>
          <p:nvPr/>
        </p:nvSpPr>
        <p:spPr>
          <a:xfrm>
            <a:off x="6210263" y="1300163"/>
            <a:ext cx="314325" cy="314325"/>
          </a:xfrm>
          <a:prstGeom prst="roundRect">
            <a:avLst>
              <a:gd name="adj" fmla="val 36364"/>
            </a:avLst>
          </a:prstGeom>
          <a:solidFill>
            <a:srgbClr val="F97316">
              <a:alpha val="12000"/>
            </a:srgbClr>
          </a:solidFill>
          <a:ln/>
        </p:spPr>
        <p:txBody>
          <a:bodyPr wrap="square" rtlCol="0" anchor="ctr"/>
          <a:lstStyle/>
          <a:p>
            <a:pPr marL="0" indent="0">
              <a:buNone/>
            </a:pPr>
            <a:endParaRPr lang="en-US" dirty="0"/>
          </a:p>
        </p:txBody>
      </p:sp>
      <p:sp>
        <p:nvSpPr>
          <p:cNvPr id="21" name="Text 19"/>
          <p:cNvSpPr/>
          <p:nvPr/>
        </p:nvSpPr>
        <p:spPr>
          <a:xfrm>
            <a:off x="6232766" y="1322665"/>
            <a:ext cx="269319" cy="269319"/>
          </a:xfrm>
          <a:prstGeom prst="rect">
            <a:avLst/>
          </a:prstGeom>
          <a:noFill/>
          <a:ln/>
        </p:spPr>
        <p:txBody>
          <a:bodyPr wrap="none" lIns="0" tIns="0" rIns="0" bIns="0" rtlCol="0" anchor="ctr"/>
          <a:lstStyle/>
          <a:p>
            <a:pPr marL="0" indent="0" algn="ctr">
              <a:buNone/>
            </a:pPr>
            <a:r>
              <a:rPr lang="en-US" sz="1828" dirty="0">
                <a:solidFill>
                  <a:srgbClr val="F97316"/>
                </a:solidFill>
                <a:latin typeface="Segoe UI Symbol" pitchFamily="34" charset="0"/>
                <a:ea typeface="Segoe UI Symbol" pitchFamily="34" charset="-122"/>
                <a:cs typeface="Segoe UI Symbol" pitchFamily="34" charset="-120"/>
              </a:rPr>
              <a:t>$</a:t>
            </a:r>
            <a:endParaRPr lang="en-US" sz="1828" dirty="0"/>
          </a:p>
        </p:txBody>
      </p:sp>
      <p:sp>
        <p:nvSpPr>
          <p:cNvPr id="22" name="Text 20"/>
          <p:cNvSpPr/>
          <p:nvPr/>
        </p:nvSpPr>
        <p:spPr>
          <a:xfrm>
            <a:off x="7949239" y="1401626"/>
            <a:ext cx="632159" cy="153570"/>
          </a:xfrm>
          <a:prstGeom prst="rect">
            <a:avLst/>
          </a:prstGeom>
          <a:noFill/>
          <a:ln/>
        </p:spPr>
        <p:txBody>
          <a:bodyPr wrap="none" lIns="0" tIns="0" rIns="0" bIns="0" rtlCol="0" anchor="t"/>
          <a:lstStyle/>
          <a:p>
            <a:pPr marL="0" indent="0" algn="l">
              <a:lnSpc>
                <a:spcPts val="1103"/>
              </a:lnSpc>
              <a:buNone/>
            </a:pPr>
            <a:r>
              <a:rPr lang="en-US" sz="788" dirty="0">
                <a:solidFill>
                  <a:srgbClr val="64748B"/>
                </a:solidFill>
                <a:latin typeface="Courier New" pitchFamily="34" charset="0"/>
                <a:ea typeface="Courier New" pitchFamily="34" charset="-122"/>
                <a:cs typeface="Courier New" pitchFamily="34" charset="-120"/>
              </a:rPr>
              <a:t>Cloud cost</a:t>
            </a:r>
            <a:endParaRPr lang="en-US" sz="788" dirty="0"/>
          </a:p>
        </p:txBody>
      </p:sp>
      <p:sp>
        <p:nvSpPr>
          <p:cNvPr id="23" name="Text 21"/>
          <p:cNvSpPr/>
          <p:nvPr/>
        </p:nvSpPr>
        <p:spPr>
          <a:xfrm>
            <a:off x="6210263" y="1685925"/>
            <a:ext cx="2305087" cy="672656"/>
          </a:xfrm>
          <a:prstGeom prst="rect">
            <a:avLst/>
          </a:prstGeom>
          <a:noFill/>
          <a:ln/>
        </p:spPr>
        <p:txBody>
          <a:bodyPr wrap="none" lIns="0" tIns="0" rIns="0" bIns="0" rtlCol="0" anchor="t">
            <a:normAutofit/>
          </a:bodyPr>
          <a:lstStyle/>
          <a:p>
            <a:pPr marL="0" indent="0" algn="l">
              <a:lnSpc>
                <a:spcPts val="4950"/>
              </a:lnSpc>
              <a:buNone/>
            </a:pPr>
            <a:r>
              <a:rPr lang="en-US" sz="4950" b="1" kern="0" spc="-112" dirty="0">
                <a:solidFill>
                  <a:srgbClr val="F97316"/>
                </a:solidFill>
                <a:latin typeface="Liberation Sans Narrow" pitchFamily="34" charset="0"/>
                <a:ea typeface="Liberation Sans Narrow" pitchFamily="34" charset="-122"/>
                <a:cs typeface="Liberation Sans Narrow" pitchFamily="34" charset="-120"/>
              </a:rPr>
              <a:t>$1.2M</a:t>
            </a:r>
            <a:endParaRPr lang="en-US" sz="4950" dirty="0"/>
          </a:p>
        </p:txBody>
      </p:sp>
      <p:sp>
        <p:nvSpPr>
          <p:cNvPr id="24" name="Text 22"/>
          <p:cNvSpPr/>
          <p:nvPr/>
        </p:nvSpPr>
        <p:spPr>
          <a:xfrm>
            <a:off x="6210263" y="2386013"/>
            <a:ext cx="2305087" cy="395648"/>
          </a:xfrm>
          <a:prstGeom prst="rect">
            <a:avLst/>
          </a:prstGeom>
          <a:noFill/>
          <a:ln/>
        </p:spPr>
        <p:txBody>
          <a:bodyPr wrap="square" lIns="0" tIns="0" rIns="0" bIns="0" rtlCol="0" anchor="t"/>
          <a:lstStyle/>
          <a:p>
            <a:pPr marL="0" indent="0" algn="l">
              <a:lnSpc>
                <a:spcPts val="1443"/>
              </a:lnSpc>
              <a:buNone/>
            </a:pPr>
            <a:r>
              <a:rPr lang="en-US" sz="1069" dirty="0">
                <a:solidFill>
                  <a:srgbClr val="0F172A"/>
                </a:solidFill>
                <a:latin typeface="Carlito" pitchFamily="34" charset="0"/>
                <a:ea typeface="Carlito" pitchFamily="34" charset="-122"/>
                <a:cs typeface="Carlito" pitchFamily="34" charset="-120"/>
              </a:rPr>
              <a:t>Annual cloud-CI cost wasted on irrelevant test executions.</a:t>
            </a:r>
            <a:endParaRPr lang="en-US" sz="1069" dirty="0"/>
          </a:p>
        </p:txBody>
      </p:sp>
      <p:sp>
        <p:nvSpPr>
          <p:cNvPr id="25" name="Text 23"/>
          <p:cNvSpPr/>
          <p:nvPr/>
        </p:nvSpPr>
        <p:spPr>
          <a:xfrm>
            <a:off x="457200" y="4029075"/>
            <a:ext cx="8229600" cy="657225"/>
          </a:xfrm>
          <a:prstGeom prst="roundRect">
            <a:avLst>
              <a:gd name="adj" fmla="val 11594"/>
            </a:avLst>
          </a:prstGeom>
          <a:solidFill>
            <a:srgbClr val="FFF7ED"/>
          </a:solidFill>
          <a:ln/>
        </p:spPr>
        <p:txBody>
          <a:bodyPr wrap="square" rtlCol="0" anchor="ctr"/>
          <a:lstStyle/>
          <a:p>
            <a:pPr marL="0" indent="0">
              <a:buNone/>
            </a:pPr>
            <a:endParaRPr lang="en-US" dirty="0"/>
          </a:p>
        </p:txBody>
      </p:sp>
      <p:sp>
        <p:nvSpPr>
          <p:cNvPr id="26" name="Shape 24"/>
          <p:cNvSpPr/>
          <p:nvPr/>
        </p:nvSpPr>
        <p:spPr>
          <a:xfrm>
            <a:off x="478631" y="4029075"/>
            <a:ext cx="0" cy="657225"/>
          </a:xfrm>
          <a:prstGeom prst="line">
            <a:avLst/>
          </a:prstGeom>
          <a:noFill/>
          <a:ln w="42863">
            <a:solidFill>
              <a:srgbClr val="F97316"/>
            </a:solidFill>
            <a:prstDash val="solid"/>
          </a:ln>
        </p:spPr>
      </p:sp>
      <p:sp>
        <p:nvSpPr>
          <p:cNvPr id="27" name="Text 25"/>
          <p:cNvSpPr/>
          <p:nvPr/>
        </p:nvSpPr>
        <p:spPr>
          <a:xfrm>
            <a:off x="657225" y="4157663"/>
            <a:ext cx="7872413" cy="400050"/>
          </a:xfrm>
          <a:prstGeom prst="rect">
            <a:avLst/>
          </a:prstGeom>
          <a:noFill/>
          <a:ln/>
        </p:spPr>
        <p:txBody>
          <a:bodyPr wrap="square" lIns="0" tIns="0" rIns="0" bIns="0" rtlCol="0" anchor="t"/>
          <a:lstStyle/>
          <a:p>
            <a:pPr marL="0" indent="0" algn="l">
              <a:lnSpc>
                <a:spcPts val="1575"/>
              </a:lnSpc>
              <a:buNone/>
            </a:pPr>
            <a:r>
              <a:rPr lang="en-US" sz="1125" b="1" dirty="0">
                <a:solidFill>
                  <a:srgbClr val="F97316"/>
                </a:solidFill>
                <a:latin typeface="Segoe UI Symbol" pitchFamily="34" charset="0"/>
                <a:ea typeface="Segoe UI Symbol" pitchFamily="34" charset="-122"/>
                <a:cs typeface="Segoe UI Symbol" pitchFamily="34" charset="-120"/>
              </a:rPr>
              <a:t>!</a:t>
            </a:r>
            <a:r>
              <a:rPr lang="en-US" sz="1125" b="1" dirty="0">
                <a:solidFill>
                  <a:srgbClr val="0F172A"/>
                </a:solidFill>
                <a:latin typeface="Carlito" pitchFamily="34" charset="0"/>
                <a:ea typeface="Carlito" pitchFamily="34" charset="-122"/>
                <a:cs typeface="Carlito" pitchFamily="34" charset="-120"/>
              </a:rPr>
              <a:t> Tests are not free. Every test execution costs compute, time, and developer attention. </a:t>
            </a:r>
            <a:r>
              <a:rPr lang="en-US" sz="1125" b="1" dirty="0">
                <a:solidFill>
                  <a:srgbClr val="C2410C"/>
                </a:solidFill>
                <a:latin typeface="Carlito" pitchFamily="34" charset="0"/>
                <a:ea typeface="Carlito" pitchFamily="34" charset="-122"/>
                <a:cs typeface="Carlito" pitchFamily="34" charset="-120"/>
              </a:rPr>
              <a:t>Running irrelevant tests is a tax on the entire engineering org.</a:t>
            </a:r>
            <a:endParaRPr lang="en-US" sz="1125"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8636000" cy="410355"/>
          </a:xfrm>
          <a:prstGeom prst="rect">
            <a:avLst/>
          </a:prstGeom>
          <a:noFill/>
          <a:ln/>
        </p:spPr>
        <p:txBody>
          <a:bodyPr wrap="square" lIns="0" tIns="0" rIns="0" bIns="0" rtlCol="0" anchor="t"/>
          <a:lstStyle/>
          <a:p>
            <a:pPr marL="0" indent="0" algn="l">
              <a:lnSpc>
                <a:spcPts val="2993"/>
              </a:lnSpc>
              <a:buNone/>
            </a:pPr>
            <a:r>
              <a:rPr lang="en-US" sz="2138" b="1" dirty="0">
                <a:solidFill>
                  <a:srgbClr val="0F172A"/>
                </a:solidFill>
                <a:latin typeface="Carlito" pitchFamily="34" charset="0"/>
                <a:ea typeface="Carlito" pitchFamily="34" charset="-122"/>
                <a:cs typeface="Carlito" pitchFamily="34" charset="-120"/>
              </a:rPr>
              <a:t>Code-Diff Analysis — How Diffs Map to Tests</a:t>
            </a:r>
            <a:endParaRPr lang="en-US" sz="2138" dirty="0"/>
          </a:p>
        </p:txBody>
      </p:sp>
      <p:sp>
        <p:nvSpPr>
          <p:cNvPr id="3" name="Text 1"/>
          <p:cNvSpPr/>
          <p:nvPr/>
        </p:nvSpPr>
        <p:spPr>
          <a:xfrm>
            <a:off x="457200" y="894308"/>
            <a:ext cx="571500" cy="42863"/>
          </a:xfrm>
          <a:prstGeom prst="roundRect">
            <a:avLst>
              <a:gd name="adj" fmla="val 66666"/>
            </a:avLst>
          </a:prstGeom>
          <a:solidFill>
            <a:srgbClr val="F97316"/>
          </a:solidFill>
          <a:ln/>
        </p:spPr>
        <p:txBody>
          <a:bodyPr wrap="square" rtlCol="0" anchor="ctr"/>
          <a:lstStyle/>
          <a:p>
            <a:pPr marL="0" indent="0">
              <a:buNone/>
            </a:pPr>
            <a:endParaRPr lang="en-US" dirty="0"/>
          </a:p>
        </p:txBody>
      </p:sp>
      <p:sp>
        <p:nvSpPr>
          <p:cNvPr id="4" name="Text 2"/>
          <p:cNvSpPr/>
          <p:nvPr/>
        </p:nvSpPr>
        <p:spPr>
          <a:xfrm>
            <a:off x="457200" y="980033"/>
            <a:ext cx="8229600" cy="216027"/>
          </a:xfrm>
          <a:prstGeom prst="rect">
            <a:avLst/>
          </a:prstGeom>
          <a:noFill/>
          <a:ln/>
        </p:spPr>
        <p:txBody>
          <a:bodyPr wrap="square" lIns="0" tIns="0" rIns="0" bIns="0" rtlCol="0" anchor="t"/>
          <a:lstStyle/>
          <a:p>
            <a:pPr marL="0" indent="0" algn="l">
              <a:lnSpc>
                <a:spcPts val="1575"/>
              </a:lnSpc>
              <a:buNone/>
            </a:pPr>
            <a:r>
              <a:rPr lang="en-US" sz="1125" dirty="0">
                <a:solidFill>
                  <a:srgbClr val="334155"/>
                </a:solidFill>
                <a:latin typeface="Carlito" pitchFamily="34" charset="0"/>
                <a:ea typeface="Carlito" pitchFamily="34" charset="-122"/>
                <a:cs typeface="Carlito" pitchFamily="34" charset="-120"/>
              </a:rPr>
              <a:t>A four-step pipeline from "what changed" to "which tests to run".</a:t>
            </a:r>
            <a:endParaRPr lang="en-US" sz="1125" dirty="0"/>
          </a:p>
        </p:txBody>
      </p:sp>
      <p:sp>
        <p:nvSpPr>
          <p:cNvPr id="5" name="Text 3"/>
          <p:cNvSpPr/>
          <p:nvPr/>
        </p:nvSpPr>
        <p:spPr>
          <a:xfrm>
            <a:off x="460772" y="1269355"/>
            <a:ext cx="4050506" cy="1645965"/>
          </a:xfrm>
          <a:prstGeom prst="roundRect">
            <a:avLst>
              <a:gd name="adj" fmla="val 8102"/>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6" name="Text 4"/>
          <p:cNvSpPr/>
          <p:nvPr/>
        </p:nvSpPr>
        <p:spPr>
          <a:xfrm>
            <a:off x="3467619" y="2340248"/>
            <a:ext cx="1165774" cy="442913"/>
          </a:xfrm>
          <a:prstGeom prst="rect">
            <a:avLst/>
          </a:prstGeom>
          <a:noFill/>
          <a:ln/>
        </p:spPr>
        <p:txBody>
          <a:bodyPr wrap="square" lIns="0" tIns="0" rIns="0" bIns="0" rtlCol="0" anchor="t"/>
          <a:lstStyle/>
          <a:p>
            <a:pPr marL="0" indent="0" algn="l">
              <a:lnSpc>
                <a:spcPts val="5063"/>
              </a:lnSpc>
              <a:buNone/>
            </a:pPr>
            <a:r>
              <a:rPr lang="en-US" sz="5063" b="1" dirty="0">
                <a:solidFill>
                  <a:srgbClr val="F97316">
                    <a:alpha val="7000"/>
                  </a:srgbClr>
                </a:solidFill>
                <a:latin typeface="Liberation Sans Narrow" pitchFamily="34" charset="0"/>
                <a:ea typeface="Liberation Sans Narrow" pitchFamily="34" charset="-122"/>
                <a:cs typeface="Liberation Sans Narrow" pitchFamily="34" charset="-120"/>
              </a:rPr>
              <a:t>01</a:t>
            </a:r>
            <a:endParaRPr lang="en-US" sz="5063" dirty="0"/>
          </a:p>
        </p:txBody>
      </p:sp>
      <p:sp>
        <p:nvSpPr>
          <p:cNvPr id="7" name="Text 5"/>
          <p:cNvSpPr/>
          <p:nvPr/>
        </p:nvSpPr>
        <p:spPr>
          <a:xfrm>
            <a:off x="621506" y="1401514"/>
            <a:ext cx="328613" cy="328613"/>
          </a:xfrm>
          <a:prstGeom prst="roundRect">
            <a:avLst>
              <a:gd name="adj" fmla="val 34783"/>
            </a:avLst>
          </a:prstGeom>
          <a:solidFill>
            <a:srgbClr val="F97316"/>
          </a:solidFill>
          <a:ln/>
        </p:spPr>
        <p:txBody>
          <a:bodyPr wrap="square" rtlCol="0" anchor="ctr"/>
          <a:lstStyle/>
          <a:p>
            <a:pPr marL="0" indent="0">
              <a:buNone/>
            </a:pPr>
            <a:endParaRPr lang="en-US" dirty="0"/>
          </a:p>
        </p:txBody>
      </p:sp>
      <p:sp>
        <p:nvSpPr>
          <p:cNvPr id="8" name="Text 6"/>
          <p:cNvSpPr/>
          <p:nvPr/>
        </p:nvSpPr>
        <p:spPr>
          <a:xfrm>
            <a:off x="621506" y="1401514"/>
            <a:ext cx="371475" cy="328613"/>
          </a:xfrm>
          <a:prstGeom prst="rect">
            <a:avLst/>
          </a:prstGeom>
          <a:noFill/>
          <a:ln/>
        </p:spPr>
        <p:txBody>
          <a:bodyPr wrap="none" lIns="0" tIns="0" rIns="0" bIns="0" rtlCol="0" anchor="ctr"/>
          <a:lstStyle/>
          <a:p>
            <a:pPr marL="0" indent="0" algn="ctr">
              <a:lnSpc>
                <a:spcPts val="1733"/>
              </a:lnSpc>
              <a:buNone/>
            </a:pPr>
            <a:r>
              <a:rPr lang="en-US" sz="1238" b="1" dirty="0">
                <a:solidFill>
                  <a:srgbClr val="FFFFFF"/>
                </a:solidFill>
                <a:latin typeface="Liberation Sans Narrow" pitchFamily="34" charset="0"/>
                <a:ea typeface="Liberation Sans Narrow" pitchFamily="34" charset="-122"/>
                <a:cs typeface="Liberation Sans Narrow" pitchFamily="34" charset="-120"/>
              </a:rPr>
              <a:t>01</a:t>
            </a:r>
            <a:endParaRPr lang="en-US" sz="1238" dirty="0"/>
          </a:p>
        </p:txBody>
      </p:sp>
      <p:sp>
        <p:nvSpPr>
          <p:cNvPr id="9" name="Text 7"/>
          <p:cNvSpPr/>
          <p:nvPr/>
        </p:nvSpPr>
        <p:spPr>
          <a:xfrm>
            <a:off x="1035844" y="1465808"/>
            <a:ext cx="200025" cy="200025"/>
          </a:xfrm>
          <a:prstGeom prst="rect">
            <a:avLst/>
          </a:prstGeom>
          <a:noFill/>
          <a:ln/>
        </p:spPr>
        <p:txBody>
          <a:bodyPr wrap="none" lIns="0" tIns="0" rIns="0" bIns="0" rtlCol="0" anchor="ctr"/>
          <a:lstStyle/>
          <a:p>
            <a:pPr marL="0" indent="0" algn="ctr">
              <a:buNone/>
            </a:pPr>
            <a:r>
              <a:rPr lang="en-US" sz="1969" dirty="0">
                <a:solidFill>
                  <a:srgbClr val="F97316"/>
                </a:solidFill>
                <a:latin typeface="Segoe UI Symbol" pitchFamily="34" charset="0"/>
                <a:ea typeface="Segoe UI Symbol" pitchFamily="34" charset="-122"/>
                <a:cs typeface="Segoe UI Symbol" pitchFamily="34" charset="-120"/>
              </a:rPr>
              <a:t>✦</a:t>
            </a:r>
            <a:endParaRPr lang="en-US" sz="1969" dirty="0"/>
          </a:p>
        </p:txBody>
      </p:sp>
      <p:sp>
        <p:nvSpPr>
          <p:cNvPr id="10" name="Text 8"/>
          <p:cNvSpPr/>
          <p:nvPr/>
        </p:nvSpPr>
        <p:spPr>
          <a:xfrm>
            <a:off x="621506" y="1787277"/>
            <a:ext cx="3729038" cy="195172"/>
          </a:xfrm>
          <a:prstGeom prst="rect">
            <a:avLst/>
          </a:prstGeom>
          <a:noFill/>
          <a:ln/>
        </p:spPr>
        <p:txBody>
          <a:bodyPr wrap="none" lIns="0" tIns="0" rIns="0" bIns="0" rtlCol="0" anchor="t"/>
          <a:lstStyle/>
          <a:p>
            <a:pPr marL="0" indent="0" algn="l">
              <a:lnSpc>
                <a:spcPts val="1423"/>
              </a:lnSpc>
              <a:buNone/>
            </a:pPr>
            <a:r>
              <a:rPr lang="en-US" sz="1238" b="1" dirty="0">
                <a:solidFill>
                  <a:srgbClr val="0F172A"/>
                </a:solidFill>
                <a:latin typeface="Carlito" pitchFamily="34" charset="0"/>
                <a:ea typeface="Carlito" pitchFamily="34" charset="-122"/>
                <a:cs typeface="Carlito" pitchFamily="34" charset="-120"/>
              </a:rPr>
              <a:t>Extract the Diff</a:t>
            </a:r>
            <a:endParaRPr lang="en-US" sz="1238" dirty="0"/>
          </a:p>
        </p:txBody>
      </p:sp>
      <p:sp>
        <p:nvSpPr>
          <p:cNvPr id="11" name="Text 9"/>
          <p:cNvSpPr/>
          <p:nvPr/>
        </p:nvSpPr>
        <p:spPr>
          <a:xfrm>
            <a:off x="621506" y="2025142"/>
            <a:ext cx="3729038" cy="550797"/>
          </a:xfrm>
          <a:prstGeom prst="rect">
            <a:avLst/>
          </a:prstGeom>
          <a:noFill/>
          <a:ln/>
        </p:spPr>
        <p:txBody>
          <a:bodyPr wrap="square" lIns="0" tIns="0" rIns="0" bIns="0" rtlCol="0" anchor="t"/>
          <a:lstStyle/>
          <a:p>
            <a:pPr marL="0" indent="0" algn="l">
              <a:lnSpc>
                <a:spcPts val="1339"/>
              </a:lnSpc>
              <a:buNone/>
            </a:pPr>
            <a:r>
              <a:rPr lang="en-US" sz="956" dirty="0">
                <a:solidFill>
                  <a:srgbClr val="334155"/>
                </a:solidFill>
                <a:latin typeface="Carlito" pitchFamily="34" charset="0"/>
                <a:ea typeface="Carlito" pitchFamily="34" charset="-122"/>
                <a:cs typeface="Carlito" pitchFamily="34" charset="-120"/>
              </a:rPr>
              <a:t>Compare the current commit against main (or merge-base). Identify added, modified, and deleted files + the specific functions/classes touched.</a:t>
            </a:r>
            <a:endParaRPr lang="en-US" sz="956" dirty="0"/>
          </a:p>
        </p:txBody>
      </p:sp>
      <p:sp>
        <p:nvSpPr>
          <p:cNvPr id="12" name="Text 10"/>
          <p:cNvSpPr/>
          <p:nvPr/>
        </p:nvSpPr>
        <p:spPr>
          <a:xfrm>
            <a:off x="4632722" y="1269355"/>
            <a:ext cx="4050506" cy="1645965"/>
          </a:xfrm>
          <a:prstGeom prst="roundRect">
            <a:avLst>
              <a:gd name="adj" fmla="val 8102"/>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13" name="Text 11"/>
          <p:cNvSpPr/>
          <p:nvPr/>
        </p:nvSpPr>
        <p:spPr>
          <a:xfrm>
            <a:off x="7639569" y="2340248"/>
            <a:ext cx="1165774" cy="442913"/>
          </a:xfrm>
          <a:prstGeom prst="rect">
            <a:avLst/>
          </a:prstGeom>
          <a:noFill/>
          <a:ln/>
        </p:spPr>
        <p:txBody>
          <a:bodyPr wrap="square" lIns="0" tIns="0" rIns="0" bIns="0" rtlCol="0" anchor="t"/>
          <a:lstStyle/>
          <a:p>
            <a:pPr marL="0" indent="0" algn="l">
              <a:lnSpc>
                <a:spcPts val="5063"/>
              </a:lnSpc>
              <a:buNone/>
            </a:pPr>
            <a:r>
              <a:rPr lang="en-US" sz="5063" b="1" dirty="0">
                <a:solidFill>
                  <a:srgbClr val="F97316">
                    <a:alpha val="7000"/>
                  </a:srgbClr>
                </a:solidFill>
                <a:latin typeface="Liberation Sans Narrow" pitchFamily="34" charset="0"/>
                <a:ea typeface="Liberation Sans Narrow" pitchFamily="34" charset="-122"/>
                <a:cs typeface="Liberation Sans Narrow" pitchFamily="34" charset="-120"/>
              </a:rPr>
              <a:t>02</a:t>
            </a:r>
            <a:endParaRPr lang="en-US" sz="5063" dirty="0"/>
          </a:p>
        </p:txBody>
      </p:sp>
      <p:sp>
        <p:nvSpPr>
          <p:cNvPr id="14" name="Text 12"/>
          <p:cNvSpPr/>
          <p:nvPr/>
        </p:nvSpPr>
        <p:spPr>
          <a:xfrm>
            <a:off x="4793456" y="1401514"/>
            <a:ext cx="328613" cy="328613"/>
          </a:xfrm>
          <a:prstGeom prst="roundRect">
            <a:avLst>
              <a:gd name="adj" fmla="val 34783"/>
            </a:avLst>
          </a:prstGeom>
          <a:solidFill>
            <a:srgbClr val="F97316"/>
          </a:solidFill>
          <a:ln/>
        </p:spPr>
        <p:txBody>
          <a:bodyPr wrap="square" rtlCol="0" anchor="ctr"/>
          <a:lstStyle/>
          <a:p>
            <a:pPr marL="0" indent="0">
              <a:buNone/>
            </a:pPr>
            <a:endParaRPr lang="en-US" dirty="0"/>
          </a:p>
        </p:txBody>
      </p:sp>
      <p:sp>
        <p:nvSpPr>
          <p:cNvPr id="15" name="Text 13"/>
          <p:cNvSpPr/>
          <p:nvPr/>
        </p:nvSpPr>
        <p:spPr>
          <a:xfrm>
            <a:off x="4793456" y="1401514"/>
            <a:ext cx="371475" cy="328613"/>
          </a:xfrm>
          <a:prstGeom prst="rect">
            <a:avLst/>
          </a:prstGeom>
          <a:noFill/>
          <a:ln/>
        </p:spPr>
        <p:txBody>
          <a:bodyPr wrap="none" lIns="0" tIns="0" rIns="0" bIns="0" rtlCol="0" anchor="ctr"/>
          <a:lstStyle/>
          <a:p>
            <a:pPr marL="0" indent="0" algn="ctr">
              <a:lnSpc>
                <a:spcPts val="1733"/>
              </a:lnSpc>
              <a:buNone/>
            </a:pPr>
            <a:r>
              <a:rPr lang="en-US" sz="1238" b="1" dirty="0">
                <a:solidFill>
                  <a:srgbClr val="FFFFFF"/>
                </a:solidFill>
                <a:latin typeface="Liberation Sans Narrow" pitchFamily="34" charset="0"/>
                <a:ea typeface="Liberation Sans Narrow" pitchFamily="34" charset="-122"/>
                <a:cs typeface="Liberation Sans Narrow" pitchFamily="34" charset="-120"/>
              </a:rPr>
              <a:t>02</a:t>
            </a:r>
            <a:endParaRPr lang="en-US" sz="1238" dirty="0"/>
          </a:p>
        </p:txBody>
      </p:sp>
      <p:sp>
        <p:nvSpPr>
          <p:cNvPr id="16" name="Text 14"/>
          <p:cNvSpPr/>
          <p:nvPr/>
        </p:nvSpPr>
        <p:spPr>
          <a:xfrm>
            <a:off x="5207794" y="1465808"/>
            <a:ext cx="200025" cy="200025"/>
          </a:xfrm>
          <a:prstGeom prst="rect">
            <a:avLst/>
          </a:prstGeom>
          <a:noFill/>
          <a:ln/>
        </p:spPr>
        <p:txBody>
          <a:bodyPr wrap="none" lIns="0" tIns="0" rIns="0" bIns="0" rtlCol="0" anchor="ctr"/>
          <a:lstStyle/>
          <a:p>
            <a:pPr marL="0" indent="0" algn="ctr">
              <a:buNone/>
            </a:pPr>
            <a:r>
              <a:rPr lang="en-US" sz="1969" dirty="0">
                <a:solidFill>
                  <a:srgbClr val="F97316"/>
                </a:solidFill>
                <a:latin typeface="Segoe UI Symbol" pitchFamily="34" charset="0"/>
                <a:ea typeface="Segoe UI Symbol" pitchFamily="34" charset="-122"/>
                <a:cs typeface="Segoe UI Symbol" pitchFamily="34" charset="-120"/>
              </a:rPr>
              <a:t>⌘</a:t>
            </a:r>
            <a:endParaRPr lang="en-US" sz="1969" dirty="0"/>
          </a:p>
        </p:txBody>
      </p:sp>
      <p:sp>
        <p:nvSpPr>
          <p:cNvPr id="17" name="Text 15"/>
          <p:cNvSpPr/>
          <p:nvPr/>
        </p:nvSpPr>
        <p:spPr>
          <a:xfrm>
            <a:off x="4793456" y="1787277"/>
            <a:ext cx="3729038" cy="195172"/>
          </a:xfrm>
          <a:prstGeom prst="rect">
            <a:avLst/>
          </a:prstGeom>
          <a:noFill/>
          <a:ln/>
        </p:spPr>
        <p:txBody>
          <a:bodyPr wrap="none" lIns="0" tIns="0" rIns="0" bIns="0" rtlCol="0" anchor="t"/>
          <a:lstStyle/>
          <a:p>
            <a:pPr marL="0" indent="0" algn="l">
              <a:lnSpc>
                <a:spcPts val="1423"/>
              </a:lnSpc>
              <a:buNone/>
            </a:pPr>
            <a:r>
              <a:rPr lang="en-US" sz="1238" b="1" dirty="0">
                <a:solidFill>
                  <a:srgbClr val="0F172A"/>
                </a:solidFill>
                <a:latin typeface="Carlito" pitchFamily="34" charset="0"/>
                <a:ea typeface="Carlito" pitchFamily="34" charset="-122"/>
                <a:cs typeface="Carlito" pitchFamily="34" charset="-120"/>
              </a:rPr>
              <a:t>Build Test-to-Code Map</a:t>
            </a:r>
            <a:endParaRPr lang="en-US" sz="1238" dirty="0"/>
          </a:p>
        </p:txBody>
      </p:sp>
      <p:sp>
        <p:nvSpPr>
          <p:cNvPr id="18" name="Text 16"/>
          <p:cNvSpPr/>
          <p:nvPr/>
        </p:nvSpPr>
        <p:spPr>
          <a:xfrm>
            <a:off x="4793456" y="2025142"/>
            <a:ext cx="3729038" cy="550797"/>
          </a:xfrm>
          <a:prstGeom prst="rect">
            <a:avLst/>
          </a:prstGeom>
          <a:noFill/>
          <a:ln/>
        </p:spPr>
        <p:txBody>
          <a:bodyPr wrap="square" lIns="0" tIns="0" rIns="0" bIns="0" rtlCol="0" anchor="t"/>
          <a:lstStyle/>
          <a:p>
            <a:pPr marL="0" indent="0" algn="l">
              <a:lnSpc>
                <a:spcPts val="1339"/>
              </a:lnSpc>
              <a:buNone/>
            </a:pPr>
            <a:r>
              <a:rPr lang="en-US" sz="956" dirty="0">
                <a:solidFill>
                  <a:srgbClr val="334155"/>
                </a:solidFill>
                <a:latin typeface="Carlito" pitchFamily="34" charset="0"/>
                <a:ea typeface="Carlito" pitchFamily="34" charset="-122"/>
                <a:cs typeface="Carlito" pitchFamily="34" charset="-120"/>
              </a:rPr>
              <a:t>Static analysis: which test files import which source files? Coverage tools (coverage.py, jacoco, istanbul) give you test→code mappings from previous runs.</a:t>
            </a:r>
            <a:endParaRPr lang="en-US" sz="956" dirty="0"/>
          </a:p>
        </p:txBody>
      </p:sp>
      <p:sp>
        <p:nvSpPr>
          <p:cNvPr id="19" name="Text 17"/>
          <p:cNvSpPr/>
          <p:nvPr/>
        </p:nvSpPr>
        <p:spPr>
          <a:xfrm>
            <a:off x="460772" y="3036763"/>
            <a:ext cx="4050506" cy="1645965"/>
          </a:xfrm>
          <a:prstGeom prst="roundRect">
            <a:avLst>
              <a:gd name="adj" fmla="val 8102"/>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20" name="Text 18"/>
          <p:cNvSpPr/>
          <p:nvPr/>
        </p:nvSpPr>
        <p:spPr>
          <a:xfrm>
            <a:off x="3467619" y="4107656"/>
            <a:ext cx="1165774" cy="442913"/>
          </a:xfrm>
          <a:prstGeom prst="rect">
            <a:avLst/>
          </a:prstGeom>
          <a:noFill/>
          <a:ln/>
        </p:spPr>
        <p:txBody>
          <a:bodyPr wrap="square" lIns="0" tIns="0" rIns="0" bIns="0" rtlCol="0" anchor="t"/>
          <a:lstStyle/>
          <a:p>
            <a:pPr marL="0" indent="0" algn="l">
              <a:lnSpc>
                <a:spcPts val="5063"/>
              </a:lnSpc>
              <a:buNone/>
            </a:pPr>
            <a:r>
              <a:rPr lang="en-US" sz="5063" b="1" dirty="0">
                <a:solidFill>
                  <a:srgbClr val="F97316">
                    <a:alpha val="7000"/>
                  </a:srgbClr>
                </a:solidFill>
                <a:latin typeface="Liberation Sans Narrow" pitchFamily="34" charset="0"/>
                <a:ea typeface="Liberation Sans Narrow" pitchFamily="34" charset="-122"/>
                <a:cs typeface="Liberation Sans Narrow" pitchFamily="34" charset="-120"/>
              </a:rPr>
              <a:t>03</a:t>
            </a:r>
            <a:endParaRPr lang="en-US" sz="5063" dirty="0"/>
          </a:p>
        </p:txBody>
      </p:sp>
      <p:sp>
        <p:nvSpPr>
          <p:cNvPr id="21" name="Text 19"/>
          <p:cNvSpPr/>
          <p:nvPr/>
        </p:nvSpPr>
        <p:spPr>
          <a:xfrm>
            <a:off x="621506" y="3168923"/>
            <a:ext cx="328613" cy="328613"/>
          </a:xfrm>
          <a:prstGeom prst="roundRect">
            <a:avLst>
              <a:gd name="adj" fmla="val 34783"/>
            </a:avLst>
          </a:prstGeom>
          <a:solidFill>
            <a:srgbClr val="F97316"/>
          </a:solidFill>
          <a:ln/>
        </p:spPr>
        <p:txBody>
          <a:bodyPr wrap="square" rtlCol="0" anchor="ctr"/>
          <a:lstStyle/>
          <a:p>
            <a:pPr marL="0" indent="0">
              <a:buNone/>
            </a:pPr>
            <a:endParaRPr lang="en-US" dirty="0"/>
          </a:p>
        </p:txBody>
      </p:sp>
      <p:sp>
        <p:nvSpPr>
          <p:cNvPr id="22" name="Text 20"/>
          <p:cNvSpPr/>
          <p:nvPr/>
        </p:nvSpPr>
        <p:spPr>
          <a:xfrm>
            <a:off x="621506" y="3168923"/>
            <a:ext cx="371475" cy="328613"/>
          </a:xfrm>
          <a:prstGeom prst="rect">
            <a:avLst/>
          </a:prstGeom>
          <a:noFill/>
          <a:ln/>
        </p:spPr>
        <p:txBody>
          <a:bodyPr wrap="none" lIns="0" tIns="0" rIns="0" bIns="0" rtlCol="0" anchor="ctr"/>
          <a:lstStyle/>
          <a:p>
            <a:pPr marL="0" indent="0" algn="ctr">
              <a:lnSpc>
                <a:spcPts val="1733"/>
              </a:lnSpc>
              <a:buNone/>
            </a:pPr>
            <a:r>
              <a:rPr lang="en-US" sz="1238" b="1" dirty="0">
                <a:solidFill>
                  <a:srgbClr val="FFFFFF"/>
                </a:solidFill>
                <a:latin typeface="Liberation Sans Narrow" pitchFamily="34" charset="0"/>
                <a:ea typeface="Liberation Sans Narrow" pitchFamily="34" charset="-122"/>
                <a:cs typeface="Liberation Sans Narrow" pitchFamily="34" charset="-120"/>
              </a:rPr>
              <a:t>03</a:t>
            </a:r>
            <a:endParaRPr lang="en-US" sz="1238" dirty="0"/>
          </a:p>
        </p:txBody>
      </p:sp>
      <p:sp>
        <p:nvSpPr>
          <p:cNvPr id="23" name="Text 21"/>
          <p:cNvSpPr/>
          <p:nvPr/>
        </p:nvSpPr>
        <p:spPr>
          <a:xfrm>
            <a:off x="1035844" y="3233217"/>
            <a:ext cx="200025" cy="200025"/>
          </a:xfrm>
          <a:prstGeom prst="rect">
            <a:avLst/>
          </a:prstGeom>
          <a:noFill/>
          <a:ln/>
        </p:spPr>
        <p:txBody>
          <a:bodyPr wrap="none" lIns="0" tIns="0" rIns="0" bIns="0" rtlCol="0" anchor="ctr"/>
          <a:lstStyle/>
          <a:p>
            <a:pPr marL="0" indent="0" algn="ctr">
              <a:buNone/>
            </a:pPr>
            <a:r>
              <a:rPr lang="en-US" sz="1969" dirty="0">
                <a:solidFill>
                  <a:srgbClr val="F97316"/>
                </a:solidFill>
                <a:latin typeface="Segoe UI Symbol" pitchFamily="34" charset="0"/>
                <a:ea typeface="Segoe UI Symbol" pitchFamily="34" charset="-122"/>
                <a:cs typeface="Segoe UI Symbol" pitchFamily="34" charset="-120"/>
              </a:rPr>
              <a:t>✿</a:t>
            </a:r>
            <a:endParaRPr lang="en-US" sz="1969" dirty="0"/>
          </a:p>
        </p:txBody>
      </p:sp>
      <p:sp>
        <p:nvSpPr>
          <p:cNvPr id="24" name="Text 22"/>
          <p:cNvSpPr/>
          <p:nvPr/>
        </p:nvSpPr>
        <p:spPr>
          <a:xfrm>
            <a:off x="621506" y="3554685"/>
            <a:ext cx="3838766" cy="195172"/>
          </a:xfrm>
          <a:prstGeom prst="rect">
            <a:avLst/>
          </a:prstGeom>
          <a:noFill/>
          <a:ln/>
        </p:spPr>
        <p:txBody>
          <a:bodyPr wrap="square" lIns="0" tIns="0" rIns="0" bIns="0" rtlCol="0" anchor="t"/>
          <a:lstStyle/>
          <a:p>
            <a:pPr marL="0" indent="0" algn="l">
              <a:lnSpc>
                <a:spcPts val="1423"/>
              </a:lnSpc>
              <a:buNone/>
            </a:pPr>
            <a:r>
              <a:rPr lang="en-US" sz="1238" b="1" dirty="0">
                <a:solidFill>
                  <a:srgbClr val="0F172A"/>
                </a:solidFill>
                <a:latin typeface="Carlito" pitchFamily="34" charset="0"/>
                <a:ea typeface="Carlito" pitchFamily="34" charset="-122"/>
                <a:cs typeface="Carlito" pitchFamily="34" charset="-120"/>
              </a:rPr>
              <a:t>Apply Change-Impact Analysis</a:t>
            </a:r>
            <a:endParaRPr lang="en-US" sz="1238" dirty="0"/>
          </a:p>
        </p:txBody>
      </p:sp>
      <p:sp>
        <p:nvSpPr>
          <p:cNvPr id="25" name="Text 23"/>
          <p:cNvSpPr/>
          <p:nvPr/>
        </p:nvSpPr>
        <p:spPr>
          <a:xfrm>
            <a:off x="621506" y="3792550"/>
            <a:ext cx="3729038" cy="550797"/>
          </a:xfrm>
          <a:prstGeom prst="rect">
            <a:avLst/>
          </a:prstGeom>
          <a:noFill/>
          <a:ln/>
        </p:spPr>
        <p:txBody>
          <a:bodyPr wrap="square" lIns="0" tIns="0" rIns="0" bIns="0" rtlCol="0" anchor="t"/>
          <a:lstStyle/>
          <a:p>
            <a:pPr marL="0" indent="0" algn="l">
              <a:lnSpc>
                <a:spcPts val="1339"/>
              </a:lnSpc>
              <a:buNone/>
            </a:pPr>
            <a:r>
              <a:rPr lang="en-US" sz="956" dirty="0">
                <a:solidFill>
                  <a:srgbClr val="334155"/>
                </a:solidFill>
                <a:latin typeface="Carlito" pitchFamily="34" charset="0"/>
                <a:ea typeface="Carlito" pitchFamily="34" charset="-122"/>
                <a:cs typeface="Carlito" pitchFamily="34" charset="-120"/>
              </a:rPr>
              <a:t>Use the dependency graph (from Topic 1.1) to expand the changed files into an impact set. Any test that touches ANY file in the impact set is a candidate.</a:t>
            </a:r>
            <a:endParaRPr lang="en-US" sz="956" dirty="0"/>
          </a:p>
        </p:txBody>
      </p:sp>
      <p:sp>
        <p:nvSpPr>
          <p:cNvPr id="26" name="Text 24"/>
          <p:cNvSpPr/>
          <p:nvPr/>
        </p:nvSpPr>
        <p:spPr>
          <a:xfrm>
            <a:off x="4632722" y="3036763"/>
            <a:ext cx="4050506" cy="1645965"/>
          </a:xfrm>
          <a:prstGeom prst="roundRect">
            <a:avLst>
              <a:gd name="adj" fmla="val 8102"/>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27" name="Text 25"/>
          <p:cNvSpPr/>
          <p:nvPr/>
        </p:nvSpPr>
        <p:spPr>
          <a:xfrm>
            <a:off x="7639569" y="4107656"/>
            <a:ext cx="1165774" cy="442913"/>
          </a:xfrm>
          <a:prstGeom prst="rect">
            <a:avLst/>
          </a:prstGeom>
          <a:noFill/>
          <a:ln/>
        </p:spPr>
        <p:txBody>
          <a:bodyPr wrap="square" lIns="0" tIns="0" rIns="0" bIns="0" rtlCol="0" anchor="t"/>
          <a:lstStyle/>
          <a:p>
            <a:pPr marL="0" indent="0" algn="l">
              <a:lnSpc>
                <a:spcPts val="5063"/>
              </a:lnSpc>
              <a:buNone/>
            </a:pPr>
            <a:r>
              <a:rPr lang="en-US" sz="5063" b="1" dirty="0">
                <a:solidFill>
                  <a:srgbClr val="F97316">
                    <a:alpha val="7000"/>
                  </a:srgbClr>
                </a:solidFill>
                <a:latin typeface="Liberation Sans Narrow" pitchFamily="34" charset="0"/>
                <a:ea typeface="Liberation Sans Narrow" pitchFamily="34" charset="-122"/>
                <a:cs typeface="Liberation Sans Narrow" pitchFamily="34" charset="-120"/>
              </a:rPr>
              <a:t>04</a:t>
            </a:r>
            <a:endParaRPr lang="en-US" sz="5063" dirty="0"/>
          </a:p>
        </p:txBody>
      </p:sp>
      <p:sp>
        <p:nvSpPr>
          <p:cNvPr id="28" name="Text 26"/>
          <p:cNvSpPr/>
          <p:nvPr/>
        </p:nvSpPr>
        <p:spPr>
          <a:xfrm>
            <a:off x="4793456" y="3168923"/>
            <a:ext cx="328613" cy="328613"/>
          </a:xfrm>
          <a:prstGeom prst="roundRect">
            <a:avLst>
              <a:gd name="adj" fmla="val 34783"/>
            </a:avLst>
          </a:prstGeom>
          <a:solidFill>
            <a:srgbClr val="F97316"/>
          </a:solidFill>
          <a:ln/>
        </p:spPr>
        <p:txBody>
          <a:bodyPr wrap="square" rtlCol="0" anchor="ctr"/>
          <a:lstStyle/>
          <a:p>
            <a:pPr marL="0" indent="0">
              <a:buNone/>
            </a:pPr>
            <a:endParaRPr lang="en-US" dirty="0"/>
          </a:p>
        </p:txBody>
      </p:sp>
      <p:sp>
        <p:nvSpPr>
          <p:cNvPr id="29" name="Text 27"/>
          <p:cNvSpPr/>
          <p:nvPr/>
        </p:nvSpPr>
        <p:spPr>
          <a:xfrm>
            <a:off x="4793456" y="3168923"/>
            <a:ext cx="371475" cy="328613"/>
          </a:xfrm>
          <a:prstGeom prst="rect">
            <a:avLst/>
          </a:prstGeom>
          <a:noFill/>
          <a:ln/>
        </p:spPr>
        <p:txBody>
          <a:bodyPr wrap="none" lIns="0" tIns="0" rIns="0" bIns="0" rtlCol="0" anchor="ctr"/>
          <a:lstStyle/>
          <a:p>
            <a:pPr marL="0" indent="0" algn="ctr">
              <a:lnSpc>
                <a:spcPts val="1733"/>
              </a:lnSpc>
              <a:buNone/>
            </a:pPr>
            <a:r>
              <a:rPr lang="en-US" sz="1238" b="1" dirty="0">
                <a:solidFill>
                  <a:srgbClr val="FFFFFF"/>
                </a:solidFill>
                <a:latin typeface="Liberation Sans Narrow" pitchFamily="34" charset="0"/>
                <a:ea typeface="Liberation Sans Narrow" pitchFamily="34" charset="-122"/>
                <a:cs typeface="Liberation Sans Narrow" pitchFamily="34" charset="-120"/>
              </a:rPr>
              <a:t>04</a:t>
            </a:r>
            <a:endParaRPr lang="en-US" sz="1238" dirty="0"/>
          </a:p>
        </p:txBody>
      </p:sp>
      <p:sp>
        <p:nvSpPr>
          <p:cNvPr id="30" name="Text 28"/>
          <p:cNvSpPr/>
          <p:nvPr/>
        </p:nvSpPr>
        <p:spPr>
          <a:xfrm>
            <a:off x="5207794" y="3233217"/>
            <a:ext cx="200025" cy="200025"/>
          </a:xfrm>
          <a:prstGeom prst="rect">
            <a:avLst/>
          </a:prstGeom>
          <a:noFill/>
          <a:ln/>
        </p:spPr>
        <p:txBody>
          <a:bodyPr wrap="none" lIns="0" tIns="0" rIns="0" bIns="0" rtlCol="0" anchor="ctr"/>
          <a:lstStyle/>
          <a:p>
            <a:pPr marL="0" indent="0" algn="ctr">
              <a:buNone/>
            </a:pPr>
            <a:r>
              <a:rPr lang="en-US" sz="1969" dirty="0">
                <a:solidFill>
                  <a:srgbClr val="F97316"/>
                </a:solidFill>
                <a:latin typeface="Segoe UI Symbol" pitchFamily="34" charset="0"/>
                <a:ea typeface="Segoe UI Symbol" pitchFamily="34" charset="-122"/>
                <a:cs typeface="Segoe UI Symbol" pitchFamily="34" charset="-120"/>
              </a:rPr>
              <a:t>✦</a:t>
            </a:r>
            <a:endParaRPr lang="en-US" sz="1969" dirty="0"/>
          </a:p>
        </p:txBody>
      </p:sp>
      <p:sp>
        <p:nvSpPr>
          <p:cNvPr id="31" name="Text 29"/>
          <p:cNvSpPr/>
          <p:nvPr/>
        </p:nvSpPr>
        <p:spPr>
          <a:xfrm>
            <a:off x="4793456" y="3554685"/>
            <a:ext cx="3838765" cy="195172"/>
          </a:xfrm>
          <a:prstGeom prst="rect">
            <a:avLst/>
          </a:prstGeom>
          <a:noFill/>
          <a:ln/>
        </p:spPr>
        <p:txBody>
          <a:bodyPr wrap="square" lIns="0" tIns="0" rIns="0" bIns="0" rtlCol="0" anchor="t"/>
          <a:lstStyle/>
          <a:p>
            <a:pPr marL="0" indent="0" algn="l">
              <a:lnSpc>
                <a:spcPts val="1423"/>
              </a:lnSpc>
              <a:buNone/>
            </a:pPr>
            <a:r>
              <a:rPr lang="en-US" sz="1238" b="1" dirty="0">
                <a:solidFill>
                  <a:srgbClr val="0F172A"/>
                </a:solidFill>
                <a:latin typeface="Carlito" pitchFamily="34" charset="0"/>
                <a:ea typeface="Carlito" pitchFamily="34" charset="-122"/>
                <a:cs typeface="Carlito" pitchFamily="34" charset="-120"/>
              </a:rPr>
              <a:t>AI Adds Semantic + Flaky Tests</a:t>
            </a:r>
            <a:endParaRPr lang="en-US" sz="1238" dirty="0"/>
          </a:p>
        </p:txBody>
      </p:sp>
      <p:sp>
        <p:nvSpPr>
          <p:cNvPr id="32" name="Text 30"/>
          <p:cNvSpPr/>
          <p:nvPr/>
        </p:nvSpPr>
        <p:spPr>
          <a:xfrm>
            <a:off x="4793456" y="3792550"/>
            <a:ext cx="3729038" cy="550797"/>
          </a:xfrm>
          <a:prstGeom prst="rect">
            <a:avLst/>
          </a:prstGeom>
          <a:noFill/>
          <a:ln/>
        </p:spPr>
        <p:txBody>
          <a:bodyPr wrap="square" lIns="0" tIns="0" rIns="0" bIns="0" rtlCol="0" anchor="t"/>
          <a:lstStyle/>
          <a:p>
            <a:pPr marL="0" indent="0" algn="l">
              <a:lnSpc>
                <a:spcPts val="1339"/>
              </a:lnSpc>
              <a:buNone/>
            </a:pPr>
            <a:r>
              <a:rPr lang="en-US" sz="956" dirty="0">
                <a:solidFill>
                  <a:srgbClr val="334155"/>
                </a:solidFill>
                <a:latin typeface="Carlito" pitchFamily="34" charset="0"/>
                <a:ea typeface="Carlito" pitchFamily="34" charset="-122"/>
                <a:cs typeface="Carlito" pitchFamily="34" charset="-120"/>
              </a:rPr>
              <a:t>Embeddings flag tests that are semantically related to the change. ML models trained on flake history also add tests that are PRONE to flake when this code area is touched.</a:t>
            </a:r>
            <a:endParaRPr lang="en-US" sz="956"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8636000" cy="388776"/>
          </a:xfrm>
          <a:prstGeom prst="rect">
            <a:avLst/>
          </a:prstGeom>
          <a:noFill/>
          <a:ln/>
        </p:spPr>
        <p:txBody>
          <a:bodyPr wrap="square" lIns="0" tIns="0" rIns="0" bIns="0" rtlCol="0" anchor="t"/>
          <a:lstStyle/>
          <a:p>
            <a:pPr marL="0" indent="0" algn="l">
              <a:lnSpc>
                <a:spcPts val="2835"/>
              </a:lnSpc>
              <a:buNone/>
            </a:pPr>
            <a:r>
              <a:rPr lang="en-US" sz="2025" b="1" dirty="0">
                <a:solidFill>
                  <a:srgbClr val="0F172A"/>
                </a:solidFill>
                <a:latin typeface="Carlito" pitchFamily="34" charset="0"/>
                <a:ea typeface="Carlito" pitchFamily="34" charset="-122"/>
                <a:cs typeface="Carlito" pitchFamily="34" charset="-120"/>
              </a:rPr>
              <a:t>How AI Selects Tests — Model Overview</a:t>
            </a:r>
            <a:endParaRPr lang="en-US" sz="2025" dirty="0"/>
          </a:p>
        </p:txBody>
      </p:sp>
      <p:sp>
        <p:nvSpPr>
          <p:cNvPr id="3" name="Text 1"/>
          <p:cNvSpPr/>
          <p:nvPr/>
        </p:nvSpPr>
        <p:spPr>
          <a:xfrm>
            <a:off x="457200" y="874328"/>
            <a:ext cx="571500" cy="42863"/>
          </a:xfrm>
          <a:prstGeom prst="roundRect">
            <a:avLst>
              <a:gd name="adj" fmla="val 66666"/>
            </a:avLst>
          </a:prstGeom>
          <a:solidFill>
            <a:srgbClr val="F97316"/>
          </a:solidFill>
          <a:ln/>
        </p:spPr>
        <p:txBody>
          <a:bodyPr wrap="square" rtlCol="0" anchor="ctr"/>
          <a:lstStyle/>
          <a:p>
            <a:pPr marL="0" indent="0">
              <a:buNone/>
            </a:pPr>
            <a:endParaRPr lang="en-US" dirty="0"/>
          </a:p>
        </p:txBody>
      </p:sp>
      <p:sp>
        <p:nvSpPr>
          <p:cNvPr id="4" name="Text 2"/>
          <p:cNvSpPr/>
          <p:nvPr/>
        </p:nvSpPr>
        <p:spPr>
          <a:xfrm>
            <a:off x="457200" y="1002916"/>
            <a:ext cx="4740994" cy="911386"/>
          </a:xfrm>
          <a:prstGeom prst="roundRect">
            <a:avLst>
              <a:gd name="adj" fmla="val 8361"/>
            </a:avLst>
          </a:prstGeom>
          <a:solidFill>
            <a:srgbClr val="F8FAFC"/>
          </a:solidFill>
          <a:ln/>
        </p:spPr>
        <p:txBody>
          <a:bodyPr wrap="square" rtlCol="0" anchor="ctr"/>
          <a:lstStyle/>
          <a:p>
            <a:pPr marL="0" indent="0">
              <a:buNone/>
            </a:pPr>
            <a:endParaRPr lang="en-US" dirty="0"/>
          </a:p>
        </p:txBody>
      </p:sp>
      <p:sp>
        <p:nvSpPr>
          <p:cNvPr id="5" name="Shape 3"/>
          <p:cNvSpPr/>
          <p:nvPr/>
        </p:nvSpPr>
        <p:spPr>
          <a:xfrm>
            <a:off x="457200" y="1006487"/>
            <a:ext cx="4740994" cy="0"/>
          </a:xfrm>
          <a:prstGeom prst="line">
            <a:avLst/>
          </a:prstGeom>
          <a:noFill/>
          <a:ln w="7144">
            <a:solidFill>
              <a:srgbClr val="CBD5E1"/>
            </a:solidFill>
            <a:prstDash val="solid"/>
          </a:ln>
        </p:spPr>
      </p:sp>
      <p:sp>
        <p:nvSpPr>
          <p:cNvPr id="6" name="Shape 4"/>
          <p:cNvSpPr/>
          <p:nvPr/>
        </p:nvSpPr>
        <p:spPr>
          <a:xfrm>
            <a:off x="5194622" y="1002916"/>
            <a:ext cx="0" cy="911386"/>
          </a:xfrm>
          <a:prstGeom prst="line">
            <a:avLst/>
          </a:prstGeom>
          <a:noFill/>
          <a:ln w="7144">
            <a:solidFill>
              <a:srgbClr val="CBD5E1"/>
            </a:solidFill>
            <a:prstDash val="solid"/>
          </a:ln>
        </p:spPr>
      </p:sp>
      <p:sp>
        <p:nvSpPr>
          <p:cNvPr id="7" name="Shape 5"/>
          <p:cNvSpPr/>
          <p:nvPr/>
        </p:nvSpPr>
        <p:spPr>
          <a:xfrm>
            <a:off x="457200" y="1910730"/>
            <a:ext cx="4740994" cy="0"/>
          </a:xfrm>
          <a:prstGeom prst="line">
            <a:avLst/>
          </a:prstGeom>
          <a:noFill/>
          <a:ln w="7144">
            <a:solidFill>
              <a:srgbClr val="CBD5E1"/>
            </a:solidFill>
            <a:prstDash val="solid"/>
          </a:ln>
        </p:spPr>
      </p:sp>
      <p:sp>
        <p:nvSpPr>
          <p:cNvPr id="8" name="Shape 6"/>
          <p:cNvSpPr/>
          <p:nvPr/>
        </p:nvSpPr>
        <p:spPr>
          <a:xfrm>
            <a:off x="475059" y="1002916"/>
            <a:ext cx="0" cy="911386"/>
          </a:xfrm>
          <a:prstGeom prst="line">
            <a:avLst/>
          </a:prstGeom>
          <a:noFill/>
          <a:ln w="35719">
            <a:solidFill>
              <a:srgbClr val="F97316"/>
            </a:solidFill>
            <a:prstDash val="solid"/>
          </a:ln>
        </p:spPr>
      </p:sp>
      <p:sp>
        <p:nvSpPr>
          <p:cNvPr id="9" name="Text 7"/>
          <p:cNvSpPr/>
          <p:nvPr/>
        </p:nvSpPr>
        <p:spPr>
          <a:xfrm>
            <a:off x="621506" y="1110072"/>
            <a:ext cx="4440957" cy="158306"/>
          </a:xfrm>
          <a:prstGeom prst="rect">
            <a:avLst/>
          </a:prstGeom>
          <a:noFill/>
          <a:ln/>
        </p:spPr>
        <p:txBody>
          <a:bodyPr wrap="none" lIns="0" tIns="0" rIns="0" bIns="0" rtlCol="0" anchor="t">
            <a:normAutofit/>
          </a:bodyPr>
          <a:lstStyle/>
          <a:p>
            <a:pPr marL="0" indent="0" algn="l">
              <a:lnSpc>
                <a:spcPts val="1238"/>
              </a:lnSpc>
              <a:buNone/>
            </a:pPr>
            <a:r>
              <a:rPr lang="en-US" sz="1238" b="1" dirty="0">
                <a:solidFill>
                  <a:srgbClr val="F97316"/>
                </a:solidFill>
                <a:latin typeface="Liberation Sans Narrow" pitchFamily="34" charset="0"/>
                <a:ea typeface="Liberation Sans Narrow" pitchFamily="34" charset="-122"/>
                <a:cs typeface="Liberation Sans Narrow" pitchFamily="34" charset="-120"/>
              </a:rPr>
              <a:t>01</a:t>
            </a:r>
            <a:endParaRPr lang="en-US" sz="1238" dirty="0"/>
          </a:p>
        </p:txBody>
      </p:sp>
      <p:sp>
        <p:nvSpPr>
          <p:cNvPr id="10" name="Text 8"/>
          <p:cNvSpPr/>
          <p:nvPr/>
        </p:nvSpPr>
        <p:spPr>
          <a:xfrm>
            <a:off x="1550863" y="1309874"/>
            <a:ext cx="705334" cy="142875"/>
          </a:xfrm>
          <a:prstGeom prst="roundRect">
            <a:avLst>
              <a:gd name="adj" fmla="val 26667"/>
            </a:avLst>
          </a:prstGeom>
          <a:solidFill>
            <a:srgbClr val="DBEAFE"/>
          </a:solidFill>
          <a:ln/>
        </p:spPr>
        <p:txBody>
          <a:bodyPr wrap="square" rtlCol="0" anchor="ctr"/>
          <a:lstStyle/>
          <a:p>
            <a:pPr marL="0" indent="0">
              <a:buNone/>
            </a:pPr>
            <a:endParaRPr lang="en-US" dirty="0"/>
          </a:p>
        </p:txBody>
      </p:sp>
      <p:sp>
        <p:nvSpPr>
          <p:cNvPr id="11" name="Text 9"/>
          <p:cNvSpPr/>
          <p:nvPr/>
        </p:nvSpPr>
        <p:spPr>
          <a:xfrm>
            <a:off x="621506" y="1295809"/>
            <a:ext cx="4550685" cy="163998"/>
          </a:xfrm>
          <a:prstGeom prst="rect">
            <a:avLst/>
          </a:prstGeom>
          <a:noFill/>
          <a:ln/>
        </p:spPr>
        <p:txBody>
          <a:bodyPr wrap="square" lIns="0" tIns="0" rIns="0" bIns="0" rtlCol="0" anchor="t">
            <a:normAutofit/>
          </a:bodyPr>
          <a:lstStyle/>
          <a:p>
            <a:pPr marL="0" indent="0" algn="l">
              <a:lnSpc>
                <a:spcPts val="1283"/>
              </a:lnSpc>
              <a:buNone/>
            </a:pPr>
            <a:r>
              <a:rPr lang="en-US" sz="1069" b="1" dirty="0">
                <a:solidFill>
                  <a:srgbClr val="0F172A"/>
                </a:solidFill>
                <a:latin typeface="Carlito" pitchFamily="34" charset="0"/>
                <a:ea typeface="Carlito" pitchFamily="34" charset="-122"/>
                <a:cs typeface="Carlito" pitchFamily="34" charset="-120"/>
              </a:rPr>
              <a:t>Coverage Map </a:t>
            </a:r>
            <a:r>
              <a:rPr lang="en-US" sz="800" b="1" dirty="0">
                <a:solidFill>
                  <a:srgbClr val="1E40AF"/>
                </a:solidFill>
                <a:highlight>
                  <a:srgbClr val="DBEAFE"/>
                </a:highlight>
                <a:latin typeface="Carlito" pitchFamily="34" charset="0"/>
                <a:ea typeface="Carlito" pitchFamily="34" charset="-122"/>
                <a:cs typeface="Carlito" pitchFamily="34" charset="-120"/>
              </a:rPr>
              <a:t>DETERMINISTIC</a:t>
            </a:r>
            <a:endParaRPr lang="en-US" sz="1069" dirty="0"/>
          </a:p>
        </p:txBody>
      </p:sp>
      <p:sp>
        <p:nvSpPr>
          <p:cNvPr id="12" name="Text 10"/>
          <p:cNvSpPr/>
          <p:nvPr/>
        </p:nvSpPr>
        <p:spPr>
          <a:xfrm>
            <a:off x="621506" y="1487239"/>
            <a:ext cx="4440957" cy="319906"/>
          </a:xfrm>
          <a:prstGeom prst="rect">
            <a:avLst/>
          </a:prstGeom>
          <a:noFill/>
          <a:ln/>
        </p:spPr>
        <p:txBody>
          <a:bodyPr wrap="square" lIns="0" tIns="0" rIns="0" bIns="0" rtlCol="0" anchor="t"/>
          <a:lstStyle/>
          <a:p>
            <a:pPr marL="0" indent="0" algn="l">
              <a:lnSpc>
                <a:spcPts val="1260"/>
              </a:lnSpc>
              <a:buNone/>
            </a:pPr>
            <a:r>
              <a:rPr lang="en-US" sz="900" dirty="0">
                <a:solidFill>
                  <a:srgbClr val="0F172A"/>
                </a:solidFill>
                <a:latin typeface="Carlito" pitchFamily="34" charset="0"/>
                <a:ea typeface="Carlito" pitchFamily="34" charset="-122"/>
                <a:cs typeface="Carlito" pitchFamily="34" charset="-120"/>
              </a:rPr>
              <a:t>Coverage tools (coverage.py, Jacoco) record which source lines each test executes. This gives a precise test→source mapping that requires no AI.</a:t>
            </a:r>
            <a:endParaRPr lang="en-US" sz="900" dirty="0"/>
          </a:p>
        </p:txBody>
      </p:sp>
      <p:sp>
        <p:nvSpPr>
          <p:cNvPr id="13" name="Text 11"/>
          <p:cNvSpPr/>
          <p:nvPr/>
        </p:nvSpPr>
        <p:spPr>
          <a:xfrm>
            <a:off x="457200" y="2000027"/>
            <a:ext cx="4740994" cy="1071339"/>
          </a:xfrm>
          <a:prstGeom prst="roundRect">
            <a:avLst>
              <a:gd name="adj" fmla="val 7113"/>
            </a:avLst>
          </a:prstGeom>
          <a:solidFill>
            <a:srgbClr val="F8FAFC"/>
          </a:solidFill>
          <a:ln/>
        </p:spPr>
        <p:txBody>
          <a:bodyPr wrap="square" rtlCol="0" anchor="ctr"/>
          <a:lstStyle/>
          <a:p>
            <a:pPr marL="0" indent="0">
              <a:buNone/>
            </a:pPr>
            <a:endParaRPr lang="en-US" dirty="0"/>
          </a:p>
        </p:txBody>
      </p:sp>
      <p:sp>
        <p:nvSpPr>
          <p:cNvPr id="14" name="Shape 12"/>
          <p:cNvSpPr/>
          <p:nvPr/>
        </p:nvSpPr>
        <p:spPr>
          <a:xfrm>
            <a:off x="457200" y="2003599"/>
            <a:ext cx="4740994" cy="0"/>
          </a:xfrm>
          <a:prstGeom prst="line">
            <a:avLst/>
          </a:prstGeom>
          <a:noFill/>
          <a:ln w="7144">
            <a:solidFill>
              <a:srgbClr val="CBD5E1"/>
            </a:solidFill>
            <a:prstDash val="solid"/>
          </a:ln>
        </p:spPr>
      </p:sp>
      <p:sp>
        <p:nvSpPr>
          <p:cNvPr id="15" name="Shape 13"/>
          <p:cNvSpPr/>
          <p:nvPr/>
        </p:nvSpPr>
        <p:spPr>
          <a:xfrm>
            <a:off x="5194622" y="2000027"/>
            <a:ext cx="0" cy="1071339"/>
          </a:xfrm>
          <a:prstGeom prst="line">
            <a:avLst/>
          </a:prstGeom>
          <a:noFill/>
          <a:ln w="7144">
            <a:solidFill>
              <a:srgbClr val="CBD5E1"/>
            </a:solidFill>
            <a:prstDash val="solid"/>
          </a:ln>
        </p:spPr>
      </p:sp>
      <p:sp>
        <p:nvSpPr>
          <p:cNvPr id="16" name="Shape 14"/>
          <p:cNvSpPr/>
          <p:nvPr/>
        </p:nvSpPr>
        <p:spPr>
          <a:xfrm>
            <a:off x="457200" y="3067794"/>
            <a:ext cx="4740994" cy="0"/>
          </a:xfrm>
          <a:prstGeom prst="line">
            <a:avLst/>
          </a:prstGeom>
          <a:noFill/>
          <a:ln w="7144">
            <a:solidFill>
              <a:srgbClr val="CBD5E1"/>
            </a:solidFill>
            <a:prstDash val="solid"/>
          </a:ln>
        </p:spPr>
      </p:sp>
      <p:sp>
        <p:nvSpPr>
          <p:cNvPr id="17" name="Shape 15"/>
          <p:cNvSpPr/>
          <p:nvPr/>
        </p:nvSpPr>
        <p:spPr>
          <a:xfrm>
            <a:off x="475059" y="2000027"/>
            <a:ext cx="0" cy="1071339"/>
          </a:xfrm>
          <a:prstGeom prst="line">
            <a:avLst/>
          </a:prstGeom>
          <a:noFill/>
          <a:ln w="35719">
            <a:solidFill>
              <a:srgbClr val="F97316"/>
            </a:solidFill>
            <a:prstDash val="solid"/>
          </a:ln>
        </p:spPr>
      </p:sp>
      <p:sp>
        <p:nvSpPr>
          <p:cNvPr id="18" name="Text 16"/>
          <p:cNvSpPr/>
          <p:nvPr/>
        </p:nvSpPr>
        <p:spPr>
          <a:xfrm>
            <a:off x="621506" y="2107183"/>
            <a:ext cx="4440957" cy="158306"/>
          </a:xfrm>
          <a:prstGeom prst="rect">
            <a:avLst/>
          </a:prstGeom>
          <a:noFill/>
          <a:ln/>
        </p:spPr>
        <p:txBody>
          <a:bodyPr wrap="none" lIns="0" tIns="0" rIns="0" bIns="0" rtlCol="0" anchor="t">
            <a:normAutofit/>
          </a:bodyPr>
          <a:lstStyle/>
          <a:p>
            <a:pPr marL="0" indent="0" algn="l">
              <a:lnSpc>
                <a:spcPts val="1238"/>
              </a:lnSpc>
              <a:buNone/>
            </a:pPr>
            <a:r>
              <a:rPr lang="en-US" sz="1238" b="1" dirty="0">
                <a:solidFill>
                  <a:srgbClr val="F97316"/>
                </a:solidFill>
                <a:latin typeface="Liberation Sans Narrow" pitchFamily="34" charset="0"/>
                <a:ea typeface="Liberation Sans Narrow" pitchFamily="34" charset="-122"/>
                <a:cs typeface="Liberation Sans Narrow" pitchFamily="34" charset="-120"/>
              </a:rPr>
              <a:t>02</a:t>
            </a:r>
            <a:endParaRPr lang="en-US" sz="1238" dirty="0"/>
          </a:p>
        </p:txBody>
      </p:sp>
      <p:sp>
        <p:nvSpPr>
          <p:cNvPr id="19" name="Text 17"/>
          <p:cNvSpPr/>
          <p:nvPr/>
        </p:nvSpPr>
        <p:spPr>
          <a:xfrm>
            <a:off x="1941091" y="2306985"/>
            <a:ext cx="508322" cy="142875"/>
          </a:xfrm>
          <a:prstGeom prst="roundRect">
            <a:avLst>
              <a:gd name="adj" fmla="val 26667"/>
            </a:avLst>
          </a:prstGeom>
          <a:solidFill>
            <a:srgbClr val="FEF3C7"/>
          </a:solidFill>
          <a:ln/>
        </p:spPr>
        <p:txBody>
          <a:bodyPr wrap="square" rtlCol="0" anchor="ctr"/>
          <a:lstStyle/>
          <a:p>
            <a:pPr marL="0" indent="0">
              <a:buNone/>
            </a:pPr>
            <a:endParaRPr lang="en-US" dirty="0"/>
          </a:p>
        </p:txBody>
      </p:sp>
      <p:sp>
        <p:nvSpPr>
          <p:cNvPr id="20" name="Text 18"/>
          <p:cNvSpPr/>
          <p:nvPr/>
        </p:nvSpPr>
        <p:spPr>
          <a:xfrm>
            <a:off x="621506" y="2292921"/>
            <a:ext cx="4550685" cy="163998"/>
          </a:xfrm>
          <a:prstGeom prst="rect">
            <a:avLst/>
          </a:prstGeom>
          <a:noFill/>
          <a:ln/>
        </p:spPr>
        <p:txBody>
          <a:bodyPr wrap="square" lIns="0" tIns="0" rIns="0" bIns="0" rtlCol="0" anchor="t">
            <a:normAutofit/>
          </a:bodyPr>
          <a:lstStyle/>
          <a:p>
            <a:pPr marL="0" indent="0" algn="l">
              <a:lnSpc>
                <a:spcPts val="1283"/>
              </a:lnSpc>
              <a:buNone/>
            </a:pPr>
            <a:r>
              <a:rPr lang="en-US" sz="1069" b="1" dirty="0">
                <a:solidFill>
                  <a:srgbClr val="0F172A"/>
                </a:solidFill>
                <a:latin typeface="Carlito" pitchFamily="34" charset="0"/>
                <a:ea typeface="Carlito" pitchFamily="34" charset="-122"/>
                <a:cs typeface="Carlito" pitchFamily="34" charset="-120"/>
              </a:rPr>
              <a:t>Embedding Similarity </a:t>
            </a:r>
            <a:r>
              <a:rPr lang="en-US" sz="800" b="1" dirty="0">
                <a:solidFill>
                  <a:srgbClr val="92400E"/>
                </a:solidFill>
                <a:highlight>
                  <a:srgbClr val="FEF3C7"/>
                </a:highlight>
                <a:latin typeface="Carlito" pitchFamily="34" charset="0"/>
                <a:ea typeface="Carlito" pitchFamily="34" charset="-122"/>
                <a:cs typeface="Carlito" pitchFamily="34" charset="-120"/>
              </a:rPr>
              <a:t>SEMANTIC</a:t>
            </a:r>
            <a:endParaRPr lang="en-US" sz="1069" dirty="0"/>
          </a:p>
        </p:txBody>
      </p:sp>
      <p:sp>
        <p:nvSpPr>
          <p:cNvPr id="21" name="Text 19"/>
          <p:cNvSpPr/>
          <p:nvPr/>
        </p:nvSpPr>
        <p:spPr>
          <a:xfrm>
            <a:off x="621506" y="2484351"/>
            <a:ext cx="4440957" cy="479859"/>
          </a:xfrm>
          <a:prstGeom prst="rect">
            <a:avLst/>
          </a:prstGeom>
          <a:noFill/>
          <a:ln/>
        </p:spPr>
        <p:txBody>
          <a:bodyPr wrap="square" lIns="0" tIns="0" rIns="0" bIns="0" rtlCol="0" anchor="t"/>
          <a:lstStyle/>
          <a:p>
            <a:pPr marL="0" indent="0" algn="l">
              <a:lnSpc>
                <a:spcPts val="1260"/>
              </a:lnSpc>
              <a:buNone/>
            </a:pPr>
            <a:r>
              <a:rPr lang="en-US" sz="900" dirty="0">
                <a:solidFill>
                  <a:srgbClr val="0F172A"/>
                </a:solidFill>
                <a:latin typeface="Carlito" pitchFamily="34" charset="0"/>
                <a:ea typeface="Carlito" pitchFamily="34" charset="-122"/>
                <a:cs typeface="Carlito" pitchFamily="34" charset="-120"/>
              </a:rPr>
              <a:t>Embed every source file and every test file using a code-embedding model (e.g., CodeBERT, UniXcoder). When a source file changes, find tests whose embedding is similar — even if they do not import the file directly.</a:t>
            </a:r>
            <a:endParaRPr lang="en-US" sz="900" dirty="0"/>
          </a:p>
        </p:txBody>
      </p:sp>
      <p:sp>
        <p:nvSpPr>
          <p:cNvPr id="22" name="Text 20"/>
          <p:cNvSpPr/>
          <p:nvPr/>
        </p:nvSpPr>
        <p:spPr>
          <a:xfrm>
            <a:off x="457200" y="3157091"/>
            <a:ext cx="4740994" cy="1071339"/>
          </a:xfrm>
          <a:prstGeom prst="roundRect">
            <a:avLst>
              <a:gd name="adj" fmla="val 7113"/>
            </a:avLst>
          </a:prstGeom>
          <a:solidFill>
            <a:srgbClr val="F8FAFC"/>
          </a:solidFill>
          <a:ln/>
        </p:spPr>
        <p:txBody>
          <a:bodyPr wrap="square" rtlCol="0" anchor="ctr"/>
          <a:lstStyle/>
          <a:p>
            <a:pPr marL="0" indent="0">
              <a:buNone/>
            </a:pPr>
            <a:endParaRPr lang="en-US" dirty="0"/>
          </a:p>
        </p:txBody>
      </p:sp>
      <p:sp>
        <p:nvSpPr>
          <p:cNvPr id="23" name="Shape 21"/>
          <p:cNvSpPr/>
          <p:nvPr/>
        </p:nvSpPr>
        <p:spPr>
          <a:xfrm>
            <a:off x="457200" y="3160663"/>
            <a:ext cx="4740994" cy="0"/>
          </a:xfrm>
          <a:prstGeom prst="line">
            <a:avLst/>
          </a:prstGeom>
          <a:noFill/>
          <a:ln w="7144">
            <a:solidFill>
              <a:srgbClr val="CBD5E1"/>
            </a:solidFill>
            <a:prstDash val="solid"/>
          </a:ln>
        </p:spPr>
      </p:sp>
      <p:sp>
        <p:nvSpPr>
          <p:cNvPr id="24" name="Shape 22"/>
          <p:cNvSpPr/>
          <p:nvPr/>
        </p:nvSpPr>
        <p:spPr>
          <a:xfrm>
            <a:off x="5194622" y="3157091"/>
            <a:ext cx="0" cy="1071339"/>
          </a:xfrm>
          <a:prstGeom prst="line">
            <a:avLst/>
          </a:prstGeom>
          <a:noFill/>
          <a:ln w="7144">
            <a:solidFill>
              <a:srgbClr val="CBD5E1"/>
            </a:solidFill>
            <a:prstDash val="solid"/>
          </a:ln>
        </p:spPr>
      </p:sp>
      <p:sp>
        <p:nvSpPr>
          <p:cNvPr id="25" name="Shape 23"/>
          <p:cNvSpPr/>
          <p:nvPr/>
        </p:nvSpPr>
        <p:spPr>
          <a:xfrm>
            <a:off x="457200" y="4224858"/>
            <a:ext cx="4740994" cy="0"/>
          </a:xfrm>
          <a:prstGeom prst="line">
            <a:avLst/>
          </a:prstGeom>
          <a:noFill/>
          <a:ln w="7144">
            <a:solidFill>
              <a:srgbClr val="CBD5E1"/>
            </a:solidFill>
            <a:prstDash val="solid"/>
          </a:ln>
        </p:spPr>
      </p:sp>
      <p:sp>
        <p:nvSpPr>
          <p:cNvPr id="26" name="Shape 24"/>
          <p:cNvSpPr/>
          <p:nvPr/>
        </p:nvSpPr>
        <p:spPr>
          <a:xfrm>
            <a:off x="475059" y="3157091"/>
            <a:ext cx="0" cy="1071339"/>
          </a:xfrm>
          <a:prstGeom prst="line">
            <a:avLst/>
          </a:prstGeom>
          <a:noFill/>
          <a:ln w="35719">
            <a:solidFill>
              <a:srgbClr val="F97316"/>
            </a:solidFill>
            <a:prstDash val="solid"/>
          </a:ln>
        </p:spPr>
      </p:sp>
      <p:sp>
        <p:nvSpPr>
          <p:cNvPr id="27" name="Text 25"/>
          <p:cNvSpPr/>
          <p:nvPr/>
        </p:nvSpPr>
        <p:spPr>
          <a:xfrm>
            <a:off x="621506" y="3264247"/>
            <a:ext cx="4440957" cy="158306"/>
          </a:xfrm>
          <a:prstGeom prst="rect">
            <a:avLst/>
          </a:prstGeom>
          <a:noFill/>
          <a:ln/>
        </p:spPr>
        <p:txBody>
          <a:bodyPr wrap="none" lIns="0" tIns="0" rIns="0" bIns="0" rtlCol="0" anchor="t">
            <a:normAutofit/>
          </a:bodyPr>
          <a:lstStyle/>
          <a:p>
            <a:pPr marL="0" indent="0" algn="l">
              <a:lnSpc>
                <a:spcPts val="1238"/>
              </a:lnSpc>
              <a:buNone/>
            </a:pPr>
            <a:r>
              <a:rPr lang="en-US" sz="1238" b="1" dirty="0">
                <a:solidFill>
                  <a:srgbClr val="F97316"/>
                </a:solidFill>
                <a:latin typeface="Liberation Sans Narrow" pitchFamily="34" charset="0"/>
                <a:ea typeface="Liberation Sans Narrow" pitchFamily="34" charset="-122"/>
                <a:cs typeface="Liberation Sans Narrow" pitchFamily="34" charset="-120"/>
              </a:rPr>
              <a:t>03</a:t>
            </a:r>
            <a:endParaRPr lang="en-US" sz="1238" dirty="0"/>
          </a:p>
        </p:txBody>
      </p:sp>
      <p:sp>
        <p:nvSpPr>
          <p:cNvPr id="28" name="Text 26"/>
          <p:cNvSpPr/>
          <p:nvPr/>
        </p:nvSpPr>
        <p:spPr>
          <a:xfrm>
            <a:off x="2046796" y="3464049"/>
            <a:ext cx="684684" cy="142875"/>
          </a:xfrm>
          <a:prstGeom prst="roundRect">
            <a:avLst>
              <a:gd name="adj" fmla="val 26667"/>
            </a:avLst>
          </a:prstGeom>
          <a:solidFill>
            <a:srgbClr val="FCE7F3"/>
          </a:solidFill>
          <a:ln/>
        </p:spPr>
        <p:txBody>
          <a:bodyPr wrap="square" rtlCol="0" anchor="ctr"/>
          <a:lstStyle/>
          <a:p>
            <a:pPr marL="0" indent="0">
              <a:buNone/>
            </a:pPr>
            <a:endParaRPr lang="en-US" dirty="0"/>
          </a:p>
        </p:txBody>
      </p:sp>
      <p:sp>
        <p:nvSpPr>
          <p:cNvPr id="29" name="Text 27"/>
          <p:cNvSpPr/>
          <p:nvPr/>
        </p:nvSpPr>
        <p:spPr>
          <a:xfrm>
            <a:off x="621506" y="3449985"/>
            <a:ext cx="4550685" cy="163998"/>
          </a:xfrm>
          <a:prstGeom prst="rect">
            <a:avLst/>
          </a:prstGeom>
          <a:noFill/>
          <a:ln/>
        </p:spPr>
        <p:txBody>
          <a:bodyPr wrap="square" lIns="0" tIns="0" rIns="0" bIns="0" rtlCol="0" anchor="t">
            <a:normAutofit/>
          </a:bodyPr>
          <a:lstStyle/>
          <a:p>
            <a:pPr marL="0" indent="0" algn="l">
              <a:lnSpc>
                <a:spcPts val="1283"/>
              </a:lnSpc>
              <a:buNone/>
            </a:pPr>
            <a:r>
              <a:rPr lang="en-US" sz="1069" b="1" dirty="0">
                <a:solidFill>
                  <a:srgbClr val="0F172A"/>
                </a:solidFill>
                <a:latin typeface="Carlito" pitchFamily="34" charset="0"/>
                <a:ea typeface="Carlito" pitchFamily="34" charset="-122"/>
                <a:cs typeface="Carlito" pitchFamily="34" charset="-120"/>
              </a:rPr>
              <a:t>Flake-Prediction Model </a:t>
            </a:r>
            <a:r>
              <a:rPr lang="en-US" sz="800" b="1" dirty="0">
                <a:solidFill>
                  <a:srgbClr val="9D174D"/>
                </a:solidFill>
                <a:highlight>
                  <a:srgbClr val="FCE7F3"/>
                </a:highlight>
                <a:latin typeface="Carlito" pitchFamily="34" charset="0"/>
                <a:ea typeface="Carlito" pitchFamily="34" charset="-122"/>
                <a:cs typeface="Carlito" pitchFamily="34" charset="-120"/>
              </a:rPr>
              <a:t>PROBABILISTIC</a:t>
            </a:r>
            <a:endParaRPr lang="en-US" sz="1069" dirty="0"/>
          </a:p>
        </p:txBody>
      </p:sp>
      <p:sp>
        <p:nvSpPr>
          <p:cNvPr id="30" name="Text 28"/>
          <p:cNvSpPr/>
          <p:nvPr/>
        </p:nvSpPr>
        <p:spPr>
          <a:xfrm>
            <a:off x="621506" y="3641415"/>
            <a:ext cx="4440957" cy="479859"/>
          </a:xfrm>
          <a:prstGeom prst="rect">
            <a:avLst/>
          </a:prstGeom>
          <a:noFill/>
          <a:ln/>
        </p:spPr>
        <p:txBody>
          <a:bodyPr wrap="square" lIns="0" tIns="0" rIns="0" bIns="0" rtlCol="0" anchor="t"/>
          <a:lstStyle/>
          <a:p>
            <a:pPr marL="0" indent="0" algn="l">
              <a:lnSpc>
                <a:spcPts val="1260"/>
              </a:lnSpc>
              <a:buNone/>
            </a:pPr>
            <a:r>
              <a:rPr lang="en-US" sz="900" dirty="0">
                <a:solidFill>
                  <a:srgbClr val="0F172A"/>
                </a:solidFill>
                <a:latin typeface="Carlito" pitchFamily="34" charset="0"/>
                <a:ea typeface="Carlito" pitchFamily="34" charset="-122"/>
                <a:cs typeface="Carlito" pitchFamily="34" charset="-120"/>
              </a:rPr>
              <a:t>Train a gradient-boosted tree on historical flake data: features = (file changed, day of week, recent test pass rate, PR author). Predicts P(test X flakes on this PR). Add high-probability flaky tests to the selected set.</a:t>
            </a:r>
            <a:endParaRPr lang="en-US" sz="900" dirty="0"/>
          </a:p>
        </p:txBody>
      </p:sp>
      <p:sp>
        <p:nvSpPr>
          <p:cNvPr id="31" name="Text 29"/>
          <p:cNvSpPr/>
          <p:nvPr/>
        </p:nvSpPr>
        <p:spPr>
          <a:xfrm>
            <a:off x="5341069" y="1002916"/>
            <a:ext cx="3345619" cy="3683384"/>
          </a:xfrm>
          <a:prstGeom prst="roundRect">
            <a:avLst>
              <a:gd name="adj" fmla="val 3986"/>
            </a:avLst>
          </a:prstGeom>
          <a:solidFill>
            <a:srgbClr val="0F172A"/>
          </a:solidFill>
          <a:ln/>
        </p:spPr>
        <p:txBody>
          <a:bodyPr wrap="square" rtlCol="0" anchor="ctr"/>
          <a:lstStyle/>
          <a:p>
            <a:pPr marL="0" indent="0">
              <a:buNone/>
            </a:pPr>
            <a:endParaRPr lang="en-US" dirty="0"/>
          </a:p>
        </p:txBody>
      </p:sp>
      <p:sp>
        <p:nvSpPr>
          <p:cNvPr id="32" name="Text 30"/>
          <p:cNvSpPr/>
          <p:nvPr/>
        </p:nvSpPr>
        <p:spPr>
          <a:xfrm>
            <a:off x="5498232" y="1174366"/>
            <a:ext cx="3141022" cy="181023"/>
          </a:xfrm>
          <a:prstGeom prst="rect">
            <a:avLst/>
          </a:prstGeom>
          <a:noFill/>
          <a:ln/>
        </p:spPr>
        <p:txBody>
          <a:bodyPr wrap="square" lIns="0" tIns="0" rIns="0" bIns="0" rtlCol="0" anchor="t"/>
          <a:lstStyle/>
          <a:p>
            <a:pPr marL="0" indent="0" algn="l">
              <a:lnSpc>
                <a:spcPts val="1114"/>
              </a:lnSpc>
              <a:buNone/>
            </a:pPr>
            <a:r>
              <a:rPr lang="en-US" sz="800" kern="0" spc="84" dirty="0">
                <a:solidFill>
                  <a:srgbClr val="94A3B8"/>
                </a:solidFill>
                <a:latin typeface="Courier New" pitchFamily="34" charset="0"/>
                <a:ea typeface="Courier New" pitchFamily="34" charset="-122"/>
                <a:cs typeface="Courier New" pitchFamily="34" charset="-120"/>
              </a:rPr>
              <a:t>// TEST SELECTION FUNCTION</a:t>
            </a:r>
            <a:endParaRPr lang="en-US" sz="800" dirty="0"/>
          </a:p>
        </p:txBody>
      </p:sp>
      <p:sp>
        <p:nvSpPr>
          <p:cNvPr id="33" name="Text 31"/>
          <p:cNvSpPr/>
          <p:nvPr/>
        </p:nvSpPr>
        <p:spPr>
          <a:xfrm>
            <a:off x="5498232" y="1422946"/>
            <a:ext cx="1205636" cy="169736"/>
          </a:xfrm>
          <a:prstGeom prst="rect">
            <a:avLst/>
          </a:prstGeom>
          <a:noFill/>
          <a:ln/>
        </p:spPr>
        <p:txBody>
          <a:bodyPr wrap="none" lIns="0" tIns="0" rIns="0" bIns="0" rtlCol="0" anchor="t"/>
          <a:lstStyle/>
          <a:p>
            <a:pPr marL="0" indent="0" algn="l">
              <a:lnSpc>
                <a:spcPts val="1671"/>
              </a:lnSpc>
              <a:buNone/>
            </a:pPr>
            <a:r>
              <a:rPr lang="en-US" sz="1013" b="1" dirty="0">
                <a:solidFill>
                  <a:srgbClr val="F97316"/>
                </a:solidFill>
                <a:latin typeface="Courier New" pitchFamily="34" charset="0"/>
                <a:ea typeface="Courier New" pitchFamily="34" charset="-122"/>
                <a:cs typeface="Courier New" pitchFamily="34" charset="-120"/>
              </a:rPr>
              <a:t>Selected Tests =</a:t>
            </a:r>
            <a:endParaRPr lang="en-US" sz="1013" dirty="0"/>
          </a:p>
        </p:txBody>
      </p:sp>
      <p:sp>
        <p:nvSpPr>
          <p:cNvPr id="34" name="Text 32"/>
          <p:cNvSpPr/>
          <p:nvPr/>
        </p:nvSpPr>
        <p:spPr>
          <a:xfrm>
            <a:off x="5669682" y="1635026"/>
            <a:ext cx="1272616" cy="154305"/>
          </a:xfrm>
          <a:prstGeom prst="rect">
            <a:avLst/>
          </a:prstGeom>
          <a:noFill/>
          <a:ln/>
        </p:spPr>
        <p:txBody>
          <a:bodyPr wrap="none" lIns="0" tIns="0" rIns="0" bIns="0" rtlCol="0" anchor="t"/>
          <a:lstStyle/>
          <a:p>
            <a:pPr marL="0" indent="0" algn="l">
              <a:lnSpc>
                <a:spcPts val="1485"/>
              </a:lnSpc>
              <a:buNone/>
            </a:pPr>
            <a:r>
              <a:rPr lang="en-US" sz="900" dirty="0">
                <a:solidFill>
                  <a:srgbClr val="93C5FD"/>
                </a:solidFill>
                <a:latin typeface="Courier New" pitchFamily="34" charset="0"/>
                <a:ea typeface="Courier New" pitchFamily="34" charset="-122"/>
                <a:cs typeface="Courier New" pitchFamily="34" charset="-120"/>
              </a:rPr>
              <a:t>CoverageMap(change)</a:t>
            </a:r>
            <a:endParaRPr lang="en-US" sz="900" dirty="0"/>
          </a:p>
        </p:txBody>
      </p:sp>
      <p:sp>
        <p:nvSpPr>
          <p:cNvPr id="35" name="Text 33"/>
          <p:cNvSpPr/>
          <p:nvPr/>
        </p:nvSpPr>
        <p:spPr>
          <a:xfrm>
            <a:off x="7098432" y="1635026"/>
            <a:ext cx="1038987" cy="154305"/>
          </a:xfrm>
          <a:prstGeom prst="rect">
            <a:avLst/>
          </a:prstGeom>
          <a:noFill/>
          <a:ln/>
        </p:spPr>
        <p:txBody>
          <a:bodyPr wrap="none" lIns="0" tIns="0" rIns="0" bIns="0" rtlCol="0" anchor="t"/>
          <a:lstStyle/>
          <a:p>
            <a:pPr marL="0" indent="0" algn="l">
              <a:lnSpc>
                <a:spcPts val="1485"/>
              </a:lnSpc>
              <a:buNone/>
            </a:pPr>
            <a:r>
              <a:rPr lang="en-US" sz="900" i="1" dirty="0">
                <a:solidFill>
                  <a:srgbClr val="94A3B8"/>
                </a:solidFill>
                <a:latin typeface="Courier New" pitchFamily="34" charset="0"/>
                <a:ea typeface="Courier New" pitchFamily="34" charset="-122"/>
                <a:cs typeface="Courier New" pitchFamily="34" charset="-120"/>
              </a:rPr>
              <a:t># deterministic</a:t>
            </a:r>
            <a:endParaRPr lang="en-US" sz="900" dirty="0"/>
          </a:p>
        </p:txBody>
      </p:sp>
      <p:sp>
        <p:nvSpPr>
          <p:cNvPr id="36" name="Text 34"/>
          <p:cNvSpPr/>
          <p:nvPr/>
        </p:nvSpPr>
        <p:spPr>
          <a:xfrm>
            <a:off x="5498232" y="1802123"/>
            <a:ext cx="3141022" cy="161096"/>
          </a:xfrm>
          <a:prstGeom prst="rect">
            <a:avLst/>
          </a:prstGeom>
          <a:noFill/>
          <a:ln/>
        </p:spPr>
        <p:txBody>
          <a:bodyPr wrap="square" lIns="0" tIns="0" rIns="0" bIns="0" rtlCol="0" anchor="t">
            <a:normAutofit fontScale="47500" lnSpcReduction="20000"/>
          </a:bodyPr>
          <a:lstStyle/>
          <a:p>
            <a:pPr marL="0" indent="0" algn="l">
              <a:lnSpc>
                <a:spcPts val="1485"/>
              </a:lnSpc>
              <a:buNone/>
            </a:pPr>
            <a:r>
              <a:rPr lang="en-US" sz="900" dirty="0">
                <a:solidFill>
                  <a:srgbClr val="E2E8F0"/>
                </a:solidFill>
                <a:latin typeface="Courier New" pitchFamily="34" charset="0"/>
                <a:ea typeface="Courier New" pitchFamily="34" charset="-122"/>
                <a:cs typeface="Courier New" pitchFamily="34" charset="-120"/>
              </a:rPr>
              <a:t>∪ </a:t>
            </a:r>
            <a:r>
              <a:rPr lang="en-US" sz="900" dirty="0">
                <a:solidFill>
                  <a:srgbClr val="FBBF24"/>
                </a:solidFill>
                <a:latin typeface="Liberation Sans Narrow" pitchFamily="34" charset="0"/>
                <a:ea typeface="Liberation Sans Narrow" pitchFamily="34" charset="-122"/>
                <a:cs typeface="Liberation Sans Narrow" pitchFamily="34" charset="-120"/>
              </a:rPr>
              <a:t>Embeddings(change, ≥0.85)</a:t>
            </a:r>
            <a:r>
              <a:rPr lang="en-US" sz="900" dirty="0">
                <a:solidFill>
                  <a:srgbClr val="E2E8F0"/>
                </a:solidFill>
                <a:latin typeface="Courier New" pitchFamily="34" charset="0"/>
                <a:ea typeface="Courier New" pitchFamily="34" charset="-122"/>
                <a:cs typeface="Courier New" pitchFamily="34" charset="-120"/>
              </a:rPr>
              <a:t> </a:t>
            </a:r>
            <a:r>
              <a:rPr lang="en-US" sz="900" i="1" dirty="0">
                <a:solidFill>
                  <a:srgbClr val="94A3B8"/>
                </a:solidFill>
                <a:latin typeface="Courier New" pitchFamily="34" charset="0"/>
                <a:ea typeface="Courier New" pitchFamily="34" charset="-122"/>
                <a:cs typeface="Courier New" pitchFamily="34" charset="-120"/>
              </a:rPr>
              <a:t># semantic</a:t>
            </a:r>
            <a:endParaRPr lang="en-US" sz="900" dirty="0"/>
          </a:p>
        </p:txBody>
      </p:sp>
      <p:sp>
        <p:nvSpPr>
          <p:cNvPr id="37" name="Text 35"/>
          <p:cNvSpPr/>
          <p:nvPr/>
        </p:nvSpPr>
        <p:spPr>
          <a:xfrm>
            <a:off x="5498232" y="1990651"/>
            <a:ext cx="3141022" cy="203610"/>
          </a:xfrm>
          <a:prstGeom prst="rect">
            <a:avLst/>
          </a:prstGeom>
          <a:noFill/>
          <a:ln/>
        </p:spPr>
        <p:txBody>
          <a:bodyPr wrap="square" lIns="0" tIns="0" rIns="0" bIns="0" rtlCol="0" anchor="t"/>
          <a:lstStyle/>
          <a:p>
            <a:pPr marL="0" indent="0" algn="l">
              <a:lnSpc>
                <a:spcPts val="1485"/>
              </a:lnSpc>
              <a:buNone/>
            </a:pPr>
            <a:r>
              <a:rPr lang="en-US" sz="900" dirty="0">
                <a:solidFill>
                  <a:srgbClr val="E2E8F0"/>
                </a:solidFill>
                <a:latin typeface="Courier New" pitchFamily="34" charset="0"/>
                <a:ea typeface="Courier New" pitchFamily="34" charset="-122"/>
                <a:cs typeface="Courier New" pitchFamily="34" charset="-120"/>
              </a:rPr>
              <a:t>∪ </a:t>
            </a:r>
            <a:r>
              <a:rPr lang="en-US" sz="900" dirty="0">
                <a:solidFill>
                  <a:srgbClr val="FBA74A"/>
                </a:solidFill>
                <a:latin typeface="Liberation Sans Narrow" pitchFamily="34" charset="0"/>
                <a:ea typeface="Liberation Sans Narrow" pitchFamily="34" charset="-122"/>
                <a:cs typeface="Liberation Sans Narrow" pitchFamily="34" charset="-120"/>
              </a:rPr>
              <a:t>FlakePred(change, ≥0.70)</a:t>
            </a:r>
            <a:r>
              <a:rPr lang="en-US" sz="900" dirty="0">
                <a:solidFill>
                  <a:srgbClr val="E2E8F0"/>
                </a:solidFill>
                <a:latin typeface="Courier New" pitchFamily="34" charset="0"/>
                <a:ea typeface="Courier New" pitchFamily="34" charset="-122"/>
                <a:cs typeface="Courier New" pitchFamily="34" charset="-120"/>
              </a:rPr>
              <a:t> </a:t>
            </a:r>
            <a:r>
              <a:rPr lang="en-US" sz="900" i="1" dirty="0">
                <a:solidFill>
                  <a:srgbClr val="94A3B8"/>
                </a:solidFill>
                <a:latin typeface="Courier New" pitchFamily="34" charset="0"/>
                <a:ea typeface="Courier New" pitchFamily="34" charset="-122"/>
                <a:cs typeface="Courier New" pitchFamily="34" charset="-120"/>
              </a:rPr>
              <a:t># probabilistic</a:t>
            </a:r>
            <a:endParaRPr lang="en-US" sz="900" dirty="0"/>
          </a:p>
        </p:txBody>
      </p:sp>
      <p:sp>
        <p:nvSpPr>
          <p:cNvPr id="38" name="Shape 36"/>
          <p:cNvSpPr/>
          <p:nvPr/>
        </p:nvSpPr>
        <p:spPr>
          <a:xfrm>
            <a:off x="5498232" y="4133552"/>
            <a:ext cx="3031294" cy="0"/>
          </a:xfrm>
          <a:prstGeom prst="line">
            <a:avLst/>
          </a:prstGeom>
          <a:noFill/>
          <a:ln w="7144">
            <a:solidFill>
              <a:srgbClr val="334155"/>
            </a:solidFill>
            <a:prstDash val="solid"/>
          </a:ln>
        </p:spPr>
      </p:sp>
      <p:sp>
        <p:nvSpPr>
          <p:cNvPr id="39" name="Text 37"/>
          <p:cNvSpPr/>
          <p:nvPr/>
        </p:nvSpPr>
        <p:spPr>
          <a:xfrm>
            <a:off x="5498232" y="4129980"/>
            <a:ext cx="3031294" cy="384870"/>
          </a:xfrm>
          <a:prstGeom prst="rect">
            <a:avLst/>
          </a:prstGeom>
          <a:noFill/>
          <a:ln/>
        </p:spPr>
        <p:txBody>
          <a:bodyPr wrap="square" lIns="0" tIns="71438" rIns="0" bIns="0" rtlCol="0" anchor="t"/>
          <a:lstStyle/>
          <a:p>
            <a:pPr marL="0" indent="0" algn="l">
              <a:lnSpc>
                <a:spcPts val="1207"/>
              </a:lnSpc>
              <a:buNone/>
            </a:pPr>
            <a:r>
              <a:rPr lang="en-US" sz="800" i="1" dirty="0">
                <a:solidFill>
                  <a:srgbClr val="94A3B8"/>
                </a:solidFill>
                <a:latin typeface="Courier New" pitchFamily="34" charset="0"/>
                <a:ea typeface="Courier New" pitchFamily="34" charset="-122"/>
                <a:cs typeface="Courier New" pitchFamily="34" charset="-120"/>
              </a:rPr>
              <a:t>Three signals, unioned. False negatives are expensive; false positives are cheap.</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8636000" cy="388776"/>
          </a:xfrm>
          <a:prstGeom prst="rect">
            <a:avLst/>
          </a:prstGeom>
          <a:noFill/>
          <a:ln/>
        </p:spPr>
        <p:txBody>
          <a:bodyPr wrap="square" lIns="0" tIns="0" rIns="0" bIns="0" rtlCol="0" anchor="t"/>
          <a:lstStyle/>
          <a:p>
            <a:pPr marL="0" indent="0" algn="l">
              <a:lnSpc>
                <a:spcPts val="2835"/>
              </a:lnSpc>
              <a:buNone/>
            </a:pPr>
            <a:r>
              <a:rPr lang="en-US" sz="2025" b="1" dirty="0">
                <a:solidFill>
                  <a:srgbClr val="0F172A"/>
                </a:solidFill>
                <a:latin typeface="Carlito" pitchFamily="34" charset="0"/>
                <a:ea typeface="Carlito" pitchFamily="34" charset="-122"/>
                <a:cs typeface="Carlito" pitchFamily="34" charset="-120"/>
              </a:rPr>
              <a:t>Code Example — Dynamic Test Matrix in GitHub Actions</a:t>
            </a:r>
            <a:endParaRPr lang="en-US" sz="2025" dirty="0"/>
          </a:p>
        </p:txBody>
      </p:sp>
      <p:sp>
        <p:nvSpPr>
          <p:cNvPr id="3" name="Text 1"/>
          <p:cNvSpPr/>
          <p:nvPr/>
        </p:nvSpPr>
        <p:spPr>
          <a:xfrm>
            <a:off x="457200" y="874328"/>
            <a:ext cx="571500" cy="42863"/>
          </a:xfrm>
          <a:prstGeom prst="roundRect">
            <a:avLst>
              <a:gd name="adj" fmla="val 66666"/>
            </a:avLst>
          </a:prstGeom>
          <a:solidFill>
            <a:srgbClr val="F97316"/>
          </a:solidFill>
          <a:ln/>
        </p:spPr>
        <p:txBody>
          <a:bodyPr wrap="square" rtlCol="0" anchor="ctr"/>
          <a:lstStyle/>
          <a:p>
            <a:pPr marL="0" indent="0">
              <a:buNone/>
            </a:pPr>
            <a:endParaRPr lang="en-US" dirty="0"/>
          </a:p>
        </p:txBody>
      </p:sp>
      <p:sp>
        <p:nvSpPr>
          <p:cNvPr id="4" name="Text 2"/>
          <p:cNvSpPr/>
          <p:nvPr/>
        </p:nvSpPr>
        <p:spPr>
          <a:xfrm>
            <a:off x="457200" y="960053"/>
            <a:ext cx="8229600" cy="205177"/>
          </a:xfrm>
          <a:prstGeom prst="rect">
            <a:avLst/>
          </a:prstGeom>
          <a:noFill/>
          <a:ln/>
        </p:spPr>
        <p:txBody>
          <a:bodyPr wrap="square" lIns="0" tIns="0" rIns="0" bIns="0" rtlCol="0" anchor="t"/>
          <a:lstStyle/>
          <a:p>
            <a:pPr marL="0" indent="0" algn="l">
              <a:lnSpc>
                <a:spcPts val="1496"/>
              </a:lnSpc>
              <a:buNone/>
            </a:pPr>
            <a:r>
              <a:rPr lang="en-US" sz="1069" dirty="0">
                <a:solidFill>
                  <a:srgbClr val="334155"/>
                </a:solidFill>
                <a:latin typeface="Carlito" pitchFamily="34" charset="0"/>
                <a:ea typeface="Carlito" pitchFamily="34" charset="-122"/>
                <a:cs typeface="Carlito" pitchFamily="34" charset="-120"/>
              </a:rPr>
              <a:t>Compute changed files, then run only the matching test suites.</a:t>
            </a:r>
            <a:endParaRPr lang="en-US" sz="1069" dirty="0"/>
          </a:p>
        </p:txBody>
      </p:sp>
      <p:sp>
        <p:nvSpPr>
          <p:cNvPr id="5" name="Text 3"/>
          <p:cNvSpPr/>
          <p:nvPr/>
        </p:nvSpPr>
        <p:spPr>
          <a:xfrm>
            <a:off x="6451699" y="1321482"/>
            <a:ext cx="2120801" cy="162855"/>
          </a:xfrm>
          <a:prstGeom prst="roundRect">
            <a:avLst>
              <a:gd name="adj" fmla="val 35093"/>
            </a:avLst>
          </a:prstGeom>
          <a:solidFill>
            <a:srgbClr val="F97316">
              <a:alpha val="95000"/>
            </a:srgbClr>
          </a:solidFill>
          <a:ln/>
        </p:spPr>
        <p:txBody>
          <a:bodyPr wrap="square" rtlCol="0" anchor="ctr"/>
          <a:lstStyle/>
          <a:p>
            <a:pPr marL="0" indent="0">
              <a:buNone/>
            </a:pPr>
            <a:endParaRPr lang="en-US" dirty="0"/>
          </a:p>
        </p:txBody>
      </p:sp>
      <p:sp>
        <p:nvSpPr>
          <p:cNvPr id="6" name="Text 4"/>
          <p:cNvSpPr/>
          <p:nvPr/>
        </p:nvSpPr>
        <p:spPr>
          <a:xfrm>
            <a:off x="6451699" y="1321482"/>
            <a:ext cx="2120801" cy="208455"/>
          </a:xfrm>
          <a:prstGeom prst="rect">
            <a:avLst/>
          </a:prstGeom>
          <a:noFill/>
          <a:ln/>
        </p:spPr>
        <p:txBody>
          <a:bodyPr wrap="square" lIns="71438" tIns="21431" rIns="71438" bIns="21431" rtlCol="0" anchor="t"/>
          <a:lstStyle/>
          <a:p>
            <a:pPr marL="0" indent="0" algn="l">
              <a:lnSpc>
                <a:spcPts val="945"/>
              </a:lnSpc>
              <a:buNone/>
            </a:pPr>
            <a:r>
              <a:rPr lang="en-US" sz="675" b="1" kern="0" spc="56" dirty="0">
                <a:solidFill>
                  <a:srgbClr val="FFFFFF"/>
                </a:solidFill>
                <a:latin typeface="Courier New" pitchFamily="34" charset="0"/>
                <a:ea typeface="Courier New" pitchFamily="34" charset="-122"/>
                <a:cs typeface="Courier New" pitchFamily="34" charset="-120"/>
              </a:rPr>
              <a:t>YAML · .github/workflows/smart-tests.yml</a:t>
            </a:r>
            <a:endParaRPr lang="en-US" sz="675" dirty="0"/>
          </a:p>
        </p:txBody>
      </p:sp>
      <p:sp>
        <p:nvSpPr>
          <p:cNvPr id="7" name="Text 5"/>
          <p:cNvSpPr/>
          <p:nvPr/>
        </p:nvSpPr>
        <p:spPr>
          <a:xfrm>
            <a:off x="628650" y="1371488"/>
            <a:ext cx="2160270" cy="138214"/>
          </a:xfrm>
          <a:prstGeom prst="rect">
            <a:avLst/>
          </a:prstGeom>
          <a:noFill/>
          <a:ln/>
        </p:spPr>
        <p:txBody>
          <a:bodyPr wrap="none" lIns="0" tIns="0" rIns="0" bIns="0" rtlCol="0" anchor="t">
            <a:normAutofit fontScale="32500" lnSpcReduction="20000"/>
          </a:bodyPr>
          <a:lstStyle/>
          <a:p>
            <a:pPr marL="0" indent="0" algn="l">
              <a:lnSpc>
                <a:spcPts val="1305"/>
              </a:lnSpc>
              <a:buNone/>
            </a:pPr>
            <a:r>
              <a:rPr lang="en-US" sz="900" i="1" dirty="0">
                <a:solidFill>
                  <a:srgbClr val="94A3B8"/>
                </a:solidFill>
                <a:latin typeface="Courier New" pitchFamily="34" charset="0"/>
                <a:ea typeface="Courier New" pitchFamily="34" charset="-122"/>
                <a:cs typeface="Courier New" pitchFamily="34" charset="-120"/>
              </a:rPr>
              <a:t># .github/workflows/smart-tests.yml</a:t>
            </a:r>
            <a:endParaRPr lang="en-US" sz="900" dirty="0"/>
          </a:p>
        </p:txBody>
      </p:sp>
      <p:sp>
        <p:nvSpPr>
          <p:cNvPr id="8" name="Text 6"/>
          <p:cNvSpPr/>
          <p:nvPr/>
        </p:nvSpPr>
        <p:spPr>
          <a:xfrm>
            <a:off x="628650" y="1537134"/>
            <a:ext cx="365760" cy="154305"/>
          </a:xfrm>
          <a:prstGeom prst="rect">
            <a:avLst/>
          </a:prstGeom>
          <a:noFill/>
          <a:ln/>
        </p:spPr>
        <p:txBody>
          <a:bodyPr wrap="none" lIns="0" tIns="0" rIns="0" bIns="0" rtlCol="0" anchor="t"/>
          <a:lstStyle/>
          <a:p>
            <a:pPr marL="0" indent="0" algn="l">
              <a:lnSpc>
                <a:spcPts val="1305"/>
              </a:lnSpc>
              <a:buNone/>
            </a:pPr>
            <a:r>
              <a:rPr lang="en-US" sz="900" dirty="0">
                <a:solidFill>
                  <a:srgbClr val="FBBF24"/>
                </a:solidFill>
                <a:latin typeface="Courier New" pitchFamily="34" charset="0"/>
                <a:ea typeface="Courier New" pitchFamily="34" charset="-122"/>
                <a:cs typeface="Courier New" pitchFamily="34" charset="-120"/>
              </a:rPr>
              <a:t>name</a:t>
            </a:r>
            <a:endParaRPr lang="en-US" sz="900" dirty="0"/>
          </a:p>
        </p:txBody>
      </p:sp>
      <p:sp>
        <p:nvSpPr>
          <p:cNvPr id="9" name="Text 7"/>
          <p:cNvSpPr/>
          <p:nvPr/>
        </p:nvSpPr>
        <p:spPr>
          <a:xfrm>
            <a:off x="857250" y="1537134"/>
            <a:ext cx="91440" cy="154305"/>
          </a:xfrm>
          <a:prstGeom prst="rect">
            <a:avLst/>
          </a:prstGeom>
          <a:noFill/>
          <a:ln/>
        </p:spPr>
        <p:txBody>
          <a:bodyPr wrap="none" lIns="0" tIns="0" rIns="0" bIns="0" rtlCol="0" anchor="t"/>
          <a:lstStyle/>
          <a:p>
            <a:pPr marL="0" indent="0" algn="l">
              <a:lnSpc>
                <a:spcPts val="1305"/>
              </a:lnSpc>
              <a:buNone/>
            </a:pPr>
            <a:r>
              <a:rPr lang="en-US" sz="900" dirty="0">
                <a:solidFill>
                  <a:srgbClr val="FBA74A"/>
                </a:solidFill>
                <a:latin typeface="Courier New" pitchFamily="34" charset="0"/>
                <a:ea typeface="Courier New" pitchFamily="34" charset="-122"/>
                <a:cs typeface="Courier New" pitchFamily="34" charset="-120"/>
              </a:rPr>
              <a:t>:</a:t>
            </a:r>
            <a:endParaRPr lang="en-US" sz="900" dirty="0"/>
          </a:p>
        </p:txBody>
      </p:sp>
      <p:sp>
        <p:nvSpPr>
          <p:cNvPr id="10" name="Text 8"/>
          <p:cNvSpPr/>
          <p:nvPr/>
        </p:nvSpPr>
        <p:spPr>
          <a:xfrm>
            <a:off x="971550" y="1537134"/>
            <a:ext cx="1285875" cy="138214"/>
          </a:xfrm>
          <a:prstGeom prst="rect">
            <a:avLst/>
          </a:prstGeom>
          <a:noFill/>
          <a:ln/>
        </p:spPr>
        <p:txBody>
          <a:bodyPr wrap="none" lIns="0" tIns="0" rIns="0" bIns="0" rtlCol="0" anchor="t">
            <a:normAutofit fontScale="32500" lnSpcReduction="20000"/>
          </a:bodyPr>
          <a:lstStyle/>
          <a:p>
            <a:pPr marL="0" indent="0" algn="l">
              <a:lnSpc>
                <a:spcPts val="1305"/>
              </a:lnSpc>
              <a:buNone/>
            </a:pPr>
            <a:r>
              <a:rPr lang="en-US" sz="900" dirty="0">
                <a:solidFill>
                  <a:srgbClr val="86EFAC"/>
                </a:solidFill>
                <a:latin typeface="Courier New" pitchFamily="34" charset="0"/>
                <a:ea typeface="Courier New" pitchFamily="34" charset="-122"/>
                <a:cs typeface="Courier New" pitchFamily="34" charset="-120"/>
              </a:rPr>
              <a:t>Smart Test Routing</a:t>
            </a:r>
            <a:endParaRPr lang="en-US" sz="900" dirty="0"/>
          </a:p>
        </p:txBody>
      </p:sp>
      <p:sp>
        <p:nvSpPr>
          <p:cNvPr id="11" name="Text 9"/>
          <p:cNvSpPr/>
          <p:nvPr/>
        </p:nvSpPr>
        <p:spPr>
          <a:xfrm>
            <a:off x="628650" y="1702780"/>
            <a:ext cx="182880" cy="154305"/>
          </a:xfrm>
          <a:prstGeom prst="rect">
            <a:avLst/>
          </a:prstGeom>
          <a:noFill/>
          <a:ln/>
        </p:spPr>
        <p:txBody>
          <a:bodyPr wrap="none" lIns="0" tIns="0" rIns="0" bIns="0" rtlCol="0" anchor="t"/>
          <a:lstStyle/>
          <a:p>
            <a:pPr marL="0" indent="0" algn="l">
              <a:lnSpc>
                <a:spcPts val="1305"/>
              </a:lnSpc>
              <a:buNone/>
            </a:pPr>
            <a:r>
              <a:rPr lang="en-US" sz="900" dirty="0">
                <a:solidFill>
                  <a:srgbClr val="FBBF24"/>
                </a:solidFill>
                <a:latin typeface="Courier New" pitchFamily="34" charset="0"/>
                <a:ea typeface="Courier New" pitchFamily="34" charset="-122"/>
                <a:cs typeface="Courier New" pitchFamily="34" charset="-120"/>
              </a:rPr>
              <a:t>on</a:t>
            </a:r>
            <a:endParaRPr lang="en-US" sz="900" dirty="0"/>
          </a:p>
        </p:txBody>
      </p:sp>
      <p:sp>
        <p:nvSpPr>
          <p:cNvPr id="12" name="Text 10"/>
          <p:cNvSpPr/>
          <p:nvPr/>
        </p:nvSpPr>
        <p:spPr>
          <a:xfrm>
            <a:off x="742950" y="1702780"/>
            <a:ext cx="91440" cy="154305"/>
          </a:xfrm>
          <a:prstGeom prst="rect">
            <a:avLst/>
          </a:prstGeom>
          <a:noFill/>
          <a:ln/>
        </p:spPr>
        <p:txBody>
          <a:bodyPr wrap="none" lIns="0" tIns="0" rIns="0" bIns="0" rtlCol="0" anchor="t"/>
          <a:lstStyle/>
          <a:p>
            <a:pPr marL="0" indent="0" algn="l">
              <a:lnSpc>
                <a:spcPts val="1305"/>
              </a:lnSpc>
              <a:buNone/>
            </a:pPr>
            <a:r>
              <a:rPr lang="en-US" sz="900" dirty="0">
                <a:solidFill>
                  <a:srgbClr val="FBA74A"/>
                </a:solidFill>
                <a:latin typeface="Courier New" pitchFamily="34" charset="0"/>
                <a:ea typeface="Courier New" pitchFamily="34" charset="-122"/>
                <a:cs typeface="Courier New" pitchFamily="34" charset="-120"/>
              </a:rPr>
              <a:t>:</a:t>
            </a:r>
            <a:endParaRPr lang="en-US" sz="900" dirty="0"/>
          </a:p>
        </p:txBody>
      </p:sp>
      <p:sp>
        <p:nvSpPr>
          <p:cNvPr id="13" name="Text 11"/>
          <p:cNvSpPr/>
          <p:nvPr/>
        </p:nvSpPr>
        <p:spPr>
          <a:xfrm>
            <a:off x="857250" y="1702780"/>
            <a:ext cx="91440" cy="154305"/>
          </a:xfrm>
          <a:prstGeom prst="rect">
            <a:avLst/>
          </a:prstGeom>
          <a:noFill/>
          <a:ln/>
        </p:spPr>
        <p:txBody>
          <a:bodyPr wrap="none" lIns="0" tIns="0" rIns="0" bIns="0" rtlCol="0" anchor="t"/>
          <a:lstStyle/>
          <a:p>
            <a:pPr marL="0" indent="0" algn="l">
              <a:lnSpc>
                <a:spcPts val="1305"/>
              </a:lnSpc>
              <a:buNone/>
            </a:pPr>
            <a:r>
              <a:rPr lang="en-US" sz="900" dirty="0">
                <a:solidFill>
                  <a:srgbClr val="FBA74A"/>
                </a:solidFill>
                <a:latin typeface="Courier New" pitchFamily="34" charset="0"/>
                <a:ea typeface="Courier New" pitchFamily="34" charset="-122"/>
                <a:cs typeface="Courier New" pitchFamily="34" charset="-120"/>
              </a:rPr>
              <a:t>[</a:t>
            </a:r>
            <a:endParaRPr lang="en-US" sz="900" dirty="0"/>
          </a:p>
        </p:txBody>
      </p:sp>
      <p:sp>
        <p:nvSpPr>
          <p:cNvPr id="14" name="Text 12"/>
          <p:cNvSpPr/>
          <p:nvPr/>
        </p:nvSpPr>
        <p:spPr>
          <a:xfrm>
            <a:off x="906936" y="1702780"/>
            <a:ext cx="872178" cy="154305"/>
          </a:xfrm>
          <a:prstGeom prst="rect">
            <a:avLst/>
          </a:prstGeom>
          <a:noFill/>
          <a:ln/>
        </p:spPr>
        <p:txBody>
          <a:bodyPr wrap="none" lIns="0" tIns="0" rIns="0" bIns="0" rtlCol="0" anchor="t"/>
          <a:lstStyle/>
          <a:p>
            <a:pPr marL="0" indent="0" algn="l">
              <a:lnSpc>
                <a:spcPts val="1305"/>
              </a:lnSpc>
              <a:buNone/>
            </a:pPr>
            <a:r>
              <a:rPr lang="en-US" sz="900" dirty="0">
                <a:solidFill>
                  <a:srgbClr val="86EFAC"/>
                </a:solidFill>
                <a:latin typeface="Courier New" pitchFamily="34" charset="0"/>
                <a:ea typeface="Courier New" pitchFamily="34" charset="-122"/>
                <a:cs typeface="Courier New" pitchFamily="34" charset="-120"/>
              </a:rPr>
              <a:t>pull_request</a:t>
            </a:r>
            <a:endParaRPr lang="en-US" sz="900" dirty="0"/>
          </a:p>
        </p:txBody>
      </p:sp>
      <p:sp>
        <p:nvSpPr>
          <p:cNvPr id="15" name="Text 13"/>
          <p:cNvSpPr/>
          <p:nvPr/>
        </p:nvSpPr>
        <p:spPr>
          <a:xfrm>
            <a:off x="1600200" y="1702780"/>
            <a:ext cx="91440" cy="154305"/>
          </a:xfrm>
          <a:prstGeom prst="rect">
            <a:avLst/>
          </a:prstGeom>
          <a:noFill/>
          <a:ln/>
        </p:spPr>
        <p:txBody>
          <a:bodyPr wrap="none" lIns="0" tIns="0" rIns="0" bIns="0" rtlCol="0" anchor="t"/>
          <a:lstStyle/>
          <a:p>
            <a:pPr marL="0" indent="0" algn="l">
              <a:lnSpc>
                <a:spcPts val="1305"/>
              </a:lnSpc>
              <a:buNone/>
            </a:pPr>
            <a:r>
              <a:rPr lang="en-US" sz="900" dirty="0">
                <a:solidFill>
                  <a:srgbClr val="FBA74A"/>
                </a:solidFill>
                <a:latin typeface="Courier New" pitchFamily="34" charset="0"/>
                <a:ea typeface="Courier New" pitchFamily="34" charset="-122"/>
                <a:cs typeface="Courier New" pitchFamily="34" charset="-120"/>
              </a:rPr>
              <a:t>]</a:t>
            </a:r>
            <a:endParaRPr lang="en-US" sz="900" dirty="0"/>
          </a:p>
        </p:txBody>
      </p:sp>
      <p:sp>
        <p:nvSpPr>
          <p:cNvPr id="16" name="Text 14"/>
          <p:cNvSpPr/>
          <p:nvPr/>
        </p:nvSpPr>
        <p:spPr>
          <a:xfrm>
            <a:off x="628650" y="2034071"/>
            <a:ext cx="365760" cy="154305"/>
          </a:xfrm>
          <a:prstGeom prst="rect">
            <a:avLst/>
          </a:prstGeom>
          <a:noFill/>
          <a:ln/>
        </p:spPr>
        <p:txBody>
          <a:bodyPr wrap="none" lIns="0" tIns="0" rIns="0" bIns="0" rtlCol="0" anchor="t"/>
          <a:lstStyle/>
          <a:p>
            <a:pPr marL="0" indent="0" algn="l">
              <a:lnSpc>
                <a:spcPts val="1305"/>
              </a:lnSpc>
              <a:buNone/>
            </a:pPr>
            <a:r>
              <a:rPr lang="en-US" sz="900" dirty="0">
                <a:solidFill>
                  <a:srgbClr val="FBBF24"/>
                </a:solidFill>
                <a:latin typeface="Courier New" pitchFamily="34" charset="0"/>
                <a:ea typeface="Courier New" pitchFamily="34" charset="-122"/>
                <a:cs typeface="Courier New" pitchFamily="34" charset="-120"/>
              </a:rPr>
              <a:t>jobs</a:t>
            </a:r>
            <a:endParaRPr lang="en-US" sz="900" dirty="0"/>
          </a:p>
        </p:txBody>
      </p:sp>
      <p:sp>
        <p:nvSpPr>
          <p:cNvPr id="17" name="Text 15"/>
          <p:cNvSpPr/>
          <p:nvPr/>
        </p:nvSpPr>
        <p:spPr>
          <a:xfrm>
            <a:off x="857250" y="2034071"/>
            <a:ext cx="91440" cy="138214"/>
          </a:xfrm>
          <a:prstGeom prst="rect">
            <a:avLst/>
          </a:prstGeom>
          <a:noFill/>
          <a:ln/>
        </p:spPr>
        <p:txBody>
          <a:bodyPr wrap="none" lIns="0" tIns="0" rIns="0" bIns="0" rtlCol="0" anchor="t">
            <a:normAutofit fontScale="32500" lnSpcReduction="20000"/>
          </a:bodyPr>
          <a:lstStyle/>
          <a:p>
            <a:pPr marL="0" indent="0" algn="l">
              <a:lnSpc>
                <a:spcPts val="1305"/>
              </a:lnSpc>
              <a:buNone/>
            </a:pPr>
            <a:r>
              <a:rPr lang="en-US" sz="900" dirty="0">
                <a:solidFill>
                  <a:srgbClr val="FBA74A"/>
                </a:solidFill>
                <a:latin typeface="Courier New" pitchFamily="34" charset="0"/>
                <a:ea typeface="Courier New" pitchFamily="34" charset="-122"/>
                <a:cs typeface="Courier New" pitchFamily="34" charset="-120"/>
              </a:rPr>
              <a:t>:</a:t>
            </a:r>
            <a:endParaRPr lang="en-US" sz="900" dirty="0"/>
          </a:p>
        </p:txBody>
      </p:sp>
      <p:sp>
        <p:nvSpPr>
          <p:cNvPr id="18" name="Text 16"/>
          <p:cNvSpPr/>
          <p:nvPr/>
        </p:nvSpPr>
        <p:spPr>
          <a:xfrm>
            <a:off x="742950" y="2199717"/>
            <a:ext cx="1000125" cy="154305"/>
          </a:xfrm>
          <a:prstGeom prst="rect">
            <a:avLst/>
          </a:prstGeom>
          <a:noFill/>
          <a:ln/>
        </p:spPr>
        <p:txBody>
          <a:bodyPr wrap="none" lIns="0" tIns="0" rIns="0" bIns="0" rtlCol="0" anchor="t"/>
          <a:lstStyle/>
          <a:p>
            <a:pPr marL="0" indent="0" algn="l">
              <a:lnSpc>
                <a:spcPts val="1305"/>
              </a:lnSpc>
              <a:buNone/>
            </a:pPr>
            <a:r>
              <a:rPr lang="en-US" sz="900" dirty="0">
                <a:solidFill>
                  <a:srgbClr val="FBBF24"/>
                </a:solidFill>
                <a:latin typeface="Courier New" pitchFamily="34" charset="0"/>
                <a:ea typeface="Courier New" pitchFamily="34" charset="-122"/>
                <a:cs typeface="Courier New" pitchFamily="34" charset="-120"/>
              </a:rPr>
              <a:t>compute-impact</a:t>
            </a:r>
            <a:endParaRPr lang="en-US" sz="900" dirty="0"/>
          </a:p>
        </p:txBody>
      </p:sp>
      <p:sp>
        <p:nvSpPr>
          <p:cNvPr id="19" name="Text 17"/>
          <p:cNvSpPr/>
          <p:nvPr/>
        </p:nvSpPr>
        <p:spPr>
          <a:xfrm>
            <a:off x="1543050" y="2199717"/>
            <a:ext cx="91440" cy="138214"/>
          </a:xfrm>
          <a:prstGeom prst="rect">
            <a:avLst/>
          </a:prstGeom>
          <a:noFill/>
          <a:ln/>
        </p:spPr>
        <p:txBody>
          <a:bodyPr wrap="none" lIns="0" tIns="0" rIns="0" bIns="0" rtlCol="0" anchor="t">
            <a:normAutofit fontScale="32500" lnSpcReduction="20000"/>
          </a:bodyPr>
          <a:lstStyle/>
          <a:p>
            <a:pPr marL="0" indent="0" algn="l">
              <a:lnSpc>
                <a:spcPts val="1305"/>
              </a:lnSpc>
              <a:buNone/>
            </a:pPr>
            <a:r>
              <a:rPr lang="en-US" sz="900" dirty="0">
                <a:solidFill>
                  <a:srgbClr val="FBA74A"/>
                </a:solidFill>
                <a:latin typeface="Courier New" pitchFamily="34" charset="0"/>
                <a:ea typeface="Courier New" pitchFamily="34" charset="-122"/>
                <a:cs typeface="Courier New" pitchFamily="34" charset="-120"/>
              </a:rPr>
              <a:t>:</a:t>
            </a:r>
            <a:endParaRPr lang="en-US" sz="900" dirty="0"/>
          </a:p>
        </p:txBody>
      </p:sp>
      <p:sp>
        <p:nvSpPr>
          <p:cNvPr id="20" name="Text 18"/>
          <p:cNvSpPr/>
          <p:nvPr/>
        </p:nvSpPr>
        <p:spPr>
          <a:xfrm>
            <a:off x="857250" y="2365363"/>
            <a:ext cx="572072" cy="154305"/>
          </a:xfrm>
          <a:prstGeom prst="rect">
            <a:avLst/>
          </a:prstGeom>
          <a:noFill/>
          <a:ln/>
        </p:spPr>
        <p:txBody>
          <a:bodyPr wrap="none" lIns="0" tIns="0" rIns="0" bIns="0" rtlCol="0" anchor="t"/>
          <a:lstStyle/>
          <a:p>
            <a:pPr marL="0" indent="0" algn="l">
              <a:lnSpc>
                <a:spcPts val="1305"/>
              </a:lnSpc>
              <a:buNone/>
            </a:pPr>
            <a:r>
              <a:rPr lang="en-US" sz="900" dirty="0">
                <a:solidFill>
                  <a:srgbClr val="FBBF24"/>
                </a:solidFill>
                <a:latin typeface="Courier New" pitchFamily="34" charset="0"/>
                <a:ea typeface="Courier New" pitchFamily="34" charset="-122"/>
                <a:cs typeface="Courier New" pitchFamily="34" charset="-120"/>
              </a:rPr>
              <a:t>runs-on</a:t>
            </a:r>
            <a:endParaRPr lang="en-US" sz="900" dirty="0"/>
          </a:p>
        </p:txBody>
      </p:sp>
      <p:sp>
        <p:nvSpPr>
          <p:cNvPr id="21" name="Text 19"/>
          <p:cNvSpPr/>
          <p:nvPr/>
        </p:nvSpPr>
        <p:spPr>
          <a:xfrm>
            <a:off x="1257300" y="2365363"/>
            <a:ext cx="91440" cy="154305"/>
          </a:xfrm>
          <a:prstGeom prst="rect">
            <a:avLst/>
          </a:prstGeom>
          <a:noFill/>
          <a:ln/>
        </p:spPr>
        <p:txBody>
          <a:bodyPr wrap="none" lIns="0" tIns="0" rIns="0" bIns="0" rtlCol="0" anchor="t"/>
          <a:lstStyle/>
          <a:p>
            <a:pPr marL="0" indent="0" algn="l">
              <a:lnSpc>
                <a:spcPts val="1305"/>
              </a:lnSpc>
              <a:buNone/>
            </a:pPr>
            <a:r>
              <a:rPr lang="en-US" sz="900" dirty="0">
                <a:solidFill>
                  <a:srgbClr val="FBA74A"/>
                </a:solidFill>
                <a:latin typeface="Courier New" pitchFamily="34" charset="0"/>
                <a:ea typeface="Courier New" pitchFamily="34" charset="-122"/>
                <a:cs typeface="Courier New" pitchFamily="34" charset="-120"/>
              </a:rPr>
              <a:t>:</a:t>
            </a:r>
            <a:endParaRPr lang="en-US" sz="900" dirty="0"/>
          </a:p>
        </p:txBody>
      </p:sp>
      <p:sp>
        <p:nvSpPr>
          <p:cNvPr id="22" name="Text 20"/>
          <p:cNvSpPr/>
          <p:nvPr/>
        </p:nvSpPr>
        <p:spPr>
          <a:xfrm>
            <a:off x="1371600" y="2365363"/>
            <a:ext cx="928688" cy="138214"/>
          </a:xfrm>
          <a:prstGeom prst="rect">
            <a:avLst/>
          </a:prstGeom>
          <a:noFill/>
          <a:ln/>
        </p:spPr>
        <p:txBody>
          <a:bodyPr wrap="none" lIns="0" tIns="0" rIns="0" bIns="0" rtlCol="0" anchor="t">
            <a:normAutofit fontScale="32500" lnSpcReduction="20000"/>
          </a:bodyPr>
          <a:lstStyle/>
          <a:p>
            <a:pPr marL="0" indent="0" algn="l">
              <a:lnSpc>
                <a:spcPts val="1305"/>
              </a:lnSpc>
              <a:buNone/>
            </a:pPr>
            <a:r>
              <a:rPr lang="en-US" sz="900" dirty="0">
                <a:solidFill>
                  <a:srgbClr val="86EFAC"/>
                </a:solidFill>
                <a:latin typeface="Courier New" pitchFamily="34" charset="0"/>
                <a:ea typeface="Courier New" pitchFamily="34" charset="-122"/>
                <a:cs typeface="Courier New" pitchFamily="34" charset="-120"/>
              </a:rPr>
              <a:t>ubuntu-latest</a:t>
            </a:r>
            <a:endParaRPr lang="en-US" sz="900" dirty="0"/>
          </a:p>
        </p:txBody>
      </p:sp>
      <p:sp>
        <p:nvSpPr>
          <p:cNvPr id="23" name="Text 21"/>
          <p:cNvSpPr/>
          <p:nvPr/>
        </p:nvSpPr>
        <p:spPr>
          <a:xfrm>
            <a:off x="857250" y="2531008"/>
            <a:ext cx="572072" cy="154305"/>
          </a:xfrm>
          <a:prstGeom prst="rect">
            <a:avLst/>
          </a:prstGeom>
          <a:noFill/>
          <a:ln/>
        </p:spPr>
        <p:txBody>
          <a:bodyPr wrap="none" lIns="0" tIns="0" rIns="0" bIns="0" rtlCol="0" anchor="t"/>
          <a:lstStyle/>
          <a:p>
            <a:pPr marL="0" indent="0" algn="l">
              <a:lnSpc>
                <a:spcPts val="1305"/>
              </a:lnSpc>
              <a:buNone/>
            </a:pPr>
            <a:r>
              <a:rPr lang="en-US" sz="900" dirty="0">
                <a:solidFill>
                  <a:srgbClr val="FBBF24"/>
                </a:solidFill>
                <a:latin typeface="Courier New" pitchFamily="34" charset="0"/>
                <a:ea typeface="Courier New" pitchFamily="34" charset="-122"/>
                <a:cs typeface="Courier New" pitchFamily="34" charset="-120"/>
              </a:rPr>
              <a:t>outputs</a:t>
            </a:r>
            <a:endParaRPr lang="en-US" sz="900" dirty="0"/>
          </a:p>
        </p:txBody>
      </p:sp>
      <p:sp>
        <p:nvSpPr>
          <p:cNvPr id="24" name="Text 22"/>
          <p:cNvSpPr/>
          <p:nvPr/>
        </p:nvSpPr>
        <p:spPr>
          <a:xfrm>
            <a:off x="1257300" y="2531008"/>
            <a:ext cx="91440" cy="138214"/>
          </a:xfrm>
          <a:prstGeom prst="rect">
            <a:avLst/>
          </a:prstGeom>
          <a:noFill/>
          <a:ln/>
        </p:spPr>
        <p:txBody>
          <a:bodyPr wrap="none" lIns="0" tIns="0" rIns="0" bIns="0" rtlCol="0" anchor="t">
            <a:normAutofit fontScale="32500" lnSpcReduction="20000"/>
          </a:bodyPr>
          <a:lstStyle/>
          <a:p>
            <a:pPr marL="0" indent="0" algn="l">
              <a:lnSpc>
                <a:spcPts val="1305"/>
              </a:lnSpc>
              <a:buNone/>
            </a:pPr>
            <a:r>
              <a:rPr lang="en-US" sz="900" dirty="0">
                <a:solidFill>
                  <a:srgbClr val="FBA74A"/>
                </a:solidFill>
                <a:latin typeface="Courier New" pitchFamily="34" charset="0"/>
                <a:ea typeface="Courier New" pitchFamily="34" charset="-122"/>
                <a:cs typeface="Courier New" pitchFamily="34" charset="-120"/>
              </a:rPr>
              <a:t>:</a:t>
            </a:r>
            <a:endParaRPr lang="en-US" sz="900" dirty="0"/>
          </a:p>
        </p:txBody>
      </p:sp>
      <p:sp>
        <p:nvSpPr>
          <p:cNvPr id="25" name="Text 23"/>
          <p:cNvSpPr/>
          <p:nvPr/>
        </p:nvSpPr>
        <p:spPr>
          <a:xfrm>
            <a:off x="971550" y="2696654"/>
            <a:ext cx="735521" cy="154305"/>
          </a:xfrm>
          <a:prstGeom prst="rect">
            <a:avLst/>
          </a:prstGeom>
          <a:noFill/>
          <a:ln/>
        </p:spPr>
        <p:txBody>
          <a:bodyPr wrap="none" lIns="0" tIns="0" rIns="0" bIns="0" rtlCol="0" anchor="t"/>
          <a:lstStyle/>
          <a:p>
            <a:pPr marL="0" indent="0" algn="l">
              <a:lnSpc>
                <a:spcPts val="1305"/>
              </a:lnSpc>
              <a:buNone/>
            </a:pPr>
            <a:r>
              <a:rPr lang="en-US" sz="900" dirty="0">
                <a:solidFill>
                  <a:srgbClr val="FBBF24"/>
                </a:solidFill>
                <a:latin typeface="Courier New" pitchFamily="34" charset="0"/>
                <a:ea typeface="Courier New" pitchFamily="34" charset="-122"/>
                <a:cs typeface="Courier New" pitchFamily="34" charset="-120"/>
              </a:rPr>
              <a:t>test_dirs</a:t>
            </a:r>
            <a:endParaRPr lang="en-US" sz="900" dirty="0"/>
          </a:p>
        </p:txBody>
      </p:sp>
      <p:sp>
        <p:nvSpPr>
          <p:cNvPr id="26" name="Text 24"/>
          <p:cNvSpPr/>
          <p:nvPr/>
        </p:nvSpPr>
        <p:spPr>
          <a:xfrm>
            <a:off x="1485900" y="2696654"/>
            <a:ext cx="91440" cy="154305"/>
          </a:xfrm>
          <a:prstGeom prst="rect">
            <a:avLst/>
          </a:prstGeom>
          <a:noFill/>
          <a:ln/>
        </p:spPr>
        <p:txBody>
          <a:bodyPr wrap="none" lIns="0" tIns="0" rIns="0" bIns="0" rtlCol="0" anchor="t"/>
          <a:lstStyle/>
          <a:p>
            <a:pPr marL="0" indent="0" algn="l">
              <a:lnSpc>
                <a:spcPts val="1305"/>
              </a:lnSpc>
              <a:buNone/>
            </a:pPr>
            <a:r>
              <a:rPr lang="en-US" sz="900" dirty="0">
                <a:solidFill>
                  <a:srgbClr val="FBA74A"/>
                </a:solidFill>
                <a:latin typeface="Courier New" pitchFamily="34" charset="0"/>
                <a:ea typeface="Courier New" pitchFamily="34" charset="-122"/>
                <a:cs typeface="Courier New" pitchFamily="34" charset="-120"/>
              </a:rPr>
              <a:t>:</a:t>
            </a:r>
            <a:endParaRPr lang="en-US" sz="900" dirty="0"/>
          </a:p>
        </p:txBody>
      </p:sp>
      <p:sp>
        <p:nvSpPr>
          <p:cNvPr id="27" name="Text 25"/>
          <p:cNvSpPr/>
          <p:nvPr/>
        </p:nvSpPr>
        <p:spPr>
          <a:xfrm>
            <a:off x="1600200" y="2696654"/>
            <a:ext cx="2160270" cy="138214"/>
          </a:xfrm>
          <a:prstGeom prst="rect">
            <a:avLst/>
          </a:prstGeom>
          <a:noFill/>
          <a:ln/>
        </p:spPr>
        <p:txBody>
          <a:bodyPr wrap="none" lIns="0" tIns="0" rIns="0" bIns="0" rtlCol="0" anchor="t">
            <a:normAutofit fontScale="32500" lnSpcReduction="20000"/>
          </a:bodyPr>
          <a:lstStyle/>
          <a:p>
            <a:pPr marL="0" indent="0" algn="l">
              <a:lnSpc>
                <a:spcPts val="1305"/>
              </a:lnSpc>
              <a:buNone/>
            </a:pPr>
            <a:r>
              <a:rPr lang="en-US" sz="900" dirty="0">
                <a:solidFill>
                  <a:srgbClr val="93C5FD"/>
                </a:solidFill>
                <a:latin typeface="Courier New" pitchFamily="34" charset="0"/>
                <a:ea typeface="Courier New" pitchFamily="34" charset="-122"/>
                <a:cs typeface="Courier New" pitchFamily="34" charset="-120"/>
              </a:rPr>
              <a:t>${{ steps.pick.outputs.test_dirs }}</a:t>
            </a:r>
            <a:endParaRPr lang="en-US" sz="900" dirty="0"/>
          </a:p>
        </p:txBody>
      </p:sp>
      <p:sp>
        <p:nvSpPr>
          <p:cNvPr id="28" name="Text 26"/>
          <p:cNvSpPr/>
          <p:nvPr/>
        </p:nvSpPr>
        <p:spPr>
          <a:xfrm>
            <a:off x="857250" y="2862300"/>
            <a:ext cx="457200" cy="154305"/>
          </a:xfrm>
          <a:prstGeom prst="rect">
            <a:avLst/>
          </a:prstGeom>
          <a:noFill/>
          <a:ln/>
        </p:spPr>
        <p:txBody>
          <a:bodyPr wrap="none" lIns="0" tIns="0" rIns="0" bIns="0" rtlCol="0" anchor="t"/>
          <a:lstStyle/>
          <a:p>
            <a:pPr marL="0" indent="0" algn="l">
              <a:lnSpc>
                <a:spcPts val="1305"/>
              </a:lnSpc>
              <a:buNone/>
            </a:pPr>
            <a:r>
              <a:rPr lang="en-US" sz="900" dirty="0">
                <a:solidFill>
                  <a:srgbClr val="FBBF24"/>
                </a:solidFill>
                <a:latin typeface="Courier New" pitchFamily="34" charset="0"/>
                <a:ea typeface="Courier New" pitchFamily="34" charset="-122"/>
                <a:cs typeface="Courier New" pitchFamily="34" charset="-120"/>
              </a:rPr>
              <a:t>steps</a:t>
            </a:r>
            <a:endParaRPr lang="en-US" sz="900" dirty="0"/>
          </a:p>
        </p:txBody>
      </p:sp>
      <p:sp>
        <p:nvSpPr>
          <p:cNvPr id="29" name="Text 27"/>
          <p:cNvSpPr/>
          <p:nvPr/>
        </p:nvSpPr>
        <p:spPr>
          <a:xfrm>
            <a:off x="1143000" y="2862300"/>
            <a:ext cx="91440" cy="138214"/>
          </a:xfrm>
          <a:prstGeom prst="rect">
            <a:avLst/>
          </a:prstGeom>
          <a:noFill/>
          <a:ln/>
        </p:spPr>
        <p:txBody>
          <a:bodyPr wrap="none" lIns="0" tIns="0" rIns="0" bIns="0" rtlCol="0" anchor="t">
            <a:normAutofit fontScale="32500" lnSpcReduction="20000"/>
          </a:bodyPr>
          <a:lstStyle/>
          <a:p>
            <a:pPr marL="0" indent="0" algn="l">
              <a:lnSpc>
                <a:spcPts val="1305"/>
              </a:lnSpc>
              <a:buNone/>
            </a:pPr>
            <a:r>
              <a:rPr lang="en-US" sz="900" dirty="0">
                <a:solidFill>
                  <a:srgbClr val="FBA74A"/>
                </a:solidFill>
                <a:latin typeface="Courier New" pitchFamily="34" charset="0"/>
                <a:ea typeface="Courier New" pitchFamily="34" charset="-122"/>
                <a:cs typeface="Courier New" pitchFamily="34" charset="-120"/>
              </a:rPr>
              <a:t>:</a:t>
            </a:r>
            <a:endParaRPr lang="en-US" sz="900" dirty="0"/>
          </a:p>
        </p:txBody>
      </p:sp>
      <p:sp>
        <p:nvSpPr>
          <p:cNvPr id="30" name="Text 28"/>
          <p:cNvSpPr/>
          <p:nvPr/>
        </p:nvSpPr>
        <p:spPr>
          <a:xfrm>
            <a:off x="971550" y="3027945"/>
            <a:ext cx="91440" cy="154305"/>
          </a:xfrm>
          <a:prstGeom prst="rect">
            <a:avLst/>
          </a:prstGeom>
          <a:noFill/>
          <a:ln/>
        </p:spPr>
        <p:txBody>
          <a:bodyPr wrap="none" lIns="0" tIns="0" rIns="0" bIns="0" rtlCol="0" anchor="t"/>
          <a:lstStyle/>
          <a:p>
            <a:pPr marL="0" indent="0" algn="l">
              <a:lnSpc>
                <a:spcPts val="1305"/>
              </a:lnSpc>
              <a:buNone/>
            </a:pPr>
            <a:r>
              <a:rPr lang="en-US" sz="900" dirty="0">
                <a:solidFill>
                  <a:srgbClr val="FBA74A"/>
                </a:solidFill>
                <a:latin typeface="Courier New" pitchFamily="34" charset="0"/>
                <a:ea typeface="Courier New" pitchFamily="34" charset="-122"/>
                <a:cs typeface="Courier New" pitchFamily="34" charset="-120"/>
              </a:rPr>
              <a:t>-</a:t>
            </a:r>
            <a:endParaRPr lang="en-US" sz="900" dirty="0"/>
          </a:p>
        </p:txBody>
      </p:sp>
      <p:sp>
        <p:nvSpPr>
          <p:cNvPr id="31" name="Text 29"/>
          <p:cNvSpPr/>
          <p:nvPr/>
        </p:nvSpPr>
        <p:spPr>
          <a:xfrm>
            <a:off x="1085850" y="3027945"/>
            <a:ext cx="365760" cy="154305"/>
          </a:xfrm>
          <a:prstGeom prst="rect">
            <a:avLst/>
          </a:prstGeom>
          <a:noFill/>
          <a:ln/>
        </p:spPr>
        <p:txBody>
          <a:bodyPr wrap="none" lIns="0" tIns="0" rIns="0" bIns="0" rtlCol="0" anchor="t"/>
          <a:lstStyle/>
          <a:p>
            <a:pPr marL="0" indent="0" algn="l">
              <a:lnSpc>
                <a:spcPts val="1305"/>
              </a:lnSpc>
              <a:buNone/>
            </a:pPr>
            <a:r>
              <a:rPr lang="en-US" sz="900" dirty="0">
                <a:solidFill>
                  <a:srgbClr val="FBBF24"/>
                </a:solidFill>
                <a:latin typeface="Courier New" pitchFamily="34" charset="0"/>
                <a:ea typeface="Courier New" pitchFamily="34" charset="-122"/>
                <a:cs typeface="Courier New" pitchFamily="34" charset="-120"/>
              </a:rPr>
              <a:t>uses</a:t>
            </a:r>
            <a:endParaRPr lang="en-US" sz="900" dirty="0"/>
          </a:p>
        </p:txBody>
      </p:sp>
      <p:sp>
        <p:nvSpPr>
          <p:cNvPr id="32" name="Text 30"/>
          <p:cNvSpPr/>
          <p:nvPr/>
        </p:nvSpPr>
        <p:spPr>
          <a:xfrm>
            <a:off x="1314450" y="3027945"/>
            <a:ext cx="91440" cy="154305"/>
          </a:xfrm>
          <a:prstGeom prst="rect">
            <a:avLst/>
          </a:prstGeom>
          <a:noFill/>
          <a:ln/>
        </p:spPr>
        <p:txBody>
          <a:bodyPr wrap="none" lIns="0" tIns="0" rIns="0" bIns="0" rtlCol="0" anchor="t"/>
          <a:lstStyle/>
          <a:p>
            <a:pPr marL="0" indent="0" algn="l">
              <a:lnSpc>
                <a:spcPts val="1305"/>
              </a:lnSpc>
              <a:buNone/>
            </a:pPr>
            <a:r>
              <a:rPr lang="en-US" sz="900" dirty="0">
                <a:solidFill>
                  <a:srgbClr val="FBA74A"/>
                </a:solidFill>
                <a:latin typeface="Courier New" pitchFamily="34" charset="0"/>
                <a:ea typeface="Courier New" pitchFamily="34" charset="-122"/>
                <a:cs typeface="Courier New" pitchFamily="34" charset="-120"/>
              </a:rPr>
              <a:t>:</a:t>
            </a:r>
            <a:endParaRPr lang="en-US" sz="900" dirty="0"/>
          </a:p>
        </p:txBody>
      </p:sp>
      <p:sp>
        <p:nvSpPr>
          <p:cNvPr id="33" name="Text 31"/>
          <p:cNvSpPr/>
          <p:nvPr/>
        </p:nvSpPr>
        <p:spPr>
          <a:xfrm>
            <a:off x="1428750" y="3027945"/>
            <a:ext cx="1357313" cy="138214"/>
          </a:xfrm>
          <a:prstGeom prst="rect">
            <a:avLst/>
          </a:prstGeom>
          <a:noFill/>
          <a:ln/>
        </p:spPr>
        <p:txBody>
          <a:bodyPr wrap="none" lIns="0" tIns="0" rIns="0" bIns="0" rtlCol="0" anchor="t">
            <a:normAutofit fontScale="47500" lnSpcReduction="20000"/>
          </a:bodyPr>
          <a:lstStyle/>
          <a:p>
            <a:pPr marL="0" indent="0" algn="l">
              <a:lnSpc>
                <a:spcPts val="1305"/>
              </a:lnSpc>
              <a:buNone/>
            </a:pPr>
            <a:r>
              <a:rPr lang="en-US" sz="900" dirty="0">
                <a:solidFill>
                  <a:srgbClr val="86EFAC"/>
                </a:solidFill>
                <a:latin typeface="Liberation Sans Narrow" pitchFamily="34" charset="0"/>
                <a:ea typeface="Liberation Sans Narrow" pitchFamily="34" charset="-122"/>
                <a:cs typeface="Liberation Sans Narrow" pitchFamily="34" charset="-120"/>
              </a:rPr>
              <a:t>actions/checkout@v4</a:t>
            </a:r>
            <a:endParaRPr lang="en-US" sz="900" dirty="0"/>
          </a:p>
        </p:txBody>
      </p:sp>
      <p:sp>
        <p:nvSpPr>
          <p:cNvPr id="34" name="Text 32"/>
          <p:cNvSpPr/>
          <p:nvPr/>
        </p:nvSpPr>
        <p:spPr>
          <a:xfrm>
            <a:off x="1085850" y="3193591"/>
            <a:ext cx="365760" cy="154305"/>
          </a:xfrm>
          <a:prstGeom prst="rect">
            <a:avLst/>
          </a:prstGeom>
          <a:noFill/>
          <a:ln/>
        </p:spPr>
        <p:txBody>
          <a:bodyPr wrap="none" lIns="0" tIns="0" rIns="0" bIns="0" rtlCol="0" anchor="t"/>
          <a:lstStyle/>
          <a:p>
            <a:pPr marL="0" indent="0" algn="l">
              <a:lnSpc>
                <a:spcPts val="1305"/>
              </a:lnSpc>
              <a:buNone/>
            </a:pPr>
            <a:r>
              <a:rPr lang="en-US" sz="900" dirty="0">
                <a:solidFill>
                  <a:srgbClr val="FBBF24"/>
                </a:solidFill>
                <a:latin typeface="Courier New" pitchFamily="34" charset="0"/>
                <a:ea typeface="Courier New" pitchFamily="34" charset="-122"/>
                <a:cs typeface="Courier New" pitchFamily="34" charset="-120"/>
              </a:rPr>
              <a:t>with</a:t>
            </a:r>
            <a:endParaRPr lang="en-US" sz="900" dirty="0"/>
          </a:p>
        </p:txBody>
      </p:sp>
      <p:sp>
        <p:nvSpPr>
          <p:cNvPr id="35" name="Text 33"/>
          <p:cNvSpPr/>
          <p:nvPr/>
        </p:nvSpPr>
        <p:spPr>
          <a:xfrm>
            <a:off x="1314450" y="3193591"/>
            <a:ext cx="91440" cy="154305"/>
          </a:xfrm>
          <a:prstGeom prst="rect">
            <a:avLst/>
          </a:prstGeom>
          <a:noFill/>
          <a:ln/>
        </p:spPr>
        <p:txBody>
          <a:bodyPr wrap="none" lIns="0" tIns="0" rIns="0" bIns="0" rtlCol="0" anchor="t"/>
          <a:lstStyle/>
          <a:p>
            <a:pPr marL="0" indent="0" algn="l">
              <a:lnSpc>
                <a:spcPts val="1305"/>
              </a:lnSpc>
              <a:buNone/>
            </a:pPr>
            <a:r>
              <a:rPr lang="en-US" sz="900" dirty="0">
                <a:solidFill>
                  <a:srgbClr val="FBA74A"/>
                </a:solidFill>
                <a:latin typeface="Courier New" pitchFamily="34" charset="0"/>
                <a:ea typeface="Courier New" pitchFamily="34" charset="-122"/>
                <a:cs typeface="Courier New" pitchFamily="34" charset="-120"/>
              </a:rPr>
              <a:t>:</a:t>
            </a:r>
            <a:endParaRPr lang="en-US" sz="900" dirty="0"/>
          </a:p>
        </p:txBody>
      </p:sp>
      <p:sp>
        <p:nvSpPr>
          <p:cNvPr id="36" name="Text 34"/>
          <p:cNvSpPr/>
          <p:nvPr/>
        </p:nvSpPr>
        <p:spPr>
          <a:xfrm>
            <a:off x="1428750" y="3193591"/>
            <a:ext cx="91440" cy="154305"/>
          </a:xfrm>
          <a:prstGeom prst="rect">
            <a:avLst/>
          </a:prstGeom>
          <a:noFill/>
          <a:ln/>
        </p:spPr>
        <p:txBody>
          <a:bodyPr wrap="none" lIns="0" tIns="0" rIns="0" bIns="0" rtlCol="0" anchor="t"/>
          <a:lstStyle/>
          <a:p>
            <a:pPr marL="0" indent="0" algn="l">
              <a:lnSpc>
                <a:spcPts val="1305"/>
              </a:lnSpc>
              <a:buNone/>
            </a:pPr>
            <a:r>
              <a:rPr lang="en-US" sz="900" dirty="0">
                <a:solidFill>
                  <a:srgbClr val="FBA74A"/>
                </a:solidFill>
                <a:latin typeface="Courier New" pitchFamily="34" charset="0"/>
                <a:ea typeface="Courier New" pitchFamily="34" charset="-122"/>
                <a:cs typeface="Courier New" pitchFamily="34" charset="-120"/>
              </a:rPr>
              <a:t>{</a:t>
            </a:r>
            <a:endParaRPr lang="en-US" sz="900" dirty="0"/>
          </a:p>
        </p:txBody>
      </p:sp>
      <p:sp>
        <p:nvSpPr>
          <p:cNvPr id="37" name="Text 35"/>
          <p:cNvSpPr/>
          <p:nvPr/>
        </p:nvSpPr>
        <p:spPr>
          <a:xfrm>
            <a:off x="1534935" y="3193591"/>
            <a:ext cx="802043" cy="154305"/>
          </a:xfrm>
          <a:prstGeom prst="rect">
            <a:avLst/>
          </a:prstGeom>
          <a:noFill/>
          <a:ln/>
        </p:spPr>
        <p:txBody>
          <a:bodyPr wrap="none" lIns="0" tIns="0" rIns="0" bIns="0" rtlCol="0" anchor="t"/>
          <a:lstStyle/>
          <a:p>
            <a:pPr marL="0" indent="0" algn="l">
              <a:lnSpc>
                <a:spcPts val="1305"/>
              </a:lnSpc>
              <a:buNone/>
            </a:pPr>
            <a:r>
              <a:rPr lang="en-US" sz="900" dirty="0">
                <a:solidFill>
                  <a:srgbClr val="FBBF24"/>
                </a:solidFill>
                <a:latin typeface="Courier New" pitchFamily="34" charset="0"/>
                <a:ea typeface="Courier New" pitchFamily="34" charset="-122"/>
                <a:cs typeface="Courier New" pitchFamily="34" charset="-120"/>
              </a:rPr>
              <a:t>fetch-depth</a:t>
            </a:r>
            <a:endParaRPr lang="en-US" sz="900" dirty="0"/>
          </a:p>
        </p:txBody>
      </p:sp>
      <p:sp>
        <p:nvSpPr>
          <p:cNvPr id="38" name="Text 36"/>
          <p:cNvSpPr/>
          <p:nvPr/>
        </p:nvSpPr>
        <p:spPr>
          <a:xfrm>
            <a:off x="2171700" y="3193591"/>
            <a:ext cx="91440" cy="154305"/>
          </a:xfrm>
          <a:prstGeom prst="rect">
            <a:avLst/>
          </a:prstGeom>
          <a:noFill/>
          <a:ln/>
        </p:spPr>
        <p:txBody>
          <a:bodyPr wrap="none" lIns="0" tIns="0" rIns="0" bIns="0" rtlCol="0" anchor="t"/>
          <a:lstStyle/>
          <a:p>
            <a:pPr marL="0" indent="0" algn="l">
              <a:lnSpc>
                <a:spcPts val="1305"/>
              </a:lnSpc>
              <a:buNone/>
            </a:pPr>
            <a:r>
              <a:rPr lang="en-US" sz="900" dirty="0">
                <a:solidFill>
                  <a:srgbClr val="FBA74A"/>
                </a:solidFill>
                <a:latin typeface="Courier New" pitchFamily="34" charset="0"/>
                <a:ea typeface="Courier New" pitchFamily="34" charset="-122"/>
                <a:cs typeface="Courier New" pitchFamily="34" charset="-120"/>
              </a:rPr>
              <a:t>:</a:t>
            </a:r>
            <a:endParaRPr lang="en-US" sz="900" dirty="0"/>
          </a:p>
        </p:txBody>
      </p:sp>
      <p:sp>
        <p:nvSpPr>
          <p:cNvPr id="39" name="Text 37"/>
          <p:cNvSpPr/>
          <p:nvPr/>
        </p:nvSpPr>
        <p:spPr>
          <a:xfrm>
            <a:off x="2269907" y="3193591"/>
            <a:ext cx="123627" cy="154305"/>
          </a:xfrm>
          <a:prstGeom prst="rect">
            <a:avLst/>
          </a:prstGeom>
          <a:noFill/>
          <a:ln/>
        </p:spPr>
        <p:txBody>
          <a:bodyPr wrap="none" lIns="0" tIns="0" rIns="0" bIns="0" rtlCol="0" anchor="t"/>
          <a:lstStyle/>
          <a:p>
            <a:pPr marL="0" indent="0" algn="l">
              <a:lnSpc>
                <a:spcPts val="1305"/>
              </a:lnSpc>
              <a:buNone/>
            </a:pPr>
            <a:r>
              <a:rPr lang="en-US" sz="900" dirty="0">
                <a:solidFill>
                  <a:srgbClr val="93C5FD"/>
                </a:solidFill>
                <a:latin typeface="Liberation Sans Narrow" pitchFamily="34" charset="0"/>
                <a:ea typeface="Liberation Sans Narrow" pitchFamily="34" charset="-122"/>
                <a:cs typeface="Liberation Sans Narrow" pitchFamily="34" charset="-120"/>
              </a:rPr>
              <a:t>0</a:t>
            </a:r>
            <a:endParaRPr lang="en-US" sz="900" dirty="0"/>
          </a:p>
        </p:txBody>
      </p:sp>
      <p:sp>
        <p:nvSpPr>
          <p:cNvPr id="40" name="Text 38"/>
          <p:cNvSpPr/>
          <p:nvPr/>
        </p:nvSpPr>
        <p:spPr>
          <a:xfrm>
            <a:off x="2400300" y="3193591"/>
            <a:ext cx="91440" cy="138214"/>
          </a:xfrm>
          <a:prstGeom prst="rect">
            <a:avLst/>
          </a:prstGeom>
          <a:noFill/>
          <a:ln/>
        </p:spPr>
        <p:txBody>
          <a:bodyPr wrap="none" lIns="0" tIns="0" rIns="0" bIns="0" rtlCol="0" anchor="t">
            <a:normAutofit fontScale="32500" lnSpcReduction="20000"/>
          </a:bodyPr>
          <a:lstStyle/>
          <a:p>
            <a:pPr marL="0" indent="0" algn="l">
              <a:lnSpc>
                <a:spcPts val="1305"/>
              </a:lnSpc>
              <a:buNone/>
            </a:pPr>
            <a:r>
              <a:rPr lang="en-US" sz="900" dirty="0">
                <a:solidFill>
                  <a:srgbClr val="FBA74A"/>
                </a:solidFill>
                <a:latin typeface="Courier New" pitchFamily="34" charset="0"/>
                <a:ea typeface="Courier New" pitchFamily="34" charset="-122"/>
                <a:cs typeface="Courier New" pitchFamily="34" charset="-120"/>
              </a:rPr>
              <a:t>}</a:t>
            </a:r>
            <a:endParaRPr lang="en-US" sz="900" dirty="0"/>
          </a:p>
        </p:txBody>
      </p:sp>
      <p:sp>
        <p:nvSpPr>
          <p:cNvPr id="41" name="Text 39"/>
          <p:cNvSpPr/>
          <p:nvPr/>
        </p:nvSpPr>
        <p:spPr>
          <a:xfrm>
            <a:off x="971550" y="3359237"/>
            <a:ext cx="91440" cy="154305"/>
          </a:xfrm>
          <a:prstGeom prst="rect">
            <a:avLst/>
          </a:prstGeom>
          <a:noFill/>
          <a:ln/>
        </p:spPr>
        <p:txBody>
          <a:bodyPr wrap="none" lIns="0" tIns="0" rIns="0" bIns="0" rtlCol="0" anchor="t"/>
          <a:lstStyle/>
          <a:p>
            <a:pPr marL="0" indent="0" algn="l">
              <a:lnSpc>
                <a:spcPts val="1305"/>
              </a:lnSpc>
              <a:buNone/>
            </a:pPr>
            <a:r>
              <a:rPr lang="en-US" sz="900" dirty="0">
                <a:solidFill>
                  <a:srgbClr val="FBA74A"/>
                </a:solidFill>
                <a:latin typeface="Courier New" pitchFamily="34" charset="0"/>
                <a:ea typeface="Courier New" pitchFamily="34" charset="-122"/>
                <a:cs typeface="Courier New" pitchFamily="34" charset="-120"/>
              </a:rPr>
              <a:t>-</a:t>
            </a:r>
            <a:endParaRPr lang="en-US" sz="900" dirty="0"/>
          </a:p>
        </p:txBody>
      </p:sp>
      <p:sp>
        <p:nvSpPr>
          <p:cNvPr id="42" name="Text 40"/>
          <p:cNvSpPr/>
          <p:nvPr/>
        </p:nvSpPr>
        <p:spPr>
          <a:xfrm>
            <a:off x="1085850" y="3359237"/>
            <a:ext cx="365760" cy="154305"/>
          </a:xfrm>
          <a:prstGeom prst="rect">
            <a:avLst/>
          </a:prstGeom>
          <a:noFill/>
          <a:ln/>
        </p:spPr>
        <p:txBody>
          <a:bodyPr wrap="none" lIns="0" tIns="0" rIns="0" bIns="0" rtlCol="0" anchor="t"/>
          <a:lstStyle/>
          <a:p>
            <a:pPr marL="0" indent="0" algn="l">
              <a:lnSpc>
                <a:spcPts val="1305"/>
              </a:lnSpc>
              <a:buNone/>
            </a:pPr>
            <a:r>
              <a:rPr lang="en-US" sz="900" dirty="0">
                <a:solidFill>
                  <a:srgbClr val="FBBF24"/>
                </a:solidFill>
                <a:latin typeface="Courier New" pitchFamily="34" charset="0"/>
                <a:ea typeface="Courier New" pitchFamily="34" charset="-122"/>
                <a:cs typeface="Courier New" pitchFamily="34" charset="-120"/>
              </a:rPr>
              <a:t>name</a:t>
            </a:r>
            <a:endParaRPr lang="en-US" sz="900" dirty="0"/>
          </a:p>
        </p:txBody>
      </p:sp>
      <p:sp>
        <p:nvSpPr>
          <p:cNvPr id="43" name="Text 41"/>
          <p:cNvSpPr/>
          <p:nvPr/>
        </p:nvSpPr>
        <p:spPr>
          <a:xfrm>
            <a:off x="1314450" y="3359237"/>
            <a:ext cx="91440" cy="154305"/>
          </a:xfrm>
          <a:prstGeom prst="rect">
            <a:avLst/>
          </a:prstGeom>
          <a:noFill/>
          <a:ln/>
        </p:spPr>
        <p:txBody>
          <a:bodyPr wrap="none" lIns="0" tIns="0" rIns="0" bIns="0" rtlCol="0" anchor="t"/>
          <a:lstStyle/>
          <a:p>
            <a:pPr marL="0" indent="0" algn="l">
              <a:lnSpc>
                <a:spcPts val="1305"/>
              </a:lnSpc>
              <a:buNone/>
            </a:pPr>
            <a:r>
              <a:rPr lang="en-US" sz="900" dirty="0">
                <a:solidFill>
                  <a:srgbClr val="FBA74A"/>
                </a:solidFill>
                <a:latin typeface="Courier New" pitchFamily="34" charset="0"/>
                <a:ea typeface="Courier New" pitchFamily="34" charset="-122"/>
                <a:cs typeface="Courier New" pitchFamily="34" charset="-120"/>
              </a:rPr>
              <a:t>:</a:t>
            </a:r>
            <a:endParaRPr lang="en-US" sz="900" dirty="0"/>
          </a:p>
        </p:txBody>
      </p:sp>
      <p:sp>
        <p:nvSpPr>
          <p:cNvPr id="44" name="Text 42"/>
          <p:cNvSpPr/>
          <p:nvPr/>
        </p:nvSpPr>
        <p:spPr>
          <a:xfrm>
            <a:off x="1428750" y="3359237"/>
            <a:ext cx="1604772" cy="138214"/>
          </a:xfrm>
          <a:prstGeom prst="rect">
            <a:avLst/>
          </a:prstGeom>
          <a:noFill/>
          <a:ln/>
        </p:spPr>
        <p:txBody>
          <a:bodyPr wrap="none" lIns="0" tIns="0" rIns="0" bIns="0" rtlCol="0" anchor="t">
            <a:normAutofit fontScale="32500" lnSpcReduction="20000"/>
          </a:bodyPr>
          <a:lstStyle/>
          <a:p>
            <a:pPr marL="0" indent="0" algn="l">
              <a:lnSpc>
                <a:spcPts val="1305"/>
              </a:lnSpc>
              <a:buNone/>
            </a:pPr>
            <a:r>
              <a:rPr lang="en-US" sz="900" dirty="0">
                <a:solidFill>
                  <a:srgbClr val="86EFAC"/>
                </a:solidFill>
                <a:latin typeface="Courier New" pitchFamily="34" charset="0"/>
                <a:ea typeface="Courier New" pitchFamily="34" charset="-122"/>
                <a:cs typeface="Courier New" pitchFamily="34" charset="-120"/>
              </a:rPr>
              <a:t>Detect changed directories</a:t>
            </a:r>
            <a:endParaRPr lang="en-US" sz="900" dirty="0"/>
          </a:p>
        </p:txBody>
      </p:sp>
      <p:sp>
        <p:nvSpPr>
          <p:cNvPr id="45" name="Text 43"/>
          <p:cNvSpPr/>
          <p:nvPr/>
        </p:nvSpPr>
        <p:spPr>
          <a:xfrm>
            <a:off x="1085850" y="3524883"/>
            <a:ext cx="182880" cy="154305"/>
          </a:xfrm>
          <a:prstGeom prst="rect">
            <a:avLst/>
          </a:prstGeom>
          <a:noFill/>
          <a:ln/>
        </p:spPr>
        <p:txBody>
          <a:bodyPr wrap="none" lIns="0" tIns="0" rIns="0" bIns="0" rtlCol="0" anchor="t"/>
          <a:lstStyle/>
          <a:p>
            <a:pPr marL="0" indent="0" algn="l">
              <a:lnSpc>
                <a:spcPts val="1305"/>
              </a:lnSpc>
              <a:buNone/>
            </a:pPr>
            <a:r>
              <a:rPr lang="en-US" sz="900" dirty="0">
                <a:solidFill>
                  <a:srgbClr val="FBBF24"/>
                </a:solidFill>
                <a:latin typeface="Courier New" pitchFamily="34" charset="0"/>
                <a:ea typeface="Courier New" pitchFamily="34" charset="-122"/>
                <a:cs typeface="Courier New" pitchFamily="34" charset="-120"/>
              </a:rPr>
              <a:t>id</a:t>
            </a:r>
            <a:endParaRPr lang="en-US" sz="900" dirty="0"/>
          </a:p>
        </p:txBody>
      </p:sp>
      <p:sp>
        <p:nvSpPr>
          <p:cNvPr id="46" name="Text 44"/>
          <p:cNvSpPr/>
          <p:nvPr/>
        </p:nvSpPr>
        <p:spPr>
          <a:xfrm>
            <a:off x="1200150" y="3524883"/>
            <a:ext cx="91440" cy="154305"/>
          </a:xfrm>
          <a:prstGeom prst="rect">
            <a:avLst/>
          </a:prstGeom>
          <a:noFill/>
          <a:ln/>
        </p:spPr>
        <p:txBody>
          <a:bodyPr wrap="none" lIns="0" tIns="0" rIns="0" bIns="0" rtlCol="0" anchor="t"/>
          <a:lstStyle/>
          <a:p>
            <a:pPr marL="0" indent="0" algn="l">
              <a:lnSpc>
                <a:spcPts val="1305"/>
              </a:lnSpc>
              <a:buNone/>
            </a:pPr>
            <a:r>
              <a:rPr lang="en-US" sz="900" dirty="0">
                <a:solidFill>
                  <a:srgbClr val="FBA74A"/>
                </a:solidFill>
                <a:latin typeface="Courier New" pitchFamily="34" charset="0"/>
                <a:ea typeface="Courier New" pitchFamily="34" charset="-122"/>
                <a:cs typeface="Courier New" pitchFamily="34" charset="-120"/>
              </a:rPr>
              <a:t>:</a:t>
            </a:r>
            <a:endParaRPr lang="en-US" sz="900" dirty="0"/>
          </a:p>
        </p:txBody>
      </p:sp>
      <p:sp>
        <p:nvSpPr>
          <p:cNvPr id="47" name="Text 45"/>
          <p:cNvSpPr/>
          <p:nvPr/>
        </p:nvSpPr>
        <p:spPr>
          <a:xfrm>
            <a:off x="1314450" y="3524883"/>
            <a:ext cx="365760" cy="138214"/>
          </a:xfrm>
          <a:prstGeom prst="rect">
            <a:avLst/>
          </a:prstGeom>
          <a:noFill/>
          <a:ln/>
        </p:spPr>
        <p:txBody>
          <a:bodyPr wrap="none" lIns="0" tIns="0" rIns="0" bIns="0" rtlCol="0" anchor="t">
            <a:normAutofit fontScale="32500" lnSpcReduction="20000"/>
          </a:bodyPr>
          <a:lstStyle/>
          <a:p>
            <a:pPr marL="0" indent="0" algn="l">
              <a:lnSpc>
                <a:spcPts val="1305"/>
              </a:lnSpc>
              <a:buNone/>
            </a:pPr>
            <a:r>
              <a:rPr lang="en-US" sz="900" dirty="0">
                <a:solidFill>
                  <a:srgbClr val="86EFAC"/>
                </a:solidFill>
                <a:latin typeface="Courier New" pitchFamily="34" charset="0"/>
                <a:ea typeface="Courier New" pitchFamily="34" charset="-122"/>
                <a:cs typeface="Courier New" pitchFamily="34" charset="-120"/>
              </a:rPr>
              <a:t>pick</a:t>
            </a:r>
            <a:endParaRPr lang="en-US" sz="900" dirty="0"/>
          </a:p>
        </p:txBody>
      </p:sp>
      <p:sp>
        <p:nvSpPr>
          <p:cNvPr id="48" name="Text 46"/>
          <p:cNvSpPr/>
          <p:nvPr/>
        </p:nvSpPr>
        <p:spPr>
          <a:xfrm>
            <a:off x="1085850" y="3690528"/>
            <a:ext cx="274320" cy="154305"/>
          </a:xfrm>
          <a:prstGeom prst="rect">
            <a:avLst/>
          </a:prstGeom>
          <a:noFill/>
          <a:ln/>
        </p:spPr>
        <p:txBody>
          <a:bodyPr wrap="none" lIns="0" tIns="0" rIns="0" bIns="0" rtlCol="0" anchor="t"/>
          <a:lstStyle/>
          <a:p>
            <a:pPr marL="0" indent="0" algn="l">
              <a:lnSpc>
                <a:spcPts val="1305"/>
              </a:lnSpc>
              <a:buNone/>
            </a:pPr>
            <a:r>
              <a:rPr lang="en-US" sz="900" dirty="0">
                <a:solidFill>
                  <a:srgbClr val="FBBF24"/>
                </a:solidFill>
                <a:latin typeface="Courier New" pitchFamily="34" charset="0"/>
                <a:ea typeface="Courier New" pitchFamily="34" charset="-122"/>
                <a:cs typeface="Courier New" pitchFamily="34" charset="-120"/>
              </a:rPr>
              <a:t>run</a:t>
            </a:r>
            <a:endParaRPr lang="en-US" sz="900" dirty="0"/>
          </a:p>
        </p:txBody>
      </p:sp>
      <p:sp>
        <p:nvSpPr>
          <p:cNvPr id="49" name="Text 47"/>
          <p:cNvSpPr/>
          <p:nvPr/>
        </p:nvSpPr>
        <p:spPr>
          <a:xfrm>
            <a:off x="1257300" y="3690528"/>
            <a:ext cx="91440" cy="154305"/>
          </a:xfrm>
          <a:prstGeom prst="rect">
            <a:avLst/>
          </a:prstGeom>
          <a:noFill/>
          <a:ln/>
        </p:spPr>
        <p:txBody>
          <a:bodyPr wrap="none" lIns="0" tIns="0" rIns="0" bIns="0" rtlCol="0" anchor="t"/>
          <a:lstStyle/>
          <a:p>
            <a:pPr marL="0" indent="0" algn="l">
              <a:lnSpc>
                <a:spcPts val="1305"/>
              </a:lnSpc>
              <a:buNone/>
            </a:pPr>
            <a:r>
              <a:rPr lang="en-US" sz="900" dirty="0">
                <a:solidFill>
                  <a:srgbClr val="FBA74A"/>
                </a:solidFill>
                <a:latin typeface="Courier New" pitchFamily="34" charset="0"/>
                <a:ea typeface="Courier New" pitchFamily="34" charset="-122"/>
                <a:cs typeface="Courier New" pitchFamily="34" charset="-120"/>
              </a:rPr>
              <a:t>:</a:t>
            </a:r>
            <a:endParaRPr lang="en-US" sz="900" dirty="0"/>
          </a:p>
        </p:txBody>
      </p:sp>
      <p:sp>
        <p:nvSpPr>
          <p:cNvPr id="50" name="Text 48"/>
          <p:cNvSpPr/>
          <p:nvPr/>
        </p:nvSpPr>
        <p:spPr>
          <a:xfrm>
            <a:off x="1371600" y="3690528"/>
            <a:ext cx="91440" cy="138214"/>
          </a:xfrm>
          <a:prstGeom prst="rect">
            <a:avLst/>
          </a:prstGeom>
          <a:noFill/>
          <a:ln/>
        </p:spPr>
        <p:txBody>
          <a:bodyPr wrap="none" lIns="0" tIns="0" rIns="0" bIns="0" rtlCol="0" anchor="t">
            <a:normAutofit fontScale="32500" lnSpcReduction="20000"/>
          </a:bodyPr>
          <a:lstStyle/>
          <a:p>
            <a:pPr marL="0" indent="0" algn="l">
              <a:lnSpc>
                <a:spcPts val="1305"/>
              </a:lnSpc>
              <a:buNone/>
            </a:pPr>
            <a:r>
              <a:rPr lang="en-US" sz="900" dirty="0">
                <a:solidFill>
                  <a:srgbClr val="FBA74A"/>
                </a:solidFill>
                <a:latin typeface="Courier New" pitchFamily="34" charset="0"/>
                <a:ea typeface="Courier New" pitchFamily="34" charset="-122"/>
                <a:cs typeface="Courier New" pitchFamily="34" charset="-120"/>
              </a:rPr>
              <a:t>|</a:t>
            </a:r>
            <a:endParaRPr lang="en-US" sz="900" dirty="0"/>
          </a:p>
        </p:txBody>
      </p:sp>
      <p:sp>
        <p:nvSpPr>
          <p:cNvPr id="51" name="Text 49"/>
          <p:cNvSpPr/>
          <p:nvPr/>
        </p:nvSpPr>
        <p:spPr>
          <a:xfrm>
            <a:off x="1173507" y="3856174"/>
            <a:ext cx="625358" cy="154305"/>
          </a:xfrm>
          <a:prstGeom prst="rect">
            <a:avLst/>
          </a:prstGeom>
          <a:noFill/>
          <a:ln/>
        </p:spPr>
        <p:txBody>
          <a:bodyPr wrap="none" lIns="0" tIns="0" rIns="0" bIns="0" rtlCol="0" anchor="t"/>
          <a:lstStyle/>
          <a:p>
            <a:pPr marL="0" indent="0" algn="l">
              <a:lnSpc>
                <a:spcPts val="1305"/>
              </a:lnSpc>
              <a:buNone/>
            </a:pPr>
            <a:r>
              <a:rPr lang="en-US" sz="900" dirty="0">
                <a:solidFill>
                  <a:srgbClr val="93C5FD"/>
                </a:solidFill>
                <a:latin typeface="Courier New" pitchFamily="34" charset="0"/>
                <a:ea typeface="Courier New" pitchFamily="34" charset="-122"/>
                <a:cs typeface="Courier New" pitchFamily="34" charset="-120"/>
              </a:rPr>
              <a:t>CHANGED</a:t>
            </a:r>
            <a:endParaRPr lang="en-US" sz="900" dirty="0"/>
          </a:p>
        </p:txBody>
      </p:sp>
      <p:sp>
        <p:nvSpPr>
          <p:cNvPr id="52" name="Text 50"/>
          <p:cNvSpPr/>
          <p:nvPr/>
        </p:nvSpPr>
        <p:spPr>
          <a:xfrm>
            <a:off x="1200150" y="4187465"/>
            <a:ext cx="2971800" cy="100236"/>
          </a:xfrm>
          <a:prstGeom prst="rect">
            <a:avLst/>
          </a:prstGeom>
          <a:noFill/>
          <a:ln/>
        </p:spPr>
        <p:txBody>
          <a:bodyPr wrap="none" lIns="0" tIns="0" rIns="0" bIns="0" rtlCol="0" anchor="t"/>
          <a:lstStyle/>
          <a:p>
            <a:pPr marL="0" indent="0" algn="l">
              <a:lnSpc>
                <a:spcPts val="1305"/>
              </a:lnSpc>
              <a:buNone/>
            </a:pPr>
            <a:r>
              <a:rPr lang="en-US" sz="900" i="1" dirty="0">
                <a:solidFill>
                  <a:srgbClr val="94A3B8"/>
                </a:solidFill>
                <a:latin typeface="Courier New" pitchFamily="34" charset="0"/>
                <a:ea typeface="Courier New" pitchFamily="34" charset="-122"/>
                <a:cs typeface="Courier New" pitchFamily="34" charset="-120"/>
              </a:rPr>
              <a:t># Map changed dirs to test dirs (simple 1:1 example)</a:t>
            </a:r>
            <a:endParaRPr lang="en-US" sz="900" dirty="0"/>
          </a:p>
        </p:txBody>
      </p:sp>
      <p:sp>
        <p:nvSpPr>
          <p:cNvPr id="53" name="Text 51"/>
          <p:cNvSpPr/>
          <p:nvPr/>
        </p:nvSpPr>
        <p:spPr>
          <a:xfrm>
            <a:off x="1199693" y="4353111"/>
            <a:ext cx="458114" cy="91440"/>
          </a:xfrm>
          <a:prstGeom prst="rect">
            <a:avLst/>
          </a:prstGeom>
          <a:noFill/>
          <a:ln/>
        </p:spPr>
        <p:txBody>
          <a:bodyPr wrap="none" lIns="0" tIns="0" rIns="0" bIns="0" rtlCol="0" anchor="t"/>
          <a:lstStyle/>
          <a:p>
            <a:pPr marL="0" indent="0" algn="l">
              <a:lnSpc>
                <a:spcPts val="1305"/>
              </a:lnSpc>
              <a:buNone/>
            </a:pPr>
            <a:r>
              <a:rPr lang="en-US" sz="900" dirty="0">
                <a:solidFill>
                  <a:srgbClr val="93C5FD"/>
                </a:solidFill>
                <a:latin typeface="Courier New" pitchFamily="34" charset="0"/>
                <a:ea typeface="Courier New" pitchFamily="34" charset="-122"/>
                <a:cs typeface="Courier New" pitchFamily="34" charset="-120"/>
              </a:rPr>
              <a:t>TESTS</a:t>
            </a:r>
            <a:endParaRPr lang="en-US" sz="900" dirty="0"/>
          </a:p>
        </p:txBody>
      </p:sp>
      <p:sp>
        <p:nvSpPr>
          <p:cNvPr id="54" name="Text 52"/>
          <p:cNvSpPr/>
          <p:nvPr/>
        </p:nvSpPr>
        <p:spPr>
          <a:xfrm>
            <a:off x="1896568" y="4353111"/>
            <a:ext cx="807438" cy="91440"/>
          </a:xfrm>
          <a:prstGeom prst="rect">
            <a:avLst/>
          </a:prstGeom>
          <a:noFill/>
          <a:ln/>
        </p:spPr>
        <p:txBody>
          <a:bodyPr wrap="none" lIns="0" tIns="0" rIns="0" bIns="0" rtlCol="0" anchor="t"/>
          <a:lstStyle/>
          <a:p>
            <a:pPr marL="0" indent="0" algn="l">
              <a:lnSpc>
                <a:spcPts val="1305"/>
              </a:lnSpc>
              <a:buNone/>
            </a:pPr>
            <a:r>
              <a:rPr lang="en-US" sz="900" dirty="0">
                <a:solidFill>
                  <a:srgbClr val="86EFAC"/>
                </a:solidFill>
                <a:latin typeface="Courier New" pitchFamily="34" charset="0"/>
                <a:ea typeface="Courier New" pitchFamily="34" charset="-122"/>
                <a:cs typeface="Courier New" pitchFamily="34" charset="-120"/>
              </a:rPr>
              <a:t>"$CHANGED"</a:t>
            </a:r>
            <a:endParaRPr lang="en-US" sz="900" dirty="0"/>
          </a:p>
        </p:txBody>
      </p:sp>
      <p:sp>
        <p:nvSpPr>
          <p:cNvPr id="55" name="Text 53"/>
          <p:cNvSpPr/>
          <p:nvPr/>
        </p:nvSpPr>
        <p:spPr>
          <a:xfrm>
            <a:off x="1485900" y="4518757"/>
            <a:ext cx="1285875" cy="91440"/>
          </a:xfrm>
          <a:prstGeom prst="rect">
            <a:avLst/>
          </a:prstGeom>
          <a:noFill/>
          <a:ln/>
        </p:spPr>
        <p:txBody>
          <a:bodyPr wrap="none" lIns="0" tIns="0" rIns="0" bIns="0" rtlCol="0" anchor="t"/>
          <a:lstStyle/>
          <a:p>
            <a:pPr marL="0" indent="0" algn="l">
              <a:lnSpc>
                <a:spcPts val="1305"/>
              </a:lnSpc>
              <a:buNone/>
            </a:pPr>
            <a:r>
              <a:rPr lang="en-US" sz="900" dirty="0">
                <a:solidFill>
                  <a:srgbClr val="86EFAC"/>
                </a:solidFill>
                <a:latin typeface="Courier New" pitchFamily="34" charset="0"/>
                <a:ea typeface="Courier New" pitchFamily="34" charset="-122"/>
                <a:cs typeface="Courier New" pitchFamily="34" charset="-120"/>
              </a:rPr>
              <a:t>"test_dirs=$TESTS"</a:t>
            </a:r>
            <a:endParaRPr lang="en-US" sz="900" dirty="0"/>
          </a:p>
        </p:txBody>
      </p:sp>
      <p:sp>
        <p:nvSpPr>
          <p:cNvPr id="56" name="Text 54"/>
          <p:cNvSpPr/>
          <p:nvPr/>
        </p:nvSpPr>
        <p:spPr>
          <a:xfrm>
            <a:off x="742950" y="4850048"/>
            <a:ext cx="1285875" cy="91440"/>
          </a:xfrm>
          <a:prstGeom prst="rect">
            <a:avLst/>
          </a:prstGeom>
          <a:noFill/>
          <a:ln/>
        </p:spPr>
        <p:txBody>
          <a:bodyPr wrap="none" lIns="0" tIns="0" rIns="0" bIns="0" rtlCol="0" anchor="t"/>
          <a:lstStyle/>
          <a:p>
            <a:pPr marL="0" indent="0" algn="l">
              <a:lnSpc>
                <a:spcPts val="1305"/>
              </a:lnSpc>
              <a:buNone/>
            </a:pPr>
            <a:r>
              <a:rPr lang="en-US" sz="900" dirty="0">
                <a:solidFill>
                  <a:srgbClr val="FBBF24"/>
                </a:solidFill>
                <a:latin typeface="Courier New" pitchFamily="34" charset="0"/>
                <a:ea typeface="Courier New" pitchFamily="34" charset="-122"/>
                <a:cs typeface="Courier New" pitchFamily="34" charset="-120"/>
              </a:rPr>
              <a:t>run-selected-tests</a:t>
            </a:r>
            <a:endParaRPr lang="en-US" sz="900" dirty="0"/>
          </a:p>
        </p:txBody>
      </p:sp>
      <p:sp>
        <p:nvSpPr>
          <p:cNvPr id="57" name="Text 55"/>
          <p:cNvSpPr/>
          <p:nvPr/>
        </p:nvSpPr>
        <p:spPr>
          <a:xfrm>
            <a:off x="1771650" y="4850048"/>
            <a:ext cx="91440" cy="91440"/>
          </a:xfrm>
          <a:prstGeom prst="rect">
            <a:avLst/>
          </a:prstGeom>
          <a:noFill/>
          <a:ln/>
        </p:spPr>
        <p:txBody>
          <a:bodyPr wrap="none" lIns="0" tIns="0" rIns="0" bIns="0" rtlCol="0" anchor="t"/>
          <a:lstStyle/>
          <a:p>
            <a:pPr marL="0" indent="0" algn="l">
              <a:lnSpc>
                <a:spcPts val="1305"/>
              </a:lnSpc>
              <a:buNone/>
            </a:pPr>
            <a:r>
              <a:rPr lang="en-US" sz="900" dirty="0">
                <a:solidFill>
                  <a:srgbClr val="FBA74A"/>
                </a:solidFill>
                <a:latin typeface="Courier New" pitchFamily="34" charset="0"/>
                <a:ea typeface="Courier New" pitchFamily="34" charset="-122"/>
                <a:cs typeface="Courier New" pitchFamily="34" charset="-120"/>
              </a:rPr>
              <a:t>:</a:t>
            </a:r>
            <a:endParaRPr lang="en-US" sz="900" dirty="0"/>
          </a:p>
        </p:txBody>
      </p:sp>
      <p:sp>
        <p:nvSpPr>
          <p:cNvPr id="58" name="Text 56"/>
          <p:cNvSpPr/>
          <p:nvPr/>
        </p:nvSpPr>
        <p:spPr>
          <a:xfrm>
            <a:off x="857250" y="5015694"/>
            <a:ext cx="457200" cy="91440"/>
          </a:xfrm>
          <a:prstGeom prst="rect">
            <a:avLst/>
          </a:prstGeom>
          <a:noFill/>
          <a:ln/>
        </p:spPr>
        <p:txBody>
          <a:bodyPr wrap="none" lIns="0" tIns="0" rIns="0" bIns="0" rtlCol="0" anchor="t"/>
          <a:lstStyle/>
          <a:p>
            <a:pPr marL="0" indent="0" algn="l">
              <a:lnSpc>
                <a:spcPts val="1305"/>
              </a:lnSpc>
              <a:buNone/>
            </a:pPr>
            <a:r>
              <a:rPr lang="en-US" sz="900" dirty="0">
                <a:solidFill>
                  <a:srgbClr val="FBBF24"/>
                </a:solidFill>
                <a:latin typeface="Courier New" pitchFamily="34" charset="0"/>
                <a:ea typeface="Courier New" pitchFamily="34" charset="-122"/>
                <a:cs typeface="Courier New" pitchFamily="34" charset="-120"/>
              </a:rPr>
              <a:t>needs</a:t>
            </a:r>
            <a:endParaRPr lang="en-US" sz="900" dirty="0"/>
          </a:p>
        </p:txBody>
      </p:sp>
      <p:sp>
        <p:nvSpPr>
          <p:cNvPr id="59" name="Text 57"/>
          <p:cNvSpPr/>
          <p:nvPr/>
        </p:nvSpPr>
        <p:spPr>
          <a:xfrm>
            <a:off x="1143000" y="5015694"/>
            <a:ext cx="91440" cy="91440"/>
          </a:xfrm>
          <a:prstGeom prst="rect">
            <a:avLst/>
          </a:prstGeom>
          <a:noFill/>
          <a:ln/>
        </p:spPr>
        <p:txBody>
          <a:bodyPr wrap="none" lIns="0" tIns="0" rIns="0" bIns="0" rtlCol="0" anchor="t"/>
          <a:lstStyle/>
          <a:p>
            <a:pPr marL="0" indent="0" algn="l">
              <a:lnSpc>
                <a:spcPts val="1305"/>
              </a:lnSpc>
              <a:buNone/>
            </a:pPr>
            <a:r>
              <a:rPr lang="en-US" sz="900" dirty="0">
                <a:solidFill>
                  <a:srgbClr val="FBA74A"/>
                </a:solidFill>
                <a:latin typeface="Courier New" pitchFamily="34" charset="0"/>
                <a:ea typeface="Courier New" pitchFamily="34" charset="-122"/>
                <a:cs typeface="Courier New" pitchFamily="34" charset="-120"/>
              </a:rPr>
              <a:t>:</a:t>
            </a:r>
            <a:endParaRPr lang="en-US" sz="900" dirty="0"/>
          </a:p>
        </p:txBody>
      </p:sp>
      <p:sp>
        <p:nvSpPr>
          <p:cNvPr id="60" name="Text 58"/>
          <p:cNvSpPr/>
          <p:nvPr/>
        </p:nvSpPr>
        <p:spPr>
          <a:xfrm>
            <a:off x="1257300" y="5015694"/>
            <a:ext cx="1000125" cy="91440"/>
          </a:xfrm>
          <a:prstGeom prst="rect">
            <a:avLst/>
          </a:prstGeom>
          <a:noFill/>
          <a:ln/>
        </p:spPr>
        <p:txBody>
          <a:bodyPr wrap="none" lIns="0" tIns="0" rIns="0" bIns="0" rtlCol="0" anchor="t"/>
          <a:lstStyle/>
          <a:p>
            <a:pPr marL="0" indent="0" algn="l">
              <a:lnSpc>
                <a:spcPts val="1305"/>
              </a:lnSpc>
              <a:buNone/>
            </a:pPr>
            <a:r>
              <a:rPr lang="en-US" sz="900" dirty="0">
                <a:solidFill>
                  <a:srgbClr val="86EFAC"/>
                </a:solidFill>
                <a:latin typeface="Courier New" pitchFamily="34" charset="0"/>
                <a:ea typeface="Courier New" pitchFamily="34" charset="-122"/>
                <a:cs typeface="Courier New" pitchFamily="34" charset="-120"/>
              </a:rPr>
              <a:t>compute-impact</a:t>
            </a:r>
            <a:endParaRPr lang="en-US" sz="900" dirty="0"/>
          </a:p>
        </p:txBody>
      </p:sp>
      <p:sp>
        <p:nvSpPr>
          <p:cNvPr id="61" name="Text 59"/>
          <p:cNvSpPr/>
          <p:nvPr/>
        </p:nvSpPr>
        <p:spPr>
          <a:xfrm>
            <a:off x="857250" y="5181340"/>
            <a:ext cx="572072" cy="91440"/>
          </a:xfrm>
          <a:prstGeom prst="rect">
            <a:avLst/>
          </a:prstGeom>
          <a:noFill/>
          <a:ln/>
        </p:spPr>
        <p:txBody>
          <a:bodyPr wrap="none" lIns="0" tIns="0" rIns="0" bIns="0" rtlCol="0" anchor="t"/>
          <a:lstStyle/>
          <a:p>
            <a:pPr marL="0" indent="0" algn="l">
              <a:lnSpc>
                <a:spcPts val="1305"/>
              </a:lnSpc>
              <a:buNone/>
            </a:pPr>
            <a:r>
              <a:rPr lang="en-US" sz="900" dirty="0">
                <a:solidFill>
                  <a:srgbClr val="FBBF24"/>
                </a:solidFill>
                <a:latin typeface="Courier New" pitchFamily="34" charset="0"/>
                <a:ea typeface="Courier New" pitchFamily="34" charset="-122"/>
                <a:cs typeface="Courier New" pitchFamily="34" charset="-120"/>
              </a:rPr>
              <a:t>runs-on</a:t>
            </a:r>
            <a:endParaRPr lang="en-US" sz="900" dirty="0"/>
          </a:p>
        </p:txBody>
      </p:sp>
      <p:sp>
        <p:nvSpPr>
          <p:cNvPr id="62" name="Text 60"/>
          <p:cNvSpPr/>
          <p:nvPr/>
        </p:nvSpPr>
        <p:spPr>
          <a:xfrm>
            <a:off x="1257300" y="5181340"/>
            <a:ext cx="91440" cy="91440"/>
          </a:xfrm>
          <a:prstGeom prst="rect">
            <a:avLst/>
          </a:prstGeom>
          <a:noFill/>
          <a:ln/>
        </p:spPr>
        <p:txBody>
          <a:bodyPr wrap="none" lIns="0" tIns="0" rIns="0" bIns="0" rtlCol="0" anchor="t"/>
          <a:lstStyle/>
          <a:p>
            <a:pPr marL="0" indent="0" algn="l">
              <a:lnSpc>
                <a:spcPts val="1305"/>
              </a:lnSpc>
              <a:buNone/>
            </a:pPr>
            <a:r>
              <a:rPr lang="en-US" sz="900" dirty="0">
                <a:solidFill>
                  <a:srgbClr val="FBA74A"/>
                </a:solidFill>
                <a:latin typeface="Courier New" pitchFamily="34" charset="0"/>
                <a:ea typeface="Courier New" pitchFamily="34" charset="-122"/>
                <a:cs typeface="Courier New" pitchFamily="34" charset="-120"/>
              </a:rPr>
              <a:t>:</a:t>
            </a:r>
            <a:endParaRPr lang="en-US" sz="900" dirty="0"/>
          </a:p>
        </p:txBody>
      </p:sp>
      <p:sp>
        <p:nvSpPr>
          <p:cNvPr id="63" name="Text 61"/>
          <p:cNvSpPr/>
          <p:nvPr/>
        </p:nvSpPr>
        <p:spPr>
          <a:xfrm>
            <a:off x="1371600" y="5181340"/>
            <a:ext cx="928688" cy="91440"/>
          </a:xfrm>
          <a:prstGeom prst="rect">
            <a:avLst/>
          </a:prstGeom>
          <a:noFill/>
          <a:ln/>
        </p:spPr>
        <p:txBody>
          <a:bodyPr wrap="none" lIns="0" tIns="0" rIns="0" bIns="0" rtlCol="0" anchor="t"/>
          <a:lstStyle/>
          <a:p>
            <a:pPr marL="0" indent="0" algn="l">
              <a:lnSpc>
                <a:spcPts val="1305"/>
              </a:lnSpc>
              <a:buNone/>
            </a:pPr>
            <a:r>
              <a:rPr lang="en-US" sz="900" dirty="0">
                <a:solidFill>
                  <a:srgbClr val="86EFAC"/>
                </a:solidFill>
                <a:latin typeface="Courier New" pitchFamily="34" charset="0"/>
                <a:ea typeface="Courier New" pitchFamily="34" charset="-122"/>
                <a:cs typeface="Courier New" pitchFamily="34" charset="-120"/>
              </a:rPr>
              <a:t>ubuntu-latest</a:t>
            </a:r>
            <a:endParaRPr lang="en-US" sz="900" dirty="0"/>
          </a:p>
        </p:txBody>
      </p:sp>
      <p:sp>
        <p:nvSpPr>
          <p:cNvPr id="64" name="Text 62"/>
          <p:cNvSpPr/>
          <p:nvPr/>
        </p:nvSpPr>
        <p:spPr>
          <a:xfrm>
            <a:off x="857250" y="5346985"/>
            <a:ext cx="653796" cy="91440"/>
          </a:xfrm>
          <a:prstGeom prst="rect">
            <a:avLst/>
          </a:prstGeom>
          <a:noFill/>
          <a:ln/>
        </p:spPr>
        <p:txBody>
          <a:bodyPr wrap="none" lIns="0" tIns="0" rIns="0" bIns="0" rtlCol="0" anchor="t"/>
          <a:lstStyle/>
          <a:p>
            <a:pPr marL="0" indent="0" algn="l">
              <a:lnSpc>
                <a:spcPts val="1305"/>
              </a:lnSpc>
              <a:buNone/>
            </a:pPr>
            <a:r>
              <a:rPr lang="en-US" sz="900" dirty="0">
                <a:solidFill>
                  <a:srgbClr val="FBBF24"/>
                </a:solidFill>
                <a:latin typeface="Courier New" pitchFamily="34" charset="0"/>
                <a:ea typeface="Courier New" pitchFamily="34" charset="-122"/>
                <a:cs typeface="Courier New" pitchFamily="34" charset="-120"/>
              </a:rPr>
              <a:t>strategy</a:t>
            </a:r>
            <a:endParaRPr lang="en-US" sz="900" dirty="0"/>
          </a:p>
        </p:txBody>
      </p:sp>
      <p:sp>
        <p:nvSpPr>
          <p:cNvPr id="65" name="Text 63"/>
          <p:cNvSpPr/>
          <p:nvPr/>
        </p:nvSpPr>
        <p:spPr>
          <a:xfrm>
            <a:off x="1314450" y="5346985"/>
            <a:ext cx="91440" cy="91440"/>
          </a:xfrm>
          <a:prstGeom prst="rect">
            <a:avLst/>
          </a:prstGeom>
          <a:noFill/>
          <a:ln/>
        </p:spPr>
        <p:txBody>
          <a:bodyPr wrap="none" lIns="0" tIns="0" rIns="0" bIns="0" rtlCol="0" anchor="t"/>
          <a:lstStyle/>
          <a:p>
            <a:pPr marL="0" indent="0" algn="l">
              <a:lnSpc>
                <a:spcPts val="1305"/>
              </a:lnSpc>
              <a:buNone/>
            </a:pPr>
            <a:r>
              <a:rPr lang="en-US" sz="900" dirty="0">
                <a:solidFill>
                  <a:srgbClr val="FBA74A"/>
                </a:solidFill>
                <a:latin typeface="Courier New" pitchFamily="34" charset="0"/>
                <a:ea typeface="Courier New" pitchFamily="34" charset="-122"/>
                <a:cs typeface="Courier New" pitchFamily="34" charset="-120"/>
              </a:rPr>
              <a:t>:</a:t>
            </a:r>
            <a:endParaRPr lang="en-US" sz="900" dirty="0"/>
          </a:p>
        </p:txBody>
      </p:sp>
      <p:sp>
        <p:nvSpPr>
          <p:cNvPr id="66" name="Text 64"/>
          <p:cNvSpPr/>
          <p:nvPr/>
        </p:nvSpPr>
        <p:spPr>
          <a:xfrm>
            <a:off x="971550" y="5512631"/>
            <a:ext cx="490347" cy="91440"/>
          </a:xfrm>
          <a:prstGeom prst="rect">
            <a:avLst/>
          </a:prstGeom>
          <a:noFill/>
          <a:ln/>
        </p:spPr>
        <p:txBody>
          <a:bodyPr wrap="none" lIns="0" tIns="0" rIns="0" bIns="0" rtlCol="0" anchor="t"/>
          <a:lstStyle/>
          <a:p>
            <a:pPr marL="0" indent="0" algn="l">
              <a:lnSpc>
                <a:spcPts val="1305"/>
              </a:lnSpc>
              <a:buNone/>
            </a:pPr>
            <a:r>
              <a:rPr lang="en-US" sz="900" dirty="0">
                <a:solidFill>
                  <a:srgbClr val="FBBF24"/>
                </a:solidFill>
                <a:latin typeface="Courier New" pitchFamily="34" charset="0"/>
                <a:ea typeface="Courier New" pitchFamily="34" charset="-122"/>
                <a:cs typeface="Courier New" pitchFamily="34" charset="-120"/>
              </a:rPr>
              <a:t>matrix</a:t>
            </a:r>
            <a:endParaRPr lang="en-US" sz="900" dirty="0"/>
          </a:p>
        </p:txBody>
      </p:sp>
      <p:sp>
        <p:nvSpPr>
          <p:cNvPr id="67" name="Text 65"/>
          <p:cNvSpPr/>
          <p:nvPr/>
        </p:nvSpPr>
        <p:spPr>
          <a:xfrm>
            <a:off x="1314450" y="5512631"/>
            <a:ext cx="91440" cy="91440"/>
          </a:xfrm>
          <a:prstGeom prst="rect">
            <a:avLst/>
          </a:prstGeom>
          <a:noFill/>
          <a:ln/>
        </p:spPr>
        <p:txBody>
          <a:bodyPr wrap="none" lIns="0" tIns="0" rIns="0" bIns="0" rtlCol="0" anchor="t"/>
          <a:lstStyle/>
          <a:p>
            <a:pPr marL="0" indent="0" algn="l">
              <a:lnSpc>
                <a:spcPts val="1305"/>
              </a:lnSpc>
              <a:buNone/>
            </a:pPr>
            <a:r>
              <a:rPr lang="en-US" sz="900" dirty="0">
                <a:solidFill>
                  <a:srgbClr val="FBA74A"/>
                </a:solidFill>
                <a:latin typeface="Courier New" pitchFamily="34" charset="0"/>
                <a:ea typeface="Courier New" pitchFamily="34" charset="-122"/>
                <a:cs typeface="Courier New" pitchFamily="34" charset="-120"/>
              </a:rPr>
              <a:t>:</a:t>
            </a:r>
            <a:endParaRPr lang="en-US" sz="900" dirty="0"/>
          </a:p>
        </p:txBody>
      </p:sp>
      <p:sp>
        <p:nvSpPr>
          <p:cNvPr id="68" name="Text 66"/>
          <p:cNvSpPr/>
          <p:nvPr/>
        </p:nvSpPr>
        <p:spPr>
          <a:xfrm>
            <a:off x="1085850" y="5678277"/>
            <a:ext cx="653796" cy="91440"/>
          </a:xfrm>
          <a:prstGeom prst="rect">
            <a:avLst/>
          </a:prstGeom>
          <a:noFill/>
          <a:ln/>
        </p:spPr>
        <p:txBody>
          <a:bodyPr wrap="none" lIns="0" tIns="0" rIns="0" bIns="0" rtlCol="0" anchor="t"/>
          <a:lstStyle/>
          <a:p>
            <a:pPr marL="0" indent="0" algn="l">
              <a:lnSpc>
                <a:spcPts val="1305"/>
              </a:lnSpc>
              <a:buNone/>
            </a:pPr>
            <a:r>
              <a:rPr lang="en-US" sz="900" dirty="0">
                <a:solidFill>
                  <a:srgbClr val="FBBF24"/>
                </a:solidFill>
                <a:latin typeface="Courier New" pitchFamily="34" charset="0"/>
                <a:ea typeface="Courier New" pitchFamily="34" charset="-122"/>
                <a:cs typeface="Courier New" pitchFamily="34" charset="-120"/>
              </a:rPr>
              <a:t>test_dir</a:t>
            </a:r>
            <a:endParaRPr lang="en-US" sz="900" dirty="0"/>
          </a:p>
        </p:txBody>
      </p:sp>
      <p:sp>
        <p:nvSpPr>
          <p:cNvPr id="69" name="Text 67"/>
          <p:cNvSpPr/>
          <p:nvPr/>
        </p:nvSpPr>
        <p:spPr>
          <a:xfrm>
            <a:off x="1543050" y="5678277"/>
            <a:ext cx="91440" cy="91440"/>
          </a:xfrm>
          <a:prstGeom prst="rect">
            <a:avLst/>
          </a:prstGeom>
          <a:noFill/>
          <a:ln/>
        </p:spPr>
        <p:txBody>
          <a:bodyPr wrap="none" lIns="0" tIns="0" rIns="0" bIns="0" rtlCol="0" anchor="t"/>
          <a:lstStyle/>
          <a:p>
            <a:pPr marL="0" indent="0" algn="l">
              <a:lnSpc>
                <a:spcPts val="1305"/>
              </a:lnSpc>
              <a:buNone/>
            </a:pPr>
            <a:r>
              <a:rPr lang="en-US" sz="900" dirty="0">
                <a:solidFill>
                  <a:srgbClr val="FBA74A"/>
                </a:solidFill>
                <a:latin typeface="Courier New" pitchFamily="34" charset="0"/>
                <a:ea typeface="Courier New" pitchFamily="34" charset="-122"/>
                <a:cs typeface="Courier New" pitchFamily="34" charset="-120"/>
              </a:rPr>
              <a:t>:</a:t>
            </a:r>
            <a:endParaRPr lang="en-US" sz="900" dirty="0"/>
          </a:p>
        </p:txBody>
      </p:sp>
      <p:sp>
        <p:nvSpPr>
          <p:cNvPr id="70" name="Text 68"/>
          <p:cNvSpPr/>
          <p:nvPr/>
        </p:nvSpPr>
        <p:spPr>
          <a:xfrm>
            <a:off x="1657350" y="5678277"/>
            <a:ext cx="3143250" cy="91440"/>
          </a:xfrm>
          <a:prstGeom prst="rect">
            <a:avLst/>
          </a:prstGeom>
          <a:noFill/>
          <a:ln/>
        </p:spPr>
        <p:txBody>
          <a:bodyPr wrap="none" lIns="0" tIns="0" rIns="0" bIns="0" rtlCol="0" anchor="t"/>
          <a:lstStyle/>
          <a:p>
            <a:pPr marL="0" indent="0" algn="l">
              <a:lnSpc>
                <a:spcPts val="1305"/>
              </a:lnSpc>
              <a:buNone/>
            </a:pPr>
            <a:r>
              <a:rPr lang="en-US" sz="900" dirty="0">
                <a:solidFill>
                  <a:srgbClr val="93C5FD"/>
                </a:solidFill>
                <a:latin typeface="Courier New" pitchFamily="34" charset="0"/>
                <a:ea typeface="Courier New" pitchFamily="34" charset="-122"/>
                <a:cs typeface="Courier New" pitchFamily="34" charset="-120"/>
              </a:rPr>
              <a:t>${{ fromJson(needs.compute-impact.outputs.test_dirs) }}</a:t>
            </a:r>
            <a:endParaRPr lang="en-US" sz="900" dirty="0"/>
          </a:p>
        </p:txBody>
      </p:sp>
      <p:sp>
        <p:nvSpPr>
          <p:cNvPr id="71" name="Text 69"/>
          <p:cNvSpPr/>
          <p:nvPr/>
        </p:nvSpPr>
        <p:spPr>
          <a:xfrm>
            <a:off x="857250" y="5843922"/>
            <a:ext cx="457200" cy="91440"/>
          </a:xfrm>
          <a:prstGeom prst="rect">
            <a:avLst/>
          </a:prstGeom>
          <a:noFill/>
          <a:ln/>
        </p:spPr>
        <p:txBody>
          <a:bodyPr wrap="none" lIns="0" tIns="0" rIns="0" bIns="0" rtlCol="0" anchor="t"/>
          <a:lstStyle/>
          <a:p>
            <a:pPr marL="0" indent="0" algn="l">
              <a:lnSpc>
                <a:spcPts val="1305"/>
              </a:lnSpc>
              <a:buNone/>
            </a:pPr>
            <a:r>
              <a:rPr lang="en-US" sz="900" dirty="0">
                <a:solidFill>
                  <a:srgbClr val="FBBF24"/>
                </a:solidFill>
                <a:latin typeface="Courier New" pitchFamily="34" charset="0"/>
                <a:ea typeface="Courier New" pitchFamily="34" charset="-122"/>
                <a:cs typeface="Courier New" pitchFamily="34" charset="-120"/>
              </a:rPr>
              <a:t>steps</a:t>
            </a:r>
            <a:endParaRPr lang="en-US" sz="900" dirty="0"/>
          </a:p>
        </p:txBody>
      </p:sp>
      <p:sp>
        <p:nvSpPr>
          <p:cNvPr id="72" name="Text 70"/>
          <p:cNvSpPr/>
          <p:nvPr/>
        </p:nvSpPr>
        <p:spPr>
          <a:xfrm>
            <a:off x="1143000" y="5843922"/>
            <a:ext cx="91440" cy="91440"/>
          </a:xfrm>
          <a:prstGeom prst="rect">
            <a:avLst/>
          </a:prstGeom>
          <a:noFill/>
          <a:ln/>
        </p:spPr>
        <p:txBody>
          <a:bodyPr wrap="none" lIns="0" tIns="0" rIns="0" bIns="0" rtlCol="0" anchor="t"/>
          <a:lstStyle/>
          <a:p>
            <a:pPr marL="0" indent="0" algn="l">
              <a:lnSpc>
                <a:spcPts val="1305"/>
              </a:lnSpc>
              <a:buNone/>
            </a:pPr>
            <a:r>
              <a:rPr lang="en-US" sz="900" dirty="0">
                <a:solidFill>
                  <a:srgbClr val="FBA74A"/>
                </a:solidFill>
                <a:latin typeface="Courier New" pitchFamily="34" charset="0"/>
                <a:ea typeface="Courier New" pitchFamily="34" charset="-122"/>
                <a:cs typeface="Courier New" pitchFamily="34" charset="-120"/>
              </a:rPr>
              <a:t>:</a:t>
            </a:r>
            <a:endParaRPr lang="en-US" sz="900" dirty="0"/>
          </a:p>
        </p:txBody>
      </p:sp>
      <p:sp>
        <p:nvSpPr>
          <p:cNvPr id="73" name="Text 71"/>
          <p:cNvSpPr/>
          <p:nvPr/>
        </p:nvSpPr>
        <p:spPr>
          <a:xfrm>
            <a:off x="971550" y="6009568"/>
            <a:ext cx="91440" cy="91440"/>
          </a:xfrm>
          <a:prstGeom prst="rect">
            <a:avLst/>
          </a:prstGeom>
          <a:noFill/>
          <a:ln/>
        </p:spPr>
        <p:txBody>
          <a:bodyPr wrap="none" lIns="0" tIns="0" rIns="0" bIns="0" rtlCol="0" anchor="t"/>
          <a:lstStyle/>
          <a:p>
            <a:pPr marL="0" indent="0" algn="l">
              <a:lnSpc>
                <a:spcPts val="1305"/>
              </a:lnSpc>
              <a:buNone/>
            </a:pPr>
            <a:r>
              <a:rPr lang="en-US" sz="900" dirty="0">
                <a:solidFill>
                  <a:srgbClr val="FBA74A"/>
                </a:solidFill>
                <a:latin typeface="Courier New" pitchFamily="34" charset="0"/>
                <a:ea typeface="Courier New" pitchFamily="34" charset="-122"/>
                <a:cs typeface="Courier New" pitchFamily="34" charset="-120"/>
              </a:rPr>
              <a:t>-</a:t>
            </a:r>
            <a:endParaRPr lang="en-US" sz="900" dirty="0"/>
          </a:p>
        </p:txBody>
      </p:sp>
      <p:sp>
        <p:nvSpPr>
          <p:cNvPr id="74" name="Text 72"/>
          <p:cNvSpPr/>
          <p:nvPr/>
        </p:nvSpPr>
        <p:spPr>
          <a:xfrm>
            <a:off x="1085850" y="6009568"/>
            <a:ext cx="365760" cy="91440"/>
          </a:xfrm>
          <a:prstGeom prst="rect">
            <a:avLst/>
          </a:prstGeom>
          <a:noFill/>
          <a:ln/>
        </p:spPr>
        <p:txBody>
          <a:bodyPr wrap="none" lIns="0" tIns="0" rIns="0" bIns="0" rtlCol="0" anchor="t"/>
          <a:lstStyle/>
          <a:p>
            <a:pPr marL="0" indent="0" algn="l">
              <a:lnSpc>
                <a:spcPts val="1305"/>
              </a:lnSpc>
              <a:buNone/>
            </a:pPr>
            <a:r>
              <a:rPr lang="en-US" sz="900" dirty="0">
                <a:solidFill>
                  <a:srgbClr val="FBBF24"/>
                </a:solidFill>
                <a:latin typeface="Courier New" pitchFamily="34" charset="0"/>
                <a:ea typeface="Courier New" pitchFamily="34" charset="-122"/>
                <a:cs typeface="Courier New" pitchFamily="34" charset="-120"/>
              </a:rPr>
              <a:t>uses</a:t>
            </a:r>
            <a:endParaRPr lang="en-US" sz="900" dirty="0"/>
          </a:p>
        </p:txBody>
      </p:sp>
      <p:sp>
        <p:nvSpPr>
          <p:cNvPr id="75" name="Text 73"/>
          <p:cNvSpPr/>
          <p:nvPr/>
        </p:nvSpPr>
        <p:spPr>
          <a:xfrm>
            <a:off x="1314450" y="6009568"/>
            <a:ext cx="91440" cy="91440"/>
          </a:xfrm>
          <a:prstGeom prst="rect">
            <a:avLst/>
          </a:prstGeom>
          <a:noFill/>
          <a:ln/>
        </p:spPr>
        <p:txBody>
          <a:bodyPr wrap="none" lIns="0" tIns="0" rIns="0" bIns="0" rtlCol="0" anchor="t"/>
          <a:lstStyle/>
          <a:p>
            <a:pPr marL="0" indent="0" algn="l">
              <a:lnSpc>
                <a:spcPts val="1305"/>
              </a:lnSpc>
              <a:buNone/>
            </a:pPr>
            <a:r>
              <a:rPr lang="en-US" sz="900" dirty="0">
                <a:solidFill>
                  <a:srgbClr val="FBA74A"/>
                </a:solidFill>
                <a:latin typeface="Courier New" pitchFamily="34" charset="0"/>
                <a:ea typeface="Courier New" pitchFamily="34" charset="-122"/>
                <a:cs typeface="Courier New" pitchFamily="34" charset="-120"/>
              </a:rPr>
              <a:t>:</a:t>
            </a:r>
            <a:endParaRPr lang="en-US" sz="900" dirty="0"/>
          </a:p>
        </p:txBody>
      </p:sp>
      <p:sp>
        <p:nvSpPr>
          <p:cNvPr id="76" name="Text 74"/>
          <p:cNvSpPr/>
          <p:nvPr/>
        </p:nvSpPr>
        <p:spPr>
          <a:xfrm>
            <a:off x="1428750" y="6009568"/>
            <a:ext cx="1357313" cy="91440"/>
          </a:xfrm>
          <a:prstGeom prst="rect">
            <a:avLst/>
          </a:prstGeom>
          <a:noFill/>
          <a:ln/>
        </p:spPr>
        <p:txBody>
          <a:bodyPr wrap="none" lIns="0" tIns="0" rIns="0" bIns="0" rtlCol="0" anchor="t"/>
          <a:lstStyle/>
          <a:p>
            <a:pPr marL="0" indent="0" algn="l">
              <a:lnSpc>
                <a:spcPts val="1305"/>
              </a:lnSpc>
              <a:buNone/>
            </a:pPr>
            <a:r>
              <a:rPr lang="en-US" sz="900" dirty="0">
                <a:solidFill>
                  <a:srgbClr val="86EFAC"/>
                </a:solidFill>
                <a:latin typeface="Liberation Sans Narrow" pitchFamily="34" charset="0"/>
                <a:ea typeface="Liberation Sans Narrow" pitchFamily="34" charset="-122"/>
                <a:cs typeface="Liberation Sans Narrow" pitchFamily="34" charset="-120"/>
              </a:rPr>
              <a:t>actions/checkout@v4</a:t>
            </a:r>
            <a:endParaRPr lang="en-US" sz="900" dirty="0"/>
          </a:p>
        </p:txBody>
      </p:sp>
      <p:sp>
        <p:nvSpPr>
          <p:cNvPr id="77" name="Text 75"/>
          <p:cNvSpPr/>
          <p:nvPr/>
        </p:nvSpPr>
        <p:spPr>
          <a:xfrm>
            <a:off x="971550" y="6175214"/>
            <a:ext cx="91440" cy="91440"/>
          </a:xfrm>
          <a:prstGeom prst="rect">
            <a:avLst/>
          </a:prstGeom>
          <a:noFill/>
          <a:ln/>
        </p:spPr>
        <p:txBody>
          <a:bodyPr wrap="none" lIns="0" tIns="0" rIns="0" bIns="0" rtlCol="0" anchor="t"/>
          <a:lstStyle/>
          <a:p>
            <a:pPr marL="0" indent="0" algn="l">
              <a:lnSpc>
                <a:spcPts val="1305"/>
              </a:lnSpc>
              <a:buNone/>
            </a:pPr>
            <a:r>
              <a:rPr lang="en-US" sz="900" dirty="0">
                <a:solidFill>
                  <a:srgbClr val="FBA74A"/>
                </a:solidFill>
                <a:latin typeface="Courier New" pitchFamily="34" charset="0"/>
                <a:ea typeface="Courier New" pitchFamily="34" charset="-122"/>
                <a:cs typeface="Courier New" pitchFamily="34" charset="-120"/>
              </a:rPr>
              <a:t>-</a:t>
            </a:r>
            <a:endParaRPr lang="en-US" sz="900" dirty="0"/>
          </a:p>
        </p:txBody>
      </p:sp>
      <p:sp>
        <p:nvSpPr>
          <p:cNvPr id="78" name="Text 76"/>
          <p:cNvSpPr/>
          <p:nvPr/>
        </p:nvSpPr>
        <p:spPr>
          <a:xfrm>
            <a:off x="1085850" y="6175214"/>
            <a:ext cx="274320" cy="91440"/>
          </a:xfrm>
          <a:prstGeom prst="rect">
            <a:avLst/>
          </a:prstGeom>
          <a:noFill/>
          <a:ln/>
        </p:spPr>
        <p:txBody>
          <a:bodyPr wrap="none" lIns="0" tIns="0" rIns="0" bIns="0" rtlCol="0" anchor="t"/>
          <a:lstStyle/>
          <a:p>
            <a:pPr marL="0" indent="0" algn="l">
              <a:lnSpc>
                <a:spcPts val="1305"/>
              </a:lnSpc>
              <a:buNone/>
            </a:pPr>
            <a:r>
              <a:rPr lang="en-US" sz="900" dirty="0">
                <a:solidFill>
                  <a:srgbClr val="FBBF24"/>
                </a:solidFill>
                <a:latin typeface="Courier New" pitchFamily="34" charset="0"/>
                <a:ea typeface="Courier New" pitchFamily="34" charset="-122"/>
                <a:cs typeface="Courier New" pitchFamily="34" charset="-120"/>
              </a:rPr>
              <a:t>run</a:t>
            </a:r>
            <a:endParaRPr lang="en-US" sz="900" dirty="0"/>
          </a:p>
        </p:txBody>
      </p:sp>
      <p:sp>
        <p:nvSpPr>
          <p:cNvPr id="79" name="Text 77"/>
          <p:cNvSpPr/>
          <p:nvPr/>
        </p:nvSpPr>
        <p:spPr>
          <a:xfrm>
            <a:off x="1257300" y="6175214"/>
            <a:ext cx="91440" cy="91440"/>
          </a:xfrm>
          <a:prstGeom prst="rect">
            <a:avLst/>
          </a:prstGeom>
          <a:noFill/>
          <a:ln/>
        </p:spPr>
        <p:txBody>
          <a:bodyPr wrap="none" lIns="0" tIns="0" rIns="0" bIns="0" rtlCol="0" anchor="t"/>
          <a:lstStyle/>
          <a:p>
            <a:pPr marL="0" indent="0" algn="l">
              <a:lnSpc>
                <a:spcPts val="1305"/>
              </a:lnSpc>
              <a:buNone/>
            </a:pPr>
            <a:r>
              <a:rPr lang="en-US" sz="900" dirty="0">
                <a:solidFill>
                  <a:srgbClr val="FBA74A"/>
                </a:solidFill>
                <a:latin typeface="Courier New" pitchFamily="34" charset="0"/>
                <a:ea typeface="Courier New" pitchFamily="34" charset="-122"/>
                <a:cs typeface="Courier New" pitchFamily="34" charset="-120"/>
              </a:rPr>
              <a:t>:</a:t>
            </a:r>
            <a:endParaRPr lang="en-US" sz="900" dirty="0"/>
          </a:p>
        </p:txBody>
      </p:sp>
      <p:sp>
        <p:nvSpPr>
          <p:cNvPr id="80" name="Text 78"/>
          <p:cNvSpPr/>
          <p:nvPr/>
        </p:nvSpPr>
        <p:spPr>
          <a:xfrm>
            <a:off x="1371600" y="6175214"/>
            <a:ext cx="2345436" cy="91440"/>
          </a:xfrm>
          <a:prstGeom prst="rect">
            <a:avLst/>
          </a:prstGeom>
          <a:noFill/>
          <a:ln/>
        </p:spPr>
        <p:txBody>
          <a:bodyPr wrap="none" lIns="0" tIns="0" rIns="0" bIns="0" rtlCol="0" anchor="t"/>
          <a:lstStyle/>
          <a:p>
            <a:pPr marL="0" indent="0" algn="l">
              <a:lnSpc>
                <a:spcPts val="1305"/>
              </a:lnSpc>
              <a:buNone/>
            </a:pPr>
            <a:r>
              <a:rPr lang="en-US" sz="900" dirty="0">
                <a:solidFill>
                  <a:srgbClr val="86EFAC"/>
                </a:solidFill>
                <a:latin typeface="Courier New" pitchFamily="34" charset="0"/>
                <a:ea typeface="Courier New" pitchFamily="34" charset="-122"/>
                <a:cs typeface="Courier New" pitchFamily="34" charset="-120"/>
              </a:rPr>
              <a:t>pytest ${{ matrix.test_dir }} -v --cov</a:t>
            </a:r>
            <a:endParaRPr lang="en-US" sz="900" dirty="0"/>
          </a:p>
        </p:txBody>
      </p:sp>
      <p:sp>
        <p:nvSpPr>
          <p:cNvPr id="81" name="Text 79"/>
          <p:cNvSpPr/>
          <p:nvPr/>
        </p:nvSpPr>
        <p:spPr>
          <a:xfrm>
            <a:off x="457200" y="4516301"/>
            <a:ext cx="8229600" cy="183599"/>
          </a:xfrm>
          <a:prstGeom prst="rect">
            <a:avLst/>
          </a:prstGeom>
          <a:noFill/>
          <a:ln/>
        </p:spPr>
        <p:txBody>
          <a:bodyPr wrap="square" lIns="0" tIns="0" rIns="0" bIns="0" rtlCol="0" anchor="t"/>
          <a:lstStyle/>
          <a:p>
            <a:pPr marL="0" indent="0" algn="l">
              <a:lnSpc>
                <a:spcPts val="1339"/>
              </a:lnSpc>
              <a:buNone/>
            </a:pPr>
            <a:r>
              <a:rPr lang="en-US" sz="956" b="1" i="1" dirty="0">
                <a:solidFill>
                  <a:srgbClr val="C2410C"/>
                </a:solidFill>
                <a:latin typeface="Carlito" pitchFamily="34" charset="0"/>
                <a:ea typeface="Carlito" pitchFamily="34" charset="-122"/>
                <a:cs typeface="Carlito" pitchFamily="34" charset="-120"/>
              </a:rPr>
              <a:t>AI version:</a:t>
            </a:r>
            <a:r>
              <a:rPr lang="en-US" sz="956" i="1" dirty="0">
                <a:solidFill>
                  <a:srgbClr val="334155"/>
                </a:solidFill>
                <a:latin typeface="Carlito" pitchFamily="34" charset="0"/>
                <a:ea typeface="Carlito" pitchFamily="34" charset="-122"/>
                <a:cs typeface="Carlito" pitchFamily="34" charset="-120"/>
              </a:rPr>
              <a:t> replace the AWK step with a Python script that uses embeddings + flake-prediction models to expand the test set.</a:t>
            </a:r>
            <a:endParaRPr lang="en-US" sz="956"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8636000" cy="388776"/>
          </a:xfrm>
          <a:prstGeom prst="rect">
            <a:avLst/>
          </a:prstGeom>
          <a:noFill/>
          <a:ln/>
        </p:spPr>
        <p:txBody>
          <a:bodyPr wrap="square" lIns="0" tIns="0" rIns="0" bIns="0" rtlCol="0" anchor="t"/>
          <a:lstStyle/>
          <a:p>
            <a:pPr marL="0" indent="0" algn="l">
              <a:lnSpc>
                <a:spcPts val="2835"/>
              </a:lnSpc>
              <a:buNone/>
            </a:pPr>
            <a:r>
              <a:rPr lang="en-US" sz="2025" b="1" dirty="0">
                <a:solidFill>
                  <a:srgbClr val="0F172A"/>
                </a:solidFill>
                <a:latin typeface="Carlito" pitchFamily="34" charset="0"/>
                <a:ea typeface="Carlito" pitchFamily="34" charset="-122"/>
                <a:cs typeface="Carlito" pitchFamily="34" charset="-120"/>
              </a:rPr>
              <a:t>Case Study — Meta Sapienz (Test Selection at Scale)</a:t>
            </a:r>
            <a:endParaRPr lang="en-US" sz="2025" dirty="0"/>
          </a:p>
        </p:txBody>
      </p:sp>
      <p:sp>
        <p:nvSpPr>
          <p:cNvPr id="3" name="Text 1"/>
          <p:cNvSpPr/>
          <p:nvPr/>
        </p:nvSpPr>
        <p:spPr>
          <a:xfrm>
            <a:off x="457200" y="874328"/>
            <a:ext cx="571500" cy="42863"/>
          </a:xfrm>
          <a:prstGeom prst="roundRect">
            <a:avLst>
              <a:gd name="adj" fmla="val 66666"/>
            </a:avLst>
          </a:prstGeom>
          <a:solidFill>
            <a:srgbClr val="F97316"/>
          </a:solidFill>
          <a:ln/>
        </p:spPr>
        <p:txBody>
          <a:bodyPr wrap="square" rtlCol="0" anchor="ctr"/>
          <a:lstStyle/>
          <a:p>
            <a:pPr marL="0" indent="0">
              <a:buNone/>
            </a:pPr>
            <a:endParaRPr lang="en-US" dirty="0"/>
          </a:p>
        </p:txBody>
      </p:sp>
      <p:sp>
        <p:nvSpPr>
          <p:cNvPr id="4" name="Text 2"/>
          <p:cNvSpPr/>
          <p:nvPr/>
        </p:nvSpPr>
        <p:spPr>
          <a:xfrm>
            <a:off x="460772" y="1020775"/>
            <a:ext cx="3181759" cy="3661953"/>
          </a:xfrm>
          <a:prstGeom prst="roundRect">
            <a:avLst>
              <a:gd name="adj" fmla="val 4191"/>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5" name="Text 3"/>
          <p:cNvSpPr/>
          <p:nvPr/>
        </p:nvSpPr>
        <p:spPr>
          <a:xfrm>
            <a:off x="635794" y="1181509"/>
            <a:ext cx="214313" cy="214313"/>
          </a:xfrm>
          <a:prstGeom prst="rect">
            <a:avLst/>
          </a:prstGeom>
          <a:noFill/>
          <a:ln/>
        </p:spPr>
        <p:txBody>
          <a:bodyPr wrap="none" lIns="0" tIns="0" rIns="0" bIns="0" rtlCol="0" anchor="ctr"/>
          <a:lstStyle/>
          <a:p>
            <a:pPr marL="0" indent="0" algn="ctr">
              <a:buNone/>
            </a:pPr>
            <a:r>
              <a:rPr lang="en-US" sz="2109" dirty="0">
                <a:solidFill>
                  <a:srgbClr val="F97316"/>
                </a:solidFill>
                <a:latin typeface="Segoe UI Symbol" pitchFamily="34" charset="0"/>
                <a:ea typeface="Segoe UI Symbol" pitchFamily="34" charset="-122"/>
                <a:cs typeface="Segoe UI Symbol" pitchFamily="34" charset="-120"/>
              </a:rPr>
              <a:t>▥</a:t>
            </a:r>
            <a:endParaRPr lang="en-US" sz="2109" dirty="0"/>
          </a:p>
        </p:txBody>
      </p:sp>
      <p:sp>
        <p:nvSpPr>
          <p:cNvPr id="6" name="Text 4"/>
          <p:cNvSpPr/>
          <p:nvPr/>
        </p:nvSpPr>
        <p:spPr>
          <a:xfrm>
            <a:off x="935831" y="1228613"/>
            <a:ext cx="2531678" cy="153591"/>
          </a:xfrm>
          <a:prstGeom prst="rect">
            <a:avLst/>
          </a:prstGeom>
          <a:noFill/>
          <a:ln/>
        </p:spPr>
        <p:txBody>
          <a:bodyPr wrap="none" lIns="0" tIns="0" rIns="0" bIns="0" rtlCol="0" anchor="t"/>
          <a:lstStyle/>
          <a:p>
            <a:pPr marL="0" indent="0" algn="l">
              <a:lnSpc>
                <a:spcPts val="945"/>
              </a:lnSpc>
              <a:buNone/>
            </a:pPr>
            <a:r>
              <a:rPr lang="en-US" sz="800" b="1" kern="0" spc="84" dirty="0">
                <a:solidFill>
                  <a:srgbClr val="C2410C"/>
                </a:solidFill>
                <a:latin typeface="Carlito" pitchFamily="34" charset="0"/>
                <a:ea typeface="Carlito" pitchFamily="34" charset="-122"/>
                <a:cs typeface="Carlito" pitchFamily="34" charset="-120"/>
              </a:rPr>
              <a:t>FACTS</a:t>
            </a:r>
            <a:endParaRPr lang="en-US" sz="800" dirty="0"/>
          </a:p>
        </p:txBody>
      </p:sp>
      <p:sp>
        <p:nvSpPr>
          <p:cNvPr id="7" name="Shape 5"/>
          <p:cNvSpPr/>
          <p:nvPr/>
        </p:nvSpPr>
        <p:spPr>
          <a:xfrm>
            <a:off x="635794" y="1839404"/>
            <a:ext cx="2831716" cy="0"/>
          </a:xfrm>
          <a:prstGeom prst="line">
            <a:avLst/>
          </a:prstGeom>
          <a:noFill/>
          <a:ln w="7144">
            <a:solidFill>
              <a:srgbClr val="CBD5E1"/>
            </a:solidFill>
            <a:prstDash val="solid"/>
          </a:ln>
        </p:spPr>
      </p:sp>
      <p:sp>
        <p:nvSpPr>
          <p:cNvPr id="8" name="Text 6"/>
          <p:cNvSpPr/>
          <p:nvPr/>
        </p:nvSpPr>
        <p:spPr>
          <a:xfrm>
            <a:off x="635794" y="1481547"/>
            <a:ext cx="2831716" cy="106848"/>
          </a:xfrm>
          <a:prstGeom prst="rect">
            <a:avLst/>
          </a:prstGeom>
          <a:noFill/>
          <a:ln/>
        </p:spPr>
        <p:txBody>
          <a:bodyPr wrap="none" lIns="0" tIns="0" rIns="0" bIns="0" rtlCol="0" anchor="t">
            <a:normAutofit fontScale="62500" lnSpcReduction="20000"/>
          </a:bodyPr>
          <a:lstStyle/>
          <a:p>
            <a:pPr marL="0" indent="0" algn="l">
              <a:lnSpc>
                <a:spcPts val="945"/>
              </a:lnSpc>
              <a:buNone/>
            </a:pPr>
            <a:r>
              <a:rPr lang="en-US" sz="800" kern="0" spc="28" dirty="0">
                <a:solidFill>
                  <a:srgbClr val="64748B"/>
                </a:solidFill>
                <a:latin typeface="Courier New" pitchFamily="34" charset="0"/>
                <a:ea typeface="Courier New" pitchFamily="34" charset="-122"/>
                <a:cs typeface="Courier New" pitchFamily="34" charset="-120"/>
              </a:rPr>
              <a:t>COMPANY</a:t>
            </a:r>
            <a:endParaRPr lang="en-US" sz="800" dirty="0"/>
          </a:p>
        </p:txBody>
      </p:sp>
      <p:sp>
        <p:nvSpPr>
          <p:cNvPr id="9" name="Text 7"/>
          <p:cNvSpPr/>
          <p:nvPr/>
        </p:nvSpPr>
        <p:spPr>
          <a:xfrm>
            <a:off x="635794" y="1615827"/>
            <a:ext cx="2831716" cy="162855"/>
          </a:xfrm>
          <a:prstGeom prst="rect">
            <a:avLst/>
          </a:prstGeom>
          <a:noFill/>
          <a:ln/>
        </p:spPr>
        <p:txBody>
          <a:bodyPr wrap="none" lIns="0" tIns="0" rIns="0" bIns="0" rtlCol="0" anchor="t"/>
          <a:lstStyle/>
          <a:p>
            <a:pPr marL="0" indent="0" algn="l">
              <a:lnSpc>
                <a:spcPts val="1283"/>
              </a:lnSpc>
              <a:buNone/>
            </a:pPr>
            <a:r>
              <a:rPr lang="en-US" sz="1069" b="1" dirty="0">
                <a:solidFill>
                  <a:srgbClr val="0F172A"/>
                </a:solidFill>
                <a:latin typeface="Carlito" pitchFamily="34" charset="0"/>
                <a:ea typeface="Carlito" pitchFamily="34" charset="-122"/>
                <a:cs typeface="Carlito" pitchFamily="34" charset="-120"/>
              </a:rPr>
              <a:t>Meta (Facebook)</a:t>
            </a:r>
            <a:endParaRPr lang="en-US" sz="1069" dirty="0"/>
          </a:p>
        </p:txBody>
      </p:sp>
      <p:sp>
        <p:nvSpPr>
          <p:cNvPr id="10" name="Shape 8"/>
          <p:cNvSpPr/>
          <p:nvPr/>
        </p:nvSpPr>
        <p:spPr>
          <a:xfrm>
            <a:off x="635794" y="2286558"/>
            <a:ext cx="2831716" cy="0"/>
          </a:xfrm>
          <a:prstGeom prst="line">
            <a:avLst/>
          </a:prstGeom>
          <a:noFill/>
          <a:ln w="7144">
            <a:solidFill>
              <a:srgbClr val="CBD5E1"/>
            </a:solidFill>
            <a:prstDash val="solid"/>
          </a:ln>
        </p:spPr>
      </p:sp>
      <p:sp>
        <p:nvSpPr>
          <p:cNvPr id="11" name="Text 9"/>
          <p:cNvSpPr/>
          <p:nvPr/>
        </p:nvSpPr>
        <p:spPr>
          <a:xfrm>
            <a:off x="635794" y="1928701"/>
            <a:ext cx="2831716" cy="106848"/>
          </a:xfrm>
          <a:prstGeom prst="rect">
            <a:avLst/>
          </a:prstGeom>
          <a:noFill/>
          <a:ln/>
        </p:spPr>
        <p:txBody>
          <a:bodyPr wrap="none" lIns="0" tIns="0" rIns="0" bIns="0" rtlCol="0" anchor="t">
            <a:normAutofit fontScale="62500" lnSpcReduction="20000"/>
          </a:bodyPr>
          <a:lstStyle/>
          <a:p>
            <a:pPr marL="0" indent="0" algn="l">
              <a:lnSpc>
                <a:spcPts val="945"/>
              </a:lnSpc>
              <a:buNone/>
            </a:pPr>
            <a:r>
              <a:rPr lang="en-US" sz="800" kern="0" spc="28" dirty="0">
                <a:solidFill>
                  <a:srgbClr val="64748B"/>
                </a:solidFill>
                <a:latin typeface="Courier New" pitchFamily="34" charset="0"/>
                <a:ea typeface="Courier New" pitchFamily="34" charset="-122"/>
                <a:cs typeface="Courier New" pitchFamily="34" charset="-120"/>
              </a:rPr>
              <a:t>TOOL</a:t>
            </a:r>
            <a:endParaRPr lang="en-US" sz="800" dirty="0"/>
          </a:p>
        </p:txBody>
      </p:sp>
      <p:sp>
        <p:nvSpPr>
          <p:cNvPr id="12" name="Text 10"/>
          <p:cNvSpPr/>
          <p:nvPr/>
        </p:nvSpPr>
        <p:spPr>
          <a:xfrm>
            <a:off x="635794" y="2062981"/>
            <a:ext cx="2941444" cy="162855"/>
          </a:xfrm>
          <a:prstGeom prst="rect">
            <a:avLst/>
          </a:prstGeom>
          <a:noFill/>
          <a:ln/>
        </p:spPr>
        <p:txBody>
          <a:bodyPr wrap="square" lIns="0" tIns="0" rIns="0" bIns="0" rtlCol="0" anchor="t"/>
          <a:lstStyle/>
          <a:p>
            <a:pPr marL="0" indent="0" algn="l">
              <a:lnSpc>
                <a:spcPts val="1283"/>
              </a:lnSpc>
              <a:buNone/>
            </a:pPr>
            <a:r>
              <a:rPr lang="en-US" sz="1069" b="1" dirty="0">
                <a:solidFill>
                  <a:srgbClr val="0F172A"/>
                </a:solidFill>
                <a:latin typeface="Carlito" pitchFamily="34" charset="0"/>
                <a:ea typeface="Carlito" pitchFamily="34" charset="-122"/>
                <a:cs typeface="Carlito" pitchFamily="34" charset="-120"/>
              </a:rPr>
              <a:t>Sapienz </a:t>
            </a:r>
            <a:r>
              <a:rPr lang="en-US" sz="800" b="1" dirty="0">
                <a:solidFill>
                  <a:srgbClr val="64748B"/>
                </a:solidFill>
                <a:latin typeface="Liberation Sans Narrow" pitchFamily="34" charset="0"/>
                <a:ea typeface="Liberation Sans Narrow" pitchFamily="34" charset="-122"/>
                <a:cs typeface="Liberation Sans Narrow" pitchFamily="34" charset="-120"/>
              </a:rPr>
              <a:t>(open-sourced 2022)</a:t>
            </a:r>
            <a:endParaRPr lang="en-US" sz="1069" dirty="0"/>
          </a:p>
        </p:txBody>
      </p:sp>
      <p:sp>
        <p:nvSpPr>
          <p:cNvPr id="13" name="Shape 11"/>
          <p:cNvSpPr/>
          <p:nvPr/>
        </p:nvSpPr>
        <p:spPr>
          <a:xfrm>
            <a:off x="635794" y="2733712"/>
            <a:ext cx="2831716" cy="0"/>
          </a:xfrm>
          <a:prstGeom prst="line">
            <a:avLst/>
          </a:prstGeom>
          <a:noFill/>
          <a:ln w="7144">
            <a:solidFill>
              <a:srgbClr val="CBD5E1"/>
            </a:solidFill>
            <a:prstDash val="solid"/>
          </a:ln>
        </p:spPr>
      </p:sp>
      <p:sp>
        <p:nvSpPr>
          <p:cNvPr id="14" name="Text 12"/>
          <p:cNvSpPr/>
          <p:nvPr/>
        </p:nvSpPr>
        <p:spPr>
          <a:xfrm>
            <a:off x="635794" y="2375855"/>
            <a:ext cx="2831716" cy="106848"/>
          </a:xfrm>
          <a:prstGeom prst="rect">
            <a:avLst/>
          </a:prstGeom>
          <a:noFill/>
          <a:ln/>
        </p:spPr>
        <p:txBody>
          <a:bodyPr wrap="none" lIns="0" tIns="0" rIns="0" bIns="0" rtlCol="0" anchor="t">
            <a:normAutofit fontScale="62500" lnSpcReduction="20000"/>
          </a:bodyPr>
          <a:lstStyle/>
          <a:p>
            <a:pPr marL="0" indent="0" algn="l">
              <a:lnSpc>
                <a:spcPts val="945"/>
              </a:lnSpc>
              <a:buNone/>
            </a:pPr>
            <a:r>
              <a:rPr lang="en-US" sz="800" kern="0" spc="28" dirty="0">
                <a:solidFill>
                  <a:srgbClr val="64748B"/>
                </a:solidFill>
                <a:latin typeface="Courier New" pitchFamily="34" charset="0"/>
                <a:ea typeface="Courier New" pitchFamily="34" charset="-122"/>
                <a:cs typeface="Courier New" pitchFamily="34" charset="-120"/>
              </a:rPr>
              <a:t>REPO SCALE</a:t>
            </a:r>
            <a:endParaRPr lang="en-US" sz="800" dirty="0"/>
          </a:p>
        </p:txBody>
      </p:sp>
      <p:sp>
        <p:nvSpPr>
          <p:cNvPr id="15" name="Text 13"/>
          <p:cNvSpPr/>
          <p:nvPr/>
        </p:nvSpPr>
        <p:spPr>
          <a:xfrm>
            <a:off x="635794" y="2510135"/>
            <a:ext cx="2831716" cy="162855"/>
          </a:xfrm>
          <a:prstGeom prst="rect">
            <a:avLst/>
          </a:prstGeom>
          <a:noFill/>
          <a:ln/>
        </p:spPr>
        <p:txBody>
          <a:bodyPr wrap="none" lIns="0" tIns="0" rIns="0" bIns="0" rtlCol="0" anchor="t"/>
          <a:lstStyle/>
          <a:p>
            <a:pPr marL="0" indent="0" algn="l">
              <a:lnSpc>
                <a:spcPts val="1283"/>
              </a:lnSpc>
              <a:buNone/>
            </a:pPr>
            <a:r>
              <a:rPr lang="en-US" sz="1069" b="1" dirty="0">
                <a:solidFill>
                  <a:srgbClr val="F97316"/>
                </a:solidFill>
                <a:latin typeface="Carlito" pitchFamily="34" charset="0"/>
                <a:ea typeface="Carlito" pitchFamily="34" charset="-122"/>
                <a:cs typeface="Carlito" pitchFamily="34" charset="-120"/>
              </a:rPr>
              <a:t>Millions</a:t>
            </a:r>
            <a:r>
              <a:rPr lang="en-US" sz="1069" b="1" dirty="0">
                <a:solidFill>
                  <a:srgbClr val="0F172A"/>
                </a:solidFill>
                <a:latin typeface="Carlito" pitchFamily="34" charset="0"/>
                <a:ea typeface="Carlito" pitchFamily="34" charset="-122"/>
                <a:cs typeface="Carlito" pitchFamily="34" charset="-120"/>
              </a:rPr>
              <a:t> of tests</a:t>
            </a:r>
            <a:endParaRPr lang="en-US" sz="1069" dirty="0"/>
          </a:p>
        </p:txBody>
      </p:sp>
      <p:sp>
        <p:nvSpPr>
          <p:cNvPr id="16" name="Shape 14"/>
          <p:cNvSpPr/>
          <p:nvPr/>
        </p:nvSpPr>
        <p:spPr>
          <a:xfrm>
            <a:off x="635794" y="3180866"/>
            <a:ext cx="2831716" cy="0"/>
          </a:xfrm>
          <a:prstGeom prst="line">
            <a:avLst/>
          </a:prstGeom>
          <a:noFill/>
          <a:ln w="7144">
            <a:solidFill>
              <a:srgbClr val="CBD5E1"/>
            </a:solidFill>
            <a:prstDash val="solid"/>
          </a:ln>
        </p:spPr>
      </p:sp>
      <p:sp>
        <p:nvSpPr>
          <p:cNvPr id="17" name="Text 15"/>
          <p:cNvSpPr/>
          <p:nvPr/>
        </p:nvSpPr>
        <p:spPr>
          <a:xfrm>
            <a:off x="635794" y="2823009"/>
            <a:ext cx="2831716" cy="106848"/>
          </a:xfrm>
          <a:prstGeom prst="rect">
            <a:avLst/>
          </a:prstGeom>
          <a:noFill/>
          <a:ln/>
        </p:spPr>
        <p:txBody>
          <a:bodyPr wrap="none" lIns="0" tIns="0" rIns="0" bIns="0" rtlCol="0" anchor="t">
            <a:normAutofit fontScale="62500" lnSpcReduction="20000"/>
          </a:bodyPr>
          <a:lstStyle/>
          <a:p>
            <a:pPr marL="0" indent="0" algn="l">
              <a:lnSpc>
                <a:spcPts val="945"/>
              </a:lnSpc>
              <a:buNone/>
            </a:pPr>
            <a:r>
              <a:rPr lang="en-US" sz="800" kern="0" spc="28" dirty="0">
                <a:solidFill>
                  <a:srgbClr val="64748B"/>
                </a:solidFill>
                <a:latin typeface="Courier New" pitchFamily="34" charset="0"/>
                <a:ea typeface="Courier New" pitchFamily="34" charset="-122"/>
                <a:cs typeface="Courier New" pitchFamily="34" charset="-120"/>
              </a:rPr>
              <a:t>APPROACH</a:t>
            </a:r>
            <a:endParaRPr lang="en-US" sz="800" dirty="0"/>
          </a:p>
        </p:txBody>
      </p:sp>
      <p:sp>
        <p:nvSpPr>
          <p:cNvPr id="18" name="Text 16"/>
          <p:cNvSpPr/>
          <p:nvPr/>
        </p:nvSpPr>
        <p:spPr>
          <a:xfrm>
            <a:off x="635794" y="2957289"/>
            <a:ext cx="2941444" cy="162855"/>
          </a:xfrm>
          <a:prstGeom prst="rect">
            <a:avLst/>
          </a:prstGeom>
          <a:noFill/>
          <a:ln/>
        </p:spPr>
        <p:txBody>
          <a:bodyPr wrap="square" lIns="0" tIns="0" rIns="0" bIns="0" rtlCol="0" anchor="t"/>
          <a:lstStyle/>
          <a:p>
            <a:pPr marL="0" indent="0" algn="l">
              <a:lnSpc>
                <a:spcPts val="1283"/>
              </a:lnSpc>
              <a:buNone/>
            </a:pPr>
            <a:r>
              <a:rPr lang="en-US" sz="1069" b="1" dirty="0">
                <a:solidFill>
                  <a:srgbClr val="0F172A"/>
                </a:solidFill>
                <a:latin typeface="Carlito" pitchFamily="34" charset="0"/>
                <a:ea typeface="Carlito" pitchFamily="34" charset="-122"/>
                <a:cs typeface="Carlito" pitchFamily="34" charset="-120"/>
              </a:rPr>
              <a:t>Genetic algorithm + ML for test selection</a:t>
            </a:r>
            <a:endParaRPr lang="en-US" sz="1069" dirty="0"/>
          </a:p>
        </p:txBody>
      </p:sp>
      <p:sp>
        <p:nvSpPr>
          <p:cNvPr id="19" name="Text 17"/>
          <p:cNvSpPr/>
          <p:nvPr/>
        </p:nvSpPr>
        <p:spPr>
          <a:xfrm>
            <a:off x="635794" y="3270163"/>
            <a:ext cx="2831716" cy="106848"/>
          </a:xfrm>
          <a:prstGeom prst="rect">
            <a:avLst/>
          </a:prstGeom>
          <a:noFill/>
          <a:ln/>
        </p:spPr>
        <p:txBody>
          <a:bodyPr wrap="none" lIns="0" tIns="0" rIns="0" bIns="0" rtlCol="0" anchor="t">
            <a:normAutofit fontScale="62500" lnSpcReduction="20000"/>
          </a:bodyPr>
          <a:lstStyle/>
          <a:p>
            <a:pPr marL="0" indent="0" algn="l">
              <a:lnSpc>
                <a:spcPts val="945"/>
              </a:lnSpc>
              <a:buNone/>
            </a:pPr>
            <a:r>
              <a:rPr lang="en-US" sz="800" kern="0" spc="28" dirty="0">
                <a:solidFill>
                  <a:srgbClr val="64748B"/>
                </a:solidFill>
                <a:latin typeface="Courier New" pitchFamily="34" charset="0"/>
                <a:ea typeface="Courier New" pitchFamily="34" charset="-122"/>
                <a:cs typeface="Courier New" pitchFamily="34" charset="-120"/>
              </a:rPr>
              <a:t>RESULT</a:t>
            </a:r>
            <a:endParaRPr lang="en-US" sz="800" dirty="0"/>
          </a:p>
        </p:txBody>
      </p:sp>
      <p:sp>
        <p:nvSpPr>
          <p:cNvPr id="20" name="Text 18"/>
          <p:cNvSpPr/>
          <p:nvPr/>
        </p:nvSpPr>
        <p:spPr>
          <a:xfrm>
            <a:off x="635794" y="3404443"/>
            <a:ext cx="2941444" cy="175884"/>
          </a:xfrm>
          <a:prstGeom prst="rect">
            <a:avLst/>
          </a:prstGeom>
          <a:noFill/>
          <a:ln/>
        </p:spPr>
        <p:txBody>
          <a:bodyPr wrap="square" lIns="0" tIns="0" rIns="0" bIns="0" rtlCol="0" anchor="t"/>
          <a:lstStyle/>
          <a:p>
            <a:pPr marL="0" indent="0" algn="l">
              <a:lnSpc>
                <a:spcPts val="1283"/>
              </a:lnSpc>
              <a:buNone/>
            </a:pPr>
            <a:r>
              <a:rPr lang="en-US" sz="1069" b="1" dirty="0">
                <a:solidFill>
                  <a:srgbClr val="F97316"/>
                </a:solidFill>
                <a:latin typeface="Liberation Sans Narrow" pitchFamily="34" charset="0"/>
                <a:ea typeface="Liberation Sans Narrow" pitchFamily="34" charset="-122"/>
                <a:cs typeface="Liberation Sans Narrow" pitchFamily="34" charset="-120"/>
              </a:rPr>
              <a:t>75%</a:t>
            </a:r>
            <a:r>
              <a:rPr lang="en-US" sz="1069" b="1" dirty="0">
                <a:solidFill>
                  <a:srgbClr val="0F172A"/>
                </a:solidFill>
                <a:latin typeface="Carlito" pitchFamily="34" charset="0"/>
                <a:ea typeface="Carlito" pitchFamily="34" charset="-122"/>
                <a:cs typeface="Carlito" pitchFamily="34" charset="-120"/>
              </a:rPr>
              <a:t> test reduction, </a:t>
            </a:r>
            <a:r>
              <a:rPr lang="en-US" sz="1069" b="1" dirty="0">
                <a:solidFill>
                  <a:srgbClr val="F97316"/>
                </a:solidFill>
                <a:latin typeface="Carlito" pitchFamily="34" charset="0"/>
                <a:ea typeface="Carlito" pitchFamily="34" charset="-122"/>
                <a:cs typeface="Carlito" pitchFamily="34" charset="-120"/>
              </a:rPr>
              <a:t>3×</a:t>
            </a:r>
            <a:r>
              <a:rPr lang="en-US" sz="1069" b="1" dirty="0">
                <a:solidFill>
                  <a:srgbClr val="0F172A"/>
                </a:solidFill>
                <a:latin typeface="Carlito" pitchFamily="34" charset="0"/>
                <a:ea typeface="Carlito" pitchFamily="34" charset="-122"/>
                <a:cs typeface="Carlito" pitchFamily="34" charset="-120"/>
              </a:rPr>
              <a:t> faster CI</a:t>
            </a:r>
            <a:endParaRPr lang="en-US" sz="1069" dirty="0"/>
          </a:p>
        </p:txBody>
      </p:sp>
      <p:sp>
        <p:nvSpPr>
          <p:cNvPr id="21" name="Text 19"/>
          <p:cNvSpPr/>
          <p:nvPr/>
        </p:nvSpPr>
        <p:spPr>
          <a:xfrm>
            <a:off x="3817553" y="1060066"/>
            <a:ext cx="5326447" cy="222175"/>
          </a:xfrm>
          <a:prstGeom prst="rect">
            <a:avLst/>
          </a:prstGeom>
          <a:noFill/>
          <a:ln/>
        </p:spPr>
        <p:txBody>
          <a:bodyPr wrap="square" lIns="0" tIns="0" rIns="0" bIns="0" rtlCol="0" anchor="t"/>
          <a:lstStyle/>
          <a:p>
            <a:pPr marL="0" indent="0" algn="l">
              <a:lnSpc>
                <a:spcPts val="1620"/>
              </a:lnSpc>
              <a:buNone/>
            </a:pPr>
            <a:r>
              <a:rPr lang="en-US" sz="1350" b="1" dirty="0">
                <a:solidFill>
                  <a:srgbClr val="0F172A"/>
                </a:solidFill>
                <a:latin typeface="Carlito" pitchFamily="34" charset="0"/>
                <a:ea typeface="Carlito" pitchFamily="34" charset="-122"/>
                <a:cs typeface="Carlito" pitchFamily="34" charset="-120"/>
              </a:rPr>
              <a:t>How Meta Selects Tests with Genetic Algorithms</a:t>
            </a:r>
            <a:endParaRPr lang="en-US" sz="1350" dirty="0"/>
          </a:p>
        </p:txBody>
      </p:sp>
      <p:sp>
        <p:nvSpPr>
          <p:cNvPr id="22" name="Text 20"/>
          <p:cNvSpPr/>
          <p:nvPr/>
        </p:nvSpPr>
        <p:spPr>
          <a:xfrm>
            <a:off x="3817553" y="1351508"/>
            <a:ext cx="4869247" cy="915543"/>
          </a:xfrm>
          <a:prstGeom prst="rect">
            <a:avLst/>
          </a:prstGeom>
          <a:noFill/>
          <a:ln/>
        </p:spPr>
        <p:txBody>
          <a:bodyPr wrap="square" lIns="0" tIns="0" rIns="0" bIns="0" rtlCol="0" anchor="t">
            <a:normAutofit/>
          </a:bodyPr>
          <a:lstStyle/>
          <a:p>
            <a:pPr marL="0" indent="0" algn="l">
              <a:lnSpc>
                <a:spcPts val="1350"/>
              </a:lnSpc>
              <a:buNone/>
            </a:pPr>
            <a:r>
              <a:rPr lang="en-US" sz="900" dirty="0">
                <a:solidFill>
                  <a:srgbClr val="0F172A"/>
                </a:solidFill>
                <a:latin typeface="Carlito" pitchFamily="34" charset="0"/>
                <a:ea typeface="Carlito" pitchFamily="34" charset="-122"/>
                <a:cs typeface="Carlito" pitchFamily="34" charset="-120"/>
              </a:rPr>
              <a:t>Meta runs one of the largest test suites in the world — millions of test cases across thousands of services. Running every test on every PR is impossible. Sapienz uses a </a:t>
            </a:r>
            <a:r>
              <a:rPr lang="en-US" sz="900" b="1" dirty="0">
                <a:solidFill>
                  <a:srgbClr val="C2410C"/>
                </a:solidFill>
                <a:latin typeface="Carlito" pitchFamily="34" charset="0"/>
                <a:ea typeface="Carlito" pitchFamily="34" charset="-122"/>
                <a:cs typeface="Carlito" pitchFamily="34" charset="-120"/>
              </a:rPr>
              <a:t>genetic algorithm</a:t>
            </a:r>
            <a:r>
              <a:rPr lang="en-US" sz="900" dirty="0">
                <a:solidFill>
                  <a:srgbClr val="0F172A"/>
                </a:solidFill>
                <a:latin typeface="Carlito" pitchFamily="34" charset="0"/>
                <a:ea typeface="Carlito" pitchFamily="34" charset="-122"/>
                <a:cs typeface="Carlito" pitchFamily="34" charset="-120"/>
              </a:rPr>
              <a:t> that evolves test subsets over many CI runs. Each "generation" of tests is scored by how many real bugs it catches. The fittest test subsets survive and reproduce — over time, the algorithm learns which tests are most informative for each code area.</a:t>
            </a:r>
            <a:endParaRPr lang="en-US" sz="900" dirty="0"/>
          </a:p>
        </p:txBody>
      </p:sp>
      <p:sp>
        <p:nvSpPr>
          <p:cNvPr id="23" name="Text 21"/>
          <p:cNvSpPr/>
          <p:nvPr/>
        </p:nvSpPr>
        <p:spPr>
          <a:xfrm>
            <a:off x="3817553" y="2294483"/>
            <a:ext cx="4869247" cy="555498"/>
          </a:xfrm>
          <a:prstGeom prst="rect">
            <a:avLst/>
          </a:prstGeom>
          <a:noFill/>
          <a:ln/>
        </p:spPr>
        <p:txBody>
          <a:bodyPr wrap="square" lIns="0" tIns="0" rIns="0" bIns="0" rtlCol="0" anchor="t"/>
          <a:lstStyle/>
          <a:p>
            <a:pPr marL="0" indent="0" algn="l">
              <a:lnSpc>
                <a:spcPts val="1350"/>
              </a:lnSpc>
              <a:buNone/>
            </a:pPr>
            <a:r>
              <a:rPr lang="en-US" sz="900" dirty="0">
                <a:solidFill>
                  <a:srgbClr val="0F172A"/>
                </a:solidFill>
                <a:latin typeface="Carlito" pitchFamily="34" charset="0"/>
                <a:ea typeface="Carlito" pitchFamily="34" charset="-122"/>
                <a:cs typeface="Carlito" pitchFamily="34" charset="-120"/>
              </a:rPr>
              <a:t>Meta augments Sapienz with ML models that predict test failure probability based on code-diff features (file type, change size, author history). The combined system selects </a:t>
            </a:r>
            <a:r>
              <a:rPr lang="en-US" sz="900" b="1" dirty="0">
                <a:solidFill>
                  <a:srgbClr val="C2410C"/>
                </a:solidFill>
                <a:latin typeface="Liberation Sans Narrow" pitchFamily="34" charset="0"/>
                <a:ea typeface="Liberation Sans Narrow" pitchFamily="34" charset="-122"/>
                <a:cs typeface="Liberation Sans Narrow" pitchFamily="34" charset="-120"/>
              </a:rPr>
              <a:t>&lt;25% of tests per PR</a:t>
            </a:r>
            <a:r>
              <a:rPr lang="en-US" sz="900" dirty="0">
                <a:solidFill>
                  <a:srgbClr val="0F172A"/>
                </a:solidFill>
                <a:latin typeface="Carlito" pitchFamily="34" charset="0"/>
                <a:ea typeface="Carlito" pitchFamily="34" charset="-122"/>
                <a:cs typeface="Carlito" pitchFamily="34" charset="-120"/>
              </a:rPr>
              <a:t> while catching </a:t>
            </a:r>
            <a:r>
              <a:rPr lang="en-US" sz="900" b="1" dirty="0">
                <a:solidFill>
                  <a:srgbClr val="C2410C"/>
                </a:solidFill>
                <a:latin typeface="Liberation Sans Narrow" pitchFamily="34" charset="0"/>
                <a:ea typeface="Liberation Sans Narrow" pitchFamily="34" charset="-122"/>
                <a:cs typeface="Liberation Sans Narrow" pitchFamily="34" charset="-120"/>
              </a:rPr>
              <a:t>95%+ of real regressions.</a:t>
            </a:r>
            <a:endParaRPr lang="en-US" sz="900" dirty="0"/>
          </a:p>
        </p:txBody>
      </p:sp>
      <p:sp>
        <p:nvSpPr>
          <p:cNvPr id="24" name="Text 22"/>
          <p:cNvSpPr/>
          <p:nvPr/>
        </p:nvSpPr>
        <p:spPr>
          <a:xfrm>
            <a:off x="3817553" y="2894558"/>
            <a:ext cx="4869247" cy="668499"/>
          </a:xfrm>
          <a:prstGeom prst="roundRect">
            <a:avLst>
              <a:gd name="adj" fmla="val 11399"/>
            </a:avLst>
          </a:prstGeom>
          <a:solidFill>
            <a:srgbClr val="FFF7ED"/>
          </a:solidFill>
          <a:ln/>
        </p:spPr>
        <p:txBody>
          <a:bodyPr wrap="square" rtlCol="0" anchor="ctr"/>
          <a:lstStyle/>
          <a:p>
            <a:pPr marL="0" indent="0">
              <a:buNone/>
            </a:pPr>
            <a:endParaRPr lang="en-US" dirty="0"/>
          </a:p>
        </p:txBody>
      </p:sp>
      <p:sp>
        <p:nvSpPr>
          <p:cNvPr id="25" name="Shape 23"/>
          <p:cNvSpPr/>
          <p:nvPr/>
        </p:nvSpPr>
        <p:spPr>
          <a:xfrm>
            <a:off x="3838984" y="2894558"/>
            <a:ext cx="0" cy="668499"/>
          </a:xfrm>
          <a:prstGeom prst="line">
            <a:avLst/>
          </a:prstGeom>
          <a:noFill/>
          <a:ln w="42863">
            <a:solidFill>
              <a:srgbClr val="F97316"/>
            </a:solidFill>
            <a:prstDash val="solid"/>
          </a:ln>
        </p:spPr>
      </p:sp>
      <p:sp>
        <p:nvSpPr>
          <p:cNvPr id="26" name="Text 24"/>
          <p:cNvSpPr/>
          <p:nvPr/>
        </p:nvSpPr>
        <p:spPr>
          <a:xfrm>
            <a:off x="3989003" y="3150282"/>
            <a:ext cx="4412493" cy="327054"/>
          </a:xfrm>
          <a:prstGeom prst="rect">
            <a:avLst/>
          </a:prstGeom>
          <a:noFill/>
          <a:ln/>
        </p:spPr>
        <p:txBody>
          <a:bodyPr wrap="square" lIns="128588" tIns="100013" rIns="128588" bIns="100013" rtlCol="0" anchor="t"/>
          <a:lstStyle/>
          <a:p>
            <a:pPr marL="0" indent="0" algn="l">
              <a:lnSpc>
                <a:spcPts val="1260"/>
              </a:lnSpc>
              <a:buNone/>
            </a:pPr>
            <a:r>
              <a:rPr lang="en-US" sz="900" b="1" dirty="0">
                <a:solidFill>
                  <a:srgbClr val="0F172A"/>
                </a:solidFill>
                <a:latin typeface="Carlito" pitchFamily="34" charset="0"/>
                <a:ea typeface="Carlito" pitchFamily="34" charset="-122"/>
                <a:cs typeface="Carlito" pitchFamily="34" charset="-120"/>
              </a:rPr>
              <a:t>At scale, test selection is itself an ML problem. Genetic algorithms + supervised models beat both "run all" and "run nothing".</a:t>
            </a:r>
            <a:endParaRPr lang="en-US" sz="900" dirty="0"/>
          </a:p>
        </p:txBody>
      </p:sp>
      <p:sp>
        <p:nvSpPr>
          <p:cNvPr id="27" name="Text 25"/>
          <p:cNvSpPr/>
          <p:nvPr/>
        </p:nvSpPr>
        <p:spPr>
          <a:xfrm>
            <a:off x="3989003" y="2994571"/>
            <a:ext cx="4569209" cy="153591"/>
          </a:xfrm>
          <a:prstGeom prst="rect">
            <a:avLst/>
          </a:prstGeom>
          <a:noFill/>
          <a:ln/>
        </p:spPr>
        <p:txBody>
          <a:bodyPr wrap="none" lIns="0" tIns="0" rIns="0" bIns="0" rtlCol="0" anchor="t"/>
          <a:lstStyle/>
          <a:p>
            <a:pPr marL="0" indent="0" algn="l">
              <a:lnSpc>
                <a:spcPts val="945"/>
              </a:lnSpc>
              <a:buNone/>
            </a:pPr>
            <a:r>
              <a:rPr lang="en-US" sz="800" b="1" kern="0" spc="84" dirty="0">
                <a:solidFill>
                  <a:srgbClr val="C2410C"/>
                </a:solidFill>
                <a:latin typeface="Carlito" pitchFamily="34" charset="0"/>
                <a:ea typeface="Carlito" pitchFamily="34" charset="-122"/>
                <a:cs typeface="Carlito" pitchFamily="34" charset="-120"/>
              </a:rPr>
              <a:t>LESSON</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063861"/>
            <a:ext cx="2124931" cy="305730"/>
          </a:xfrm>
          <a:prstGeom prst="roundRect">
            <a:avLst>
              <a:gd name="adj" fmla="val 3112379"/>
            </a:avLst>
          </a:prstGeom>
          <a:solidFill>
            <a:srgbClr val="FED7AA"/>
          </a:solidFill>
          <a:ln/>
        </p:spPr>
        <p:txBody>
          <a:bodyPr wrap="square" rtlCol="0" anchor="ctr"/>
          <a:lstStyle/>
          <a:p>
            <a:pPr marL="0" indent="0">
              <a:buNone/>
            </a:pPr>
            <a:endParaRPr lang="en-US" dirty="0"/>
          </a:p>
        </p:txBody>
      </p:sp>
      <p:sp>
        <p:nvSpPr>
          <p:cNvPr id="3" name="Text 1"/>
          <p:cNvSpPr/>
          <p:nvPr/>
        </p:nvSpPr>
        <p:spPr>
          <a:xfrm>
            <a:off x="457200" y="1063861"/>
            <a:ext cx="2124931" cy="305730"/>
          </a:xfrm>
          <a:prstGeom prst="rect">
            <a:avLst/>
          </a:prstGeom>
          <a:noFill/>
          <a:ln/>
        </p:spPr>
        <p:txBody>
          <a:bodyPr wrap="none" lIns="0" tIns="0" rIns="0" bIns="0" rtlCol="0" anchor="ctr"/>
          <a:lstStyle/>
          <a:p>
            <a:pPr marL="0" indent="0" algn="ctr">
              <a:lnSpc>
                <a:spcPts val="1733"/>
              </a:lnSpc>
              <a:buNone/>
            </a:pPr>
            <a:r>
              <a:rPr lang="en-US" sz="1238" b="1" kern="0" spc="28" dirty="0">
                <a:solidFill>
                  <a:srgbClr val="C2410C"/>
                </a:solidFill>
                <a:latin typeface="Liberation Sans Narrow" pitchFamily="34" charset="0"/>
                <a:ea typeface="Liberation Sans Narrow" pitchFamily="34" charset="-122"/>
                <a:cs typeface="Liberation Sans Narrow" pitchFamily="34" charset="-120"/>
              </a:rPr>
              <a:t>SECTION A • TOPIC 3 OF 4</a:t>
            </a:r>
            <a:endParaRPr lang="en-US" sz="1238" dirty="0"/>
          </a:p>
        </p:txBody>
      </p:sp>
      <p:sp>
        <p:nvSpPr>
          <p:cNvPr id="4" name="Text 2"/>
          <p:cNvSpPr/>
          <p:nvPr/>
        </p:nvSpPr>
        <p:spPr>
          <a:xfrm>
            <a:off x="457200" y="1498178"/>
            <a:ext cx="7528441" cy="998366"/>
          </a:xfrm>
          <a:prstGeom prst="rect">
            <a:avLst/>
          </a:prstGeom>
          <a:noFill/>
          <a:ln/>
        </p:spPr>
        <p:txBody>
          <a:bodyPr wrap="none" lIns="0" tIns="0" rIns="0" bIns="0" rtlCol="0" anchor="t">
            <a:normAutofit/>
          </a:bodyPr>
          <a:lstStyle/>
          <a:p>
            <a:pPr marL="0" indent="0" algn="l">
              <a:lnSpc>
                <a:spcPts val="7290"/>
              </a:lnSpc>
              <a:buNone/>
            </a:pPr>
            <a:r>
              <a:rPr lang="en-US" sz="8100" b="1" kern="0" spc="-225" dirty="0">
                <a:solidFill>
                  <a:srgbClr val="F97316"/>
                </a:solidFill>
                <a:latin typeface="Liberation Sans Narrow" pitchFamily="34" charset="0"/>
                <a:ea typeface="Liberation Sans Narrow" pitchFamily="34" charset="-122"/>
                <a:cs typeface="Liberation Sans Narrow" pitchFamily="34" charset="-120"/>
              </a:rPr>
              <a:t>1.3</a:t>
            </a:r>
            <a:endParaRPr lang="en-US" sz="8100" dirty="0"/>
          </a:p>
        </p:txBody>
      </p:sp>
      <p:sp>
        <p:nvSpPr>
          <p:cNvPr id="5" name="Text 3"/>
          <p:cNvSpPr/>
          <p:nvPr/>
        </p:nvSpPr>
        <p:spPr>
          <a:xfrm>
            <a:off x="457200" y="2523976"/>
            <a:ext cx="4705276" cy="874716"/>
          </a:xfrm>
          <a:prstGeom prst="rect">
            <a:avLst/>
          </a:prstGeom>
          <a:noFill/>
          <a:ln/>
        </p:spPr>
        <p:txBody>
          <a:bodyPr wrap="square" lIns="0" tIns="0" rIns="0" bIns="0" rtlCol="0" anchor="t"/>
          <a:lstStyle/>
          <a:p>
            <a:pPr marL="0" indent="0" algn="l">
              <a:lnSpc>
                <a:spcPts val="3189"/>
              </a:lnSpc>
              <a:buNone/>
            </a:pPr>
            <a:r>
              <a:rPr lang="en-US" sz="3038" b="1" kern="0" spc="-67" dirty="0">
                <a:solidFill>
                  <a:srgbClr val="0F172A"/>
                </a:solidFill>
                <a:latin typeface="Carlito" pitchFamily="34" charset="0"/>
                <a:ea typeface="Carlito" pitchFamily="34" charset="-122"/>
                <a:cs typeface="Carlito" pitchFamily="34" charset="-120"/>
              </a:rPr>
              <a:t>LLM-Based Build/Error-Log Summarisation</a:t>
            </a:r>
            <a:endParaRPr lang="en-US" sz="3038" dirty="0"/>
          </a:p>
        </p:txBody>
      </p:sp>
      <p:sp>
        <p:nvSpPr>
          <p:cNvPr id="6" name="Text 4"/>
          <p:cNvSpPr/>
          <p:nvPr/>
        </p:nvSpPr>
        <p:spPr>
          <a:xfrm>
            <a:off x="457200" y="3462486"/>
            <a:ext cx="571500" cy="42863"/>
          </a:xfrm>
          <a:prstGeom prst="roundRect">
            <a:avLst>
              <a:gd name="adj" fmla="val 66666"/>
            </a:avLst>
          </a:prstGeom>
          <a:solidFill>
            <a:srgbClr val="F97316"/>
          </a:solidFill>
          <a:ln/>
        </p:spPr>
        <p:txBody>
          <a:bodyPr wrap="square" rtlCol="0" anchor="ctr"/>
          <a:lstStyle/>
          <a:p>
            <a:pPr marL="0" indent="0">
              <a:buNone/>
            </a:pPr>
            <a:endParaRPr lang="en-US" dirty="0"/>
          </a:p>
        </p:txBody>
      </p:sp>
      <p:sp>
        <p:nvSpPr>
          <p:cNvPr id="7" name="Text 5"/>
          <p:cNvSpPr/>
          <p:nvPr/>
        </p:nvSpPr>
        <p:spPr>
          <a:xfrm>
            <a:off x="457200" y="3619649"/>
            <a:ext cx="4705276" cy="496669"/>
          </a:xfrm>
          <a:prstGeom prst="rect">
            <a:avLst/>
          </a:prstGeom>
          <a:noFill/>
          <a:ln/>
        </p:spPr>
        <p:txBody>
          <a:bodyPr wrap="square" lIns="0" tIns="0" rIns="0" bIns="0" rtlCol="0" anchor="t"/>
          <a:lstStyle/>
          <a:p>
            <a:pPr marL="0" indent="0" algn="l">
              <a:lnSpc>
                <a:spcPts val="1811"/>
              </a:lnSpc>
              <a:buNone/>
            </a:pPr>
            <a:r>
              <a:rPr lang="en-US" sz="1294" dirty="0">
                <a:solidFill>
                  <a:srgbClr val="334155"/>
                </a:solidFill>
                <a:latin typeface="Carlito" pitchFamily="34" charset="0"/>
                <a:ea typeface="Carlito" pitchFamily="34" charset="-122"/>
                <a:cs typeface="Carlito" pitchFamily="34" charset="-120"/>
              </a:rPr>
              <a:t>Turn 50,000 lines of build logs into a 3-sentence root-cause summary.</a:t>
            </a:r>
            <a:endParaRPr lang="en-US" sz="1294" dirty="0"/>
          </a:p>
        </p:txBody>
      </p:sp>
      <p:sp>
        <p:nvSpPr>
          <p:cNvPr id="8" name="Text 6"/>
          <p:cNvSpPr/>
          <p:nvPr/>
        </p:nvSpPr>
        <p:spPr>
          <a:xfrm>
            <a:off x="5391076" y="457200"/>
            <a:ext cx="3295613" cy="4229100"/>
          </a:xfrm>
          <a:prstGeom prst="roundRect">
            <a:avLst>
              <a:gd name="adj" fmla="val 4046"/>
            </a:avLst>
          </a:prstGeom>
          <a:solidFill>
            <a:srgbClr val="FFF7ED"/>
          </a:solidFill>
          <a:ln/>
        </p:spPr>
        <p:txBody>
          <a:bodyPr wrap="square" rtlCol="0" anchor="ctr"/>
          <a:lstStyle/>
          <a:p>
            <a:pPr marL="0" indent="0">
              <a:buNone/>
            </a:pPr>
            <a:endParaRPr lang="en-US" dirty="0"/>
          </a:p>
        </p:txBody>
      </p:sp>
      <p:sp>
        <p:nvSpPr>
          <p:cNvPr id="9" name="Shape 7"/>
          <p:cNvSpPr/>
          <p:nvPr/>
        </p:nvSpPr>
        <p:spPr>
          <a:xfrm>
            <a:off x="5419651" y="457200"/>
            <a:ext cx="0" cy="4229100"/>
          </a:xfrm>
          <a:prstGeom prst="line">
            <a:avLst/>
          </a:prstGeom>
          <a:noFill/>
          <a:ln w="57150">
            <a:solidFill>
              <a:srgbClr val="F97316"/>
            </a:solidFill>
            <a:prstDash val="solid"/>
          </a:ln>
        </p:spPr>
      </p:sp>
      <p:sp>
        <p:nvSpPr>
          <p:cNvPr id="10" name="Text 8"/>
          <p:cNvSpPr/>
          <p:nvPr/>
        </p:nvSpPr>
        <p:spPr>
          <a:xfrm>
            <a:off x="7621555" y="3471863"/>
            <a:ext cx="1258729" cy="957263"/>
          </a:xfrm>
          <a:prstGeom prst="rect">
            <a:avLst/>
          </a:prstGeom>
          <a:noFill/>
          <a:ln/>
        </p:spPr>
        <p:txBody>
          <a:bodyPr wrap="none" lIns="0" tIns="0" rIns="0" bIns="0" rtlCol="0" anchor="t"/>
          <a:lstStyle/>
          <a:p>
            <a:pPr marL="0" indent="0" algn="l">
              <a:lnSpc>
                <a:spcPts val="11250"/>
              </a:lnSpc>
              <a:buNone/>
            </a:pPr>
            <a:r>
              <a:rPr lang="en-US" sz="11250" b="1" dirty="0">
                <a:solidFill>
                  <a:srgbClr val="F97316">
                    <a:alpha val="8000"/>
                  </a:srgbClr>
                </a:solidFill>
                <a:latin typeface="Courier New" pitchFamily="34" charset="0"/>
                <a:ea typeface="Courier New" pitchFamily="34" charset="-122"/>
                <a:cs typeface="Courier New" pitchFamily="34" charset="-120"/>
              </a:rPr>
              <a:t>?</a:t>
            </a:r>
            <a:endParaRPr lang="en-US" sz="11250" dirty="0"/>
          </a:p>
        </p:txBody>
      </p:sp>
      <p:sp>
        <p:nvSpPr>
          <p:cNvPr id="11" name="Text 9"/>
          <p:cNvSpPr/>
          <p:nvPr/>
        </p:nvSpPr>
        <p:spPr>
          <a:xfrm>
            <a:off x="5676826" y="1805471"/>
            <a:ext cx="2781263" cy="153570"/>
          </a:xfrm>
          <a:prstGeom prst="rect">
            <a:avLst/>
          </a:prstGeom>
          <a:noFill/>
          <a:ln/>
        </p:spPr>
        <p:txBody>
          <a:bodyPr wrap="none" lIns="0" tIns="0" rIns="0" bIns="0" rtlCol="0" anchor="t"/>
          <a:lstStyle/>
          <a:p>
            <a:pPr marL="0" indent="0" algn="l">
              <a:lnSpc>
                <a:spcPts val="1103"/>
              </a:lnSpc>
              <a:buNone/>
            </a:pPr>
            <a:r>
              <a:rPr lang="en-US" sz="800" b="1" kern="0" spc="84" dirty="0">
                <a:solidFill>
                  <a:srgbClr val="C2410C"/>
                </a:solidFill>
                <a:latin typeface="Carlito" pitchFamily="34" charset="0"/>
                <a:ea typeface="Carlito" pitchFamily="34" charset="-122"/>
                <a:cs typeface="Carlito" pitchFamily="34" charset="-120"/>
              </a:rPr>
              <a:t>THE KEY QUESTION</a:t>
            </a:r>
            <a:endParaRPr lang="en-US" sz="800" dirty="0"/>
          </a:p>
        </p:txBody>
      </p:sp>
      <p:sp>
        <p:nvSpPr>
          <p:cNvPr id="12" name="Text 10"/>
          <p:cNvSpPr/>
          <p:nvPr/>
        </p:nvSpPr>
        <p:spPr>
          <a:xfrm>
            <a:off x="5676826" y="2045457"/>
            <a:ext cx="2781263" cy="721858"/>
          </a:xfrm>
          <a:prstGeom prst="rect">
            <a:avLst/>
          </a:prstGeom>
          <a:noFill/>
          <a:ln/>
        </p:spPr>
        <p:txBody>
          <a:bodyPr wrap="square" lIns="0" tIns="0" rIns="0" bIns="0" rtlCol="0" anchor="t"/>
          <a:lstStyle/>
          <a:p>
            <a:pPr marL="0" indent="0" algn="l">
              <a:lnSpc>
                <a:spcPts val="1755"/>
              </a:lnSpc>
              <a:buNone/>
            </a:pPr>
            <a:r>
              <a:rPr lang="en-US" sz="1350" b="1" dirty="0">
                <a:solidFill>
                  <a:srgbClr val="0F172A"/>
                </a:solidFill>
                <a:latin typeface="Carlito" pitchFamily="34" charset="0"/>
                <a:ea typeface="Carlito" pitchFamily="34" charset="-122"/>
                <a:cs typeface="Carlito" pitchFamily="34" charset="-120"/>
              </a:rPr>
              <a:t>Question: When CI fails, why does the developer spend </a:t>
            </a:r>
            <a:r>
              <a:rPr lang="en-US" sz="1350" b="1" dirty="0">
                <a:solidFill>
                  <a:srgbClr val="C2410C"/>
                </a:solidFill>
                <a:latin typeface="Liberation Sans Narrow" pitchFamily="34" charset="0"/>
                <a:ea typeface="Liberation Sans Narrow" pitchFamily="34" charset="-122"/>
                <a:cs typeface="Liberation Sans Narrow" pitchFamily="34" charset="-120"/>
              </a:rPr>
              <a:t>30 minutes</a:t>
            </a:r>
            <a:r>
              <a:rPr lang="en-US" sz="1350" b="1" dirty="0">
                <a:solidFill>
                  <a:srgbClr val="0F172A"/>
                </a:solidFill>
                <a:latin typeface="Carlito" pitchFamily="34" charset="0"/>
                <a:ea typeface="Carlito" pitchFamily="34" charset="-122"/>
                <a:cs typeface="Carlito" pitchFamily="34" charset="-120"/>
              </a:rPr>
              <a:t> searching </a:t>
            </a:r>
            <a:r>
              <a:rPr lang="en-US" sz="1350" b="1" dirty="0">
                <a:solidFill>
                  <a:srgbClr val="C2410C"/>
                </a:solidFill>
                <a:latin typeface="Liberation Sans Narrow" pitchFamily="34" charset="0"/>
                <a:ea typeface="Liberation Sans Narrow" pitchFamily="34" charset="-122"/>
                <a:cs typeface="Liberation Sans Narrow" pitchFamily="34" charset="-120"/>
              </a:rPr>
              <a:t>50,000 log lines</a:t>
            </a:r>
            <a:r>
              <a:rPr lang="en-US" sz="1350" b="1" dirty="0">
                <a:solidFill>
                  <a:srgbClr val="0F172A"/>
                </a:solidFill>
                <a:latin typeface="Carlito" pitchFamily="34" charset="0"/>
                <a:ea typeface="Carlito" pitchFamily="34" charset="-122"/>
                <a:cs typeface="Carlito" pitchFamily="34" charset="-120"/>
              </a:rPr>
              <a:t>?</a:t>
            </a:r>
            <a:endParaRPr lang="en-US" sz="1350" dirty="0"/>
          </a:p>
        </p:txBody>
      </p:sp>
      <p:sp>
        <p:nvSpPr>
          <p:cNvPr id="13" name="Text 11"/>
          <p:cNvSpPr/>
          <p:nvPr/>
        </p:nvSpPr>
        <p:spPr>
          <a:xfrm>
            <a:off x="5676826" y="2842431"/>
            <a:ext cx="2781263" cy="535245"/>
          </a:xfrm>
          <a:prstGeom prst="rect">
            <a:avLst/>
          </a:prstGeom>
          <a:noFill/>
          <a:ln/>
        </p:spPr>
        <p:txBody>
          <a:bodyPr wrap="square" lIns="0" tIns="128588" rIns="0" bIns="0" rtlCol="0" anchor="t"/>
          <a:lstStyle/>
          <a:p>
            <a:pPr marL="0" indent="0" algn="l">
              <a:lnSpc>
                <a:spcPts val="1418"/>
              </a:lnSpc>
              <a:buNone/>
            </a:pPr>
            <a:r>
              <a:rPr lang="en-US" sz="1013" dirty="0">
                <a:solidFill>
                  <a:srgbClr val="334155"/>
                </a:solidFill>
                <a:latin typeface="Carlito" pitchFamily="34" charset="0"/>
                <a:ea typeface="Carlito" pitchFamily="34" charset="-122"/>
                <a:cs typeface="Carlito" pitchFamily="34" charset="-120"/>
              </a:rPr>
              <a:t>Answer: Because logs are written for machines, not humans. </a:t>
            </a:r>
            <a:r>
              <a:rPr lang="en-US" sz="1013" b="1" dirty="0">
                <a:solidFill>
                  <a:srgbClr val="C2410C"/>
                </a:solidFill>
                <a:latin typeface="Carlito" pitchFamily="34" charset="0"/>
                <a:ea typeface="Carlito" pitchFamily="34" charset="-122"/>
                <a:cs typeface="Carlito" pitchFamily="34" charset="-120"/>
              </a:rPr>
              <a:t>LLMs translate.</a:t>
            </a:r>
            <a:endParaRPr lang="en-US" sz="1013"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8636000" cy="432054"/>
          </a:xfrm>
          <a:prstGeom prst="rect">
            <a:avLst/>
          </a:prstGeom>
          <a:noFill/>
          <a:ln/>
        </p:spPr>
        <p:txBody>
          <a:bodyPr wrap="none" lIns="0" tIns="0" rIns="0" bIns="0" rtlCol="0" anchor="t"/>
          <a:lstStyle/>
          <a:p>
            <a:pPr marL="0" indent="0" algn="l">
              <a:lnSpc>
                <a:spcPts val="3150"/>
              </a:lnSpc>
              <a:buNone/>
            </a:pPr>
            <a:r>
              <a:rPr lang="en-US" sz="2250" b="1" dirty="0">
                <a:solidFill>
                  <a:srgbClr val="0F172A"/>
                </a:solidFill>
                <a:latin typeface="Carlito" pitchFamily="34" charset="0"/>
                <a:ea typeface="Carlito" pitchFamily="34" charset="-122"/>
                <a:cs typeface="Carlito" pitchFamily="34" charset="-120"/>
              </a:rPr>
              <a:t>The Log Noise Problem</a:t>
            </a:r>
            <a:endParaRPr lang="en-US" sz="2250" dirty="0"/>
          </a:p>
        </p:txBody>
      </p:sp>
      <p:sp>
        <p:nvSpPr>
          <p:cNvPr id="3" name="Text 1"/>
          <p:cNvSpPr/>
          <p:nvPr/>
        </p:nvSpPr>
        <p:spPr>
          <a:xfrm>
            <a:off x="457200" y="928688"/>
            <a:ext cx="571500" cy="42863"/>
          </a:xfrm>
          <a:prstGeom prst="roundRect">
            <a:avLst>
              <a:gd name="adj" fmla="val 66666"/>
            </a:avLst>
          </a:prstGeom>
          <a:solidFill>
            <a:srgbClr val="F97316"/>
          </a:solidFill>
          <a:ln/>
        </p:spPr>
        <p:txBody>
          <a:bodyPr wrap="square" rtlCol="0" anchor="ctr"/>
          <a:lstStyle/>
          <a:p>
            <a:pPr marL="0" indent="0">
              <a:buNone/>
            </a:pPr>
            <a:endParaRPr lang="en-US" dirty="0"/>
          </a:p>
        </p:txBody>
      </p:sp>
      <p:sp>
        <p:nvSpPr>
          <p:cNvPr id="4" name="Text 2"/>
          <p:cNvSpPr/>
          <p:nvPr/>
        </p:nvSpPr>
        <p:spPr>
          <a:xfrm>
            <a:off x="457200" y="1100138"/>
            <a:ext cx="2647876" cy="3000375"/>
          </a:xfrm>
          <a:prstGeom prst="roundRect">
            <a:avLst>
              <a:gd name="adj" fmla="val 5036"/>
            </a:avLst>
          </a:prstGeom>
          <a:solidFill>
            <a:srgbClr val="F8FAFC"/>
          </a:solidFill>
          <a:ln/>
        </p:spPr>
        <p:txBody>
          <a:bodyPr wrap="square" rtlCol="0" anchor="ctr"/>
          <a:lstStyle/>
          <a:p>
            <a:pPr marL="0" indent="0">
              <a:buNone/>
            </a:pPr>
            <a:endParaRPr lang="en-US" dirty="0"/>
          </a:p>
        </p:txBody>
      </p:sp>
      <p:sp>
        <p:nvSpPr>
          <p:cNvPr id="5" name="Shape 3"/>
          <p:cNvSpPr/>
          <p:nvPr/>
        </p:nvSpPr>
        <p:spPr>
          <a:xfrm>
            <a:off x="457200" y="4079081"/>
            <a:ext cx="2647876" cy="0"/>
          </a:xfrm>
          <a:prstGeom prst="line">
            <a:avLst/>
          </a:prstGeom>
          <a:noFill/>
          <a:ln w="42863">
            <a:solidFill>
              <a:srgbClr val="F97316"/>
            </a:solidFill>
            <a:prstDash val="solid"/>
          </a:ln>
        </p:spPr>
      </p:sp>
      <p:sp>
        <p:nvSpPr>
          <p:cNvPr id="6" name="Text 4"/>
          <p:cNvSpPr/>
          <p:nvPr/>
        </p:nvSpPr>
        <p:spPr>
          <a:xfrm>
            <a:off x="628650" y="1300163"/>
            <a:ext cx="314325" cy="314325"/>
          </a:xfrm>
          <a:prstGeom prst="roundRect">
            <a:avLst>
              <a:gd name="adj" fmla="val 36364"/>
            </a:avLst>
          </a:prstGeom>
          <a:solidFill>
            <a:srgbClr val="F97316">
              <a:alpha val="12000"/>
            </a:srgbClr>
          </a:solidFill>
          <a:ln/>
        </p:spPr>
        <p:txBody>
          <a:bodyPr wrap="square" rtlCol="0" anchor="ctr"/>
          <a:lstStyle/>
          <a:p>
            <a:pPr marL="0" indent="0">
              <a:buNone/>
            </a:pPr>
            <a:endParaRPr lang="en-US" dirty="0"/>
          </a:p>
        </p:txBody>
      </p:sp>
      <p:sp>
        <p:nvSpPr>
          <p:cNvPr id="7" name="Text 5"/>
          <p:cNvSpPr/>
          <p:nvPr/>
        </p:nvSpPr>
        <p:spPr>
          <a:xfrm>
            <a:off x="651153" y="1322665"/>
            <a:ext cx="269319" cy="269319"/>
          </a:xfrm>
          <a:prstGeom prst="rect">
            <a:avLst/>
          </a:prstGeom>
          <a:noFill/>
          <a:ln/>
        </p:spPr>
        <p:txBody>
          <a:bodyPr wrap="none" lIns="0" tIns="0" rIns="0" bIns="0" rtlCol="0" anchor="ctr"/>
          <a:lstStyle/>
          <a:p>
            <a:pPr marL="0" indent="0" algn="ctr">
              <a:buNone/>
            </a:pPr>
            <a:r>
              <a:rPr lang="en-US" sz="1828" dirty="0">
                <a:solidFill>
                  <a:srgbClr val="F97316"/>
                </a:solidFill>
                <a:latin typeface="Segoe UI Symbol" pitchFamily="34" charset="0"/>
                <a:ea typeface="Segoe UI Symbol" pitchFamily="34" charset="-122"/>
                <a:cs typeface="Segoe UI Symbol" pitchFamily="34" charset="-120"/>
              </a:rPr>
              <a:t>▤</a:t>
            </a:r>
            <a:endParaRPr lang="en-US" sz="1828" dirty="0"/>
          </a:p>
        </p:txBody>
      </p:sp>
      <p:sp>
        <p:nvSpPr>
          <p:cNvPr id="8" name="Text 6"/>
          <p:cNvSpPr/>
          <p:nvPr/>
        </p:nvSpPr>
        <p:spPr>
          <a:xfrm>
            <a:off x="2311828" y="1401626"/>
            <a:ext cx="693527" cy="153570"/>
          </a:xfrm>
          <a:prstGeom prst="rect">
            <a:avLst/>
          </a:prstGeom>
          <a:noFill/>
          <a:ln/>
        </p:spPr>
        <p:txBody>
          <a:bodyPr wrap="none" lIns="0" tIns="0" rIns="0" bIns="0" rtlCol="0" anchor="t"/>
          <a:lstStyle/>
          <a:p>
            <a:pPr marL="0" indent="0" algn="l">
              <a:lnSpc>
                <a:spcPts val="1103"/>
              </a:lnSpc>
              <a:buNone/>
            </a:pPr>
            <a:r>
              <a:rPr lang="en-US" sz="788" dirty="0">
                <a:solidFill>
                  <a:srgbClr val="64748B"/>
                </a:solidFill>
                <a:latin typeface="Courier New" pitchFamily="34" charset="0"/>
                <a:ea typeface="Courier New" pitchFamily="34" charset="-122"/>
                <a:cs typeface="Courier New" pitchFamily="34" charset="-120"/>
              </a:rPr>
              <a:t>Maven build</a:t>
            </a:r>
            <a:endParaRPr lang="en-US" sz="788" dirty="0"/>
          </a:p>
        </p:txBody>
      </p:sp>
      <p:sp>
        <p:nvSpPr>
          <p:cNvPr id="9" name="Text 7"/>
          <p:cNvSpPr/>
          <p:nvPr/>
        </p:nvSpPr>
        <p:spPr>
          <a:xfrm>
            <a:off x="484119" y="1685925"/>
            <a:ext cx="2594039" cy="615506"/>
          </a:xfrm>
          <a:prstGeom prst="rect">
            <a:avLst/>
          </a:prstGeom>
          <a:noFill/>
          <a:ln/>
        </p:spPr>
        <p:txBody>
          <a:bodyPr wrap="none" lIns="0" tIns="0" rIns="0" bIns="0" rtlCol="0" anchor="t">
            <a:normAutofit/>
          </a:bodyPr>
          <a:lstStyle/>
          <a:p>
            <a:pPr marL="0" indent="0" algn="l">
              <a:lnSpc>
                <a:spcPts val="4500"/>
              </a:lnSpc>
              <a:buNone/>
            </a:pPr>
            <a:r>
              <a:rPr lang="en-US" sz="4500" b="1" kern="0" spc="-112" dirty="0">
                <a:solidFill>
                  <a:srgbClr val="F97316"/>
                </a:solidFill>
                <a:latin typeface="Liberation Sans Narrow" pitchFamily="34" charset="0"/>
                <a:ea typeface="Liberation Sans Narrow" pitchFamily="34" charset="-122"/>
                <a:cs typeface="Liberation Sans Narrow" pitchFamily="34" charset="-120"/>
              </a:rPr>
              <a:t>52,000</a:t>
            </a:r>
            <a:endParaRPr lang="en-US" sz="4500" dirty="0"/>
          </a:p>
        </p:txBody>
      </p:sp>
      <p:sp>
        <p:nvSpPr>
          <p:cNvPr id="10" name="Text 8"/>
          <p:cNvSpPr/>
          <p:nvPr/>
        </p:nvSpPr>
        <p:spPr>
          <a:xfrm>
            <a:off x="628650" y="2328863"/>
            <a:ext cx="2304976" cy="395648"/>
          </a:xfrm>
          <a:prstGeom prst="rect">
            <a:avLst/>
          </a:prstGeom>
          <a:noFill/>
          <a:ln/>
        </p:spPr>
        <p:txBody>
          <a:bodyPr wrap="square" lIns="0" tIns="0" rIns="0" bIns="0" rtlCol="0" anchor="t"/>
          <a:lstStyle/>
          <a:p>
            <a:pPr marL="0" indent="0" algn="l">
              <a:lnSpc>
                <a:spcPts val="1443"/>
              </a:lnSpc>
              <a:buNone/>
            </a:pPr>
            <a:r>
              <a:rPr lang="en-US" sz="1069" dirty="0">
                <a:solidFill>
                  <a:srgbClr val="0F172A"/>
                </a:solidFill>
                <a:latin typeface="Carlito" pitchFamily="34" charset="0"/>
                <a:ea typeface="Carlito" pitchFamily="34" charset="-122"/>
                <a:cs typeface="Carlito" pitchFamily="34" charset="-120"/>
              </a:rPr>
              <a:t>Average lines of log output for a failed Maven build (medium project).</a:t>
            </a:r>
            <a:endParaRPr lang="en-US" sz="1069" dirty="0"/>
          </a:p>
        </p:txBody>
      </p:sp>
      <p:sp>
        <p:nvSpPr>
          <p:cNvPr id="11" name="Text 9"/>
          <p:cNvSpPr/>
          <p:nvPr/>
        </p:nvSpPr>
        <p:spPr>
          <a:xfrm>
            <a:off x="3247951" y="1100138"/>
            <a:ext cx="2647987" cy="3000375"/>
          </a:xfrm>
          <a:prstGeom prst="roundRect">
            <a:avLst>
              <a:gd name="adj" fmla="val 5036"/>
            </a:avLst>
          </a:prstGeom>
          <a:solidFill>
            <a:srgbClr val="F8FAFC"/>
          </a:solidFill>
          <a:ln/>
        </p:spPr>
        <p:txBody>
          <a:bodyPr wrap="square" rtlCol="0" anchor="ctr"/>
          <a:lstStyle/>
          <a:p>
            <a:pPr marL="0" indent="0">
              <a:buNone/>
            </a:pPr>
            <a:endParaRPr lang="en-US" dirty="0"/>
          </a:p>
        </p:txBody>
      </p:sp>
      <p:sp>
        <p:nvSpPr>
          <p:cNvPr id="12" name="Shape 10"/>
          <p:cNvSpPr/>
          <p:nvPr/>
        </p:nvSpPr>
        <p:spPr>
          <a:xfrm>
            <a:off x="3247951" y="4079081"/>
            <a:ext cx="2647987" cy="0"/>
          </a:xfrm>
          <a:prstGeom prst="line">
            <a:avLst/>
          </a:prstGeom>
          <a:noFill/>
          <a:ln w="42863">
            <a:solidFill>
              <a:srgbClr val="F97316"/>
            </a:solidFill>
            <a:prstDash val="solid"/>
          </a:ln>
        </p:spPr>
      </p:sp>
      <p:sp>
        <p:nvSpPr>
          <p:cNvPr id="13" name="Text 11"/>
          <p:cNvSpPr/>
          <p:nvPr/>
        </p:nvSpPr>
        <p:spPr>
          <a:xfrm>
            <a:off x="3419401" y="1300163"/>
            <a:ext cx="314325" cy="314325"/>
          </a:xfrm>
          <a:prstGeom prst="roundRect">
            <a:avLst>
              <a:gd name="adj" fmla="val 36364"/>
            </a:avLst>
          </a:prstGeom>
          <a:solidFill>
            <a:srgbClr val="F97316">
              <a:alpha val="12000"/>
            </a:srgbClr>
          </a:solidFill>
          <a:ln/>
        </p:spPr>
        <p:txBody>
          <a:bodyPr wrap="square" rtlCol="0" anchor="ctr"/>
          <a:lstStyle/>
          <a:p>
            <a:pPr marL="0" indent="0">
              <a:buNone/>
            </a:pPr>
            <a:endParaRPr lang="en-US" dirty="0"/>
          </a:p>
        </p:txBody>
      </p:sp>
      <p:sp>
        <p:nvSpPr>
          <p:cNvPr id="14" name="Text 12"/>
          <p:cNvSpPr/>
          <p:nvPr/>
        </p:nvSpPr>
        <p:spPr>
          <a:xfrm>
            <a:off x="3441903" y="1322665"/>
            <a:ext cx="269319" cy="269319"/>
          </a:xfrm>
          <a:prstGeom prst="rect">
            <a:avLst/>
          </a:prstGeom>
          <a:noFill/>
          <a:ln/>
        </p:spPr>
        <p:txBody>
          <a:bodyPr wrap="none" lIns="0" tIns="0" rIns="0" bIns="0" rtlCol="0" anchor="ctr"/>
          <a:lstStyle/>
          <a:p>
            <a:pPr marL="0" indent="0" algn="ctr">
              <a:buNone/>
            </a:pPr>
            <a:r>
              <a:rPr lang="en-US" sz="1828" dirty="0">
                <a:solidFill>
                  <a:srgbClr val="F97316"/>
                </a:solidFill>
                <a:latin typeface="Segoe UI Symbol" pitchFamily="34" charset="0"/>
                <a:ea typeface="Segoe UI Symbol" pitchFamily="34" charset="-122"/>
                <a:cs typeface="Segoe UI Symbol" pitchFamily="34" charset="-120"/>
              </a:rPr>
              <a:t>◔</a:t>
            </a:r>
            <a:endParaRPr lang="en-US" sz="1828" dirty="0"/>
          </a:p>
        </p:txBody>
      </p:sp>
      <p:sp>
        <p:nvSpPr>
          <p:cNvPr id="15" name="Text 13"/>
          <p:cNvSpPr/>
          <p:nvPr/>
        </p:nvSpPr>
        <p:spPr>
          <a:xfrm>
            <a:off x="4991316" y="1401626"/>
            <a:ext cx="816262" cy="153570"/>
          </a:xfrm>
          <a:prstGeom prst="rect">
            <a:avLst/>
          </a:prstGeom>
          <a:noFill/>
          <a:ln/>
        </p:spPr>
        <p:txBody>
          <a:bodyPr wrap="none" lIns="0" tIns="0" rIns="0" bIns="0" rtlCol="0" anchor="t"/>
          <a:lstStyle/>
          <a:p>
            <a:pPr marL="0" indent="0" algn="l">
              <a:lnSpc>
                <a:spcPts val="1103"/>
              </a:lnSpc>
              <a:buNone/>
            </a:pPr>
            <a:r>
              <a:rPr lang="en-US" sz="788" dirty="0">
                <a:solidFill>
                  <a:srgbClr val="64748B"/>
                </a:solidFill>
                <a:latin typeface="Courier New" pitchFamily="34" charset="0"/>
                <a:ea typeface="Courier New" pitchFamily="34" charset="-122"/>
                <a:cs typeface="Courier New" pitchFamily="34" charset="-120"/>
              </a:rPr>
              <a:t>Engineer time</a:t>
            </a:r>
            <a:endParaRPr lang="en-US" sz="788" dirty="0"/>
          </a:p>
        </p:txBody>
      </p:sp>
      <p:sp>
        <p:nvSpPr>
          <p:cNvPr id="16" name="Text 14"/>
          <p:cNvSpPr/>
          <p:nvPr/>
        </p:nvSpPr>
        <p:spPr>
          <a:xfrm>
            <a:off x="3419401" y="1685925"/>
            <a:ext cx="2305087" cy="615506"/>
          </a:xfrm>
          <a:prstGeom prst="rect">
            <a:avLst/>
          </a:prstGeom>
          <a:noFill/>
          <a:ln/>
        </p:spPr>
        <p:txBody>
          <a:bodyPr wrap="none" lIns="0" tIns="0" rIns="0" bIns="0" rtlCol="0" anchor="t">
            <a:normAutofit/>
          </a:bodyPr>
          <a:lstStyle/>
          <a:p>
            <a:pPr marL="0" indent="0" algn="l">
              <a:lnSpc>
                <a:spcPts val="4500"/>
              </a:lnSpc>
              <a:buNone/>
            </a:pPr>
            <a:r>
              <a:rPr lang="en-US" sz="4500" b="1" kern="0" spc="-112" dirty="0">
                <a:solidFill>
                  <a:srgbClr val="F97316"/>
                </a:solidFill>
                <a:latin typeface="Liberation Sans Narrow" pitchFamily="34" charset="0"/>
                <a:ea typeface="Liberation Sans Narrow" pitchFamily="34" charset="-122"/>
                <a:cs typeface="Liberation Sans Narrow" pitchFamily="34" charset="-120"/>
              </a:rPr>
              <a:t>27 min</a:t>
            </a:r>
            <a:endParaRPr lang="en-US" sz="4500" dirty="0"/>
          </a:p>
        </p:txBody>
      </p:sp>
      <p:sp>
        <p:nvSpPr>
          <p:cNvPr id="17" name="Text 15"/>
          <p:cNvSpPr/>
          <p:nvPr/>
        </p:nvSpPr>
        <p:spPr>
          <a:xfrm>
            <a:off x="3419401" y="2328863"/>
            <a:ext cx="2305087" cy="395648"/>
          </a:xfrm>
          <a:prstGeom prst="rect">
            <a:avLst/>
          </a:prstGeom>
          <a:noFill/>
          <a:ln/>
        </p:spPr>
        <p:txBody>
          <a:bodyPr wrap="square" lIns="0" tIns="0" rIns="0" bIns="0" rtlCol="0" anchor="t"/>
          <a:lstStyle/>
          <a:p>
            <a:pPr marL="0" indent="0" algn="l">
              <a:lnSpc>
                <a:spcPts val="1443"/>
              </a:lnSpc>
              <a:buNone/>
            </a:pPr>
            <a:r>
              <a:rPr lang="en-US" sz="1069" dirty="0">
                <a:solidFill>
                  <a:srgbClr val="0F172A"/>
                </a:solidFill>
                <a:latin typeface="Carlito" pitchFamily="34" charset="0"/>
                <a:ea typeface="Carlito" pitchFamily="34" charset="-122"/>
                <a:cs typeface="Carlito" pitchFamily="34" charset="-120"/>
              </a:rPr>
              <a:t>Median time engineers spend locating the actual error in a failed CI run.</a:t>
            </a:r>
            <a:endParaRPr lang="en-US" sz="1069" dirty="0"/>
          </a:p>
        </p:txBody>
      </p:sp>
      <p:sp>
        <p:nvSpPr>
          <p:cNvPr id="18" name="Text 16"/>
          <p:cNvSpPr/>
          <p:nvPr/>
        </p:nvSpPr>
        <p:spPr>
          <a:xfrm>
            <a:off x="6038813" y="1100138"/>
            <a:ext cx="2647987" cy="3000375"/>
          </a:xfrm>
          <a:prstGeom prst="roundRect">
            <a:avLst>
              <a:gd name="adj" fmla="val 5036"/>
            </a:avLst>
          </a:prstGeom>
          <a:solidFill>
            <a:srgbClr val="F8FAFC"/>
          </a:solidFill>
          <a:ln/>
        </p:spPr>
        <p:txBody>
          <a:bodyPr wrap="square" rtlCol="0" anchor="ctr"/>
          <a:lstStyle/>
          <a:p>
            <a:pPr marL="0" indent="0">
              <a:buNone/>
            </a:pPr>
            <a:endParaRPr lang="en-US" dirty="0"/>
          </a:p>
        </p:txBody>
      </p:sp>
      <p:sp>
        <p:nvSpPr>
          <p:cNvPr id="19" name="Shape 17"/>
          <p:cNvSpPr/>
          <p:nvPr/>
        </p:nvSpPr>
        <p:spPr>
          <a:xfrm>
            <a:off x="6038813" y="4079081"/>
            <a:ext cx="2647987" cy="0"/>
          </a:xfrm>
          <a:prstGeom prst="line">
            <a:avLst/>
          </a:prstGeom>
          <a:noFill/>
          <a:ln w="42863">
            <a:solidFill>
              <a:srgbClr val="F97316"/>
            </a:solidFill>
            <a:prstDash val="solid"/>
          </a:ln>
        </p:spPr>
      </p:sp>
      <p:sp>
        <p:nvSpPr>
          <p:cNvPr id="20" name="Text 18"/>
          <p:cNvSpPr/>
          <p:nvPr/>
        </p:nvSpPr>
        <p:spPr>
          <a:xfrm>
            <a:off x="6210263" y="1300163"/>
            <a:ext cx="314325" cy="314325"/>
          </a:xfrm>
          <a:prstGeom prst="roundRect">
            <a:avLst>
              <a:gd name="adj" fmla="val 36364"/>
            </a:avLst>
          </a:prstGeom>
          <a:solidFill>
            <a:srgbClr val="F97316">
              <a:alpha val="12000"/>
            </a:srgbClr>
          </a:solidFill>
          <a:ln/>
        </p:spPr>
        <p:txBody>
          <a:bodyPr wrap="square" rtlCol="0" anchor="ctr"/>
          <a:lstStyle/>
          <a:p>
            <a:pPr marL="0" indent="0">
              <a:buNone/>
            </a:pPr>
            <a:endParaRPr lang="en-US" dirty="0"/>
          </a:p>
        </p:txBody>
      </p:sp>
      <p:sp>
        <p:nvSpPr>
          <p:cNvPr id="21" name="Text 19"/>
          <p:cNvSpPr/>
          <p:nvPr/>
        </p:nvSpPr>
        <p:spPr>
          <a:xfrm>
            <a:off x="6232766" y="1322665"/>
            <a:ext cx="269319" cy="269319"/>
          </a:xfrm>
          <a:prstGeom prst="rect">
            <a:avLst/>
          </a:prstGeom>
          <a:noFill/>
          <a:ln/>
        </p:spPr>
        <p:txBody>
          <a:bodyPr wrap="none" lIns="0" tIns="0" rIns="0" bIns="0" rtlCol="0" anchor="ctr"/>
          <a:lstStyle/>
          <a:p>
            <a:pPr marL="0" indent="0" algn="ctr">
              <a:buNone/>
            </a:pPr>
            <a:r>
              <a:rPr lang="en-US" sz="1828" dirty="0">
                <a:solidFill>
                  <a:srgbClr val="F97316"/>
                </a:solidFill>
                <a:latin typeface="Segoe UI Symbol" pitchFamily="34" charset="0"/>
                <a:ea typeface="Segoe UI Symbol" pitchFamily="34" charset="-122"/>
                <a:cs typeface="Segoe UI Symbol" pitchFamily="34" charset="-120"/>
              </a:rPr>
              <a:t>⚠</a:t>
            </a:r>
            <a:endParaRPr lang="en-US" sz="1828" dirty="0"/>
          </a:p>
        </p:txBody>
      </p:sp>
      <p:sp>
        <p:nvSpPr>
          <p:cNvPr id="22" name="Text 20"/>
          <p:cNvSpPr/>
          <p:nvPr/>
        </p:nvSpPr>
        <p:spPr>
          <a:xfrm>
            <a:off x="7665244" y="1401626"/>
            <a:ext cx="850106" cy="153570"/>
          </a:xfrm>
          <a:prstGeom prst="rect">
            <a:avLst/>
          </a:prstGeom>
          <a:noFill/>
          <a:ln/>
        </p:spPr>
        <p:txBody>
          <a:bodyPr wrap="none" lIns="0" tIns="0" rIns="0" bIns="0" rtlCol="0" anchor="t"/>
          <a:lstStyle/>
          <a:p>
            <a:pPr marL="0" indent="0" algn="l">
              <a:lnSpc>
                <a:spcPts val="1103"/>
              </a:lnSpc>
              <a:buNone/>
            </a:pPr>
            <a:r>
              <a:rPr lang="en-US" sz="788" dirty="0">
                <a:solidFill>
                  <a:srgbClr val="64748B"/>
                </a:solidFill>
                <a:latin typeface="Courier New" pitchFamily="34" charset="0"/>
                <a:ea typeface="Courier New" pitchFamily="34" charset="-122"/>
                <a:cs typeface="Courier New" pitchFamily="34" charset="-120"/>
              </a:rPr>
              <a:t>Incident analysis</a:t>
            </a:r>
            <a:endParaRPr lang="en-US" sz="788" dirty="0"/>
          </a:p>
        </p:txBody>
      </p:sp>
      <p:sp>
        <p:nvSpPr>
          <p:cNvPr id="23" name="Text 21"/>
          <p:cNvSpPr/>
          <p:nvPr/>
        </p:nvSpPr>
        <p:spPr>
          <a:xfrm>
            <a:off x="6210263" y="1685925"/>
            <a:ext cx="2305087" cy="615506"/>
          </a:xfrm>
          <a:prstGeom prst="rect">
            <a:avLst/>
          </a:prstGeom>
          <a:noFill/>
          <a:ln/>
        </p:spPr>
        <p:txBody>
          <a:bodyPr wrap="none" lIns="0" tIns="0" rIns="0" bIns="0" rtlCol="0" anchor="t">
            <a:normAutofit/>
          </a:bodyPr>
          <a:lstStyle/>
          <a:p>
            <a:pPr marL="0" indent="0" algn="l">
              <a:lnSpc>
                <a:spcPts val="4500"/>
              </a:lnSpc>
              <a:buNone/>
            </a:pPr>
            <a:r>
              <a:rPr lang="en-US" sz="4500" b="1" kern="0" spc="-112" dirty="0">
                <a:solidFill>
                  <a:srgbClr val="F97316"/>
                </a:solidFill>
                <a:latin typeface="Liberation Sans Narrow" pitchFamily="34" charset="0"/>
                <a:ea typeface="Liberation Sans Narrow" pitchFamily="34" charset="-122"/>
                <a:cs typeface="Liberation Sans Narrow" pitchFamily="34" charset="-120"/>
              </a:rPr>
              <a:t>68%</a:t>
            </a:r>
            <a:endParaRPr lang="en-US" sz="4500" dirty="0"/>
          </a:p>
        </p:txBody>
      </p:sp>
      <p:sp>
        <p:nvSpPr>
          <p:cNvPr id="24" name="Text 22"/>
          <p:cNvSpPr/>
          <p:nvPr/>
        </p:nvSpPr>
        <p:spPr>
          <a:xfrm>
            <a:off x="6210263" y="2328863"/>
            <a:ext cx="2305087" cy="791295"/>
          </a:xfrm>
          <a:prstGeom prst="rect">
            <a:avLst/>
          </a:prstGeom>
          <a:noFill/>
          <a:ln/>
        </p:spPr>
        <p:txBody>
          <a:bodyPr wrap="square" lIns="0" tIns="0" rIns="0" bIns="0" rtlCol="0" anchor="t"/>
          <a:lstStyle/>
          <a:p>
            <a:pPr marL="0" indent="0" algn="l">
              <a:lnSpc>
                <a:spcPts val="1443"/>
              </a:lnSpc>
              <a:buNone/>
            </a:pPr>
            <a:r>
              <a:rPr lang="en-US" sz="1069" dirty="0">
                <a:solidFill>
                  <a:srgbClr val="0F172A"/>
                </a:solidFill>
                <a:latin typeface="Carlito" pitchFamily="34" charset="0"/>
                <a:ea typeface="Carlito" pitchFamily="34" charset="-122"/>
                <a:cs typeface="Carlito" pitchFamily="34" charset="-120"/>
              </a:rPr>
              <a:t>Of incidents at large orgs involve an engineer skimming logs that contain the answer somewhere — they just could not find it in time.</a:t>
            </a:r>
            <a:endParaRPr lang="en-US" sz="1069" dirty="0"/>
          </a:p>
        </p:txBody>
      </p:sp>
      <p:sp>
        <p:nvSpPr>
          <p:cNvPr id="25" name="Text 23"/>
          <p:cNvSpPr/>
          <p:nvPr/>
        </p:nvSpPr>
        <p:spPr>
          <a:xfrm>
            <a:off x="457200" y="4229100"/>
            <a:ext cx="8229600" cy="457200"/>
          </a:xfrm>
          <a:prstGeom prst="roundRect">
            <a:avLst>
              <a:gd name="adj" fmla="val 16667"/>
            </a:avLst>
          </a:prstGeom>
          <a:solidFill>
            <a:srgbClr val="FFF7ED"/>
          </a:solidFill>
          <a:ln/>
        </p:spPr>
        <p:txBody>
          <a:bodyPr wrap="square" rtlCol="0" anchor="ctr"/>
          <a:lstStyle/>
          <a:p>
            <a:pPr marL="0" indent="0">
              <a:buNone/>
            </a:pPr>
            <a:endParaRPr lang="en-US" dirty="0"/>
          </a:p>
        </p:txBody>
      </p:sp>
      <p:sp>
        <p:nvSpPr>
          <p:cNvPr id="26" name="Shape 24"/>
          <p:cNvSpPr/>
          <p:nvPr/>
        </p:nvSpPr>
        <p:spPr>
          <a:xfrm>
            <a:off x="478631" y="4229100"/>
            <a:ext cx="0" cy="457200"/>
          </a:xfrm>
          <a:prstGeom prst="line">
            <a:avLst/>
          </a:prstGeom>
          <a:noFill/>
          <a:ln w="42863">
            <a:solidFill>
              <a:srgbClr val="F97316"/>
            </a:solidFill>
            <a:prstDash val="solid"/>
          </a:ln>
        </p:spPr>
      </p:sp>
      <p:sp>
        <p:nvSpPr>
          <p:cNvPr id="27" name="Text 25"/>
          <p:cNvSpPr/>
          <p:nvPr/>
        </p:nvSpPr>
        <p:spPr>
          <a:xfrm>
            <a:off x="657225" y="4357688"/>
            <a:ext cx="7872413" cy="200025"/>
          </a:xfrm>
          <a:prstGeom prst="rect">
            <a:avLst/>
          </a:prstGeom>
          <a:noFill/>
          <a:ln/>
        </p:spPr>
        <p:txBody>
          <a:bodyPr wrap="square" lIns="0" tIns="0" rIns="0" bIns="0" rtlCol="0" anchor="t"/>
          <a:lstStyle/>
          <a:p>
            <a:pPr marL="0" indent="0" algn="l">
              <a:lnSpc>
                <a:spcPts val="1575"/>
              </a:lnSpc>
              <a:buNone/>
            </a:pPr>
            <a:r>
              <a:rPr lang="en-US" sz="1125" b="1" dirty="0">
                <a:solidFill>
                  <a:srgbClr val="F97316"/>
                </a:solidFill>
                <a:latin typeface="Segoe UI Symbol" pitchFamily="34" charset="0"/>
                <a:ea typeface="Segoe UI Symbol" pitchFamily="34" charset="-122"/>
                <a:cs typeface="Segoe UI Symbol" pitchFamily="34" charset="-120"/>
              </a:rPr>
              <a:t>!</a:t>
            </a:r>
            <a:r>
              <a:rPr lang="en-US" sz="1125" b="1" dirty="0">
                <a:solidFill>
                  <a:srgbClr val="0F172A"/>
                </a:solidFill>
                <a:latin typeface="Carlito" pitchFamily="34" charset="0"/>
                <a:ea typeface="Carlito" pitchFamily="34" charset="-122"/>
                <a:cs typeface="Carlito" pitchFamily="34" charset="-120"/>
              </a:rPr>
              <a:t> Logs are the most under-leveraged asset in modern DevOps. Every answer is in there. The problem is </a:t>
            </a:r>
            <a:r>
              <a:rPr lang="en-US" sz="1125" b="1" dirty="0">
                <a:solidFill>
                  <a:srgbClr val="C2410C"/>
                </a:solidFill>
                <a:latin typeface="Carlito" pitchFamily="34" charset="0"/>
                <a:ea typeface="Carlito" pitchFamily="34" charset="-122"/>
                <a:cs typeface="Carlito" pitchFamily="34" charset="-120"/>
              </a:rPr>
              <a:t>FINDING it.</a:t>
            </a:r>
            <a:endParaRPr lang="en-US" sz="1125"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8636000" cy="410355"/>
          </a:xfrm>
          <a:prstGeom prst="rect">
            <a:avLst/>
          </a:prstGeom>
          <a:noFill/>
          <a:ln/>
        </p:spPr>
        <p:txBody>
          <a:bodyPr wrap="square" lIns="0" tIns="0" rIns="0" bIns="0" rtlCol="0" anchor="t"/>
          <a:lstStyle/>
          <a:p>
            <a:pPr marL="0" indent="0" algn="l">
              <a:lnSpc>
                <a:spcPts val="2993"/>
              </a:lnSpc>
              <a:buNone/>
            </a:pPr>
            <a:r>
              <a:rPr lang="en-US" sz="2138" b="1" dirty="0">
                <a:solidFill>
                  <a:srgbClr val="0F172A"/>
                </a:solidFill>
                <a:latin typeface="Carlito" pitchFamily="34" charset="0"/>
                <a:ea typeface="Carlito" pitchFamily="34" charset="-122"/>
                <a:cs typeface="Carlito" pitchFamily="34" charset="-120"/>
              </a:rPr>
              <a:t>LLM Log-Summarisation Workflow</a:t>
            </a:r>
            <a:endParaRPr lang="en-US" sz="2138" dirty="0"/>
          </a:p>
        </p:txBody>
      </p:sp>
      <p:sp>
        <p:nvSpPr>
          <p:cNvPr id="3" name="Text 1"/>
          <p:cNvSpPr/>
          <p:nvPr/>
        </p:nvSpPr>
        <p:spPr>
          <a:xfrm>
            <a:off x="457200" y="894308"/>
            <a:ext cx="571500" cy="42863"/>
          </a:xfrm>
          <a:prstGeom prst="roundRect">
            <a:avLst>
              <a:gd name="adj" fmla="val 66666"/>
            </a:avLst>
          </a:prstGeom>
          <a:solidFill>
            <a:srgbClr val="F97316"/>
          </a:solidFill>
          <a:ln/>
        </p:spPr>
        <p:txBody>
          <a:bodyPr wrap="square" rtlCol="0" anchor="ctr"/>
          <a:lstStyle/>
          <a:p>
            <a:pPr marL="0" indent="0">
              <a:buNone/>
            </a:pPr>
            <a:endParaRPr lang="en-US" dirty="0"/>
          </a:p>
        </p:txBody>
      </p:sp>
      <p:sp>
        <p:nvSpPr>
          <p:cNvPr id="4" name="Text 2"/>
          <p:cNvSpPr/>
          <p:nvPr/>
        </p:nvSpPr>
        <p:spPr>
          <a:xfrm>
            <a:off x="457200" y="980033"/>
            <a:ext cx="8636000" cy="216027"/>
          </a:xfrm>
          <a:prstGeom prst="rect">
            <a:avLst/>
          </a:prstGeom>
          <a:noFill/>
          <a:ln/>
        </p:spPr>
        <p:txBody>
          <a:bodyPr wrap="square" lIns="0" tIns="0" rIns="0" bIns="0" rtlCol="0" anchor="t"/>
          <a:lstStyle/>
          <a:p>
            <a:pPr marL="0" indent="0" algn="l">
              <a:lnSpc>
                <a:spcPts val="1575"/>
              </a:lnSpc>
              <a:buNone/>
            </a:pPr>
            <a:r>
              <a:rPr lang="en-US" sz="1125" dirty="0">
                <a:solidFill>
                  <a:srgbClr val="334155"/>
                </a:solidFill>
                <a:latin typeface="Carlito" pitchFamily="34" charset="0"/>
                <a:ea typeface="Carlito" pitchFamily="34" charset="-122"/>
                <a:cs typeface="Carlito" pitchFamily="34" charset="-120"/>
              </a:rPr>
              <a:t>Four stages — from raw log to actionable insight.</a:t>
            </a:r>
            <a:endParaRPr lang="en-US" sz="1125" dirty="0"/>
          </a:p>
        </p:txBody>
      </p:sp>
      <p:sp>
        <p:nvSpPr>
          <p:cNvPr id="5" name="Text 3"/>
          <p:cNvSpPr/>
          <p:nvPr/>
        </p:nvSpPr>
        <p:spPr>
          <a:xfrm>
            <a:off x="457200" y="1265783"/>
            <a:ext cx="1971675" cy="2759050"/>
          </a:xfrm>
          <a:prstGeom prst="roundRect">
            <a:avLst>
              <a:gd name="adj" fmla="val 6763"/>
            </a:avLst>
          </a:prstGeom>
          <a:solidFill>
            <a:srgbClr val="F8FAFC"/>
          </a:solidFill>
          <a:ln/>
        </p:spPr>
        <p:txBody>
          <a:bodyPr wrap="square" rtlCol="0" anchor="ctr"/>
          <a:lstStyle/>
          <a:p>
            <a:pPr marL="0" indent="0">
              <a:buNone/>
            </a:pPr>
            <a:endParaRPr lang="en-US" dirty="0"/>
          </a:p>
        </p:txBody>
      </p:sp>
      <p:sp>
        <p:nvSpPr>
          <p:cNvPr id="6" name="Shape 4"/>
          <p:cNvSpPr/>
          <p:nvPr/>
        </p:nvSpPr>
        <p:spPr>
          <a:xfrm>
            <a:off x="457200" y="1283643"/>
            <a:ext cx="1971675" cy="0"/>
          </a:xfrm>
          <a:prstGeom prst="line">
            <a:avLst/>
          </a:prstGeom>
          <a:noFill/>
          <a:ln w="35719">
            <a:solidFill>
              <a:srgbClr val="F97316"/>
            </a:solidFill>
            <a:prstDash val="solid"/>
          </a:ln>
        </p:spPr>
      </p:sp>
      <p:sp>
        <p:nvSpPr>
          <p:cNvPr id="7" name="Shape 5"/>
          <p:cNvSpPr/>
          <p:nvPr/>
        </p:nvSpPr>
        <p:spPr>
          <a:xfrm>
            <a:off x="2425303" y="1265783"/>
            <a:ext cx="0" cy="2759050"/>
          </a:xfrm>
          <a:prstGeom prst="line">
            <a:avLst/>
          </a:prstGeom>
          <a:noFill/>
          <a:ln w="7144">
            <a:solidFill>
              <a:srgbClr val="CBD5E1"/>
            </a:solidFill>
            <a:prstDash val="solid"/>
          </a:ln>
        </p:spPr>
      </p:sp>
      <p:sp>
        <p:nvSpPr>
          <p:cNvPr id="8" name="Shape 6"/>
          <p:cNvSpPr/>
          <p:nvPr/>
        </p:nvSpPr>
        <p:spPr>
          <a:xfrm>
            <a:off x="457200" y="4021262"/>
            <a:ext cx="1971675" cy="0"/>
          </a:xfrm>
          <a:prstGeom prst="line">
            <a:avLst/>
          </a:prstGeom>
          <a:noFill/>
          <a:ln w="7144">
            <a:solidFill>
              <a:srgbClr val="CBD5E1"/>
            </a:solidFill>
            <a:prstDash val="solid"/>
          </a:ln>
        </p:spPr>
      </p:sp>
      <p:sp>
        <p:nvSpPr>
          <p:cNvPr id="9" name="Shape 7"/>
          <p:cNvSpPr/>
          <p:nvPr/>
        </p:nvSpPr>
        <p:spPr>
          <a:xfrm>
            <a:off x="460772" y="1265783"/>
            <a:ext cx="0" cy="2759050"/>
          </a:xfrm>
          <a:prstGeom prst="line">
            <a:avLst/>
          </a:prstGeom>
          <a:noFill/>
          <a:ln w="7144">
            <a:solidFill>
              <a:srgbClr val="CBD5E1"/>
            </a:solidFill>
            <a:prstDash val="solid"/>
          </a:ln>
        </p:spPr>
      </p:sp>
      <p:sp>
        <p:nvSpPr>
          <p:cNvPr id="10" name="Text 8"/>
          <p:cNvSpPr/>
          <p:nvPr/>
        </p:nvSpPr>
        <p:spPr>
          <a:xfrm>
            <a:off x="578644" y="1465808"/>
            <a:ext cx="1443038" cy="216027"/>
          </a:xfrm>
          <a:prstGeom prst="rect">
            <a:avLst/>
          </a:prstGeom>
          <a:noFill/>
          <a:ln/>
        </p:spPr>
        <p:txBody>
          <a:bodyPr wrap="none" lIns="0" tIns="0" rIns="0" bIns="0" rtlCol="0" anchor="t"/>
          <a:lstStyle/>
          <a:p>
            <a:pPr marL="0" indent="0" algn="l">
              <a:lnSpc>
                <a:spcPts val="1575"/>
              </a:lnSpc>
              <a:buNone/>
            </a:pPr>
            <a:r>
              <a:rPr lang="en-US" sz="1575" b="1" dirty="0">
                <a:solidFill>
                  <a:srgbClr val="F97316"/>
                </a:solidFill>
                <a:latin typeface="Liberation Sans Narrow" pitchFamily="34" charset="0"/>
                <a:ea typeface="Liberation Sans Narrow" pitchFamily="34" charset="-122"/>
                <a:cs typeface="Liberation Sans Narrow" pitchFamily="34" charset="-120"/>
              </a:rPr>
              <a:t>01</a:t>
            </a:r>
            <a:endParaRPr lang="en-US" sz="1575" dirty="0"/>
          </a:p>
        </p:txBody>
      </p:sp>
      <p:sp>
        <p:nvSpPr>
          <p:cNvPr id="11" name="Text 9"/>
          <p:cNvSpPr/>
          <p:nvPr/>
        </p:nvSpPr>
        <p:spPr>
          <a:xfrm>
            <a:off x="2035969" y="1430089"/>
            <a:ext cx="271463" cy="271463"/>
          </a:xfrm>
          <a:prstGeom prst="roundRect">
            <a:avLst>
              <a:gd name="adj" fmla="val 35088"/>
            </a:avLst>
          </a:prstGeom>
          <a:solidFill>
            <a:srgbClr val="F97316">
              <a:alpha val="12000"/>
            </a:srgbClr>
          </a:solidFill>
          <a:ln/>
        </p:spPr>
        <p:txBody>
          <a:bodyPr wrap="square" rtlCol="0" anchor="ctr"/>
          <a:lstStyle/>
          <a:p>
            <a:pPr marL="0" indent="0">
              <a:buNone/>
            </a:pPr>
            <a:endParaRPr lang="en-US" dirty="0"/>
          </a:p>
        </p:txBody>
      </p:sp>
      <p:sp>
        <p:nvSpPr>
          <p:cNvPr id="12" name="Text 10"/>
          <p:cNvSpPr/>
          <p:nvPr/>
        </p:nvSpPr>
        <p:spPr>
          <a:xfrm>
            <a:off x="2057757" y="1451878"/>
            <a:ext cx="227886" cy="227886"/>
          </a:xfrm>
          <a:prstGeom prst="rect">
            <a:avLst/>
          </a:prstGeom>
          <a:noFill/>
          <a:ln/>
        </p:spPr>
        <p:txBody>
          <a:bodyPr wrap="none" lIns="0" tIns="0" rIns="0" bIns="0" rtlCol="0" anchor="ctr"/>
          <a:lstStyle/>
          <a:p>
            <a:pPr marL="0" indent="0" algn="ctr">
              <a:buNone/>
            </a:pPr>
            <a:r>
              <a:rPr lang="en-US" sz="1547" dirty="0">
                <a:solidFill>
                  <a:srgbClr val="F97316"/>
                </a:solidFill>
                <a:latin typeface="Segoe UI Symbol" pitchFamily="34" charset="0"/>
                <a:ea typeface="Segoe UI Symbol" pitchFamily="34" charset="-122"/>
                <a:cs typeface="Segoe UI Symbol" pitchFamily="34" charset="-120"/>
              </a:rPr>
              <a:t>↓</a:t>
            </a:r>
            <a:endParaRPr lang="en-US" sz="1547" dirty="0"/>
          </a:p>
        </p:txBody>
      </p:sp>
      <p:sp>
        <p:nvSpPr>
          <p:cNvPr id="13" name="Text 11"/>
          <p:cNvSpPr/>
          <p:nvPr/>
        </p:nvSpPr>
        <p:spPr>
          <a:xfrm>
            <a:off x="578644" y="1758702"/>
            <a:ext cx="1728788" cy="168530"/>
          </a:xfrm>
          <a:prstGeom prst="rect">
            <a:avLst/>
          </a:prstGeom>
          <a:noFill/>
          <a:ln/>
        </p:spPr>
        <p:txBody>
          <a:bodyPr wrap="none" lIns="0" tIns="0" rIns="0" bIns="0" rtlCol="0" anchor="t"/>
          <a:lstStyle/>
          <a:p>
            <a:pPr marL="0" indent="0" algn="l">
              <a:lnSpc>
                <a:spcPts val="1229"/>
              </a:lnSpc>
              <a:buNone/>
            </a:pPr>
            <a:r>
              <a:rPr lang="en-US" sz="1069" b="1" dirty="0">
                <a:solidFill>
                  <a:srgbClr val="0F172A"/>
                </a:solidFill>
                <a:latin typeface="Carlito" pitchFamily="34" charset="0"/>
                <a:ea typeface="Carlito" pitchFamily="34" charset="-122"/>
                <a:cs typeface="Carlito" pitchFamily="34" charset="-120"/>
              </a:rPr>
              <a:t>Collect</a:t>
            </a:r>
            <a:endParaRPr lang="en-US" sz="1069" dirty="0"/>
          </a:p>
        </p:txBody>
      </p:sp>
      <p:sp>
        <p:nvSpPr>
          <p:cNvPr id="14" name="Text 12"/>
          <p:cNvSpPr/>
          <p:nvPr/>
        </p:nvSpPr>
        <p:spPr>
          <a:xfrm>
            <a:off x="578644" y="1971898"/>
            <a:ext cx="1728788" cy="486061"/>
          </a:xfrm>
          <a:prstGeom prst="rect">
            <a:avLst/>
          </a:prstGeom>
          <a:noFill/>
          <a:ln/>
        </p:spPr>
        <p:txBody>
          <a:bodyPr wrap="square" lIns="0" tIns="0" rIns="0" bIns="0" rtlCol="0" anchor="t"/>
          <a:lstStyle/>
          <a:p>
            <a:pPr marL="0" indent="0" algn="l">
              <a:lnSpc>
                <a:spcPts val="1181"/>
              </a:lnSpc>
              <a:buNone/>
            </a:pPr>
            <a:r>
              <a:rPr lang="en-US" sz="844" dirty="0">
                <a:solidFill>
                  <a:srgbClr val="334155"/>
                </a:solidFill>
                <a:latin typeface="Carlito" pitchFamily="34" charset="0"/>
                <a:ea typeface="Carlito" pitchFamily="34" charset="-122"/>
                <a:cs typeface="Carlito" pitchFamily="34" charset="-120"/>
              </a:rPr>
              <a:t>Capture the full CI log (stdout + stderr + build tool output + test reports). Normalise to plain text.</a:t>
            </a:r>
            <a:endParaRPr lang="en-US" sz="844" dirty="0"/>
          </a:p>
        </p:txBody>
      </p:sp>
      <p:sp>
        <p:nvSpPr>
          <p:cNvPr id="15" name="Text 13"/>
          <p:cNvSpPr/>
          <p:nvPr/>
        </p:nvSpPr>
        <p:spPr>
          <a:xfrm>
            <a:off x="2543175" y="1265783"/>
            <a:ext cx="1971675" cy="2759050"/>
          </a:xfrm>
          <a:prstGeom prst="roundRect">
            <a:avLst>
              <a:gd name="adj" fmla="val 6763"/>
            </a:avLst>
          </a:prstGeom>
          <a:solidFill>
            <a:srgbClr val="F8FAFC"/>
          </a:solidFill>
          <a:ln/>
        </p:spPr>
        <p:txBody>
          <a:bodyPr wrap="square" rtlCol="0" anchor="ctr"/>
          <a:lstStyle/>
          <a:p>
            <a:pPr marL="0" indent="0">
              <a:buNone/>
            </a:pPr>
            <a:endParaRPr lang="en-US" dirty="0"/>
          </a:p>
        </p:txBody>
      </p:sp>
      <p:sp>
        <p:nvSpPr>
          <p:cNvPr id="16" name="Shape 14"/>
          <p:cNvSpPr/>
          <p:nvPr/>
        </p:nvSpPr>
        <p:spPr>
          <a:xfrm>
            <a:off x="2543175" y="1283643"/>
            <a:ext cx="1971675" cy="0"/>
          </a:xfrm>
          <a:prstGeom prst="line">
            <a:avLst/>
          </a:prstGeom>
          <a:noFill/>
          <a:ln w="35719">
            <a:solidFill>
              <a:srgbClr val="F97316"/>
            </a:solidFill>
            <a:prstDash val="solid"/>
          </a:ln>
        </p:spPr>
      </p:sp>
      <p:sp>
        <p:nvSpPr>
          <p:cNvPr id="17" name="Shape 15"/>
          <p:cNvSpPr/>
          <p:nvPr/>
        </p:nvSpPr>
        <p:spPr>
          <a:xfrm>
            <a:off x="4511278" y="1265783"/>
            <a:ext cx="0" cy="2759050"/>
          </a:xfrm>
          <a:prstGeom prst="line">
            <a:avLst/>
          </a:prstGeom>
          <a:noFill/>
          <a:ln w="7144">
            <a:solidFill>
              <a:srgbClr val="CBD5E1"/>
            </a:solidFill>
            <a:prstDash val="solid"/>
          </a:ln>
        </p:spPr>
      </p:sp>
      <p:sp>
        <p:nvSpPr>
          <p:cNvPr id="18" name="Shape 16"/>
          <p:cNvSpPr/>
          <p:nvPr/>
        </p:nvSpPr>
        <p:spPr>
          <a:xfrm>
            <a:off x="2543175" y="4021262"/>
            <a:ext cx="1971675" cy="0"/>
          </a:xfrm>
          <a:prstGeom prst="line">
            <a:avLst/>
          </a:prstGeom>
          <a:noFill/>
          <a:ln w="7144">
            <a:solidFill>
              <a:srgbClr val="CBD5E1"/>
            </a:solidFill>
            <a:prstDash val="solid"/>
          </a:ln>
        </p:spPr>
      </p:sp>
      <p:sp>
        <p:nvSpPr>
          <p:cNvPr id="19" name="Shape 17"/>
          <p:cNvSpPr/>
          <p:nvPr/>
        </p:nvSpPr>
        <p:spPr>
          <a:xfrm>
            <a:off x="2546747" y="1265783"/>
            <a:ext cx="0" cy="2759050"/>
          </a:xfrm>
          <a:prstGeom prst="line">
            <a:avLst/>
          </a:prstGeom>
          <a:noFill/>
          <a:ln w="7144">
            <a:solidFill>
              <a:srgbClr val="CBD5E1"/>
            </a:solidFill>
            <a:prstDash val="solid"/>
          </a:ln>
        </p:spPr>
      </p:sp>
      <p:sp>
        <p:nvSpPr>
          <p:cNvPr id="20" name="Text 18"/>
          <p:cNvSpPr/>
          <p:nvPr/>
        </p:nvSpPr>
        <p:spPr>
          <a:xfrm>
            <a:off x="2664619" y="1465808"/>
            <a:ext cx="1443038" cy="216027"/>
          </a:xfrm>
          <a:prstGeom prst="rect">
            <a:avLst/>
          </a:prstGeom>
          <a:noFill/>
          <a:ln/>
        </p:spPr>
        <p:txBody>
          <a:bodyPr wrap="none" lIns="0" tIns="0" rIns="0" bIns="0" rtlCol="0" anchor="t"/>
          <a:lstStyle/>
          <a:p>
            <a:pPr marL="0" indent="0" algn="l">
              <a:lnSpc>
                <a:spcPts val="1575"/>
              </a:lnSpc>
              <a:buNone/>
            </a:pPr>
            <a:r>
              <a:rPr lang="en-US" sz="1575" b="1" dirty="0">
                <a:solidFill>
                  <a:srgbClr val="F97316"/>
                </a:solidFill>
                <a:latin typeface="Liberation Sans Narrow" pitchFamily="34" charset="0"/>
                <a:ea typeface="Liberation Sans Narrow" pitchFamily="34" charset="-122"/>
                <a:cs typeface="Liberation Sans Narrow" pitchFamily="34" charset="-120"/>
              </a:rPr>
              <a:t>02</a:t>
            </a:r>
            <a:endParaRPr lang="en-US" sz="1575" dirty="0"/>
          </a:p>
        </p:txBody>
      </p:sp>
      <p:sp>
        <p:nvSpPr>
          <p:cNvPr id="21" name="Text 19"/>
          <p:cNvSpPr/>
          <p:nvPr/>
        </p:nvSpPr>
        <p:spPr>
          <a:xfrm>
            <a:off x="4121944" y="1430089"/>
            <a:ext cx="271463" cy="271463"/>
          </a:xfrm>
          <a:prstGeom prst="roundRect">
            <a:avLst>
              <a:gd name="adj" fmla="val 35088"/>
            </a:avLst>
          </a:prstGeom>
          <a:solidFill>
            <a:srgbClr val="F97316">
              <a:alpha val="12000"/>
            </a:srgbClr>
          </a:solidFill>
          <a:ln/>
        </p:spPr>
        <p:txBody>
          <a:bodyPr wrap="square" rtlCol="0" anchor="ctr"/>
          <a:lstStyle/>
          <a:p>
            <a:pPr marL="0" indent="0">
              <a:buNone/>
            </a:pPr>
            <a:endParaRPr lang="en-US" dirty="0"/>
          </a:p>
        </p:txBody>
      </p:sp>
      <p:sp>
        <p:nvSpPr>
          <p:cNvPr id="22" name="Text 20"/>
          <p:cNvSpPr/>
          <p:nvPr/>
        </p:nvSpPr>
        <p:spPr>
          <a:xfrm>
            <a:off x="4143732" y="1451878"/>
            <a:ext cx="227886" cy="227886"/>
          </a:xfrm>
          <a:prstGeom prst="rect">
            <a:avLst/>
          </a:prstGeom>
          <a:noFill/>
          <a:ln/>
        </p:spPr>
        <p:txBody>
          <a:bodyPr wrap="none" lIns="0" tIns="0" rIns="0" bIns="0" rtlCol="0" anchor="ctr"/>
          <a:lstStyle/>
          <a:p>
            <a:pPr marL="0" indent="0" algn="ctr">
              <a:buNone/>
            </a:pPr>
            <a:r>
              <a:rPr lang="en-US" sz="1547" dirty="0">
                <a:solidFill>
                  <a:srgbClr val="F97316"/>
                </a:solidFill>
                <a:latin typeface="Segoe UI Symbol" pitchFamily="34" charset="0"/>
                <a:ea typeface="Segoe UI Symbol" pitchFamily="34" charset="-122"/>
                <a:cs typeface="Segoe UI Symbol" pitchFamily="34" charset="-120"/>
              </a:rPr>
              <a:t>▦</a:t>
            </a:r>
            <a:endParaRPr lang="en-US" sz="1547" dirty="0"/>
          </a:p>
        </p:txBody>
      </p:sp>
      <p:sp>
        <p:nvSpPr>
          <p:cNvPr id="23" name="Text 21"/>
          <p:cNvSpPr/>
          <p:nvPr/>
        </p:nvSpPr>
        <p:spPr>
          <a:xfrm>
            <a:off x="2664619" y="1758702"/>
            <a:ext cx="1728788" cy="168530"/>
          </a:xfrm>
          <a:prstGeom prst="rect">
            <a:avLst/>
          </a:prstGeom>
          <a:noFill/>
          <a:ln/>
        </p:spPr>
        <p:txBody>
          <a:bodyPr wrap="none" lIns="0" tIns="0" rIns="0" bIns="0" rtlCol="0" anchor="t"/>
          <a:lstStyle/>
          <a:p>
            <a:pPr marL="0" indent="0" algn="l">
              <a:lnSpc>
                <a:spcPts val="1229"/>
              </a:lnSpc>
              <a:buNone/>
            </a:pPr>
            <a:r>
              <a:rPr lang="en-US" sz="1069" b="1" dirty="0">
                <a:solidFill>
                  <a:srgbClr val="0F172A"/>
                </a:solidFill>
                <a:latin typeface="Carlito" pitchFamily="34" charset="0"/>
                <a:ea typeface="Carlito" pitchFamily="34" charset="-122"/>
                <a:cs typeface="Carlito" pitchFamily="34" charset="-120"/>
              </a:rPr>
              <a:t>Chunk + Embed</a:t>
            </a:r>
            <a:endParaRPr lang="en-US" sz="1069" dirty="0"/>
          </a:p>
        </p:txBody>
      </p:sp>
      <p:sp>
        <p:nvSpPr>
          <p:cNvPr id="24" name="Text 22"/>
          <p:cNvSpPr/>
          <p:nvPr/>
        </p:nvSpPr>
        <p:spPr>
          <a:xfrm>
            <a:off x="2664619" y="1971898"/>
            <a:ext cx="1728788" cy="648081"/>
          </a:xfrm>
          <a:prstGeom prst="rect">
            <a:avLst/>
          </a:prstGeom>
          <a:noFill/>
          <a:ln/>
        </p:spPr>
        <p:txBody>
          <a:bodyPr wrap="square" lIns="0" tIns="0" rIns="0" bIns="0" rtlCol="0" anchor="t"/>
          <a:lstStyle/>
          <a:p>
            <a:pPr marL="0" indent="0" algn="l">
              <a:lnSpc>
                <a:spcPts val="1181"/>
              </a:lnSpc>
              <a:buNone/>
            </a:pPr>
            <a:r>
              <a:rPr lang="en-US" sz="844" dirty="0">
                <a:solidFill>
                  <a:srgbClr val="334155"/>
                </a:solidFill>
                <a:latin typeface="Carlito" pitchFamily="34" charset="0"/>
                <a:ea typeface="Carlito" pitchFamily="34" charset="-122"/>
                <a:cs typeface="Carlito" pitchFamily="34" charset="-120"/>
              </a:rPr>
              <a:t>Split the log into 2,000-token chunks. Embed each chunk. Drop chunks with no error signal (INFO, DEBUG, success lines).</a:t>
            </a:r>
            <a:endParaRPr lang="en-US" sz="844" dirty="0"/>
          </a:p>
        </p:txBody>
      </p:sp>
      <p:sp>
        <p:nvSpPr>
          <p:cNvPr id="25" name="Text 23"/>
          <p:cNvSpPr/>
          <p:nvPr/>
        </p:nvSpPr>
        <p:spPr>
          <a:xfrm>
            <a:off x="4629150" y="1265783"/>
            <a:ext cx="1971675" cy="2759050"/>
          </a:xfrm>
          <a:prstGeom prst="roundRect">
            <a:avLst>
              <a:gd name="adj" fmla="val 6763"/>
            </a:avLst>
          </a:prstGeom>
          <a:solidFill>
            <a:srgbClr val="F8FAFC"/>
          </a:solidFill>
          <a:ln/>
        </p:spPr>
        <p:txBody>
          <a:bodyPr wrap="square" rtlCol="0" anchor="ctr"/>
          <a:lstStyle/>
          <a:p>
            <a:pPr marL="0" indent="0">
              <a:buNone/>
            </a:pPr>
            <a:endParaRPr lang="en-US" dirty="0"/>
          </a:p>
        </p:txBody>
      </p:sp>
      <p:sp>
        <p:nvSpPr>
          <p:cNvPr id="26" name="Shape 24"/>
          <p:cNvSpPr/>
          <p:nvPr/>
        </p:nvSpPr>
        <p:spPr>
          <a:xfrm>
            <a:off x="4629150" y="1283643"/>
            <a:ext cx="1971675" cy="0"/>
          </a:xfrm>
          <a:prstGeom prst="line">
            <a:avLst/>
          </a:prstGeom>
          <a:noFill/>
          <a:ln w="35719">
            <a:solidFill>
              <a:srgbClr val="F97316"/>
            </a:solidFill>
            <a:prstDash val="solid"/>
          </a:ln>
        </p:spPr>
      </p:sp>
      <p:sp>
        <p:nvSpPr>
          <p:cNvPr id="27" name="Shape 25"/>
          <p:cNvSpPr/>
          <p:nvPr/>
        </p:nvSpPr>
        <p:spPr>
          <a:xfrm>
            <a:off x="6597253" y="1265783"/>
            <a:ext cx="0" cy="2759050"/>
          </a:xfrm>
          <a:prstGeom prst="line">
            <a:avLst/>
          </a:prstGeom>
          <a:noFill/>
          <a:ln w="7144">
            <a:solidFill>
              <a:srgbClr val="CBD5E1"/>
            </a:solidFill>
            <a:prstDash val="solid"/>
          </a:ln>
        </p:spPr>
      </p:sp>
      <p:sp>
        <p:nvSpPr>
          <p:cNvPr id="28" name="Shape 26"/>
          <p:cNvSpPr/>
          <p:nvPr/>
        </p:nvSpPr>
        <p:spPr>
          <a:xfrm>
            <a:off x="4629150" y="4021262"/>
            <a:ext cx="1971675" cy="0"/>
          </a:xfrm>
          <a:prstGeom prst="line">
            <a:avLst/>
          </a:prstGeom>
          <a:noFill/>
          <a:ln w="7144">
            <a:solidFill>
              <a:srgbClr val="CBD5E1"/>
            </a:solidFill>
            <a:prstDash val="solid"/>
          </a:ln>
        </p:spPr>
      </p:sp>
      <p:sp>
        <p:nvSpPr>
          <p:cNvPr id="29" name="Shape 27"/>
          <p:cNvSpPr/>
          <p:nvPr/>
        </p:nvSpPr>
        <p:spPr>
          <a:xfrm>
            <a:off x="4632722" y="1265783"/>
            <a:ext cx="0" cy="2759050"/>
          </a:xfrm>
          <a:prstGeom prst="line">
            <a:avLst/>
          </a:prstGeom>
          <a:noFill/>
          <a:ln w="7144">
            <a:solidFill>
              <a:srgbClr val="CBD5E1"/>
            </a:solidFill>
            <a:prstDash val="solid"/>
          </a:ln>
        </p:spPr>
      </p:sp>
      <p:sp>
        <p:nvSpPr>
          <p:cNvPr id="30" name="Text 28"/>
          <p:cNvSpPr/>
          <p:nvPr/>
        </p:nvSpPr>
        <p:spPr>
          <a:xfrm>
            <a:off x="4750594" y="1465808"/>
            <a:ext cx="1443038" cy="216027"/>
          </a:xfrm>
          <a:prstGeom prst="rect">
            <a:avLst/>
          </a:prstGeom>
          <a:noFill/>
          <a:ln/>
        </p:spPr>
        <p:txBody>
          <a:bodyPr wrap="none" lIns="0" tIns="0" rIns="0" bIns="0" rtlCol="0" anchor="t"/>
          <a:lstStyle/>
          <a:p>
            <a:pPr marL="0" indent="0" algn="l">
              <a:lnSpc>
                <a:spcPts val="1575"/>
              </a:lnSpc>
              <a:buNone/>
            </a:pPr>
            <a:r>
              <a:rPr lang="en-US" sz="1575" b="1" dirty="0">
                <a:solidFill>
                  <a:srgbClr val="F97316"/>
                </a:solidFill>
                <a:latin typeface="Liberation Sans Narrow" pitchFamily="34" charset="0"/>
                <a:ea typeface="Liberation Sans Narrow" pitchFamily="34" charset="-122"/>
                <a:cs typeface="Liberation Sans Narrow" pitchFamily="34" charset="-120"/>
              </a:rPr>
              <a:t>03</a:t>
            </a:r>
            <a:endParaRPr lang="en-US" sz="1575" dirty="0"/>
          </a:p>
        </p:txBody>
      </p:sp>
      <p:sp>
        <p:nvSpPr>
          <p:cNvPr id="31" name="Text 29"/>
          <p:cNvSpPr/>
          <p:nvPr/>
        </p:nvSpPr>
        <p:spPr>
          <a:xfrm>
            <a:off x="6207919" y="1430089"/>
            <a:ext cx="271463" cy="271463"/>
          </a:xfrm>
          <a:prstGeom prst="roundRect">
            <a:avLst>
              <a:gd name="adj" fmla="val 35088"/>
            </a:avLst>
          </a:prstGeom>
          <a:solidFill>
            <a:srgbClr val="F97316">
              <a:alpha val="12000"/>
            </a:srgbClr>
          </a:solidFill>
          <a:ln/>
        </p:spPr>
        <p:txBody>
          <a:bodyPr wrap="square" rtlCol="0" anchor="ctr"/>
          <a:lstStyle/>
          <a:p>
            <a:pPr marL="0" indent="0">
              <a:buNone/>
            </a:pPr>
            <a:endParaRPr lang="en-US" dirty="0"/>
          </a:p>
        </p:txBody>
      </p:sp>
      <p:sp>
        <p:nvSpPr>
          <p:cNvPr id="32" name="Text 30"/>
          <p:cNvSpPr/>
          <p:nvPr/>
        </p:nvSpPr>
        <p:spPr>
          <a:xfrm>
            <a:off x="6229707" y="1451878"/>
            <a:ext cx="227886" cy="227886"/>
          </a:xfrm>
          <a:prstGeom prst="rect">
            <a:avLst/>
          </a:prstGeom>
          <a:noFill/>
          <a:ln/>
        </p:spPr>
        <p:txBody>
          <a:bodyPr wrap="none" lIns="0" tIns="0" rIns="0" bIns="0" rtlCol="0" anchor="ctr"/>
          <a:lstStyle/>
          <a:p>
            <a:pPr marL="0" indent="0" algn="ctr">
              <a:buNone/>
            </a:pPr>
            <a:r>
              <a:rPr lang="en-US" sz="1547" dirty="0">
                <a:solidFill>
                  <a:srgbClr val="F97316"/>
                </a:solidFill>
                <a:latin typeface="Segoe UI Symbol" pitchFamily="34" charset="0"/>
                <a:ea typeface="Segoe UI Symbol" pitchFamily="34" charset="-122"/>
                <a:cs typeface="Segoe UI Symbol" pitchFamily="34" charset="-120"/>
              </a:rPr>
              <a:t>〜</a:t>
            </a:r>
            <a:endParaRPr lang="en-US" sz="1547" dirty="0"/>
          </a:p>
        </p:txBody>
      </p:sp>
      <p:sp>
        <p:nvSpPr>
          <p:cNvPr id="33" name="Text 31"/>
          <p:cNvSpPr/>
          <p:nvPr/>
        </p:nvSpPr>
        <p:spPr>
          <a:xfrm>
            <a:off x="4750594" y="1758702"/>
            <a:ext cx="1728787" cy="168530"/>
          </a:xfrm>
          <a:prstGeom prst="rect">
            <a:avLst/>
          </a:prstGeom>
          <a:noFill/>
          <a:ln/>
        </p:spPr>
        <p:txBody>
          <a:bodyPr wrap="none" lIns="0" tIns="0" rIns="0" bIns="0" rtlCol="0" anchor="t"/>
          <a:lstStyle/>
          <a:p>
            <a:pPr marL="0" indent="0" algn="l">
              <a:lnSpc>
                <a:spcPts val="1229"/>
              </a:lnSpc>
              <a:buNone/>
            </a:pPr>
            <a:r>
              <a:rPr lang="en-US" sz="1069" b="1" dirty="0">
                <a:solidFill>
                  <a:srgbClr val="0F172A"/>
                </a:solidFill>
                <a:latin typeface="Carlito" pitchFamily="34" charset="0"/>
                <a:ea typeface="Carlito" pitchFamily="34" charset="-122"/>
                <a:cs typeface="Carlito" pitchFamily="34" charset="-120"/>
              </a:rPr>
              <a:t>Retrieve + Rank</a:t>
            </a:r>
            <a:endParaRPr lang="en-US" sz="1069" dirty="0"/>
          </a:p>
        </p:txBody>
      </p:sp>
      <p:sp>
        <p:nvSpPr>
          <p:cNvPr id="34" name="Text 32"/>
          <p:cNvSpPr/>
          <p:nvPr/>
        </p:nvSpPr>
        <p:spPr>
          <a:xfrm>
            <a:off x="4750594" y="1971898"/>
            <a:ext cx="1728788" cy="648081"/>
          </a:xfrm>
          <a:prstGeom prst="rect">
            <a:avLst/>
          </a:prstGeom>
          <a:noFill/>
          <a:ln/>
        </p:spPr>
        <p:txBody>
          <a:bodyPr wrap="square" lIns="0" tIns="0" rIns="0" bIns="0" rtlCol="0" anchor="t"/>
          <a:lstStyle/>
          <a:p>
            <a:pPr marL="0" indent="0" algn="l">
              <a:lnSpc>
                <a:spcPts val="1181"/>
              </a:lnSpc>
              <a:buNone/>
            </a:pPr>
            <a:r>
              <a:rPr lang="en-US" sz="844" dirty="0">
                <a:solidFill>
                  <a:srgbClr val="334155"/>
                </a:solidFill>
                <a:latin typeface="Carlito" pitchFamily="34" charset="0"/>
                <a:ea typeface="Carlito" pitchFamily="34" charset="-122"/>
                <a:cs typeface="Carlito" pitchFamily="34" charset="-120"/>
              </a:rPr>
              <a:t>Use BM25 + vector similarity to find the top-K chunks most relevant to "error", "fail", "exception". Re-rank with a cross-encoder.</a:t>
            </a:r>
            <a:endParaRPr lang="en-US" sz="844" dirty="0"/>
          </a:p>
        </p:txBody>
      </p:sp>
      <p:sp>
        <p:nvSpPr>
          <p:cNvPr id="35" name="Text 33"/>
          <p:cNvSpPr/>
          <p:nvPr/>
        </p:nvSpPr>
        <p:spPr>
          <a:xfrm>
            <a:off x="6715125" y="1265783"/>
            <a:ext cx="1971675" cy="2759050"/>
          </a:xfrm>
          <a:prstGeom prst="roundRect">
            <a:avLst>
              <a:gd name="adj" fmla="val 6763"/>
            </a:avLst>
          </a:prstGeom>
          <a:solidFill>
            <a:srgbClr val="F8FAFC"/>
          </a:solidFill>
          <a:ln/>
        </p:spPr>
        <p:txBody>
          <a:bodyPr wrap="square" rtlCol="0" anchor="ctr"/>
          <a:lstStyle/>
          <a:p>
            <a:pPr marL="0" indent="0">
              <a:buNone/>
            </a:pPr>
            <a:endParaRPr lang="en-US" dirty="0"/>
          </a:p>
        </p:txBody>
      </p:sp>
      <p:sp>
        <p:nvSpPr>
          <p:cNvPr id="36" name="Shape 34"/>
          <p:cNvSpPr/>
          <p:nvPr/>
        </p:nvSpPr>
        <p:spPr>
          <a:xfrm>
            <a:off x="6715125" y="1283643"/>
            <a:ext cx="1971675" cy="0"/>
          </a:xfrm>
          <a:prstGeom prst="line">
            <a:avLst/>
          </a:prstGeom>
          <a:noFill/>
          <a:ln w="35719">
            <a:solidFill>
              <a:srgbClr val="F97316"/>
            </a:solidFill>
            <a:prstDash val="solid"/>
          </a:ln>
        </p:spPr>
      </p:sp>
      <p:sp>
        <p:nvSpPr>
          <p:cNvPr id="37" name="Shape 35"/>
          <p:cNvSpPr/>
          <p:nvPr/>
        </p:nvSpPr>
        <p:spPr>
          <a:xfrm>
            <a:off x="8683228" y="1265783"/>
            <a:ext cx="0" cy="2759050"/>
          </a:xfrm>
          <a:prstGeom prst="line">
            <a:avLst/>
          </a:prstGeom>
          <a:noFill/>
          <a:ln w="7144">
            <a:solidFill>
              <a:srgbClr val="CBD5E1"/>
            </a:solidFill>
            <a:prstDash val="solid"/>
          </a:ln>
        </p:spPr>
      </p:sp>
      <p:sp>
        <p:nvSpPr>
          <p:cNvPr id="38" name="Shape 36"/>
          <p:cNvSpPr/>
          <p:nvPr/>
        </p:nvSpPr>
        <p:spPr>
          <a:xfrm>
            <a:off x="6715125" y="4021262"/>
            <a:ext cx="1971675" cy="0"/>
          </a:xfrm>
          <a:prstGeom prst="line">
            <a:avLst/>
          </a:prstGeom>
          <a:noFill/>
          <a:ln w="7144">
            <a:solidFill>
              <a:srgbClr val="CBD5E1"/>
            </a:solidFill>
            <a:prstDash val="solid"/>
          </a:ln>
        </p:spPr>
      </p:sp>
      <p:sp>
        <p:nvSpPr>
          <p:cNvPr id="39" name="Shape 37"/>
          <p:cNvSpPr/>
          <p:nvPr/>
        </p:nvSpPr>
        <p:spPr>
          <a:xfrm>
            <a:off x="6718697" y="1265783"/>
            <a:ext cx="0" cy="2759050"/>
          </a:xfrm>
          <a:prstGeom prst="line">
            <a:avLst/>
          </a:prstGeom>
          <a:noFill/>
          <a:ln w="7144">
            <a:solidFill>
              <a:srgbClr val="CBD5E1"/>
            </a:solidFill>
            <a:prstDash val="solid"/>
          </a:ln>
        </p:spPr>
      </p:sp>
      <p:sp>
        <p:nvSpPr>
          <p:cNvPr id="40" name="Text 38"/>
          <p:cNvSpPr/>
          <p:nvPr/>
        </p:nvSpPr>
        <p:spPr>
          <a:xfrm>
            <a:off x="6836569" y="1465808"/>
            <a:ext cx="1443038" cy="216027"/>
          </a:xfrm>
          <a:prstGeom prst="rect">
            <a:avLst/>
          </a:prstGeom>
          <a:noFill/>
          <a:ln/>
        </p:spPr>
        <p:txBody>
          <a:bodyPr wrap="none" lIns="0" tIns="0" rIns="0" bIns="0" rtlCol="0" anchor="t"/>
          <a:lstStyle/>
          <a:p>
            <a:pPr marL="0" indent="0" algn="l">
              <a:lnSpc>
                <a:spcPts val="1575"/>
              </a:lnSpc>
              <a:buNone/>
            </a:pPr>
            <a:r>
              <a:rPr lang="en-US" sz="1575" b="1" dirty="0">
                <a:solidFill>
                  <a:srgbClr val="F97316"/>
                </a:solidFill>
                <a:latin typeface="Liberation Sans Narrow" pitchFamily="34" charset="0"/>
                <a:ea typeface="Liberation Sans Narrow" pitchFamily="34" charset="-122"/>
                <a:cs typeface="Liberation Sans Narrow" pitchFamily="34" charset="-120"/>
              </a:rPr>
              <a:t>04</a:t>
            </a:r>
            <a:endParaRPr lang="en-US" sz="1575" dirty="0"/>
          </a:p>
        </p:txBody>
      </p:sp>
      <p:sp>
        <p:nvSpPr>
          <p:cNvPr id="41" name="Text 39"/>
          <p:cNvSpPr/>
          <p:nvPr/>
        </p:nvSpPr>
        <p:spPr>
          <a:xfrm>
            <a:off x="8293894" y="1430089"/>
            <a:ext cx="271463" cy="271463"/>
          </a:xfrm>
          <a:prstGeom prst="roundRect">
            <a:avLst>
              <a:gd name="adj" fmla="val 35088"/>
            </a:avLst>
          </a:prstGeom>
          <a:solidFill>
            <a:srgbClr val="F97316">
              <a:alpha val="12000"/>
            </a:srgbClr>
          </a:solidFill>
          <a:ln/>
        </p:spPr>
        <p:txBody>
          <a:bodyPr wrap="square" rtlCol="0" anchor="ctr"/>
          <a:lstStyle/>
          <a:p>
            <a:pPr marL="0" indent="0">
              <a:buNone/>
            </a:pPr>
            <a:endParaRPr lang="en-US" dirty="0"/>
          </a:p>
        </p:txBody>
      </p:sp>
      <p:sp>
        <p:nvSpPr>
          <p:cNvPr id="42" name="Text 40"/>
          <p:cNvSpPr/>
          <p:nvPr/>
        </p:nvSpPr>
        <p:spPr>
          <a:xfrm>
            <a:off x="8315682" y="1451878"/>
            <a:ext cx="227886" cy="227886"/>
          </a:xfrm>
          <a:prstGeom prst="rect">
            <a:avLst/>
          </a:prstGeom>
          <a:noFill/>
          <a:ln/>
        </p:spPr>
        <p:txBody>
          <a:bodyPr wrap="none" lIns="0" tIns="0" rIns="0" bIns="0" rtlCol="0" anchor="ctr"/>
          <a:lstStyle/>
          <a:p>
            <a:pPr marL="0" indent="0" algn="ctr">
              <a:buNone/>
            </a:pPr>
            <a:r>
              <a:rPr lang="en-US" sz="1547" dirty="0">
                <a:solidFill>
                  <a:srgbClr val="F97316"/>
                </a:solidFill>
                <a:latin typeface="Segoe UI Symbol" pitchFamily="34" charset="0"/>
                <a:ea typeface="Segoe UI Symbol" pitchFamily="34" charset="-122"/>
                <a:cs typeface="Segoe UI Symbol" pitchFamily="34" charset="-120"/>
              </a:rPr>
              <a:t>✦</a:t>
            </a:r>
            <a:endParaRPr lang="en-US" sz="1547" dirty="0"/>
          </a:p>
        </p:txBody>
      </p:sp>
      <p:sp>
        <p:nvSpPr>
          <p:cNvPr id="43" name="Text 41"/>
          <p:cNvSpPr/>
          <p:nvPr/>
        </p:nvSpPr>
        <p:spPr>
          <a:xfrm>
            <a:off x="6836569" y="1758702"/>
            <a:ext cx="1728788" cy="168530"/>
          </a:xfrm>
          <a:prstGeom prst="rect">
            <a:avLst/>
          </a:prstGeom>
          <a:noFill/>
          <a:ln/>
        </p:spPr>
        <p:txBody>
          <a:bodyPr wrap="none" lIns="0" tIns="0" rIns="0" bIns="0" rtlCol="0" anchor="t"/>
          <a:lstStyle/>
          <a:p>
            <a:pPr marL="0" indent="0" algn="l">
              <a:lnSpc>
                <a:spcPts val="1229"/>
              </a:lnSpc>
              <a:buNone/>
            </a:pPr>
            <a:r>
              <a:rPr lang="en-US" sz="1069" b="1" dirty="0">
                <a:solidFill>
                  <a:srgbClr val="0F172A"/>
                </a:solidFill>
                <a:latin typeface="Carlito" pitchFamily="34" charset="0"/>
                <a:ea typeface="Carlito" pitchFamily="34" charset="-122"/>
                <a:cs typeface="Carlito" pitchFamily="34" charset="-120"/>
              </a:rPr>
              <a:t>LLM Summarise</a:t>
            </a:r>
            <a:endParaRPr lang="en-US" sz="1069" dirty="0"/>
          </a:p>
        </p:txBody>
      </p:sp>
      <p:sp>
        <p:nvSpPr>
          <p:cNvPr id="44" name="Text 42"/>
          <p:cNvSpPr/>
          <p:nvPr/>
        </p:nvSpPr>
        <p:spPr>
          <a:xfrm>
            <a:off x="6836569" y="1971898"/>
            <a:ext cx="1728788" cy="648081"/>
          </a:xfrm>
          <a:prstGeom prst="rect">
            <a:avLst/>
          </a:prstGeom>
          <a:noFill/>
          <a:ln/>
        </p:spPr>
        <p:txBody>
          <a:bodyPr wrap="square" lIns="0" tIns="0" rIns="0" bIns="0" rtlCol="0" anchor="t"/>
          <a:lstStyle/>
          <a:p>
            <a:pPr marL="0" indent="0" algn="l">
              <a:lnSpc>
                <a:spcPts val="1181"/>
              </a:lnSpc>
              <a:buNone/>
            </a:pPr>
            <a:r>
              <a:rPr lang="en-US" sz="844" dirty="0">
                <a:solidFill>
                  <a:srgbClr val="334155"/>
                </a:solidFill>
                <a:latin typeface="Carlito" pitchFamily="34" charset="0"/>
                <a:ea typeface="Carlito" pitchFamily="34" charset="-122"/>
                <a:cs typeface="Carlito" pitchFamily="34" charset="-120"/>
              </a:rPr>
              <a:t>Send the top-K chunks to an LLM with a structured prompt. Ask for: (1) root cause, (2) file:line, (3) suggested fix.</a:t>
            </a:r>
            <a:endParaRPr lang="en-US" sz="844" dirty="0"/>
          </a:p>
        </p:txBody>
      </p:sp>
      <p:sp>
        <p:nvSpPr>
          <p:cNvPr id="45" name="Text 43"/>
          <p:cNvSpPr/>
          <p:nvPr/>
        </p:nvSpPr>
        <p:spPr>
          <a:xfrm>
            <a:off x="457200" y="4053408"/>
            <a:ext cx="1971675" cy="194328"/>
          </a:xfrm>
          <a:prstGeom prst="rect">
            <a:avLst/>
          </a:prstGeom>
          <a:noFill/>
          <a:ln/>
        </p:spPr>
        <p:txBody>
          <a:bodyPr wrap="none" lIns="0" tIns="0" rIns="0" bIns="0" rtlCol="0" anchor="t"/>
          <a:lstStyle/>
          <a:p>
            <a:pPr marL="0" indent="0" algn="l">
              <a:buNone/>
            </a:pPr>
            <a:r>
              <a:rPr lang="en-US" sz="1013" b="1" dirty="0">
                <a:solidFill>
                  <a:srgbClr val="F97316"/>
                </a:solidFill>
                <a:latin typeface="Segoe UI Symbol" pitchFamily="34" charset="0"/>
                <a:ea typeface="Segoe UI Symbol" pitchFamily="34" charset="-122"/>
                <a:cs typeface="Segoe UI Symbol" pitchFamily="34" charset="-120"/>
              </a:rPr>
              <a:t>→</a:t>
            </a:r>
            <a:endParaRPr lang="en-US" sz="1013" dirty="0"/>
          </a:p>
        </p:txBody>
      </p:sp>
      <p:sp>
        <p:nvSpPr>
          <p:cNvPr id="46" name="Text 44"/>
          <p:cNvSpPr/>
          <p:nvPr/>
        </p:nvSpPr>
        <p:spPr>
          <a:xfrm>
            <a:off x="2543175" y="4053408"/>
            <a:ext cx="1971675" cy="194328"/>
          </a:xfrm>
          <a:prstGeom prst="rect">
            <a:avLst/>
          </a:prstGeom>
          <a:noFill/>
          <a:ln/>
        </p:spPr>
        <p:txBody>
          <a:bodyPr wrap="none" lIns="0" tIns="0" rIns="0" bIns="0" rtlCol="0" anchor="t"/>
          <a:lstStyle/>
          <a:p>
            <a:pPr marL="0" indent="0" algn="l">
              <a:buNone/>
            </a:pPr>
            <a:r>
              <a:rPr lang="en-US" sz="1013" b="1" dirty="0">
                <a:solidFill>
                  <a:srgbClr val="F97316"/>
                </a:solidFill>
                <a:latin typeface="Segoe UI Symbol" pitchFamily="34" charset="0"/>
                <a:ea typeface="Segoe UI Symbol" pitchFamily="34" charset="-122"/>
                <a:cs typeface="Segoe UI Symbol" pitchFamily="34" charset="-120"/>
              </a:rPr>
              <a:t>→</a:t>
            </a:r>
            <a:endParaRPr lang="en-US" sz="1013" dirty="0"/>
          </a:p>
        </p:txBody>
      </p:sp>
      <p:sp>
        <p:nvSpPr>
          <p:cNvPr id="47" name="Text 45"/>
          <p:cNvSpPr/>
          <p:nvPr/>
        </p:nvSpPr>
        <p:spPr>
          <a:xfrm>
            <a:off x="4629150" y="4053408"/>
            <a:ext cx="1971675" cy="194328"/>
          </a:xfrm>
          <a:prstGeom prst="rect">
            <a:avLst/>
          </a:prstGeom>
          <a:noFill/>
          <a:ln/>
        </p:spPr>
        <p:txBody>
          <a:bodyPr wrap="none" lIns="0" tIns="0" rIns="0" bIns="0" rtlCol="0" anchor="t"/>
          <a:lstStyle/>
          <a:p>
            <a:pPr marL="0" indent="0" algn="l">
              <a:buNone/>
            </a:pPr>
            <a:r>
              <a:rPr lang="en-US" sz="1013" b="1" dirty="0">
                <a:solidFill>
                  <a:srgbClr val="F97316"/>
                </a:solidFill>
                <a:latin typeface="Segoe UI Symbol" pitchFamily="34" charset="0"/>
                <a:ea typeface="Segoe UI Symbol" pitchFamily="34" charset="-122"/>
                <a:cs typeface="Segoe UI Symbol" pitchFamily="34" charset="-120"/>
              </a:rPr>
              <a:t>→</a:t>
            </a:r>
            <a:endParaRPr lang="en-US" sz="1013" dirty="0"/>
          </a:p>
        </p:txBody>
      </p:sp>
      <p:sp>
        <p:nvSpPr>
          <p:cNvPr id="48" name="Text 46"/>
          <p:cNvSpPr/>
          <p:nvPr/>
        </p:nvSpPr>
        <p:spPr>
          <a:xfrm>
            <a:off x="6715125" y="4053408"/>
            <a:ext cx="1971675" cy="179933"/>
          </a:xfrm>
          <a:prstGeom prst="rect">
            <a:avLst/>
          </a:prstGeom>
          <a:noFill/>
          <a:ln/>
        </p:spPr>
        <p:txBody>
          <a:bodyPr wrap="none" lIns="0" tIns="0" rIns="0" bIns="0" rtlCol="0" anchor="ctr"/>
          <a:lstStyle/>
          <a:p>
            <a:pPr marL="0" indent="0" algn="ctr">
              <a:buNone/>
            </a:pPr>
            <a:r>
              <a:rPr lang="en-US" sz="1013" b="1" dirty="0">
                <a:solidFill>
                  <a:srgbClr val="F97316"/>
                </a:solidFill>
                <a:latin typeface="Segoe UI Symbol" pitchFamily="34" charset="0"/>
                <a:ea typeface="Segoe UI Symbol" pitchFamily="34" charset="-122"/>
                <a:cs typeface="Segoe UI Symbol" pitchFamily="34" charset="-120"/>
              </a:rPr>
              <a:t>✓</a:t>
            </a:r>
            <a:endParaRPr lang="en-US" sz="1013" dirty="0"/>
          </a:p>
        </p:txBody>
      </p:sp>
      <p:sp>
        <p:nvSpPr>
          <p:cNvPr id="49" name="Text 47"/>
          <p:cNvSpPr/>
          <p:nvPr/>
        </p:nvSpPr>
        <p:spPr>
          <a:xfrm>
            <a:off x="457200" y="4296296"/>
            <a:ext cx="8229600" cy="390004"/>
          </a:xfrm>
          <a:prstGeom prst="roundRect">
            <a:avLst>
              <a:gd name="adj" fmla="val 19538"/>
            </a:avLst>
          </a:prstGeom>
          <a:solidFill>
            <a:srgbClr val="FFF7ED"/>
          </a:solidFill>
          <a:ln/>
        </p:spPr>
        <p:txBody>
          <a:bodyPr wrap="square" rtlCol="0" anchor="ctr"/>
          <a:lstStyle/>
          <a:p>
            <a:pPr marL="0" indent="0">
              <a:buNone/>
            </a:pPr>
            <a:endParaRPr lang="en-US" dirty="0"/>
          </a:p>
        </p:txBody>
      </p:sp>
      <p:sp>
        <p:nvSpPr>
          <p:cNvPr id="50" name="Shape 48"/>
          <p:cNvSpPr/>
          <p:nvPr/>
        </p:nvSpPr>
        <p:spPr>
          <a:xfrm>
            <a:off x="478631" y="4296296"/>
            <a:ext cx="0" cy="390004"/>
          </a:xfrm>
          <a:prstGeom prst="line">
            <a:avLst/>
          </a:prstGeom>
          <a:noFill/>
          <a:ln w="42863">
            <a:solidFill>
              <a:srgbClr val="F97316"/>
            </a:solidFill>
            <a:prstDash val="solid"/>
          </a:ln>
        </p:spPr>
      </p:sp>
      <p:sp>
        <p:nvSpPr>
          <p:cNvPr id="51" name="Text 49"/>
          <p:cNvSpPr/>
          <p:nvPr/>
        </p:nvSpPr>
        <p:spPr>
          <a:xfrm>
            <a:off x="657225" y="4396308"/>
            <a:ext cx="7872413" cy="189979"/>
          </a:xfrm>
          <a:prstGeom prst="rect">
            <a:avLst/>
          </a:prstGeom>
          <a:noFill/>
          <a:ln/>
        </p:spPr>
        <p:txBody>
          <a:bodyPr wrap="square" lIns="0" tIns="0" rIns="0" bIns="0" rtlCol="0" anchor="t"/>
          <a:lstStyle/>
          <a:p>
            <a:pPr marL="0" indent="0" algn="l">
              <a:lnSpc>
                <a:spcPts val="1496"/>
              </a:lnSpc>
              <a:buNone/>
            </a:pPr>
            <a:r>
              <a:rPr lang="en-US" sz="1069" b="1" dirty="0">
                <a:solidFill>
                  <a:srgbClr val="C2410C"/>
                </a:solidFill>
                <a:latin typeface="Segoe UI Symbol" pitchFamily="34" charset="0"/>
                <a:ea typeface="Segoe UI Symbol" pitchFamily="34" charset="-122"/>
                <a:cs typeface="Segoe UI Symbol" pitchFamily="34" charset="-120"/>
              </a:rPr>
              <a:t>✓</a:t>
            </a:r>
            <a:r>
              <a:rPr lang="en-US" sz="1069" b="1" dirty="0">
                <a:solidFill>
                  <a:srgbClr val="0F172A"/>
                </a:solidFill>
                <a:latin typeface="Carlito" pitchFamily="34" charset="0"/>
                <a:ea typeface="Carlito" pitchFamily="34" charset="-122"/>
                <a:cs typeface="Carlito" pitchFamily="34" charset="-120"/>
              </a:rPr>
              <a:t> End result: </a:t>
            </a:r>
            <a:r>
              <a:rPr lang="en-US" sz="1069" b="1" dirty="0">
                <a:solidFill>
                  <a:srgbClr val="C2410C"/>
                </a:solidFill>
                <a:latin typeface="Liberation Sans Narrow" pitchFamily="34" charset="0"/>
                <a:ea typeface="Liberation Sans Narrow" pitchFamily="34" charset="-122"/>
                <a:cs typeface="Liberation Sans Narrow" pitchFamily="34" charset="-120"/>
              </a:rPr>
              <a:t>a 3-sentence summary</a:t>
            </a:r>
            <a:r>
              <a:rPr lang="en-US" sz="1069" b="1" dirty="0">
                <a:solidFill>
                  <a:srgbClr val="0F172A"/>
                </a:solidFill>
                <a:latin typeface="Carlito" pitchFamily="34" charset="0"/>
                <a:ea typeface="Carlito" pitchFamily="34" charset="-122"/>
                <a:cs typeface="Carlito" pitchFamily="34" charset="-120"/>
              </a:rPr>
              <a:t> that saves the developer </a:t>
            </a:r>
            <a:r>
              <a:rPr lang="en-US" sz="1069" b="1" dirty="0">
                <a:solidFill>
                  <a:srgbClr val="C2410C"/>
                </a:solidFill>
                <a:latin typeface="Liberation Sans Narrow" pitchFamily="34" charset="0"/>
                <a:ea typeface="Liberation Sans Narrow" pitchFamily="34" charset="-122"/>
                <a:cs typeface="Liberation Sans Narrow" pitchFamily="34" charset="-120"/>
              </a:rPr>
              <a:t>27 minutes.</a:t>
            </a:r>
            <a:endParaRPr lang="en-US" sz="1069"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8636000" cy="388776"/>
          </a:xfrm>
          <a:prstGeom prst="rect">
            <a:avLst/>
          </a:prstGeom>
          <a:noFill/>
          <a:ln/>
        </p:spPr>
        <p:txBody>
          <a:bodyPr wrap="square" lIns="0" tIns="0" rIns="0" bIns="0" rtlCol="0" anchor="t"/>
          <a:lstStyle/>
          <a:p>
            <a:pPr marL="0" indent="0" algn="l">
              <a:lnSpc>
                <a:spcPts val="2835"/>
              </a:lnSpc>
              <a:buNone/>
            </a:pPr>
            <a:r>
              <a:rPr lang="en-US" sz="2025" b="1" dirty="0">
                <a:solidFill>
                  <a:srgbClr val="0F172A"/>
                </a:solidFill>
                <a:latin typeface="Carlito" pitchFamily="34" charset="0"/>
                <a:ea typeface="Carlito" pitchFamily="34" charset="-122"/>
                <a:cs typeface="Carlito" pitchFamily="34" charset="-120"/>
              </a:rPr>
              <a:t>Prompt Template — Error Log → Root Cause</a:t>
            </a:r>
            <a:endParaRPr lang="en-US" sz="2025" dirty="0"/>
          </a:p>
        </p:txBody>
      </p:sp>
      <p:sp>
        <p:nvSpPr>
          <p:cNvPr id="3" name="Text 1"/>
          <p:cNvSpPr/>
          <p:nvPr/>
        </p:nvSpPr>
        <p:spPr>
          <a:xfrm>
            <a:off x="457200" y="874328"/>
            <a:ext cx="571500" cy="42863"/>
          </a:xfrm>
          <a:prstGeom prst="roundRect">
            <a:avLst>
              <a:gd name="adj" fmla="val 66666"/>
            </a:avLst>
          </a:prstGeom>
          <a:solidFill>
            <a:srgbClr val="F97316"/>
          </a:solidFill>
          <a:ln/>
        </p:spPr>
        <p:txBody>
          <a:bodyPr wrap="square" rtlCol="0" anchor="ctr"/>
          <a:lstStyle/>
          <a:p>
            <a:pPr marL="0" indent="0">
              <a:buNone/>
            </a:pPr>
            <a:endParaRPr lang="en-US" dirty="0"/>
          </a:p>
        </p:txBody>
      </p:sp>
      <p:sp>
        <p:nvSpPr>
          <p:cNvPr id="4" name="Text 2"/>
          <p:cNvSpPr/>
          <p:nvPr/>
        </p:nvSpPr>
        <p:spPr>
          <a:xfrm>
            <a:off x="457200" y="960053"/>
            <a:ext cx="8229600" cy="205177"/>
          </a:xfrm>
          <a:prstGeom prst="rect">
            <a:avLst/>
          </a:prstGeom>
          <a:noFill/>
          <a:ln/>
        </p:spPr>
        <p:txBody>
          <a:bodyPr wrap="square" lIns="0" tIns="0" rIns="0" bIns="0" rtlCol="0" anchor="t"/>
          <a:lstStyle/>
          <a:p>
            <a:pPr marL="0" indent="0" algn="l">
              <a:lnSpc>
                <a:spcPts val="1496"/>
              </a:lnSpc>
              <a:buNone/>
            </a:pPr>
            <a:r>
              <a:rPr lang="en-US" sz="1069" dirty="0">
                <a:solidFill>
                  <a:srgbClr val="334155"/>
                </a:solidFill>
                <a:latin typeface="Carlito" pitchFamily="34" charset="0"/>
                <a:ea typeface="Carlito" pitchFamily="34" charset="-122"/>
                <a:cs typeface="Carlito" pitchFamily="34" charset="-120"/>
              </a:rPr>
              <a:t>A reusable prompt that turns any failed-build log into a structured summary.</a:t>
            </a:r>
            <a:endParaRPr lang="en-US" sz="1069" dirty="0"/>
          </a:p>
        </p:txBody>
      </p:sp>
      <p:sp>
        <p:nvSpPr>
          <p:cNvPr id="5" name="Text 3"/>
          <p:cNvSpPr/>
          <p:nvPr/>
        </p:nvSpPr>
        <p:spPr>
          <a:xfrm>
            <a:off x="7051774" y="1321482"/>
            <a:ext cx="1520726" cy="162855"/>
          </a:xfrm>
          <a:prstGeom prst="roundRect">
            <a:avLst>
              <a:gd name="adj" fmla="val 35093"/>
            </a:avLst>
          </a:prstGeom>
          <a:solidFill>
            <a:srgbClr val="F97316">
              <a:alpha val="95000"/>
            </a:srgbClr>
          </a:solidFill>
          <a:ln/>
        </p:spPr>
        <p:txBody>
          <a:bodyPr wrap="square" rtlCol="0" anchor="ctr"/>
          <a:lstStyle/>
          <a:p>
            <a:pPr marL="0" indent="0">
              <a:buNone/>
            </a:pPr>
            <a:endParaRPr lang="en-US" dirty="0"/>
          </a:p>
        </p:txBody>
      </p:sp>
      <p:sp>
        <p:nvSpPr>
          <p:cNvPr id="6" name="Text 4"/>
          <p:cNvSpPr/>
          <p:nvPr/>
        </p:nvSpPr>
        <p:spPr>
          <a:xfrm>
            <a:off x="7051774" y="1321482"/>
            <a:ext cx="1520726" cy="208455"/>
          </a:xfrm>
          <a:prstGeom prst="rect">
            <a:avLst/>
          </a:prstGeom>
          <a:noFill/>
          <a:ln/>
        </p:spPr>
        <p:txBody>
          <a:bodyPr wrap="square" lIns="71438" tIns="21431" rIns="71438" bIns="21431" rtlCol="0" anchor="t"/>
          <a:lstStyle/>
          <a:p>
            <a:pPr marL="0" indent="0" algn="l">
              <a:lnSpc>
                <a:spcPts val="945"/>
              </a:lnSpc>
              <a:buNone/>
            </a:pPr>
            <a:r>
              <a:rPr lang="en-US" sz="675" b="1" kern="0" spc="56" dirty="0">
                <a:solidFill>
                  <a:srgbClr val="FFFFFF"/>
                </a:solidFill>
                <a:latin typeface="Courier New" pitchFamily="34" charset="0"/>
                <a:ea typeface="Courier New" pitchFamily="34" charset="-122"/>
                <a:cs typeface="Courier New" pitchFamily="34" charset="-120"/>
              </a:rPr>
              <a:t>PROMPT · prompt_template.txt</a:t>
            </a:r>
            <a:endParaRPr lang="en-US" sz="675" dirty="0"/>
          </a:p>
        </p:txBody>
      </p:sp>
      <p:sp>
        <p:nvSpPr>
          <p:cNvPr id="7" name="Text 5"/>
          <p:cNvSpPr/>
          <p:nvPr/>
        </p:nvSpPr>
        <p:spPr>
          <a:xfrm>
            <a:off x="642938" y="1392920"/>
            <a:ext cx="3096816" cy="162020"/>
          </a:xfrm>
          <a:prstGeom prst="rect">
            <a:avLst/>
          </a:prstGeom>
          <a:noFill/>
          <a:ln/>
        </p:spPr>
        <p:txBody>
          <a:bodyPr wrap="none" lIns="0" tIns="0" rIns="0" bIns="0" rtlCol="0" anchor="t"/>
          <a:lstStyle/>
          <a:p>
            <a:pPr marL="0" indent="0" algn="l">
              <a:lnSpc>
                <a:spcPts val="1434"/>
              </a:lnSpc>
              <a:buNone/>
            </a:pPr>
            <a:r>
              <a:rPr lang="en-US" sz="956" i="1" dirty="0">
                <a:solidFill>
                  <a:srgbClr val="94A3B8"/>
                </a:solidFill>
                <a:latin typeface="Courier New" pitchFamily="34" charset="0"/>
                <a:ea typeface="Courier New" pitchFamily="34" charset="-122"/>
                <a:cs typeface="Courier New" pitchFamily="34" charset="-120"/>
              </a:rPr>
              <a:t># prompt_template.txt — Build Failure Summarisation</a:t>
            </a:r>
            <a:endParaRPr lang="en-US" sz="956" dirty="0"/>
          </a:p>
        </p:txBody>
      </p:sp>
      <p:sp>
        <p:nvSpPr>
          <p:cNvPr id="8" name="Text 6"/>
          <p:cNvSpPr/>
          <p:nvPr/>
        </p:nvSpPr>
        <p:spPr>
          <a:xfrm>
            <a:off x="581317" y="2668079"/>
            <a:ext cx="882265" cy="162020"/>
          </a:xfrm>
          <a:prstGeom prst="rect">
            <a:avLst/>
          </a:prstGeom>
          <a:noFill/>
          <a:ln/>
        </p:spPr>
        <p:txBody>
          <a:bodyPr wrap="none" lIns="0" tIns="0" rIns="0" bIns="0" rtlCol="0" anchor="t"/>
          <a:lstStyle/>
          <a:p>
            <a:pPr marL="0" indent="0" algn="l">
              <a:lnSpc>
                <a:spcPts val="1434"/>
              </a:lnSpc>
              <a:buNone/>
            </a:pPr>
            <a:r>
              <a:rPr lang="en-US" sz="956" dirty="0">
                <a:solidFill>
                  <a:srgbClr val="FBA74A"/>
                </a:solidFill>
                <a:latin typeface="Courier New" pitchFamily="34" charset="0"/>
                <a:ea typeface="Courier New" pitchFamily="34" charset="-122"/>
                <a:cs typeface="Courier New" pitchFamily="34" charset="-120"/>
              </a:rPr>
              <a:t>ROOT CAUSE</a:t>
            </a:r>
            <a:endParaRPr lang="en-US" sz="956" dirty="0"/>
          </a:p>
        </p:txBody>
      </p:sp>
      <p:sp>
        <p:nvSpPr>
          <p:cNvPr id="9" name="Text 7"/>
          <p:cNvSpPr/>
          <p:nvPr/>
        </p:nvSpPr>
        <p:spPr>
          <a:xfrm>
            <a:off x="1432322" y="2668079"/>
            <a:ext cx="3147822" cy="154734"/>
          </a:xfrm>
          <a:prstGeom prst="rect">
            <a:avLst/>
          </a:prstGeom>
          <a:noFill/>
          <a:ln/>
        </p:spPr>
        <p:txBody>
          <a:bodyPr wrap="none" lIns="0" tIns="0" rIns="0" bIns="0" rtlCol="0" anchor="t">
            <a:normAutofit fontScale="55000" lnSpcReduction="20000"/>
          </a:bodyPr>
          <a:lstStyle/>
          <a:p>
            <a:pPr marL="0" indent="0" algn="l">
              <a:lnSpc>
                <a:spcPts val="1434"/>
              </a:lnSpc>
              <a:buNone/>
            </a:pPr>
            <a:r>
              <a:rPr lang="en-US" sz="956" dirty="0">
                <a:solidFill>
                  <a:srgbClr val="86EFAC"/>
                </a:solidFill>
                <a:latin typeface="Courier New" pitchFamily="34" charset="0"/>
                <a:ea typeface="Courier New" pitchFamily="34" charset="-122"/>
                <a:cs typeface="Courier New" pitchFamily="34" charset="-120"/>
              </a:rPr>
              <a:t>one-sentence description of why the build failed</a:t>
            </a:r>
            <a:endParaRPr lang="en-US" sz="956" dirty="0"/>
          </a:p>
        </p:txBody>
      </p:sp>
      <p:sp>
        <p:nvSpPr>
          <p:cNvPr id="10" name="Text 8"/>
          <p:cNvSpPr/>
          <p:nvPr/>
        </p:nvSpPr>
        <p:spPr>
          <a:xfrm>
            <a:off x="568371" y="2850245"/>
            <a:ext cx="1059961" cy="162020"/>
          </a:xfrm>
          <a:prstGeom prst="rect">
            <a:avLst/>
          </a:prstGeom>
          <a:noFill/>
          <a:ln/>
        </p:spPr>
        <p:txBody>
          <a:bodyPr wrap="none" lIns="0" tIns="0" rIns="0" bIns="0" rtlCol="0" anchor="t"/>
          <a:lstStyle/>
          <a:p>
            <a:pPr marL="0" indent="0" algn="l">
              <a:lnSpc>
                <a:spcPts val="1434"/>
              </a:lnSpc>
              <a:buNone/>
            </a:pPr>
            <a:r>
              <a:rPr lang="en-US" sz="956" dirty="0">
                <a:solidFill>
                  <a:srgbClr val="FBA74A"/>
                </a:solidFill>
                <a:latin typeface="Courier New" pitchFamily="34" charset="0"/>
                <a:ea typeface="Courier New" pitchFamily="34" charset="-122"/>
                <a:cs typeface="Courier New" pitchFamily="34" charset="-120"/>
              </a:rPr>
              <a:t>FAILING FILE</a:t>
            </a:r>
            <a:endParaRPr lang="en-US" sz="956" dirty="0"/>
          </a:p>
        </p:txBody>
      </p:sp>
      <p:sp>
        <p:nvSpPr>
          <p:cNvPr id="11" name="Text 9"/>
          <p:cNvSpPr/>
          <p:nvPr/>
        </p:nvSpPr>
        <p:spPr>
          <a:xfrm>
            <a:off x="1553766" y="2850245"/>
            <a:ext cx="3016663" cy="154734"/>
          </a:xfrm>
          <a:prstGeom prst="rect">
            <a:avLst/>
          </a:prstGeom>
          <a:noFill/>
          <a:ln/>
        </p:spPr>
        <p:txBody>
          <a:bodyPr wrap="none" lIns="0" tIns="0" rIns="0" bIns="0" rtlCol="0" anchor="t">
            <a:normAutofit fontScale="55000" lnSpcReduction="20000"/>
          </a:bodyPr>
          <a:lstStyle/>
          <a:p>
            <a:pPr marL="0" indent="0" algn="l">
              <a:lnSpc>
                <a:spcPts val="1434"/>
              </a:lnSpc>
              <a:buNone/>
            </a:pPr>
            <a:r>
              <a:rPr lang="en-US" sz="956" dirty="0">
                <a:solidFill>
                  <a:srgbClr val="86EFAC"/>
                </a:solidFill>
                <a:latin typeface="Courier New" pitchFamily="34" charset="0"/>
                <a:ea typeface="Courier New" pitchFamily="34" charset="-122"/>
                <a:cs typeface="Courier New" pitchFamily="34" charset="-120"/>
              </a:rPr>
              <a:t>path:line_number of the exact failure location</a:t>
            </a:r>
            <a:endParaRPr lang="en-US" sz="956" dirty="0"/>
          </a:p>
        </p:txBody>
      </p:sp>
      <p:sp>
        <p:nvSpPr>
          <p:cNvPr id="12" name="Text 10"/>
          <p:cNvSpPr/>
          <p:nvPr/>
        </p:nvSpPr>
        <p:spPr>
          <a:xfrm>
            <a:off x="642938" y="3032410"/>
            <a:ext cx="1062633" cy="162020"/>
          </a:xfrm>
          <a:prstGeom prst="rect">
            <a:avLst/>
          </a:prstGeom>
          <a:noFill/>
          <a:ln/>
        </p:spPr>
        <p:txBody>
          <a:bodyPr wrap="none" lIns="0" tIns="0" rIns="0" bIns="0" rtlCol="0" anchor="t"/>
          <a:lstStyle/>
          <a:p>
            <a:pPr marL="0" indent="0" algn="l">
              <a:lnSpc>
                <a:spcPts val="1434"/>
              </a:lnSpc>
              <a:buNone/>
            </a:pPr>
            <a:r>
              <a:rPr lang="en-US" sz="956" dirty="0">
                <a:solidFill>
                  <a:srgbClr val="FBA74A"/>
                </a:solidFill>
                <a:latin typeface="Courier New" pitchFamily="34" charset="0"/>
                <a:ea typeface="Courier New" pitchFamily="34" charset="-122"/>
                <a:cs typeface="Courier New" pitchFamily="34" charset="-120"/>
              </a:rPr>
              <a:t>FIX SUGGESTION</a:t>
            </a:r>
            <a:endParaRPr lang="en-US" sz="956" dirty="0"/>
          </a:p>
        </p:txBody>
      </p:sp>
      <p:sp>
        <p:nvSpPr>
          <p:cNvPr id="13" name="Text 11"/>
          <p:cNvSpPr/>
          <p:nvPr/>
        </p:nvSpPr>
        <p:spPr>
          <a:xfrm>
            <a:off x="1675209" y="3032410"/>
            <a:ext cx="1770650" cy="154734"/>
          </a:xfrm>
          <a:prstGeom prst="rect">
            <a:avLst/>
          </a:prstGeom>
          <a:noFill/>
          <a:ln/>
        </p:spPr>
        <p:txBody>
          <a:bodyPr wrap="none" lIns="0" tIns="0" rIns="0" bIns="0" rtlCol="0" anchor="t">
            <a:normAutofit fontScale="62500" lnSpcReduction="20000"/>
          </a:bodyPr>
          <a:lstStyle/>
          <a:p>
            <a:pPr marL="0" indent="0" algn="l">
              <a:lnSpc>
                <a:spcPts val="1434"/>
              </a:lnSpc>
              <a:buNone/>
            </a:pPr>
            <a:r>
              <a:rPr lang="en-US" sz="956" dirty="0">
                <a:solidFill>
                  <a:srgbClr val="86EFAC"/>
                </a:solidFill>
                <a:latin typeface="Liberation Sans Narrow" pitchFamily="34" charset="0"/>
                <a:ea typeface="Liberation Sans Narrow" pitchFamily="34" charset="-122"/>
                <a:cs typeface="Liberation Sans Narrow" pitchFamily="34" charset="-120"/>
              </a:rPr>
              <a:t>2-3 sentence actionable fix</a:t>
            </a:r>
            <a:endParaRPr lang="en-US" sz="956" dirty="0"/>
          </a:p>
        </p:txBody>
      </p:sp>
      <p:sp>
        <p:nvSpPr>
          <p:cNvPr id="14" name="Text 12"/>
          <p:cNvSpPr/>
          <p:nvPr/>
        </p:nvSpPr>
        <p:spPr>
          <a:xfrm>
            <a:off x="556955" y="3214576"/>
            <a:ext cx="930988" cy="162020"/>
          </a:xfrm>
          <a:prstGeom prst="rect">
            <a:avLst/>
          </a:prstGeom>
          <a:noFill/>
          <a:ln/>
        </p:spPr>
        <p:txBody>
          <a:bodyPr wrap="none" lIns="0" tIns="0" rIns="0" bIns="0" rtlCol="0" anchor="t"/>
          <a:lstStyle/>
          <a:p>
            <a:pPr marL="0" indent="0" algn="l">
              <a:lnSpc>
                <a:spcPts val="1434"/>
              </a:lnSpc>
              <a:buNone/>
            </a:pPr>
            <a:r>
              <a:rPr lang="en-US" sz="956" dirty="0">
                <a:solidFill>
                  <a:srgbClr val="FBA74A"/>
                </a:solidFill>
                <a:latin typeface="Courier New" pitchFamily="34" charset="0"/>
                <a:ea typeface="Courier New" pitchFamily="34" charset="-122"/>
                <a:cs typeface="Courier New" pitchFamily="34" charset="-120"/>
              </a:rPr>
              <a:t>CONFIDENCE</a:t>
            </a:r>
            <a:endParaRPr lang="en-US" sz="956" dirty="0"/>
          </a:p>
        </p:txBody>
      </p:sp>
      <p:sp>
        <p:nvSpPr>
          <p:cNvPr id="15" name="Text 13"/>
          <p:cNvSpPr/>
          <p:nvPr/>
        </p:nvSpPr>
        <p:spPr>
          <a:xfrm>
            <a:off x="1432322" y="3214576"/>
            <a:ext cx="1442145" cy="162020"/>
          </a:xfrm>
          <a:prstGeom prst="rect">
            <a:avLst/>
          </a:prstGeom>
          <a:noFill/>
          <a:ln/>
        </p:spPr>
        <p:txBody>
          <a:bodyPr wrap="none" lIns="0" tIns="0" rIns="0" bIns="0" rtlCol="0" anchor="t"/>
          <a:lstStyle/>
          <a:p>
            <a:pPr marL="0" indent="0" algn="l">
              <a:lnSpc>
                <a:spcPts val="1434"/>
              </a:lnSpc>
              <a:buNone/>
            </a:pPr>
            <a:r>
              <a:rPr lang="en-US" sz="956" dirty="0">
                <a:solidFill>
                  <a:srgbClr val="86EFAC"/>
                </a:solidFill>
                <a:latin typeface="Courier New" pitchFamily="34" charset="0"/>
                <a:ea typeface="Courier New" pitchFamily="34" charset="-122"/>
                <a:cs typeface="Courier New" pitchFamily="34" charset="-120"/>
              </a:rPr>
              <a:t>high | medium | low</a:t>
            </a:r>
            <a:endParaRPr lang="en-US" sz="956" dirty="0"/>
          </a:p>
        </p:txBody>
      </p:sp>
      <p:sp>
        <p:nvSpPr>
          <p:cNvPr id="16" name="Text 14"/>
          <p:cNvSpPr/>
          <p:nvPr/>
        </p:nvSpPr>
        <p:spPr>
          <a:xfrm>
            <a:off x="642938" y="3578907"/>
            <a:ext cx="535567" cy="154734"/>
          </a:xfrm>
          <a:prstGeom prst="rect">
            <a:avLst/>
          </a:prstGeom>
          <a:noFill/>
          <a:ln/>
        </p:spPr>
        <p:txBody>
          <a:bodyPr wrap="none" lIns="0" tIns="0" rIns="0" bIns="0" rtlCol="0" anchor="t">
            <a:normAutofit fontScale="55000" lnSpcReduction="20000"/>
          </a:bodyPr>
          <a:lstStyle/>
          <a:p>
            <a:pPr marL="0" indent="0" algn="l">
              <a:lnSpc>
                <a:spcPts val="1434"/>
              </a:lnSpc>
              <a:buNone/>
            </a:pPr>
            <a:r>
              <a:rPr lang="en-US" sz="956" i="1" dirty="0">
                <a:solidFill>
                  <a:srgbClr val="94A3B8"/>
                </a:solidFill>
                <a:latin typeface="Courier New" pitchFamily="34" charset="0"/>
                <a:ea typeface="Courier New" pitchFamily="34" charset="-122"/>
                <a:cs typeface="Courier New" pitchFamily="34" charset="-120"/>
              </a:rPr>
              <a:t>Rules:</a:t>
            </a:r>
            <a:endParaRPr lang="en-US" sz="956" dirty="0"/>
          </a:p>
        </p:txBody>
      </p:sp>
      <p:sp>
        <p:nvSpPr>
          <p:cNvPr id="17" name="Text 15"/>
          <p:cNvSpPr/>
          <p:nvPr/>
        </p:nvSpPr>
        <p:spPr>
          <a:xfrm>
            <a:off x="3010605" y="3761073"/>
            <a:ext cx="486747" cy="162020"/>
          </a:xfrm>
          <a:prstGeom prst="rect">
            <a:avLst/>
          </a:prstGeom>
          <a:noFill/>
          <a:ln/>
        </p:spPr>
        <p:txBody>
          <a:bodyPr wrap="none" lIns="0" tIns="0" rIns="0" bIns="0" rtlCol="0" anchor="t"/>
          <a:lstStyle/>
          <a:p>
            <a:pPr marL="0" indent="0" algn="l">
              <a:lnSpc>
                <a:spcPts val="1434"/>
              </a:lnSpc>
              <a:buNone/>
            </a:pPr>
            <a:r>
              <a:rPr lang="en-US" sz="956" dirty="0">
                <a:solidFill>
                  <a:srgbClr val="93C5FD"/>
                </a:solidFill>
                <a:latin typeface="Courier New" pitchFamily="34" charset="0"/>
                <a:ea typeface="Courier New" pitchFamily="34" charset="-122"/>
                <a:cs typeface="Courier New" pitchFamily="34" charset="-120"/>
              </a:rPr>
              <a:t>FIRST</a:t>
            </a:r>
            <a:endParaRPr lang="en-US" sz="956" dirty="0"/>
          </a:p>
        </p:txBody>
      </p:sp>
      <p:sp>
        <p:nvSpPr>
          <p:cNvPr id="18" name="Text 16"/>
          <p:cNvSpPr/>
          <p:nvPr/>
        </p:nvSpPr>
        <p:spPr>
          <a:xfrm>
            <a:off x="4832747" y="4125404"/>
            <a:ext cx="291465" cy="91440"/>
          </a:xfrm>
          <a:prstGeom prst="rect">
            <a:avLst/>
          </a:prstGeom>
          <a:noFill/>
          <a:ln/>
        </p:spPr>
        <p:txBody>
          <a:bodyPr wrap="none" lIns="0" tIns="0" rIns="0" bIns="0" rtlCol="0" anchor="t"/>
          <a:lstStyle/>
          <a:p>
            <a:pPr marL="0" indent="0" algn="l">
              <a:lnSpc>
                <a:spcPts val="1434"/>
              </a:lnSpc>
              <a:buNone/>
            </a:pPr>
            <a:r>
              <a:rPr lang="en-US" sz="956" dirty="0">
                <a:solidFill>
                  <a:srgbClr val="86EFAC"/>
                </a:solidFill>
                <a:latin typeface="Courier New" pitchFamily="34" charset="0"/>
                <a:ea typeface="Courier New" pitchFamily="34" charset="-122"/>
                <a:cs typeface="Courier New" pitchFamily="34" charset="-120"/>
              </a:rPr>
              <a:t>low</a:t>
            </a:r>
            <a:endParaRPr lang="en-US" sz="956" dirty="0"/>
          </a:p>
        </p:txBody>
      </p:sp>
      <p:sp>
        <p:nvSpPr>
          <p:cNvPr id="19" name="Text 17"/>
          <p:cNvSpPr/>
          <p:nvPr/>
        </p:nvSpPr>
        <p:spPr>
          <a:xfrm>
            <a:off x="642938" y="4671901"/>
            <a:ext cx="1566624" cy="91440"/>
          </a:xfrm>
          <a:prstGeom prst="rect">
            <a:avLst/>
          </a:prstGeom>
          <a:noFill/>
          <a:ln/>
        </p:spPr>
        <p:txBody>
          <a:bodyPr wrap="none" lIns="0" tIns="0" rIns="0" bIns="0" rtlCol="0" anchor="t"/>
          <a:lstStyle/>
          <a:p>
            <a:pPr marL="0" indent="0" algn="l">
              <a:lnSpc>
                <a:spcPts val="1434"/>
              </a:lnSpc>
              <a:buNone/>
            </a:pPr>
            <a:r>
              <a:rPr lang="en-US" sz="956" i="1" dirty="0">
                <a:solidFill>
                  <a:srgbClr val="94A3B8"/>
                </a:solidFill>
                <a:latin typeface="Courier New" pitchFamily="34" charset="0"/>
                <a:ea typeface="Courier New" pitchFamily="34" charset="-122"/>
                <a:cs typeface="Courier New" pitchFamily="34" charset="-120"/>
              </a:rPr>
              <a:t>=== LOG EXCERPTS ===</a:t>
            </a:r>
            <a:endParaRPr lang="en-US" sz="956" dirty="0"/>
          </a:p>
        </p:txBody>
      </p:sp>
      <p:sp>
        <p:nvSpPr>
          <p:cNvPr id="20" name="Text 18"/>
          <p:cNvSpPr/>
          <p:nvPr/>
        </p:nvSpPr>
        <p:spPr>
          <a:xfrm>
            <a:off x="642938" y="4854067"/>
            <a:ext cx="1366242" cy="91440"/>
          </a:xfrm>
          <a:prstGeom prst="rect">
            <a:avLst/>
          </a:prstGeom>
          <a:noFill/>
          <a:ln/>
        </p:spPr>
        <p:txBody>
          <a:bodyPr wrap="none" lIns="0" tIns="0" rIns="0" bIns="0" rtlCol="0" anchor="t"/>
          <a:lstStyle/>
          <a:p>
            <a:pPr marL="0" indent="0" algn="l">
              <a:lnSpc>
                <a:spcPts val="1434"/>
              </a:lnSpc>
              <a:buNone/>
            </a:pPr>
            <a:r>
              <a:rPr lang="en-US" sz="956" dirty="0">
                <a:solidFill>
                  <a:srgbClr val="93C5FD"/>
                </a:solidFill>
                <a:latin typeface="Courier New" pitchFamily="34" charset="0"/>
                <a:ea typeface="Courier New" pitchFamily="34" charset="-122"/>
                <a:cs typeface="Courier New" pitchFamily="34" charset="-120"/>
              </a:rPr>
              <a:t>{retrieved_chunks}</a:t>
            </a:r>
            <a:endParaRPr lang="en-US" sz="956" dirty="0"/>
          </a:p>
        </p:txBody>
      </p:sp>
      <p:sp>
        <p:nvSpPr>
          <p:cNvPr id="21" name="Text 19"/>
          <p:cNvSpPr/>
          <p:nvPr/>
        </p:nvSpPr>
        <p:spPr>
          <a:xfrm>
            <a:off x="642938" y="5036232"/>
            <a:ext cx="1566624" cy="91440"/>
          </a:xfrm>
          <a:prstGeom prst="rect">
            <a:avLst/>
          </a:prstGeom>
          <a:noFill/>
          <a:ln/>
        </p:spPr>
        <p:txBody>
          <a:bodyPr wrap="none" lIns="0" tIns="0" rIns="0" bIns="0" rtlCol="0" anchor="t"/>
          <a:lstStyle/>
          <a:p>
            <a:pPr marL="0" indent="0" algn="l">
              <a:lnSpc>
                <a:spcPts val="1434"/>
              </a:lnSpc>
              <a:buNone/>
            </a:pPr>
            <a:r>
              <a:rPr lang="en-US" sz="956" i="1" dirty="0">
                <a:solidFill>
                  <a:srgbClr val="94A3B8"/>
                </a:solidFill>
                <a:latin typeface="Courier New" pitchFamily="34" charset="0"/>
                <a:ea typeface="Courier New" pitchFamily="34" charset="-122"/>
                <a:cs typeface="Courier New" pitchFamily="34" charset="-120"/>
              </a:rPr>
              <a:t>=== END EXCERPTS ===</a:t>
            </a:r>
            <a:endParaRPr lang="en-US" sz="956" dirty="0"/>
          </a:p>
        </p:txBody>
      </p:sp>
      <p:sp>
        <p:nvSpPr>
          <p:cNvPr id="22" name="Text 20"/>
          <p:cNvSpPr/>
          <p:nvPr/>
        </p:nvSpPr>
        <p:spPr>
          <a:xfrm>
            <a:off x="457200" y="4346302"/>
            <a:ext cx="8229600" cy="367198"/>
          </a:xfrm>
          <a:prstGeom prst="rect">
            <a:avLst/>
          </a:prstGeom>
          <a:noFill/>
          <a:ln/>
        </p:spPr>
        <p:txBody>
          <a:bodyPr wrap="square" lIns="0" tIns="0" rIns="0" bIns="0" rtlCol="0" anchor="t"/>
          <a:lstStyle/>
          <a:p>
            <a:pPr marL="0" indent="0" algn="l">
              <a:lnSpc>
                <a:spcPts val="1339"/>
              </a:lnSpc>
              <a:buNone/>
            </a:pPr>
            <a:r>
              <a:rPr lang="en-US" sz="956" i="1" dirty="0">
                <a:solidFill>
                  <a:srgbClr val="334155"/>
                </a:solidFill>
                <a:latin typeface="Carlito" pitchFamily="34" charset="0"/>
                <a:ea typeface="Carlito" pitchFamily="34" charset="-122"/>
                <a:cs typeface="Carlito" pitchFamily="34" charset="-120"/>
              </a:rPr>
              <a:t>This prompt is reusable across </a:t>
            </a:r>
            <a:r>
              <a:rPr lang="en-US" sz="956" b="1" i="1" dirty="0">
                <a:solidFill>
                  <a:srgbClr val="C2410C"/>
                </a:solidFill>
                <a:latin typeface="Carlito" pitchFamily="34" charset="0"/>
                <a:ea typeface="Carlito" pitchFamily="34" charset="-122"/>
                <a:cs typeface="Carlito" pitchFamily="34" charset="-120"/>
              </a:rPr>
              <a:t>Maven, Gradle, npm, pip, Docker, and Kubernetes</a:t>
            </a:r>
            <a:r>
              <a:rPr lang="en-US" sz="956" i="1" dirty="0">
                <a:solidFill>
                  <a:srgbClr val="334155"/>
                </a:solidFill>
                <a:latin typeface="Carlito" pitchFamily="34" charset="0"/>
                <a:ea typeface="Carlito" pitchFamily="34" charset="-122"/>
                <a:cs typeface="Carlito" pitchFamily="34" charset="-120"/>
              </a:rPr>
              <a:t> failure logs. The </a:t>
            </a:r>
            <a:r>
              <a:rPr lang="en-US" sz="956" b="1" i="1" dirty="0">
                <a:solidFill>
                  <a:srgbClr val="C2410C"/>
                </a:solidFill>
                <a:latin typeface="Carlito" pitchFamily="34" charset="0"/>
                <a:ea typeface="Carlito" pitchFamily="34" charset="-122"/>
                <a:cs typeface="Carlito" pitchFamily="34" charset="-120"/>
              </a:rPr>
              <a:t>{retrieved_chunks}</a:t>
            </a:r>
            <a:r>
              <a:rPr lang="en-US" sz="956" i="1" dirty="0">
                <a:solidFill>
                  <a:srgbClr val="334155"/>
                </a:solidFill>
                <a:latin typeface="Carlito" pitchFamily="34" charset="0"/>
                <a:ea typeface="Carlito" pitchFamily="34" charset="-122"/>
                <a:cs typeface="Carlito" pitchFamily="34" charset="-120"/>
              </a:rPr>
              <a:t> variable is filled by the retrieval pipeline.</a:t>
            </a:r>
            <a:endParaRPr lang="en-US" sz="956"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8636000" cy="388776"/>
          </a:xfrm>
          <a:prstGeom prst="rect">
            <a:avLst/>
          </a:prstGeom>
          <a:noFill/>
          <a:ln/>
        </p:spPr>
        <p:txBody>
          <a:bodyPr wrap="square" lIns="0" tIns="0" rIns="0" bIns="0" rtlCol="0" anchor="t"/>
          <a:lstStyle/>
          <a:p>
            <a:pPr marL="0" indent="0" algn="l">
              <a:lnSpc>
                <a:spcPts val="2835"/>
              </a:lnSpc>
              <a:buNone/>
            </a:pPr>
            <a:r>
              <a:rPr lang="en-US" sz="2025" b="1" dirty="0">
                <a:solidFill>
                  <a:srgbClr val="0F172A"/>
                </a:solidFill>
                <a:latin typeface="Carlito" pitchFamily="34" charset="0"/>
                <a:ea typeface="Carlito" pitchFamily="34" charset="-122"/>
                <a:cs typeface="Carlito" pitchFamily="34" charset="-120"/>
              </a:rPr>
              <a:t>Real Example — Before &amp; After LLM Summarisation</a:t>
            </a:r>
            <a:endParaRPr lang="en-US" sz="2025" dirty="0"/>
          </a:p>
        </p:txBody>
      </p:sp>
      <p:sp>
        <p:nvSpPr>
          <p:cNvPr id="3" name="Text 1"/>
          <p:cNvSpPr/>
          <p:nvPr/>
        </p:nvSpPr>
        <p:spPr>
          <a:xfrm>
            <a:off x="457200" y="874328"/>
            <a:ext cx="571500" cy="42863"/>
          </a:xfrm>
          <a:prstGeom prst="roundRect">
            <a:avLst>
              <a:gd name="adj" fmla="val 66666"/>
            </a:avLst>
          </a:prstGeom>
          <a:solidFill>
            <a:srgbClr val="F97316"/>
          </a:solidFill>
          <a:ln/>
        </p:spPr>
        <p:txBody>
          <a:bodyPr wrap="square" rtlCol="0" anchor="ctr"/>
          <a:lstStyle/>
          <a:p>
            <a:pPr marL="0" indent="0">
              <a:buNone/>
            </a:pPr>
            <a:endParaRPr lang="en-US" dirty="0"/>
          </a:p>
        </p:txBody>
      </p:sp>
      <p:sp>
        <p:nvSpPr>
          <p:cNvPr id="4" name="Text 2"/>
          <p:cNvSpPr/>
          <p:nvPr/>
        </p:nvSpPr>
        <p:spPr>
          <a:xfrm>
            <a:off x="460772" y="1006487"/>
            <a:ext cx="4036219" cy="3247616"/>
          </a:xfrm>
          <a:prstGeom prst="roundRect">
            <a:avLst>
              <a:gd name="adj" fmla="val 4106"/>
            </a:avLst>
          </a:prstGeom>
          <a:solidFill>
            <a:srgbClr val="0F172A"/>
          </a:solidFill>
          <a:ln w="7144">
            <a:solidFill>
              <a:srgbClr val="1E293B"/>
            </a:solidFill>
            <a:prstDash val="solid"/>
          </a:ln>
        </p:spPr>
        <p:txBody>
          <a:bodyPr wrap="square" rtlCol="0" anchor="ctr"/>
          <a:lstStyle/>
          <a:p>
            <a:pPr marL="0" indent="0">
              <a:buNone/>
            </a:pPr>
            <a:endParaRPr lang="en-US" dirty="0"/>
          </a:p>
        </p:txBody>
      </p:sp>
      <p:sp>
        <p:nvSpPr>
          <p:cNvPr id="5" name="Shape 3"/>
          <p:cNvSpPr/>
          <p:nvPr/>
        </p:nvSpPr>
        <p:spPr>
          <a:xfrm>
            <a:off x="592931" y="1299381"/>
            <a:ext cx="3771900" cy="0"/>
          </a:xfrm>
          <a:prstGeom prst="line">
            <a:avLst/>
          </a:prstGeom>
          <a:noFill/>
          <a:ln w="7144">
            <a:solidFill>
              <a:srgbClr val="334155"/>
            </a:solidFill>
            <a:prstDash val="solid"/>
          </a:ln>
        </p:spPr>
      </p:sp>
      <p:sp>
        <p:nvSpPr>
          <p:cNvPr id="6" name="Text 4"/>
          <p:cNvSpPr/>
          <p:nvPr/>
        </p:nvSpPr>
        <p:spPr>
          <a:xfrm>
            <a:off x="778669" y="1128601"/>
            <a:ext cx="3586163" cy="146304"/>
          </a:xfrm>
          <a:prstGeom prst="rect">
            <a:avLst/>
          </a:prstGeom>
          <a:noFill/>
          <a:ln/>
        </p:spPr>
        <p:txBody>
          <a:bodyPr wrap="square" lIns="0" tIns="0" rIns="0" bIns="42863" rtlCol="0" anchor="t"/>
          <a:lstStyle/>
          <a:p>
            <a:pPr marL="0" indent="0" algn="l">
              <a:lnSpc>
                <a:spcPts val="945"/>
              </a:lnSpc>
              <a:buNone/>
            </a:pPr>
            <a:r>
              <a:rPr lang="en-US" sz="675" b="1" kern="0" spc="68" dirty="0">
                <a:solidFill>
                  <a:srgbClr val="94A3B8"/>
                </a:solidFill>
                <a:latin typeface="Courier New" pitchFamily="34" charset="0"/>
                <a:ea typeface="Courier New" pitchFamily="34" charset="-122"/>
                <a:cs typeface="Courier New" pitchFamily="34" charset="-120"/>
              </a:rPr>
              <a:t>RAW LOG EXCERPT — 12,000 LINES TOTAL, SHOWING THE RELEVANT 40 LINES</a:t>
            </a:r>
            <a:endParaRPr lang="en-US" sz="675" dirty="0"/>
          </a:p>
        </p:txBody>
      </p:sp>
      <p:sp>
        <p:nvSpPr>
          <p:cNvPr id="7" name="Text 5"/>
          <p:cNvSpPr/>
          <p:nvPr/>
        </p:nvSpPr>
        <p:spPr>
          <a:xfrm>
            <a:off x="592931" y="1124359"/>
            <a:ext cx="128588" cy="128588"/>
          </a:xfrm>
          <a:prstGeom prst="rect">
            <a:avLst/>
          </a:prstGeom>
          <a:noFill/>
          <a:ln/>
        </p:spPr>
        <p:txBody>
          <a:bodyPr wrap="none" lIns="0" tIns="0" rIns="0" bIns="0" rtlCol="0" anchor="ctr"/>
          <a:lstStyle/>
          <a:p>
            <a:pPr marL="0" indent="0" algn="ctr">
              <a:buNone/>
            </a:pPr>
            <a:r>
              <a:rPr lang="en-US" sz="1266" dirty="0">
                <a:solidFill>
                  <a:srgbClr val="94A3B8"/>
                </a:solidFill>
                <a:latin typeface="Segoe UI Symbol" pitchFamily="34" charset="0"/>
                <a:ea typeface="Segoe UI Symbol" pitchFamily="34" charset="-122"/>
                <a:cs typeface="Segoe UI Symbol" pitchFamily="34" charset="-120"/>
              </a:rPr>
              <a:t>▤</a:t>
            </a:r>
            <a:endParaRPr lang="en-US" sz="1266" dirty="0"/>
          </a:p>
        </p:txBody>
      </p:sp>
      <p:sp>
        <p:nvSpPr>
          <p:cNvPr id="8" name="Text 6"/>
          <p:cNvSpPr/>
          <p:nvPr/>
        </p:nvSpPr>
        <p:spPr>
          <a:xfrm>
            <a:off x="592931" y="1374391"/>
            <a:ext cx="1404176" cy="107183"/>
          </a:xfrm>
          <a:prstGeom prst="rect">
            <a:avLst/>
          </a:prstGeom>
          <a:noFill/>
          <a:ln/>
        </p:spPr>
        <p:txBody>
          <a:bodyPr wrap="none" lIns="0" tIns="0" rIns="0" bIns="0" rtlCol="0" anchor="t">
            <a:normAutofit fontScale="25000" lnSpcReduction="20000"/>
          </a:bodyPr>
          <a:lstStyle/>
          <a:p>
            <a:pPr marL="0" indent="0" algn="l">
              <a:lnSpc>
                <a:spcPts val="1060"/>
              </a:lnSpc>
              <a:buNone/>
            </a:pPr>
            <a:r>
              <a:rPr lang="en-US" sz="731" dirty="0">
                <a:solidFill>
                  <a:srgbClr val="94A3B8"/>
                </a:solidFill>
                <a:latin typeface="Liberation Sans Narrow" pitchFamily="34" charset="0"/>
                <a:ea typeface="Liberation Sans Narrow" pitchFamily="34" charset="-122"/>
                <a:cs typeface="Liberation Sans Narrow" pitchFamily="34" charset="-120"/>
              </a:rPr>
              <a:t>[INFO] Building my-app 1.4.2</a:t>
            </a:r>
            <a:endParaRPr lang="en-US" sz="731" dirty="0"/>
          </a:p>
        </p:txBody>
      </p:sp>
      <p:sp>
        <p:nvSpPr>
          <p:cNvPr id="9" name="Text 7"/>
          <p:cNvSpPr/>
          <p:nvPr/>
        </p:nvSpPr>
        <p:spPr>
          <a:xfrm>
            <a:off x="592931" y="1509006"/>
            <a:ext cx="2182416" cy="107183"/>
          </a:xfrm>
          <a:prstGeom prst="rect">
            <a:avLst/>
          </a:prstGeom>
          <a:noFill/>
          <a:ln/>
        </p:spPr>
        <p:txBody>
          <a:bodyPr wrap="none" lIns="0" tIns="0" rIns="0" bIns="0" rtlCol="0" anchor="t">
            <a:normAutofit fontScale="25000" lnSpcReduction="20000"/>
          </a:bodyPr>
          <a:lstStyle/>
          <a:p>
            <a:pPr marL="0" indent="0" algn="l">
              <a:lnSpc>
                <a:spcPts val="1060"/>
              </a:lnSpc>
              <a:buNone/>
            </a:pPr>
            <a:r>
              <a:rPr lang="en-US" sz="731" dirty="0">
                <a:solidFill>
                  <a:srgbClr val="94A3B8"/>
                </a:solidFill>
                <a:latin typeface="Courier New" pitchFamily="34" charset="0"/>
                <a:ea typeface="Courier New" pitchFamily="34" charset="-122"/>
                <a:cs typeface="Courier New" pitchFamily="34" charset="-120"/>
              </a:rPr>
              <a:t>[INFO] --- maven-compiler-plugin:3.11.0:compile</a:t>
            </a:r>
            <a:endParaRPr lang="en-US" sz="731" dirty="0"/>
          </a:p>
        </p:txBody>
      </p:sp>
      <p:sp>
        <p:nvSpPr>
          <p:cNvPr id="10" name="Text 8"/>
          <p:cNvSpPr/>
          <p:nvPr/>
        </p:nvSpPr>
        <p:spPr>
          <a:xfrm>
            <a:off x="592931" y="1643621"/>
            <a:ext cx="1654921" cy="107183"/>
          </a:xfrm>
          <a:prstGeom prst="rect">
            <a:avLst/>
          </a:prstGeom>
          <a:noFill/>
          <a:ln/>
        </p:spPr>
        <p:txBody>
          <a:bodyPr wrap="none" lIns="0" tIns="0" rIns="0" bIns="0" rtlCol="0" anchor="t">
            <a:normAutofit fontScale="25000" lnSpcReduction="20000"/>
          </a:bodyPr>
          <a:lstStyle/>
          <a:p>
            <a:pPr marL="0" indent="0" algn="l">
              <a:lnSpc>
                <a:spcPts val="1060"/>
              </a:lnSpc>
              <a:buNone/>
            </a:pPr>
            <a:r>
              <a:rPr lang="en-US" sz="731" dirty="0">
                <a:solidFill>
                  <a:srgbClr val="94A3B8"/>
                </a:solidFill>
                <a:latin typeface="Liberation Sans Narrow" pitchFamily="34" charset="0"/>
                <a:ea typeface="Liberation Sans Narrow" pitchFamily="34" charset="-122"/>
                <a:cs typeface="Liberation Sans Narrow" pitchFamily="34" charset="-120"/>
              </a:rPr>
              <a:t>[INFO] Compiling 247 source files</a:t>
            </a:r>
            <a:endParaRPr lang="en-US" sz="731" dirty="0"/>
          </a:p>
        </p:txBody>
      </p:sp>
      <p:sp>
        <p:nvSpPr>
          <p:cNvPr id="11" name="Text 9"/>
          <p:cNvSpPr/>
          <p:nvPr/>
        </p:nvSpPr>
        <p:spPr>
          <a:xfrm>
            <a:off x="592931" y="1778236"/>
            <a:ext cx="3771900" cy="107183"/>
          </a:xfrm>
          <a:prstGeom prst="rect">
            <a:avLst/>
          </a:prstGeom>
          <a:noFill/>
          <a:ln/>
        </p:spPr>
        <p:txBody>
          <a:bodyPr wrap="none" lIns="0" tIns="0" rIns="0" bIns="0" rtlCol="0" anchor="t">
            <a:normAutofit fontScale="25000" lnSpcReduction="20000"/>
          </a:bodyPr>
          <a:lstStyle/>
          <a:p>
            <a:pPr marL="0" indent="0" algn="l">
              <a:lnSpc>
                <a:spcPts val="1060"/>
              </a:lnSpc>
              <a:buNone/>
            </a:pPr>
            <a:r>
              <a:rPr lang="en-US" sz="731" b="1" dirty="0">
                <a:solidFill>
                  <a:srgbClr val="FCA5A5"/>
                </a:solidFill>
                <a:latin typeface="Courier New" pitchFamily="34" charset="0"/>
                <a:ea typeface="Courier New" pitchFamily="34" charset="-122"/>
                <a:cs typeface="Courier New" pitchFamily="34" charset="-120"/>
              </a:rPr>
              <a:t>[ERROR] /home/runner/work/my-app/src/main/java/com/example/UserService.java:[42,17] error: cannot find symbol</a:t>
            </a:r>
            <a:endParaRPr lang="en-US" sz="731" dirty="0"/>
          </a:p>
        </p:txBody>
      </p:sp>
      <p:sp>
        <p:nvSpPr>
          <p:cNvPr id="12" name="Text 10"/>
          <p:cNvSpPr/>
          <p:nvPr/>
        </p:nvSpPr>
        <p:spPr>
          <a:xfrm>
            <a:off x="592931" y="1912851"/>
            <a:ext cx="1755219" cy="107183"/>
          </a:xfrm>
          <a:prstGeom prst="rect">
            <a:avLst/>
          </a:prstGeom>
          <a:noFill/>
          <a:ln/>
        </p:spPr>
        <p:txBody>
          <a:bodyPr wrap="none" lIns="0" tIns="0" rIns="0" bIns="0" rtlCol="0" anchor="t">
            <a:normAutofit fontScale="25000" lnSpcReduction="20000"/>
          </a:bodyPr>
          <a:lstStyle/>
          <a:p>
            <a:pPr marL="0" indent="0" algn="l">
              <a:lnSpc>
                <a:spcPts val="1060"/>
              </a:lnSpc>
              <a:buNone/>
            </a:pPr>
            <a:r>
              <a:rPr lang="en-US" sz="731" b="1" dirty="0">
                <a:solidFill>
                  <a:srgbClr val="FCA5A5"/>
                </a:solidFill>
                <a:latin typeface="Courier New" pitchFamily="34" charset="0"/>
                <a:ea typeface="Courier New" pitchFamily="34" charset="-122"/>
                <a:cs typeface="Courier New" pitchFamily="34" charset="-120"/>
              </a:rPr>
              <a:t>[ERROR]   symbol:   variable userId</a:t>
            </a:r>
            <a:endParaRPr lang="en-US" sz="731" dirty="0"/>
          </a:p>
        </p:txBody>
      </p:sp>
      <p:sp>
        <p:nvSpPr>
          <p:cNvPr id="13" name="Text 11"/>
          <p:cNvSpPr/>
          <p:nvPr/>
        </p:nvSpPr>
        <p:spPr>
          <a:xfrm>
            <a:off x="592931" y="2047466"/>
            <a:ext cx="2275284" cy="107183"/>
          </a:xfrm>
          <a:prstGeom prst="rect">
            <a:avLst/>
          </a:prstGeom>
          <a:noFill/>
          <a:ln/>
        </p:spPr>
        <p:txBody>
          <a:bodyPr wrap="none" lIns="0" tIns="0" rIns="0" bIns="0" rtlCol="0" anchor="t">
            <a:normAutofit fontScale="25000" lnSpcReduction="20000"/>
          </a:bodyPr>
          <a:lstStyle/>
          <a:p>
            <a:pPr marL="0" indent="0" algn="l">
              <a:lnSpc>
                <a:spcPts val="1060"/>
              </a:lnSpc>
              <a:buNone/>
            </a:pPr>
            <a:r>
              <a:rPr lang="en-US" sz="731" b="1" dirty="0">
                <a:solidFill>
                  <a:srgbClr val="FCA5A5"/>
                </a:solidFill>
                <a:latin typeface="Courier New" pitchFamily="34" charset="0"/>
                <a:ea typeface="Courier New" pitchFamily="34" charset="-122"/>
                <a:cs typeface="Courier New" pitchFamily="34" charset="-120"/>
              </a:rPr>
              <a:t>[ERROR]   location: class com.example.UserService</a:t>
            </a:r>
            <a:endParaRPr lang="en-US" sz="731" dirty="0"/>
          </a:p>
        </p:txBody>
      </p:sp>
      <p:sp>
        <p:nvSpPr>
          <p:cNvPr id="14" name="Text 12"/>
          <p:cNvSpPr/>
          <p:nvPr/>
        </p:nvSpPr>
        <p:spPr>
          <a:xfrm>
            <a:off x="592931" y="2182081"/>
            <a:ext cx="3771900" cy="107183"/>
          </a:xfrm>
          <a:prstGeom prst="rect">
            <a:avLst/>
          </a:prstGeom>
          <a:noFill/>
          <a:ln/>
        </p:spPr>
        <p:txBody>
          <a:bodyPr wrap="none" lIns="0" tIns="0" rIns="0" bIns="0" rtlCol="0" anchor="t">
            <a:normAutofit fontScale="25000" lnSpcReduction="20000"/>
          </a:bodyPr>
          <a:lstStyle/>
          <a:p>
            <a:pPr marL="0" indent="0" algn="l">
              <a:lnSpc>
                <a:spcPts val="1060"/>
              </a:lnSpc>
              <a:buNone/>
            </a:pPr>
            <a:r>
              <a:rPr lang="en-US" sz="731" b="1" dirty="0">
                <a:solidFill>
                  <a:srgbClr val="FCA5A5"/>
                </a:solidFill>
                <a:latin typeface="Courier New" pitchFamily="34" charset="0"/>
                <a:ea typeface="Courier New" pitchFamily="34" charset="-122"/>
                <a:cs typeface="Courier New" pitchFamily="34" charset="-120"/>
              </a:rPr>
              <a:t>[ERROR] /home/runner/work/my-app/src/main/java/com/example/UserService.java:[43,5] error: cannot find symbol</a:t>
            </a:r>
            <a:endParaRPr lang="en-US" sz="731" dirty="0"/>
          </a:p>
        </p:txBody>
      </p:sp>
      <p:sp>
        <p:nvSpPr>
          <p:cNvPr id="15" name="Text 13"/>
          <p:cNvSpPr/>
          <p:nvPr/>
        </p:nvSpPr>
        <p:spPr>
          <a:xfrm>
            <a:off x="592931" y="2316696"/>
            <a:ext cx="2156412" cy="107183"/>
          </a:xfrm>
          <a:prstGeom prst="rect">
            <a:avLst/>
          </a:prstGeom>
          <a:noFill/>
          <a:ln/>
        </p:spPr>
        <p:txBody>
          <a:bodyPr wrap="none" lIns="0" tIns="0" rIns="0" bIns="0" rtlCol="0" anchor="t">
            <a:normAutofit fontScale="25000" lnSpcReduction="20000"/>
          </a:bodyPr>
          <a:lstStyle/>
          <a:p>
            <a:pPr marL="0" indent="0" algn="l">
              <a:lnSpc>
                <a:spcPts val="1060"/>
              </a:lnSpc>
              <a:buNone/>
            </a:pPr>
            <a:r>
              <a:rPr lang="en-US" sz="731" b="1" dirty="0">
                <a:solidFill>
                  <a:srgbClr val="FCA5A5"/>
                </a:solidFill>
                <a:latin typeface="Courier New" pitchFamily="34" charset="0"/>
                <a:ea typeface="Courier New" pitchFamily="34" charset="-122"/>
                <a:cs typeface="Courier New" pitchFamily="34" charset="-120"/>
              </a:rPr>
              <a:t>[ERROR]   symbol:   method getUserById(int)</a:t>
            </a:r>
            <a:endParaRPr lang="en-US" sz="731" dirty="0"/>
          </a:p>
        </p:txBody>
      </p:sp>
      <p:sp>
        <p:nvSpPr>
          <p:cNvPr id="16" name="Text 14"/>
          <p:cNvSpPr/>
          <p:nvPr/>
        </p:nvSpPr>
        <p:spPr>
          <a:xfrm>
            <a:off x="592931" y="2451311"/>
            <a:ext cx="2275284" cy="107183"/>
          </a:xfrm>
          <a:prstGeom prst="rect">
            <a:avLst/>
          </a:prstGeom>
          <a:noFill/>
          <a:ln/>
        </p:spPr>
        <p:txBody>
          <a:bodyPr wrap="none" lIns="0" tIns="0" rIns="0" bIns="0" rtlCol="0" anchor="t">
            <a:normAutofit fontScale="25000" lnSpcReduction="20000"/>
          </a:bodyPr>
          <a:lstStyle/>
          <a:p>
            <a:pPr marL="0" indent="0" algn="l">
              <a:lnSpc>
                <a:spcPts val="1060"/>
              </a:lnSpc>
              <a:buNone/>
            </a:pPr>
            <a:r>
              <a:rPr lang="en-US" sz="731" b="1" dirty="0">
                <a:solidFill>
                  <a:srgbClr val="FCA5A5"/>
                </a:solidFill>
                <a:latin typeface="Courier New" pitchFamily="34" charset="0"/>
                <a:ea typeface="Courier New" pitchFamily="34" charset="-122"/>
                <a:cs typeface="Courier New" pitchFamily="34" charset="-120"/>
              </a:rPr>
              <a:t>[ERROR]   location: class com.example.UserService</a:t>
            </a:r>
            <a:endParaRPr lang="en-US" sz="731" dirty="0"/>
          </a:p>
        </p:txBody>
      </p:sp>
      <p:sp>
        <p:nvSpPr>
          <p:cNvPr id="17" name="Text 15"/>
          <p:cNvSpPr/>
          <p:nvPr/>
        </p:nvSpPr>
        <p:spPr>
          <a:xfrm>
            <a:off x="592931" y="2585926"/>
            <a:ext cx="3157538" cy="107183"/>
          </a:xfrm>
          <a:prstGeom prst="rect">
            <a:avLst/>
          </a:prstGeom>
          <a:noFill/>
          <a:ln/>
        </p:spPr>
        <p:txBody>
          <a:bodyPr wrap="none" lIns="0" tIns="0" rIns="0" bIns="0" rtlCol="0" anchor="t">
            <a:normAutofit fontScale="25000" lnSpcReduction="20000"/>
          </a:bodyPr>
          <a:lstStyle/>
          <a:p>
            <a:pPr marL="0" indent="0" algn="l">
              <a:lnSpc>
                <a:spcPts val="1060"/>
              </a:lnSpc>
              <a:buNone/>
            </a:pPr>
            <a:r>
              <a:rPr lang="en-US" sz="731" dirty="0">
                <a:solidFill>
                  <a:srgbClr val="94A3B8"/>
                </a:solidFill>
                <a:latin typeface="Courier New" pitchFamily="34" charset="0"/>
                <a:ea typeface="Courier New" pitchFamily="34" charset="-122"/>
                <a:cs typeface="Courier New" pitchFamily="34" charset="-120"/>
              </a:rPr>
              <a:t>[INFO] -------------------------------------------------------------</a:t>
            </a:r>
            <a:endParaRPr lang="en-US" sz="731" dirty="0"/>
          </a:p>
        </p:txBody>
      </p:sp>
      <p:sp>
        <p:nvSpPr>
          <p:cNvPr id="18" name="Text 16"/>
          <p:cNvSpPr/>
          <p:nvPr/>
        </p:nvSpPr>
        <p:spPr>
          <a:xfrm>
            <a:off x="592931" y="2720541"/>
            <a:ext cx="1218902" cy="107183"/>
          </a:xfrm>
          <a:prstGeom prst="rect">
            <a:avLst/>
          </a:prstGeom>
          <a:noFill/>
          <a:ln/>
        </p:spPr>
        <p:txBody>
          <a:bodyPr wrap="none" lIns="0" tIns="0" rIns="0" bIns="0" rtlCol="0" anchor="t">
            <a:normAutofit fontScale="25000" lnSpcReduction="20000"/>
          </a:bodyPr>
          <a:lstStyle/>
          <a:p>
            <a:pPr marL="0" indent="0" algn="l">
              <a:lnSpc>
                <a:spcPts val="1060"/>
              </a:lnSpc>
              <a:buNone/>
            </a:pPr>
            <a:r>
              <a:rPr lang="en-US" sz="731" b="1" dirty="0">
                <a:solidFill>
                  <a:srgbClr val="FCA5A5"/>
                </a:solidFill>
                <a:latin typeface="Courier New" pitchFamily="34" charset="0"/>
                <a:ea typeface="Courier New" pitchFamily="34" charset="-122"/>
                <a:cs typeface="Courier New" pitchFamily="34" charset="-120"/>
              </a:rPr>
              <a:t>[ERROR] BUILD FAILURE</a:t>
            </a:r>
            <a:endParaRPr lang="en-US" sz="731" dirty="0"/>
          </a:p>
        </p:txBody>
      </p:sp>
      <p:sp>
        <p:nvSpPr>
          <p:cNvPr id="19" name="Text 17"/>
          <p:cNvSpPr/>
          <p:nvPr/>
        </p:nvSpPr>
        <p:spPr>
          <a:xfrm>
            <a:off x="592931" y="2855156"/>
            <a:ext cx="3157538" cy="107183"/>
          </a:xfrm>
          <a:prstGeom prst="rect">
            <a:avLst/>
          </a:prstGeom>
          <a:noFill/>
          <a:ln/>
        </p:spPr>
        <p:txBody>
          <a:bodyPr wrap="none" lIns="0" tIns="0" rIns="0" bIns="0" rtlCol="0" anchor="t">
            <a:normAutofit fontScale="25000" lnSpcReduction="20000"/>
          </a:bodyPr>
          <a:lstStyle/>
          <a:p>
            <a:pPr marL="0" indent="0" algn="l">
              <a:lnSpc>
                <a:spcPts val="1060"/>
              </a:lnSpc>
              <a:buNone/>
            </a:pPr>
            <a:r>
              <a:rPr lang="en-US" sz="731" dirty="0">
                <a:solidFill>
                  <a:srgbClr val="94A3B8"/>
                </a:solidFill>
                <a:latin typeface="Courier New" pitchFamily="34" charset="0"/>
                <a:ea typeface="Courier New" pitchFamily="34" charset="-122"/>
                <a:cs typeface="Courier New" pitchFamily="34" charset="-120"/>
              </a:rPr>
              <a:t>[INFO] -------------------------------------------------------------</a:t>
            </a:r>
            <a:endParaRPr lang="en-US" sz="731" dirty="0"/>
          </a:p>
        </p:txBody>
      </p:sp>
      <p:sp>
        <p:nvSpPr>
          <p:cNvPr id="20" name="Text 18"/>
          <p:cNvSpPr/>
          <p:nvPr/>
        </p:nvSpPr>
        <p:spPr>
          <a:xfrm>
            <a:off x="592931" y="2989771"/>
            <a:ext cx="1454325" cy="107183"/>
          </a:xfrm>
          <a:prstGeom prst="rect">
            <a:avLst/>
          </a:prstGeom>
          <a:noFill/>
          <a:ln/>
        </p:spPr>
        <p:txBody>
          <a:bodyPr wrap="none" lIns="0" tIns="0" rIns="0" bIns="0" rtlCol="0" anchor="t">
            <a:normAutofit fontScale="25000" lnSpcReduction="20000"/>
          </a:bodyPr>
          <a:lstStyle/>
          <a:p>
            <a:pPr marL="0" indent="0" algn="l">
              <a:lnSpc>
                <a:spcPts val="1060"/>
              </a:lnSpc>
              <a:buNone/>
            </a:pPr>
            <a:r>
              <a:rPr lang="en-US" sz="731" dirty="0">
                <a:solidFill>
                  <a:srgbClr val="94A3B8"/>
                </a:solidFill>
                <a:latin typeface="Liberation Sans Narrow" pitchFamily="34" charset="0"/>
                <a:ea typeface="Liberation Sans Narrow" pitchFamily="34" charset="-122"/>
                <a:cs typeface="Liberation Sans Narrow" pitchFamily="34" charset="-120"/>
              </a:rPr>
              <a:t>[INFO] Total time:  03:24 min</a:t>
            </a:r>
            <a:endParaRPr lang="en-US" sz="731" dirty="0"/>
          </a:p>
        </p:txBody>
      </p:sp>
      <p:sp>
        <p:nvSpPr>
          <p:cNvPr id="21" name="Text 19"/>
          <p:cNvSpPr/>
          <p:nvPr/>
        </p:nvSpPr>
        <p:spPr>
          <a:xfrm>
            <a:off x="592931" y="3124386"/>
            <a:ext cx="2005965" cy="143490"/>
          </a:xfrm>
          <a:prstGeom prst="rect">
            <a:avLst/>
          </a:prstGeom>
          <a:noFill/>
          <a:ln/>
        </p:spPr>
        <p:txBody>
          <a:bodyPr wrap="none" lIns="0" tIns="0" rIns="0" bIns="0" rtlCol="0" anchor="t"/>
          <a:lstStyle/>
          <a:p>
            <a:pPr marL="0" indent="0" algn="l">
              <a:lnSpc>
                <a:spcPts val="1060"/>
              </a:lnSpc>
              <a:buNone/>
            </a:pPr>
            <a:r>
              <a:rPr lang="en-US" sz="731" dirty="0">
                <a:solidFill>
                  <a:srgbClr val="94A3B8"/>
                </a:solidFill>
                <a:latin typeface="Courier New" pitchFamily="34" charset="0"/>
                <a:ea typeface="Courier New" pitchFamily="34" charset="-122"/>
                <a:cs typeface="Courier New" pitchFamily="34" charset="-120"/>
              </a:rPr>
              <a:t>[INFO] Finished at: 2026-10-12T14:23:11Z</a:t>
            </a:r>
            <a:endParaRPr lang="en-US" sz="731" dirty="0"/>
          </a:p>
        </p:txBody>
      </p:sp>
      <p:sp>
        <p:nvSpPr>
          <p:cNvPr id="22" name="Text 20"/>
          <p:cNvSpPr/>
          <p:nvPr/>
        </p:nvSpPr>
        <p:spPr>
          <a:xfrm>
            <a:off x="4650581" y="1010059"/>
            <a:ext cx="4029075" cy="3240472"/>
          </a:xfrm>
          <a:prstGeom prst="roundRect">
            <a:avLst>
              <a:gd name="adj" fmla="val 4115"/>
            </a:avLst>
          </a:prstGeom>
          <a:solidFill>
            <a:srgbClr val="FFF7ED"/>
          </a:solidFill>
          <a:ln w="14288">
            <a:solidFill>
              <a:srgbClr val="F97316"/>
            </a:solidFill>
            <a:prstDash val="solid"/>
          </a:ln>
        </p:spPr>
        <p:txBody>
          <a:bodyPr wrap="square" rtlCol="0" anchor="ctr"/>
          <a:lstStyle/>
          <a:p>
            <a:pPr marL="0" indent="0">
              <a:buNone/>
            </a:pPr>
            <a:endParaRPr lang="en-US" dirty="0"/>
          </a:p>
        </p:txBody>
      </p:sp>
      <p:sp>
        <p:nvSpPr>
          <p:cNvPr id="23" name="Shape 21"/>
          <p:cNvSpPr/>
          <p:nvPr/>
        </p:nvSpPr>
        <p:spPr>
          <a:xfrm>
            <a:off x="4786313" y="1326505"/>
            <a:ext cx="3757613" cy="0"/>
          </a:xfrm>
          <a:prstGeom prst="line">
            <a:avLst/>
          </a:prstGeom>
          <a:noFill/>
          <a:ln w="7144">
            <a:solidFill>
              <a:srgbClr val="FED7AA"/>
            </a:solidFill>
            <a:prstDash val="solid"/>
          </a:ln>
        </p:spPr>
      </p:sp>
      <p:sp>
        <p:nvSpPr>
          <p:cNvPr id="24" name="Text 22"/>
          <p:cNvSpPr/>
          <p:nvPr/>
        </p:nvSpPr>
        <p:spPr>
          <a:xfrm>
            <a:off x="5595007" y="1131503"/>
            <a:ext cx="474390" cy="148568"/>
          </a:xfrm>
          <a:prstGeom prst="roundRect">
            <a:avLst>
              <a:gd name="adj" fmla="val 25645"/>
            </a:avLst>
          </a:prstGeom>
          <a:solidFill>
            <a:srgbClr val="F97316"/>
          </a:solidFill>
          <a:ln/>
        </p:spPr>
        <p:txBody>
          <a:bodyPr wrap="square" rtlCol="0" anchor="ctr"/>
          <a:lstStyle/>
          <a:p>
            <a:pPr marL="0" indent="0">
              <a:buNone/>
            </a:pPr>
            <a:endParaRPr lang="en-US" dirty="0"/>
          </a:p>
        </p:txBody>
      </p:sp>
      <p:sp>
        <p:nvSpPr>
          <p:cNvPr id="25" name="Text 23"/>
          <p:cNvSpPr/>
          <p:nvPr/>
        </p:nvSpPr>
        <p:spPr>
          <a:xfrm>
            <a:off x="4943332" y="1145791"/>
            <a:ext cx="812434" cy="146304"/>
          </a:xfrm>
          <a:prstGeom prst="rect">
            <a:avLst/>
          </a:prstGeom>
          <a:noFill/>
          <a:ln/>
        </p:spPr>
        <p:txBody>
          <a:bodyPr wrap="none" lIns="0" tIns="0" rIns="0" bIns="42863" rtlCol="0" anchor="t"/>
          <a:lstStyle/>
          <a:p>
            <a:pPr marL="0" indent="0" algn="l">
              <a:lnSpc>
                <a:spcPts val="945"/>
              </a:lnSpc>
              <a:buNone/>
            </a:pPr>
            <a:r>
              <a:rPr lang="en-US" sz="800" b="1" kern="0" spc="68" dirty="0">
                <a:solidFill>
                  <a:srgbClr val="C2410C"/>
                </a:solidFill>
                <a:latin typeface="Courier New" pitchFamily="34" charset="0"/>
                <a:ea typeface="Courier New" pitchFamily="34" charset="-122"/>
                <a:cs typeface="Courier New" pitchFamily="34" charset="-120"/>
              </a:rPr>
              <a:t>LLM SUMMARY</a:t>
            </a:r>
            <a:endParaRPr lang="en-US" sz="800" dirty="0"/>
          </a:p>
        </p:txBody>
      </p:sp>
      <p:sp>
        <p:nvSpPr>
          <p:cNvPr id="26" name="Text 24"/>
          <p:cNvSpPr/>
          <p:nvPr/>
        </p:nvSpPr>
        <p:spPr>
          <a:xfrm>
            <a:off x="4786313" y="1141437"/>
            <a:ext cx="128588" cy="128588"/>
          </a:xfrm>
          <a:prstGeom prst="rect">
            <a:avLst/>
          </a:prstGeom>
          <a:noFill/>
          <a:ln/>
        </p:spPr>
        <p:txBody>
          <a:bodyPr wrap="none" lIns="0" tIns="0" rIns="0" bIns="0" rtlCol="0" anchor="ctr"/>
          <a:lstStyle/>
          <a:p>
            <a:pPr marL="0" indent="0" algn="ctr">
              <a:buNone/>
            </a:pPr>
            <a:r>
              <a:rPr lang="en-US" sz="1266" dirty="0">
                <a:solidFill>
                  <a:srgbClr val="C2410C"/>
                </a:solidFill>
                <a:latin typeface="Segoe UI Symbol" pitchFamily="34" charset="0"/>
                <a:ea typeface="Segoe UI Symbol" pitchFamily="34" charset="-122"/>
                <a:cs typeface="Segoe UI Symbol" pitchFamily="34" charset="-120"/>
              </a:rPr>
              <a:t>✦</a:t>
            </a:r>
            <a:endParaRPr lang="en-US" sz="1266" dirty="0"/>
          </a:p>
        </p:txBody>
      </p:sp>
      <p:sp>
        <p:nvSpPr>
          <p:cNvPr id="27" name="Text 25"/>
          <p:cNvSpPr/>
          <p:nvPr/>
        </p:nvSpPr>
        <p:spPr>
          <a:xfrm>
            <a:off x="5576032" y="1122589"/>
            <a:ext cx="512341" cy="166396"/>
          </a:xfrm>
          <a:prstGeom prst="roundRect">
            <a:avLst>
              <a:gd name="adj" fmla="val 22897"/>
            </a:avLst>
          </a:prstGeom>
          <a:solidFill>
            <a:srgbClr val="F97316"/>
          </a:solidFill>
          <a:ln/>
        </p:spPr>
        <p:txBody>
          <a:bodyPr wrap="square" rtlCol="0" anchor="ctr"/>
          <a:lstStyle/>
          <a:p>
            <a:pPr marL="0" indent="0">
              <a:buNone/>
            </a:pPr>
            <a:endParaRPr lang="en-US" dirty="0"/>
          </a:p>
        </p:txBody>
      </p:sp>
      <p:sp>
        <p:nvSpPr>
          <p:cNvPr id="28" name="Text 26"/>
          <p:cNvSpPr/>
          <p:nvPr/>
        </p:nvSpPr>
        <p:spPr>
          <a:xfrm>
            <a:off x="5574646" y="1131503"/>
            <a:ext cx="515112" cy="148568"/>
          </a:xfrm>
          <a:prstGeom prst="rect">
            <a:avLst/>
          </a:prstGeom>
          <a:noFill/>
          <a:ln/>
        </p:spPr>
        <p:txBody>
          <a:bodyPr wrap="none" lIns="0" tIns="0" rIns="0" bIns="0" rtlCol="0" anchor="ctr"/>
          <a:lstStyle/>
          <a:p>
            <a:pPr marL="0" indent="0" algn="ctr">
              <a:lnSpc>
                <a:spcPts val="945"/>
              </a:lnSpc>
              <a:buNone/>
            </a:pPr>
            <a:r>
              <a:rPr lang="en-US" sz="800" b="1" kern="0" spc="68" dirty="0">
                <a:solidFill>
                  <a:srgbClr val="FFFFFF"/>
                </a:solidFill>
                <a:latin typeface="Liberation Sans Narrow" pitchFamily="34" charset="0"/>
                <a:ea typeface="Liberation Sans Narrow" pitchFamily="34" charset="-122"/>
                <a:cs typeface="Liberation Sans Narrow" pitchFamily="34" charset="-120"/>
              </a:rPr>
              <a:t>4 LINES</a:t>
            </a:r>
            <a:endParaRPr lang="en-US" sz="800" dirty="0"/>
          </a:p>
        </p:txBody>
      </p:sp>
      <p:sp>
        <p:nvSpPr>
          <p:cNvPr id="29" name="Shape 27"/>
          <p:cNvSpPr/>
          <p:nvPr/>
        </p:nvSpPr>
        <p:spPr>
          <a:xfrm>
            <a:off x="4786313" y="2059298"/>
            <a:ext cx="3757613" cy="0"/>
          </a:xfrm>
          <a:prstGeom prst="line">
            <a:avLst/>
          </a:prstGeom>
          <a:noFill/>
          <a:ln w="7144">
            <a:solidFill>
              <a:srgbClr val="CBD5E1"/>
            </a:solidFill>
            <a:prstDash val="dash"/>
          </a:ln>
        </p:spPr>
      </p:sp>
      <p:sp>
        <p:nvSpPr>
          <p:cNvPr id="30" name="Text 28"/>
          <p:cNvSpPr/>
          <p:nvPr/>
        </p:nvSpPr>
        <p:spPr>
          <a:xfrm>
            <a:off x="4786313" y="1444377"/>
            <a:ext cx="3757613" cy="96802"/>
          </a:xfrm>
          <a:prstGeom prst="rect">
            <a:avLst/>
          </a:prstGeom>
          <a:noFill/>
          <a:ln/>
        </p:spPr>
        <p:txBody>
          <a:bodyPr wrap="none" lIns="0" tIns="0" rIns="0" bIns="0" rtlCol="0" anchor="t">
            <a:normAutofit fontScale="25000" lnSpcReduction="20000"/>
          </a:bodyPr>
          <a:lstStyle/>
          <a:p>
            <a:pPr marL="0" indent="0" algn="l">
              <a:lnSpc>
                <a:spcPts val="866"/>
              </a:lnSpc>
              <a:buNone/>
            </a:pPr>
            <a:r>
              <a:rPr lang="en-US" sz="800" b="1" kern="0" spc="56" dirty="0">
                <a:solidFill>
                  <a:srgbClr val="C2410C"/>
                </a:solidFill>
                <a:latin typeface="Courier New" pitchFamily="34" charset="0"/>
                <a:ea typeface="Courier New" pitchFamily="34" charset="-122"/>
                <a:cs typeface="Courier New" pitchFamily="34" charset="-120"/>
              </a:rPr>
              <a:t>ROOT CAUSE</a:t>
            </a:r>
            <a:endParaRPr lang="en-US" sz="800" dirty="0"/>
          </a:p>
        </p:txBody>
      </p:sp>
      <p:sp>
        <p:nvSpPr>
          <p:cNvPr id="31" name="Text 29"/>
          <p:cNvSpPr/>
          <p:nvPr/>
        </p:nvSpPr>
        <p:spPr>
          <a:xfrm>
            <a:off x="4786313" y="1568611"/>
            <a:ext cx="3707718" cy="444252"/>
          </a:xfrm>
          <a:prstGeom prst="rect">
            <a:avLst/>
          </a:prstGeom>
          <a:noFill/>
          <a:ln/>
        </p:spPr>
        <p:txBody>
          <a:bodyPr wrap="square" lIns="0" tIns="0" rIns="0" bIns="0" rtlCol="0" anchor="t"/>
          <a:lstStyle/>
          <a:p>
            <a:pPr marL="0" indent="0" algn="l">
              <a:lnSpc>
                <a:spcPts val="1103"/>
              </a:lnSpc>
              <a:buNone/>
            </a:pPr>
            <a:r>
              <a:rPr lang="en-US" sz="800" dirty="0">
                <a:solidFill>
                  <a:srgbClr val="0F172A"/>
                </a:solidFill>
                <a:latin typeface="Carlito" pitchFamily="34" charset="0"/>
                <a:ea typeface="Carlito" pitchFamily="34" charset="-122"/>
                <a:cs typeface="Carlito" pitchFamily="34" charset="-120"/>
              </a:rPr>
              <a:t>The build failed because </a:t>
            </a:r>
            <a:r>
              <a:rPr lang="en-US" sz="800" b="1" dirty="0">
                <a:solidFill>
                  <a:srgbClr val="0F172A"/>
                </a:solidFill>
                <a:latin typeface="Carlito" pitchFamily="34" charset="0"/>
                <a:ea typeface="Carlito" pitchFamily="34" charset="-122"/>
                <a:cs typeface="Carlito" pitchFamily="34" charset="-120"/>
              </a:rPr>
              <a:t>UserService.java</a:t>
            </a:r>
            <a:r>
              <a:rPr lang="en-US" sz="800" dirty="0">
                <a:solidFill>
                  <a:srgbClr val="0F172A"/>
                </a:solidFill>
                <a:latin typeface="Carlito" pitchFamily="34" charset="0"/>
                <a:ea typeface="Carlito" pitchFamily="34" charset="-122"/>
                <a:cs typeface="Carlito" pitchFamily="34" charset="-120"/>
              </a:rPr>
              <a:t> references a variable </a:t>
            </a:r>
            <a:r>
              <a:rPr lang="en-US" sz="800" dirty="0">
                <a:solidFill>
                  <a:srgbClr val="0F172A"/>
                </a:solidFill>
                <a:latin typeface="Courier New" pitchFamily="34" charset="0"/>
                <a:ea typeface="Courier New" pitchFamily="34" charset="-122"/>
                <a:cs typeface="Courier New" pitchFamily="34" charset="-120"/>
              </a:rPr>
              <a:t>userId</a:t>
            </a:r>
            <a:r>
              <a:rPr lang="en-US" sz="800" dirty="0">
                <a:solidFill>
                  <a:srgbClr val="0F172A"/>
                </a:solidFill>
                <a:latin typeface="Carlito" pitchFamily="34" charset="0"/>
                <a:ea typeface="Carlito" pitchFamily="34" charset="-122"/>
                <a:cs typeface="Carlito" pitchFamily="34" charset="-120"/>
              </a:rPr>
              <a:t> and method </a:t>
            </a:r>
            <a:r>
              <a:rPr lang="en-US" sz="800" dirty="0">
                <a:solidFill>
                  <a:srgbClr val="0F172A"/>
                </a:solidFill>
                <a:latin typeface="Courier New" pitchFamily="34" charset="0"/>
                <a:ea typeface="Courier New" pitchFamily="34" charset="-122"/>
                <a:cs typeface="Courier New" pitchFamily="34" charset="-120"/>
              </a:rPr>
              <a:t>getUserById(int)</a:t>
            </a:r>
            <a:r>
              <a:rPr lang="en-US" sz="800" dirty="0">
                <a:solidFill>
                  <a:srgbClr val="0F172A"/>
                </a:solidFill>
                <a:latin typeface="Carlito" pitchFamily="34" charset="0"/>
                <a:ea typeface="Carlito" pitchFamily="34" charset="-122"/>
                <a:cs typeface="Carlito" pitchFamily="34" charset="-120"/>
              </a:rPr>
              <a:t> that do not exist in scope — likely the User class import was removed in this commit.</a:t>
            </a:r>
            <a:endParaRPr lang="en-US" sz="800" dirty="0"/>
          </a:p>
        </p:txBody>
      </p:sp>
      <p:sp>
        <p:nvSpPr>
          <p:cNvPr id="32" name="Shape 30"/>
          <p:cNvSpPr/>
          <p:nvPr/>
        </p:nvSpPr>
        <p:spPr>
          <a:xfrm>
            <a:off x="4786313" y="2483569"/>
            <a:ext cx="3757613" cy="0"/>
          </a:xfrm>
          <a:prstGeom prst="line">
            <a:avLst/>
          </a:prstGeom>
          <a:noFill/>
          <a:ln w="7144">
            <a:solidFill>
              <a:srgbClr val="CBD5E1"/>
            </a:solidFill>
            <a:prstDash val="dash"/>
          </a:ln>
        </p:spPr>
      </p:sp>
      <p:sp>
        <p:nvSpPr>
          <p:cNvPr id="33" name="Text 31"/>
          <p:cNvSpPr/>
          <p:nvPr/>
        </p:nvSpPr>
        <p:spPr>
          <a:xfrm>
            <a:off x="4786313" y="2177169"/>
            <a:ext cx="3757613" cy="96802"/>
          </a:xfrm>
          <a:prstGeom prst="rect">
            <a:avLst/>
          </a:prstGeom>
          <a:noFill/>
          <a:ln/>
        </p:spPr>
        <p:txBody>
          <a:bodyPr wrap="none" lIns="0" tIns="0" rIns="0" bIns="0" rtlCol="0" anchor="t">
            <a:normAutofit fontScale="25000" lnSpcReduction="20000"/>
          </a:bodyPr>
          <a:lstStyle/>
          <a:p>
            <a:pPr marL="0" indent="0" algn="l">
              <a:lnSpc>
                <a:spcPts val="866"/>
              </a:lnSpc>
              <a:buNone/>
            </a:pPr>
            <a:r>
              <a:rPr lang="en-US" sz="800" b="1" kern="0" spc="56" dirty="0">
                <a:solidFill>
                  <a:srgbClr val="C2410C"/>
                </a:solidFill>
                <a:latin typeface="Courier New" pitchFamily="34" charset="0"/>
                <a:ea typeface="Courier New" pitchFamily="34" charset="-122"/>
                <a:cs typeface="Courier New" pitchFamily="34" charset="-120"/>
              </a:rPr>
              <a:t>FAILING FILE</a:t>
            </a:r>
            <a:endParaRPr lang="en-US" sz="800" dirty="0"/>
          </a:p>
        </p:txBody>
      </p:sp>
      <p:sp>
        <p:nvSpPr>
          <p:cNvPr id="34" name="Text 32"/>
          <p:cNvSpPr/>
          <p:nvPr/>
        </p:nvSpPr>
        <p:spPr>
          <a:xfrm>
            <a:off x="4786313" y="2301404"/>
            <a:ext cx="2201391" cy="133241"/>
          </a:xfrm>
          <a:prstGeom prst="rect">
            <a:avLst/>
          </a:prstGeom>
          <a:noFill/>
          <a:ln/>
        </p:spPr>
        <p:txBody>
          <a:bodyPr wrap="square" lIns="0" tIns="0" rIns="0" bIns="0" rtlCol="0" anchor="t"/>
          <a:lstStyle/>
          <a:p>
            <a:pPr marL="0" indent="0" algn="l">
              <a:lnSpc>
                <a:spcPts val="1103"/>
              </a:lnSpc>
              <a:buNone/>
            </a:pPr>
            <a:r>
              <a:rPr lang="en-US" sz="788" dirty="0">
                <a:solidFill>
                  <a:srgbClr val="0F172A"/>
                </a:solidFill>
                <a:latin typeface="Carlito" pitchFamily="34" charset="0"/>
                <a:ea typeface="Carlito" pitchFamily="34" charset="-122"/>
                <a:cs typeface="Carlito" pitchFamily="34" charset="-120"/>
              </a:rPr>
              <a:t>src/main/java/com/example/UserService.java:42</a:t>
            </a:r>
            <a:endParaRPr lang="en-US" sz="788" dirty="0"/>
          </a:p>
        </p:txBody>
      </p:sp>
      <p:sp>
        <p:nvSpPr>
          <p:cNvPr id="35" name="Shape 33"/>
          <p:cNvSpPr/>
          <p:nvPr/>
        </p:nvSpPr>
        <p:spPr>
          <a:xfrm>
            <a:off x="4786313" y="3057860"/>
            <a:ext cx="3757613" cy="0"/>
          </a:xfrm>
          <a:prstGeom prst="line">
            <a:avLst/>
          </a:prstGeom>
          <a:noFill/>
          <a:ln w="7144">
            <a:solidFill>
              <a:srgbClr val="CBD5E1"/>
            </a:solidFill>
            <a:prstDash val="dash"/>
          </a:ln>
        </p:spPr>
      </p:sp>
      <p:sp>
        <p:nvSpPr>
          <p:cNvPr id="36" name="Text 34"/>
          <p:cNvSpPr/>
          <p:nvPr/>
        </p:nvSpPr>
        <p:spPr>
          <a:xfrm>
            <a:off x="4786313" y="2601441"/>
            <a:ext cx="3757613" cy="96802"/>
          </a:xfrm>
          <a:prstGeom prst="rect">
            <a:avLst/>
          </a:prstGeom>
          <a:noFill/>
          <a:ln/>
        </p:spPr>
        <p:txBody>
          <a:bodyPr wrap="none" lIns="0" tIns="0" rIns="0" bIns="0" rtlCol="0" anchor="t">
            <a:normAutofit fontScale="25000" lnSpcReduction="20000"/>
          </a:bodyPr>
          <a:lstStyle/>
          <a:p>
            <a:pPr marL="0" indent="0" algn="l">
              <a:lnSpc>
                <a:spcPts val="866"/>
              </a:lnSpc>
              <a:buNone/>
            </a:pPr>
            <a:r>
              <a:rPr lang="en-US" sz="800" b="1" kern="0" spc="56" dirty="0">
                <a:solidFill>
                  <a:srgbClr val="C2410C"/>
                </a:solidFill>
                <a:latin typeface="Courier New" pitchFamily="34" charset="0"/>
                <a:ea typeface="Courier New" pitchFamily="34" charset="-122"/>
                <a:cs typeface="Courier New" pitchFamily="34" charset="-120"/>
              </a:rPr>
              <a:t>FIX SUGGESTION</a:t>
            </a:r>
            <a:endParaRPr lang="en-US" sz="800" dirty="0"/>
          </a:p>
        </p:txBody>
      </p:sp>
      <p:sp>
        <p:nvSpPr>
          <p:cNvPr id="37" name="Text 35"/>
          <p:cNvSpPr/>
          <p:nvPr/>
        </p:nvSpPr>
        <p:spPr>
          <a:xfrm>
            <a:off x="4786313" y="2725675"/>
            <a:ext cx="3459584" cy="285750"/>
          </a:xfrm>
          <a:prstGeom prst="rect">
            <a:avLst/>
          </a:prstGeom>
          <a:noFill/>
          <a:ln/>
        </p:spPr>
        <p:txBody>
          <a:bodyPr wrap="square" lIns="0" tIns="0" rIns="0" bIns="0" rtlCol="0" anchor="t"/>
          <a:lstStyle/>
          <a:p>
            <a:pPr marL="0" indent="0" algn="l">
              <a:lnSpc>
                <a:spcPts val="1103"/>
              </a:lnSpc>
              <a:buNone/>
            </a:pPr>
            <a:r>
              <a:rPr lang="en-US" sz="800" dirty="0">
                <a:solidFill>
                  <a:srgbClr val="0F172A"/>
                </a:solidFill>
                <a:latin typeface="Carlito" pitchFamily="34" charset="0"/>
                <a:ea typeface="Carlito" pitchFamily="34" charset="-122"/>
                <a:cs typeface="Carlito" pitchFamily="34" charset="-120"/>
              </a:rPr>
              <a:t>Restore the missing import for the User class at the top of UserService.java, or refactor the code to use the new parameter name passed to the method.</a:t>
            </a:r>
            <a:endParaRPr lang="en-US" sz="800" dirty="0"/>
          </a:p>
        </p:txBody>
      </p:sp>
      <p:sp>
        <p:nvSpPr>
          <p:cNvPr id="38" name="Text 36"/>
          <p:cNvSpPr/>
          <p:nvPr/>
        </p:nvSpPr>
        <p:spPr>
          <a:xfrm>
            <a:off x="4786313" y="3175732"/>
            <a:ext cx="3757613" cy="96802"/>
          </a:xfrm>
          <a:prstGeom prst="rect">
            <a:avLst/>
          </a:prstGeom>
          <a:noFill/>
          <a:ln/>
        </p:spPr>
        <p:txBody>
          <a:bodyPr wrap="none" lIns="0" tIns="0" rIns="0" bIns="0" rtlCol="0" anchor="t">
            <a:normAutofit fontScale="25000" lnSpcReduction="20000"/>
          </a:bodyPr>
          <a:lstStyle/>
          <a:p>
            <a:pPr marL="0" indent="0" algn="l">
              <a:lnSpc>
                <a:spcPts val="866"/>
              </a:lnSpc>
              <a:buNone/>
            </a:pPr>
            <a:r>
              <a:rPr lang="en-US" sz="800" b="1" kern="0" spc="56" dirty="0">
                <a:solidFill>
                  <a:srgbClr val="C2410C"/>
                </a:solidFill>
                <a:latin typeface="Courier New" pitchFamily="34" charset="0"/>
                <a:ea typeface="Courier New" pitchFamily="34" charset="-122"/>
                <a:cs typeface="Courier New" pitchFamily="34" charset="-120"/>
              </a:rPr>
              <a:t>CONFIDENCE</a:t>
            </a:r>
            <a:endParaRPr lang="en-US" sz="800" dirty="0"/>
          </a:p>
        </p:txBody>
      </p:sp>
      <p:sp>
        <p:nvSpPr>
          <p:cNvPr id="39" name="Text 37"/>
          <p:cNvSpPr/>
          <p:nvPr/>
        </p:nvSpPr>
        <p:spPr>
          <a:xfrm>
            <a:off x="4786313" y="3299966"/>
            <a:ext cx="287293" cy="133241"/>
          </a:xfrm>
          <a:prstGeom prst="rect">
            <a:avLst/>
          </a:prstGeom>
          <a:noFill/>
          <a:ln/>
        </p:spPr>
        <p:txBody>
          <a:bodyPr wrap="square" lIns="0" tIns="0" rIns="0" bIns="0" rtlCol="0" anchor="t"/>
          <a:lstStyle/>
          <a:p>
            <a:pPr marL="0" indent="0" algn="l">
              <a:lnSpc>
                <a:spcPts val="1103"/>
              </a:lnSpc>
              <a:buNone/>
            </a:pPr>
            <a:r>
              <a:rPr lang="en-US" sz="800" b="1" dirty="0">
                <a:solidFill>
                  <a:srgbClr val="15803D"/>
                </a:solidFill>
                <a:latin typeface="Carlito" pitchFamily="34" charset="0"/>
                <a:ea typeface="Carlito" pitchFamily="34" charset="-122"/>
                <a:cs typeface="Carlito" pitchFamily="34" charset="-120"/>
              </a:rPr>
              <a:t>high</a:t>
            </a:r>
            <a:endParaRPr lang="en-US" sz="800" dirty="0"/>
          </a:p>
        </p:txBody>
      </p:sp>
      <p:sp>
        <p:nvSpPr>
          <p:cNvPr id="40" name="Text 38"/>
          <p:cNvSpPr/>
          <p:nvPr/>
        </p:nvSpPr>
        <p:spPr>
          <a:xfrm>
            <a:off x="457200" y="4343400"/>
            <a:ext cx="8229600" cy="342900"/>
          </a:xfrm>
          <a:prstGeom prst="roundRect">
            <a:avLst>
              <a:gd name="adj" fmla="val 22222"/>
            </a:avLst>
          </a:prstGeom>
          <a:solidFill>
            <a:srgbClr val="F8FAFC"/>
          </a:solidFill>
          <a:ln/>
        </p:spPr>
        <p:txBody>
          <a:bodyPr wrap="square" rtlCol="0" anchor="ctr"/>
          <a:lstStyle/>
          <a:p>
            <a:pPr marL="0" indent="0">
              <a:buNone/>
            </a:pPr>
            <a:endParaRPr lang="en-US" dirty="0"/>
          </a:p>
        </p:txBody>
      </p:sp>
      <p:sp>
        <p:nvSpPr>
          <p:cNvPr id="41" name="Text 39"/>
          <p:cNvSpPr/>
          <p:nvPr/>
        </p:nvSpPr>
        <p:spPr>
          <a:xfrm>
            <a:off x="585788" y="4429125"/>
            <a:ext cx="171450" cy="171450"/>
          </a:xfrm>
          <a:prstGeom prst="rect">
            <a:avLst/>
          </a:prstGeom>
          <a:noFill/>
          <a:ln/>
        </p:spPr>
        <p:txBody>
          <a:bodyPr wrap="none" lIns="0" tIns="0" rIns="0" bIns="0" rtlCol="0" anchor="ctr"/>
          <a:lstStyle/>
          <a:p>
            <a:pPr marL="0" indent="0" algn="ctr">
              <a:buNone/>
            </a:pPr>
            <a:r>
              <a:rPr lang="en-US" sz="1688" dirty="0">
                <a:solidFill>
                  <a:srgbClr val="C2410C"/>
                </a:solidFill>
                <a:latin typeface="Segoe UI Symbol" pitchFamily="34" charset="0"/>
                <a:ea typeface="Segoe UI Symbol" pitchFamily="34" charset="-122"/>
                <a:cs typeface="Segoe UI Symbol" pitchFamily="34" charset="-120"/>
              </a:rPr>
              <a:t>◔</a:t>
            </a:r>
            <a:endParaRPr lang="en-US" sz="1688" dirty="0"/>
          </a:p>
        </p:txBody>
      </p:sp>
      <p:sp>
        <p:nvSpPr>
          <p:cNvPr id="42" name="Text 40"/>
          <p:cNvSpPr/>
          <p:nvPr/>
        </p:nvSpPr>
        <p:spPr>
          <a:xfrm>
            <a:off x="828675" y="4434818"/>
            <a:ext cx="7729538" cy="165757"/>
          </a:xfrm>
          <a:prstGeom prst="rect">
            <a:avLst/>
          </a:prstGeom>
          <a:noFill/>
          <a:ln/>
        </p:spPr>
        <p:txBody>
          <a:bodyPr wrap="square" lIns="0" tIns="0" rIns="0" bIns="0" rtlCol="0" anchor="t"/>
          <a:lstStyle/>
          <a:p>
            <a:pPr marL="0" indent="0" algn="l">
              <a:lnSpc>
                <a:spcPts val="1260"/>
              </a:lnSpc>
              <a:buNone/>
            </a:pPr>
            <a:r>
              <a:rPr lang="en-US" sz="900" b="1" dirty="0">
                <a:solidFill>
                  <a:srgbClr val="C2410C"/>
                </a:solidFill>
                <a:latin typeface="Liberation Sans Narrow" pitchFamily="34" charset="0"/>
                <a:ea typeface="Liberation Sans Narrow" pitchFamily="34" charset="-122"/>
                <a:cs typeface="Liberation Sans Narrow" pitchFamily="34" charset="-120"/>
              </a:rPr>
              <a:t>Time saved: ~25 minutes</a:t>
            </a:r>
            <a:r>
              <a:rPr lang="en-US" sz="900" dirty="0">
                <a:solidFill>
                  <a:srgbClr val="0F172A"/>
                </a:solidFill>
                <a:latin typeface="Carlito" pitchFamily="34" charset="0"/>
                <a:ea typeface="Carlito" pitchFamily="34" charset="-122"/>
                <a:cs typeface="Carlito" pitchFamily="34" charset="-120"/>
              </a:rPr>
              <a:t> of log-skimming. Developer goes straight to </a:t>
            </a:r>
            <a:r>
              <a:rPr lang="en-US" sz="900" b="1" dirty="0">
                <a:solidFill>
                  <a:srgbClr val="C2410C"/>
                </a:solidFill>
                <a:latin typeface="Liberation Sans Narrow" pitchFamily="34" charset="0"/>
                <a:ea typeface="Liberation Sans Narrow" pitchFamily="34" charset="-122"/>
                <a:cs typeface="Liberation Sans Narrow" pitchFamily="34" charset="-120"/>
              </a:rPr>
              <a:t>UserService.java line 42.</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8636000" cy="388776"/>
          </a:xfrm>
          <a:prstGeom prst="rect">
            <a:avLst/>
          </a:prstGeom>
          <a:noFill/>
          <a:ln/>
        </p:spPr>
        <p:txBody>
          <a:bodyPr wrap="square" lIns="0" tIns="0" rIns="0" bIns="0" rtlCol="0" anchor="t"/>
          <a:lstStyle/>
          <a:p>
            <a:pPr marL="0" indent="0" algn="l">
              <a:lnSpc>
                <a:spcPts val="2835"/>
              </a:lnSpc>
              <a:buNone/>
            </a:pPr>
            <a:r>
              <a:rPr lang="en-US" sz="2025" b="1" dirty="0">
                <a:solidFill>
                  <a:srgbClr val="0F172A"/>
                </a:solidFill>
                <a:latin typeface="Carlito" pitchFamily="34" charset="0"/>
                <a:ea typeface="Carlito" pitchFamily="34" charset="-122"/>
                <a:cs typeface="Carlito" pitchFamily="34" charset="-120"/>
              </a:rPr>
              <a:t>Case Study — Microsoft Build Copilot (Azure DevOps)</a:t>
            </a:r>
            <a:endParaRPr lang="en-US" sz="2025" dirty="0"/>
          </a:p>
        </p:txBody>
      </p:sp>
      <p:sp>
        <p:nvSpPr>
          <p:cNvPr id="3" name="Text 1"/>
          <p:cNvSpPr/>
          <p:nvPr/>
        </p:nvSpPr>
        <p:spPr>
          <a:xfrm>
            <a:off x="457200" y="874328"/>
            <a:ext cx="571500" cy="42863"/>
          </a:xfrm>
          <a:prstGeom prst="roundRect">
            <a:avLst>
              <a:gd name="adj" fmla="val 66666"/>
            </a:avLst>
          </a:prstGeom>
          <a:solidFill>
            <a:srgbClr val="F97316"/>
          </a:solidFill>
          <a:ln/>
        </p:spPr>
        <p:txBody>
          <a:bodyPr wrap="square" rtlCol="0" anchor="ctr"/>
          <a:lstStyle/>
          <a:p>
            <a:pPr marL="0" indent="0">
              <a:buNone/>
            </a:pPr>
            <a:endParaRPr lang="en-US" dirty="0"/>
          </a:p>
        </p:txBody>
      </p:sp>
      <p:sp>
        <p:nvSpPr>
          <p:cNvPr id="4" name="Text 2"/>
          <p:cNvSpPr/>
          <p:nvPr/>
        </p:nvSpPr>
        <p:spPr>
          <a:xfrm>
            <a:off x="460772" y="1020775"/>
            <a:ext cx="3181759" cy="3661953"/>
          </a:xfrm>
          <a:prstGeom prst="roundRect">
            <a:avLst>
              <a:gd name="adj" fmla="val 4191"/>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5" name="Text 3"/>
          <p:cNvSpPr/>
          <p:nvPr/>
        </p:nvSpPr>
        <p:spPr>
          <a:xfrm>
            <a:off x="635794" y="1181509"/>
            <a:ext cx="214313" cy="214313"/>
          </a:xfrm>
          <a:prstGeom prst="rect">
            <a:avLst/>
          </a:prstGeom>
          <a:noFill/>
          <a:ln/>
        </p:spPr>
        <p:txBody>
          <a:bodyPr wrap="none" lIns="0" tIns="0" rIns="0" bIns="0" rtlCol="0" anchor="ctr"/>
          <a:lstStyle/>
          <a:p>
            <a:pPr marL="0" indent="0" algn="ctr">
              <a:buNone/>
            </a:pPr>
            <a:r>
              <a:rPr lang="en-US" sz="2109" dirty="0">
                <a:solidFill>
                  <a:srgbClr val="F97316"/>
                </a:solidFill>
                <a:latin typeface="Segoe UI Symbol" pitchFamily="34" charset="0"/>
                <a:ea typeface="Segoe UI Symbol" pitchFamily="34" charset="-122"/>
                <a:cs typeface="Segoe UI Symbol" pitchFamily="34" charset="-120"/>
              </a:rPr>
              <a:t>✦</a:t>
            </a:r>
            <a:endParaRPr lang="en-US" sz="2109" dirty="0"/>
          </a:p>
        </p:txBody>
      </p:sp>
      <p:sp>
        <p:nvSpPr>
          <p:cNvPr id="6" name="Text 4"/>
          <p:cNvSpPr/>
          <p:nvPr/>
        </p:nvSpPr>
        <p:spPr>
          <a:xfrm>
            <a:off x="935831" y="1228613"/>
            <a:ext cx="2531678" cy="153591"/>
          </a:xfrm>
          <a:prstGeom prst="rect">
            <a:avLst/>
          </a:prstGeom>
          <a:noFill/>
          <a:ln/>
        </p:spPr>
        <p:txBody>
          <a:bodyPr wrap="none" lIns="0" tIns="0" rIns="0" bIns="0" rtlCol="0" anchor="t"/>
          <a:lstStyle/>
          <a:p>
            <a:pPr marL="0" indent="0" algn="l">
              <a:lnSpc>
                <a:spcPts val="945"/>
              </a:lnSpc>
              <a:buNone/>
            </a:pPr>
            <a:r>
              <a:rPr lang="en-US" sz="800" b="1" kern="0" spc="84" dirty="0">
                <a:solidFill>
                  <a:srgbClr val="C2410C"/>
                </a:solidFill>
                <a:latin typeface="Carlito" pitchFamily="34" charset="0"/>
                <a:ea typeface="Carlito" pitchFamily="34" charset="-122"/>
                <a:cs typeface="Carlito" pitchFamily="34" charset="-120"/>
              </a:rPr>
              <a:t>FACTS</a:t>
            </a:r>
            <a:endParaRPr lang="en-US" sz="800" dirty="0"/>
          </a:p>
        </p:txBody>
      </p:sp>
      <p:sp>
        <p:nvSpPr>
          <p:cNvPr id="7" name="Shape 5"/>
          <p:cNvSpPr/>
          <p:nvPr/>
        </p:nvSpPr>
        <p:spPr>
          <a:xfrm>
            <a:off x="635794" y="1839404"/>
            <a:ext cx="2831716" cy="0"/>
          </a:xfrm>
          <a:prstGeom prst="line">
            <a:avLst/>
          </a:prstGeom>
          <a:noFill/>
          <a:ln w="7144">
            <a:solidFill>
              <a:srgbClr val="CBD5E1"/>
            </a:solidFill>
            <a:prstDash val="solid"/>
          </a:ln>
        </p:spPr>
      </p:sp>
      <p:sp>
        <p:nvSpPr>
          <p:cNvPr id="8" name="Text 6"/>
          <p:cNvSpPr/>
          <p:nvPr/>
        </p:nvSpPr>
        <p:spPr>
          <a:xfrm>
            <a:off x="635794" y="1481547"/>
            <a:ext cx="2831716" cy="106848"/>
          </a:xfrm>
          <a:prstGeom prst="rect">
            <a:avLst/>
          </a:prstGeom>
          <a:noFill/>
          <a:ln/>
        </p:spPr>
        <p:txBody>
          <a:bodyPr wrap="none" lIns="0" tIns="0" rIns="0" bIns="0" rtlCol="0" anchor="t">
            <a:normAutofit fontScale="62500" lnSpcReduction="20000"/>
          </a:bodyPr>
          <a:lstStyle/>
          <a:p>
            <a:pPr marL="0" indent="0" algn="l">
              <a:lnSpc>
                <a:spcPts val="945"/>
              </a:lnSpc>
              <a:buNone/>
            </a:pPr>
            <a:r>
              <a:rPr lang="en-US" sz="800" kern="0" spc="28" dirty="0">
                <a:solidFill>
                  <a:srgbClr val="64748B"/>
                </a:solidFill>
                <a:latin typeface="Courier New" pitchFamily="34" charset="0"/>
                <a:ea typeface="Courier New" pitchFamily="34" charset="-122"/>
                <a:cs typeface="Courier New" pitchFamily="34" charset="-120"/>
              </a:rPr>
              <a:t>COMPANY</a:t>
            </a:r>
            <a:endParaRPr lang="en-US" sz="800" dirty="0"/>
          </a:p>
        </p:txBody>
      </p:sp>
      <p:sp>
        <p:nvSpPr>
          <p:cNvPr id="9" name="Text 7"/>
          <p:cNvSpPr/>
          <p:nvPr/>
        </p:nvSpPr>
        <p:spPr>
          <a:xfrm>
            <a:off x="635794" y="1615827"/>
            <a:ext cx="2831716" cy="162855"/>
          </a:xfrm>
          <a:prstGeom prst="rect">
            <a:avLst/>
          </a:prstGeom>
          <a:noFill/>
          <a:ln/>
        </p:spPr>
        <p:txBody>
          <a:bodyPr wrap="none" lIns="0" tIns="0" rIns="0" bIns="0" rtlCol="0" anchor="t"/>
          <a:lstStyle/>
          <a:p>
            <a:pPr marL="0" indent="0" algn="l">
              <a:lnSpc>
                <a:spcPts val="1283"/>
              </a:lnSpc>
              <a:buNone/>
            </a:pPr>
            <a:r>
              <a:rPr lang="en-US" sz="1069" b="1" dirty="0">
                <a:solidFill>
                  <a:srgbClr val="0F172A"/>
                </a:solidFill>
                <a:latin typeface="Carlito" pitchFamily="34" charset="0"/>
                <a:ea typeface="Carlito" pitchFamily="34" charset="-122"/>
                <a:cs typeface="Carlito" pitchFamily="34" charset="-120"/>
              </a:rPr>
              <a:t>Microsoft</a:t>
            </a:r>
            <a:endParaRPr lang="en-US" sz="1069" dirty="0"/>
          </a:p>
        </p:txBody>
      </p:sp>
      <p:sp>
        <p:nvSpPr>
          <p:cNvPr id="10" name="Shape 8"/>
          <p:cNvSpPr/>
          <p:nvPr/>
        </p:nvSpPr>
        <p:spPr>
          <a:xfrm>
            <a:off x="635794" y="2286558"/>
            <a:ext cx="2831716" cy="0"/>
          </a:xfrm>
          <a:prstGeom prst="line">
            <a:avLst/>
          </a:prstGeom>
          <a:noFill/>
          <a:ln w="7144">
            <a:solidFill>
              <a:srgbClr val="CBD5E1"/>
            </a:solidFill>
            <a:prstDash val="solid"/>
          </a:ln>
        </p:spPr>
      </p:sp>
      <p:sp>
        <p:nvSpPr>
          <p:cNvPr id="11" name="Text 9"/>
          <p:cNvSpPr/>
          <p:nvPr/>
        </p:nvSpPr>
        <p:spPr>
          <a:xfrm>
            <a:off x="635794" y="1928701"/>
            <a:ext cx="2831716" cy="106848"/>
          </a:xfrm>
          <a:prstGeom prst="rect">
            <a:avLst/>
          </a:prstGeom>
          <a:noFill/>
          <a:ln/>
        </p:spPr>
        <p:txBody>
          <a:bodyPr wrap="none" lIns="0" tIns="0" rIns="0" bIns="0" rtlCol="0" anchor="t">
            <a:normAutofit fontScale="62500" lnSpcReduction="20000"/>
          </a:bodyPr>
          <a:lstStyle/>
          <a:p>
            <a:pPr marL="0" indent="0" algn="l">
              <a:lnSpc>
                <a:spcPts val="945"/>
              </a:lnSpc>
              <a:buNone/>
            </a:pPr>
            <a:r>
              <a:rPr lang="en-US" sz="800" kern="0" spc="28" dirty="0">
                <a:solidFill>
                  <a:srgbClr val="64748B"/>
                </a:solidFill>
                <a:latin typeface="Courier New" pitchFamily="34" charset="0"/>
                <a:ea typeface="Courier New" pitchFamily="34" charset="-122"/>
                <a:cs typeface="Courier New" pitchFamily="34" charset="-120"/>
              </a:rPr>
              <a:t>PRODUCT</a:t>
            </a:r>
            <a:endParaRPr lang="en-US" sz="800" dirty="0"/>
          </a:p>
        </p:txBody>
      </p:sp>
      <p:sp>
        <p:nvSpPr>
          <p:cNvPr id="12" name="Text 10"/>
          <p:cNvSpPr/>
          <p:nvPr/>
        </p:nvSpPr>
        <p:spPr>
          <a:xfrm>
            <a:off x="635794" y="2062981"/>
            <a:ext cx="2941444" cy="162855"/>
          </a:xfrm>
          <a:prstGeom prst="rect">
            <a:avLst/>
          </a:prstGeom>
          <a:noFill/>
          <a:ln/>
        </p:spPr>
        <p:txBody>
          <a:bodyPr wrap="square" lIns="0" tIns="0" rIns="0" bIns="0" rtlCol="0" anchor="t"/>
          <a:lstStyle/>
          <a:p>
            <a:pPr marL="0" indent="0" algn="l">
              <a:lnSpc>
                <a:spcPts val="1283"/>
              </a:lnSpc>
              <a:buNone/>
            </a:pPr>
            <a:r>
              <a:rPr lang="en-US" sz="1069" b="1" dirty="0">
                <a:solidFill>
                  <a:srgbClr val="0F172A"/>
                </a:solidFill>
                <a:latin typeface="Carlito" pitchFamily="34" charset="0"/>
                <a:ea typeface="Carlito" pitchFamily="34" charset="-122"/>
                <a:cs typeface="Carlito" pitchFamily="34" charset="-120"/>
              </a:rPr>
              <a:t>Azure DevOps Build Copilot</a:t>
            </a:r>
            <a:endParaRPr lang="en-US" sz="1069" dirty="0"/>
          </a:p>
        </p:txBody>
      </p:sp>
      <p:sp>
        <p:nvSpPr>
          <p:cNvPr id="13" name="Shape 11"/>
          <p:cNvSpPr/>
          <p:nvPr/>
        </p:nvSpPr>
        <p:spPr>
          <a:xfrm>
            <a:off x="635794" y="2733712"/>
            <a:ext cx="2831716" cy="0"/>
          </a:xfrm>
          <a:prstGeom prst="line">
            <a:avLst/>
          </a:prstGeom>
          <a:noFill/>
          <a:ln w="7144">
            <a:solidFill>
              <a:srgbClr val="CBD5E1"/>
            </a:solidFill>
            <a:prstDash val="solid"/>
          </a:ln>
        </p:spPr>
      </p:sp>
      <p:sp>
        <p:nvSpPr>
          <p:cNvPr id="14" name="Text 12"/>
          <p:cNvSpPr/>
          <p:nvPr/>
        </p:nvSpPr>
        <p:spPr>
          <a:xfrm>
            <a:off x="635794" y="2375855"/>
            <a:ext cx="2831716" cy="106848"/>
          </a:xfrm>
          <a:prstGeom prst="rect">
            <a:avLst/>
          </a:prstGeom>
          <a:noFill/>
          <a:ln/>
        </p:spPr>
        <p:txBody>
          <a:bodyPr wrap="none" lIns="0" tIns="0" rIns="0" bIns="0" rtlCol="0" anchor="t">
            <a:normAutofit fontScale="62500" lnSpcReduction="20000"/>
          </a:bodyPr>
          <a:lstStyle/>
          <a:p>
            <a:pPr marL="0" indent="0" algn="l">
              <a:lnSpc>
                <a:spcPts val="945"/>
              </a:lnSpc>
              <a:buNone/>
            </a:pPr>
            <a:r>
              <a:rPr lang="en-US" sz="800" kern="0" spc="28" dirty="0">
                <a:solidFill>
                  <a:srgbClr val="64748B"/>
                </a:solidFill>
                <a:latin typeface="Courier New" pitchFamily="34" charset="0"/>
                <a:ea typeface="Courier New" pitchFamily="34" charset="-122"/>
                <a:cs typeface="Courier New" pitchFamily="34" charset="-120"/>
              </a:rPr>
              <a:t>SCALE</a:t>
            </a:r>
            <a:endParaRPr lang="en-US" sz="800" dirty="0"/>
          </a:p>
        </p:txBody>
      </p:sp>
      <p:sp>
        <p:nvSpPr>
          <p:cNvPr id="15" name="Text 13"/>
          <p:cNvSpPr/>
          <p:nvPr/>
        </p:nvSpPr>
        <p:spPr>
          <a:xfrm>
            <a:off x="635794" y="2510135"/>
            <a:ext cx="2831716" cy="162855"/>
          </a:xfrm>
          <a:prstGeom prst="rect">
            <a:avLst/>
          </a:prstGeom>
          <a:noFill/>
          <a:ln/>
        </p:spPr>
        <p:txBody>
          <a:bodyPr wrap="none" lIns="0" tIns="0" rIns="0" bIns="0" rtlCol="0" anchor="t"/>
          <a:lstStyle/>
          <a:p>
            <a:pPr marL="0" indent="0" algn="l">
              <a:lnSpc>
                <a:spcPts val="1283"/>
              </a:lnSpc>
              <a:buNone/>
            </a:pPr>
            <a:r>
              <a:rPr lang="en-US" sz="1069" b="1" dirty="0">
                <a:solidFill>
                  <a:srgbClr val="F97316"/>
                </a:solidFill>
                <a:latin typeface="Liberation Sans Narrow" pitchFamily="34" charset="0"/>
                <a:ea typeface="Liberation Sans Narrow" pitchFamily="34" charset="-122"/>
                <a:cs typeface="Liberation Sans Narrow" pitchFamily="34" charset="-120"/>
              </a:rPr>
              <a:t>100,000+</a:t>
            </a:r>
            <a:r>
              <a:rPr lang="en-US" sz="1069" b="1" dirty="0">
                <a:solidFill>
                  <a:srgbClr val="0F172A"/>
                </a:solidFill>
                <a:latin typeface="Carlito" pitchFamily="34" charset="0"/>
                <a:ea typeface="Carlito" pitchFamily="34" charset="-122"/>
                <a:cs typeface="Carlito" pitchFamily="34" charset="-120"/>
              </a:rPr>
              <a:t> daily builds</a:t>
            </a:r>
            <a:endParaRPr lang="en-US" sz="1069" dirty="0"/>
          </a:p>
        </p:txBody>
      </p:sp>
      <p:sp>
        <p:nvSpPr>
          <p:cNvPr id="16" name="Shape 14"/>
          <p:cNvSpPr/>
          <p:nvPr/>
        </p:nvSpPr>
        <p:spPr>
          <a:xfrm>
            <a:off x="635794" y="3180866"/>
            <a:ext cx="2831716" cy="0"/>
          </a:xfrm>
          <a:prstGeom prst="line">
            <a:avLst/>
          </a:prstGeom>
          <a:noFill/>
          <a:ln w="7144">
            <a:solidFill>
              <a:srgbClr val="CBD5E1"/>
            </a:solidFill>
            <a:prstDash val="solid"/>
          </a:ln>
        </p:spPr>
      </p:sp>
      <p:sp>
        <p:nvSpPr>
          <p:cNvPr id="17" name="Text 15"/>
          <p:cNvSpPr/>
          <p:nvPr/>
        </p:nvSpPr>
        <p:spPr>
          <a:xfrm>
            <a:off x="635794" y="2823009"/>
            <a:ext cx="2831716" cy="106848"/>
          </a:xfrm>
          <a:prstGeom prst="rect">
            <a:avLst/>
          </a:prstGeom>
          <a:noFill/>
          <a:ln/>
        </p:spPr>
        <p:txBody>
          <a:bodyPr wrap="none" lIns="0" tIns="0" rIns="0" bIns="0" rtlCol="0" anchor="t">
            <a:normAutofit fontScale="62500" lnSpcReduction="20000"/>
          </a:bodyPr>
          <a:lstStyle/>
          <a:p>
            <a:pPr marL="0" indent="0" algn="l">
              <a:lnSpc>
                <a:spcPts val="945"/>
              </a:lnSpc>
              <a:buNone/>
            </a:pPr>
            <a:r>
              <a:rPr lang="en-US" sz="800" kern="0" spc="28" dirty="0">
                <a:solidFill>
                  <a:srgbClr val="64748B"/>
                </a:solidFill>
                <a:latin typeface="Courier New" pitchFamily="34" charset="0"/>
                <a:ea typeface="Courier New" pitchFamily="34" charset="-122"/>
                <a:cs typeface="Courier New" pitchFamily="34" charset="-120"/>
              </a:rPr>
              <a:t>APPROACH</a:t>
            </a:r>
            <a:endParaRPr lang="en-US" sz="800" dirty="0"/>
          </a:p>
        </p:txBody>
      </p:sp>
      <p:sp>
        <p:nvSpPr>
          <p:cNvPr id="18" name="Text 16"/>
          <p:cNvSpPr/>
          <p:nvPr/>
        </p:nvSpPr>
        <p:spPr>
          <a:xfrm>
            <a:off x="635794" y="2957289"/>
            <a:ext cx="2831716" cy="162855"/>
          </a:xfrm>
          <a:prstGeom prst="rect">
            <a:avLst/>
          </a:prstGeom>
          <a:noFill/>
          <a:ln/>
        </p:spPr>
        <p:txBody>
          <a:bodyPr wrap="none" lIns="0" tIns="0" rIns="0" bIns="0" rtlCol="0" anchor="t"/>
          <a:lstStyle/>
          <a:p>
            <a:pPr marL="0" indent="0" algn="l">
              <a:lnSpc>
                <a:spcPts val="1283"/>
              </a:lnSpc>
              <a:buNone/>
            </a:pPr>
            <a:r>
              <a:rPr lang="en-US" sz="1069" b="1" dirty="0">
                <a:solidFill>
                  <a:srgbClr val="0F172A"/>
                </a:solidFill>
                <a:latin typeface="Carlito" pitchFamily="34" charset="0"/>
                <a:ea typeface="Carlito" pitchFamily="34" charset="-122"/>
                <a:cs typeface="Carlito" pitchFamily="34" charset="-120"/>
              </a:rPr>
              <a:t>LLM + retrieval pipeline</a:t>
            </a:r>
            <a:endParaRPr lang="en-US" sz="1069" dirty="0"/>
          </a:p>
        </p:txBody>
      </p:sp>
      <p:sp>
        <p:nvSpPr>
          <p:cNvPr id="19" name="Text 17"/>
          <p:cNvSpPr/>
          <p:nvPr/>
        </p:nvSpPr>
        <p:spPr>
          <a:xfrm>
            <a:off x="635794" y="3270163"/>
            <a:ext cx="2831716" cy="106848"/>
          </a:xfrm>
          <a:prstGeom prst="rect">
            <a:avLst/>
          </a:prstGeom>
          <a:noFill/>
          <a:ln/>
        </p:spPr>
        <p:txBody>
          <a:bodyPr wrap="none" lIns="0" tIns="0" rIns="0" bIns="0" rtlCol="0" anchor="t">
            <a:normAutofit fontScale="62500" lnSpcReduction="20000"/>
          </a:bodyPr>
          <a:lstStyle/>
          <a:p>
            <a:pPr marL="0" indent="0" algn="l">
              <a:lnSpc>
                <a:spcPts val="945"/>
              </a:lnSpc>
              <a:buNone/>
            </a:pPr>
            <a:r>
              <a:rPr lang="en-US" sz="800" kern="0" spc="28" dirty="0">
                <a:solidFill>
                  <a:srgbClr val="64748B"/>
                </a:solidFill>
                <a:latin typeface="Courier New" pitchFamily="34" charset="0"/>
                <a:ea typeface="Courier New" pitchFamily="34" charset="-122"/>
                <a:cs typeface="Courier New" pitchFamily="34" charset="-120"/>
              </a:rPr>
              <a:t>RESULT</a:t>
            </a:r>
            <a:endParaRPr lang="en-US" sz="800" dirty="0"/>
          </a:p>
        </p:txBody>
      </p:sp>
      <p:sp>
        <p:nvSpPr>
          <p:cNvPr id="20" name="Text 18"/>
          <p:cNvSpPr/>
          <p:nvPr/>
        </p:nvSpPr>
        <p:spPr>
          <a:xfrm>
            <a:off x="635794" y="3404443"/>
            <a:ext cx="2831716" cy="175884"/>
          </a:xfrm>
          <a:prstGeom prst="rect">
            <a:avLst/>
          </a:prstGeom>
          <a:noFill/>
          <a:ln/>
        </p:spPr>
        <p:txBody>
          <a:bodyPr wrap="none" lIns="0" tIns="0" rIns="0" bIns="0" rtlCol="0" anchor="t"/>
          <a:lstStyle/>
          <a:p>
            <a:pPr marL="0" indent="0" algn="l">
              <a:lnSpc>
                <a:spcPts val="1283"/>
              </a:lnSpc>
              <a:buNone/>
            </a:pPr>
            <a:r>
              <a:rPr lang="en-US" sz="1069" b="1" dirty="0">
                <a:solidFill>
                  <a:srgbClr val="F97316"/>
                </a:solidFill>
                <a:latin typeface="Liberation Sans Narrow" pitchFamily="34" charset="0"/>
                <a:ea typeface="Liberation Sans Narrow" pitchFamily="34" charset="-122"/>
                <a:cs typeface="Liberation Sans Narrow" pitchFamily="34" charset="-120"/>
              </a:rPr>
              <a:t>33%</a:t>
            </a:r>
            <a:r>
              <a:rPr lang="en-US" sz="1069" b="1" dirty="0">
                <a:solidFill>
                  <a:srgbClr val="0F172A"/>
                </a:solidFill>
                <a:latin typeface="Carlito" pitchFamily="34" charset="0"/>
                <a:ea typeface="Carlito" pitchFamily="34" charset="-122"/>
                <a:cs typeface="Carlito" pitchFamily="34" charset="-120"/>
              </a:rPr>
              <a:t> reduction in MTTR</a:t>
            </a:r>
            <a:endParaRPr lang="en-US" sz="1069" dirty="0"/>
          </a:p>
        </p:txBody>
      </p:sp>
      <p:sp>
        <p:nvSpPr>
          <p:cNvPr id="21" name="Text 19"/>
          <p:cNvSpPr/>
          <p:nvPr/>
        </p:nvSpPr>
        <p:spPr>
          <a:xfrm>
            <a:off x="3817553" y="1060066"/>
            <a:ext cx="5326447" cy="425785"/>
          </a:xfrm>
          <a:prstGeom prst="rect">
            <a:avLst/>
          </a:prstGeom>
          <a:noFill/>
          <a:ln/>
        </p:spPr>
        <p:txBody>
          <a:bodyPr wrap="square" lIns="0" tIns="0" rIns="0" bIns="0" rtlCol="0" anchor="t"/>
          <a:lstStyle/>
          <a:p>
            <a:pPr marL="0" indent="0" algn="l">
              <a:lnSpc>
                <a:spcPts val="1553"/>
              </a:lnSpc>
              <a:buNone/>
            </a:pPr>
            <a:r>
              <a:rPr lang="en-US" sz="1294" b="1" dirty="0">
                <a:solidFill>
                  <a:srgbClr val="0F172A"/>
                </a:solidFill>
                <a:latin typeface="Carlito" pitchFamily="34" charset="0"/>
                <a:ea typeface="Carlito" pitchFamily="34" charset="-122"/>
                <a:cs typeface="Carlito" pitchFamily="34" charset="-120"/>
              </a:rPr>
              <a:t>How Microsoft Embedded LLM Log Summarisation into Azure DevOps</a:t>
            </a:r>
            <a:endParaRPr lang="en-US" sz="1294" dirty="0"/>
          </a:p>
        </p:txBody>
      </p:sp>
      <p:sp>
        <p:nvSpPr>
          <p:cNvPr id="22" name="Text 20"/>
          <p:cNvSpPr/>
          <p:nvPr/>
        </p:nvSpPr>
        <p:spPr>
          <a:xfrm>
            <a:off x="3817553" y="1540036"/>
            <a:ext cx="4869247" cy="740664"/>
          </a:xfrm>
          <a:prstGeom prst="rect">
            <a:avLst/>
          </a:prstGeom>
          <a:noFill/>
          <a:ln/>
        </p:spPr>
        <p:txBody>
          <a:bodyPr wrap="square" lIns="0" tIns="0" rIns="0" bIns="0" rtlCol="0" anchor="t"/>
          <a:lstStyle/>
          <a:p>
            <a:pPr marL="0" indent="0" algn="l">
              <a:lnSpc>
                <a:spcPts val="1350"/>
              </a:lnSpc>
              <a:buNone/>
            </a:pPr>
            <a:r>
              <a:rPr lang="en-US" sz="900" dirty="0">
                <a:solidFill>
                  <a:srgbClr val="0F172A"/>
                </a:solidFill>
                <a:latin typeface="Carlito" pitchFamily="34" charset="0"/>
                <a:ea typeface="Carlito" pitchFamily="34" charset="-122"/>
                <a:cs typeface="Carlito" pitchFamily="34" charset="-120"/>
              </a:rPr>
              <a:t>Microsoft integrated an LLM-based log summariser directly into the Azure DevOps CI failure experience. When a build fails, the developer no longer sees a wall of red log text. Instead, they see a </a:t>
            </a:r>
            <a:r>
              <a:rPr lang="en-US" sz="900" b="1" dirty="0">
                <a:solidFill>
                  <a:srgbClr val="C2410C"/>
                </a:solidFill>
                <a:latin typeface="Carlito" pitchFamily="34" charset="0"/>
                <a:ea typeface="Carlito" pitchFamily="34" charset="-122"/>
                <a:cs typeface="Carlito" pitchFamily="34" charset="-120"/>
              </a:rPr>
              <a:t>card at the top of the failure page</a:t>
            </a:r>
            <a:r>
              <a:rPr lang="en-US" sz="900" dirty="0">
                <a:solidFill>
                  <a:srgbClr val="0F172A"/>
                </a:solidFill>
                <a:latin typeface="Carlito" pitchFamily="34" charset="0"/>
                <a:ea typeface="Carlito" pitchFamily="34" charset="-122"/>
                <a:cs typeface="Carlito" pitchFamily="34" charset="-120"/>
              </a:rPr>
              <a:t> with three fields: Root Cause, Failing File, and Suggested Fix.</a:t>
            </a:r>
            <a:endParaRPr lang="en-US" sz="900" dirty="0"/>
          </a:p>
        </p:txBody>
      </p:sp>
      <p:sp>
        <p:nvSpPr>
          <p:cNvPr id="23" name="Text 21"/>
          <p:cNvSpPr/>
          <p:nvPr/>
        </p:nvSpPr>
        <p:spPr>
          <a:xfrm>
            <a:off x="3817553" y="2311561"/>
            <a:ext cx="4869247" cy="915543"/>
          </a:xfrm>
          <a:prstGeom prst="rect">
            <a:avLst/>
          </a:prstGeom>
          <a:noFill/>
          <a:ln/>
        </p:spPr>
        <p:txBody>
          <a:bodyPr wrap="square" lIns="0" tIns="0" rIns="0" bIns="0" rtlCol="0" anchor="t">
            <a:normAutofit/>
          </a:bodyPr>
          <a:lstStyle/>
          <a:p>
            <a:pPr marL="0" indent="0" algn="l">
              <a:lnSpc>
                <a:spcPts val="1350"/>
              </a:lnSpc>
              <a:buNone/>
            </a:pPr>
            <a:r>
              <a:rPr lang="en-US" sz="900" dirty="0">
                <a:solidFill>
                  <a:srgbClr val="0F172A"/>
                </a:solidFill>
                <a:latin typeface="Carlito" pitchFamily="34" charset="0"/>
                <a:ea typeface="Carlito" pitchFamily="34" charset="-122"/>
                <a:cs typeface="Carlito" pitchFamily="34" charset="-120"/>
              </a:rPr>
              <a:t>Behind the scenes, Azure DevOps runs the same chunk → embed → retrieve → summarise pipeline we just discussed. The system uses GPT-4-class models with a prompt similar to the one on the previous slide. Microsoft reports a </a:t>
            </a:r>
            <a:r>
              <a:rPr lang="en-US" sz="900" b="1" dirty="0">
                <a:solidFill>
                  <a:srgbClr val="C2410C"/>
                </a:solidFill>
                <a:latin typeface="Carlito" pitchFamily="34" charset="0"/>
                <a:ea typeface="Carlito" pitchFamily="34" charset="-122"/>
                <a:cs typeface="Carlito" pitchFamily="34" charset="-120"/>
              </a:rPr>
              <a:t>33% reduction in mean-time-to-recovery (MTTR)</a:t>
            </a:r>
            <a:r>
              <a:rPr lang="en-US" sz="900" dirty="0">
                <a:solidFill>
                  <a:srgbClr val="0F172A"/>
                </a:solidFill>
                <a:latin typeface="Carlito" pitchFamily="34" charset="0"/>
                <a:ea typeface="Carlito" pitchFamily="34" charset="-122"/>
                <a:cs typeface="Carlito" pitchFamily="34" charset="-120"/>
              </a:rPr>
              <a:t> for build failures across the orgs that have adopted the feature. Developers spend less time hunting for errors and more time fixing them.</a:t>
            </a:r>
            <a:endParaRPr lang="en-US" sz="900" dirty="0"/>
          </a:p>
        </p:txBody>
      </p:sp>
      <p:sp>
        <p:nvSpPr>
          <p:cNvPr id="24" name="Text 22"/>
          <p:cNvSpPr/>
          <p:nvPr/>
        </p:nvSpPr>
        <p:spPr>
          <a:xfrm>
            <a:off x="3817553" y="3254536"/>
            <a:ext cx="4869247" cy="668499"/>
          </a:xfrm>
          <a:prstGeom prst="roundRect">
            <a:avLst>
              <a:gd name="adj" fmla="val 11399"/>
            </a:avLst>
          </a:prstGeom>
          <a:solidFill>
            <a:srgbClr val="FFF7ED"/>
          </a:solidFill>
          <a:ln/>
        </p:spPr>
        <p:txBody>
          <a:bodyPr wrap="square" rtlCol="0" anchor="ctr"/>
          <a:lstStyle/>
          <a:p>
            <a:pPr marL="0" indent="0">
              <a:buNone/>
            </a:pPr>
            <a:endParaRPr lang="en-US" dirty="0"/>
          </a:p>
        </p:txBody>
      </p:sp>
      <p:sp>
        <p:nvSpPr>
          <p:cNvPr id="25" name="Shape 23"/>
          <p:cNvSpPr/>
          <p:nvPr/>
        </p:nvSpPr>
        <p:spPr>
          <a:xfrm>
            <a:off x="3838984" y="3254536"/>
            <a:ext cx="0" cy="668499"/>
          </a:xfrm>
          <a:prstGeom prst="line">
            <a:avLst/>
          </a:prstGeom>
          <a:noFill/>
          <a:ln w="42863">
            <a:solidFill>
              <a:srgbClr val="F97316"/>
            </a:solidFill>
            <a:prstDash val="solid"/>
          </a:ln>
        </p:spPr>
      </p:sp>
      <p:sp>
        <p:nvSpPr>
          <p:cNvPr id="26" name="Text 24"/>
          <p:cNvSpPr/>
          <p:nvPr/>
        </p:nvSpPr>
        <p:spPr>
          <a:xfrm>
            <a:off x="3989003" y="3510260"/>
            <a:ext cx="4248522" cy="327054"/>
          </a:xfrm>
          <a:prstGeom prst="rect">
            <a:avLst/>
          </a:prstGeom>
          <a:noFill/>
          <a:ln/>
        </p:spPr>
        <p:txBody>
          <a:bodyPr wrap="square" lIns="128588" tIns="100013" rIns="128588" bIns="100013" rtlCol="0" anchor="t"/>
          <a:lstStyle/>
          <a:p>
            <a:pPr marL="0" indent="0" algn="l">
              <a:lnSpc>
                <a:spcPts val="1260"/>
              </a:lnSpc>
              <a:buNone/>
            </a:pPr>
            <a:r>
              <a:rPr lang="en-US" sz="900" b="1" dirty="0">
                <a:solidFill>
                  <a:srgbClr val="0F172A"/>
                </a:solidFill>
                <a:latin typeface="Carlito" pitchFamily="34" charset="0"/>
                <a:ea typeface="Carlito" pitchFamily="34" charset="-122"/>
                <a:cs typeface="Carlito" pitchFamily="34" charset="-120"/>
              </a:rPr>
              <a:t>Embed the LLM where the developer already is — do not make them copy logs into a separate chat tool.</a:t>
            </a:r>
            <a:endParaRPr lang="en-US" sz="900" dirty="0"/>
          </a:p>
        </p:txBody>
      </p:sp>
      <p:sp>
        <p:nvSpPr>
          <p:cNvPr id="27" name="Text 25"/>
          <p:cNvSpPr/>
          <p:nvPr/>
        </p:nvSpPr>
        <p:spPr>
          <a:xfrm>
            <a:off x="3989003" y="3354549"/>
            <a:ext cx="4569209" cy="153591"/>
          </a:xfrm>
          <a:prstGeom prst="rect">
            <a:avLst/>
          </a:prstGeom>
          <a:noFill/>
          <a:ln/>
        </p:spPr>
        <p:txBody>
          <a:bodyPr wrap="none" lIns="0" tIns="0" rIns="0" bIns="0" rtlCol="0" anchor="t"/>
          <a:lstStyle/>
          <a:p>
            <a:pPr marL="0" indent="0" algn="l">
              <a:lnSpc>
                <a:spcPts val="945"/>
              </a:lnSpc>
              <a:buNone/>
            </a:pPr>
            <a:r>
              <a:rPr lang="en-US" sz="800" b="1" kern="0" spc="84" dirty="0">
                <a:solidFill>
                  <a:srgbClr val="C2410C"/>
                </a:solidFill>
                <a:latin typeface="Carlito" pitchFamily="34" charset="0"/>
                <a:ea typeface="Carlito" pitchFamily="34" charset="-122"/>
                <a:cs typeface="Carlito" pitchFamily="34" charset="-120"/>
              </a:rPr>
              <a:t>LESSON</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233748"/>
            <a:ext cx="2124931" cy="305730"/>
          </a:xfrm>
          <a:prstGeom prst="roundRect">
            <a:avLst>
              <a:gd name="adj" fmla="val 3112379"/>
            </a:avLst>
          </a:prstGeom>
          <a:solidFill>
            <a:srgbClr val="FED7AA"/>
          </a:solidFill>
          <a:ln/>
        </p:spPr>
        <p:txBody>
          <a:bodyPr wrap="square" rtlCol="0" anchor="ctr"/>
          <a:lstStyle/>
          <a:p>
            <a:pPr marL="0" indent="0">
              <a:buNone/>
            </a:pPr>
            <a:endParaRPr lang="en-US" dirty="0"/>
          </a:p>
        </p:txBody>
      </p:sp>
      <p:sp>
        <p:nvSpPr>
          <p:cNvPr id="3" name="Text 1"/>
          <p:cNvSpPr/>
          <p:nvPr/>
        </p:nvSpPr>
        <p:spPr>
          <a:xfrm>
            <a:off x="457200" y="1233748"/>
            <a:ext cx="2124931" cy="305730"/>
          </a:xfrm>
          <a:prstGeom prst="rect">
            <a:avLst/>
          </a:prstGeom>
          <a:noFill/>
          <a:ln/>
        </p:spPr>
        <p:txBody>
          <a:bodyPr wrap="none" lIns="0" tIns="0" rIns="0" bIns="0" rtlCol="0" anchor="ctr"/>
          <a:lstStyle/>
          <a:p>
            <a:pPr marL="0" indent="0" algn="ctr">
              <a:lnSpc>
                <a:spcPts val="1733"/>
              </a:lnSpc>
              <a:buNone/>
            </a:pPr>
            <a:r>
              <a:rPr lang="en-US" sz="1238" b="1" kern="0" spc="28" dirty="0">
                <a:solidFill>
                  <a:srgbClr val="C2410C"/>
                </a:solidFill>
                <a:latin typeface="Liberation Sans Narrow" pitchFamily="34" charset="0"/>
                <a:ea typeface="Liberation Sans Narrow" pitchFamily="34" charset="-122"/>
                <a:cs typeface="Liberation Sans Narrow" pitchFamily="34" charset="-120"/>
              </a:rPr>
              <a:t>SECTION A • TOPIC 4 OF 4</a:t>
            </a:r>
            <a:endParaRPr lang="en-US" sz="1238" dirty="0"/>
          </a:p>
        </p:txBody>
      </p:sp>
      <p:sp>
        <p:nvSpPr>
          <p:cNvPr id="4" name="Text 2"/>
          <p:cNvSpPr/>
          <p:nvPr/>
        </p:nvSpPr>
        <p:spPr>
          <a:xfrm>
            <a:off x="457200" y="1668066"/>
            <a:ext cx="7528441" cy="998366"/>
          </a:xfrm>
          <a:prstGeom prst="rect">
            <a:avLst/>
          </a:prstGeom>
          <a:noFill/>
          <a:ln/>
        </p:spPr>
        <p:txBody>
          <a:bodyPr wrap="none" lIns="0" tIns="0" rIns="0" bIns="0" rtlCol="0" anchor="t">
            <a:normAutofit/>
          </a:bodyPr>
          <a:lstStyle/>
          <a:p>
            <a:pPr marL="0" indent="0" algn="l">
              <a:lnSpc>
                <a:spcPts val="7290"/>
              </a:lnSpc>
              <a:buNone/>
            </a:pPr>
            <a:r>
              <a:rPr lang="en-US" sz="8100" b="1" kern="0" spc="-225" dirty="0">
                <a:solidFill>
                  <a:srgbClr val="F97316"/>
                </a:solidFill>
                <a:latin typeface="Liberation Sans Narrow" pitchFamily="34" charset="0"/>
                <a:ea typeface="Liberation Sans Narrow" pitchFamily="34" charset="-122"/>
                <a:cs typeface="Liberation Sans Narrow" pitchFamily="34" charset="-120"/>
              </a:rPr>
              <a:t>1.4</a:t>
            </a:r>
            <a:endParaRPr lang="en-US" sz="8100" dirty="0"/>
          </a:p>
        </p:txBody>
      </p:sp>
      <p:sp>
        <p:nvSpPr>
          <p:cNvPr id="5" name="Text 3"/>
          <p:cNvSpPr/>
          <p:nvPr/>
        </p:nvSpPr>
        <p:spPr>
          <a:xfrm>
            <a:off x="457200" y="2693863"/>
            <a:ext cx="5175803" cy="486061"/>
          </a:xfrm>
          <a:prstGeom prst="rect">
            <a:avLst/>
          </a:prstGeom>
          <a:noFill/>
          <a:ln/>
        </p:spPr>
        <p:txBody>
          <a:bodyPr wrap="square" lIns="0" tIns="0" rIns="0" bIns="0" rtlCol="0" anchor="t"/>
          <a:lstStyle/>
          <a:p>
            <a:pPr marL="0" indent="0" algn="l">
              <a:lnSpc>
                <a:spcPts val="3544"/>
              </a:lnSpc>
              <a:buNone/>
            </a:pPr>
            <a:r>
              <a:rPr lang="en-US" sz="3375" b="1" kern="0" spc="-67" dirty="0">
                <a:solidFill>
                  <a:srgbClr val="0F172A"/>
                </a:solidFill>
                <a:latin typeface="Carlito" pitchFamily="34" charset="0"/>
                <a:ea typeface="Carlito" pitchFamily="34" charset="-122"/>
                <a:cs typeface="Carlito" pitchFamily="34" charset="-120"/>
              </a:rPr>
              <a:t>Build-Failure Prediction</a:t>
            </a:r>
            <a:endParaRPr lang="en-US" sz="3375" dirty="0"/>
          </a:p>
        </p:txBody>
      </p:sp>
      <p:sp>
        <p:nvSpPr>
          <p:cNvPr id="6" name="Text 4"/>
          <p:cNvSpPr/>
          <p:nvPr/>
        </p:nvSpPr>
        <p:spPr>
          <a:xfrm>
            <a:off x="457200" y="3272507"/>
            <a:ext cx="571500" cy="42863"/>
          </a:xfrm>
          <a:prstGeom prst="roundRect">
            <a:avLst>
              <a:gd name="adj" fmla="val 66666"/>
            </a:avLst>
          </a:prstGeom>
          <a:solidFill>
            <a:srgbClr val="F97316"/>
          </a:solidFill>
          <a:ln/>
        </p:spPr>
        <p:txBody>
          <a:bodyPr wrap="square" rtlCol="0" anchor="ctr"/>
          <a:lstStyle/>
          <a:p>
            <a:pPr marL="0" indent="0">
              <a:buNone/>
            </a:pPr>
            <a:endParaRPr lang="en-US" dirty="0"/>
          </a:p>
        </p:txBody>
      </p:sp>
      <p:sp>
        <p:nvSpPr>
          <p:cNvPr id="7" name="Text 5"/>
          <p:cNvSpPr/>
          <p:nvPr/>
        </p:nvSpPr>
        <p:spPr>
          <a:xfrm>
            <a:off x="457200" y="3429670"/>
            <a:ext cx="4705276" cy="518368"/>
          </a:xfrm>
          <a:prstGeom prst="rect">
            <a:avLst/>
          </a:prstGeom>
          <a:noFill/>
          <a:ln/>
        </p:spPr>
        <p:txBody>
          <a:bodyPr wrap="square" lIns="0" tIns="0" rIns="0" bIns="0" rtlCol="0" anchor="t"/>
          <a:lstStyle/>
          <a:p>
            <a:pPr marL="0" indent="0" algn="l">
              <a:lnSpc>
                <a:spcPts val="1890"/>
              </a:lnSpc>
              <a:buNone/>
            </a:pPr>
            <a:r>
              <a:rPr lang="en-US" sz="1350" dirty="0">
                <a:solidFill>
                  <a:srgbClr val="334155"/>
                </a:solidFill>
                <a:latin typeface="Carlito" pitchFamily="34" charset="0"/>
                <a:ea typeface="Carlito" pitchFamily="34" charset="-122"/>
                <a:cs typeface="Carlito" pitchFamily="34" charset="-120"/>
              </a:rPr>
              <a:t>Use historical telemetry to predict WHICH builds are likely to fail — before they run.</a:t>
            </a:r>
            <a:endParaRPr lang="en-US" sz="1350" dirty="0"/>
          </a:p>
        </p:txBody>
      </p:sp>
      <p:sp>
        <p:nvSpPr>
          <p:cNvPr id="8" name="Text 6"/>
          <p:cNvSpPr/>
          <p:nvPr/>
        </p:nvSpPr>
        <p:spPr>
          <a:xfrm>
            <a:off x="5391076" y="457200"/>
            <a:ext cx="3295613" cy="4229100"/>
          </a:xfrm>
          <a:prstGeom prst="roundRect">
            <a:avLst>
              <a:gd name="adj" fmla="val 4046"/>
            </a:avLst>
          </a:prstGeom>
          <a:solidFill>
            <a:srgbClr val="FFF7ED"/>
          </a:solidFill>
          <a:ln/>
        </p:spPr>
        <p:txBody>
          <a:bodyPr wrap="square" rtlCol="0" anchor="ctr"/>
          <a:lstStyle/>
          <a:p>
            <a:pPr marL="0" indent="0">
              <a:buNone/>
            </a:pPr>
            <a:endParaRPr lang="en-US" dirty="0"/>
          </a:p>
        </p:txBody>
      </p:sp>
      <p:sp>
        <p:nvSpPr>
          <p:cNvPr id="9" name="Shape 7"/>
          <p:cNvSpPr/>
          <p:nvPr/>
        </p:nvSpPr>
        <p:spPr>
          <a:xfrm>
            <a:off x="5419651" y="457200"/>
            <a:ext cx="0" cy="4229100"/>
          </a:xfrm>
          <a:prstGeom prst="line">
            <a:avLst/>
          </a:prstGeom>
          <a:noFill/>
          <a:ln w="57150">
            <a:solidFill>
              <a:srgbClr val="F97316"/>
            </a:solidFill>
            <a:prstDash val="solid"/>
          </a:ln>
        </p:spPr>
      </p:sp>
      <p:sp>
        <p:nvSpPr>
          <p:cNvPr id="10" name="Text 8"/>
          <p:cNvSpPr/>
          <p:nvPr/>
        </p:nvSpPr>
        <p:spPr>
          <a:xfrm>
            <a:off x="7621555" y="3471863"/>
            <a:ext cx="1258729" cy="957263"/>
          </a:xfrm>
          <a:prstGeom prst="rect">
            <a:avLst/>
          </a:prstGeom>
          <a:noFill/>
          <a:ln/>
        </p:spPr>
        <p:txBody>
          <a:bodyPr wrap="none" lIns="0" tIns="0" rIns="0" bIns="0" rtlCol="0" anchor="t"/>
          <a:lstStyle/>
          <a:p>
            <a:pPr marL="0" indent="0" algn="l">
              <a:lnSpc>
                <a:spcPts val="11250"/>
              </a:lnSpc>
              <a:buNone/>
            </a:pPr>
            <a:r>
              <a:rPr lang="en-US" sz="11250" b="1" dirty="0">
                <a:solidFill>
                  <a:srgbClr val="F97316">
                    <a:alpha val="8000"/>
                  </a:srgbClr>
                </a:solidFill>
                <a:latin typeface="Courier New" pitchFamily="34" charset="0"/>
                <a:ea typeface="Courier New" pitchFamily="34" charset="-122"/>
                <a:cs typeface="Courier New" pitchFamily="34" charset="-120"/>
              </a:rPr>
              <a:t>?</a:t>
            </a:r>
            <a:endParaRPr lang="en-US" sz="11250" dirty="0"/>
          </a:p>
        </p:txBody>
      </p:sp>
      <p:sp>
        <p:nvSpPr>
          <p:cNvPr id="11" name="Text 9"/>
          <p:cNvSpPr/>
          <p:nvPr/>
        </p:nvSpPr>
        <p:spPr>
          <a:xfrm>
            <a:off x="5676826" y="1805471"/>
            <a:ext cx="2781263" cy="153570"/>
          </a:xfrm>
          <a:prstGeom prst="rect">
            <a:avLst/>
          </a:prstGeom>
          <a:noFill/>
          <a:ln/>
        </p:spPr>
        <p:txBody>
          <a:bodyPr wrap="none" lIns="0" tIns="0" rIns="0" bIns="0" rtlCol="0" anchor="t"/>
          <a:lstStyle/>
          <a:p>
            <a:pPr marL="0" indent="0" algn="l">
              <a:lnSpc>
                <a:spcPts val="1103"/>
              </a:lnSpc>
              <a:buNone/>
            </a:pPr>
            <a:r>
              <a:rPr lang="en-US" sz="800" b="1" kern="0" spc="84" dirty="0">
                <a:solidFill>
                  <a:srgbClr val="C2410C"/>
                </a:solidFill>
                <a:latin typeface="Carlito" pitchFamily="34" charset="0"/>
                <a:ea typeface="Carlito" pitchFamily="34" charset="-122"/>
                <a:cs typeface="Carlito" pitchFamily="34" charset="-120"/>
              </a:rPr>
              <a:t>THE KEY QUESTION</a:t>
            </a:r>
            <a:endParaRPr lang="en-US" sz="800" dirty="0"/>
          </a:p>
        </p:txBody>
      </p:sp>
      <p:sp>
        <p:nvSpPr>
          <p:cNvPr id="12" name="Text 10"/>
          <p:cNvSpPr/>
          <p:nvPr/>
        </p:nvSpPr>
        <p:spPr>
          <a:xfrm>
            <a:off x="5676826" y="2045457"/>
            <a:ext cx="2781263" cy="721858"/>
          </a:xfrm>
          <a:prstGeom prst="rect">
            <a:avLst/>
          </a:prstGeom>
          <a:noFill/>
          <a:ln/>
        </p:spPr>
        <p:txBody>
          <a:bodyPr wrap="square" lIns="0" tIns="0" rIns="0" bIns="0" rtlCol="0" anchor="t"/>
          <a:lstStyle/>
          <a:p>
            <a:pPr marL="0" indent="0" algn="l">
              <a:lnSpc>
                <a:spcPts val="1755"/>
              </a:lnSpc>
              <a:buNone/>
            </a:pPr>
            <a:r>
              <a:rPr lang="en-US" sz="1350" b="1" dirty="0">
                <a:solidFill>
                  <a:srgbClr val="0F172A"/>
                </a:solidFill>
                <a:latin typeface="Carlito" pitchFamily="34" charset="0"/>
                <a:ea typeface="Carlito" pitchFamily="34" charset="-122"/>
                <a:cs typeface="Carlito" pitchFamily="34" charset="-120"/>
              </a:rPr>
              <a:t>Question: What if CI could tell you "this PR has an </a:t>
            </a:r>
            <a:r>
              <a:rPr lang="en-US" sz="1350" b="1" dirty="0">
                <a:solidFill>
                  <a:srgbClr val="C2410C"/>
                </a:solidFill>
                <a:latin typeface="Liberation Sans Narrow" pitchFamily="34" charset="0"/>
                <a:ea typeface="Liberation Sans Narrow" pitchFamily="34" charset="-122"/>
                <a:cs typeface="Liberation Sans Narrow" pitchFamily="34" charset="-120"/>
              </a:rPr>
              <a:t>87% chance of failing</a:t>
            </a:r>
            <a:r>
              <a:rPr lang="en-US" sz="1350" b="1" dirty="0">
                <a:solidFill>
                  <a:srgbClr val="0F172A"/>
                </a:solidFill>
                <a:latin typeface="Carlito" pitchFamily="34" charset="0"/>
                <a:ea typeface="Carlito" pitchFamily="34" charset="-122"/>
                <a:cs typeface="Carlito" pitchFamily="34" charset="-120"/>
              </a:rPr>
              <a:t> the build" BEFORE running it?</a:t>
            </a:r>
            <a:endParaRPr lang="en-US" sz="1350" dirty="0"/>
          </a:p>
        </p:txBody>
      </p:sp>
      <p:sp>
        <p:nvSpPr>
          <p:cNvPr id="13" name="Text 11"/>
          <p:cNvSpPr/>
          <p:nvPr/>
        </p:nvSpPr>
        <p:spPr>
          <a:xfrm>
            <a:off x="5676826" y="2842431"/>
            <a:ext cx="2781263" cy="535245"/>
          </a:xfrm>
          <a:prstGeom prst="rect">
            <a:avLst/>
          </a:prstGeom>
          <a:noFill/>
          <a:ln/>
        </p:spPr>
        <p:txBody>
          <a:bodyPr wrap="square" lIns="0" tIns="128588" rIns="0" bIns="0" rtlCol="0" anchor="t"/>
          <a:lstStyle/>
          <a:p>
            <a:pPr marL="0" indent="0" algn="l">
              <a:lnSpc>
                <a:spcPts val="1418"/>
              </a:lnSpc>
              <a:buNone/>
            </a:pPr>
            <a:r>
              <a:rPr lang="en-US" sz="1013" dirty="0">
                <a:solidFill>
                  <a:srgbClr val="334155"/>
                </a:solidFill>
                <a:latin typeface="Carlito" pitchFamily="34" charset="0"/>
                <a:ea typeface="Carlito" pitchFamily="34" charset="-122"/>
                <a:cs typeface="Carlito" pitchFamily="34" charset="-120"/>
              </a:rPr>
              <a:t>Answer: </a:t>
            </a:r>
            <a:r>
              <a:rPr lang="en-US" sz="1013" b="1" dirty="0">
                <a:solidFill>
                  <a:srgbClr val="C2410C"/>
                </a:solidFill>
                <a:latin typeface="Carlito" pitchFamily="34" charset="0"/>
                <a:ea typeface="Carlito" pitchFamily="34" charset="-122"/>
                <a:cs typeface="Carlito" pitchFamily="34" charset="-120"/>
              </a:rPr>
              <a:t>Telemetry + ML models</a:t>
            </a:r>
            <a:r>
              <a:rPr lang="en-US" sz="1013" dirty="0">
                <a:solidFill>
                  <a:srgbClr val="334155"/>
                </a:solidFill>
                <a:latin typeface="Carlito" pitchFamily="34" charset="0"/>
                <a:ea typeface="Carlito" pitchFamily="34" charset="-122"/>
                <a:cs typeface="Carlito" pitchFamily="34" charset="-120"/>
              </a:rPr>
              <a:t> trained on past failures can do exactly that.</a:t>
            </a:r>
            <a:endParaRPr lang="en-US" sz="1013"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8636000" cy="388776"/>
          </a:xfrm>
          <a:prstGeom prst="rect">
            <a:avLst/>
          </a:prstGeom>
          <a:noFill/>
          <a:ln/>
        </p:spPr>
        <p:txBody>
          <a:bodyPr wrap="square" lIns="0" tIns="0" rIns="0" bIns="0" rtlCol="0" anchor="t"/>
          <a:lstStyle/>
          <a:p>
            <a:pPr marL="0" indent="0" algn="l">
              <a:lnSpc>
                <a:spcPts val="2835"/>
              </a:lnSpc>
              <a:buNone/>
            </a:pPr>
            <a:r>
              <a:rPr lang="en-US" sz="2025" b="1" dirty="0">
                <a:solidFill>
                  <a:srgbClr val="0F172A"/>
                </a:solidFill>
                <a:latin typeface="Carlito" pitchFamily="34" charset="0"/>
                <a:ea typeface="Carlito" pitchFamily="34" charset="-122"/>
                <a:cs typeface="Carlito" pitchFamily="34" charset="-120"/>
              </a:rPr>
              <a:t>Telemetry Signals for Failure Prediction</a:t>
            </a:r>
            <a:endParaRPr lang="en-US" sz="2025" dirty="0"/>
          </a:p>
        </p:txBody>
      </p:sp>
      <p:sp>
        <p:nvSpPr>
          <p:cNvPr id="3" name="Text 1"/>
          <p:cNvSpPr/>
          <p:nvPr/>
        </p:nvSpPr>
        <p:spPr>
          <a:xfrm>
            <a:off x="457200" y="874328"/>
            <a:ext cx="571500" cy="42863"/>
          </a:xfrm>
          <a:prstGeom prst="roundRect">
            <a:avLst>
              <a:gd name="adj" fmla="val 66666"/>
            </a:avLst>
          </a:prstGeom>
          <a:solidFill>
            <a:srgbClr val="F97316"/>
          </a:solidFill>
          <a:ln/>
        </p:spPr>
        <p:txBody>
          <a:bodyPr wrap="square" rtlCol="0" anchor="ctr"/>
          <a:lstStyle/>
          <a:p>
            <a:pPr marL="0" indent="0">
              <a:buNone/>
            </a:pPr>
            <a:endParaRPr lang="en-US" dirty="0"/>
          </a:p>
        </p:txBody>
      </p:sp>
      <p:sp>
        <p:nvSpPr>
          <p:cNvPr id="4" name="Text 2"/>
          <p:cNvSpPr/>
          <p:nvPr/>
        </p:nvSpPr>
        <p:spPr>
          <a:xfrm>
            <a:off x="457200" y="960053"/>
            <a:ext cx="8229600" cy="205177"/>
          </a:xfrm>
          <a:prstGeom prst="rect">
            <a:avLst/>
          </a:prstGeom>
          <a:noFill/>
          <a:ln/>
        </p:spPr>
        <p:txBody>
          <a:bodyPr wrap="square" lIns="0" tIns="0" rIns="0" bIns="0" rtlCol="0" anchor="t"/>
          <a:lstStyle/>
          <a:p>
            <a:pPr marL="0" indent="0" algn="l">
              <a:lnSpc>
                <a:spcPts val="1496"/>
              </a:lnSpc>
              <a:buNone/>
            </a:pPr>
            <a:r>
              <a:rPr lang="en-US" sz="1069" dirty="0">
                <a:solidFill>
                  <a:srgbClr val="334155"/>
                </a:solidFill>
                <a:latin typeface="Carlito" pitchFamily="34" charset="0"/>
                <a:ea typeface="Carlito" pitchFamily="34" charset="-122"/>
                <a:cs typeface="Carlito" pitchFamily="34" charset="-120"/>
              </a:rPr>
              <a:t>Six families of features that historically correlate with build failure.</a:t>
            </a:r>
            <a:endParaRPr lang="en-US" sz="1069" dirty="0"/>
          </a:p>
        </p:txBody>
      </p:sp>
      <p:sp>
        <p:nvSpPr>
          <p:cNvPr id="5" name="Text 3"/>
          <p:cNvSpPr/>
          <p:nvPr/>
        </p:nvSpPr>
        <p:spPr>
          <a:xfrm>
            <a:off x="457200" y="1235757"/>
            <a:ext cx="2676451" cy="1441586"/>
          </a:xfrm>
          <a:prstGeom prst="roundRect">
            <a:avLst>
              <a:gd name="adj" fmla="val 9250"/>
            </a:avLst>
          </a:prstGeom>
          <a:solidFill>
            <a:srgbClr val="F8FAFC"/>
          </a:solidFill>
          <a:ln/>
        </p:spPr>
        <p:txBody>
          <a:bodyPr wrap="square" rtlCol="0" anchor="ctr"/>
          <a:lstStyle/>
          <a:p>
            <a:pPr marL="0" indent="0">
              <a:buNone/>
            </a:pPr>
            <a:endParaRPr lang="en-US" dirty="0"/>
          </a:p>
        </p:txBody>
      </p:sp>
      <p:sp>
        <p:nvSpPr>
          <p:cNvPr id="6" name="Shape 4"/>
          <p:cNvSpPr/>
          <p:nvPr/>
        </p:nvSpPr>
        <p:spPr>
          <a:xfrm>
            <a:off x="457200" y="1239329"/>
            <a:ext cx="2676451" cy="0"/>
          </a:xfrm>
          <a:prstGeom prst="line">
            <a:avLst/>
          </a:prstGeom>
          <a:noFill/>
          <a:ln w="7144">
            <a:solidFill>
              <a:srgbClr val="CBD5E1"/>
            </a:solidFill>
            <a:prstDash val="solid"/>
          </a:ln>
        </p:spPr>
      </p:sp>
      <p:sp>
        <p:nvSpPr>
          <p:cNvPr id="7" name="Shape 5"/>
          <p:cNvSpPr/>
          <p:nvPr/>
        </p:nvSpPr>
        <p:spPr>
          <a:xfrm>
            <a:off x="3130079" y="1235757"/>
            <a:ext cx="0" cy="1441586"/>
          </a:xfrm>
          <a:prstGeom prst="line">
            <a:avLst/>
          </a:prstGeom>
          <a:noFill/>
          <a:ln w="7144">
            <a:solidFill>
              <a:srgbClr val="CBD5E1"/>
            </a:solidFill>
            <a:prstDash val="solid"/>
          </a:ln>
        </p:spPr>
      </p:sp>
      <p:sp>
        <p:nvSpPr>
          <p:cNvPr id="8" name="Shape 6"/>
          <p:cNvSpPr/>
          <p:nvPr/>
        </p:nvSpPr>
        <p:spPr>
          <a:xfrm>
            <a:off x="457200" y="2673772"/>
            <a:ext cx="2676451" cy="0"/>
          </a:xfrm>
          <a:prstGeom prst="line">
            <a:avLst/>
          </a:prstGeom>
          <a:noFill/>
          <a:ln w="7144">
            <a:solidFill>
              <a:srgbClr val="CBD5E1"/>
            </a:solidFill>
            <a:prstDash val="solid"/>
          </a:ln>
        </p:spPr>
      </p:sp>
      <p:sp>
        <p:nvSpPr>
          <p:cNvPr id="9" name="Shape 7"/>
          <p:cNvSpPr/>
          <p:nvPr/>
        </p:nvSpPr>
        <p:spPr>
          <a:xfrm>
            <a:off x="475059" y="1235757"/>
            <a:ext cx="0" cy="1441586"/>
          </a:xfrm>
          <a:prstGeom prst="line">
            <a:avLst/>
          </a:prstGeom>
          <a:noFill/>
          <a:ln w="35719">
            <a:solidFill>
              <a:srgbClr val="F97316"/>
            </a:solidFill>
            <a:prstDash val="solid"/>
          </a:ln>
        </p:spPr>
      </p:sp>
      <p:sp>
        <p:nvSpPr>
          <p:cNvPr id="10" name="Text 8"/>
          <p:cNvSpPr/>
          <p:nvPr/>
        </p:nvSpPr>
        <p:spPr>
          <a:xfrm>
            <a:off x="607219" y="1342913"/>
            <a:ext cx="228600" cy="228600"/>
          </a:xfrm>
          <a:prstGeom prst="roundRect">
            <a:avLst>
              <a:gd name="adj" fmla="val 33333"/>
            </a:avLst>
          </a:prstGeom>
          <a:solidFill>
            <a:srgbClr val="F97316">
              <a:alpha val="12000"/>
            </a:srgbClr>
          </a:solidFill>
          <a:ln/>
        </p:spPr>
        <p:txBody>
          <a:bodyPr wrap="square" rtlCol="0" anchor="ctr"/>
          <a:lstStyle/>
          <a:p>
            <a:pPr marL="0" indent="0">
              <a:buNone/>
            </a:pPr>
            <a:endParaRPr lang="en-US" dirty="0"/>
          </a:p>
        </p:txBody>
      </p:sp>
      <p:sp>
        <p:nvSpPr>
          <p:cNvPr id="11" name="Text 9"/>
          <p:cNvSpPr/>
          <p:nvPr/>
        </p:nvSpPr>
        <p:spPr>
          <a:xfrm>
            <a:off x="617934" y="1353629"/>
            <a:ext cx="207169" cy="207169"/>
          </a:xfrm>
          <a:prstGeom prst="rect">
            <a:avLst/>
          </a:prstGeom>
          <a:noFill/>
          <a:ln/>
        </p:spPr>
        <p:txBody>
          <a:bodyPr wrap="none" lIns="0" tIns="0" rIns="0" bIns="0" rtlCol="0" anchor="ctr"/>
          <a:lstStyle/>
          <a:p>
            <a:pPr marL="0" indent="0" algn="ctr">
              <a:buNone/>
            </a:pPr>
            <a:r>
              <a:rPr lang="en-US" sz="1406" dirty="0">
                <a:solidFill>
                  <a:srgbClr val="F97316"/>
                </a:solidFill>
                <a:latin typeface="Segoe UI Symbol" pitchFamily="34" charset="0"/>
                <a:ea typeface="Segoe UI Symbol" pitchFamily="34" charset="-122"/>
                <a:cs typeface="Segoe UI Symbol" pitchFamily="34" charset="-120"/>
              </a:rPr>
              <a:t>✦</a:t>
            </a:r>
            <a:endParaRPr lang="en-US" sz="1406" dirty="0"/>
          </a:p>
        </p:txBody>
      </p:sp>
      <p:sp>
        <p:nvSpPr>
          <p:cNvPr id="12" name="Text 10"/>
          <p:cNvSpPr/>
          <p:nvPr/>
        </p:nvSpPr>
        <p:spPr>
          <a:xfrm>
            <a:off x="907256" y="1387339"/>
            <a:ext cx="2104951" cy="150809"/>
          </a:xfrm>
          <a:prstGeom prst="rect">
            <a:avLst/>
          </a:prstGeom>
          <a:noFill/>
          <a:ln/>
        </p:spPr>
        <p:txBody>
          <a:bodyPr wrap="none" lIns="0" tIns="0" rIns="0" bIns="0" rtlCol="0" anchor="t"/>
          <a:lstStyle/>
          <a:p>
            <a:pPr marL="0" indent="0" algn="l">
              <a:lnSpc>
                <a:spcPts val="1100"/>
              </a:lnSpc>
              <a:buNone/>
            </a:pPr>
            <a:r>
              <a:rPr lang="en-US" sz="956" b="1" dirty="0">
                <a:solidFill>
                  <a:srgbClr val="0F172A"/>
                </a:solidFill>
                <a:latin typeface="Carlito" pitchFamily="34" charset="0"/>
                <a:ea typeface="Carlito" pitchFamily="34" charset="-122"/>
                <a:cs typeface="Carlito" pitchFamily="34" charset="-120"/>
              </a:rPr>
              <a:t>Code-Diff Features</a:t>
            </a:r>
            <a:endParaRPr lang="en-US" sz="956" dirty="0"/>
          </a:p>
        </p:txBody>
      </p:sp>
      <p:sp>
        <p:nvSpPr>
          <p:cNvPr id="13" name="Text 11"/>
          <p:cNvSpPr/>
          <p:nvPr/>
        </p:nvSpPr>
        <p:spPr>
          <a:xfrm>
            <a:off x="607219" y="1614376"/>
            <a:ext cx="2404988" cy="307140"/>
          </a:xfrm>
          <a:prstGeom prst="rect">
            <a:avLst/>
          </a:prstGeom>
          <a:noFill/>
          <a:ln/>
        </p:spPr>
        <p:txBody>
          <a:bodyPr wrap="square" lIns="0" tIns="0" rIns="0" bIns="0" rtlCol="0" anchor="t"/>
          <a:lstStyle/>
          <a:p>
            <a:pPr marL="0" indent="0" algn="l">
              <a:lnSpc>
                <a:spcPts val="1103"/>
              </a:lnSpc>
              <a:buNone/>
            </a:pPr>
            <a:r>
              <a:rPr lang="en-US" sz="800" dirty="0">
                <a:solidFill>
                  <a:srgbClr val="334155"/>
                </a:solidFill>
                <a:latin typeface="Carlito" pitchFamily="34" charset="0"/>
                <a:ea typeface="Carlito" pitchFamily="34" charset="-122"/>
                <a:cs typeface="Carlito" pitchFamily="34" charset="-120"/>
              </a:rPr>
              <a:t>Lines changed, files touched, deletion ratio, files in historically-buggy directories, new files added.</a:t>
            </a:r>
            <a:endParaRPr lang="en-US" sz="800" dirty="0"/>
          </a:p>
        </p:txBody>
      </p:sp>
      <p:sp>
        <p:nvSpPr>
          <p:cNvPr id="14" name="Text 12"/>
          <p:cNvSpPr/>
          <p:nvPr/>
        </p:nvSpPr>
        <p:spPr>
          <a:xfrm>
            <a:off x="3233663" y="1235757"/>
            <a:ext cx="2676562" cy="1441586"/>
          </a:xfrm>
          <a:prstGeom prst="roundRect">
            <a:avLst>
              <a:gd name="adj" fmla="val 9250"/>
            </a:avLst>
          </a:prstGeom>
          <a:solidFill>
            <a:srgbClr val="F8FAFC"/>
          </a:solidFill>
          <a:ln/>
        </p:spPr>
        <p:txBody>
          <a:bodyPr wrap="square" rtlCol="0" anchor="ctr"/>
          <a:lstStyle/>
          <a:p>
            <a:pPr marL="0" indent="0">
              <a:buNone/>
            </a:pPr>
            <a:endParaRPr lang="en-US" dirty="0"/>
          </a:p>
        </p:txBody>
      </p:sp>
      <p:sp>
        <p:nvSpPr>
          <p:cNvPr id="15" name="Shape 13"/>
          <p:cNvSpPr/>
          <p:nvPr/>
        </p:nvSpPr>
        <p:spPr>
          <a:xfrm>
            <a:off x="3233663" y="1239329"/>
            <a:ext cx="2676562" cy="0"/>
          </a:xfrm>
          <a:prstGeom prst="line">
            <a:avLst/>
          </a:prstGeom>
          <a:noFill/>
          <a:ln w="7144">
            <a:solidFill>
              <a:srgbClr val="CBD5E1"/>
            </a:solidFill>
            <a:prstDash val="solid"/>
          </a:ln>
        </p:spPr>
      </p:sp>
      <p:sp>
        <p:nvSpPr>
          <p:cNvPr id="16" name="Shape 14"/>
          <p:cNvSpPr/>
          <p:nvPr/>
        </p:nvSpPr>
        <p:spPr>
          <a:xfrm>
            <a:off x="5906653" y="1235757"/>
            <a:ext cx="0" cy="1441586"/>
          </a:xfrm>
          <a:prstGeom prst="line">
            <a:avLst/>
          </a:prstGeom>
          <a:noFill/>
          <a:ln w="7144">
            <a:solidFill>
              <a:srgbClr val="CBD5E1"/>
            </a:solidFill>
            <a:prstDash val="solid"/>
          </a:ln>
        </p:spPr>
      </p:sp>
      <p:sp>
        <p:nvSpPr>
          <p:cNvPr id="17" name="Shape 15"/>
          <p:cNvSpPr/>
          <p:nvPr/>
        </p:nvSpPr>
        <p:spPr>
          <a:xfrm>
            <a:off x="3233663" y="2673772"/>
            <a:ext cx="2676562" cy="0"/>
          </a:xfrm>
          <a:prstGeom prst="line">
            <a:avLst/>
          </a:prstGeom>
          <a:noFill/>
          <a:ln w="7144">
            <a:solidFill>
              <a:srgbClr val="CBD5E1"/>
            </a:solidFill>
            <a:prstDash val="solid"/>
          </a:ln>
        </p:spPr>
      </p:sp>
      <p:sp>
        <p:nvSpPr>
          <p:cNvPr id="18" name="Shape 16"/>
          <p:cNvSpPr/>
          <p:nvPr/>
        </p:nvSpPr>
        <p:spPr>
          <a:xfrm>
            <a:off x="3251522" y="1235757"/>
            <a:ext cx="0" cy="1441586"/>
          </a:xfrm>
          <a:prstGeom prst="line">
            <a:avLst/>
          </a:prstGeom>
          <a:noFill/>
          <a:ln w="35719">
            <a:solidFill>
              <a:srgbClr val="F97316"/>
            </a:solidFill>
            <a:prstDash val="solid"/>
          </a:ln>
        </p:spPr>
      </p:sp>
      <p:sp>
        <p:nvSpPr>
          <p:cNvPr id="19" name="Text 17"/>
          <p:cNvSpPr/>
          <p:nvPr/>
        </p:nvSpPr>
        <p:spPr>
          <a:xfrm>
            <a:off x="3383682" y="1342913"/>
            <a:ext cx="228600" cy="228600"/>
          </a:xfrm>
          <a:prstGeom prst="roundRect">
            <a:avLst>
              <a:gd name="adj" fmla="val 33333"/>
            </a:avLst>
          </a:prstGeom>
          <a:solidFill>
            <a:srgbClr val="F97316">
              <a:alpha val="12000"/>
            </a:srgbClr>
          </a:solidFill>
          <a:ln/>
        </p:spPr>
        <p:txBody>
          <a:bodyPr wrap="square" rtlCol="0" anchor="ctr"/>
          <a:lstStyle/>
          <a:p>
            <a:pPr marL="0" indent="0">
              <a:buNone/>
            </a:pPr>
            <a:endParaRPr lang="en-US" dirty="0"/>
          </a:p>
        </p:txBody>
      </p:sp>
      <p:sp>
        <p:nvSpPr>
          <p:cNvPr id="20" name="Text 18"/>
          <p:cNvSpPr/>
          <p:nvPr/>
        </p:nvSpPr>
        <p:spPr>
          <a:xfrm>
            <a:off x="3394397" y="1353629"/>
            <a:ext cx="207169" cy="207169"/>
          </a:xfrm>
          <a:prstGeom prst="rect">
            <a:avLst/>
          </a:prstGeom>
          <a:noFill/>
          <a:ln/>
        </p:spPr>
        <p:txBody>
          <a:bodyPr wrap="none" lIns="0" tIns="0" rIns="0" bIns="0" rtlCol="0" anchor="ctr"/>
          <a:lstStyle/>
          <a:p>
            <a:pPr marL="0" indent="0" algn="ctr">
              <a:buNone/>
            </a:pPr>
            <a:r>
              <a:rPr lang="en-US" sz="1406" dirty="0">
                <a:solidFill>
                  <a:srgbClr val="F97316"/>
                </a:solidFill>
                <a:latin typeface="Segoe UI Symbol" pitchFamily="34" charset="0"/>
                <a:ea typeface="Segoe UI Symbol" pitchFamily="34" charset="-122"/>
                <a:cs typeface="Segoe UI Symbol" pitchFamily="34" charset="-120"/>
              </a:rPr>
              <a:t>☻</a:t>
            </a:r>
            <a:endParaRPr lang="en-US" sz="1406" dirty="0"/>
          </a:p>
        </p:txBody>
      </p:sp>
      <p:sp>
        <p:nvSpPr>
          <p:cNvPr id="21" name="Text 19"/>
          <p:cNvSpPr/>
          <p:nvPr/>
        </p:nvSpPr>
        <p:spPr>
          <a:xfrm>
            <a:off x="3683719" y="1387339"/>
            <a:ext cx="2105062" cy="150809"/>
          </a:xfrm>
          <a:prstGeom prst="rect">
            <a:avLst/>
          </a:prstGeom>
          <a:noFill/>
          <a:ln/>
        </p:spPr>
        <p:txBody>
          <a:bodyPr wrap="none" lIns="0" tIns="0" rIns="0" bIns="0" rtlCol="0" anchor="t"/>
          <a:lstStyle/>
          <a:p>
            <a:pPr marL="0" indent="0" algn="l">
              <a:lnSpc>
                <a:spcPts val="1100"/>
              </a:lnSpc>
              <a:buNone/>
            </a:pPr>
            <a:r>
              <a:rPr lang="en-US" sz="956" b="1" dirty="0">
                <a:solidFill>
                  <a:srgbClr val="0F172A"/>
                </a:solidFill>
                <a:latin typeface="Carlito" pitchFamily="34" charset="0"/>
                <a:ea typeface="Carlito" pitchFamily="34" charset="-122"/>
                <a:cs typeface="Carlito" pitchFamily="34" charset="-120"/>
              </a:rPr>
              <a:t>Author Features</a:t>
            </a:r>
            <a:endParaRPr lang="en-US" sz="956" dirty="0"/>
          </a:p>
        </p:txBody>
      </p:sp>
      <p:sp>
        <p:nvSpPr>
          <p:cNvPr id="22" name="Text 20"/>
          <p:cNvSpPr/>
          <p:nvPr/>
        </p:nvSpPr>
        <p:spPr>
          <a:xfrm>
            <a:off x="3383682" y="1614376"/>
            <a:ext cx="2405100" cy="307140"/>
          </a:xfrm>
          <a:prstGeom prst="rect">
            <a:avLst/>
          </a:prstGeom>
          <a:noFill/>
          <a:ln/>
        </p:spPr>
        <p:txBody>
          <a:bodyPr wrap="square" lIns="0" tIns="0" rIns="0" bIns="0" rtlCol="0" anchor="t"/>
          <a:lstStyle/>
          <a:p>
            <a:pPr marL="0" indent="0" algn="l">
              <a:lnSpc>
                <a:spcPts val="1103"/>
              </a:lnSpc>
              <a:buNone/>
            </a:pPr>
            <a:r>
              <a:rPr lang="en-US" sz="800" dirty="0">
                <a:solidFill>
                  <a:srgbClr val="334155"/>
                </a:solidFill>
                <a:latin typeface="Carlito" pitchFamily="34" charset="0"/>
                <a:ea typeface="Carlito" pitchFamily="34" charset="-122"/>
                <a:cs typeface="Carlito" pitchFamily="34" charset="-120"/>
              </a:rPr>
              <a:t>Author tenure, recent pass rate, historical failure rate, languages the author typically works in.</a:t>
            </a:r>
            <a:endParaRPr lang="en-US" sz="800" dirty="0"/>
          </a:p>
        </p:txBody>
      </p:sp>
      <p:sp>
        <p:nvSpPr>
          <p:cNvPr id="23" name="Text 21"/>
          <p:cNvSpPr/>
          <p:nvPr/>
        </p:nvSpPr>
        <p:spPr>
          <a:xfrm>
            <a:off x="6010238" y="1235757"/>
            <a:ext cx="2676451" cy="1441586"/>
          </a:xfrm>
          <a:prstGeom prst="roundRect">
            <a:avLst>
              <a:gd name="adj" fmla="val 9250"/>
            </a:avLst>
          </a:prstGeom>
          <a:solidFill>
            <a:srgbClr val="F8FAFC"/>
          </a:solidFill>
          <a:ln/>
        </p:spPr>
        <p:txBody>
          <a:bodyPr wrap="square" rtlCol="0" anchor="ctr"/>
          <a:lstStyle/>
          <a:p>
            <a:pPr marL="0" indent="0">
              <a:buNone/>
            </a:pPr>
            <a:endParaRPr lang="en-US" dirty="0"/>
          </a:p>
        </p:txBody>
      </p:sp>
      <p:sp>
        <p:nvSpPr>
          <p:cNvPr id="24" name="Shape 22"/>
          <p:cNvSpPr/>
          <p:nvPr/>
        </p:nvSpPr>
        <p:spPr>
          <a:xfrm>
            <a:off x="6010238" y="1239329"/>
            <a:ext cx="2676451" cy="0"/>
          </a:xfrm>
          <a:prstGeom prst="line">
            <a:avLst/>
          </a:prstGeom>
          <a:noFill/>
          <a:ln w="7144">
            <a:solidFill>
              <a:srgbClr val="CBD5E1"/>
            </a:solidFill>
            <a:prstDash val="solid"/>
          </a:ln>
        </p:spPr>
      </p:sp>
      <p:sp>
        <p:nvSpPr>
          <p:cNvPr id="25" name="Shape 23"/>
          <p:cNvSpPr/>
          <p:nvPr/>
        </p:nvSpPr>
        <p:spPr>
          <a:xfrm>
            <a:off x="8683117" y="1235757"/>
            <a:ext cx="0" cy="1441586"/>
          </a:xfrm>
          <a:prstGeom prst="line">
            <a:avLst/>
          </a:prstGeom>
          <a:noFill/>
          <a:ln w="7144">
            <a:solidFill>
              <a:srgbClr val="CBD5E1"/>
            </a:solidFill>
            <a:prstDash val="solid"/>
          </a:ln>
        </p:spPr>
      </p:sp>
      <p:sp>
        <p:nvSpPr>
          <p:cNvPr id="26" name="Shape 24"/>
          <p:cNvSpPr/>
          <p:nvPr/>
        </p:nvSpPr>
        <p:spPr>
          <a:xfrm>
            <a:off x="6010238" y="2673772"/>
            <a:ext cx="2676451" cy="0"/>
          </a:xfrm>
          <a:prstGeom prst="line">
            <a:avLst/>
          </a:prstGeom>
          <a:noFill/>
          <a:ln w="7144">
            <a:solidFill>
              <a:srgbClr val="CBD5E1"/>
            </a:solidFill>
            <a:prstDash val="solid"/>
          </a:ln>
        </p:spPr>
      </p:sp>
      <p:sp>
        <p:nvSpPr>
          <p:cNvPr id="27" name="Shape 25"/>
          <p:cNvSpPr/>
          <p:nvPr/>
        </p:nvSpPr>
        <p:spPr>
          <a:xfrm>
            <a:off x="6028097" y="1235757"/>
            <a:ext cx="0" cy="1441586"/>
          </a:xfrm>
          <a:prstGeom prst="line">
            <a:avLst/>
          </a:prstGeom>
          <a:noFill/>
          <a:ln w="35719">
            <a:solidFill>
              <a:srgbClr val="F97316"/>
            </a:solidFill>
            <a:prstDash val="solid"/>
          </a:ln>
        </p:spPr>
      </p:sp>
      <p:sp>
        <p:nvSpPr>
          <p:cNvPr id="28" name="Text 26"/>
          <p:cNvSpPr/>
          <p:nvPr/>
        </p:nvSpPr>
        <p:spPr>
          <a:xfrm>
            <a:off x="6160257" y="1342913"/>
            <a:ext cx="228600" cy="228600"/>
          </a:xfrm>
          <a:prstGeom prst="roundRect">
            <a:avLst>
              <a:gd name="adj" fmla="val 33333"/>
            </a:avLst>
          </a:prstGeom>
          <a:solidFill>
            <a:srgbClr val="F97316">
              <a:alpha val="12000"/>
            </a:srgbClr>
          </a:solidFill>
          <a:ln/>
        </p:spPr>
        <p:txBody>
          <a:bodyPr wrap="square" rtlCol="0" anchor="ctr"/>
          <a:lstStyle/>
          <a:p>
            <a:pPr marL="0" indent="0">
              <a:buNone/>
            </a:pPr>
            <a:endParaRPr lang="en-US" dirty="0"/>
          </a:p>
        </p:txBody>
      </p:sp>
      <p:sp>
        <p:nvSpPr>
          <p:cNvPr id="29" name="Text 27"/>
          <p:cNvSpPr/>
          <p:nvPr/>
        </p:nvSpPr>
        <p:spPr>
          <a:xfrm>
            <a:off x="6170972" y="1353629"/>
            <a:ext cx="207169" cy="207169"/>
          </a:xfrm>
          <a:prstGeom prst="rect">
            <a:avLst/>
          </a:prstGeom>
          <a:noFill/>
          <a:ln/>
        </p:spPr>
        <p:txBody>
          <a:bodyPr wrap="none" lIns="0" tIns="0" rIns="0" bIns="0" rtlCol="0" anchor="ctr"/>
          <a:lstStyle/>
          <a:p>
            <a:pPr marL="0" indent="0" algn="ctr">
              <a:buNone/>
            </a:pPr>
            <a:r>
              <a:rPr lang="en-US" sz="1406" dirty="0">
                <a:solidFill>
                  <a:srgbClr val="F97316"/>
                </a:solidFill>
                <a:latin typeface="Segoe UI Symbol" pitchFamily="34" charset="0"/>
                <a:ea typeface="Segoe UI Symbol" pitchFamily="34" charset="-122"/>
                <a:cs typeface="Segoe UI Symbol" pitchFamily="34" charset="-120"/>
              </a:rPr>
              <a:t>◔</a:t>
            </a:r>
            <a:endParaRPr lang="en-US" sz="1406" dirty="0"/>
          </a:p>
        </p:txBody>
      </p:sp>
      <p:sp>
        <p:nvSpPr>
          <p:cNvPr id="30" name="Text 28"/>
          <p:cNvSpPr/>
          <p:nvPr/>
        </p:nvSpPr>
        <p:spPr>
          <a:xfrm>
            <a:off x="6460294" y="1387339"/>
            <a:ext cx="2104951" cy="150809"/>
          </a:xfrm>
          <a:prstGeom prst="rect">
            <a:avLst/>
          </a:prstGeom>
          <a:noFill/>
          <a:ln/>
        </p:spPr>
        <p:txBody>
          <a:bodyPr wrap="none" lIns="0" tIns="0" rIns="0" bIns="0" rtlCol="0" anchor="t"/>
          <a:lstStyle/>
          <a:p>
            <a:pPr marL="0" indent="0" algn="l">
              <a:lnSpc>
                <a:spcPts val="1100"/>
              </a:lnSpc>
              <a:buNone/>
            </a:pPr>
            <a:r>
              <a:rPr lang="en-US" sz="956" b="1" dirty="0">
                <a:solidFill>
                  <a:srgbClr val="0F172A"/>
                </a:solidFill>
                <a:latin typeface="Carlito" pitchFamily="34" charset="0"/>
                <a:ea typeface="Carlito" pitchFamily="34" charset="-122"/>
                <a:cs typeface="Carlito" pitchFamily="34" charset="-120"/>
              </a:rPr>
              <a:t>Time Features</a:t>
            </a:r>
            <a:endParaRPr lang="en-US" sz="956" dirty="0"/>
          </a:p>
        </p:txBody>
      </p:sp>
      <p:sp>
        <p:nvSpPr>
          <p:cNvPr id="31" name="Text 29"/>
          <p:cNvSpPr/>
          <p:nvPr/>
        </p:nvSpPr>
        <p:spPr>
          <a:xfrm>
            <a:off x="6160257" y="1614376"/>
            <a:ext cx="2404988" cy="307140"/>
          </a:xfrm>
          <a:prstGeom prst="rect">
            <a:avLst/>
          </a:prstGeom>
          <a:noFill/>
          <a:ln/>
        </p:spPr>
        <p:txBody>
          <a:bodyPr wrap="square" lIns="0" tIns="0" rIns="0" bIns="0" rtlCol="0" anchor="t"/>
          <a:lstStyle/>
          <a:p>
            <a:pPr marL="0" indent="0" algn="l">
              <a:lnSpc>
                <a:spcPts val="1103"/>
              </a:lnSpc>
              <a:buNone/>
            </a:pPr>
            <a:r>
              <a:rPr lang="en-US" sz="800" dirty="0">
                <a:solidFill>
                  <a:srgbClr val="334155"/>
                </a:solidFill>
                <a:latin typeface="Carlito" pitchFamily="34" charset="0"/>
                <a:ea typeface="Carlito" pitchFamily="34" charset="-122"/>
                <a:cs typeface="Carlito" pitchFamily="34" charset="-120"/>
              </a:rPr>
              <a:t>Day of week, hour of day, proximity to release window, days since last commit to the touched module.</a:t>
            </a:r>
            <a:endParaRPr lang="en-US" sz="800" dirty="0"/>
          </a:p>
        </p:txBody>
      </p:sp>
      <p:sp>
        <p:nvSpPr>
          <p:cNvPr id="32" name="Text 30"/>
          <p:cNvSpPr/>
          <p:nvPr/>
        </p:nvSpPr>
        <p:spPr>
          <a:xfrm>
            <a:off x="457200" y="2777356"/>
            <a:ext cx="2676451" cy="1441586"/>
          </a:xfrm>
          <a:prstGeom prst="roundRect">
            <a:avLst>
              <a:gd name="adj" fmla="val 9250"/>
            </a:avLst>
          </a:prstGeom>
          <a:solidFill>
            <a:srgbClr val="F8FAFC"/>
          </a:solidFill>
          <a:ln/>
        </p:spPr>
        <p:txBody>
          <a:bodyPr wrap="square" rtlCol="0" anchor="ctr"/>
          <a:lstStyle/>
          <a:p>
            <a:pPr marL="0" indent="0">
              <a:buNone/>
            </a:pPr>
            <a:endParaRPr lang="en-US" dirty="0"/>
          </a:p>
        </p:txBody>
      </p:sp>
      <p:sp>
        <p:nvSpPr>
          <p:cNvPr id="33" name="Shape 31"/>
          <p:cNvSpPr/>
          <p:nvPr/>
        </p:nvSpPr>
        <p:spPr>
          <a:xfrm>
            <a:off x="457200" y="2780928"/>
            <a:ext cx="2676451" cy="0"/>
          </a:xfrm>
          <a:prstGeom prst="line">
            <a:avLst/>
          </a:prstGeom>
          <a:noFill/>
          <a:ln w="7144">
            <a:solidFill>
              <a:srgbClr val="CBD5E1"/>
            </a:solidFill>
            <a:prstDash val="solid"/>
          </a:ln>
        </p:spPr>
      </p:sp>
      <p:sp>
        <p:nvSpPr>
          <p:cNvPr id="34" name="Shape 32"/>
          <p:cNvSpPr/>
          <p:nvPr/>
        </p:nvSpPr>
        <p:spPr>
          <a:xfrm>
            <a:off x="3130079" y="2777356"/>
            <a:ext cx="0" cy="1441586"/>
          </a:xfrm>
          <a:prstGeom prst="line">
            <a:avLst/>
          </a:prstGeom>
          <a:noFill/>
          <a:ln w="7144">
            <a:solidFill>
              <a:srgbClr val="CBD5E1"/>
            </a:solidFill>
            <a:prstDash val="solid"/>
          </a:ln>
        </p:spPr>
      </p:sp>
      <p:sp>
        <p:nvSpPr>
          <p:cNvPr id="35" name="Shape 33"/>
          <p:cNvSpPr/>
          <p:nvPr/>
        </p:nvSpPr>
        <p:spPr>
          <a:xfrm>
            <a:off x="457200" y="4215371"/>
            <a:ext cx="2676451" cy="0"/>
          </a:xfrm>
          <a:prstGeom prst="line">
            <a:avLst/>
          </a:prstGeom>
          <a:noFill/>
          <a:ln w="7144">
            <a:solidFill>
              <a:srgbClr val="CBD5E1"/>
            </a:solidFill>
            <a:prstDash val="solid"/>
          </a:ln>
        </p:spPr>
      </p:sp>
      <p:sp>
        <p:nvSpPr>
          <p:cNvPr id="36" name="Shape 34"/>
          <p:cNvSpPr/>
          <p:nvPr/>
        </p:nvSpPr>
        <p:spPr>
          <a:xfrm>
            <a:off x="475059" y="2777356"/>
            <a:ext cx="0" cy="1441586"/>
          </a:xfrm>
          <a:prstGeom prst="line">
            <a:avLst/>
          </a:prstGeom>
          <a:noFill/>
          <a:ln w="35719">
            <a:solidFill>
              <a:srgbClr val="F97316"/>
            </a:solidFill>
            <a:prstDash val="solid"/>
          </a:ln>
        </p:spPr>
      </p:sp>
      <p:sp>
        <p:nvSpPr>
          <p:cNvPr id="37" name="Text 35"/>
          <p:cNvSpPr/>
          <p:nvPr/>
        </p:nvSpPr>
        <p:spPr>
          <a:xfrm>
            <a:off x="607219" y="2884512"/>
            <a:ext cx="228600" cy="228600"/>
          </a:xfrm>
          <a:prstGeom prst="roundRect">
            <a:avLst>
              <a:gd name="adj" fmla="val 33333"/>
            </a:avLst>
          </a:prstGeom>
          <a:solidFill>
            <a:srgbClr val="F97316">
              <a:alpha val="12000"/>
            </a:srgbClr>
          </a:solidFill>
          <a:ln/>
        </p:spPr>
        <p:txBody>
          <a:bodyPr wrap="square" rtlCol="0" anchor="ctr"/>
          <a:lstStyle/>
          <a:p>
            <a:pPr marL="0" indent="0">
              <a:buNone/>
            </a:pPr>
            <a:endParaRPr lang="en-US" dirty="0"/>
          </a:p>
        </p:txBody>
      </p:sp>
      <p:sp>
        <p:nvSpPr>
          <p:cNvPr id="38" name="Text 36"/>
          <p:cNvSpPr/>
          <p:nvPr/>
        </p:nvSpPr>
        <p:spPr>
          <a:xfrm>
            <a:off x="617934" y="2895228"/>
            <a:ext cx="207169" cy="207169"/>
          </a:xfrm>
          <a:prstGeom prst="rect">
            <a:avLst/>
          </a:prstGeom>
          <a:noFill/>
          <a:ln/>
        </p:spPr>
        <p:txBody>
          <a:bodyPr wrap="none" lIns="0" tIns="0" rIns="0" bIns="0" rtlCol="0" anchor="ctr"/>
          <a:lstStyle/>
          <a:p>
            <a:pPr marL="0" indent="0" algn="ctr">
              <a:buNone/>
            </a:pPr>
            <a:r>
              <a:rPr lang="en-US" sz="1406" dirty="0">
                <a:solidFill>
                  <a:srgbClr val="F97316"/>
                </a:solidFill>
                <a:latin typeface="Segoe UI Symbol" pitchFamily="34" charset="0"/>
                <a:ea typeface="Segoe UI Symbol" pitchFamily="34" charset="-122"/>
                <a:cs typeface="Segoe UI Symbol" pitchFamily="34" charset="-120"/>
              </a:rPr>
              <a:t>✦</a:t>
            </a:r>
            <a:endParaRPr lang="en-US" sz="1406" dirty="0"/>
          </a:p>
        </p:txBody>
      </p:sp>
      <p:sp>
        <p:nvSpPr>
          <p:cNvPr id="39" name="Text 37"/>
          <p:cNvSpPr/>
          <p:nvPr/>
        </p:nvSpPr>
        <p:spPr>
          <a:xfrm>
            <a:off x="907256" y="2928938"/>
            <a:ext cx="2104951" cy="150809"/>
          </a:xfrm>
          <a:prstGeom prst="rect">
            <a:avLst/>
          </a:prstGeom>
          <a:noFill/>
          <a:ln/>
        </p:spPr>
        <p:txBody>
          <a:bodyPr wrap="none" lIns="0" tIns="0" rIns="0" bIns="0" rtlCol="0" anchor="t"/>
          <a:lstStyle/>
          <a:p>
            <a:pPr marL="0" indent="0" algn="l">
              <a:lnSpc>
                <a:spcPts val="1100"/>
              </a:lnSpc>
              <a:buNone/>
            </a:pPr>
            <a:r>
              <a:rPr lang="en-US" sz="956" b="1" dirty="0">
                <a:solidFill>
                  <a:srgbClr val="0F172A"/>
                </a:solidFill>
                <a:latin typeface="Carlito" pitchFamily="34" charset="0"/>
                <a:ea typeface="Carlito" pitchFamily="34" charset="-122"/>
                <a:cs typeface="Carlito" pitchFamily="34" charset="-120"/>
              </a:rPr>
              <a:t>Dependency Features</a:t>
            </a:r>
            <a:endParaRPr lang="en-US" sz="956" dirty="0"/>
          </a:p>
        </p:txBody>
      </p:sp>
      <p:sp>
        <p:nvSpPr>
          <p:cNvPr id="40" name="Text 38"/>
          <p:cNvSpPr/>
          <p:nvPr/>
        </p:nvSpPr>
        <p:spPr>
          <a:xfrm>
            <a:off x="607219" y="3155975"/>
            <a:ext cx="2404988" cy="307140"/>
          </a:xfrm>
          <a:prstGeom prst="rect">
            <a:avLst/>
          </a:prstGeom>
          <a:noFill/>
          <a:ln/>
        </p:spPr>
        <p:txBody>
          <a:bodyPr wrap="square" lIns="0" tIns="0" rIns="0" bIns="0" rtlCol="0" anchor="t"/>
          <a:lstStyle/>
          <a:p>
            <a:pPr marL="0" indent="0" algn="l">
              <a:lnSpc>
                <a:spcPts val="1103"/>
              </a:lnSpc>
              <a:buNone/>
            </a:pPr>
            <a:r>
              <a:rPr lang="en-US" sz="800" dirty="0">
                <a:solidFill>
                  <a:srgbClr val="334155"/>
                </a:solidFill>
                <a:latin typeface="Carlito" pitchFamily="34" charset="0"/>
                <a:ea typeface="Carlito" pitchFamily="34" charset="-122"/>
                <a:cs typeface="Carlito" pitchFamily="34" charset="-120"/>
              </a:rPr>
              <a:t>Dependency upgrade, transitively affected packages, lockfile changes, security advisories on touched deps.</a:t>
            </a:r>
            <a:endParaRPr lang="en-US" sz="800" dirty="0"/>
          </a:p>
        </p:txBody>
      </p:sp>
      <p:sp>
        <p:nvSpPr>
          <p:cNvPr id="41" name="Text 39"/>
          <p:cNvSpPr/>
          <p:nvPr/>
        </p:nvSpPr>
        <p:spPr>
          <a:xfrm>
            <a:off x="3233663" y="2777356"/>
            <a:ext cx="2676562" cy="1441586"/>
          </a:xfrm>
          <a:prstGeom prst="roundRect">
            <a:avLst>
              <a:gd name="adj" fmla="val 9250"/>
            </a:avLst>
          </a:prstGeom>
          <a:solidFill>
            <a:srgbClr val="F8FAFC"/>
          </a:solidFill>
          <a:ln/>
        </p:spPr>
        <p:txBody>
          <a:bodyPr wrap="square" rtlCol="0" anchor="ctr"/>
          <a:lstStyle/>
          <a:p>
            <a:pPr marL="0" indent="0">
              <a:buNone/>
            </a:pPr>
            <a:endParaRPr lang="en-US" dirty="0"/>
          </a:p>
        </p:txBody>
      </p:sp>
      <p:sp>
        <p:nvSpPr>
          <p:cNvPr id="42" name="Shape 40"/>
          <p:cNvSpPr/>
          <p:nvPr/>
        </p:nvSpPr>
        <p:spPr>
          <a:xfrm>
            <a:off x="3233663" y="2780928"/>
            <a:ext cx="2676562" cy="0"/>
          </a:xfrm>
          <a:prstGeom prst="line">
            <a:avLst/>
          </a:prstGeom>
          <a:noFill/>
          <a:ln w="7144">
            <a:solidFill>
              <a:srgbClr val="CBD5E1"/>
            </a:solidFill>
            <a:prstDash val="solid"/>
          </a:ln>
        </p:spPr>
      </p:sp>
      <p:sp>
        <p:nvSpPr>
          <p:cNvPr id="43" name="Shape 41"/>
          <p:cNvSpPr/>
          <p:nvPr/>
        </p:nvSpPr>
        <p:spPr>
          <a:xfrm>
            <a:off x="5906653" y="2777356"/>
            <a:ext cx="0" cy="1441586"/>
          </a:xfrm>
          <a:prstGeom prst="line">
            <a:avLst/>
          </a:prstGeom>
          <a:noFill/>
          <a:ln w="7144">
            <a:solidFill>
              <a:srgbClr val="CBD5E1"/>
            </a:solidFill>
            <a:prstDash val="solid"/>
          </a:ln>
        </p:spPr>
      </p:sp>
      <p:sp>
        <p:nvSpPr>
          <p:cNvPr id="44" name="Shape 42"/>
          <p:cNvSpPr/>
          <p:nvPr/>
        </p:nvSpPr>
        <p:spPr>
          <a:xfrm>
            <a:off x="3233663" y="4215371"/>
            <a:ext cx="2676562" cy="0"/>
          </a:xfrm>
          <a:prstGeom prst="line">
            <a:avLst/>
          </a:prstGeom>
          <a:noFill/>
          <a:ln w="7144">
            <a:solidFill>
              <a:srgbClr val="CBD5E1"/>
            </a:solidFill>
            <a:prstDash val="solid"/>
          </a:ln>
        </p:spPr>
      </p:sp>
      <p:sp>
        <p:nvSpPr>
          <p:cNvPr id="45" name="Shape 43"/>
          <p:cNvSpPr/>
          <p:nvPr/>
        </p:nvSpPr>
        <p:spPr>
          <a:xfrm>
            <a:off x="3251522" y="2777356"/>
            <a:ext cx="0" cy="1441586"/>
          </a:xfrm>
          <a:prstGeom prst="line">
            <a:avLst/>
          </a:prstGeom>
          <a:noFill/>
          <a:ln w="35719">
            <a:solidFill>
              <a:srgbClr val="F97316"/>
            </a:solidFill>
            <a:prstDash val="solid"/>
          </a:ln>
        </p:spPr>
      </p:sp>
      <p:sp>
        <p:nvSpPr>
          <p:cNvPr id="46" name="Text 44"/>
          <p:cNvSpPr/>
          <p:nvPr/>
        </p:nvSpPr>
        <p:spPr>
          <a:xfrm>
            <a:off x="3383682" y="2884512"/>
            <a:ext cx="228600" cy="228600"/>
          </a:xfrm>
          <a:prstGeom prst="roundRect">
            <a:avLst>
              <a:gd name="adj" fmla="val 33333"/>
            </a:avLst>
          </a:prstGeom>
          <a:solidFill>
            <a:srgbClr val="F97316">
              <a:alpha val="12000"/>
            </a:srgbClr>
          </a:solidFill>
          <a:ln/>
        </p:spPr>
        <p:txBody>
          <a:bodyPr wrap="square" rtlCol="0" anchor="ctr"/>
          <a:lstStyle/>
          <a:p>
            <a:pPr marL="0" indent="0">
              <a:buNone/>
            </a:pPr>
            <a:endParaRPr lang="en-US" dirty="0"/>
          </a:p>
        </p:txBody>
      </p:sp>
      <p:sp>
        <p:nvSpPr>
          <p:cNvPr id="47" name="Text 45"/>
          <p:cNvSpPr/>
          <p:nvPr/>
        </p:nvSpPr>
        <p:spPr>
          <a:xfrm>
            <a:off x="3394397" y="2895228"/>
            <a:ext cx="207169" cy="207169"/>
          </a:xfrm>
          <a:prstGeom prst="rect">
            <a:avLst/>
          </a:prstGeom>
          <a:noFill/>
          <a:ln/>
        </p:spPr>
        <p:txBody>
          <a:bodyPr wrap="none" lIns="0" tIns="0" rIns="0" bIns="0" rtlCol="0" anchor="ctr"/>
          <a:lstStyle/>
          <a:p>
            <a:pPr marL="0" indent="0" algn="ctr">
              <a:buNone/>
            </a:pPr>
            <a:r>
              <a:rPr lang="en-US" sz="1406" dirty="0">
                <a:solidFill>
                  <a:srgbClr val="F97316"/>
                </a:solidFill>
                <a:latin typeface="Segoe UI Symbol" pitchFamily="34" charset="0"/>
                <a:ea typeface="Segoe UI Symbol" pitchFamily="34" charset="-122"/>
                <a:cs typeface="Segoe UI Symbol" pitchFamily="34" charset="-120"/>
              </a:rPr>
              <a:t>⚗</a:t>
            </a:r>
            <a:endParaRPr lang="en-US" sz="1406" dirty="0"/>
          </a:p>
        </p:txBody>
      </p:sp>
      <p:sp>
        <p:nvSpPr>
          <p:cNvPr id="48" name="Text 46"/>
          <p:cNvSpPr/>
          <p:nvPr/>
        </p:nvSpPr>
        <p:spPr>
          <a:xfrm>
            <a:off x="3683719" y="2928938"/>
            <a:ext cx="2105062" cy="150809"/>
          </a:xfrm>
          <a:prstGeom prst="rect">
            <a:avLst/>
          </a:prstGeom>
          <a:noFill/>
          <a:ln/>
        </p:spPr>
        <p:txBody>
          <a:bodyPr wrap="none" lIns="0" tIns="0" rIns="0" bIns="0" rtlCol="0" anchor="t"/>
          <a:lstStyle/>
          <a:p>
            <a:pPr marL="0" indent="0" algn="l">
              <a:lnSpc>
                <a:spcPts val="1100"/>
              </a:lnSpc>
              <a:buNone/>
            </a:pPr>
            <a:r>
              <a:rPr lang="en-US" sz="956" b="1" dirty="0">
                <a:solidFill>
                  <a:srgbClr val="0F172A"/>
                </a:solidFill>
                <a:latin typeface="Carlito" pitchFamily="34" charset="0"/>
                <a:ea typeface="Carlito" pitchFamily="34" charset="-122"/>
                <a:cs typeface="Carlito" pitchFamily="34" charset="-120"/>
              </a:rPr>
              <a:t>Test-Suite Features</a:t>
            </a:r>
            <a:endParaRPr lang="en-US" sz="956" dirty="0"/>
          </a:p>
        </p:txBody>
      </p:sp>
      <p:sp>
        <p:nvSpPr>
          <p:cNvPr id="49" name="Text 47"/>
          <p:cNvSpPr/>
          <p:nvPr/>
        </p:nvSpPr>
        <p:spPr>
          <a:xfrm>
            <a:off x="3383682" y="3155975"/>
            <a:ext cx="2405100" cy="307140"/>
          </a:xfrm>
          <a:prstGeom prst="rect">
            <a:avLst/>
          </a:prstGeom>
          <a:noFill/>
          <a:ln/>
        </p:spPr>
        <p:txBody>
          <a:bodyPr wrap="square" lIns="0" tIns="0" rIns="0" bIns="0" rtlCol="0" anchor="t"/>
          <a:lstStyle/>
          <a:p>
            <a:pPr marL="0" indent="0" algn="l">
              <a:lnSpc>
                <a:spcPts val="1103"/>
              </a:lnSpc>
              <a:buNone/>
            </a:pPr>
            <a:r>
              <a:rPr lang="en-US" sz="800" dirty="0">
                <a:solidFill>
                  <a:srgbClr val="334155"/>
                </a:solidFill>
                <a:latin typeface="Carlito" pitchFamily="34" charset="0"/>
                <a:ea typeface="Carlito" pitchFamily="34" charset="-122"/>
                <a:cs typeface="Carlito" pitchFamily="34" charset="-120"/>
              </a:rPr>
              <a:t>Historical flake rate of the affected tests, recent pass rate, e2e coverage of the changed module.</a:t>
            </a:r>
            <a:endParaRPr lang="en-US" sz="800" dirty="0"/>
          </a:p>
        </p:txBody>
      </p:sp>
      <p:sp>
        <p:nvSpPr>
          <p:cNvPr id="50" name="Text 48"/>
          <p:cNvSpPr/>
          <p:nvPr/>
        </p:nvSpPr>
        <p:spPr>
          <a:xfrm>
            <a:off x="6010238" y="2777356"/>
            <a:ext cx="2676451" cy="1441586"/>
          </a:xfrm>
          <a:prstGeom prst="roundRect">
            <a:avLst>
              <a:gd name="adj" fmla="val 9250"/>
            </a:avLst>
          </a:prstGeom>
          <a:solidFill>
            <a:srgbClr val="F8FAFC"/>
          </a:solidFill>
          <a:ln/>
        </p:spPr>
        <p:txBody>
          <a:bodyPr wrap="square" rtlCol="0" anchor="ctr"/>
          <a:lstStyle/>
          <a:p>
            <a:pPr marL="0" indent="0">
              <a:buNone/>
            </a:pPr>
            <a:endParaRPr lang="en-US" dirty="0"/>
          </a:p>
        </p:txBody>
      </p:sp>
      <p:sp>
        <p:nvSpPr>
          <p:cNvPr id="51" name="Shape 49"/>
          <p:cNvSpPr/>
          <p:nvPr/>
        </p:nvSpPr>
        <p:spPr>
          <a:xfrm>
            <a:off x="6010238" y="2780928"/>
            <a:ext cx="2676451" cy="0"/>
          </a:xfrm>
          <a:prstGeom prst="line">
            <a:avLst/>
          </a:prstGeom>
          <a:noFill/>
          <a:ln w="7144">
            <a:solidFill>
              <a:srgbClr val="CBD5E1"/>
            </a:solidFill>
            <a:prstDash val="solid"/>
          </a:ln>
        </p:spPr>
      </p:sp>
      <p:sp>
        <p:nvSpPr>
          <p:cNvPr id="52" name="Shape 50"/>
          <p:cNvSpPr/>
          <p:nvPr/>
        </p:nvSpPr>
        <p:spPr>
          <a:xfrm>
            <a:off x="8683117" y="2777356"/>
            <a:ext cx="0" cy="1441586"/>
          </a:xfrm>
          <a:prstGeom prst="line">
            <a:avLst/>
          </a:prstGeom>
          <a:noFill/>
          <a:ln w="7144">
            <a:solidFill>
              <a:srgbClr val="CBD5E1"/>
            </a:solidFill>
            <a:prstDash val="solid"/>
          </a:ln>
        </p:spPr>
      </p:sp>
      <p:sp>
        <p:nvSpPr>
          <p:cNvPr id="53" name="Shape 51"/>
          <p:cNvSpPr/>
          <p:nvPr/>
        </p:nvSpPr>
        <p:spPr>
          <a:xfrm>
            <a:off x="6010238" y="4215371"/>
            <a:ext cx="2676451" cy="0"/>
          </a:xfrm>
          <a:prstGeom prst="line">
            <a:avLst/>
          </a:prstGeom>
          <a:noFill/>
          <a:ln w="7144">
            <a:solidFill>
              <a:srgbClr val="CBD5E1"/>
            </a:solidFill>
            <a:prstDash val="solid"/>
          </a:ln>
        </p:spPr>
      </p:sp>
      <p:sp>
        <p:nvSpPr>
          <p:cNvPr id="54" name="Shape 52"/>
          <p:cNvSpPr/>
          <p:nvPr/>
        </p:nvSpPr>
        <p:spPr>
          <a:xfrm>
            <a:off x="6028097" y="2777356"/>
            <a:ext cx="0" cy="1441586"/>
          </a:xfrm>
          <a:prstGeom prst="line">
            <a:avLst/>
          </a:prstGeom>
          <a:noFill/>
          <a:ln w="35719">
            <a:solidFill>
              <a:srgbClr val="F97316"/>
            </a:solidFill>
            <a:prstDash val="solid"/>
          </a:ln>
        </p:spPr>
      </p:sp>
      <p:sp>
        <p:nvSpPr>
          <p:cNvPr id="55" name="Text 53"/>
          <p:cNvSpPr/>
          <p:nvPr/>
        </p:nvSpPr>
        <p:spPr>
          <a:xfrm>
            <a:off x="6160257" y="2884512"/>
            <a:ext cx="228600" cy="228600"/>
          </a:xfrm>
          <a:prstGeom prst="roundRect">
            <a:avLst>
              <a:gd name="adj" fmla="val 33333"/>
            </a:avLst>
          </a:prstGeom>
          <a:solidFill>
            <a:srgbClr val="F97316">
              <a:alpha val="12000"/>
            </a:srgbClr>
          </a:solidFill>
          <a:ln/>
        </p:spPr>
        <p:txBody>
          <a:bodyPr wrap="square" rtlCol="0" anchor="ctr"/>
          <a:lstStyle/>
          <a:p>
            <a:pPr marL="0" indent="0">
              <a:buNone/>
            </a:pPr>
            <a:endParaRPr lang="en-US" dirty="0"/>
          </a:p>
        </p:txBody>
      </p:sp>
      <p:sp>
        <p:nvSpPr>
          <p:cNvPr id="56" name="Text 54"/>
          <p:cNvSpPr/>
          <p:nvPr/>
        </p:nvSpPr>
        <p:spPr>
          <a:xfrm>
            <a:off x="6170972" y="2895228"/>
            <a:ext cx="207169" cy="207169"/>
          </a:xfrm>
          <a:prstGeom prst="rect">
            <a:avLst/>
          </a:prstGeom>
          <a:noFill/>
          <a:ln/>
        </p:spPr>
        <p:txBody>
          <a:bodyPr wrap="none" lIns="0" tIns="0" rIns="0" bIns="0" rtlCol="0" anchor="ctr"/>
          <a:lstStyle/>
          <a:p>
            <a:pPr marL="0" indent="0" algn="ctr">
              <a:buNone/>
            </a:pPr>
            <a:r>
              <a:rPr lang="en-US" sz="1406" dirty="0">
                <a:solidFill>
                  <a:srgbClr val="F97316"/>
                </a:solidFill>
                <a:latin typeface="Segoe UI Symbol" pitchFamily="34" charset="0"/>
                <a:ea typeface="Segoe UI Symbol" pitchFamily="34" charset="-122"/>
                <a:cs typeface="Segoe UI Symbol" pitchFamily="34" charset="-120"/>
              </a:rPr>
              <a:t>▦</a:t>
            </a:r>
            <a:endParaRPr lang="en-US" sz="1406" dirty="0"/>
          </a:p>
        </p:txBody>
      </p:sp>
      <p:sp>
        <p:nvSpPr>
          <p:cNvPr id="57" name="Text 55"/>
          <p:cNvSpPr/>
          <p:nvPr/>
        </p:nvSpPr>
        <p:spPr>
          <a:xfrm>
            <a:off x="6460294" y="2928938"/>
            <a:ext cx="2104951" cy="150809"/>
          </a:xfrm>
          <a:prstGeom prst="rect">
            <a:avLst/>
          </a:prstGeom>
          <a:noFill/>
          <a:ln/>
        </p:spPr>
        <p:txBody>
          <a:bodyPr wrap="none" lIns="0" tIns="0" rIns="0" bIns="0" rtlCol="0" anchor="t"/>
          <a:lstStyle/>
          <a:p>
            <a:pPr marL="0" indent="0" algn="l">
              <a:lnSpc>
                <a:spcPts val="1100"/>
              </a:lnSpc>
              <a:buNone/>
            </a:pPr>
            <a:r>
              <a:rPr lang="en-US" sz="956" b="1" dirty="0">
                <a:solidFill>
                  <a:srgbClr val="0F172A"/>
                </a:solidFill>
                <a:latin typeface="Carlito" pitchFamily="34" charset="0"/>
                <a:ea typeface="Carlito" pitchFamily="34" charset="-122"/>
                <a:cs typeface="Carlito" pitchFamily="34" charset="-120"/>
              </a:rPr>
              <a:t>Pipeline Features</a:t>
            </a:r>
            <a:endParaRPr lang="en-US" sz="956" dirty="0"/>
          </a:p>
        </p:txBody>
      </p:sp>
      <p:sp>
        <p:nvSpPr>
          <p:cNvPr id="58" name="Text 56"/>
          <p:cNvSpPr/>
          <p:nvPr/>
        </p:nvSpPr>
        <p:spPr>
          <a:xfrm>
            <a:off x="6160257" y="3155975"/>
            <a:ext cx="2404988" cy="460711"/>
          </a:xfrm>
          <a:prstGeom prst="rect">
            <a:avLst/>
          </a:prstGeom>
          <a:noFill/>
          <a:ln/>
        </p:spPr>
        <p:txBody>
          <a:bodyPr wrap="square" lIns="0" tIns="0" rIns="0" bIns="0" rtlCol="0" anchor="t"/>
          <a:lstStyle/>
          <a:p>
            <a:pPr marL="0" indent="0" algn="l">
              <a:lnSpc>
                <a:spcPts val="1103"/>
              </a:lnSpc>
              <a:buNone/>
            </a:pPr>
            <a:r>
              <a:rPr lang="en-US" sz="800" dirty="0">
                <a:solidFill>
                  <a:srgbClr val="334155"/>
                </a:solidFill>
                <a:latin typeface="Carlito" pitchFamily="34" charset="0"/>
                <a:ea typeface="Carlito" pitchFamily="34" charset="-122"/>
                <a:cs typeface="Carlito" pitchFamily="34" charset="-120"/>
              </a:rPr>
              <a:t>Build queue length, concurrent builds, runner type (Linux/macOS/Windows), runner load at submission time.</a:t>
            </a:r>
            <a:endParaRPr lang="en-US" sz="800" dirty="0"/>
          </a:p>
        </p:txBody>
      </p:sp>
      <p:sp>
        <p:nvSpPr>
          <p:cNvPr id="59" name="Text 57"/>
          <p:cNvSpPr/>
          <p:nvPr/>
        </p:nvSpPr>
        <p:spPr>
          <a:xfrm>
            <a:off x="457200" y="4304667"/>
            <a:ext cx="8229600" cy="381633"/>
          </a:xfrm>
          <a:prstGeom prst="roundRect">
            <a:avLst>
              <a:gd name="adj" fmla="val 19967"/>
            </a:avLst>
          </a:prstGeom>
          <a:solidFill>
            <a:srgbClr val="FFF7ED"/>
          </a:solidFill>
          <a:ln/>
        </p:spPr>
        <p:txBody>
          <a:bodyPr wrap="square" rtlCol="0" anchor="ctr"/>
          <a:lstStyle/>
          <a:p>
            <a:pPr marL="0" indent="0">
              <a:buNone/>
            </a:pPr>
            <a:endParaRPr lang="en-US" dirty="0"/>
          </a:p>
        </p:txBody>
      </p:sp>
      <p:sp>
        <p:nvSpPr>
          <p:cNvPr id="60" name="Shape 58"/>
          <p:cNvSpPr/>
          <p:nvPr/>
        </p:nvSpPr>
        <p:spPr>
          <a:xfrm>
            <a:off x="478631" y="4304667"/>
            <a:ext cx="0" cy="381633"/>
          </a:xfrm>
          <a:prstGeom prst="line">
            <a:avLst/>
          </a:prstGeom>
          <a:noFill/>
          <a:ln w="42863">
            <a:solidFill>
              <a:srgbClr val="F97316"/>
            </a:solidFill>
            <a:prstDash val="solid"/>
          </a:ln>
        </p:spPr>
      </p:sp>
      <p:sp>
        <p:nvSpPr>
          <p:cNvPr id="61" name="Text 59"/>
          <p:cNvSpPr/>
          <p:nvPr/>
        </p:nvSpPr>
        <p:spPr>
          <a:xfrm>
            <a:off x="657225" y="4404680"/>
            <a:ext cx="7872413" cy="181608"/>
          </a:xfrm>
          <a:prstGeom prst="rect">
            <a:avLst/>
          </a:prstGeom>
          <a:noFill/>
          <a:ln/>
        </p:spPr>
        <p:txBody>
          <a:bodyPr wrap="square" lIns="0" tIns="0" rIns="0" bIns="0" rtlCol="0" anchor="t"/>
          <a:lstStyle/>
          <a:p>
            <a:pPr marL="0" indent="0" algn="l">
              <a:lnSpc>
                <a:spcPts val="1418"/>
              </a:lnSpc>
              <a:buNone/>
            </a:pPr>
            <a:r>
              <a:rPr lang="en-US" sz="1013" b="1" dirty="0">
                <a:solidFill>
                  <a:srgbClr val="C2410C"/>
                </a:solidFill>
                <a:latin typeface="Segoe UI Symbol" pitchFamily="34" charset="0"/>
                <a:ea typeface="Segoe UI Symbol" pitchFamily="34" charset="-122"/>
                <a:cs typeface="Segoe UI Symbol" pitchFamily="34" charset="-120"/>
              </a:rPr>
              <a:t>◆</a:t>
            </a:r>
            <a:r>
              <a:rPr lang="en-US" sz="1013" b="1" dirty="0">
                <a:solidFill>
                  <a:srgbClr val="0F172A"/>
                </a:solidFill>
                <a:latin typeface="Carlito" pitchFamily="34" charset="0"/>
                <a:ea typeface="Carlito" pitchFamily="34" charset="-122"/>
                <a:cs typeface="Carlito" pitchFamily="34" charset="-120"/>
              </a:rPr>
              <a:t> No single feature is decisive. The model learns the </a:t>
            </a:r>
            <a:r>
              <a:rPr lang="en-US" sz="1013" b="1" dirty="0">
                <a:solidFill>
                  <a:srgbClr val="C2410C"/>
                </a:solidFill>
                <a:latin typeface="Carlito" pitchFamily="34" charset="0"/>
                <a:ea typeface="Carlito" pitchFamily="34" charset="-122"/>
                <a:cs typeface="Carlito" pitchFamily="34" charset="-120"/>
              </a:rPr>
              <a:t>COMBINATION of signals</a:t>
            </a:r>
            <a:r>
              <a:rPr lang="en-US" sz="1013" b="1" dirty="0">
                <a:solidFill>
                  <a:srgbClr val="0F172A"/>
                </a:solidFill>
                <a:latin typeface="Carlito" pitchFamily="34" charset="0"/>
                <a:ea typeface="Carlito" pitchFamily="34" charset="-122"/>
                <a:cs typeface="Carlito" pitchFamily="34" charset="-120"/>
              </a:rPr>
              <a:t> that predicts failure.</a:t>
            </a:r>
            <a:endParaRPr lang="en-US" sz="1013"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8636000" cy="388776"/>
          </a:xfrm>
          <a:prstGeom prst="rect">
            <a:avLst/>
          </a:prstGeom>
          <a:noFill/>
          <a:ln/>
        </p:spPr>
        <p:txBody>
          <a:bodyPr wrap="square" lIns="0" tIns="0" rIns="0" bIns="0" rtlCol="0" anchor="t"/>
          <a:lstStyle/>
          <a:p>
            <a:pPr marL="0" indent="0" algn="l">
              <a:lnSpc>
                <a:spcPts val="2835"/>
              </a:lnSpc>
              <a:buNone/>
            </a:pPr>
            <a:r>
              <a:rPr lang="en-US" sz="2025" b="1" dirty="0">
                <a:solidFill>
                  <a:srgbClr val="0F172A"/>
                </a:solidFill>
                <a:latin typeface="Carlito" pitchFamily="34" charset="0"/>
                <a:ea typeface="Carlito" pitchFamily="34" charset="-122"/>
                <a:cs typeface="Carlito" pitchFamily="34" charset="-120"/>
              </a:rPr>
              <a:t>ML Model for Failure Prediction</a:t>
            </a:r>
            <a:endParaRPr lang="en-US" sz="2025" dirty="0"/>
          </a:p>
        </p:txBody>
      </p:sp>
      <p:sp>
        <p:nvSpPr>
          <p:cNvPr id="3" name="Text 1"/>
          <p:cNvSpPr/>
          <p:nvPr/>
        </p:nvSpPr>
        <p:spPr>
          <a:xfrm>
            <a:off x="457200" y="874328"/>
            <a:ext cx="571500" cy="42863"/>
          </a:xfrm>
          <a:prstGeom prst="roundRect">
            <a:avLst>
              <a:gd name="adj" fmla="val 66666"/>
            </a:avLst>
          </a:prstGeom>
          <a:solidFill>
            <a:srgbClr val="F97316"/>
          </a:solidFill>
          <a:ln/>
        </p:spPr>
        <p:txBody>
          <a:bodyPr wrap="square" rtlCol="0" anchor="ctr"/>
          <a:lstStyle/>
          <a:p>
            <a:pPr marL="0" indent="0">
              <a:buNone/>
            </a:pPr>
            <a:endParaRPr lang="en-US" dirty="0"/>
          </a:p>
        </p:txBody>
      </p:sp>
      <p:sp>
        <p:nvSpPr>
          <p:cNvPr id="4" name="Text 2"/>
          <p:cNvSpPr/>
          <p:nvPr/>
        </p:nvSpPr>
        <p:spPr>
          <a:xfrm>
            <a:off x="457200" y="1002916"/>
            <a:ext cx="4740994" cy="1041536"/>
          </a:xfrm>
          <a:prstGeom prst="roundRect">
            <a:avLst>
              <a:gd name="adj" fmla="val 7316"/>
            </a:avLst>
          </a:prstGeom>
          <a:solidFill>
            <a:srgbClr val="F8FAFC"/>
          </a:solidFill>
          <a:ln/>
        </p:spPr>
        <p:txBody>
          <a:bodyPr wrap="square" rtlCol="0" anchor="ctr"/>
          <a:lstStyle/>
          <a:p>
            <a:pPr marL="0" indent="0">
              <a:buNone/>
            </a:pPr>
            <a:endParaRPr lang="en-US" dirty="0"/>
          </a:p>
        </p:txBody>
      </p:sp>
      <p:sp>
        <p:nvSpPr>
          <p:cNvPr id="5" name="Shape 3"/>
          <p:cNvSpPr/>
          <p:nvPr/>
        </p:nvSpPr>
        <p:spPr>
          <a:xfrm>
            <a:off x="457200" y="1006487"/>
            <a:ext cx="4740994" cy="0"/>
          </a:xfrm>
          <a:prstGeom prst="line">
            <a:avLst/>
          </a:prstGeom>
          <a:noFill/>
          <a:ln w="7144">
            <a:solidFill>
              <a:srgbClr val="CBD5E1"/>
            </a:solidFill>
            <a:prstDash val="solid"/>
          </a:ln>
        </p:spPr>
      </p:sp>
      <p:sp>
        <p:nvSpPr>
          <p:cNvPr id="6" name="Shape 4"/>
          <p:cNvSpPr/>
          <p:nvPr/>
        </p:nvSpPr>
        <p:spPr>
          <a:xfrm>
            <a:off x="5194622" y="1002916"/>
            <a:ext cx="0" cy="1041536"/>
          </a:xfrm>
          <a:prstGeom prst="line">
            <a:avLst/>
          </a:prstGeom>
          <a:noFill/>
          <a:ln w="7144">
            <a:solidFill>
              <a:srgbClr val="CBD5E1"/>
            </a:solidFill>
            <a:prstDash val="solid"/>
          </a:ln>
        </p:spPr>
      </p:sp>
      <p:sp>
        <p:nvSpPr>
          <p:cNvPr id="7" name="Shape 5"/>
          <p:cNvSpPr/>
          <p:nvPr/>
        </p:nvSpPr>
        <p:spPr>
          <a:xfrm>
            <a:off x="457200" y="2040880"/>
            <a:ext cx="4740994" cy="0"/>
          </a:xfrm>
          <a:prstGeom prst="line">
            <a:avLst/>
          </a:prstGeom>
          <a:noFill/>
          <a:ln w="7144">
            <a:solidFill>
              <a:srgbClr val="CBD5E1"/>
            </a:solidFill>
            <a:prstDash val="solid"/>
          </a:ln>
        </p:spPr>
      </p:sp>
      <p:sp>
        <p:nvSpPr>
          <p:cNvPr id="8" name="Shape 6"/>
          <p:cNvSpPr/>
          <p:nvPr/>
        </p:nvSpPr>
        <p:spPr>
          <a:xfrm>
            <a:off x="475059" y="1002916"/>
            <a:ext cx="0" cy="1041536"/>
          </a:xfrm>
          <a:prstGeom prst="line">
            <a:avLst/>
          </a:prstGeom>
          <a:noFill/>
          <a:ln w="35719">
            <a:solidFill>
              <a:srgbClr val="F97316"/>
            </a:solidFill>
            <a:prstDash val="solid"/>
          </a:ln>
        </p:spPr>
      </p:sp>
      <p:sp>
        <p:nvSpPr>
          <p:cNvPr id="9" name="Text 7"/>
          <p:cNvSpPr/>
          <p:nvPr/>
        </p:nvSpPr>
        <p:spPr>
          <a:xfrm>
            <a:off x="621506" y="1110072"/>
            <a:ext cx="4440957" cy="158306"/>
          </a:xfrm>
          <a:prstGeom prst="rect">
            <a:avLst/>
          </a:prstGeom>
          <a:noFill/>
          <a:ln/>
        </p:spPr>
        <p:txBody>
          <a:bodyPr wrap="none" lIns="0" tIns="0" rIns="0" bIns="0" rtlCol="0" anchor="t">
            <a:normAutofit/>
          </a:bodyPr>
          <a:lstStyle/>
          <a:p>
            <a:pPr marL="0" indent="0" algn="l">
              <a:lnSpc>
                <a:spcPts val="1238"/>
              </a:lnSpc>
              <a:buNone/>
            </a:pPr>
            <a:r>
              <a:rPr lang="en-US" sz="1238" b="1" dirty="0">
                <a:solidFill>
                  <a:srgbClr val="F97316"/>
                </a:solidFill>
                <a:latin typeface="Liberation Sans Narrow" pitchFamily="34" charset="0"/>
                <a:ea typeface="Liberation Sans Narrow" pitchFamily="34" charset="-122"/>
                <a:cs typeface="Liberation Sans Narrow" pitchFamily="34" charset="-120"/>
              </a:rPr>
              <a:t>01</a:t>
            </a:r>
            <a:endParaRPr lang="en-US" sz="1238" dirty="0"/>
          </a:p>
        </p:txBody>
      </p:sp>
      <p:sp>
        <p:nvSpPr>
          <p:cNvPr id="10" name="Text 8"/>
          <p:cNvSpPr/>
          <p:nvPr/>
        </p:nvSpPr>
        <p:spPr>
          <a:xfrm>
            <a:off x="621506" y="1295809"/>
            <a:ext cx="4440957" cy="163998"/>
          </a:xfrm>
          <a:prstGeom prst="rect">
            <a:avLst/>
          </a:prstGeom>
          <a:noFill/>
          <a:ln/>
        </p:spPr>
        <p:txBody>
          <a:bodyPr wrap="none" lIns="0" tIns="0" rIns="0" bIns="0" rtlCol="0" anchor="t">
            <a:normAutofit/>
          </a:bodyPr>
          <a:lstStyle/>
          <a:p>
            <a:pPr marL="0" indent="0" algn="l">
              <a:lnSpc>
                <a:spcPts val="1283"/>
              </a:lnSpc>
              <a:buNone/>
            </a:pPr>
            <a:r>
              <a:rPr lang="en-US" sz="1069" b="1" dirty="0">
                <a:solidFill>
                  <a:srgbClr val="0F172A"/>
                </a:solidFill>
                <a:latin typeface="Carlito" pitchFamily="34" charset="0"/>
                <a:ea typeface="Carlito" pitchFamily="34" charset="-122"/>
                <a:cs typeface="Carlito" pitchFamily="34" charset="-120"/>
              </a:rPr>
              <a:t>Model Choice</a:t>
            </a:r>
            <a:endParaRPr lang="en-US" sz="1069" dirty="0"/>
          </a:p>
        </p:txBody>
      </p:sp>
      <p:sp>
        <p:nvSpPr>
          <p:cNvPr id="11" name="Text 9"/>
          <p:cNvSpPr/>
          <p:nvPr/>
        </p:nvSpPr>
        <p:spPr>
          <a:xfrm>
            <a:off x="621506" y="1487239"/>
            <a:ext cx="4440957" cy="450056"/>
          </a:xfrm>
          <a:prstGeom prst="rect">
            <a:avLst/>
          </a:prstGeom>
          <a:noFill/>
          <a:ln/>
        </p:spPr>
        <p:txBody>
          <a:bodyPr wrap="square" lIns="0" tIns="0" rIns="0" bIns="0" rtlCol="0" anchor="t"/>
          <a:lstStyle/>
          <a:p>
            <a:pPr marL="0" indent="0" algn="l">
              <a:lnSpc>
                <a:spcPts val="1181"/>
              </a:lnSpc>
              <a:buNone/>
            </a:pPr>
            <a:r>
              <a:rPr lang="en-US" sz="844" dirty="0">
                <a:solidFill>
                  <a:srgbClr val="0F172A"/>
                </a:solidFill>
                <a:latin typeface="Carlito" pitchFamily="34" charset="0"/>
                <a:ea typeface="Carlito" pitchFamily="34" charset="-122"/>
                <a:cs typeface="Carlito" pitchFamily="34" charset="-120"/>
              </a:rPr>
              <a:t>Start with </a:t>
            </a:r>
            <a:r>
              <a:rPr lang="en-US" sz="844" b="1" dirty="0">
                <a:solidFill>
                  <a:srgbClr val="C2410C"/>
                </a:solidFill>
                <a:latin typeface="Carlito" pitchFamily="34" charset="0"/>
                <a:ea typeface="Carlito" pitchFamily="34" charset="-122"/>
                <a:cs typeface="Carlito" pitchFamily="34" charset="-120"/>
              </a:rPr>
              <a:t>gradient-boosted trees</a:t>
            </a:r>
            <a:r>
              <a:rPr lang="en-US" sz="844" dirty="0">
                <a:solidFill>
                  <a:srgbClr val="0F172A"/>
                </a:solidFill>
                <a:latin typeface="Carlito" pitchFamily="34" charset="0"/>
                <a:ea typeface="Carlito" pitchFamily="34" charset="-122"/>
                <a:cs typeface="Carlito" pitchFamily="34" charset="-120"/>
              </a:rPr>
              <a:t> (XGBoost / LightGBM). They handle tabular features well, are interpretable, and ship in days. Move to a neural net only if you have millions of historical builds AND the trees plateau.</a:t>
            </a:r>
            <a:endParaRPr lang="en-US" sz="844" dirty="0"/>
          </a:p>
        </p:txBody>
      </p:sp>
      <p:sp>
        <p:nvSpPr>
          <p:cNvPr id="12" name="Text 10"/>
          <p:cNvSpPr/>
          <p:nvPr/>
        </p:nvSpPr>
        <p:spPr>
          <a:xfrm>
            <a:off x="457200" y="2130177"/>
            <a:ext cx="4740994" cy="1041536"/>
          </a:xfrm>
          <a:prstGeom prst="roundRect">
            <a:avLst>
              <a:gd name="adj" fmla="val 7316"/>
            </a:avLst>
          </a:prstGeom>
          <a:solidFill>
            <a:srgbClr val="F8FAFC"/>
          </a:solidFill>
          <a:ln/>
        </p:spPr>
        <p:txBody>
          <a:bodyPr wrap="square" rtlCol="0" anchor="ctr"/>
          <a:lstStyle/>
          <a:p>
            <a:pPr marL="0" indent="0">
              <a:buNone/>
            </a:pPr>
            <a:endParaRPr lang="en-US" dirty="0"/>
          </a:p>
        </p:txBody>
      </p:sp>
      <p:sp>
        <p:nvSpPr>
          <p:cNvPr id="13" name="Shape 11"/>
          <p:cNvSpPr/>
          <p:nvPr/>
        </p:nvSpPr>
        <p:spPr>
          <a:xfrm>
            <a:off x="457200" y="2133749"/>
            <a:ext cx="4740994" cy="0"/>
          </a:xfrm>
          <a:prstGeom prst="line">
            <a:avLst/>
          </a:prstGeom>
          <a:noFill/>
          <a:ln w="7144">
            <a:solidFill>
              <a:srgbClr val="CBD5E1"/>
            </a:solidFill>
            <a:prstDash val="solid"/>
          </a:ln>
        </p:spPr>
      </p:sp>
      <p:sp>
        <p:nvSpPr>
          <p:cNvPr id="14" name="Shape 12"/>
          <p:cNvSpPr/>
          <p:nvPr/>
        </p:nvSpPr>
        <p:spPr>
          <a:xfrm>
            <a:off x="5194622" y="2130177"/>
            <a:ext cx="0" cy="1041536"/>
          </a:xfrm>
          <a:prstGeom prst="line">
            <a:avLst/>
          </a:prstGeom>
          <a:noFill/>
          <a:ln w="7144">
            <a:solidFill>
              <a:srgbClr val="CBD5E1"/>
            </a:solidFill>
            <a:prstDash val="solid"/>
          </a:ln>
        </p:spPr>
      </p:sp>
      <p:sp>
        <p:nvSpPr>
          <p:cNvPr id="15" name="Shape 13"/>
          <p:cNvSpPr/>
          <p:nvPr/>
        </p:nvSpPr>
        <p:spPr>
          <a:xfrm>
            <a:off x="457200" y="3168142"/>
            <a:ext cx="4740994" cy="0"/>
          </a:xfrm>
          <a:prstGeom prst="line">
            <a:avLst/>
          </a:prstGeom>
          <a:noFill/>
          <a:ln w="7144">
            <a:solidFill>
              <a:srgbClr val="CBD5E1"/>
            </a:solidFill>
            <a:prstDash val="solid"/>
          </a:ln>
        </p:spPr>
      </p:sp>
      <p:sp>
        <p:nvSpPr>
          <p:cNvPr id="16" name="Shape 14"/>
          <p:cNvSpPr/>
          <p:nvPr/>
        </p:nvSpPr>
        <p:spPr>
          <a:xfrm>
            <a:off x="475059" y="2130177"/>
            <a:ext cx="0" cy="1041536"/>
          </a:xfrm>
          <a:prstGeom prst="line">
            <a:avLst/>
          </a:prstGeom>
          <a:noFill/>
          <a:ln w="35719">
            <a:solidFill>
              <a:srgbClr val="F97316"/>
            </a:solidFill>
            <a:prstDash val="solid"/>
          </a:ln>
        </p:spPr>
      </p:sp>
      <p:sp>
        <p:nvSpPr>
          <p:cNvPr id="17" name="Text 15"/>
          <p:cNvSpPr/>
          <p:nvPr/>
        </p:nvSpPr>
        <p:spPr>
          <a:xfrm>
            <a:off x="621506" y="2237333"/>
            <a:ext cx="4440957" cy="158306"/>
          </a:xfrm>
          <a:prstGeom prst="rect">
            <a:avLst/>
          </a:prstGeom>
          <a:noFill/>
          <a:ln/>
        </p:spPr>
        <p:txBody>
          <a:bodyPr wrap="none" lIns="0" tIns="0" rIns="0" bIns="0" rtlCol="0" anchor="t">
            <a:normAutofit/>
          </a:bodyPr>
          <a:lstStyle/>
          <a:p>
            <a:pPr marL="0" indent="0" algn="l">
              <a:lnSpc>
                <a:spcPts val="1238"/>
              </a:lnSpc>
              <a:buNone/>
            </a:pPr>
            <a:r>
              <a:rPr lang="en-US" sz="1238" b="1" dirty="0">
                <a:solidFill>
                  <a:srgbClr val="F97316"/>
                </a:solidFill>
                <a:latin typeface="Liberation Sans Narrow" pitchFamily="34" charset="0"/>
                <a:ea typeface="Liberation Sans Narrow" pitchFamily="34" charset="-122"/>
                <a:cs typeface="Liberation Sans Narrow" pitchFamily="34" charset="-120"/>
              </a:rPr>
              <a:t>02</a:t>
            </a:r>
            <a:endParaRPr lang="en-US" sz="1238" dirty="0"/>
          </a:p>
        </p:txBody>
      </p:sp>
      <p:sp>
        <p:nvSpPr>
          <p:cNvPr id="18" name="Text 16"/>
          <p:cNvSpPr/>
          <p:nvPr/>
        </p:nvSpPr>
        <p:spPr>
          <a:xfrm>
            <a:off x="621506" y="2423071"/>
            <a:ext cx="4440957" cy="163998"/>
          </a:xfrm>
          <a:prstGeom prst="rect">
            <a:avLst/>
          </a:prstGeom>
          <a:noFill/>
          <a:ln/>
        </p:spPr>
        <p:txBody>
          <a:bodyPr wrap="none" lIns="0" tIns="0" rIns="0" bIns="0" rtlCol="0" anchor="t">
            <a:normAutofit/>
          </a:bodyPr>
          <a:lstStyle/>
          <a:p>
            <a:pPr marL="0" indent="0" algn="l">
              <a:lnSpc>
                <a:spcPts val="1283"/>
              </a:lnSpc>
              <a:buNone/>
            </a:pPr>
            <a:r>
              <a:rPr lang="en-US" sz="1069" b="1" dirty="0">
                <a:solidFill>
                  <a:srgbClr val="0F172A"/>
                </a:solidFill>
                <a:latin typeface="Carlito" pitchFamily="34" charset="0"/>
                <a:ea typeface="Carlito" pitchFamily="34" charset="-122"/>
                <a:cs typeface="Carlito" pitchFamily="34" charset="-120"/>
              </a:rPr>
              <a:t>Training Data</a:t>
            </a:r>
            <a:endParaRPr lang="en-US" sz="1069" dirty="0"/>
          </a:p>
        </p:txBody>
      </p:sp>
      <p:sp>
        <p:nvSpPr>
          <p:cNvPr id="19" name="Text 17"/>
          <p:cNvSpPr/>
          <p:nvPr/>
        </p:nvSpPr>
        <p:spPr>
          <a:xfrm>
            <a:off x="621506" y="2614501"/>
            <a:ext cx="4440957" cy="450056"/>
          </a:xfrm>
          <a:prstGeom prst="rect">
            <a:avLst/>
          </a:prstGeom>
          <a:noFill/>
          <a:ln/>
        </p:spPr>
        <p:txBody>
          <a:bodyPr wrap="square" lIns="0" tIns="0" rIns="0" bIns="0" rtlCol="0" anchor="t"/>
          <a:lstStyle/>
          <a:p>
            <a:pPr marL="0" indent="0" algn="l">
              <a:lnSpc>
                <a:spcPts val="1181"/>
              </a:lnSpc>
              <a:buNone/>
            </a:pPr>
            <a:r>
              <a:rPr lang="en-US" sz="844" dirty="0">
                <a:solidFill>
                  <a:srgbClr val="0F172A"/>
                </a:solidFill>
                <a:latin typeface="Carlito" pitchFamily="34" charset="0"/>
                <a:ea typeface="Carlito" pitchFamily="34" charset="-122"/>
                <a:cs typeface="Carlito" pitchFamily="34" charset="-120"/>
              </a:rPr>
              <a:t>Pull </a:t>
            </a:r>
            <a:r>
              <a:rPr lang="en-US" sz="844" b="1" dirty="0">
                <a:solidFill>
                  <a:srgbClr val="C2410C"/>
                </a:solidFill>
                <a:latin typeface="Liberation Sans Narrow" pitchFamily="34" charset="0"/>
                <a:ea typeface="Liberation Sans Narrow" pitchFamily="34" charset="-122"/>
                <a:cs typeface="Liberation Sans Narrow" pitchFamily="34" charset="-120"/>
              </a:rPr>
              <a:t>6-12 months of CI history</a:t>
            </a:r>
            <a:r>
              <a:rPr lang="en-US" sz="844" dirty="0">
                <a:solidFill>
                  <a:srgbClr val="0F172A"/>
                </a:solidFill>
                <a:latin typeface="Carlito" pitchFamily="34" charset="0"/>
                <a:ea typeface="Carlito" pitchFamily="34" charset="-122"/>
                <a:cs typeface="Carlito" pitchFamily="34" charset="-120"/>
              </a:rPr>
              <a:t>. Each row = one build, with the six feature families + binary label (passed / failed). Handle class imbalance with weighted loss or SMOTE — failures are typically &lt;15% of builds.</a:t>
            </a:r>
            <a:endParaRPr lang="en-US" sz="844" dirty="0"/>
          </a:p>
        </p:txBody>
      </p:sp>
      <p:sp>
        <p:nvSpPr>
          <p:cNvPr id="20" name="Text 18"/>
          <p:cNvSpPr/>
          <p:nvPr/>
        </p:nvSpPr>
        <p:spPr>
          <a:xfrm>
            <a:off x="457200" y="3257438"/>
            <a:ext cx="4740994" cy="891518"/>
          </a:xfrm>
          <a:prstGeom prst="roundRect">
            <a:avLst>
              <a:gd name="adj" fmla="val 8547"/>
            </a:avLst>
          </a:prstGeom>
          <a:solidFill>
            <a:srgbClr val="F8FAFC"/>
          </a:solidFill>
          <a:ln/>
        </p:spPr>
        <p:txBody>
          <a:bodyPr wrap="square" rtlCol="0" anchor="ctr"/>
          <a:lstStyle/>
          <a:p>
            <a:pPr marL="0" indent="0">
              <a:buNone/>
            </a:pPr>
            <a:endParaRPr lang="en-US" dirty="0"/>
          </a:p>
        </p:txBody>
      </p:sp>
      <p:sp>
        <p:nvSpPr>
          <p:cNvPr id="21" name="Shape 19"/>
          <p:cNvSpPr/>
          <p:nvPr/>
        </p:nvSpPr>
        <p:spPr>
          <a:xfrm>
            <a:off x="457200" y="3261010"/>
            <a:ext cx="4740994" cy="0"/>
          </a:xfrm>
          <a:prstGeom prst="line">
            <a:avLst/>
          </a:prstGeom>
          <a:noFill/>
          <a:ln w="7144">
            <a:solidFill>
              <a:srgbClr val="CBD5E1"/>
            </a:solidFill>
            <a:prstDash val="solid"/>
          </a:ln>
        </p:spPr>
      </p:sp>
      <p:sp>
        <p:nvSpPr>
          <p:cNvPr id="22" name="Shape 20"/>
          <p:cNvSpPr/>
          <p:nvPr/>
        </p:nvSpPr>
        <p:spPr>
          <a:xfrm>
            <a:off x="5194622" y="3257438"/>
            <a:ext cx="0" cy="891518"/>
          </a:xfrm>
          <a:prstGeom prst="line">
            <a:avLst/>
          </a:prstGeom>
          <a:noFill/>
          <a:ln w="7144">
            <a:solidFill>
              <a:srgbClr val="CBD5E1"/>
            </a:solidFill>
            <a:prstDash val="solid"/>
          </a:ln>
        </p:spPr>
      </p:sp>
      <p:sp>
        <p:nvSpPr>
          <p:cNvPr id="23" name="Shape 21"/>
          <p:cNvSpPr/>
          <p:nvPr/>
        </p:nvSpPr>
        <p:spPr>
          <a:xfrm>
            <a:off x="457200" y="4145384"/>
            <a:ext cx="4740994" cy="0"/>
          </a:xfrm>
          <a:prstGeom prst="line">
            <a:avLst/>
          </a:prstGeom>
          <a:noFill/>
          <a:ln w="7144">
            <a:solidFill>
              <a:srgbClr val="CBD5E1"/>
            </a:solidFill>
            <a:prstDash val="solid"/>
          </a:ln>
        </p:spPr>
      </p:sp>
      <p:sp>
        <p:nvSpPr>
          <p:cNvPr id="24" name="Shape 22"/>
          <p:cNvSpPr/>
          <p:nvPr/>
        </p:nvSpPr>
        <p:spPr>
          <a:xfrm>
            <a:off x="475059" y="3257438"/>
            <a:ext cx="0" cy="891518"/>
          </a:xfrm>
          <a:prstGeom prst="line">
            <a:avLst/>
          </a:prstGeom>
          <a:noFill/>
          <a:ln w="35719">
            <a:solidFill>
              <a:srgbClr val="F97316"/>
            </a:solidFill>
            <a:prstDash val="solid"/>
          </a:ln>
        </p:spPr>
      </p:sp>
      <p:sp>
        <p:nvSpPr>
          <p:cNvPr id="25" name="Text 23"/>
          <p:cNvSpPr/>
          <p:nvPr/>
        </p:nvSpPr>
        <p:spPr>
          <a:xfrm>
            <a:off x="621506" y="3364595"/>
            <a:ext cx="4440957" cy="158306"/>
          </a:xfrm>
          <a:prstGeom prst="rect">
            <a:avLst/>
          </a:prstGeom>
          <a:noFill/>
          <a:ln/>
        </p:spPr>
        <p:txBody>
          <a:bodyPr wrap="none" lIns="0" tIns="0" rIns="0" bIns="0" rtlCol="0" anchor="t">
            <a:normAutofit/>
          </a:bodyPr>
          <a:lstStyle/>
          <a:p>
            <a:pPr marL="0" indent="0" algn="l">
              <a:lnSpc>
                <a:spcPts val="1238"/>
              </a:lnSpc>
              <a:buNone/>
            </a:pPr>
            <a:r>
              <a:rPr lang="en-US" sz="1238" b="1" dirty="0">
                <a:solidFill>
                  <a:srgbClr val="F97316"/>
                </a:solidFill>
                <a:latin typeface="Liberation Sans Narrow" pitchFamily="34" charset="0"/>
                <a:ea typeface="Liberation Sans Narrow" pitchFamily="34" charset="-122"/>
                <a:cs typeface="Liberation Sans Narrow" pitchFamily="34" charset="-120"/>
              </a:rPr>
              <a:t>03</a:t>
            </a:r>
            <a:endParaRPr lang="en-US" sz="1238" dirty="0"/>
          </a:p>
        </p:txBody>
      </p:sp>
      <p:sp>
        <p:nvSpPr>
          <p:cNvPr id="26" name="Text 24"/>
          <p:cNvSpPr/>
          <p:nvPr/>
        </p:nvSpPr>
        <p:spPr>
          <a:xfrm>
            <a:off x="621506" y="3550332"/>
            <a:ext cx="4440957" cy="163998"/>
          </a:xfrm>
          <a:prstGeom prst="rect">
            <a:avLst/>
          </a:prstGeom>
          <a:noFill/>
          <a:ln/>
        </p:spPr>
        <p:txBody>
          <a:bodyPr wrap="none" lIns="0" tIns="0" rIns="0" bIns="0" rtlCol="0" anchor="t">
            <a:normAutofit/>
          </a:bodyPr>
          <a:lstStyle/>
          <a:p>
            <a:pPr marL="0" indent="0" algn="l">
              <a:lnSpc>
                <a:spcPts val="1283"/>
              </a:lnSpc>
              <a:buNone/>
            </a:pPr>
            <a:r>
              <a:rPr lang="en-US" sz="1069" b="1" dirty="0">
                <a:solidFill>
                  <a:srgbClr val="0F172A"/>
                </a:solidFill>
                <a:latin typeface="Carlito" pitchFamily="34" charset="0"/>
                <a:ea typeface="Carlito" pitchFamily="34" charset="-122"/>
                <a:cs typeface="Carlito" pitchFamily="34" charset="-120"/>
              </a:rPr>
              <a:t>Output &amp; Action</a:t>
            </a:r>
            <a:endParaRPr lang="en-US" sz="1069" dirty="0"/>
          </a:p>
        </p:txBody>
      </p:sp>
      <p:sp>
        <p:nvSpPr>
          <p:cNvPr id="27" name="Text 25"/>
          <p:cNvSpPr/>
          <p:nvPr/>
        </p:nvSpPr>
        <p:spPr>
          <a:xfrm>
            <a:off x="621506" y="3741762"/>
            <a:ext cx="4440957" cy="300038"/>
          </a:xfrm>
          <a:prstGeom prst="rect">
            <a:avLst/>
          </a:prstGeom>
          <a:noFill/>
          <a:ln/>
        </p:spPr>
        <p:txBody>
          <a:bodyPr wrap="square" lIns="0" tIns="0" rIns="0" bIns="0" rtlCol="0" anchor="t"/>
          <a:lstStyle/>
          <a:p>
            <a:pPr marL="0" indent="0" algn="l">
              <a:lnSpc>
                <a:spcPts val="1181"/>
              </a:lnSpc>
              <a:buNone/>
            </a:pPr>
            <a:r>
              <a:rPr lang="en-US" sz="844" dirty="0">
                <a:solidFill>
                  <a:srgbClr val="0F172A"/>
                </a:solidFill>
                <a:latin typeface="Carlito" pitchFamily="34" charset="0"/>
                <a:ea typeface="Carlito" pitchFamily="34" charset="-122"/>
                <a:cs typeface="Carlito" pitchFamily="34" charset="-120"/>
              </a:rPr>
              <a:t>For each new PR, the model outputs </a:t>
            </a:r>
            <a:r>
              <a:rPr lang="en-US" sz="844" b="1" dirty="0">
                <a:solidFill>
                  <a:srgbClr val="C2410C"/>
                </a:solidFill>
                <a:latin typeface="Carlito" pitchFamily="34" charset="0"/>
                <a:ea typeface="Carlito" pitchFamily="34" charset="-122"/>
                <a:cs typeface="Carlito" pitchFamily="34" charset="-120"/>
              </a:rPr>
              <a:t>P(failure)</a:t>
            </a:r>
            <a:r>
              <a:rPr lang="en-US" sz="844" dirty="0">
                <a:solidFill>
                  <a:srgbClr val="0F172A"/>
                </a:solidFill>
                <a:latin typeface="Carlito" pitchFamily="34" charset="0"/>
                <a:ea typeface="Carlito" pitchFamily="34" charset="-122"/>
                <a:cs typeface="Carlito" pitchFamily="34" charset="-120"/>
              </a:rPr>
              <a:t>. Threshold: if P &gt; 0.5, warn the developer pre-CI. If P &gt; 0.85, route to a heavier test subset. If P &lt; 0.15, allow a fast-path merge.</a:t>
            </a:r>
            <a:endParaRPr lang="en-US" sz="844" dirty="0"/>
          </a:p>
        </p:txBody>
      </p:sp>
      <p:sp>
        <p:nvSpPr>
          <p:cNvPr id="28" name="Text 26"/>
          <p:cNvSpPr/>
          <p:nvPr/>
        </p:nvSpPr>
        <p:spPr>
          <a:xfrm>
            <a:off x="5341069" y="1002916"/>
            <a:ext cx="3345619" cy="3683384"/>
          </a:xfrm>
          <a:prstGeom prst="roundRect">
            <a:avLst>
              <a:gd name="adj" fmla="val 3986"/>
            </a:avLst>
          </a:prstGeom>
          <a:solidFill>
            <a:srgbClr val="0F172A"/>
          </a:solidFill>
          <a:ln/>
        </p:spPr>
        <p:txBody>
          <a:bodyPr wrap="square" rtlCol="0" anchor="ctr"/>
          <a:lstStyle/>
          <a:p>
            <a:pPr marL="0" indent="0">
              <a:buNone/>
            </a:pPr>
            <a:endParaRPr lang="en-US" dirty="0"/>
          </a:p>
        </p:txBody>
      </p:sp>
      <p:sp>
        <p:nvSpPr>
          <p:cNvPr id="29" name="Text 27"/>
          <p:cNvSpPr/>
          <p:nvPr/>
        </p:nvSpPr>
        <p:spPr>
          <a:xfrm>
            <a:off x="5498232" y="1160078"/>
            <a:ext cx="3141022" cy="175451"/>
          </a:xfrm>
          <a:prstGeom prst="rect">
            <a:avLst/>
          </a:prstGeom>
          <a:noFill/>
          <a:ln/>
        </p:spPr>
        <p:txBody>
          <a:bodyPr wrap="square" lIns="0" tIns="0" rIns="0" bIns="0" rtlCol="0" anchor="t"/>
          <a:lstStyle/>
          <a:p>
            <a:pPr marL="0" indent="0" algn="l">
              <a:lnSpc>
                <a:spcPts val="1080"/>
              </a:lnSpc>
              <a:buNone/>
            </a:pPr>
            <a:r>
              <a:rPr lang="en-US" sz="800" kern="0" spc="84" dirty="0">
                <a:solidFill>
                  <a:srgbClr val="94A3B8"/>
                </a:solidFill>
                <a:latin typeface="Courier New" pitchFamily="34" charset="0"/>
                <a:ea typeface="Courier New" pitchFamily="34" charset="-122"/>
                <a:cs typeface="Courier New" pitchFamily="34" charset="-120"/>
              </a:rPr>
              <a:t>// FAILURE_PREDICTION.PY</a:t>
            </a:r>
            <a:endParaRPr lang="en-US" sz="800" dirty="0"/>
          </a:p>
        </p:txBody>
      </p:sp>
      <p:sp>
        <p:nvSpPr>
          <p:cNvPr id="30" name="Text 28"/>
          <p:cNvSpPr/>
          <p:nvPr/>
        </p:nvSpPr>
        <p:spPr>
          <a:xfrm>
            <a:off x="5498232" y="1382874"/>
            <a:ext cx="3031294" cy="338239"/>
          </a:xfrm>
          <a:prstGeom prst="rect">
            <a:avLst/>
          </a:prstGeom>
          <a:noFill/>
          <a:ln/>
        </p:spPr>
        <p:txBody>
          <a:bodyPr wrap="square" lIns="0" tIns="0" rIns="0" bIns="0" rtlCol="0" anchor="t">
            <a:normAutofit fontScale="77500" lnSpcReduction="20000"/>
          </a:bodyPr>
          <a:lstStyle/>
          <a:p>
            <a:pPr marL="0" indent="0" algn="l">
              <a:lnSpc>
                <a:spcPts val="1440"/>
              </a:lnSpc>
              <a:buNone/>
            </a:pPr>
            <a:r>
              <a:rPr lang="en-US" sz="900" dirty="0">
                <a:solidFill>
                  <a:srgbClr val="93C5FD"/>
                </a:solidFill>
                <a:latin typeface="Courier New" pitchFamily="34" charset="0"/>
                <a:ea typeface="Courier New" pitchFamily="34" charset="-122"/>
                <a:cs typeface="Courier New" pitchFamily="34" charset="-120"/>
              </a:rPr>
              <a:t>features</a:t>
            </a:r>
            <a:r>
              <a:rPr lang="en-US" sz="900" dirty="0">
                <a:solidFill>
                  <a:srgbClr val="E2E8F0"/>
                </a:solidFill>
                <a:latin typeface="Courier New" pitchFamily="34" charset="0"/>
                <a:ea typeface="Courier New" pitchFamily="34" charset="-122"/>
                <a:cs typeface="Courier New" pitchFamily="34" charset="-120"/>
              </a:rPr>
              <a:t> = </a:t>
            </a:r>
            <a:r>
              <a:rPr lang="en-US" sz="900" dirty="0">
                <a:solidFill>
                  <a:srgbClr val="FBBF24"/>
                </a:solidFill>
                <a:latin typeface="Courier New" pitchFamily="34" charset="0"/>
                <a:ea typeface="Courier New" pitchFamily="34" charset="-122"/>
                <a:cs typeface="Courier New" pitchFamily="34" charset="-120"/>
              </a:rPr>
              <a:t>extract_features</a:t>
            </a:r>
            <a:r>
              <a:rPr lang="en-US" sz="900" dirty="0">
                <a:solidFill>
                  <a:srgbClr val="E2E8F0"/>
                </a:solidFill>
                <a:latin typeface="Courier New" pitchFamily="34" charset="0"/>
                <a:ea typeface="Courier New" pitchFamily="34" charset="-122"/>
                <a:cs typeface="Courier New" pitchFamily="34" charset="-120"/>
              </a:rPr>
              <a:t>(pr_diff, author, time, deps)</a:t>
            </a:r>
            <a:endParaRPr lang="en-US" sz="900" dirty="0"/>
          </a:p>
        </p:txBody>
      </p:sp>
      <p:sp>
        <p:nvSpPr>
          <p:cNvPr id="31" name="Text 29"/>
          <p:cNvSpPr/>
          <p:nvPr/>
        </p:nvSpPr>
        <p:spPr>
          <a:xfrm>
            <a:off x="5498232" y="1748544"/>
            <a:ext cx="3031294" cy="197462"/>
          </a:xfrm>
          <a:prstGeom prst="rect">
            <a:avLst/>
          </a:prstGeom>
          <a:noFill/>
          <a:ln/>
        </p:spPr>
        <p:txBody>
          <a:bodyPr wrap="square" lIns="0" tIns="0" rIns="0" bIns="0" rtlCol="0" anchor="t"/>
          <a:lstStyle/>
          <a:p>
            <a:pPr marL="0" indent="0" algn="l">
              <a:lnSpc>
                <a:spcPts val="1440"/>
              </a:lnSpc>
              <a:buNone/>
            </a:pPr>
            <a:r>
              <a:rPr lang="en-US" sz="900" dirty="0">
                <a:solidFill>
                  <a:srgbClr val="93C5FD"/>
                </a:solidFill>
                <a:latin typeface="Courier New" pitchFamily="34" charset="0"/>
                <a:ea typeface="Courier New" pitchFamily="34" charset="-122"/>
                <a:cs typeface="Courier New" pitchFamily="34" charset="-120"/>
              </a:rPr>
              <a:t>p_fail</a:t>
            </a:r>
            <a:r>
              <a:rPr lang="en-US" sz="900" dirty="0">
                <a:solidFill>
                  <a:srgbClr val="E2E8F0"/>
                </a:solidFill>
                <a:latin typeface="Courier New" pitchFamily="34" charset="0"/>
                <a:ea typeface="Courier New" pitchFamily="34" charset="-122"/>
                <a:cs typeface="Courier New" pitchFamily="34" charset="-120"/>
              </a:rPr>
              <a:t> = xgb_model.</a:t>
            </a:r>
            <a:r>
              <a:rPr lang="en-US" sz="900" dirty="0">
                <a:solidFill>
                  <a:srgbClr val="FBBF24"/>
                </a:solidFill>
                <a:latin typeface="Courier New" pitchFamily="34" charset="0"/>
                <a:ea typeface="Courier New" pitchFamily="34" charset="-122"/>
                <a:cs typeface="Courier New" pitchFamily="34" charset="-120"/>
              </a:rPr>
              <a:t>predict_proba</a:t>
            </a:r>
            <a:r>
              <a:rPr lang="en-US" sz="900" dirty="0">
                <a:solidFill>
                  <a:srgbClr val="E2E8F0"/>
                </a:solidFill>
                <a:latin typeface="Courier New" pitchFamily="34" charset="0"/>
                <a:ea typeface="Courier New" pitchFamily="34" charset="-122"/>
                <a:cs typeface="Courier New" pitchFamily="34" charset="-120"/>
              </a:rPr>
              <a:t>(features)[</a:t>
            </a:r>
            <a:r>
              <a:rPr lang="en-US" sz="900" dirty="0">
                <a:solidFill>
                  <a:srgbClr val="93C5FD"/>
                </a:solidFill>
                <a:latin typeface="Liberation Sans Narrow" pitchFamily="34" charset="0"/>
                <a:ea typeface="Liberation Sans Narrow" pitchFamily="34" charset="-122"/>
                <a:cs typeface="Liberation Sans Narrow" pitchFamily="34" charset="-120"/>
              </a:rPr>
              <a:t>1</a:t>
            </a:r>
            <a:r>
              <a:rPr lang="en-US" sz="900" dirty="0">
                <a:solidFill>
                  <a:srgbClr val="E2E8F0"/>
                </a:solidFill>
                <a:latin typeface="Courier New" pitchFamily="34" charset="0"/>
                <a:ea typeface="Courier New" pitchFamily="34" charset="-122"/>
                <a:cs typeface="Courier New" pitchFamily="34" charset="-120"/>
              </a:rPr>
              <a:t>]</a:t>
            </a:r>
            <a:endParaRPr lang="en-US" sz="900" dirty="0"/>
          </a:p>
        </p:txBody>
      </p:sp>
      <p:sp>
        <p:nvSpPr>
          <p:cNvPr id="32" name="Text 30"/>
          <p:cNvSpPr/>
          <p:nvPr/>
        </p:nvSpPr>
        <p:spPr>
          <a:xfrm>
            <a:off x="5498232" y="2114215"/>
            <a:ext cx="3031294" cy="155403"/>
          </a:xfrm>
          <a:prstGeom prst="rect">
            <a:avLst/>
          </a:prstGeom>
          <a:noFill/>
          <a:ln/>
        </p:spPr>
        <p:txBody>
          <a:bodyPr wrap="none" lIns="0" tIns="0" rIns="0" bIns="0" rtlCol="0" anchor="t">
            <a:normAutofit fontScale="55000" lnSpcReduction="20000"/>
          </a:bodyPr>
          <a:lstStyle/>
          <a:p>
            <a:pPr marL="0" indent="0" algn="l">
              <a:lnSpc>
                <a:spcPts val="1440"/>
              </a:lnSpc>
              <a:buNone/>
            </a:pPr>
            <a:r>
              <a:rPr lang="en-US" sz="900" dirty="0">
                <a:solidFill>
                  <a:srgbClr val="FBA74A"/>
                </a:solidFill>
                <a:latin typeface="Courier New" pitchFamily="34" charset="0"/>
                <a:ea typeface="Courier New" pitchFamily="34" charset="-122"/>
                <a:cs typeface="Courier New" pitchFamily="34" charset="-120"/>
              </a:rPr>
              <a:t>if</a:t>
            </a:r>
            <a:r>
              <a:rPr lang="en-US" sz="900" dirty="0">
                <a:solidFill>
                  <a:srgbClr val="E2E8F0"/>
                </a:solidFill>
                <a:latin typeface="Courier New" pitchFamily="34" charset="0"/>
                <a:ea typeface="Courier New" pitchFamily="34" charset="-122"/>
                <a:cs typeface="Courier New" pitchFamily="34" charset="-120"/>
              </a:rPr>
              <a:t> p_fail &gt; </a:t>
            </a:r>
            <a:r>
              <a:rPr lang="en-US" sz="900" dirty="0">
                <a:solidFill>
                  <a:srgbClr val="93C5FD"/>
                </a:solidFill>
                <a:latin typeface="Liberation Sans Narrow" pitchFamily="34" charset="0"/>
                <a:ea typeface="Liberation Sans Narrow" pitchFamily="34" charset="-122"/>
                <a:cs typeface="Liberation Sans Narrow" pitchFamily="34" charset="-120"/>
              </a:rPr>
              <a:t>0.85</a:t>
            </a:r>
            <a:r>
              <a:rPr lang="en-US" sz="900" dirty="0">
                <a:solidFill>
                  <a:srgbClr val="E2E8F0"/>
                </a:solidFill>
                <a:latin typeface="Courier New" pitchFamily="34" charset="0"/>
                <a:ea typeface="Courier New" pitchFamily="34" charset="-122"/>
                <a:cs typeface="Courier New" pitchFamily="34" charset="-120"/>
              </a:rPr>
              <a:t>:</a:t>
            </a:r>
            <a:endParaRPr lang="en-US" sz="900" dirty="0"/>
          </a:p>
        </p:txBody>
      </p:sp>
      <p:sp>
        <p:nvSpPr>
          <p:cNvPr id="33" name="Text 31"/>
          <p:cNvSpPr/>
          <p:nvPr/>
        </p:nvSpPr>
        <p:spPr>
          <a:xfrm>
            <a:off x="5498232" y="2297050"/>
            <a:ext cx="3141022" cy="155403"/>
          </a:xfrm>
          <a:prstGeom prst="rect">
            <a:avLst/>
          </a:prstGeom>
          <a:noFill/>
          <a:ln/>
        </p:spPr>
        <p:txBody>
          <a:bodyPr wrap="square" lIns="0" tIns="0" rIns="0" bIns="0" rtlCol="0" anchor="t">
            <a:normAutofit fontScale="55000" lnSpcReduction="20000"/>
          </a:bodyPr>
          <a:lstStyle/>
          <a:p>
            <a:pPr marL="0" indent="0" algn="l">
              <a:lnSpc>
                <a:spcPts val="1440"/>
              </a:lnSpc>
              <a:buNone/>
            </a:pPr>
            <a:r>
              <a:rPr lang="en-US" sz="900" dirty="0">
                <a:solidFill>
                  <a:srgbClr val="FBBF24"/>
                </a:solidFill>
                <a:latin typeface="Courier New" pitchFamily="34" charset="0"/>
                <a:ea typeface="Courier New" pitchFamily="34" charset="-122"/>
                <a:cs typeface="Courier New" pitchFamily="34" charset="-120"/>
              </a:rPr>
              <a:t>route_to</a:t>
            </a:r>
            <a:r>
              <a:rPr lang="en-US" sz="900" dirty="0">
                <a:solidFill>
                  <a:srgbClr val="E2E8F0"/>
                </a:solidFill>
                <a:latin typeface="Courier New" pitchFamily="34" charset="0"/>
                <a:ea typeface="Courier New" pitchFamily="34" charset="-122"/>
                <a:cs typeface="Courier New" pitchFamily="34" charset="-120"/>
              </a:rPr>
              <a:t>(heavy_test_subset)</a:t>
            </a:r>
            <a:endParaRPr lang="en-US" sz="900" dirty="0"/>
          </a:p>
        </p:txBody>
      </p:sp>
      <p:sp>
        <p:nvSpPr>
          <p:cNvPr id="34" name="Text 32"/>
          <p:cNvSpPr/>
          <p:nvPr/>
        </p:nvSpPr>
        <p:spPr>
          <a:xfrm>
            <a:off x="5498232" y="2479886"/>
            <a:ext cx="3031294" cy="155403"/>
          </a:xfrm>
          <a:prstGeom prst="rect">
            <a:avLst/>
          </a:prstGeom>
          <a:noFill/>
          <a:ln/>
        </p:spPr>
        <p:txBody>
          <a:bodyPr wrap="none" lIns="0" tIns="0" rIns="0" bIns="0" rtlCol="0" anchor="t">
            <a:normAutofit fontScale="55000" lnSpcReduction="20000"/>
          </a:bodyPr>
          <a:lstStyle/>
          <a:p>
            <a:pPr marL="0" indent="0" algn="l">
              <a:lnSpc>
                <a:spcPts val="1440"/>
              </a:lnSpc>
              <a:buNone/>
            </a:pPr>
            <a:r>
              <a:rPr lang="en-US" sz="900" dirty="0">
                <a:solidFill>
                  <a:srgbClr val="FBA74A"/>
                </a:solidFill>
                <a:latin typeface="Courier New" pitchFamily="34" charset="0"/>
                <a:ea typeface="Courier New" pitchFamily="34" charset="-122"/>
                <a:cs typeface="Courier New" pitchFamily="34" charset="-120"/>
              </a:rPr>
              <a:t>elif</a:t>
            </a:r>
            <a:r>
              <a:rPr lang="en-US" sz="900" dirty="0">
                <a:solidFill>
                  <a:srgbClr val="E2E8F0"/>
                </a:solidFill>
                <a:latin typeface="Courier New" pitchFamily="34" charset="0"/>
                <a:ea typeface="Courier New" pitchFamily="34" charset="-122"/>
                <a:cs typeface="Courier New" pitchFamily="34" charset="-120"/>
              </a:rPr>
              <a:t> p_fail &gt; </a:t>
            </a:r>
            <a:r>
              <a:rPr lang="en-US" sz="900" dirty="0">
                <a:solidFill>
                  <a:srgbClr val="93C5FD"/>
                </a:solidFill>
                <a:latin typeface="Liberation Sans Narrow" pitchFamily="34" charset="0"/>
                <a:ea typeface="Liberation Sans Narrow" pitchFamily="34" charset="-122"/>
                <a:cs typeface="Liberation Sans Narrow" pitchFamily="34" charset="-120"/>
              </a:rPr>
              <a:t>0.50</a:t>
            </a:r>
            <a:r>
              <a:rPr lang="en-US" sz="900" dirty="0">
                <a:solidFill>
                  <a:srgbClr val="E2E8F0"/>
                </a:solidFill>
                <a:latin typeface="Courier New" pitchFamily="34" charset="0"/>
                <a:ea typeface="Courier New" pitchFamily="34" charset="-122"/>
                <a:cs typeface="Courier New" pitchFamily="34" charset="-120"/>
              </a:rPr>
              <a:t>:</a:t>
            </a:r>
            <a:endParaRPr lang="en-US" sz="900" dirty="0"/>
          </a:p>
        </p:txBody>
      </p:sp>
      <p:sp>
        <p:nvSpPr>
          <p:cNvPr id="35" name="Text 33"/>
          <p:cNvSpPr/>
          <p:nvPr/>
        </p:nvSpPr>
        <p:spPr>
          <a:xfrm>
            <a:off x="5498232" y="2662721"/>
            <a:ext cx="3141022" cy="155403"/>
          </a:xfrm>
          <a:prstGeom prst="rect">
            <a:avLst/>
          </a:prstGeom>
          <a:noFill/>
          <a:ln/>
        </p:spPr>
        <p:txBody>
          <a:bodyPr wrap="square" lIns="0" tIns="0" rIns="0" bIns="0" rtlCol="0" anchor="t">
            <a:normAutofit fontScale="55000" lnSpcReduction="20000"/>
          </a:bodyPr>
          <a:lstStyle/>
          <a:p>
            <a:pPr marL="0" indent="0" algn="l">
              <a:lnSpc>
                <a:spcPts val="1440"/>
              </a:lnSpc>
              <a:buNone/>
            </a:pPr>
            <a:r>
              <a:rPr lang="en-US" sz="900" dirty="0">
                <a:solidFill>
                  <a:srgbClr val="FBBF24"/>
                </a:solidFill>
                <a:latin typeface="Courier New" pitchFamily="34" charset="0"/>
                <a:ea typeface="Courier New" pitchFamily="34" charset="-122"/>
                <a:cs typeface="Courier New" pitchFamily="34" charset="-120"/>
              </a:rPr>
              <a:t>warn_developer</a:t>
            </a:r>
            <a:r>
              <a:rPr lang="en-US" sz="900" dirty="0">
                <a:solidFill>
                  <a:srgbClr val="E2E8F0"/>
                </a:solidFill>
                <a:latin typeface="Courier New" pitchFamily="34" charset="0"/>
                <a:ea typeface="Courier New" pitchFamily="34" charset="-122"/>
                <a:cs typeface="Courier New" pitchFamily="34" charset="-120"/>
              </a:rPr>
              <a:t>(risk=p_fail)</a:t>
            </a:r>
            <a:endParaRPr lang="en-US" sz="900" dirty="0"/>
          </a:p>
        </p:txBody>
      </p:sp>
      <p:sp>
        <p:nvSpPr>
          <p:cNvPr id="36" name="Text 34"/>
          <p:cNvSpPr/>
          <p:nvPr/>
        </p:nvSpPr>
        <p:spPr>
          <a:xfrm>
            <a:off x="5498232" y="2845557"/>
            <a:ext cx="3031294" cy="155403"/>
          </a:xfrm>
          <a:prstGeom prst="rect">
            <a:avLst/>
          </a:prstGeom>
          <a:noFill/>
          <a:ln/>
        </p:spPr>
        <p:txBody>
          <a:bodyPr wrap="none" lIns="0" tIns="0" rIns="0" bIns="0" rtlCol="0" anchor="t">
            <a:normAutofit fontScale="55000" lnSpcReduction="20000"/>
          </a:bodyPr>
          <a:lstStyle/>
          <a:p>
            <a:pPr marL="0" indent="0" algn="l">
              <a:lnSpc>
                <a:spcPts val="1440"/>
              </a:lnSpc>
              <a:buNone/>
            </a:pPr>
            <a:r>
              <a:rPr lang="en-US" sz="900" dirty="0">
                <a:solidFill>
                  <a:srgbClr val="FBA74A"/>
                </a:solidFill>
                <a:latin typeface="Courier New" pitchFamily="34" charset="0"/>
                <a:ea typeface="Courier New" pitchFamily="34" charset="-122"/>
                <a:cs typeface="Courier New" pitchFamily="34" charset="-120"/>
              </a:rPr>
              <a:t>elif</a:t>
            </a:r>
            <a:r>
              <a:rPr lang="en-US" sz="900" dirty="0">
                <a:solidFill>
                  <a:srgbClr val="E2E8F0"/>
                </a:solidFill>
                <a:latin typeface="Courier New" pitchFamily="34" charset="0"/>
                <a:ea typeface="Courier New" pitchFamily="34" charset="-122"/>
                <a:cs typeface="Courier New" pitchFamily="34" charset="-120"/>
              </a:rPr>
              <a:t> p_fail &lt; </a:t>
            </a:r>
            <a:r>
              <a:rPr lang="en-US" sz="900" dirty="0">
                <a:solidFill>
                  <a:srgbClr val="93C5FD"/>
                </a:solidFill>
                <a:latin typeface="Liberation Sans Narrow" pitchFamily="34" charset="0"/>
                <a:ea typeface="Liberation Sans Narrow" pitchFamily="34" charset="-122"/>
                <a:cs typeface="Liberation Sans Narrow" pitchFamily="34" charset="-120"/>
              </a:rPr>
              <a:t>0.15</a:t>
            </a:r>
            <a:r>
              <a:rPr lang="en-US" sz="900" dirty="0">
                <a:solidFill>
                  <a:srgbClr val="E2E8F0"/>
                </a:solidFill>
                <a:latin typeface="Courier New" pitchFamily="34" charset="0"/>
                <a:ea typeface="Courier New" pitchFamily="34" charset="-122"/>
                <a:cs typeface="Courier New" pitchFamily="34" charset="-120"/>
              </a:rPr>
              <a:t>:</a:t>
            </a:r>
            <a:endParaRPr lang="en-US" sz="900" dirty="0"/>
          </a:p>
        </p:txBody>
      </p:sp>
      <p:sp>
        <p:nvSpPr>
          <p:cNvPr id="37" name="Text 35"/>
          <p:cNvSpPr/>
          <p:nvPr/>
        </p:nvSpPr>
        <p:spPr>
          <a:xfrm>
            <a:off x="5498232" y="3028392"/>
            <a:ext cx="3141022" cy="197462"/>
          </a:xfrm>
          <a:prstGeom prst="rect">
            <a:avLst/>
          </a:prstGeom>
          <a:noFill/>
          <a:ln/>
        </p:spPr>
        <p:txBody>
          <a:bodyPr wrap="square" lIns="0" tIns="0" rIns="0" bIns="0" rtlCol="0" anchor="t"/>
          <a:lstStyle/>
          <a:p>
            <a:pPr marL="0" indent="0" algn="l">
              <a:lnSpc>
                <a:spcPts val="1440"/>
              </a:lnSpc>
              <a:buNone/>
            </a:pPr>
            <a:r>
              <a:rPr lang="en-US" sz="900" dirty="0">
                <a:solidFill>
                  <a:srgbClr val="FBBF24"/>
                </a:solidFill>
                <a:latin typeface="Courier New" pitchFamily="34" charset="0"/>
                <a:ea typeface="Courier New" pitchFamily="34" charset="-122"/>
                <a:cs typeface="Courier New" pitchFamily="34" charset="-120"/>
              </a:rPr>
              <a:t>allow_fast_path_merge</a:t>
            </a:r>
            <a:r>
              <a:rPr lang="en-US" sz="900" dirty="0">
                <a:solidFill>
                  <a:srgbClr val="E2E8F0"/>
                </a:solidFill>
                <a:latin typeface="Courier New" pitchFamily="34" charset="0"/>
                <a:ea typeface="Courier New" pitchFamily="34" charset="-122"/>
                <a:cs typeface="Courier New" pitchFamily="34" charset="-120"/>
              </a:rPr>
              <a:t>()</a:t>
            </a:r>
            <a:endParaRPr lang="en-US" sz="900" dirty="0"/>
          </a:p>
        </p:txBody>
      </p:sp>
      <p:sp>
        <p:nvSpPr>
          <p:cNvPr id="38" name="Shape 36"/>
          <p:cNvSpPr/>
          <p:nvPr/>
        </p:nvSpPr>
        <p:spPr>
          <a:xfrm>
            <a:off x="5498232" y="4156993"/>
            <a:ext cx="3031294" cy="0"/>
          </a:xfrm>
          <a:prstGeom prst="line">
            <a:avLst/>
          </a:prstGeom>
          <a:noFill/>
          <a:ln w="7144">
            <a:solidFill>
              <a:srgbClr val="334155"/>
            </a:solidFill>
            <a:prstDash val="solid"/>
          </a:ln>
        </p:spPr>
      </p:sp>
      <p:sp>
        <p:nvSpPr>
          <p:cNvPr id="39" name="Text 37"/>
          <p:cNvSpPr/>
          <p:nvPr/>
        </p:nvSpPr>
        <p:spPr>
          <a:xfrm>
            <a:off x="5498232" y="4153421"/>
            <a:ext cx="3031294" cy="375717"/>
          </a:xfrm>
          <a:prstGeom prst="rect">
            <a:avLst/>
          </a:prstGeom>
          <a:noFill/>
          <a:ln/>
        </p:spPr>
        <p:txBody>
          <a:bodyPr wrap="square" lIns="0" tIns="71438" rIns="0" bIns="0" rtlCol="0" anchor="t"/>
          <a:lstStyle/>
          <a:p>
            <a:pPr marL="0" indent="0" algn="l">
              <a:lnSpc>
                <a:spcPts val="1170"/>
              </a:lnSpc>
              <a:buNone/>
            </a:pPr>
            <a:r>
              <a:rPr lang="en-US" sz="800" i="1" dirty="0">
                <a:solidFill>
                  <a:srgbClr val="94A3B8"/>
                </a:solidFill>
                <a:latin typeface="Courier New" pitchFamily="34" charset="0"/>
                <a:ea typeface="Courier New" pitchFamily="34" charset="-122"/>
                <a:cs typeface="Courier New" pitchFamily="34" charset="-120"/>
              </a:rPr>
              <a:t>Three thresholds, three actions. Tune based on your false-positive tolerance.</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8636000" cy="388776"/>
          </a:xfrm>
          <a:prstGeom prst="rect">
            <a:avLst/>
          </a:prstGeom>
          <a:noFill/>
          <a:ln/>
        </p:spPr>
        <p:txBody>
          <a:bodyPr wrap="square" lIns="0" tIns="0" rIns="0" bIns="0" rtlCol="0" anchor="t"/>
          <a:lstStyle/>
          <a:p>
            <a:pPr marL="0" indent="0" algn="l">
              <a:lnSpc>
                <a:spcPts val="2835"/>
              </a:lnSpc>
              <a:buNone/>
            </a:pPr>
            <a:r>
              <a:rPr lang="en-US" sz="2025" b="1" dirty="0">
                <a:solidFill>
                  <a:srgbClr val="0F172A"/>
                </a:solidFill>
                <a:latin typeface="Carlito" pitchFamily="34" charset="0"/>
                <a:ea typeface="Carlito" pitchFamily="34" charset="-122"/>
                <a:cs typeface="Carlito" pitchFamily="34" charset="-120"/>
              </a:rPr>
              <a:t>Case Study — Netflix Build Failure Prediction</a:t>
            </a:r>
            <a:endParaRPr lang="en-US" sz="2025" dirty="0"/>
          </a:p>
        </p:txBody>
      </p:sp>
      <p:sp>
        <p:nvSpPr>
          <p:cNvPr id="3" name="Text 1"/>
          <p:cNvSpPr/>
          <p:nvPr/>
        </p:nvSpPr>
        <p:spPr>
          <a:xfrm>
            <a:off x="457200" y="874328"/>
            <a:ext cx="571500" cy="42863"/>
          </a:xfrm>
          <a:prstGeom prst="roundRect">
            <a:avLst>
              <a:gd name="adj" fmla="val 66666"/>
            </a:avLst>
          </a:prstGeom>
          <a:solidFill>
            <a:srgbClr val="F97316"/>
          </a:solidFill>
          <a:ln/>
        </p:spPr>
        <p:txBody>
          <a:bodyPr wrap="square" rtlCol="0" anchor="ctr"/>
          <a:lstStyle/>
          <a:p>
            <a:pPr marL="0" indent="0">
              <a:buNone/>
            </a:pPr>
            <a:endParaRPr lang="en-US" dirty="0"/>
          </a:p>
        </p:txBody>
      </p:sp>
      <p:sp>
        <p:nvSpPr>
          <p:cNvPr id="4" name="Text 2"/>
          <p:cNvSpPr/>
          <p:nvPr/>
        </p:nvSpPr>
        <p:spPr>
          <a:xfrm>
            <a:off x="460772" y="1020775"/>
            <a:ext cx="3181759" cy="3661953"/>
          </a:xfrm>
          <a:prstGeom prst="roundRect">
            <a:avLst>
              <a:gd name="adj" fmla="val 4191"/>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5" name="Text 3"/>
          <p:cNvSpPr/>
          <p:nvPr/>
        </p:nvSpPr>
        <p:spPr>
          <a:xfrm>
            <a:off x="635794" y="1181509"/>
            <a:ext cx="214313" cy="214313"/>
          </a:xfrm>
          <a:prstGeom prst="rect">
            <a:avLst/>
          </a:prstGeom>
          <a:noFill/>
          <a:ln/>
        </p:spPr>
        <p:txBody>
          <a:bodyPr wrap="none" lIns="0" tIns="0" rIns="0" bIns="0" rtlCol="0" anchor="ctr"/>
          <a:lstStyle/>
          <a:p>
            <a:pPr marL="0" indent="0" algn="ctr">
              <a:buNone/>
            </a:pPr>
            <a:r>
              <a:rPr lang="en-US" sz="2109" dirty="0">
                <a:solidFill>
                  <a:srgbClr val="F97316"/>
                </a:solidFill>
                <a:latin typeface="Segoe UI Symbol" pitchFamily="34" charset="0"/>
                <a:ea typeface="Segoe UI Symbol" pitchFamily="34" charset="-122"/>
                <a:cs typeface="Segoe UI Symbol" pitchFamily="34" charset="-120"/>
              </a:rPr>
              <a:t>▶</a:t>
            </a:r>
            <a:endParaRPr lang="en-US" sz="2109" dirty="0"/>
          </a:p>
        </p:txBody>
      </p:sp>
      <p:sp>
        <p:nvSpPr>
          <p:cNvPr id="6" name="Text 4"/>
          <p:cNvSpPr/>
          <p:nvPr/>
        </p:nvSpPr>
        <p:spPr>
          <a:xfrm>
            <a:off x="935831" y="1228613"/>
            <a:ext cx="2531678" cy="153591"/>
          </a:xfrm>
          <a:prstGeom prst="rect">
            <a:avLst/>
          </a:prstGeom>
          <a:noFill/>
          <a:ln/>
        </p:spPr>
        <p:txBody>
          <a:bodyPr wrap="none" lIns="0" tIns="0" rIns="0" bIns="0" rtlCol="0" anchor="t"/>
          <a:lstStyle/>
          <a:p>
            <a:pPr marL="0" indent="0" algn="l">
              <a:lnSpc>
                <a:spcPts val="945"/>
              </a:lnSpc>
              <a:buNone/>
            </a:pPr>
            <a:r>
              <a:rPr lang="en-US" sz="800" b="1" kern="0" spc="84" dirty="0">
                <a:solidFill>
                  <a:srgbClr val="C2410C"/>
                </a:solidFill>
                <a:latin typeface="Carlito" pitchFamily="34" charset="0"/>
                <a:ea typeface="Carlito" pitchFamily="34" charset="-122"/>
                <a:cs typeface="Carlito" pitchFamily="34" charset="-120"/>
              </a:rPr>
              <a:t>FACTS</a:t>
            </a:r>
            <a:endParaRPr lang="en-US" sz="800" dirty="0"/>
          </a:p>
        </p:txBody>
      </p:sp>
      <p:sp>
        <p:nvSpPr>
          <p:cNvPr id="7" name="Shape 5"/>
          <p:cNvSpPr/>
          <p:nvPr/>
        </p:nvSpPr>
        <p:spPr>
          <a:xfrm>
            <a:off x="635794" y="1839404"/>
            <a:ext cx="2831716" cy="0"/>
          </a:xfrm>
          <a:prstGeom prst="line">
            <a:avLst/>
          </a:prstGeom>
          <a:noFill/>
          <a:ln w="7144">
            <a:solidFill>
              <a:srgbClr val="CBD5E1"/>
            </a:solidFill>
            <a:prstDash val="solid"/>
          </a:ln>
        </p:spPr>
      </p:sp>
      <p:sp>
        <p:nvSpPr>
          <p:cNvPr id="8" name="Text 6"/>
          <p:cNvSpPr/>
          <p:nvPr/>
        </p:nvSpPr>
        <p:spPr>
          <a:xfrm>
            <a:off x="635794" y="1481547"/>
            <a:ext cx="2831716" cy="106848"/>
          </a:xfrm>
          <a:prstGeom prst="rect">
            <a:avLst/>
          </a:prstGeom>
          <a:noFill/>
          <a:ln/>
        </p:spPr>
        <p:txBody>
          <a:bodyPr wrap="none" lIns="0" tIns="0" rIns="0" bIns="0" rtlCol="0" anchor="t">
            <a:normAutofit fontScale="62500" lnSpcReduction="20000"/>
          </a:bodyPr>
          <a:lstStyle/>
          <a:p>
            <a:pPr marL="0" indent="0" algn="l">
              <a:lnSpc>
                <a:spcPts val="945"/>
              </a:lnSpc>
              <a:buNone/>
            </a:pPr>
            <a:r>
              <a:rPr lang="en-US" sz="800" kern="0" spc="28" dirty="0">
                <a:solidFill>
                  <a:srgbClr val="64748B"/>
                </a:solidFill>
                <a:latin typeface="Courier New" pitchFamily="34" charset="0"/>
                <a:ea typeface="Courier New" pitchFamily="34" charset="-122"/>
                <a:cs typeface="Courier New" pitchFamily="34" charset="-120"/>
              </a:rPr>
              <a:t>COMPANY</a:t>
            </a:r>
            <a:endParaRPr lang="en-US" sz="800" dirty="0"/>
          </a:p>
        </p:txBody>
      </p:sp>
      <p:sp>
        <p:nvSpPr>
          <p:cNvPr id="9" name="Text 7"/>
          <p:cNvSpPr/>
          <p:nvPr/>
        </p:nvSpPr>
        <p:spPr>
          <a:xfrm>
            <a:off x="635794" y="1615827"/>
            <a:ext cx="2831716" cy="162855"/>
          </a:xfrm>
          <a:prstGeom prst="rect">
            <a:avLst/>
          </a:prstGeom>
          <a:noFill/>
          <a:ln/>
        </p:spPr>
        <p:txBody>
          <a:bodyPr wrap="none" lIns="0" tIns="0" rIns="0" bIns="0" rtlCol="0" anchor="t"/>
          <a:lstStyle/>
          <a:p>
            <a:pPr marL="0" indent="0" algn="l">
              <a:lnSpc>
                <a:spcPts val="1283"/>
              </a:lnSpc>
              <a:buNone/>
            </a:pPr>
            <a:r>
              <a:rPr lang="en-US" sz="1069" b="1" dirty="0">
                <a:solidFill>
                  <a:srgbClr val="0F172A"/>
                </a:solidFill>
                <a:latin typeface="Carlito" pitchFamily="34" charset="0"/>
                <a:ea typeface="Carlito" pitchFamily="34" charset="-122"/>
                <a:cs typeface="Carlito" pitchFamily="34" charset="-120"/>
              </a:rPr>
              <a:t>Netflix</a:t>
            </a:r>
            <a:endParaRPr lang="en-US" sz="1069" dirty="0"/>
          </a:p>
        </p:txBody>
      </p:sp>
      <p:sp>
        <p:nvSpPr>
          <p:cNvPr id="10" name="Shape 8"/>
          <p:cNvSpPr/>
          <p:nvPr/>
        </p:nvSpPr>
        <p:spPr>
          <a:xfrm>
            <a:off x="635794" y="2286558"/>
            <a:ext cx="2831716" cy="0"/>
          </a:xfrm>
          <a:prstGeom prst="line">
            <a:avLst/>
          </a:prstGeom>
          <a:noFill/>
          <a:ln w="7144">
            <a:solidFill>
              <a:srgbClr val="CBD5E1"/>
            </a:solidFill>
            <a:prstDash val="solid"/>
          </a:ln>
        </p:spPr>
      </p:sp>
      <p:sp>
        <p:nvSpPr>
          <p:cNvPr id="11" name="Text 9"/>
          <p:cNvSpPr/>
          <p:nvPr/>
        </p:nvSpPr>
        <p:spPr>
          <a:xfrm>
            <a:off x="635794" y="1928701"/>
            <a:ext cx="2831716" cy="106848"/>
          </a:xfrm>
          <a:prstGeom prst="rect">
            <a:avLst/>
          </a:prstGeom>
          <a:noFill/>
          <a:ln/>
        </p:spPr>
        <p:txBody>
          <a:bodyPr wrap="none" lIns="0" tIns="0" rIns="0" bIns="0" rtlCol="0" anchor="t">
            <a:normAutofit fontScale="62500" lnSpcReduction="20000"/>
          </a:bodyPr>
          <a:lstStyle/>
          <a:p>
            <a:pPr marL="0" indent="0" algn="l">
              <a:lnSpc>
                <a:spcPts val="945"/>
              </a:lnSpc>
              <a:buNone/>
            </a:pPr>
            <a:r>
              <a:rPr lang="en-US" sz="800" kern="0" spc="28" dirty="0">
                <a:solidFill>
                  <a:srgbClr val="64748B"/>
                </a:solidFill>
                <a:latin typeface="Courier New" pitchFamily="34" charset="0"/>
                <a:ea typeface="Courier New" pitchFamily="34" charset="-122"/>
                <a:cs typeface="Courier New" pitchFamily="34" charset="-120"/>
              </a:rPr>
              <a:t>TOOL</a:t>
            </a:r>
            <a:endParaRPr lang="en-US" sz="800" dirty="0"/>
          </a:p>
        </p:txBody>
      </p:sp>
      <p:sp>
        <p:nvSpPr>
          <p:cNvPr id="12" name="Text 10"/>
          <p:cNvSpPr/>
          <p:nvPr/>
        </p:nvSpPr>
        <p:spPr>
          <a:xfrm>
            <a:off x="635794" y="2062981"/>
            <a:ext cx="2941444" cy="162855"/>
          </a:xfrm>
          <a:prstGeom prst="rect">
            <a:avLst/>
          </a:prstGeom>
          <a:noFill/>
          <a:ln/>
        </p:spPr>
        <p:txBody>
          <a:bodyPr wrap="square" lIns="0" tIns="0" rIns="0" bIns="0" rtlCol="0" anchor="t"/>
          <a:lstStyle/>
          <a:p>
            <a:pPr marL="0" indent="0" algn="l">
              <a:lnSpc>
                <a:spcPts val="1283"/>
              </a:lnSpc>
              <a:buNone/>
            </a:pPr>
            <a:r>
              <a:rPr lang="en-US" sz="1069" b="1" dirty="0">
                <a:solidFill>
                  <a:srgbClr val="0F172A"/>
                </a:solidFill>
                <a:latin typeface="Carlito" pitchFamily="34" charset="0"/>
                <a:ea typeface="Carlito" pitchFamily="34" charset="-122"/>
                <a:cs typeface="Carlito" pitchFamily="34" charset="-120"/>
              </a:rPr>
              <a:t>Internal failure-prediction model</a:t>
            </a:r>
            <a:endParaRPr lang="en-US" sz="1069" dirty="0"/>
          </a:p>
        </p:txBody>
      </p:sp>
      <p:sp>
        <p:nvSpPr>
          <p:cNvPr id="13" name="Shape 11"/>
          <p:cNvSpPr/>
          <p:nvPr/>
        </p:nvSpPr>
        <p:spPr>
          <a:xfrm>
            <a:off x="635794" y="2733712"/>
            <a:ext cx="2831716" cy="0"/>
          </a:xfrm>
          <a:prstGeom prst="line">
            <a:avLst/>
          </a:prstGeom>
          <a:noFill/>
          <a:ln w="7144">
            <a:solidFill>
              <a:srgbClr val="CBD5E1"/>
            </a:solidFill>
            <a:prstDash val="solid"/>
          </a:ln>
        </p:spPr>
      </p:sp>
      <p:sp>
        <p:nvSpPr>
          <p:cNvPr id="14" name="Text 12"/>
          <p:cNvSpPr/>
          <p:nvPr/>
        </p:nvSpPr>
        <p:spPr>
          <a:xfrm>
            <a:off x="635794" y="2375855"/>
            <a:ext cx="2831716" cy="106848"/>
          </a:xfrm>
          <a:prstGeom prst="rect">
            <a:avLst/>
          </a:prstGeom>
          <a:noFill/>
          <a:ln/>
        </p:spPr>
        <p:txBody>
          <a:bodyPr wrap="none" lIns="0" tIns="0" rIns="0" bIns="0" rtlCol="0" anchor="t">
            <a:normAutofit fontScale="62500" lnSpcReduction="20000"/>
          </a:bodyPr>
          <a:lstStyle/>
          <a:p>
            <a:pPr marL="0" indent="0" algn="l">
              <a:lnSpc>
                <a:spcPts val="945"/>
              </a:lnSpc>
              <a:buNone/>
            </a:pPr>
            <a:r>
              <a:rPr lang="en-US" sz="800" kern="0" spc="28" dirty="0">
                <a:solidFill>
                  <a:srgbClr val="64748B"/>
                </a:solidFill>
                <a:latin typeface="Courier New" pitchFamily="34" charset="0"/>
                <a:ea typeface="Courier New" pitchFamily="34" charset="-122"/>
                <a:cs typeface="Courier New" pitchFamily="34" charset="-120"/>
              </a:rPr>
              <a:t>REPO SCALE</a:t>
            </a:r>
            <a:endParaRPr lang="en-US" sz="800" dirty="0"/>
          </a:p>
        </p:txBody>
      </p:sp>
      <p:sp>
        <p:nvSpPr>
          <p:cNvPr id="15" name="Text 13"/>
          <p:cNvSpPr/>
          <p:nvPr/>
        </p:nvSpPr>
        <p:spPr>
          <a:xfrm>
            <a:off x="635794" y="2510135"/>
            <a:ext cx="2941444" cy="162855"/>
          </a:xfrm>
          <a:prstGeom prst="rect">
            <a:avLst/>
          </a:prstGeom>
          <a:noFill/>
          <a:ln/>
        </p:spPr>
        <p:txBody>
          <a:bodyPr wrap="square" lIns="0" tIns="0" rIns="0" bIns="0" rtlCol="0" anchor="t"/>
          <a:lstStyle/>
          <a:p>
            <a:pPr marL="0" indent="0" algn="l">
              <a:lnSpc>
                <a:spcPts val="1283"/>
              </a:lnSpc>
              <a:buNone/>
            </a:pPr>
            <a:r>
              <a:rPr lang="en-US" sz="1069" b="1" dirty="0">
                <a:solidFill>
                  <a:srgbClr val="F97316"/>
                </a:solidFill>
                <a:latin typeface="Carlito" pitchFamily="34" charset="0"/>
                <a:ea typeface="Carlito" pitchFamily="34" charset="-122"/>
                <a:cs typeface="Carlito" pitchFamily="34" charset="-120"/>
              </a:rPr>
              <a:t>Thousands</a:t>
            </a:r>
            <a:r>
              <a:rPr lang="en-US" sz="1069" b="1" dirty="0">
                <a:solidFill>
                  <a:srgbClr val="0F172A"/>
                </a:solidFill>
                <a:latin typeface="Carlito" pitchFamily="34" charset="0"/>
                <a:ea typeface="Carlito" pitchFamily="34" charset="-122"/>
                <a:cs typeface="Carlito" pitchFamily="34" charset="-120"/>
              </a:rPr>
              <a:t> of microservices</a:t>
            </a:r>
            <a:endParaRPr lang="en-US" sz="1069" dirty="0"/>
          </a:p>
        </p:txBody>
      </p:sp>
      <p:sp>
        <p:nvSpPr>
          <p:cNvPr id="16" name="Shape 14"/>
          <p:cNvSpPr/>
          <p:nvPr/>
        </p:nvSpPr>
        <p:spPr>
          <a:xfrm>
            <a:off x="635794" y="3343721"/>
            <a:ext cx="2831716" cy="0"/>
          </a:xfrm>
          <a:prstGeom prst="line">
            <a:avLst/>
          </a:prstGeom>
          <a:noFill/>
          <a:ln w="7144">
            <a:solidFill>
              <a:srgbClr val="CBD5E1"/>
            </a:solidFill>
            <a:prstDash val="solid"/>
          </a:ln>
        </p:spPr>
      </p:sp>
      <p:sp>
        <p:nvSpPr>
          <p:cNvPr id="17" name="Text 15"/>
          <p:cNvSpPr/>
          <p:nvPr/>
        </p:nvSpPr>
        <p:spPr>
          <a:xfrm>
            <a:off x="635794" y="2823009"/>
            <a:ext cx="2831716" cy="106848"/>
          </a:xfrm>
          <a:prstGeom prst="rect">
            <a:avLst/>
          </a:prstGeom>
          <a:noFill/>
          <a:ln/>
        </p:spPr>
        <p:txBody>
          <a:bodyPr wrap="none" lIns="0" tIns="0" rIns="0" bIns="0" rtlCol="0" anchor="t">
            <a:normAutofit fontScale="62500" lnSpcReduction="20000"/>
          </a:bodyPr>
          <a:lstStyle/>
          <a:p>
            <a:pPr marL="0" indent="0" algn="l">
              <a:lnSpc>
                <a:spcPts val="945"/>
              </a:lnSpc>
              <a:buNone/>
            </a:pPr>
            <a:r>
              <a:rPr lang="en-US" sz="800" kern="0" spc="28" dirty="0">
                <a:solidFill>
                  <a:srgbClr val="64748B"/>
                </a:solidFill>
                <a:latin typeface="Courier New" pitchFamily="34" charset="0"/>
                <a:ea typeface="Courier New" pitchFamily="34" charset="-122"/>
                <a:cs typeface="Courier New" pitchFamily="34" charset="-120"/>
              </a:rPr>
              <a:t>APPROACH</a:t>
            </a:r>
            <a:endParaRPr lang="en-US" sz="800" dirty="0"/>
          </a:p>
        </p:txBody>
      </p:sp>
      <p:sp>
        <p:nvSpPr>
          <p:cNvPr id="18" name="Text 16"/>
          <p:cNvSpPr/>
          <p:nvPr/>
        </p:nvSpPr>
        <p:spPr>
          <a:xfrm>
            <a:off x="635794" y="2957289"/>
            <a:ext cx="2831716" cy="325710"/>
          </a:xfrm>
          <a:prstGeom prst="rect">
            <a:avLst/>
          </a:prstGeom>
          <a:noFill/>
          <a:ln/>
        </p:spPr>
        <p:txBody>
          <a:bodyPr wrap="square" lIns="0" tIns="0" rIns="0" bIns="0" rtlCol="0" anchor="t"/>
          <a:lstStyle/>
          <a:p>
            <a:pPr marL="0" indent="0" algn="l">
              <a:lnSpc>
                <a:spcPts val="1283"/>
              </a:lnSpc>
              <a:buNone/>
            </a:pPr>
            <a:r>
              <a:rPr lang="en-US" sz="1069" b="1" dirty="0">
                <a:solidFill>
                  <a:srgbClr val="0F172A"/>
                </a:solidFill>
                <a:latin typeface="Carlito" pitchFamily="34" charset="0"/>
                <a:ea typeface="Carlito" pitchFamily="34" charset="-122"/>
                <a:cs typeface="Carlito" pitchFamily="34" charset="-120"/>
              </a:rPr>
              <a:t>Gradient-boosted trees on 6 months of CI history</a:t>
            </a:r>
            <a:endParaRPr lang="en-US" sz="1069" dirty="0"/>
          </a:p>
        </p:txBody>
      </p:sp>
      <p:sp>
        <p:nvSpPr>
          <p:cNvPr id="19" name="Text 17"/>
          <p:cNvSpPr/>
          <p:nvPr/>
        </p:nvSpPr>
        <p:spPr>
          <a:xfrm>
            <a:off x="635794" y="3433018"/>
            <a:ext cx="2831716" cy="106848"/>
          </a:xfrm>
          <a:prstGeom prst="rect">
            <a:avLst/>
          </a:prstGeom>
          <a:noFill/>
          <a:ln/>
        </p:spPr>
        <p:txBody>
          <a:bodyPr wrap="none" lIns="0" tIns="0" rIns="0" bIns="0" rtlCol="0" anchor="t">
            <a:normAutofit fontScale="62500" lnSpcReduction="20000"/>
          </a:bodyPr>
          <a:lstStyle/>
          <a:p>
            <a:pPr marL="0" indent="0" algn="l">
              <a:lnSpc>
                <a:spcPts val="945"/>
              </a:lnSpc>
              <a:buNone/>
            </a:pPr>
            <a:r>
              <a:rPr lang="en-US" sz="800" kern="0" spc="28" dirty="0">
                <a:solidFill>
                  <a:srgbClr val="64748B"/>
                </a:solidFill>
                <a:latin typeface="Courier New" pitchFamily="34" charset="0"/>
                <a:ea typeface="Courier New" pitchFamily="34" charset="-122"/>
                <a:cs typeface="Courier New" pitchFamily="34" charset="-120"/>
              </a:rPr>
              <a:t>RESULT</a:t>
            </a:r>
            <a:endParaRPr lang="en-US" sz="800" dirty="0"/>
          </a:p>
        </p:txBody>
      </p:sp>
      <p:sp>
        <p:nvSpPr>
          <p:cNvPr id="20" name="Text 18"/>
          <p:cNvSpPr/>
          <p:nvPr/>
        </p:nvSpPr>
        <p:spPr>
          <a:xfrm>
            <a:off x="635794" y="3567299"/>
            <a:ext cx="2831716" cy="351767"/>
          </a:xfrm>
          <a:prstGeom prst="rect">
            <a:avLst/>
          </a:prstGeom>
          <a:noFill/>
          <a:ln/>
        </p:spPr>
        <p:txBody>
          <a:bodyPr wrap="square" lIns="0" tIns="0" rIns="0" bIns="0" rtlCol="0" anchor="t"/>
          <a:lstStyle/>
          <a:p>
            <a:pPr marL="0" indent="0" algn="l">
              <a:lnSpc>
                <a:spcPts val="1283"/>
              </a:lnSpc>
              <a:buNone/>
            </a:pPr>
            <a:r>
              <a:rPr lang="en-US" sz="1069" b="1" dirty="0">
                <a:solidFill>
                  <a:srgbClr val="F97316"/>
                </a:solidFill>
                <a:latin typeface="Liberation Sans Narrow" pitchFamily="34" charset="0"/>
                <a:ea typeface="Liberation Sans Narrow" pitchFamily="34" charset="-122"/>
                <a:cs typeface="Liberation Sans Narrow" pitchFamily="34" charset="-120"/>
              </a:rPr>
              <a:t>35%</a:t>
            </a:r>
            <a:r>
              <a:rPr lang="en-US" sz="1069" b="1" dirty="0">
                <a:solidFill>
                  <a:srgbClr val="0F172A"/>
                </a:solidFill>
                <a:latin typeface="Carlito" pitchFamily="34" charset="0"/>
                <a:ea typeface="Carlito" pitchFamily="34" charset="-122"/>
                <a:cs typeface="Carlito" pitchFamily="34" charset="-120"/>
              </a:rPr>
              <a:t> of failing builds predicted with </a:t>
            </a:r>
            <a:r>
              <a:rPr lang="en-US" sz="1069" b="1" dirty="0">
                <a:solidFill>
                  <a:srgbClr val="F97316"/>
                </a:solidFill>
                <a:latin typeface="Liberation Sans Narrow" pitchFamily="34" charset="0"/>
                <a:ea typeface="Liberation Sans Narrow" pitchFamily="34" charset="-122"/>
                <a:cs typeface="Liberation Sans Narrow" pitchFamily="34" charset="-120"/>
              </a:rPr>
              <a:t>80% precision</a:t>
            </a:r>
            <a:endParaRPr lang="en-US" sz="1069" dirty="0"/>
          </a:p>
        </p:txBody>
      </p:sp>
      <p:sp>
        <p:nvSpPr>
          <p:cNvPr id="21" name="Text 19"/>
          <p:cNvSpPr/>
          <p:nvPr/>
        </p:nvSpPr>
        <p:spPr>
          <a:xfrm>
            <a:off x="3817553" y="1060066"/>
            <a:ext cx="5326447" cy="222175"/>
          </a:xfrm>
          <a:prstGeom prst="rect">
            <a:avLst/>
          </a:prstGeom>
          <a:noFill/>
          <a:ln/>
        </p:spPr>
        <p:txBody>
          <a:bodyPr wrap="square" lIns="0" tIns="0" rIns="0" bIns="0" rtlCol="0" anchor="t"/>
          <a:lstStyle/>
          <a:p>
            <a:pPr marL="0" indent="0" algn="l">
              <a:lnSpc>
                <a:spcPts val="1620"/>
              </a:lnSpc>
              <a:buNone/>
            </a:pPr>
            <a:r>
              <a:rPr lang="en-US" sz="1350" b="1" dirty="0">
                <a:solidFill>
                  <a:srgbClr val="0F172A"/>
                </a:solidFill>
                <a:latin typeface="Carlito" pitchFamily="34" charset="0"/>
                <a:ea typeface="Carlito" pitchFamily="34" charset="-122"/>
                <a:cs typeface="Carlito" pitchFamily="34" charset="-120"/>
              </a:rPr>
              <a:t>How Netflix Predicts Build Failures Before They Happen</a:t>
            </a:r>
            <a:endParaRPr lang="en-US" sz="1350" dirty="0"/>
          </a:p>
        </p:txBody>
      </p:sp>
      <p:sp>
        <p:nvSpPr>
          <p:cNvPr id="22" name="Text 20"/>
          <p:cNvSpPr/>
          <p:nvPr/>
        </p:nvSpPr>
        <p:spPr>
          <a:xfrm>
            <a:off x="3817553" y="1351508"/>
            <a:ext cx="4869247" cy="740664"/>
          </a:xfrm>
          <a:prstGeom prst="rect">
            <a:avLst/>
          </a:prstGeom>
          <a:noFill/>
          <a:ln/>
        </p:spPr>
        <p:txBody>
          <a:bodyPr wrap="square" lIns="0" tIns="0" rIns="0" bIns="0" rtlCol="0" anchor="t"/>
          <a:lstStyle/>
          <a:p>
            <a:pPr marL="0" indent="0" algn="l">
              <a:lnSpc>
                <a:spcPts val="1350"/>
              </a:lnSpc>
              <a:buNone/>
            </a:pPr>
            <a:r>
              <a:rPr lang="en-US" sz="900" dirty="0">
                <a:solidFill>
                  <a:srgbClr val="0F172A"/>
                </a:solidFill>
                <a:latin typeface="Carlito" pitchFamily="34" charset="0"/>
                <a:ea typeface="Carlito" pitchFamily="34" charset="-122"/>
                <a:cs typeface="Carlito" pitchFamily="34" charset="-120"/>
              </a:rPr>
              <a:t>Netflix engineers train a </a:t>
            </a:r>
            <a:r>
              <a:rPr lang="en-US" sz="900" b="1" dirty="0">
                <a:solidFill>
                  <a:srgbClr val="C2410C"/>
                </a:solidFill>
                <a:latin typeface="Carlito" pitchFamily="34" charset="0"/>
                <a:ea typeface="Carlito" pitchFamily="34" charset="-122"/>
                <a:cs typeface="Carlito" pitchFamily="34" charset="-120"/>
              </a:rPr>
              <a:t>gradient-boosted tree model</a:t>
            </a:r>
            <a:r>
              <a:rPr lang="en-US" sz="900" dirty="0">
                <a:solidFill>
                  <a:srgbClr val="0F172A"/>
                </a:solidFill>
                <a:latin typeface="Carlito" pitchFamily="34" charset="0"/>
                <a:ea typeface="Carlito" pitchFamily="34" charset="-122"/>
                <a:cs typeface="Carlito" pitchFamily="34" charset="-120"/>
              </a:rPr>
              <a:t> on six months of CI history across thousands of microservices. Features include diff size, files touched, author history, dependency changes, and time-of-day patterns. The model runs as a </a:t>
            </a:r>
            <a:r>
              <a:rPr lang="en-US" sz="900" b="1" dirty="0">
                <a:solidFill>
                  <a:srgbClr val="C2410C"/>
                </a:solidFill>
                <a:latin typeface="Carlito" pitchFamily="34" charset="0"/>
                <a:ea typeface="Carlito" pitchFamily="34" charset="-122"/>
                <a:cs typeface="Carlito" pitchFamily="34" charset="-120"/>
              </a:rPr>
              <a:t>pre-CI gate</a:t>
            </a:r>
            <a:r>
              <a:rPr lang="en-US" sz="900" dirty="0">
                <a:solidFill>
                  <a:srgbClr val="0F172A"/>
                </a:solidFill>
                <a:latin typeface="Carlito" pitchFamily="34" charset="0"/>
                <a:ea typeface="Carlito" pitchFamily="34" charset="-122"/>
                <a:cs typeface="Carlito" pitchFamily="34" charset="-120"/>
              </a:rPr>
              <a:t>: when a developer opens a PR, the model scores it for failure probability.</a:t>
            </a:r>
            <a:endParaRPr lang="en-US" sz="900" dirty="0"/>
          </a:p>
        </p:txBody>
      </p:sp>
      <p:sp>
        <p:nvSpPr>
          <p:cNvPr id="23" name="Text 21"/>
          <p:cNvSpPr/>
          <p:nvPr/>
        </p:nvSpPr>
        <p:spPr>
          <a:xfrm>
            <a:off x="3817553" y="2123033"/>
            <a:ext cx="4869247" cy="915543"/>
          </a:xfrm>
          <a:prstGeom prst="rect">
            <a:avLst/>
          </a:prstGeom>
          <a:noFill/>
          <a:ln/>
        </p:spPr>
        <p:txBody>
          <a:bodyPr wrap="square" lIns="0" tIns="0" rIns="0" bIns="0" rtlCol="0" anchor="t">
            <a:normAutofit/>
          </a:bodyPr>
          <a:lstStyle/>
          <a:p>
            <a:pPr marL="0" indent="0" algn="l">
              <a:lnSpc>
                <a:spcPts val="1350"/>
              </a:lnSpc>
              <a:buNone/>
            </a:pPr>
            <a:r>
              <a:rPr lang="en-US" sz="900" dirty="0">
                <a:solidFill>
                  <a:srgbClr val="0F172A"/>
                </a:solidFill>
                <a:latin typeface="Carlito" pitchFamily="34" charset="0"/>
                <a:ea typeface="Carlito" pitchFamily="34" charset="-122"/>
                <a:cs typeface="Carlito" pitchFamily="34" charset="-120"/>
              </a:rPr>
              <a:t>PRs scoring above 0.85 are flagged in the PR UI with a warning banner — </a:t>
            </a:r>
            <a:r>
              <a:rPr lang="en-US" sz="900" i="1" dirty="0">
                <a:solidFill>
                  <a:srgbClr val="0F172A"/>
                </a:solidFill>
                <a:latin typeface="Carlito" pitchFamily="34" charset="0"/>
                <a:ea typeface="Carlito" pitchFamily="34" charset="-122"/>
                <a:cs typeface="Carlito" pitchFamily="34" charset="-120"/>
              </a:rPr>
              <a:t>"This PR has a high risk of build failure. Review the diff carefully."</a:t>
            </a:r>
            <a:r>
              <a:rPr lang="en-US" sz="900" dirty="0">
                <a:solidFill>
                  <a:srgbClr val="0F172A"/>
                </a:solidFill>
                <a:latin typeface="Carlito" pitchFamily="34" charset="0"/>
                <a:ea typeface="Carlito" pitchFamily="34" charset="-122"/>
                <a:cs typeface="Carlito" pitchFamily="34" charset="-120"/>
              </a:rPr>
              <a:t> Developers can still merge, but the warning nudges them to double-check. Netflix reports that </a:t>
            </a:r>
            <a:r>
              <a:rPr lang="en-US" sz="900" b="1" dirty="0">
                <a:solidFill>
                  <a:srgbClr val="C2410C"/>
                </a:solidFill>
                <a:latin typeface="Carlito" pitchFamily="34" charset="0"/>
                <a:ea typeface="Carlito" pitchFamily="34" charset="-122"/>
                <a:cs typeface="Carlito" pitchFamily="34" charset="-120"/>
              </a:rPr>
              <a:t>35% of failing builds are predicted with 80% precision</a:t>
            </a:r>
            <a:r>
              <a:rPr lang="en-US" sz="900" dirty="0">
                <a:solidFill>
                  <a:srgbClr val="0F172A"/>
                </a:solidFill>
                <a:latin typeface="Carlito" pitchFamily="34" charset="0"/>
                <a:ea typeface="Carlito" pitchFamily="34" charset="-122"/>
                <a:cs typeface="Carlito" pitchFamily="34" charset="-120"/>
              </a:rPr>
              <a:t>. The remaining 65% are failures the model has never seen before — they become new training data.</a:t>
            </a:r>
            <a:endParaRPr lang="en-US" sz="900" dirty="0"/>
          </a:p>
        </p:txBody>
      </p:sp>
      <p:sp>
        <p:nvSpPr>
          <p:cNvPr id="24" name="Text 22"/>
          <p:cNvSpPr/>
          <p:nvPr/>
        </p:nvSpPr>
        <p:spPr>
          <a:xfrm>
            <a:off x="3817553" y="3066008"/>
            <a:ext cx="4869247" cy="668499"/>
          </a:xfrm>
          <a:prstGeom prst="roundRect">
            <a:avLst>
              <a:gd name="adj" fmla="val 11399"/>
            </a:avLst>
          </a:prstGeom>
          <a:solidFill>
            <a:srgbClr val="FFF7ED"/>
          </a:solidFill>
          <a:ln/>
        </p:spPr>
        <p:txBody>
          <a:bodyPr wrap="square" rtlCol="0" anchor="ctr"/>
          <a:lstStyle/>
          <a:p>
            <a:pPr marL="0" indent="0">
              <a:buNone/>
            </a:pPr>
            <a:endParaRPr lang="en-US" dirty="0"/>
          </a:p>
        </p:txBody>
      </p:sp>
      <p:sp>
        <p:nvSpPr>
          <p:cNvPr id="25" name="Shape 23"/>
          <p:cNvSpPr/>
          <p:nvPr/>
        </p:nvSpPr>
        <p:spPr>
          <a:xfrm>
            <a:off x="3838984" y="3066008"/>
            <a:ext cx="0" cy="668499"/>
          </a:xfrm>
          <a:prstGeom prst="line">
            <a:avLst/>
          </a:prstGeom>
          <a:noFill/>
          <a:ln w="42863">
            <a:solidFill>
              <a:srgbClr val="F97316"/>
            </a:solidFill>
            <a:prstDash val="solid"/>
          </a:ln>
        </p:spPr>
      </p:sp>
      <p:sp>
        <p:nvSpPr>
          <p:cNvPr id="26" name="Text 24"/>
          <p:cNvSpPr/>
          <p:nvPr/>
        </p:nvSpPr>
        <p:spPr>
          <a:xfrm>
            <a:off x="3989003" y="3321732"/>
            <a:ext cx="4348088" cy="327054"/>
          </a:xfrm>
          <a:prstGeom prst="rect">
            <a:avLst/>
          </a:prstGeom>
          <a:noFill/>
          <a:ln/>
        </p:spPr>
        <p:txBody>
          <a:bodyPr wrap="square" lIns="128588" tIns="100013" rIns="128588" bIns="100013" rtlCol="0" anchor="t"/>
          <a:lstStyle/>
          <a:p>
            <a:pPr marL="0" indent="0" algn="l">
              <a:lnSpc>
                <a:spcPts val="1260"/>
              </a:lnSpc>
              <a:buNone/>
            </a:pPr>
            <a:r>
              <a:rPr lang="en-US" sz="900" b="1" dirty="0">
                <a:solidFill>
                  <a:srgbClr val="0F172A"/>
                </a:solidFill>
                <a:latin typeface="Carlito" pitchFamily="34" charset="0"/>
                <a:ea typeface="Carlito" pitchFamily="34" charset="-122"/>
                <a:cs typeface="Carlito" pitchFamily="34" charset="-120"/>
              </a:rPr>
              <a:t>Treat failure prediction as a continuous learning loop. Every failed build makes the next prediction better.</a:t>
            </a:r>
            <a:endParaRPr lang="en-US" sz="900" dirty="0"/>
          </a:p>
        </p:txBody>
      </p:sp>
      <p:sp>
        <p:nvSpPr>
          <p:cNvPr id="27" name="Text 25"/>
          <p:cNvSpPr/>
          <p:nvPr/>
        </p:nvSpPr>
        <p:spPr>
          <a:xfrm>
            <a:off x="3989003" y="3166021"/>
            <a:ext cx="4569209" cy="153591"/>
          </a:xfrm>
          <a:prstGeom prst="rect">
            <a:avLst/>
          </a:prstGeom>
          <a:noFill/>
          <a:ln/>
        </p:spPr>
        <p:txBody>
          <a:bodyPr wrap="none" lIns="0" tIns="0" rIns="0" bIns="0" rtlCol="0" anchor="t"/>
          <a:lstStyle/>
          <a:p>
            <a:pPr marL="0" indent="0" algn="l">
              <a:lnSpc>
                <a:spcPts val="945"/>
              </a:lnSpc>
              <a:buNone/>
            </a:pPr>
            <a:r>
              <a:rPr lang="en-US" sz="800" b="1" kern="0" spc="84" dirty="0">
                <a:solidFill>
                  <a:srgbClr val="C2410C"/>
                </a:solidFill>
                <a:latin typeface="Carlito" pitchFamily="34" charset="0"/>
                <a:ea typeface="Carlito" pitchFamily="34" charset="-122"/>
                <a:cs typeface="Carlito" pitchFamily="34" charset="-120"/>
              </a:rPr>
              <a:t>LESSON</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8636000" cy="410355"/>
          </a:xfrm>
          <a:prstGeom prst="rect">
            <a:avLst/>
          </a:prstGeom>
          <a:noFill/>
          <a:ln/>
        </p:spPr>
        <p:txBody>
          <a:bodyPr wrap="square" lIns="0" tIns="0" rIns="0" bIns="0" rtlCol="0" anchor="t"/>
          <a:lstStyle/>
          <a:p>
            <a:pPr marL="0" indent="0" algn="l">
              <a:lnSpc>
                <a:spcPts val="2993"/>
              </a:lnSpc>
              <a:buNone/>
            </a:pPr>
            <a:r>
              <a:rPr lang="en-US" sz="2138" b="1" dirty="0">
                <a:solidFill>
                  <a:srgbClr val="0F172A"/>
                </a:solidFill>
                <a:latin typeface="Carlito" pitchFamily="34" charset="0"/>
                <a:ea typeface="Carlito" pitchFamily="34" charset="-122"/>
                <a:cs typeface="Carlito" pitchFamily="34" charset="-120"/>
              </a:rPr>
              <a:t>Section A Recap — AI-Enhanced Build Intelligence</a:t>
            </a:r>
            <a:endParaRPr lang="en-US" sz="2138" dirty="0"/>
          </a:p>
        </p:txBody>
      </p:sp>
      <p:sp>
        <p:nvSpPr>
          <p:cNvPr id="3" name="Text 1"/>
          <p:cNvSpPr/>
          <p:nvPr/>
        </p:nvSpPr>
        <p:spPr>
          <a:xfrm>
            <a:off x="457200" y="894308"/>
            <a:ext cx="571500" cy="42863"/>
          </a:xfrm>
          <a:prstGeom prst="roundRect">
            <a:avLst>
              <a:gd name="adj" fmla="val 66666"/>
            </a:avLst>
          </a:prstGeom>
          <a:solidFill>
            <a:srgbClr val="F97316"/>
          </a:solidFill>
          <a:ln/>
        </p:spPr>
        <p:txBody>
          <a:bodyPr wrap="square" rtlCol="0" anchor="ctr"/>
          <a:lstStyle/>
          <a:p>
            <a:pPr marL="0" indent="0">
              <a:buNone/>
            </a:pPr>
            <a:endParaRPr lang="en-US" dirty="0"/>
          </a:p>
        </p:txBody>
      </p:sp>
      <p:sp>
        <p:nvSpPr>
          <p:cNvPr id="4" name="Text 2"/>
          <p:cNvSpPr/>
          <p:nvPr/>
        </p:nvSpPr>
        <p:spPr>
          <a:xfrm>
            <a:off x="457200" y="1037183"/>
            <a:ext cx="8229600" cy="628650"/>
          </a:xfrm>
          <a:prstGeom prst="roundRect">
            <a:avLst>
              <a:gd name="adj" fmla="val 21212"/>
            </a:avLst>
          </a:prstGeom>
          <a:solidFill>
            <a:srgbClr val="F8FAFC"/>
          </a:solidFill>
          <a:ln/>
        </p:spPr>
        <p:txBody>
          <a:bodyPr wrap="square" rtlCol="0" anchor="ctr"/>
          <a:lstStyle/>
          <a:p>
            <a:pPr marL="0" indent="0">
              <a:buNone/>
            </a:pPr>
            <a:endParaRPr lang="en-US" dirty="0"/>
          </a:p>
        </p:txBody>
      </p:sp>
      <p:sp>
        <p:nvSpPr>
          <p:cNvPr id="5" name="Shape 3"/>
          <p:cNvSpPr/>
          <p:nvPr/>
        </p:nvSpPr>
        <p:spPr>
          <a:xfrm>
            <a:off x="475059" y="1037183"/>
            <a:ext cx="0" cy="628650"/>
          </a:xfrm>
          <a:prstGeom prst="line">
            <a:avLst/>
          </a:prstGeom>
          <a:noFill/>
          <a:ln w="35719">
            <a:solidFill>
              <a:srgbClr val="F97316"/>
            </a:solidFill>
            <a:prstDash val="solid"/>
          </a:ln>
        </p:spPr>
      </p:sp>
      <p:sp>
        <p:nvSpPr>
          <p:cNvPr id="6" name="Text 4"/>
          <p:cNvSpPr/>
          <p:nvPr/>
        </p:nvSpPr>
        <p:spPr>
          <a:xfrm>
            <a:off x="621506" y="1137196"/>
            <a:ext cx="428625" cy="428625"/>
          </a:xfrm>
          <a:prstGeom prst="roundRect">
            <a:avLst>
              <a:gd name="adj" fmla="val 26667"/>
            </a:avLst>
          </a:prstGeom>
          <a:solidFill>
            <a:srgbClr val="F97316"/>
          </a:solidFill>
          <a:ln/>
        </p:spPr>
        <p:txBody>
          <a:bodyPr wrap="square" rtlCol="0" anchor="ctr"/>
          <a:lstStyle/>
          <a:p>
            <a:pPr marL="0" indent="0">
              <a:buNone/>
            </a:pPr>
            <a:endParaRPr lang="en-US" dirty="0"/>
          </a:p>
        </p:txBody>
      </p:sp>
      <p:sp>
        <p:nvSpPr>
          <p:cNvPr id="7" name="Text 5"/>
          <p:cNvSpPr/>
          <p:nvPr/>
        </p:nvSpPr>
        <p:spPr>
          <a:xfrm>
            <a:off x="621506" y="1137196"/>
            <a:ext cx="492919" cy="428625"/>
          </a:xfrm>
          <a:prstGeom prst="rect">
            <a:avLst/>
          </a:prstGeom>
          <a:noFill/>
          <a:ln/>
        </p:spPr>
        <p:txBody>
          <a:bodyPr wrap="none" lIns="0" tIns="0" rIns="0" bIns="0" rtlCol="0" anchor="ctr"/>
          <a:lstStyle/>
          <a:p>
            <a:pPr marL="0" indent="0" algn="ctr">
              <a:lnSpc>
                <a:spcPts val="1733"/>
              </a:lnSpc>
              <a:buNone/>
            </a:pPr>
            <a:r>
              <a:rPr lang="en-US" sz="1238" b="1" kern="0" spc="-56" dirty="0">
                <a:solidFill>
                  <a:srgbClr val="FFFFFF"/>
                </a:solidFill>
                <a:latin typeface="Liberation Sans Narrow" pitchFamily="34" charset="0"/>
                <a:ea typeface="Liberation Sans Narrow" pitchFamily="34" charset="-122"/>
                <a:cs typeface="Liberation Sans Narrow" pitchFamily="34" charset="-120"/>
              </a:rPr>
              <a:t>1.1</a:t>
            </a:r>
            <a:endParaRPr lang="en-US" sz="1238" dirty="0"/>
          </a:p>
        </p:txBody>
      </p:sp>
      <p:sp>
        <p:nvSpPr>
          <p:cNvPr id="8" name="Text 6"/>
          <p:cNvSpPr/>
          <p:nvPr/>
        </p:nvSpPr>
        <p:spPr>
          <a:xfrm>
            <a:off x="1178719" y="1137196"/>
            <a:ext cx="6141218" cy="181076"/>
          </a:xfrm>
          <a:prstGeom prst="rect">
            <a:avLst/>
          </a:prstGeom>
          <a:noFill/>
          <a:ln/>
        </p:spPr>
        <p:txBody>
          <a:bodyPr wrap="square" lIns="0" tIns="0" rIns="0" bIns="0" rtlCol="0" anchor="t">
            <a:normAutofit/>
          </a:bodyPr>
          <a:lstStyle/>
          <a:p>
            <a:pPr marL="0" indent="0" algn="l">
              <a:lnSpc>
                <a:spcPts val="1418"/>
              </a:lnSpc>
              <a:buNone/>
            </a:pPr>
            <a:r>
              <a:rPr lang="en-US" sz="1181" b="1" dirty="0">
                <a:solidFill>
                  <a:srgbClr val="0F172A"/>
                </a:solidFill>
                <a:latin typeface="Carlito" pitchFamily="34" charset="0"/>
                <a:ea typeface="Carlito" pitchFamily="34" charset="-122"/>
                <a:cs typeface="Carlito" pitchFamily="34" charset="-120"/>
              </a:rPr>
              <a:t>Smart Build-Cache Invalidation</a:t>
            </a:r>
            <a:endParaRPr lang="en-US" sz="1181" dirty="0"/>
          </a:p>
        </p:txBody>
      </p:sp>
      <p:sp>
        <p:nvSpPr>
          <p:cNvPr id="9" name="Text 7"/>
          <p:cNvSpPr/>
          <p:nvPr/>
        </p:nvSpPr>
        <p:spPr>
          <a:xfrm>
            <a:off x="1178719" y="1345704"/>
            <a:ext cx="5686313" cy="172749"/>
          </a:xfrm>
          <a:prstGeom prst="rect">
            <a:avLst/>
          </a:prstGeom>
          <a:noFill/>
          <a:ln/>
        </p:spPr>
        <p:txBody>
          <a:bodyPr wrap="square" lIns="0" tIns="0" rIns="0" bIns="0" rtlCol="0" anchor="t"/>
          <a:lstStyle/>
          <a:p>
            <a:pPr marL="0" indent="0" algn="l">
              <a:lnSpc>
                <a:spcPts val="1260"/>
              </a:lnSpc>
              <a:buNone/>
            </a:pPr>
            <a:r>
              <a:rPr lang="en-US" sz="900" dirty="0">
                <a:solidFill>
                  <a:srgbClr val="334155"/>
                </a:solidFill>
                <a:latin typeface="Carlito" pitchFamily="34" charset="0"/>
                <a:ea typeface="Carlito" pitchFamily="34" charset="-122"/>
                <a:cs typeface="Carlito" pitchFamily="34" charset="-120"/>
              </a:rPr>
              <a:t>Build a dependency graph. Invalidate </a:t>
            </a:r>
            <a:r>
              <a:rPr lang="en-US" sz="900" b="1" dirty="0">
                <a:solidFill>
                  <a:srgbClr val="C2410C"/>
                </a:solidFill>
                <a:latin typeface="Carlito" pitchFamily="34" charset="0"/>
                <a:ea typeface="Carlito" pitchFamily="34" charset="-122"/>
                <a:cs typeface="Carlito" pitchFamily="34" charset="-120"/>
              </a:rPr>
              <a:t>ONLY the impact set.</a:t>
            </a:r>
            <a:r>
              <a:rPr lang="en-US" sz="900" dirty="0">
                <a:solidFill>
                  <a:srgbClr val="334155"/>
                </a:solidFill>
                <a:latin typeface="Carlito" pitchFamily="34" charset="0"/>
                <a:ea typeface="Carlito" pitchFamily="34" charset="-122"/>
                <a:cs typeface="Carlito" pitchFamily="34" charset="-120"/>
              </a:rPr>
              <a:t> AI extends the graph with </a:t>
            </a:r>
            <a:r>
              <a:rPr lang="en-US" sz="900" b="1" dirty="0">
                <a:solidFill>
                  <a:srgbClr val="C2410C"/>
                </a:solidFill>
                <a:latin typeface="Carlito" pitchFamily="34" charset="0"/>
                <a:ea typeface="Carlito" pitchFamily="34" charset="-122"/>
                <a:cs typeface="Carlito" pitchFamily="34" charset="-120"/>
              </a:rPr>
              <a:t>semantic + co-failure edges.</a:t>
            </a:r>
            <a:endParaRPr lang="en-US" sz="900" dirty="0"/>
          </a:p>
        </p:txBody>
      </p:sp>
      <p:sp>
        <p:nvSpPr>
          <p:cNvPr id="10" name="Text 8"/>
          <p:cNvSpPr/>
          <p:nvPr/>
        </p:nvSpPr>
        <p:spPr>
          <a:xfrm>
            <a:off x="457200" y="1751558"/>
            <a:ext cx="8229600" cy="628650"/>
          </a:xfrm>
          <a:prstGeom prst="roundRect">
            <a:avLst>
              <a:gd name="adj" fmla="val 21212"/>
            </a:avLst>
          </a:prstGeom>
          <a:solidFill>
            <a:srgbClr val="F8FAFC"/>
          </a:solidFill>
          <a:ln/>
        </p:spPr>
        <p:txBody>
          <a:bodyPr wrap="square" rtlCol="0" anchor="ctr"/>
          <a:lstStyle/>
          <a:p>
            <a:pPr marL="0" indent="0">
              <a:buNone/>
            </a:pPr>
            <a:endParaRPr lang="en-US" dirty="0"/>
          </a:p>
        </p:txBody>
      </p:sp>
      <p:sp>
        <p:nvSpPr>
          <p:cNvPr id="11" name="Shape 9"/>
          <p:cNvSpPr/>
          <p:nvPr/>
        </p:nvSpPr>
        <p:spPr>
          <a:xfrm>
            <a:off x="475059" y="1751558"/>
            <a:ext cx="0" cy="628650"/>
          </a:xfrm>
          <a:prstGeom prst="line">
            <a:avLst/>
          </a:prstGeom>
          <a:noFill/>
          <a:ln w="35719">
            <a:solidFill>
              <a:srgbClr val="F97316"/>
            </a:solidFill>
            <a:prstDash val="solid"/>
          </a:ln>
        </p:spPr>
      </p:sp>
      <p:sp>
        <p:nvSpPr>
          <p:cNvPr id="12" name="Text 10"/>
          <p:cNvSpPr/>
          <p:nvPr/>
        </p:nvSpPr>
        <p:spPr>
          <a:xfrm>
            <a:off x="621506" y="1851571"/>
            <a:ext cx="428625" cy="428625"/>
          </a:xfrm>
          <a:prstGeom prst="roundRect">
            <a:avLst>
              <a:gd name="adj" fmla="val 26667"/>
            </a:avLst>
          </a:prstGeom>
          <a:solidFill>
            <a:srgbClr val="F97316"/>
          </a:solidFill>
          <a:ln/>
        </p:spPr>
        <p:txBody>
          <a:bodyPr wrap="square" rtlCol="0" anchor="ctr"/>
          <a:lstStyle/>
          <a:p>
            <a:pPr marL="0" indent="0">
              <a:buNone/>
            </a:pPr>
            <a:endParaRPr lang="en-US" dirty="0"/>
          </a:p>
        </p:txBody>
      </p:sp>
      <p:sp>
        <p:nvSpPr>
          <p:cNvPr id="13" name="Text 11"/>
          <p:cNvSpPr/>
          <p:nvPr/>
        </p:nvSpPr>
        <p:spPr>
          <a:xfrm>
            <a:off x="621506" y="1851571"/>
            <a:ext cx="492919" cy="428625"/>
          </a:xfrm>
          <a:prstGeom prst="rect">
            <a:avLst/>
          </a:prstGeom>
          <a:noFill/>
          <a:ln/>
        </p:spPr>
        <p:txBody>
          <a:bodyPr wrap="none" lIns="0" tIns="0" rIns="0" bIns="0" rtlCol="0" anchor="ctr"/>
          <a:lstStyle/>
          <a:p>
            <a:pPr marL="0" indent="0" algn="ctr">
              <a:lnSpc>
                <a:spcPts val="1733"/>
              </a:lnSpc>
              <a:buNone/>
            </a:pPr>
            <a:r>
              <a:rPr lang="en-US" sz="1238" b="1" kern="0" spc="-56" dirty="0">
                <a:solidFill>
                  <a:srgbClr val="FFFFFF"/>
                </a:solidFill>
                <a:latin typeface="Liberation Sans Narrow" pitchFamily="34" charset="0"/>
                <a:ea typeface="Liberation Sans Narrow" pitchFamily="34" charset="-122"/>
                <a:cs typeface="Liberation Sans Narrow" pitchFamily="34" charset="-120"/>
              </a:rPr>
              <a:t>1.2</a:t>
            </a:r>
            <a:endParaRPr lang="en-US" sz="1238" dirty="0"/>
          </a:p>
        </p:txBody>
      </p:sp>
      <p:sp>
        <p:nvSpPr>
          <p:cNvPr id="14" name="Text 12"/>
          <p:cNvSpPr/>
          <p:nvPr/>
        </p:nvSpPr>
        <p:spPr>
          <a:xfrm>
            <a:off x="1178719" y="1851571"/>
            <a:ext cx="5591507" cy="181076"/>
          </a:xfrm>
          <a:prstGeom prst="rect">
            <a:avLst/>
          </a:prstGeom>
          <a:noFill/>
          <a:ln/>
        </p:spPr>
        <p:txBody>
          <a:bodyPr wrap="square" lIns="0" tIns="0" rIns="0" bIns="0" rtlCol="0" anchor="t">
            <a:normAutofit/>
          </a:bodyPr>
          <a:lstStyle/>
          <a:p>
            <a:pPr marL="0" indent="0" algn="l">
              <a:lnSpc>
                <a:spcPts val="1418"/>
              </a:lnSpc>
              <a:buNone/>
            </a:pPr>
            <a:r>
              <a:rPr lang="en-US" sz="1181" b="1" dirty="0">
                <a:solidFill>
                  <a:srgbClr val="0F172A"/>
                </a:solidFill>
                <a:latin typeface="Carlito" pitchFamily="34" charset="0"/>
                <a:ea typeface="Carlito" pitchFamily="34" charset="-122"/>
                <a:cs typeface="Carlito" pitchFamily="34" charset="-120"/>
              </a:rPr>
              <a:t>Dynamic Test-Subset Routing</a:t>
            </a:r>
            <a:endParaRPr lang="en-US" sz="1181" dirty="0"/>
          </a:p>
        </p:txBody>
      </p:sp>
      <p:sp>
        <p:nvSpPr>
          <p:cNvPr id="15" name="Text 13"/>
          <p:cNvSpPr/>
          <p:nvPr/>
        </p:nvSpPr>
        <p:spPr>
          <a:xfrm>
            <a:off x="1178719" y="2060079"/>
            <a:ext cx="5177321" cy="172749"/>
          </a:xfrm>
          <a:prstGeom prst="rect">
            <a:avLst/>
          </a:prstGeom>
          <a:noFill/>
          <a:ln/>
        </p:spPr>
        <p:txBody>
          <a:bodyPr wrap="square" lIns="0" tIns="0" rIns="0" bIns="0" rtlCol="0" anchor="t"/>
          <a:lstStyle/>
          <a:p>
            <a:pPr marL="0" indent="0" algn="l">
              <a:lnSpc>
                <a:spcPts val="1260"/>
              </a:lnSpc>
              <a:buNone/>
            </a:pPr>
            <a:r>
              <a:rPr lang="en-US" sz="900" dirty="0">
                <a:solidFill>
                  <a:srgbClr val="334155"/>
                </a:solidFill>
                <a:latin typeface="Carlito" pitchFamily="34" charset="0"/>
                <a:ea typeface="Carlito" pitchFamily="34" charset="-122"/>
                <a:cs typeface="Carlito" pitchFamily="34" charset="-120"/>
              </a:rPr>
              <a:t>Coverage map + embeddings + flake prediction. Run only the tests that could fail. </a:t>
            </a:r>
            <a:r>
              <a:rPr lang="en-US" sz="900" b="1" dirty="0">
                <a:solidFill>
                  <a:srgbClr val="C2410C"/>
                </a:solidFill>
                <a:latin typeface="Liberation Sans Narrow" pitchFamily="34" charset="0"/>
                <a:ea typeface="Liberation Sans Narrow" pitchFamily="34" charset="-122"/>
                <a:cs typeface="Liberation Sans Narrow" pitchFamily="34" charset="-120"/>
              </a:rPr>
              <a:t>18× speedup typical.</a:t>
            </a:r>
            <a:endParaRPr lang="en-US" sz="900" dirty="0"/>
          </a:p>
        </p:txBody>
      </p:sp>
      <p:sp>
        <p:nvSpPr>
          <p:cNvPr id="16" name="Text 14"/>
          <p:cNvSpPr/>
          <p:nvPr/>
        </p:nvSpPr>
        <p:spPr>
          <a:xfrm>
            <a:off x="457200" y="2465933"/>
            <a:ext cx="8229600" cy="628650"/>
          </a:xfrm>
          <a:prstGeom prst="roundRect">
            <a:avLst>
              <a:gd name="adj" fmla="val 21212"/>
            </a:avLst>
          </a:prstGeom>
          <a:solidFill>
            <a:srgbClr val="F8FAFC"/>
          </a:solidFill>
          <a:ln/>
        </p:spPr>
        <p:txBody>
          <a:bodyPr wrap="square" rtlCol="0" anchor="ctr"/>
          <a:lstStyle/>
          <a:p>
            <a:pPr marL="0" indent="0">
              <a:buNone/>
            </a:pPr>
            <a:endParaRPr lang="en-US" dirty="0"/>
          </a:p>
        </p:txBody>
      </p:sp>
      <p:sp>
        <p:nvSpPr>
          <p:cNvPr id="17" name="Shape 15"/>
          <p:cNvSpPr/>
          <p:nvPr/>
        </p:nvSpPr>
        <p:spPr>
          <a:xfrm>
            <a:off x="475059" y="2465933"/>
            <a:ext cx="0" cy="628650"/>
          </a:xfrm>
          <a:prstGeom prst="line">
            <a:avLst/>
          </a:prstGeom>
          <a:noFill/>
          <a:ln w="35719">
            <a:solidFill>
              <a:srgbClr val="F97316"/>
            </a:solidFill>
            <a:prstDash val="solid"/>
          </a:ln>
        </p:spPr>
      </p:sp>
      <p:sp>
        <p:nvSpPr>
          <p:cNvPr id="18" name="Text 16"/>
          <p:cNvSpPr/>
          <p:nvPr/>
        </p:nvSpPr>
        <p:spPr>
          <a:xfrm>
            <a:off x="621506" y="2565946"/>
            <a:ext cx="428625" cy="428625"/>
          </a:xfrm>
          <a:prstGeom prst="roundRect">
            <a:avLst>
              <a:gd name="adj" fmla="val 26667"/>
            </a:avLst>
          </a:prstGeom>
          <a:solidFill>
            <a:srgbClr val="F97316"/>
          </a:solidFill>
          <a:ln/>
        </p:spPr>
        <p:txBody>
          <a:bodyPr wrap="square" rtlCol="0" anchor="ctr"/>
          <a:lstStyle/>
          <a:p>
            <a:pPr marL="0" indent="0">
              <a:buNone/>
            </a:pPr>
            <a:endParaRPr lang="en-US" dirty="0"/>
          </a:p>
        </p:txBody>
      </p:sp>
      <p:sp>
        <p:nvSpPr>
          <p:cNvPr id="19" name="Text 17"/>
          <p:cNvSpPr/>
          <p:nvPr/>
        </p:nvSpPr>
        <p:spPr>
          <a:xfrm>
            <a:off x="621506" y="2565946"/>
            <a:ext cx="492919" cy="428625"/>
          </a:xfrm>
          <a:prstGeom prst="rect">
            <a:avLst/>
          </a:prstGeom>
          <a:noFill/>
          <a:ln/>
        </p:spPr>
        <p:txBody>
          <a:bodyPr wrap="none" lIns="0" tIns="0" rIns="0" bIns="0" rtlCol="0" anchor="ctr"/>
          <a:lstStyle/>
          <a:p>
            <a:pPr marL="0" indent="0" algn="ctr">
              <a:lnSpc>
                <a:spcPts val="1733"/>
              </a:lnSpc>
              <a:buNone/>
            </a:pPr>
            <a:r>
              <a:rPr lang="en-US" sz="1238" b="1" kern="0" spc="-56" dirty="0">
                <a:solidFill>
                  <a:srgbClr val="FFFFFF"/>
                </a:solidFill>
                <a:latin typeface="Liberation Sans Narrow" pitchFamily="34" charset="0"/>
                <a:ea typeface="Liberation Sans Narrow" pitchFamily="34" charset="-122"/>
                <a:cs typeface="Liberation Sans Narrow" pitchFamily="34" charset="-120"/>
              </a:rPr>
              <a:t>1.3</a:t>
            </a:r>
            <a:endParaRPr lang="en-US" sz="1238" dirty="0"/>
          </a:p>
        </p:txBody>
      </p:sp>
      <p:sp>
        <p:nvSpPr>
          <p:cNvPr id="20" name="Text 18"/>
          <p:cNvSpPr/>
          <p:nvPr/>
        </p:nvSpPr>
        <p:spPr>
          <a:xfrm>
            <a:off x="1178719" y="2565946"/>
            <a:ext cx="6824798" cy="181076"/>
          </a:xfrm>
          <a:prstGeom prst="rect">
            <a:avLst/>
          </a:prstGeom>
          <a:noFill/>
          <a:ln/>
        </p:spPr>
        <p:txBody>
          <a:bodyPr wrap="none" lIns="0" tIns="0" rIns="0" bIns="0" rtlCol="0" anchor="t">
            <a:normAutofit/>
          </a:bodyPr>
          <a:lstStyle/>
          <a:p>
            <a:pPr marL="0" indent="0" algn="l">
              <a:lnSpc>
                <a:spcPts val="1418"/>
              </a:lnSpc>
              <a:buNone/>
            </a:pPr>
            <a:r>
              <a:rPr lang="en-US" sz="1181" b="1" dirty="0">
                <a:solidFill>
                  <a:srgbClr val="0F172A"/>
                </a:solidFill>
                <a:latin typeface="Carlito" pitchFamily="34" charset="0"/>
                <a:ea typeface="Carlito" pitchFamily="34" charset="-122"/>
                <a:cs typeface="Carlito" pitchFamily="34" charset="-120"/>
              </a:rPr>
              <a:t>LLM Log Summarisation</a:t>
            </a:r>
            <a:endParaRPr lang="en-US" sz="1181" dirty="0"/>
          </a:p>
        </p:txBody>
      </p:sp>
      <p:sp>
        <p:nvSpPr>
          <p:cNvPr id="21" name="Text 19"/>
          <p:cNvSpPr/>
          <p:nvPr/>
        </p:nvSpPr>
        <p:spPr>
          <a:xfrm>
            <a:off x="1178719" y="2774454"/>
            <a:ext cx="6499808" cy="172749"/>
          </a:xfrm>
          <a:prstGeom prst="rect">
            <a:avLst/>
          </a:prstGeom>
          <a:noFill/>
          <a:ln/>
        </p:spPr>
        <p:txBody>
          <a:bodyPr wrap="square" lIns="0" tIns="0" rIns="0" bIns="0" rtlCol="0" anchor="t"/>
          <a:lstStyle/>
          <a:p>
            <a:pPr marL="0" indent="0" algn="l">
              <a:lnSpc>
                <a:spcPts val="1260"/>
              </a:lnSpc>
              <a:buNone/>
            </a:pPr>
            <a:r>
              <a:rPr lang="en-US" sz="900" dirty="0">
                <a:solidFill>
                  <a:srgbClr val="334155"/>
                </a:solidFill>
                <a:latin typeface="Carlito" pitchFamily="34" charset="0"/>
                <a:ea typeface="Carlito" pitchFamily="34" charset="-122"/>
                <a:cs typeface="Carlito" pitchFamily="34" charset="-120"/>
              </a:rPr>
              <a:t>Chunk → embed → retrieve → summarise. 50,000 log lines become a 3-sentence root cause. </a:t>
            </a:r>
            <a:r>
              <a:rPr lang="en-US" sz="900" b="1" dirty="0">
                <a:solidFill>
                  <a:srgbClr val="C2410C"/>
                </a:solidFill>
                <a:latin typeface="Liberation Sans Narrow" pitchFamily="34" charset="0"/>
                <a:ea typeface="Liberation Sans Narrow" pitchFamily="34" charset="-122"/>
                <a:cs typeface="Liberation Sans Narrow" pitchFamily="34" charset="-120"/>
              </a:rPr>
              <a:t>Saves 25 minutes per failed build.</a:t>
            </a:r>
            <a:endParaRPr lang="en-US" sz="900" dirty="0"/>
          </a:p>
        </p:txBody>
      </p:sp>
      <p:sp>
        <p:nvSpPr>
          <p:cNvPr id="22" name="Text 20"/>
          <p:cNvSpPr/>
          <p:nvPr/>
        </p:nvSpPr>
        <p:spPr>
          <a:xfrm>
            <a:off x="457200" y="3180308"/>
            <a:ext cx="8229600" cy="628650"/>
          </a:xfrm>
          <a:prstGeom prst="roundRect">
            <a:avLst>
              <a:gd name="adj" fmla="val 21212"/>
            </a:avLst>
          </a:prstGeom>
          <a:solidFill>
            <a:srgbClr val="F8FAFC"/>
          </a:solidFill>
          <a:ln/>
        </p:spPr>
        <p:txBody>
          <a:bodyPr wrap="square" rtlCol="0" anchor="ctr"/>
          <a:lstStyle/>
          <a:p>
            <a:pPr marL="0" indent="0">
              <a:buNone/>
            </a:pPr>
            <a:endParaRPr lang="en-US" dirty="0"/>
          </a:p>
        </p:txBody>
      </p:sp>
      <p:sp>
        <p:nvSpPr>
          <p:cNvPr id="23" name="Shape 21"/>
          <p:cNvSpPr/>
          <p:nvPr/>
        </p:nvSpPr>
        <p:spPr>
          <a:xfrm>
            <a:off x="475059" y="3180308"/>
            <a:ext cx="0" cy="628650"/>
          </a:xfrm>
          <a:prstGeom prst="line">
            <a:avLst/>
          </a:prstGeom>
          <a:noFill/>
          <a:ln w="35719">
            <a:solidFill>
              <a:srgbClr val="F97316"/>
            </a:solidFill>
            <a:prstDash val="solid"/>
          </a:ln>
        </p:spPr>
      </p:sp>
      <p:sp>
        <p:nvSpPr>
          <p:cNvPr id="24" name="Text 22"/>
          <p:cNvSpPr/>
          <p:nvPr/>
        </p:nvSpPr>
        <p:spPr>
          <a:xfrm>
            <a:off x="621506" y="3280321"/>
            <a:ext cx="428625" cy="428625"/>
          </a:xfrm>
          <a:prstGeom prst="roundRect">
            <a:avLst>
              <a:gd name="adj" fmla="val 26667"/>
            </a:avLst>
          </a:prstGeom>
          <a:solidFill>
            <a:srgbClr val="F97316"/>
          </a:solidFill>
          <a:ln/>
        </p:spPr>
        <p:txBody>
          <a:bodyPr wrap="square" rtlCol="0" anchor="ctr"/>
          <a:lstStyle/>
          <a:p>
            <a:pPr marL="0" indent="0">
              <a:buNone/>
            </a:pPr>
            <a:endParaRPr lang="en-US" dirty="0"/>
          </a:p>
        </p:txBody>
      </p:sp>
      <p:sp>
        <p:nvSpPr>
          <p:cNvPr id="25" name="Text 23"/>
          <p:cNvSpPr/>
          <p:nvPr/>
        </p:nvSpPr>
        <p:spPr>
          <a:xfrm>
            <a:off x="621506" y="3280321"/>
            <a:ext cx="492919" cy="428625"/>
          </a:xfrm>
          <a:prstGeom prst="rect">
            <a:avLst/>
          </a:prstGeom>
          <a:noFill/>
          <a:ln/>
        </p:spPr>
        <p:txBody>
          <a:bodyPr wrap="none" lIns="0" tIns="0" rIns="0" bIns="0" rtlCol="0" anchor="ctr"/>
          <a:lstStyle/>
          <a:p>
            <a:pPr marL="0" indent="0" algn="ctr">
              <a:lnSpc>
                <a:spcPts val="1733"/>
              </a:lnSpc>
              <a:buNone/>
            </a:pPr>
            <a:r>
              <a:rPr lang="en-US" sz="1238" b="1" kern="0" spc="-56" dirty="0">
                <a:solidFill>
                  <a:srgbClr val="FFFFFF"/>
                </a:solidFill>
                <a:latin typeface="Liberation Sans Narrow" pitchFamily="34" charset="0"/>
                <a:ea typeface="Liberation Sans Narrow" pitchFamily="34" charset="-122"/>
                <a:cs typeface="Liberation Sans Narrow" pitchFamily="34" charset="-120"/>
              </a:rPr>
              <a:t>1.4</a:t>
            </a:r>
            <a:endParaRPr lang="en-US" sz="1238" dirty="0"/>
          </a:p>
        </p:txBody>
      </p:sp>
      <p:sp>
        <p:nvSpPr>
          <p:cNvPr id="26" name="Text 24"/>
          <p:cNvSpPr/>
          <p:nvPr/>
        </p:nvSpPr>
        <p:spPr>
          <a:xfrm>
            <a:off x="1178719" y="3280321"/>
            <a:ext cx="5206588" cy="181076"/>
          </a:xfrm>
          <a:prstGeom prst="rect">
            <a:avLst/>
          </a:prstGeom>
          <a:noFill/>
          <a:ln/>
        </p:spPr>
        <p:txBody>
          <a:bodyPr wrap="square" lIns="0" tIns="0" rIns="0" bIns="0" rtlCol="0" anchor="t">
            <a:normAutofit/>
          </a:bodyPr>
          <a:lstStyle/>
          <a:p>
            <a:pPr marL="0" indent="0" algn="l">
              <a:lnSpc>
                <a:spcPts val="1418"/>
              </a:lnSpc>
              <a:buNone/>
            </a:pPr>
            <a:r>
              <a:rPr lang="en-US" sz="1181" b="1" dirty="0">
                <a:solidFill>
                  <a:srgbClr val="0F172A"/>
                </a:solidFill>
                <a:latin typeface="Carlito" pitchFamily="34" charset="0"/>
                <a:ea typeface="Carlito" pitchFamily="34" charset="-122"/>
                <a:cs typeface="Carlito" pitchFamily="34" charset="-120"/>
              </a:rPr>
              <a:t>Build-Failure Prediction</a:t>
            </a:r>
            <a:endParaRPr lang="en-US" sz="1181" dirty="0"/>
          </a:p>
        </p:txBody>
      </p:sp>
      <p:sp>
        <p:nvSpPr>
          <p:cNvPr id="27" name="Text 25"/>
          <p:cNvSpPr/>
          <p:nvPr/>
        </p:nvSpPr>
        <p:spPr>
          <a:xfrm>
            <a:off x="1178719" y="3488829"/>
            <a:ext cx="4820915" cy="172749"/>
          </a:xfrm>
          <a:prstGeom prst="rect">
            <a:avLst/>
          </a:prstGeom>
          <a:noFill/>
          <a:ln/>
        </p:spPr>
        <p:txBody>
          <a:bodyPr wrap="square" lIns="0" tIns="0" rIns="0" bIns="0" rtlCol="0" anchor="t"/>
          <a:lstStyle/>
          <a:p>
            <a:pPr marL="0" indent="0" algn="l">
              <a:lnSpc>
                <a:spcPts val="1260"/>
              </a:lnSpc>
              <a:buNone/>
            </a:pPr>
            <a:r>
              <a:rPr lang="en-US" sz="900" dirty="0">
                <a:solidFill>
                  <a:srgbClr val="334155"/>
                </a:solidFill>
                <a:latin typeface="Carlito" pitchFamily="34" charset="0"/>
                <a:ea typeface="Carlito" pitchFamily="34" charset="-122"/>
                <a:cs typeface="Carlito" pitchFamily="34" charset="-120"/>
              </a:rPr>
              <a:t>Six feature families + XGBoost. Predict </a:t>
            </a:r>
            <a:r>
              <a:rPr lang="en-US" sz="900" b="1" dirty="0">
                <a:solidFill>
                  <a:srgbClr val="C2410C"/>
                </a:solidFill>
                <a:latin typeface="Carlito" pitchFamily="34" charset="0"/>
                <a:ea typeface="Carlito" pitchFamily="34" charset="-122"/>
                <a:cs typeface="Carlito" pitchFamily="34" charset="-120"/>
              </a:rPr>
              <a:t>P(failure)</a:t>
            </a:r>
            <a:r>
              <a:rPr lang="en-US" sz="900" dirty="0">
                <a:solidFill>
                  <a:srgbClr val="334155"/>
                </a:solidFill>
                <a:latin typeface="Carlito" pitchFamily="34" charset="0"/>
                <a:ea typeface="Carlito" pitchFamily="34" charset="-122"/>
                <a:cs typeface="Carlito" pitchFamily="34" charset="-120"/>
              </a:rPr>
              <a:t> before CI runs. Three thresholds, three actions.</a:t>
            </a:r>
            <a:endParaRPr lang="en-US" sz="900" dirty="0"/>
          </a:p>
        </p:txBody>
      </p:sp>
      <p:sp>
        <p:nvSpPr>
          <p:cNvPr id="28" name="Text 26"/>
          <p:cNvSpPr/>
          <p:nvPr/>
        </p:nvSpPr>
        <p:spPr>
          <a:xfrm>
            <a:off x="457200" y="3923258"/>
            <a:ext cx="8229600" cy="590141"/>
          </a:xfrm>
          <a:prstGeom prst="roundRect">
            <a:avLst>
              <a:gd name="adj" fmla="val 12912"/>
            </a:avLst>
          </a:prstGeom>
          <a:solidFill>
            <a:srgbClr val="FFF7ED"/>
          </a:solidFill>
          <a:ln/>
        </p:spPr>
        <p:txBody>
          <a:bodyPr wrap="square" rtlCol="0" anchor="ctr"/>
          <a:lstStyle/>
          <a:p>
            <a:pPr marL="0" indent="0">
              <a:buNone/>
            </a:pPr>
            <a:endParaRPr lang="en-US" dirty="0"/>
          </a:p>
        </p:txBody>
      </p:sp>
      <p:sp>
        <p:nvSpPr>
          <p:cNvPr id="29" name="Shape 27"/>
          <p:cNvSpPr/>
          <p:nvPr/>
        </p:nvSpPr>
        <p:spPr>
          <a:xfrm>
            <a:off x="478631" y="3923258"/>
            <a:ext cx="0" cy="590141"/>
          </a:xfrm>
          <a:prstGeom prst="line">
            <a:avLst/>
          </a:prstGeom>
          <a:noFill/>
          <a:ln w="42863">
            <a:solidFill>
              <a:srgbClr val="F97316"/>
            </a:solidFill>
            <a:prstDash val="solid"/>
          </a:ln>
        </p:spPr>
      </p:sp>
      <p:sp>
        <p:nvSpPr>
          <p:cNvPr id="30" name="Text 28"/>
          <p:cNvSpPr/>
          <p:nvPr/>
        </p:nvSpPr>
        <p:spPr>
          <a:xfrm>
            <a:off x="657225" y="4037558"/>
            <a:ext cx="7872413" cy="361541"/>
          </a:xfrm>
          <a:prstGeom prst="rect">
            <a:avLst/>
          </a:prstGeom>
          <a:noFill/>
          <a:ln/>
        </p:spPr>
        <p:txBody>
          <a:bodyPr wrap="square" lIns="0" tIns="0" rIns="0" bIns="0" rtlCol="0" anchor="t"/>
          <a:lstStyle/>
          <a:p>
            <a:pPr marL="0" indent="0" algn="l">
              <a:lnSpc>
                <a:spcPts val="1418"/>
              </a:lnSpc>
              <a:buNone/>
            </a:pPr>
            <a:r>
              <a:rPr lang="en-US" sz="1013" b="1" dirty="0">
                <a:solidFill>
                  <a:srgbClr val="C2410C"/>
                </a:solidFill>
                <a:latin typeface="Segoe UI Symbol" pitchFamily="34" charset="0"/>
                <a:ea typeface="Segoe UI Symbol" pitchFamily="34" charset="-122"/>
                <a:cs typeface="Segoe UI Symbol" pitchFamily="34" charset="-120"/>
              </a:rPr>
              <a:t>◆</a:t>
            </a:r>
            <a:r>
              <a:rPr lang="en-US" sz="1013" b="1" dirty="0">
                <a:solidFill>
                  <a:srgbClr val="0F172A"/>
                </a:solidFill>
                <a:latin typeface="Carlito" pitchFamily="34" charset="0"/>
                <a:ea typeface="Carlito" pitchFamily="34" charset="-122"/>
                <a:cs typeface="Carlito" pitchFamily="34" charset="-120"/>
              </a:rPr>
              <a:t> Section A is about moving from </a:t>
            </a:r>
            <a:r>
              <a:rPr lang="en-US" sz="1013" b="1" dirty="0">
                <a:solidFill>
                  <a:srgbClr val="C2410C"/>
                </a:solidFill>
                <a:latin typeface="Carlito" pitchFamily="34" charset="0"/>
                <a:ea typeface="Carlito" pitchFamily="34" charset="-122"/>
                <a:cs typeface="Carlito" pitchFamily="34" charset="-120"/>
              </a:rPr>
              <a:t>brute-force pipelines</a:t>
            </a:r>
            <a:r>
              <a:rPr lang="en-US" sz="1013" b="1" dirty="0">
                <a:solidFill>
                  <a:srgbClr val="0F172A"/>
                </a:solidFill>
                <a:latin typeface="Carlito" pitchFamily="34" charset="0"/>
                <a:ea typeface="Carlito" pitchFamily="34" charset="-122"/>
                <a:cs typeface="Carlito" pitchFamily="34" charset="-120"/>
              </a:rPr>
              <a:t> to </a:t>
            </a:r>
            <a:r>
              <a:rPr lang="en-US" sz="1013" b="1" dirty="0">
                <a:solidFill>
                  <a:srgbClr val="C2410C"/>
                </a:solidFill>
                <a:latin typeface="Carlito" pitchFamily="34" charset="0"/>
                <a:ea typeface="Carlito" pitchFamily="34" charset="-122"/>
                <a:cs typeface="Carlito" pitchFamily="34" charset="-120"/>
              </a:rPr>
              <a:t>INTELLIGENT pipelines.</a:t>
            </a:r>
            <a:r>
              <a:rPr lang="en-US" sz="1013" b="1" dirty="0">
                <a:solidFill>
                  <a:srgbClr val="0F172A"/>
                </a:solidFill>
                <a:latin typeface="Carlito" pitchFamily="34" charset="0"/>
                <a:ea typeface="Carlito" pitchFamily="34" charset="-122"/>
                <a:cs typeface="Carlito" pitchFamily="34" charset="-120"/>
              </a:rPr>
              <a:t> Every technique replaces "do everything every time" with "do only what could matter this time".</a:t>
            </a:r>
            <a:endParaRPr lang="en-US" sz="1013"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pic>
        <p:nvPicPr>
          <p:cNvPr id="2" name="Image 0" descr="https://z-cdn.chatglm.cn/image-search-mcp/images-ppt/4419aecd88fc.jpg"/>
          <p:cNvPicPr>
            <a:picLocks noChangeAspect="1"/>
          </p:cNvPicPr>
          <p:nvPr/>
        </p:nvPicPr>
        <p:blipFill>
          <a:blip r:embed="rId3"/>
          <a:srcRect/>
          <a:stretch/>
        </p:blipFill>
        <p:spPr>
          <a:xfrm>
            <a:off x="0" y="0"/>
            <a:ext cx="9144000" cy="5143500"/>
          </a:xfrm>
          <a:prstGeom prst="rect">
            <a:avLst/>
          </a:prstGeom>
        </p:spPr>
      </p:pic>
      <p:sp>
        <p:nvSpPr>
          <p:cNvPr id="3" name="Text 0"/>
          <p:cNvSpPr/>
          <p:nvPr/>
        </p:nvSpPr>
        <p:spPr>
          <a:xfrm>
            <a:off x="0" y="0"/>
            <a:ext cx="9144000" cy="5143500"/>
          </a:xfrm>
          <a:prstGeom prst="rect">
            <a:avLst/>
          </a:prstGeom>
          <a:solidFill>
            <a:srgbClr val="0F172A">
              <a:alpha val="55000"/>
            </a:srgbClr>
          </a:solidFill>
          <a:ln/>
        </p:spPr>
        <p:txBody>
          <a:bodyPr wrap="square" rtlCol="0" anchor="ctr"/>
          <a:lstStyle/>
          <a:p>
            <a:pPr marL="0" indent="0">
              <a:buNone/>
            </a:pPr>
            <a:endParaRPr lang="en-US" dirty="0"/>
          </a:p>
        </p:txBody>
      </p:sp>
      <p:sp>
        <p:nvSpPr>
          <p:cNvPr id="4" name="Text 1"/>
          <p:cNvSpPr/>
          <p:nvPr/>
        </p:nvSpPr>
        <p:spPr>
          <a:xfrm>
            <a:off x="571500" y="1143112"/>
            <a:ext cx="8572500" cy="740664"/>
          </a:xfrm>
          <a:prstGeom prst="rect">
            <a:avLst/>
          </a:prstGeom>
          <a:noFill/>
          <a:ln/>
        </p:spPr>
        <p:txBody>
          <a:bodyPr wrap="none" lIns="0" tIns="0" rIns="0" bIns="0" rtlCol="0" anchor="t"/>
          <a:lstStyle/>
          <a:p>
            <a:pPr marL="0" indent="0" algn="l">
              <a:lnSpc>
                <a:spcPts val="5400"/>
              </a:lnSpc>
              <a:buNone/>
            </a:pPr>
            <a:r>
              <a:rPr lang="en-US" sz="5400" b="1" kern="0" spc="-112" dirty="0">
                <a:solidFill>
                  <a:srgbClr val="F97316"/>
                </a:solidFill>
                <a:latin typeface="Liberation Sans Narrow" pitchFamily="34" charset="0"/>
                <a:ea typeface="Liberation Sans Narrow" pitchFamily="34" charset="-122"/>
                <a:cs typeface="Liberation Sans Narrow" pitchFamily="34" charset="-120"/>
              </a:rPr>
              <a:t>02 / 04</a:t>
            </a:r>
            <a:endParaRPr lang="en-US" sz="5400" dirty="0"/>
          </a:p>
        </p:txBody>
      </p:sp>
      <p:sp>
        <p:nvSpPr>
          <p:cNvPr id="5" name="Text 2"/>
          <p:cNvSpPr/>
          <p:nvPr/>
        </p:nvSpPr>
        <p:spPr>
          <a:xfrm>
            <a:off x="571500" y="2000362"/>
            <a:ext cx="7700963" cy="1086163"/>
          </a:xfrm>
          <a:prstGeom prst="rect">
            <a:avLst/>
          </a:prstGeom>
          <a:noFill/>
          <a:ln/>
        </p:spPr>
        <p:txBody>
          <a:bodyPr wrap="none" lIns="0" tIns="0" rIns="0" bIns="0" rtlCol="0" anchor="t"/>
          <a:lstStyle/>
          <a:p>
            <a:pPr marL="0" indent="0" algn="l">
              <a:lnSpc>
                <a:spcPts val="3960"/>
              </a:lnSpc>
              <a:buNone/>
            </a:pPr>
            <a:r>
              <a:rPr lang="en-US" sz="3600" b="1" kern="0" spc="-56" dirty="0">
                <a:solidFill>
                  <a:srgbClr val="FFFFFF"/>
                </a:solidFill>
                <a:latin typeface="Carlito" pitchFamily="34" charset="0"/>
                <a:ea typeface="Carlito" pitchFamily="34" charset="-122"/>
                <a:cs typeface="Carlito" pitchFamily="34" charset="-120"/>
              </a:rPr>
              <a:t>Configuration Management</a:t>
            </a:r>
            <a:endParaRPr lang="en-US" sz="3600" dirty="0"/>
          </a:p>
          <a:p>
            <a:pPr marL="0" indent="0" algn="l">
              <a:lnSpc>
                <a:spcPts val="3960"/>
              </a:lnSpc>
              <a:buNone/>
            </a:pPr>
            <a:r>
              <a:rPr lang="en-US" sz="3600" b="1" kern="0" spc="-56" dirty="0">
                <a:solidFill>
                  <a:srgbClr val="FFFFFF"/>
                </a:solidFill>
                <a:latin typeface="Carlito" pitchFamily="34" charset="0"/>
                <a:ea typeface="Carlito" pitchFamily="34" charset="-122"/>
                <a:cs typeface="Carlito" pitchFamily="34" charset="-120"/>
              </a:rPr>
              <a:t>with Ansible</a:t>
            </a:r>
            <a:endParaRPr lang="en-US" sz="3600" dirty="0"/>
          </a:p>
        </p:txBody>
      </p:sp>
      <p:sp>
        <p:nvSpPr>
          <p:cNvPr id="6" name="Text 3"/>
          <p:cNvSpPr/>
          <p:nvPr/>
        </p:nvSpPr>
        <p:spPr>
          <a:xfrm>
            <a:off x="571500" y="3177518"/>
            <a:ext cx="6572250" cy="626382"/>
          </a:xfrm>
          <a:prstGeom prst="rect">
            <a:avLst/>
          </a:prstGeom>
          <a:noFill/>
          <a:ln/>
        </p:spPr>
        <p:txBody>
          <a:bodyPr wrap="square" lIns="0" tIns="0" rIns="0" bIns="0" rtlCol="0" anchor="t"/>
          <a:lstStyle/>
          <a:p>
            <a:pPr marL="0" indent="0" algn="l">
              <a:lnSpc>
                <a:spcPts val="2284"/>
              </a:lnSpc>
              <a:buNone/>
            </a:pPr>
            <a:r>
              <a:rPr lang="en-US" sz="1575" dirty="0">
                <a:solidFill>
                  <a:srgbClr val="E2E8F0"/>
                </a:solidFill>
                <a:latin typeface="Carlito" pitchFamily="34" charset="0"/>
                <a:ea typeface="Carlito" pitchFamily="34" charset="-122"/>
                <a:cs typeface="Carlito" pitchFamily="34" charset="-120"/>
              </a:rPr>
              <a:t>Agentless. Push-based. Idempotent. YAML-native. The workhorse of modern config automation.</a:t>
            </a:r>
            <a:endParaRPr lang="en-US" sz="1575" dirty="0"/>
          </a:p>
        </p:txBody>
      </p:sp>
      <p:sp>
        <p:nvSpPr>
          <p:cNvPr id="7" name="Text 4"/>
          <p:cNvSpPr/>
          <p:nvPr/>
        </p:nvSpPr>
        <p:spPr>
          <a:xfrm>
            <a:off x="571500" y="3957526"/>
            <a:ext cx="857250" cy="42863"/>
          </a:xfrm>
          <a:prstGeom prst="roundRect">
            <a:avLst>
              <a:gd name="adj" fmla="val 66666"/>
            </a:avLst>
          </a:prstGeom>
          <a:solidFill>
            <a:srgbClr val="F97316"/>
          </a:solidFill>
          <a:ln/>
        </p:spPr>
        <p:txBody>
          <a:bodyPr wrap="square" rtlCol="0" anchor="ctr"/>
          <a:lstStyle/>
          <a:p>
            <a:pPr marL="0" indent="0">
              <a:buNone/>
            </a:pPr>
            <a:endParaRPr lang="en-US" dirty="0"/>
          </a:p>
        </p:txBody>
      </p:sp>
      <p:sp>
        <p:nvSpPr>
          <p:cNvPr id="8" name="Text 5"/>
          <p:cNvSpPr/>
          <p:nvPr/>
        </p:nvSpPr>
        <p:spPr>
          <a:xfrm>
            <a:off x="7150894" y="285750"/>
            <a:ext cx="1993106" cy="194328"/>
          </a:xfrm>
          <a:prstGeom prst="rect">
            <a:avLst/>
          </a:prstGeom>
          <a:noFill/>
          <a:ln/>
        </p:spPr>
        <p:txBody>
          <a:bodyPr wrap="none" lIns="0" tIns="0" rIns="0" bIns="0" rtlCol="0" anchor="t"/>
          <a:lstStyle/>
          <a:p>
            <a:pPr marL="0" indent="0" algn="l">
              <a:lnSpc>
                <a:spcPts val="1418"/>
              </a:lnSpc>
              <a:buNone/>
            </a:pPr>
            <a:r>
              <a:rPr lang="en-US" sz="1013" kern="0" spc="113" dirty="0">
                <a:solidFill>
                  <a:srgbClr val="FFFFFF">
                    <a:alpha val="75000"/>
                  </a:srgbClr>
                </a:solidFill>
                <a:latin typeface="Liberation Sans Narrow" pitchFamily="34" charset="0"/>
                <a:ea typeface="Liberation Sans Narrow" pitchFamily="34" charset="-122"/>
                <a:cs typeface="Liberation Sans Narrow" pitchFamily="34" charset="-120"/>
              </a:rPr>
              <a:t>MODULE 04 / SECTION B</a:t>
            </a:r>
            <a:endParaRPr lang="en-US" sz="1013" dirty="0"/>
          </a:p>
        </p:txBody>
      </p:sp>
      <p:sp>
        <p:nvSpPr>
          <p:cNvPr id="9" name="Text 6"/>
          <p:cNvSpPr/>
          <p:nvPr/>
        </p:nvSpPr>
        <p:spPr>
          <a:xfrm>
            <a:off x="571500" y="4706392"/>
            <a:ext cx="3321826" cy="194328"/>
          </a:xfrm>
          <a:prstGeom prst="rect">
            <a:avLst/>
          </a:prstGeom>
          <a:noFill/>
          <a:ln/>
        </p:spPr>
        <p:txBody>
          <a:bodyPr wrap="square" lIns="0" tIns="0" rIns="0" bIns="0" rtlCol="0" anchor="t"/>
          <a:lstStyle/>
          <a:p>
            <a:pPr marL="0" indent="0" algn="l">
              <a:lnSpc>
                <a:spcPts val="1418"/>
              </a:lnSpc>
              <a:buNone/>
            </a:pPr>
            <a:r>
              <a:rPr lang="en-US" sz="1013" kern="0" spc="113" dirty="0">
                <a:solidFill>
                  <a:srgbClr val="FFFFFF">
                    <a:alpha val="70000"/>
                  </a:srgbClr>
                </a:solidFill>
                <a:latin typeface="Courier New" pitchFamily="34" charset="0"/>
                <a:ea typeface="Courier New" pitchFamily="34" charset="-122"/>
                <a:cs typeface="Courier New" pitchFamily="34" charset="-120"/>
              </a:rPr>
              <a:t>AI-ASSISTED BUILD &amp; CONFIG AUTOMATION</a:t>
            </a:r>
            <a:endParaRPr lang="en-US" sz="1013"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00050"/>
            <a:ext cx="4971983" cy="373346"/>
          </a:xfrm>
          <a:prstGeom prst="rect">
            <a:avLst/>
          </a:prstGeom>
          <a:noFill/>
          <a:ln/>
        </p:spPr>
        <p:txBody>
          <a:bodyPr wrap="square" lIns="0" tIns="0" rIns="0" bIns="0" rtlCol="0" anchor="t"/>
          <a:lstStyle/>
          <a:p>
            <a:pPr marL="0" indent="0" algn="l">
              <a:lnSpc>
                <a:spcPts val="2723"/>
              </a:lnSpc>
              <a:buNone/>
            </a:pPr>
            <a:r>
              <a:rPr lang="en-US" sz="2475" b="1" dirty="0">
                <a:solidFill>
                  <a:srgbClr val="0F172A"/>
                </a:solidFill>
                <a:latin typeface="Carlito" pitchFamily="34" charset="0"/>
                <a:ea typeface="Carlito" pitchFamily="34" charset="-122"/>
                <a:cs typeface="Carlito" pitchFamily="34" charset="-120"/>
              </a:rPr>
              <a:t>Why Configuration Management?</a:t>
            </a:r>
            <a:endParaRPr lang="en-US" sz="2475" dirty="0"/>
          </a:p>
        </p:txBody>
      </p:sp>
      <p:sp>
        <p:nvSpPr>
          <p:cNvPr id="3" name="Text 1"/>
          <p:cNvSpPr/>
          <p:nvPr/>
        </p:nvSpPr>
        <p:spPr>
          <a:xfrm>
            <a:off x="457200" y="845753"/>
            <a:ext cx="571500" cy="42863"/>
          </a:xfrm>
          <a:prstGeom prst="roundRect">
            <a:avLst>
              <a:gd name="adj" fmla="val 66666"/>
            </a:avLst>
          </a:prstGeom>
          <a:solidFill>
            <a:srgbClr val="F97316"/>
          </a:solidFill>
          <a:ln/>
        </p:spPr>
        <p:txBody>
          <a:bodyPr wrap="square" rtlCol="0" anchor="ctr"/>
          <a:lstStyle/>
          <a:p>
            <a:pPr marL="0" indent="0">
              <a:buNone/>
            </a:pPr>
            <a:endParaRPr lang="en-US" dirty="0"/>
          </a:p>
        </p:txBody>
      </p:sp>
      <p:sp>
        <p:nvSpPr>
          <p:cNvPr id="4" name="Text 2"/>
          <p:cNvSpPr/>
          <p:nvPr/>
        </p:nvSpPr>
        <p:spPr>
          <a:xfrm>
            <a:off x="7523061" y="387248"/>
            <a:ext cx="1186599" cy="331333"/>
          </a:xfrm>
          <a:prstGeom prst="roundRect">
            <a:avLst>
              <a:gd name="adj" fmla="val 2871877"/>
            </a:avLst>
          </a:prstGeom>
          <a:solidFill>
            <a:srgbClr val="0F172A"/>
          </a:solidFill>
          <a:ln/>
        </p:spPr>
        <p:txBody>
          <a:bodyPr wrap="square" rtlCol="0" anchor="ctr"/>
          <a:lstStyle/>
          <a:p>
            <a:pPr marL="0" indent="0">
              <a:buNone/>
            </a:pPr>
            <a:endParaRPr lang="en-US" dirty="0"/>
          </a:p>
        </p:txBody>
      </p:sp>
      <p:sp>
        <p:nvSpPr>
          <p:cNvPr id="5" name="Text 3"/>
          <p:cNvSpPr/>
          <p:nvPr/>
        </p:nvSpPr>
        <p:spPr>
          <a:xfrm>
            <a:off x="7545921" y="400050"/>
            <a:ext cx="1140879" cy="305730"/>
          </a:xfrm>
          <a:prstGeom prst="rect">
            <a:avLst/>
          </a:prstGeom>
          <a:noFill/>
          <a:ln/>
        </p:spPr>
        <p:txBody>
          <a:bodyPr wrap="none" lIns="0" tIns="0" rIns="0" bIns="0" rtlCol="0" anchor="ctr"/>
          <a:lstStyle/>
          <a:p>
            <a:pPr marL="0" indent="0" algn="ctr">
              <a:lnSpc>
                <a:spcPts val="1733"/>
              </a:lnSpc>
              <a:buNone/>
            </a:pPr>
            <a:r>
              <a:rPr lang="en-US" sz="1238" b="1" kern="0" spc="28" dirty="0">
                <a:solidFill>
                  <a:srgbClr val="FFFFFF"/>
                </a:solidFill>
                <a:latin typeface="Liberation Sans Narrow" pitchFamily="34" charset="0"/>
                <a:ea typeface="Liberation Sans Narrow" pitchFamily="34" charset="-122"/>
                <a:cs typeface="Liberation Sans Narrow" pitchFamily="34" charset="-120"/>
              </a:rPr>
              <a:t>02 · Why CM</a:t>
            </a:r>
            <a:endParaRPr lang="en-US" sz="1238" dirty="0"/>
          </a:p>
        </p:txBody>
      </p:sp>
      <p:sp>
        <p:nvSpPr>
          <p:cNvPr id="6" name="Text 4"/>
          <p:cNvSpPr/>
          <p:nvPr/>
        </p:nvSpPr>
        <p:spPr>
          <a:xfrm>
            <a:off x="313182" y="1088641"/>
            <a:ext cx="8517636" cy="347186"/>
          </a:xfrm>
          <a:prstGeom prst="rect">
            <a:avLst/>
          </a:prstGeom>
          <a:noFill/>
          <a:ln/>
        </p:spPr>
        <p:txBody>
          <a:bodyPr wrap="square" lIns="0" tIns="0" rIns="0" bIns="0" rtlCol="0" anchor="t"/>
          <a:lstStyle/>
          <a:p>
            <a:pPr marL="0" indent="0" algn="ctr">
              <a:lnSpc>
                <a:spcPts val="2531"/>
              </a:lnSpc>
              <a:buNone/>
            </a:pPr>
            <a:r>
              <a:rPr lang="en-US" sz="2025" b="1" kern="0" spc="-28" dirty="0">
                <a:solidFill>
                  <a:srgbClr val="F97316"/>
                </a:solidFill>
                <a:latin typeface="Segoe UI Symbol" pitchFamily="34" charset="0"/>
                <a:ea typeface="Segoe UI Symbol" pitchFamily="34" charset="-122"/>
                <a:cs typeface="Segoe UI Symbol" pitchFamily="34" charset="-120"/>
              </a:rPr>
              <a:t>“</a:t>
            </a:r>
            <a:r>
              <a:rPr lang="en-US" sz="2025" b="1" kern="0" spc="-28" dirty="0">
                <a:solidFill>
                  <a:srgbClr val="0F172A"/>
                </a:solidFill>
                <a:latin typeface="Carlito" pitchFamily="34" charset="0"/>
                <a:ea typeface="Carlito" pitchFamily="34" charset="-122"/>
                <a:cs typeface="Carlito" pitchFamily="34" charset="-120"/>
              </a:rPr>
              <a:t> Snowflake servers are the enemy of reliable software.</a:t>
            </a:r>
            <a:endParaRPr lang="en-US" sz="2025" dirty="0"/>
          </a:p>
        </p:txBody>
      </p:sp>
      <p:sp>
        <p:nvSpPr>
          <p:cNvPr id="7" name="Text 5"/>
          <p:cNvSpPr/>
          <p:nvPr/>
        </p:nvSpPr>
        <p:spPr>
          <a:xfrm>
            <a:off x="460772" y="1585131"/>
            <a:ext cx="2640732" cy="1364010"/>
          </a:xfrm>
          <a:prstGeom prst="roundRect">
            <a:avLst>
              <a:gd name="adj" fmla="val 9776"/>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8" name="Text 6"/>
          <p:cNvSpPr/>
          <p:nvPr/>
        </p:nvSpPr>
        <p:spPr>
          <a:xfrm>
            <a:off x="607219" y="1714915"/>
            <a:ext cx="196453" cy="204776"/>
          </a:xfrm>
          <a:prstGeom prst="roundRect">
            <a:avLst>
              <a:gd name="adj" fmla="val 4843639"/>
            </a:avLst>
          </a:prstGeom>
          <a:solidFill>
            <a:srgbClr val="FED7AA"/>
          </a:solidFill>
          <a:ln/>
        </p:spPr>
        <p:txBody>
          <a:bodyPr wrap="square" rtlCol="0" anchor="ctr"/>
          <a:lstStyle/>
          <a:p>
            <a:pPr marL="0" indent="0">
              <a:buNone/>
            </a:pPr>
            <a:endParaRPr lang="en-US" dirty="0"/>
          </a:p>
        </p:txBody>
      </p:sp>
      <p:sp>
        <p:nvSpPr>
          <p:cNvPr id="9" name="Text 7"/>
          <p:cNvSpPr/>
          <p:nvPr/>
        </p:nvSpPr>
        <p:spPr>
          <a:xfrm>
            <a:off x="607219" y="1725885"/>
            <a:ext cx="196453" cy="182835"/>
          </a:xfrm>
          <a:prstGeom prst="rect">
            <a:avLst/>
          </a:prstGeom>
          <a:noFill/>
          <a:ln/>
        </p:spPr>
        <p:txBody>
          <a:bodyPr wrap="none" lIns="0" tIns="0" rIns="0" bIns="0" rtlCol="0" anchor="ctr"/>
          <a:lstStyle/>
          <a:p>
            <a:pPr marL="0" indent="0" algn="ctr">
              <a:lnSpc>
                <a:spcPts val="1103"/>
              </a:lnSpc>
              <a:buNone/>
            </a:pPr>
            <a:r>
              <a:rPr lang="en-US" sz="800" b="1" kern="0" spc="28" dirty="0">
                <a:solidFill>
                  <a:srgbClr val="C2410C"/>
                </a:solidFill>
                <a:latin typeface="Courier New" pitchFamily="34" charset="0"/>
                <a:ea typeface="Courier New" pitchFamily="34" charset="-122"/>
                <a:cs typeface="Courier New" pitchFamily="34" charset="-120"/>
              </a:rPr>
              <a:t>A</a:t>
            </a:r>
            <a:endParaRPr lang="en-US" sz="800" dirty="0"/>
          </a:p>
        </p:txBody>
      </p:sp>
      <p:sp>
        <p:nvSpPr>
          <p:cNvPr id="10" name="Text 8"/>
          <p:cNvSpPr/>
          <p:nvPr/>
        </p:nvSpPr>
        <p:spPr>
          <a:xfrm>
            <a:off x="875109" y="1717291"/>
            <a:ext cx="2079947" cy="216027"/>
          </a:xfrm>
          <a:prstGeom prst="rect">
            <a:avLst/>
          </a:prstGeom>
          <a:noFill/>
          <a:ln/>
        </p:spPr>
        <p:txBody>
          <a:bodyPr wrap="none" lIns="0" tIns="0" rIns="0" bIns="0" rtlCol="0" anchor="t"/>
          <a:lstStyle/>
          <a:p>
            <a:pPr marL="0" indent="0" algn="l">
              <a:lnSpc>
                <a:spcPts val="1575"/>
              </a:lnSpc>
              <a:buNone/>
            </a:pPr>
            <a:r>
              <a:rPr lang="en-US" sz="1125" b="1" dirty="0">
                <a:solidFill>
                  <a:srgbClr val="0F172A"/>
                </a:solidFill>
                <a:latin typeface="Carlito" pitchFamily="34" charset="0"/>
                <a:ea typeface="Carlito" pitchFamily="34" charset="-122"/>
                <a:cs typeface="Carlito" pitchFamily="34" charset="-120"/>
              </a:rPr>
              <a:t>Manual SSH approach</a:t>
            </a:r>
            <a:endParaRPr lang="en-US" sz="1125" dirty="0"/>
          </a:p>
        </p:txBody>
      </p:sp>
      <p:sp>
        <p:nvSpPr>
          <p:cNvPr id="11" name="Text 9"/>
          <p:cNvSpPr/>
          <p:nvPr/>
        </p:nvSpPr>
        <p:spPr>
          <a:xfrm>
            <a:off x="607219" y="1974466"/>
            <a:ext cx="2347838" cy="842516"/>
          </a:xfrm>
          <a:prstGeom prst="rect">
            <a:avLst/>
          </a:prstGeom>
          <a:noFill/>
          <a:ln/>
        </p:spPr>
        <p:txBody>
          <a:bodyPr wrap="square" lIns="0" tIns="0" rIns="0" bIns="0" rtlCol="0" anchor="t"/>
          <a:lstStyle/>
          <a:p>
            <a:pPr marL="0" indent="0" algn="l">
              <a:lnSpc>
                <a:spcPts val="1305"/>
              </a:lnSpc>
              <a:buNone/>
            </a:pPr>
            <a:r>
              <a:rPr lang="en-US" sz="900" dirty="0">
                <a:solidFill>
                  <a:srgbClr val="334155"/>
                </a:solidFill>
                <a:latin typeface="Liberation Sans Narrow" pitchFamily="34" charset="0"/>
                <a:ea typeface="Liberation Sans Narrow" pitchFamily="34" charset="-122"/>
                <a:cs typeface="Liberation Sans Narrow" pitchFamily="34" charset="-120"/>
              </a:rPr>
              <a:t>Engineer logs into 50 servers, runs </a:t>
            </a:r>
            <a:r>
              <a:rPr lang="en-US" sz="844" dirty="0">
                <a:solidFill>
                  <a:srgbClr val="334155"/>
                </a:solidFill>
                <a:latin typeface="Courier New" pitchFamily="34" charset="0"/>
                <a:ea typeface="Courier New" pitchFamily="34" charset="-122"/>
                <a:cs typeface="Courier New" pitchFamily="34" charset="-120"/>
              </a:rPr>
              <a:t>apt install nginx</a:t>
            </a:r>
            <a:r>
              <a:rPr lang="en-US" sz="900" dirty="0">
                <a:solidFill>
                  <a:srgbClr val="334155"/>
                </a:solidFill>
                <a:latin typeface="Carlito" pitchFamily="34" charset="0"/>
                <a:ea typeface="Carlito" pitchFamily="34" charset="-122"/>
                <a:cs typeface="Carlito" pitchFamily="34" charset="-120"/>
              </a:rPr>
              <a:t>, edits </a:t>
            </a:r>
            <a:r>
              <a:rPr lang="en-US" sz="844" dirty="0">
                <a:solidFill>
                  <a:srgbClr val="334155"/>
                </a:solidFill>
                <a:latin typeface="Courier New" pitchFamily="34" charset="0"/>
                <a:ea typeface="Courier New" pitchFamily="34" charset="-122"/>
                <a:cs typeface="Courier New" pitchFamily="34" charset="-120"/>
              </a:rPr>
              <a:t>/etc/nginx/nginx.conf</a:t>
            </a:r>
            <a:r>
              <a:rPr lang="en-US" sz="900" dirty="0">
                <a:solidFill>
                  <a:srgbClr val="334155"/>
                </a:solidFill>
                <a:latin typeface="Carlito" pitchFamily="34" charset="0"/>
                <a:ea typeface="Carlito" pitchFamily="34" charset="-122"/>
                <a:cs typeface="Carlito" pitchFamily="34" charset="-120"/>
              </a:rPr>
              <a:t>, restarts service. Week later: nobody remembers which servers got which version. </a:t>
            </a:r>
            <a:r>
              <a:rPr lang="en-US" sz="900" b="1" dirty="0">
                <a:solidFill>
                  <a:srgbClr val="334155"/>
                </a:solidFill>
                <a:latin typeface="Carlito" pitchFamily="34" charset="0"/>
                <a:ea typeface="Carlito" pitchFamily="34" charset="-122"/>
                <a:cs typeface="Carlito" pitchFamily="34" charset="-120"/>
              </a:rPr>
              <a:t>Snowflake drift.</a:t>
            </a:r>
            <a:endParaRPr lang="en-US" sz="900" dirty="0"/>
          </a:p>
        </p:txBody>
      </p:sp>
      <p:sp>
        <p:nvSpPr>
          <p:cNvPr id="12" name="Text 10"/>
          <p:cNvSpPr/>
          <p:nvPr/>
        </p:nvSpPr>
        <p:spPr>
          <a:xfrm>
            <a:off x="3251522" y="1585131"/>
            <a:ext cx="2640843" cy="1364010"/>
          </a:xfrm>
          <a:prstGeom prst="roundRect">
            <a:avLst>
              <a:gd name="adj" fmla="val 9776"/>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13" name="Text 11"/>
          <p:cNvSpPr/>
          <p:nvPr/>
        </p:nvSpPr>
        <p:spPr>
          <a:xfrm>
            <a:off x="3397969" y="1714915"/>
            <a:ext cx="196453" cy="204776"/>
          </a:xfrm>
          <a:prstGeom prst="roundRect">
            <a:avLst>
              <a:gd name="adj" fmla="val 4843639"/>
            </a:avLst>
          </a:prstGeom>
          <a:solidFill>
            <a:srgbClr val="FED7AA"/>
          </a:solidFill>
          <a:ln/>
        </p:spPr>
        <p:txBody>
          <a:bodyPr wrap="square" rtlCol="0" anchor="ctr"/>
          <a:lstStyle/>
          <a:p>
            <a:pPr marL="0" indent="0">
              <a:buNone/>
            </a:pPr>
            <a:endParaRPr lang="en-US" dirty="0"/>
          </a:p>
        </p:txBody>
      </p:sp>
      <p:sp>
        <p:nvSpPr>
          <p:cNvPr id="14" name="Text 12"/>
          <p:cNvSpPr/>
          <p:nvPr/>
        </p:nvSpPr>
        <p:spPr>
          <a:xfrm>
            <a:off x="3397969" y="1725885"/>
            <a:ext cx="196453" cy="182835"/>
          </a:xfrm>
          <a:prstGeom prst="rect">
            <a:avLst/>
          </a:prstGeom>
          <a:noFill/>
          <a:ln/>
        </p:spPr>
        <p:txBody>
          <a:bodyPr wrap="none" lIns="0" tIns="0" rIns="0" bIns="0" rtlCol="0" anchor="ctr"/>
          <a:lstStyle/>
          <a:p>
            <a:pPr marL="0" indent="0" algn="ctr">
              <a:lnSpc>
                <a:spcPts val="1103"/>
              </a:lnSpc>
              <a:buNone/>
            </a:pPr>
            <a:r>
              <a:rPr lang="en-US" sz="800" b="1" kern="0" spc="28" dirty="0">
                <a:solidFill>
                  <a:srgbClr val="C2410C"/>
                </a:solidFill>
                <a:latin typeface="Courier New" pitchFamily="34" charset="0"/>
                <a:ea typeface="Courier New" pitchFamily="34" charset="-122"/>
                <a:cs typeface="Courier New" pitchFamily="34" charset="-120"/>
              </a:rPr>
              <a:t>B</a:t>
            </a:r>
            <a:endParaRPr lang="en-US" sz="800" dirty="0"/>
          </a:p>
        </p:txBody>
      </p:sp>
      <p:sp>
        <p:nvSpPr>
          <p:cNvPr id="15" name="Text 13"/>
          <p:cNvSpPr/>
          <p:nvPr/>
        </p:nvSpPr>
        <p:spPr>
          <a:xfrm>
            <a:off x="3665860" y="1717291"/>
            <a:ext cx="2080059" cy="216027"/>
          </a:xfrm>
          <a:prstGeom prst="rect">
            <a:avLst/>
          </a:prstGeom>
          <a:noFill/>
          <a:ln/>
        </p:spPr>
        <p:txBody>
          <a:bodyPr wrap="none" lIns="0" tIns="0" rIns="0" bIns="0" rtlCol="0" anchor="t"/>
          <a:lstStyle/>
          <a:p>
            <a:pPr marL="0" indent="0" algn="l">
              <a:lnSpc>
                <a:spcPts val="1575"/>
              </a:lnSpc>
              <a:buNone/>
            </a:pPr>
            <a:r>
              <a:rPr lang="en-US" sz="1125" b="1" dirty="0">
                <a:solidFill>
                  <a:srgbClr val="0F172A"/>
                </a:solidFill>
                <a:latin typeface="Carlito" pitchFamily="34" charset="0"/>
                <a:ea typeface="Carlito" pitchFamily="34" charset="-122"/>
                <a:cs typeface="Carlito" pitchFamily="34" charset="-120"/>
              </a:rPr>
              <a:t>Bash script approach</a:t>
            </a:r>
            <a:endParaRPr lang="en-US" sz="1125" dirty="0"/>
          </a:p>
        </p:txBody>
      </p:sp>
      <p:sp>
        <p:nvSpPr>
          <p:cNvPr id="16" name="Text 14"/>
          <p:cNvSpPr/>
          <p:nvPr/>
        </p:nvSpPr>
        <p:spPr>
          <a:xfrm>
            <a:off x="3397969" y="1974466"/>
            <a:ext cx="2347950" cy="715589"/>
          </a:xfrm>
          <a:prstGeom prst="rect">
            <a:avLst/>
          </a:prstGeom>
          <a:noFill/>
          <a:ln/>
        </p:spPr>
        <p:txBody>
          <a:bodyPr wrap="square" lIns="0" tIns="0" rIns="0" bIns="0" rtlCol="0" anchor="t"/>
          <a:lstStyle/>
          <a:p>
            <a:pPr marL="0" indent="0" algn="l">
              <a:lnSpc>
                <a:spcPts val="1305"/>
              </a:lnSpc>
              <a:buNone/>
            </a:pPr>
            <a:r>
              <a:rPr lang="en-US" sz="900" dirty="0">
                <a:solidFill>
                  <a:srgbClr val="334155"/>
                </a:solidFill>
                <a:latin typeface="Carlito" pitchFamily="34" charset="0"/>
                <a:ea typeface="Carlito" pitchFamily="34" charset="-122"/>
                <a:cs typeface="Carlito" pitchFamily="34" charset="-120"/>
              </a:rPr>
              <a:t>Better — version-controlled. But bash is imperative: each run might do something slightly different. Re-running on a fixed server causes drift. </a:t>
            </a:r>
            <a:r>
              <a:rPr lang="en-US" sz="900" b="1" dirty="0">
                <a:solidFill>
                  <a:srgbClr val="334155"/>
                </a:solidFill>
                <a:latin typeface="Carlito" pitchFamily="34" charset="0"/>
                <a:ea typeface="Carlito" pitchFamily="34" charset="-122"/>
                <a:cs typeface="Carlito" pitchFamily="34" charset="-120"/>
              </a:rPr>
              <a:t>Idempotency is your problem.</a:t>
            </a:r>
            <a:endParaRPr lang="en-US" sz="900" dirty="0"/>
          </a:p>
        </p:txBody>
      </p:sp>
      <p:sp>
        <p:nvSpPr>
          <p:cNvPr id="17" name="Text 15"/>
          <p:cNvSpPr/>
          <p:nvPr/>
        </p:nvSpPr>
        <p:spPr>
          <a:xfrm>
            <a:off x="6045957" y="1588703"/>
            <a:ext cx="2633588" cy="1356866"/>
          </a:xfrm>
          <a:prstGeom prst="roundRect">
            <a:avLst>
              <a:gd name="adj" fmla="val 9828"/>
            </a:avLst>
          </a:prstGeom>
          <a:solidFill>
            <a:srgbClr val="FFF7ED"/>
          </a:solidFill>
          <a:ln w="14288">
            <a:solidFill>
              <a:srgbClr val="F97316"/>
            </a:solidFill>
            <a:prstDash val="solid"/>
          </a:ln>
        </p:spPr>
        <p:txBody>
          <a:bodyPr wrap="square" rtlCol="0" anchor="ctr"/>
          <a:lstStyle/>
          <a:p>
            <a:pPr marL="0" indent="0">
              <a:buNone/>
            </a:pPr>
            <a:endParaRPr lang="en-US" dirty="0"/>
          </a:p>
        </p:txBody>
      </p:sp>
      <p:sp>
        <p:nvSpPr>
          <p:cNvPr id="18" name="Text 16"/>
          <p:cNvSpPr/>
          <p:nvPr/>
        </p:nvSpPr>
        <p:spPr>
          <a:xfrm>
            <a:off x="6195975" y="1722059"/>
            <a:ext cx="353616" cy="204776"/>
          </a:xfrm>
          <a:prstGeom prst="roundRect">
            <a:avLst>
              <a:gd name="adj" fmla="val 4646773"/>
            </a:avLst>
          </a:prstGeom>
          <a:solidFill>
            <a:srgbClr val="F97316"/>
          </a:solidFill>
          <a:ln/>
        </p:spPr>
        <p:txBody>
          <a:bodyPr wrap="square" rtlCol="0" anchor="ctr"/>
          <a:lstStyle/>
          <a:p>
            <a:pPr marL="0" indent="0">
              <a:buNone/>
            </a:pPr>
            <a:endParaRPr lang="en-US" dirty="0"/>
          </a:p>
        </p:txBody>
      </p:sp>
      <p:sp>
        <p:nvSpPr>
          <p:cNvPr id="19" name="Text 17"/>
          <p:cNvSpPr/>
          <p:nvPr/>
        </p:nvSpPr>
        <p:spPr>
          <a:xfrm>
            <a:off x="6195975" y="1733029"/>
            <a:ext cx="353616" cy="182835"/>
          </a:xfrm>
          <a:prstGeom prst="rect">
            <a:avLst/>
          </a:prstGeom>
          <a:noFill/>
          <a:ln/>
        </p:spPr>
        <p:txBody>
          <a:bodyPr wrap="none" lIns="0" tIns="0" rIns="0" bIns="0" rtlCol="0" anchor="ctr"/>
          <a:lstStyle/>
          <a:p>
            <a:pPr marL="0" indent="0" algn="ctr">
              <a:lnSpc>
                <a:spcPts val="1103"/>
              </a:lnSpc>
              <a:buNone/>
            </a:pPr>
            <a:r>
              <a:rPr lang="en-US" sz="800" b="1" kern="0" spc="28" dirty="0">
                <a:solidFill>
                  <a:srgbClr val="FFFFFF"/>
                </a:solidFill>
                <a:latin typeface="Segoe UI Symbol" pitchFamily="34" charset="0"/>
                <a:ea typeface="Segoe UI Symbol" pitchFamily="34" charset="-122"/>
                <a:cs typeface="Segoe UI Symbol" pitchFamily="34" charset="-120"/>
              </a:rPr>
              <a:t>C ✓</a:t>
            </a:r>
            <a:endParaRPr lang="en-US" sz="800" dirty="0"/>
          </a:p>
        </p:txBody>
      </p:sp>
      <p:sp>
        <p:nvSpPr>
          <p:cNvPr id="20" name="Text 18"/>
          <p:cNvSpPr/>
          <p:nvPr/>
        </p:nvSpPr>
        <p:spPr>
          <a:xfrm>
            <a:off x="6621028" y="1724434"/>
            <a:ext cx="1908497" cy="216027"/>
          </a:xfrm>
          <a:prstGeom prst="rect">
            <a:avLst/>
          </a:prstGeom>
          <a:noFill/>
          <a:ln/>
        </p:spPr>
        <p:txBody>
          <a:bodyPr wrap="none" lIns="0" tIns="0" rIns="0" bIns="0" rtlCol="0" anchor="t"/>
          <a:lstStyle/>
          <a:p>
            <a:pPr marL="0" indent="0" algn="l">
              <a:lnSpc>
                <a:spcPts val="1575"/>
              </a:lnSpc>
              <a:buNone/>
            </a:pPr>
            <a:r>
              <a:rPr lang="en-US" sz="1125" b="1" dirty="0">
                <a:solidFill>
                  <a:srgbClr val="0F172A"/>
                </a:solidFill>
                <a:latin typeface="Carlito" pitchFamily="34" charset="0"/>
                <a:ea typeface="Carlito" pitchFamily="34" charset="-122"/>
                <a:cs typeface="Carlito" pitchFamily="34" charset="-120"/>
              </a:rPr>
              <a:t>Ansible approach (desired)</a:t>
            </a:r>
            <a:endParaRPr lang="en-US" sz="1125" dirty="0"/>
          </a:p>
        </p:txBody>
      </p:sp>
      <p:sp>
        <p:nvSpPr>
          <p:cNvPr id="21" name="Text 19"/>
          <p:cNvSpPr/>
          <p:nvPr/>
        </p:nvSpPr>
        <p:spPr>
          <a:xfrm>
            <a:off x="6195975" y="1981609"/>
            <a:ext cx="2333551" cy="828229"/>
          </a:xfrm>
          <a:prstGeom prst="rect">
            <a:avLst/>
          </a:prstGeom>
          <a:noFill/>
          <a:ln/>
        </p:spPr>
        <p:txBody>
          <a:bodyPr wrap="square" lIns="0" tIns="0" rIns="0" bIns="0" rtlCol="0" anchor="t"/>
          <a:lstStyle/>
          <a:p>
            <a:pPr marL="0" indent="0" algn="l">
              <a:lnSpc>
                <a:spcPts val="1305"/>
              </a:lnSpc>
              <a:buNone/>
            </a:pPr>
            <a:r>
              <a:rPr lang="en-US" sz="900" dirty="0">
                <a:solidFill>
                  <a:srgbClr val="334155"/>
                </a:solidFill>
                <a:latin typeface="Carlito" pitchFamily="34" charset="0"/>
                <a:ea typeface="Carlito" pitchFamily="34" charset="-122"/>
                <a:cs typeface="Carlito" pitchFamily="34" charset="-120"/>
              </a:rPr>
              <a:t>Declare the END STATE ("nginx installed, config file at /etc/nginx/nginx.conf, service running"). Ansible figures out how to get there. Running the playbook 100 times = running it once.</a:t>
            </a:r>
            <a:endParaRPr lang="en-US" sz="900" dirty="0"/>
          </a:p>
        </p:txBody>
      </p:sp>
      <p:sp>
        <p:nvSpPr>
          <p:cNvPr id="22" name="Text 20"/>
          <p:cNvSpPr/>
          <p:nvPr/>
        </p:nvSpPr>
        <p:spPr>
          <a:xfrm>
            <a:off x="457200" y="3095588"/>
            <a:ext cx="8229600" cy="392906"/>
          </a:xfrm>
          <a:prstGeom prst="roundRect">
            <a:avLst>
              <a:gd name="adj" fmla="val 19394"/>
            </a:avLst>
          </a:prstGeom>
          <a:solidFill>
            <a:srgbClr val="FFF7ED"/>
          </a:solidFill>
          <a:ln/>
        </p:spPr>
        <p:txBody>
          <a:bodyPr wrap="square" rtlCol="0" anchor="ctr"/>
          <a:lstStyle/>
          <a:p>
            <a:pPr marL="0" indent="0">
              <a:buNone/>
            </a:pPr>
            <a:endParaRPr lang="en-US" dirty="0"/>
          </a:p>
        </p:txBody>
      </p:sp>
      <p:sp>
        <p:nvSpPr>
          <p:cNvPr id="23" name="Shape 21"/>
          <p:cNvSpPr/>
          <p:nvPr/>
        </p:nvSpPr>
        <p:spPr>
          <a:xfrm>
            <a:off x="478631" y="3095588"/>
            <a:ext cx="0" cy="392906"/>
          </a:xfrm>
          <a:prstGeom prst="line">
            <a:avLst/>
          </a:prstGeom>
          <a:noFill/>
          <a:ln w="42863">
            <a:solidFill>
              <a:srgbClr val="F97316"/>
            </a:solidFill>
            <a:prstDash val="solid"/>
          </a:ln>
        </p:spPr>
      </p:sp>
      <p:sp>
        <p:nvSpPr>
          <p:cNvPr id="24" name="Text 22"/>
          <p:cNvSpPr/>
          <p:nvPr/>
        </p:nvSpPr>
        <p:spPr>
          <a:xfrm>
            <a:off x="457200" y="3095588"/>
            <a:ext cx="8229600" cy="424339"/>
          </a:xfrm>
          <a:prstGeom prst="rect">
            <a:avLst/>
          </a:prstGeom>
          <a:noFill/>
          <a:ln/>
        </p:spPr>
        <p:txBody>
          <a:bodyPr wrap="square" lIns="157163" tIns="100013" rIns="157163" bIns="100013" rtlCol="0" anchor="t"/>
          <a:lstStyle/>
          <a:p>
            <a:pPr marL="0" indent="0" algn="l">
              <a:lnSpc>
                <a:spcPts val="1418"/>
              </a:lnSpc>
              <a:buNone/>
            </a:pPr>
            <a:r>
              <a:rPr lang="en-US" sz="1013" dirty="0">
                <a:solidFill>
                  <a:srgbClr val="F97316"/>
                </a:solidFill>
                <a:latin typeface="Segoe UI Symbol" pitchFamily="34" charset="0"/>
                <a:ea typeface="Segoe UI Symbol" pitchFamily="34" charset="-122"/>
                <a:cs typeface="Segoe UI Symbol" pitchFamily="34" charset="-120"/>
              </a:rPr>
              <a:t>◆</a:t>
            </a:r>
            <a:r>
              <a:rPr lang="en-US" sz="1013" dirty="0">
                <a:solidFill>
                  <a:srgbClr val="0F172A"/>
                </a:solidFill>
                <a:latin typeface="Carlito" pitchFamily="34" charset="0"/>
                <a:ea typeface="Carlito" pitchFamily="34" charset="-122"/>
                <a:cs typeface="Carlito" pitchFamily="34" charset="-120"/>
              </a:rPr>
              <a:t> Configuration management = treating infrastructure as code. </a:t>
            </a:r>
            <a:r>
              <a:rPr lang="en-US" sz="1013" dirty="0">
                <a:solidFill>
                  <a:srgbClr val="F97316"/>
                </a:solidFill>
                <a:latin typeface="Carlito" pitchFamily="34" charset="0"/>
                <a:ea typeface="Carlito" pitchFamily="34" charset="-122"/>
                <a:cs typeface="Carlito" pitchFamily="34" charset="-120"/>
              </a:rPr>
              <a:t>Reproducible, version-controlled, idempotent.</a:t>
            </a:r>
            <a:endParaRPr lang="en-US" sz="1013"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00050"/>
            <a:ext cx="2853404" cy="373346"/>
          </a:xfrm>
          <a:prstGeom prst="rect">
            <a:avLst/>
          </a:prstGeom>
          <a:noFill/>
          <a:ln/>
        </p:spPr>
        <p:txBody>
          <a:bodyPr wrap="square" lIns="0" tIns="0" rIns="0" bIns="0" rtlCol="0" anchor="t"/>
          <a:lstStyle/>
          <a:p>
            <a:pPr marL="0" indent="0" algn="l">
              <a:lnSpc>
                <a:spcPts val="2723"/>
              </a:lnSpc>
              <a:buNone/>
            </a:pPr>
            <a:r>
              <a:rPr lang="en-US" sz="2475" b="1" dirty="0">
                <a:solidFill>
                  <a:srgbClr val="0F172A"/>
                </a:solidFill>
                <a:latin typeface="Carlito" pitchFamily="34" charset="0"/>
                <a:ea typeface="Carlito" pitchFamily="34" charset="-122"/>
                <a:cs typeface="Carlito" pitchFamily="34" charset="-120"/>
              </a:rPr>
              <a:t>Ansible Introduction</a:t>
            </a:r>
            <a:endParaRPr lang="en-US" sz="2475" dirty="0"/>
          </a:p>
        </p:txBody>
      </p:sp>
      <p:sp>
        <p:nvSpPr>
          <p:cNvPr id="3" name="Text 1"/>
          <p:cNvSpPr/>
          <p:nvPr/>
        </p:nvSpPr>
        <p:spPr>
          <a:xfrm>
            <a:off x="457200" y="845753"/>
            <a:ext cx="571500" cy="42863"/>
          </a:xfrm>
          <a:prstGeom prst="roundRect">
            <a:avLst>
              <a:gd name="adj" fmla="val 66666"/>
            </a:avLst>
          </a:prstGeom>
          <a:solidFill>
            <a:srgbClr val="F97316"/>
          </a:solidFill>
          <a:ln/>
        </p:spPr>
        <p:txBody>
          <a:bodyPr wrap="square" rtlCol="0" anchor="ctr"/>
          <a:lstStyle/>
          <a:p>
            <a:pPr marL="0" indent="0">
              <a:buNone/>
            </a:pPr>
            <a:endParaRPr lang="en-US" dirty="0"/>
          </a:p>
        </p:txBody>
      </p:sp>
      <p:sp>
        <p:nvSpPr>
          <p:cNvPr id="4" name="Text 2"/>
          <p:cNvSpPr/>
          <p:nvPr/>
        </p:nvSpPr>
        <p:spPr>
          <a:xfrm>
            <a:off x="7768627" y="387248"/>
            <a:ext cx="941033" cy="331333"/>
          </a:xfrm>
          <a:prstGeom prst="roundRect">
            <a:avLst>
              <a:gd name="adj" fmla="val 2871877"/>
            </a:avLst>
          </a:prstGeom>
          <a:solidFill>
            <a:srgbClr val="0F172A"/>
          </a:solidFill>
          <a:ln/>
        </p:spPr>
        <p:txBody>
          <a:bodyPr wrap="square" rtlCol="0" anchor="ctr"/>
          <a:lstStyle/>
          <a:p>
            <a:pPr marL="0" indent="0">
              <a:buNone/>
            </a:pPr>
            <a:endParaRPr lang="en-US" dirty="0"/>
          </a:p>
        </p:txBody>
      </p:sp>
      <p:sp>
        <p:nvSpPr>
          <p:cNvPr id="5" name="Text 3"/>
          <p:cNvSpPr/>
          <p:nvPr/>
        </p:nvSpPr>
        <p:spPr>
          <a:xfrm>
            <a:off x="7752647" y="400050"/>
            <a:ext cx="972993" cy="305730"/>
          </a:xfrm>
          <a:prstGeom prst="rect">
            <a:avLst/>
          </a:prstGeom>
          <a:noFill/>
          <a:ln/>
        </p:spPr>
        <p:txBody>
          <a:bodyPr wrap="none" lIns="0" tIns="0" rIns="0" bIns="0" rtlCol="0" anchor="ctr"/>
          <a:lstStyle/>
          <a:p>
            <a:pPr marL="0" indent="0" algn="ctr">
              <a:lnSpc>
                <a:spcPts val="1733"/>
              </a:lnSpc>
              <a:buNone/>
            </a:pPr>
            <a:r>
              <a:rPr lang="en-US" sz="1238" b="1" kern="0" spc="28" dirty="0">
                <a:solidFill>
                  <a:srgbClr val="FFFFFF"/>
                </a:solidFill>
                <a:latin typeface="Liberation Sans Narrow" pitchFamily="34" charset="0"/>
                <a:ea typeface="Liberation Sans Narrow" pitchFamily="34" charset="-122"/>
                <a:cs typeface="Liberation Sans Narrow" pitchFamily="34" charset="-120"/>
              </a:rPr>
              <a:t>02 · Intro</a:t>
            </a:r>
            <a:endParaRPr lang="en-US" sz="1238" dirty="0"/>
          </a:p>
        </p:txBody>
      </p:sp>
      <p:sp>
        <p:nvSpPr>
          <p:cNvPr id="6" name="Text 4"/>
          <p:cNvSpPr/>
          <p:nvPr/>
        </p:nvSpPr>
        <p:spPr>
          <a:xfrm>
            <a:off x="457200" y="1031491"/>
            <a:ext cx="4965621" cy="280763"/>
          </a:xfrm>
          <a:prstGeom prst="rect">
            <a:avLst/>
          </a:prstGeom>
          <a:noFill/>
          <a:ln/>
        </p:spPr>
        <p:txBody>
          <a:bodyPr wrap="none" lIns="0" tIns="0" rIns="0" bIns="0" rtlCol="0" anchor="t"/>
          <a:lstStyle/>
          <a:p>
            <a:pPr marL="0" indent="0" algn="l">
              <a:lnSpc>
                <a:spcPts val="2047"/>
              </a:lnSpc>
              <a:buNone/>
            </a:pPr>
            <a:r>
              <a:rPr lang="en-US" sz="1463" b="1" dirty="0">
                <a:solidFill>
                  <a:srgbClr val="0F172A"/>
                </a:solidFill>
                <a:latin typeface="Carlito" pitchFamily="34" charset="0"/>
                <a:ea typeface="Carlito" pitchFamily="34" charset="-122"/>
                <a:cs typeface="Carlito" pitchFamily="34" charset="-120"/>
              </a:rPr>
              <a:t>What Is Ansible?</a:t>
            </a:r>
            <a:endParaRPr lang="en-US" sz="1463" dirty="0"/>
          </a:p>
        </p:txBody>
      </p:sp>
      <p:sp>
        <p:nvSpPr>
          <p:cNvPr id="7" name="Text 5"/>
          <p:cNvSpPr/>
          <p:nvPr/>
        </p:nvSpPr>
        <p:spPr>
          <a:xfrm>
            <a:off x="460772" y="1395040"/>
            <a:ext cx="4722019" cy="717166"/>
          </a:xfrm>
          <a:prstGeom prst="roundRect">
            <a:avLst>
              <a:gd name="adj" fmla="val 15938"/>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8" name="Text 6"/>
          <p:cNvSpPr/>
          <p:nvPr/>
        </p:nvSpPr>
        <p:spPr>
          <a:xfrm>
            <a:off x="592931" y="1498625"/>
            <a:ext cx="320040" cy="509997"/>
          </a:xfrm>
          <a:prstGeom prst="rect">
            <a:avLst/>
          </a:prstGeom>
          <a:noFill/>
          <a:ln/>
        </p:spPr>
        <p:txBody>
          <a:bodyPr wrap="none" lIns="0" tIns="0" rIns="0" bIns="0" rtlCol="0" anchor="t"/>
          <a:lstStyle/>
          <a:p>
            <a:pPr marL="0" indent="0" algn="l">
              <a:lnSpc>
                <a:spcPts val="1238"/>
              </a:lnSpc>
              <a:buNone/>
            </a:pPr>
            <a:r>
              <a:rPr lang="en-US" sz="1238" b="1" dirty="0">
                <a:solidFill>
                  <a:srgbClr val="F97316"/>
                </a:solidFill>
                <a:latin typeface="Liberation Sans Narrow" pitchFamily="34" charset="0"/>
                <a:ea typeface="Liberation Sans Narrow" pitchFamily="34" charset="-122"/>
                <a:cs typeface="Liberation Sans Narrow" pitchFamily="34" charset="-120"/>
              </a:rPr>
              <a:t>01</a:t>
            </a:r>
            <a:endParaRPr lang="en-US" sz="1238" dirty="0"/>
          </a:p>
        </p:txBody>
      </p:sp>
      <p:sp>
        <p:nvSpPr>
          <p:cNvPr id="9" name="Text 7"/>
          <p:cNvSpPr/>
          <p:nvPr/>
        </p:nvSpPr>
        <p:spPr>
          <a:xfrm>
            <a:off x="892969" y="1498625"/>
            <a:ext cx="4157663" cy="509997"/>
          </a:xfrm>
          <a:prstGeom prst="rect">
            <a:avLst/>
          </a:prstGeom>
          <a:noFill/>
          <a:ln/>
        </p:spPr>
        <p:txBody>
          <a:bodyPr wrap="square" lIns="0" tIns="0" rIns="0" bIns="0" rtlCol="0" anchor="t"/>
          <a:lstStyle/>
          <a:p>
            <a:pPr marL="0" indent="0" algn="l">
              <a:lnSpc>
                <a:spcPts val="1339"/>
              </a:lnSpc>
              <a:buNone/>
            </a:pPr>
            <a:r>
              <a:rPr lang="en-US" sz="956" b="1" dirty="0">
                <a:solidFill>
                  <a:srgbClr val="0F172A"/>
                </a:solidFill>
                <a:latin typeface="Carlito" pitchFamily="34" charset="0"/>
                <a:ea typeface="Carlito" pitchFamily="34" charset="-122"/>
                <a:cs typeface="Carlito" pitchFamily="34" charset="-120"/>
              </a:rPr>
              <a:t>Open-source</a:t>
            </a:r>
            <a:r>
              <a:rPr lang="en-US" sz="956" dirty="0">
                <a:solidFill>
                  <a:srgbClr val="334155"/>
                </a:solidFill>
                <a:latin typeface="Carlito" pitchFamily="34" charset="0"/>
                <a:ea typeface="Carlito" pitchFamily="34" charset="-122"/>
                <a:cs typeface="Carlito" pitchFamily="34" charset="-120"/>
              </a:rPr>
              <a:t> configuration management tool. Created by Michael DeHaan in 2012. Acquired by Red Hat in 2015. Now the de-facto standard for agentless automation.</a:t>
            </a:r>
            <a:endParaRPr lang="en-US" sz="956" dirty="0"/>
          </a:p>
        </p:txBody>
      </p:sp>
      <p:sp>
        <p:nvSpPr>
          <p:cNvPr id="10" name="Text 8"/>
          <p:cNvSpPr/>
          <p:nvPr/>
        </p:nvSpPr>
        <p:spPr>
          <a:xfrm>
            <a:off x="460772" y="2205075"/>
            <a:ext cx="4722019" cy="717166"/>
          </a:xfrm>
          <a:prstGeom prst="roundRect">
            <a:avLst>
              <a:gd name="adj" fmla="val 15938"/>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11" name="Text 9"/>
          <p:cNvSpPr/>
          <p:nvPr/>
        </p:nvSpPr>
        <p:spPr>
          <a:xfrm>
            <a:off x="592931" y="2308659"/>
            <a:ext cx="320040" cy="509997"/>
          </a:xfrm>
          <a:prstGeom prst="rect">
            <a:avLst/>
          </a:prstGeom>
          <a:noFill/>
          <a:ln/>
        </p:spPr>
        <p:txBody>
          <a:bodyPr wrap="none" lIns="0" tIns="0" rIns="0" bIns="0" rtlCol="0" anchor="t"/>
          <a:lstStyle/>
          <a:p>
            <a:pPr marL="0" indent="0" algn="l">
              <a:lnSpc>
                <a:spcPts val="1238"/>
              </a:lnSpc>
              <a:buNone/>
            </a:pPr>
            <a:r>
              <a:rPr lang="en-US" sz="1238" b="1" dirty="0">
                <a:solidFill>
                  <a:srgbClr val="F97316"/>
                </a:solidFill>
                <a:latin typeface="Liberation Sans Narrow" pitchFamily="34" charset="0"/>
                <a:ea typeface="Liberation Sans Narrow" pitchFamily="34" charset="-122"/>
                <a:cs typeface="Liberation Sans Narrow" pitchFamily="34" charset="-120"/>
              </a:rPr>
              <a:t>02</a:t>
            </a:r>
            <a:endParaRPr lang="en-US" sz="1238" dirty="0"/>
          </a:p>
        </p:txBody>
      </p:sp>
      <p:sp>
        <p:nvSpPr>
          <p:cNvPr id="12" name="Text 10"/>
          <p:cNvSpPr/>
          <p:nvPr/>
        </p:nvSpPr>
        <p:spPr>
          <a:xfrm>
            <a:off x="892969" y="2308659"/>
            <a:ext cx="4157663" cy="509997"/>
          </a:xfrm>
          <a:prstGeom prst="rect">
            <a:avLst/>
          </a:prstGeom>
          <a:noFill/>
          <a:ln/>
        </p:spPr>
        <p:txBody>
          <a:bodyPr wrap="square" lIns="0" tIns="0" rIns="0" bIns="0" rtlCol="0" anchor="t"/>
          <a:lstStyle/>
          <a:p>
            <a:pPr marL="0" indent="0" algn="l">
              <a:lnSpc>
                <a:spcPts val="1339"/>
              </a:lnSpc>
              <a:buNone/>
            </a:pPr>
            <a:r>
              <a:rPr lang="en-US" sz="956" b="1" dirty="0">
                <a:solidFill>
                  <a:srgbClr val="0F172A"/>
                </a:solidFill>
                <a:latin typeface="Carlito" pitchFamily="34" charset="0"/>
                <a:ea typeface="Carlito" pitchFamily="34" charset="-122"/>
                <a:cs typeface="Carlito" pitchFamily="34" charset="-120"/>
              </a:rPr>
              <a:t>Declarative:</a:t>
            </a:r>
            <a:r>
              <a:rPr lang="en-US" sz="956" dirty="0">
                <a:solidFill>
                  <a:srgbClr val="334155"/>
                </a:solidFill>
                <a:latin typeface="Carlito" pitchFamily="34" charset="0"/>
                <a:ea typeface="Carlito" pitchFamily="34" charset="-122"/>
                <a:cs typeface="Carlito" pitchFamily="34" charset="-120"/>
              </a:rPr>
              <a:t> you describe the END STATE of the system ("package installed, file present, service running"). Ansible computes the actions needed to reach that state.</a:t>
            </a:r>
            <a:endParaRPr lang="en-US" sz="956" dirty="0"/>
          </a:p>
        </p:txBody>
      </p:sp>
      <p:sp>
        <p:nvSpPr>
          <p:cNvPr id="13" name="Text 11"/>
          <p:cNvSpPr/>
          <p:nvPr/>
        </p:nvSpPr>
        <p:spPr>
          <a:xfrm>
            <a:off x="460772" y="3015109"/>
            <a:ext cx="4722019" cy="717166"/>
          </a:xfrm>
          <a:prstGeom prst="roundRect">
            <a:avLst>
              <a:gd name="adj" fmla="val 15938"/>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14" name="Text 12"/>
          <p:cNvSpPr/>
          <p:nvPr/>
        </p:nvSpPr>
        <p:spPr>
          <a:xfrm>
            <a:off x="592931" y="3118693"/>
            <a:ext cx="320040" cy="509997"/>
          </a:xfrm>
          <a:prstGeom prst="rect">
            <a:avLst/>
          </a:prstGeom>
          <a:noFill/>
          <a:ln/>
        </p:spPr>
        <p:txBody>
          <a:bodyPr wrap="none" lIns="0" tIns="0" rIns="0" bIns="0" rtlCol="0" anchor="t"/>
          <a:lstStyle/>
          <a:p>
            <a:pPr marL="0" indent="0" algn="l">
              <a:lnSpc>
                <a:spcPts val="1238"/>
              </a:lnSpc>
              <a:buNone/>
            </a:pPr>
            <a:r>
              <a:rPr lang="en-US" sz="1238" b="1" dirty="0">
                <a:solidFill>
                  <a:srgbClr val="F97316"/>
                </a:solidFill>
                <a:latin typeface="Liberation Sans Narrow" pitchFamily="34" charset="0"/>
                <a:ea typeface="Liberation Sans Narrow" pitchFamily="34" charset="-122"/>
                <a:cs typeface="Liberation Sans Narrow" pitchFamily="34" charset="-120"/>
              </a:rPr>
              <a:t>03</a:t>
            </a:r>
            <a:endParaRPr lang="en-US" sz="1238" dirty="0"/>
          </a:p>
        </p:txBody>
      </p:sp>
      <p:sp>
        <p:nvSpPr>
          <p:cNvPr id="15" name="Text 13"/>
          <p:cNvSpPr/>
          <p:nvPr/>
        </p:nvSpPr>
        <p:spPr>
          <a:xfrm>
            <a:off x="892969" y="3118693"/>
            <a:ext cx="4157663" cy="509997"/>
          </a:xfrm>
          <a:prstGeom prst="rect">
            <a:avLst/>
          </a:prstGeom>
          <a:noFill/>
          <a:ln/>
        </p:spPr>
        <p:txBody>
          <a:bodyPr wrap="square" lIns="0" tIns="0" rIns="0" bIns="0" rtlCol="0" anchor="t"/>
          <a:lstStyle/>
          <a:p>
            <a:pPr marL="0" indent="0" algn="l">
              <a:lnSpc>
                <a:spcPts val="1339"/>
              </a:lnSpc>
              <a:buNone/>
            </a:pPr>
            <a:r>
              <a:rPr lang="en-US" sz="956" b="1" dirty="0">
                <a:solidFill>
                  <a:srgbClr val="0F172A"/>
                </a:solidFill>
                <a:latin typeface="Carlito" pitchFamily="34" charset="0"/>
                <a:ea typeface="Carlito" pitchFamily="34" charset="-122"/>
                <a:cs typeface="Carlito" pitchFamily="34" charset="-120"/>
              </a:rPr>
              <a:t>Agentless:</a:t>
            </a:r>
            <a:r>
              <a:rPr lang="en-US" sz="956" dirty="0">
                <a:solidFill>
                  <a:srgbClr val="334155"/>
                </a:solidFill>
                <a:latin typeface="Carlito" pitchFamily="34" charset="0"/>
                <a:ea typeface="Carlito" pitchFamily="34" charset="-122"/>
                <a:cs typeface="Carlito" pitchFamily="34" charset="-120"/>
              </a:rPr>
              <a:t> no daemon runs on the target hosts. Ansible connects over SSH (Linux) or WinRM (Windows) and pushes changes. No agent to install, upgrade, or debug.</a:t>
            </a:r>
            <a:endParaRPr lang="en-US" sz="956" dirty="0"/>
          </a:p>
        </p:txBody>
      </p:sp>
      <p:sp>
        <p:nvSpPr>
          <p:cNvPr id="16" name="Text 14"/>
          <p:cNvSpPr/>
          <p:nvPr/>
        </p:nvSpPr>
        <p:spPr>
          <a:xfrm>
            <a:off x="460772" y="3825143"/>
            <a:ext cx="4722019" cy="717166"/>
          </a:xfrm>
          <a:prstGeom prst="roundRect">
            <a:avLst>
              <a:gd name="adj" fmla="val 15938"/>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17" name="Text 15"/>
          <p:cNvSpPr/>
          <p:nvPr/>
        </p:nvSpPr>
        <p:spPr>
          <a:xfrm>
            <a:off x="592931" y="3928728"/>
            <a:ext cx="320040" cy="509997"/>
          </a:xfrm>
          <a:prstGeom prst="rect">
            <a:avLst/>
          </a:prstGeom>
          <a:noFill/>
          <a:ln/>
        </p:spPr>
        <p:txBody>
          <a:bodyPr wrap="none" lIns="0" tIns="0" rIns="0" bIns="0" rtlCol="0" anchor="t"/>
          <a:lstStyle/>
          <a:p>
            <a:pPr marL="0" indent="0" algn="l">
              <a:lnSpc>
                <a:spcPts val="1238"/>
              </a:lnSpc>
              <a:buNone/>
            </a:pPr>
            <a:r>
              <a:rPr lang="en-US" sz="1238" b="1" dirty="0">
                <a:solidFill>
                  <a:srgbClr val="F97316"/>
                </a:solidFill>
                <a:latin typeface="Liberation Sans Narrow" pitchFamily="34" charset="0"/>
                <a:ea typeface="Liberation Sans Narrow" pitchFamily="34" charset="-122"/>
                <a:cs typeface="Liberation Sans Narrow" pitchFamily="34" charset="-120"/>
              </a:rPr>
              <a:t>04</a:t>
            </a:r>
            <a:endParaRPr lang="en-US" sz="1238" dirty="0"/>
          </a:p>
        </p:txBody>
      </p:sp>
      <p:sp>
        <p:nvSpPr>
          <p:cNvPr id="18" name="Text 16"/>
          <p:cNvSpPr/>
          <p:nvPr/>
        </p:nvSpPr>
        <p:spPr>
          <a:xfrm>
            <a:off x="892969" y="3928728"/>
            <a:ext cx="4157663" cy="509997"/>
          </a:xfrm>
          <a:prstGeom prst="rect">
            <a:avLst/>
          </a:prstGeom>
          <a:noFill/>
          <a:ln/>
        </p:spPr>
        <p:txBody>
          <a:bodyPr wrap="square" lIns="0" tIns="0" rIns="0" bIns="0" rtlCol="0" anchor="t"/>
          <a:lstStyle/>
          <a:p>
            <a:pPr marL="0" indent="0" algn="l">
              <a:lnSpc>
                <a:spcPts val="1339"/>
              </a:lnSpc>
              <a:buNone/>
            </a:pPr>
            <a:r>
              <a:rPr lang="en-US" sz="956" b="1" dirty="0">
                <a:solidFill>
                  <a:srgbClr val="0F172A"/>
                </a:solidFill>
                <a:latin typeface="Carlito" pitchFamily="34" charset="0"/>
                <a:ea typeface="Carlito" pitchFamily="34" charset="-122"/>
                <a:cs typeface="Carlito" pitchFamily="34" charset="-120"/>
              </a:rPr>
              <a:t>YAML-native:</a:t>
            </a:r>
            <a:r>
              <a:rPr lang="en-US" sz="956" dirty="0">
                <a:solidFill>
                  <a:srgbClr val="334155"/>
                </a:solidFill>
                <a:latin typeface="Carlito" pitchFamily="34" charset="0"/>
                <a:ea typeface="Carlito" pitchFamily="34" charset="-122"/>
                <a:cs typeface="Carlito" pitchFamily="34" charset="-120"/>
              </a:rPr>
              <a:t> playbooks are written in YAML, the same format used by Kubernetes, GitHub Actions, and most modern DevOps tools. Easy to read, easy to write.</a:t>
            </a:r>
            <a:endParaRPr lang="en-US" sz="956" dirty="0"/>
          </a:p>
        </p:txBody>
      </p:sp>
      <p:sp>
        <p:nvSpPr>
          <p:cNvPr id="19" name="Text 17"/>
          <p:cNvSpPr/>
          <p:nvPr/>
        </p:nvSpPr>
        <p:spPr>
          <a:xfrm>
            <a:off x="5357813" y="1031491"/>
            <a:ext cx="3328988" cy="3711959"/>
          </a:xfrm>
          <a:prstGeom prst="roundRect">
            <a:avLst>
              <a:gd name="adj" fmla="val 4006"/>
            </a:avLst>
          </a:prstGeom>
          <a:solidFill>
            <a:srgbClr val="FFF7ED"/>
          </a:solidFill>
          <a:ln/>
        </p:spPr>
        <p:txBody>
          <a:bodyPr wrap="square" rtlCol="0" anchor="ctr"/>
          <a:lstStyle/>
          <a:p>
            <a:pPr marL="0" indent="0">
              <a:buNone/>
            </a:pPr>
            <a:endParaRPr lang="en-US" dirty="0"/>
          </a:p>
        </p:txBody>
      </p:sp>
      <p:sp>
        <p:nvSpPr>
          <p:cNvPr id="20" name="Shape 18"/>
          <p:cNvSpPr/>
          <p:nvPr/>
        </p:nvSpPr>
        <p:spPr>
          <a:xfrm>
            <a:off x="5379244" y="1031491"/>
            <a:ext cx="0" cy="3711959"/>
          </a:xfrm>
          <a:prstGeom prst="line">
            <a:avLst/>
          </a:prstGeom>
          <a:noFill/>
          <a:ln w="42863">
            <a:solidFill>
              <a:srgbClr val="F97316"/>
            </a:solidFill>
            <a:prstDash val="solid"/>
          </a:ln>
        </p:spPr>
      </p:sp>
      <p:sp>
        <p:nvSpPr>
          <p:cNvPr id="21" name="Text 19"/>
          <p:cNvSpPr/>
          <p:nvPr/>
        </p:nvSpPr>
        <p:spPr>
          <a:xfrm>
            <a:off x="5572125" y="1188653"/>
            <a:ext cx="2943225" cy="270034"/>
          </a:xfrm>
          <a:prstGeom prst="rect">
            <a:avLst/>
          </a:prstGeom>
          <a:noFill/>
          <a:ln/>
        </p:spPr>
        <p:txBody>
          <a:bodyPr wrap="none" lIns="0" tIns="0" rIns="0" bIns="0" rtlCol="0" anchor="t"/>
          <a:lstStyle/>
          <a:p>
            <a:pPr marL="0" indent="0" algn="l">
              <a:lnSpc>
                <a:spcPts val="1890"/>
              </a:lnSpc>
              <a:buNone/>
            </a:pPr>
            <a:r>
              <a:rPr lang="en-US" sz="1350" b="1" dirty="0">
                <a:solidFill>
                  <a:srgbClr val="F97316"/>
                </a:solidFill>
                <a:latin typeface="Segoe UI Symbol" pitchFamily="34" charset="0"/>
                <a:ea typeface="Segoe UI Symbol" pitchFamily="34" charset="-122"/>
                <a:cs typeface="Segoe UI Symbol" pitchFamily="34" charset="-120"/>
              </a:rPr>
              <a:t>↗</a:t>
            </a:r>
            <a:r>
              <a:rPr lang="en-US" sz="1350" b="1" dirty="0">
                <a:solidFill>
                  <a:srgbClr val="C2410C"/>
                </a:solidFill>
                <a:latin typeface="Carlito" pitchFamily="34" charset="0"/>
                <a:ea typeface="Carlito" pitchFamily="34" charset="-122"/>
                <a:cs typeface="Carlito" pitchFamily="34" charset="-120"/>
              </a:rPr>
              <a:t> Ansible by the Numbers</a:t>
            </a:r>
            <a:endParaRPr lang="en-US" sz="1350" dirty="0"/>
          </a:p>
        </p:txBody>
      </p:sp>
      <p:sp>
        <p:nvSpPr>
          <p:cNvPr id="22" name="Shape 20"/>
          <p:cNvSpPr/>
          <p:nvPr/>
        </p:nvSpPr>
        <p:spPr>
          <a:xfrm>
            <a:off x="5572125" y="1828019"/>
            <a:ext cx="2943225" cy="0"/>
          </a:xfrm>
          <a:prstGeom prst="line">
            <a:avLst/>
          </a:prstGeom>
          <a:noFill/>
          <a:ln w="7144">
            <a:solidFill>
              <a:srgbClr val="FED7AA"/>
            </a:solidFill>
            <a:prstDash val="dash"/>
          </a:ln>
        </p:spPr>
      </p:sp>
      <p:sp>
        <p:nvSpPr>
          <p:cNvPr id="23" name="Text 21"/>
          <p:cNvSpPr/>
          <p:nvPr/>
        </p:nvSpPr>
        <p:spPr>
          <a:xfrm>
            <a:off x="5572125" y="1595847"/>
            <a:ext cx="171450" cy="171450"/>
          </a:xfrm>
          <a:prstGeom prst="rect">
            <a:avLst/>
          </a:prstGeom>
          <a:noFill/>
          <a:ln/>
        </p:spPr>
        <p:txBody>
          <a:bodyPr wrap="none" lIns="0" tIns="0" rIns="0" bIns="0" rtlCol="0" anchor="ctr"/>
          <a:lstStyle/>
          <a:p>
            <a:pPr marL="0" indent="0" algn="ctr">
              <a:buNone/>
            </a:pPr>
            <a:r>
              <a:rPr lang="en-US" sz="1688" dirty="0">
                <a:solidFill>
                  <a:srgbClr val="F97316"/>
                </a:solidFill>
                <a:latin typeface="Segoe UI Symbol" pitchFamily="34" charset="0"/>
                <a:ea typeface="Segoe UI Symbol" pitchFamily="34" charset="-122"/>
                <a:cs typeface="Segoe UI Symbol" pitchFamily="34" charset="-120"/>
              </a:rPr>
              <a:t>♛</a:t>
            </a:r>
            <a:endParaRPr lang="en-US" sz="1688" dirty="0"/>
          </a:p>
        </p:txBody>
      </p:sp>
      <p:sp>
        <p:nvSpPr>
          <p:cNvPr id="24" name="Text 22"/>
          <p:cNvSpPr/>
          <p:nvPr/>
        </p:nvSpPr>
        <p:spPr>
          <a:xfrm>
            <a:off x="5815013" y="1595847"/>
            <a:ext cx="2700338" cy="171450"/>
          </a:xfrm>
          <a:prstGeom prst="rect">
            <a:avLst/>
          </a:prstGeom>
          <a:noFill/>
          <a:ln/>
        </p:spPr>
        <p:txBody>
          <a:bodyPr wrap="none" lIns="0" tIns="0" rIns="0" bIns="0" rtlCol="0" anchor="t"/>
          <a:lstStyle/>
          <a:p>
            <a:pPr marL="0" indent="0" algn="l">
              <a:lnSpc>
                <a:spcPts val="1291"/>
              </a:lnSpc>
              <a:buNone/>
            </a:pPr>
            <a:r>
              <a:rPr lang="en-US" sz="956" dirty="0">
                <a:solidFill>
                  <a:srgbClr val="0F172A"/>
                </a:solidFill>
                <a:latin typeface="Carlito" pitchFamily="34" charset="0"/>
                <a:ea typeface="Carlito" pitchFamily="34" charset="-122"/>
                <a:cs typeface="Carlito" pitchFamily="34" charset="-120"/>
              </a:rPr>
              <a:t>Top user base of any config-mgmt tool</a:t>
            </a:r>
            <a:endParaRPr lang="en-US" sz="956" dirty="0"/>
          </a:p>
        </p:txBody>
      </p:sp>
      <p:sp>
        <p:nvSpPr>
          <p:cNvPr id="25" name="Shape 23"/>
          <p:cNvSpPr/>
          <p:nvPr/>
        </p:nvSpPr>
        <p:spPr>
          <a:xfrm>
            <a:off x="5572125" y="2161542"/>
            <a:ext cx="2943225" cy="0"/>
          </a:xfrm>
          <a:prstGeom prst="line">
            <a:avLst/>
          </a:prstGeom>
          <a:noFill/>
          <a:ln w="7144">
            <a:solidFill>
              <a:srgbClr val="FED7AA"/>
            </a:solidFill>
            <a:prstDash val="dash"/>
          </a:ln>
        </p:spPr>
      </p:sp>
      <p:sp>
        <p:nvSpPr>
          <p:cNvPr id="26" name="Text 24"/>
          <p:cNvSpPr/>
          <p:nvPr/>
        </p:nvSpPr>
        <p:spPr>
          <a:xfrm>
            <a:off x="5572125" y="1888741"/>
            <a:ext cx="171450" cy="171450"/>
          </a:xfrm>
          <a:prstGeom prst="rect">
            <a:avLst/>
          </a:prstGeom>
          <a:noFill/>
          <a:ln/>
        </p:spPr>
        <p:txBody>
          <a:bodyPr wrap="none" lIns="0" tIns="0" rIns="0" bIns="0" rtlCol="0" anchor="ctr"/>
          <a:lstStyle/>
          <a:p>
            <a:pPr marL="0" indent="0" algn="ctr">
              <a:buNone/>
            </a:pPr>
            <a:r>
              <a:rPr lang="en-US" sz="1688" dirty="0">
                <a:solidFill>
                  <a:srgbClr val="F97316"/>
                </a:solidFill>
                <a:latin typeface="Segoe UI Symbol" pitchFamily="34" charset="0"/>
                <a:ea typeface="Segoe UI Symbol" pitchFamily="34" charset="-122"/>
                <a:cs typeface="Segoe UI Symbol" pitchFamily="34" charset="-120"/>
              </a:rPr>
              <a:t>✦</a:t>
            </a:r>
            <a:endParaRPr lang="en-US" sz="1688" dirty="0"/>
          </a:p>
        </p:txBody>
      </p:sp>
      <p:sp>
        <p:nvSpPr>
          <p:cNvPr id="27" name="Text 25"/>
          <p:cNvSpPr/>
          <p:nvPr/>
        </p:nvSpPr>
        <p:spPr>
          <a:xfrm>
            <a:off x="5815013" y="1888741"/>
            <a:ext cx="2700338" cy="212080"/>
          </a:xfrm>
          <a:prstGeom prst="rect">
            <a:avLst/>
          </a:prstGeom>
          <a:noFill/>
          <a:ln/>
        </p:spPr>
        <p:txBody>
          <a:bodyPr wrap="none" lIns="0" tIns="0" rIns="0" bIns="0" rtlCol="0" anchor="t"/>
          <a:lstStyle/>
          <a:p>
            <a:pPr marL="0" indent="0" algn="l">
              <a:lnSpc>
                <a:spcPts val="1671"/>
              </a:lnSpc>
              <a:buNone/>
            </a:pPr>
            <a:r>
              <a:rPr lang="en-US" sz="1238" b="1" dirty="0">
                <a:solidFill>
                  <a:srgbClr val="C2410C"/>
                </a:solidFill>
                <a:latin typeface="Liberation Sans Narrow" pitchFamily="34" charset="0"/>
                <a:ea typeface="Liberation Sans Narrow" pitchFamily="34" charset="-122"/>
                <a:cs typeface="Liberation Sans Narrow" pitchFamily="34" charset="-120"/>
              </a:rPr>
              <a:t>5,000+</a:t>
            </a:r>
            <a:r>
              <a:rPr lang="en-US" sz="956" dirty="0">
                <a:solidFill>
                  <a:srgbClr val="0F172A"/>
                </a:solidFill>
                <a:latin typeface="Carlito" pitchFamily="34" charset="0"/>
                <a:ea typeface="Carlito" pitchFamily="34" charset="-122"/>
                <a:cs typeface="Carlito" pitchFamily="34" charset="-120"/>
              </a:rPr>
              <a:t> built-in modules</a:t>
            </a:r>
            <a:endParaRPr lang="en-US" sz="956" dirty="0"/>
          </a:p>
        </p:txBody>
      </p:sp>
      <p:sp>
        <p:nvSpPr>
          <p:cNvPr id="28" name="Shape 26"/>
          <p:cNvSpPr/>
          <p:nvPr/>
        </p:nvSpPr>
        <p:spPr>
          <a:xfrm>
            <a:off x="5572125" y="2495066"/>
            <a:ext cx="2943225" cy="0"/>
          </a:xfrm>
          <a:prstGeom prst="line">
            <a:avLst/>
          </a:prstGeom>
          <a:noFill/>
          <a:ln w="7144">
            <a:solidFill>
              <a:srgbClr val="FED7AA"/>
            </a:solidFill>
            <a:prstDash val="dash"/>
          </a:ln>
        </p:spPr>
      </p:sp>
      <p:sp>
        <p:nvSpPr>
          <p:cNvPr id="29" name="Text 27"/>
          <p:cNvSpPr/>
          <p:nvPr/>
        </p:nvSpPr>
        <p:spPr>
          <a:xfrm>
            <a:off x="5572125" y="2222264"/>
            <a:ext cx="171450" cy="171450"/>
          </a:xfrm>
          <a:prstGeom prst="rect">
            <a:avLst/>
          </a:prstGeom>
          <a:noFill/>
          <a:ln/>
        </p:spPr>
        <p:txBody>
          <a:bodyPr wrap="none" lIns="0" tIns="0" rIns="0" bIns="0" rtlCol="0" anchor="ctr"/>
          <a:lstStyle/>
          <a:p>
            <a:pPr marL="0" indent="0" algn="ctr">
              <a:buNone/>
            </a:pPr>
            <a:r>
              <a:rPr lang="en-US" sz="1688" dirty="0">
                <a:solidFill>
                  <a:srgbClr val="F97316"/>
                </a:solidFill>
                <a:latin typeface="Segoe UI Symbol" pitchFamily="34" charset="0"/>
                <a:ea typeface="Segoe UI Symbol" pitchFamily="34" charset="-122"/>
                <a:cs typeface="Segoe UI Symbol" pitchFamily="34" charset="-120"/>
              </a:rPr>
              <a:t>▥</a:t>
            </a:r>
            <a:endParaRPr lang="en-US" sz="1688" dirty="0"/>
          </a:p>
        </p:txBody>
      </p:sp>
      <p:sp>
        <p:nvSpPr>
          <p:cNvPr id="30" name="Text 28"/>
          <p:cNvSpPr/>
          <p:nvPr/>
        </p:nvSpPr>
        <p:spPr>
          <a:xfrm>
            <a:off x="5815013" y="2222264"/>
            <a:ext cx="2700338" cy="212080"/>
          </a:xfrm>
          <a:prstGeom prst="rect">
            <a:avLst/>
          </a:prstGeom>
          <a:noFill/>
          <a:ln/>
        </p:spPr>
        <p:txBody>
          <a:bodyPr wrap="none" lIns="0" tIns="0" rIns="0" bIns="0" rtlCol="0" anchor="t"/>
          <a:lstStyle/>
          <a:p>
            <a:pPr marL="0" indent="0" algn="l">
              <a:lnSpc>
                <a:spcPts val="1671"/>
              </a:lnSpc>
              <a:buNone/>
            </a:pPr>
            <a:r>
              <a:rPr lang="en-US" sz="956" dirty="0">
                <a:solidFill>
                  <a:srgbClr val="0F172A"/>
                </a:solidFill>
                <a:latin typeface="Carlito" pitchFamily="34" charset="0"/>
                <a:ea typeface="Carlito" pitchFamily="34" charset="-122"/>
                <a:cs typeface="Carlito" pitchFamily="34" charset="-120"/>
              </a:rPr>
              <a:t>Used by </a:t>
            </a:r>
            <a:r>
              <a:rPr lang="en-US" sz="1238" b="1" dirty="0">
                <a:solidFill>
                  <a:srgbClr val="C2410C"/>
                </a:solidFill>
                <a:latin typeface="Liberation Sans Narrow" pitchFamily="34" charset="0"/>
                <a:ea typeface="Liberation Sans Narrow" pitchFamily="34" charset="-122"/>
                <a:cs typeface="Liberation Sans Narrow" pitchFamily="34" charset="-120"/>
              </a:rPr>
              <a:t>80%</a:t>
            </a:r>
            <a:r>
              <a:rPr lang="en-US" sz="956" dirty="0">
                <a:solidFill>
                  <a:srgbClr val="0F172A"/>
                </a:solidFill>
                <a:latin typeface="Liberation Sans Narrow" pitchFamily="34" charset="0"/>
                <a:ea typeface="Liberation Sans Narrow" pitchFamily="34" charset="-122"/>
                <a:cs typeface="Liberation Sans Narrow" pitchFamily="34" charset="-120"/>
              </a:rPr>
              <a:t> of Fortune 100</a:t>
            </a:r>
            <a:endParaRPr lang="en-US" sz="956" dirty="0"/>
          </a:p>
        </p:txBody>
      </p:sp>
      <p:sp>
        <p:nvSpPr>
          <p:cNvPr id="31" name="Shape 29"/>
          <p:cNvSpPr/>
          <p:nvPr/>
        </p:nvSpPr>
        <p:spPr>
          <a:xfrm>
            <a:off x="5572125" y="2828590"/>
            <a:ext cx="2943225" cy="0"/>
          </a:xfrm>
          <a:prstGeom prst="line">
            <a:avLst/>
          </a:prstGeom>
          <a:noFill/>
          <a:ln w="7144">
            <a:solidFill>
              <a:srgbClr val="FED7AA"/>
            </a:solidFill>
            <a:prstDash val="dash"/>
          </a:ln>
        </p:spPr>
      </p:sp>
      <p:sp>
        <p:nvSpPr>
          <p:cNvPr id="32" name="Text 30"/>
          <p:cNvSpPr/>
          <p:nvPr/>
        </p:nvSpPr>
        <p:spPr>
          <a:xfrm>
            <a:off x="5572125" y="2555788"/>
            <a:ext cx="171450" cy="171450"/>
          </a:xfrm>
          <a:prstGeom prst="rect">
            <a:avLst/>
          </a:prstGeom>
          <a:noFill/>
          <a:ln/>
        </p:spPr>
        <p:txBody>
          <a:bodyPr wrap="none" lIns="0" tIns="0" rIns="0" bIns="0" rtlCol="0" anchor="ctr"/>
          <a:lstStyle/>
          <a:p>
            <a:pPr marL="0" indent="0" algn="ctr">
              <a:buNone/>
            </a:pPr>
            <a:r>
              <a:rPr lang="en-US" sz="1688" dirty="0">
                <a:solidFill>
                  <a:srgbClr val="F97316"/>
                </a:solidFill>
                <a:latin typeface="Segoe UI Symbol" pitchFamily="34" charset="0"/>
                <a:ea typeface="Segoe UI Symbol" pitchFamily="34" charset="-122"/>
                <a:cs typeface="Segoe UI Symbol" pitchFamily="34" charset="-120"/>
              </a:rPr>
              <a:t>✓</a:t>
            </a:r>
            <a:endParaRPr lang="en-US" sz="1688" dirty="0"/>
          </a:p>
        </p:txBody>
      </p:sp>
      <p:sp>
        <p:nvSpPr>
          <p:cNvPr id="33" name="Text 31"/>
          <p:cNvSpPr/>
          <p:nvPr/>
        </p:nvSpPr>
        <p:spPr>
          <a:xfrm>
            <a:off x="5815013" y="2555788"/>
            <a:ext cx="2700338" cy="212080"/>
          </a:xfrm>
          <a:prstGeom prst="rect">
            <a:avLst/>
          </a:prstGeom>
          <a:noFill/>
          <a:ln/>
        </p:spPr>
        <p:txBody>
          <a:bodyPr wrap="none" lIns="0" tIns="0" rIns="0" bIns="0" rtlCol="0" anchor="t"/>
          <a:lstStyle/>
          <a:p>
            <a:pPr marL="0" indent="0" algn="l">
              <a:lnSpc>
                <a:spcPts val="1671"/>
              </a:lnSpc>
              <a:buNone/>
            </a:pPr>
            <a:r>
              <a:rPr lang="en-US" sz="956" dirty="0">
                <a:solidFill>
                  <a:srgbClr val="0F172A"/>
                </a:solidFill>
                <a:latin typeface="Carlito" pitchFamily="34" charset="0"/>
                <a:ea typeface="Carlito" pitchFamily="34" charset="-122"/>
                <a:cs typeface="Carlito" pitchFamily="34" charset="-120"/>
              </a:rPr>
              <a:t>Acquired by Red Hat (</a:t>
            </a:r>
            <a:r>
              <a:rPr lang="en-US" sz="1238" b="1" dirty="0">
                <a:solidFill>
                  <a:srgbClr val="C2410C"/>
                </a:solidFill>
                <a:latin typeface="Liberation Sans Narrow" pitchFamily="34" charset="0"/>
                <a:ea typeface="Liberation Sans Narrow" pitchFamily="34" charset="-122"/>
                <a:cs typeface="Liberation Sans Narrow" pitchFamily="34" charset="-120"/>
              </a:rPr>
              <a:t>2015</a:t>
            </a:r>
            <a:r>
              <a:rPr lang="en-US" sz="956" dirty="0">
                <a:solidFill>
                  <a:srgbClr val="0F172A"/>
                </a:solidFill>
                <a:latin typeface="Carlito" pitchFamily="34" charset="0"/>
                <a:ea typeface="Carlito" pitchFamily="34" charset="-122"/>
                <a:cs typeface="Carlito" pitchFamily="34" charset="-120"/>
              </a:rPr>
              <a:t>)</a:t>
            </a:r>
            <a:endParaRPr lang="en-US" sz="956" dirty="0"/>
          </a:p>
        </p:txBody>
      </p:sp>
      <p:sp>
        <p:nvSpPr>
          <p:cNvPr id="34" name="Text 32"/>
          <p:cNvSpPr/>
          <p:nvPr/>
        </p:nvSpPr>
        <p:spPr>
          <a:xfrm>
            <a:off x="5572125" y="2889312"/>
            <a:ext cx="171450" cy="171450"/>
          </a:xfrm>
          <a:prstGeom prst="rect">
            <a:avLst/>
          </a:prstGeom>
          <a:noFill/>
          <a:ln/>
        </p:spPr>
        <p:txBody>
          <a:bodyPr wrap="none" lIns="0" tIns="0" rIns="0" bIns="0" rtlCol="0" anchor="ctr"/>
          <a:lstStyle/>
          <a:p>
            <a:pPr marL="0" indent="0" algn="ctr">
              <a:buNone/>
            </a:pPr>
            <a:r>
              <a:rPr lang="en-US" sz="1688" dirty="0">
                <a:solidFill>
                  <a:srgbClr val="F97316"/>
                </a:solidFill>
                <a:latin typeface="Segoe UI Symbol" pitchFamily="34" charset="0"/>
                <a:ea typeface="Segoe UI Symbol" pitchFamily="34" charset="-122"/>
                <a:cs typeface="Segoe UI Symbol" pitchFamily="34" charset="-120"/>
              </a:rPr>
              <a:t>✦</a:t>
            </a:r>
            <a:endParaRPr lang="en-US" sz="1688" dirty="0"/>
          </a:p>
        </p:txBody>
      </p:sp>
      <p:sp>
        <p:nvSpPr>
          <p:cNvPr id="35" name="Text 33"/>
          <p:cNvSpPr/>
          <p:nvPr/>
        </p:nvSpPr>
        <p:spPr>
          <a:xfrm>
            <a:off x="5815013" y="2889312"/>
            <a:ext cx="2700338" cy="229046"/>
          </a:xfrm>
          <a:prstGeom prst="rect">
            <a:avLst/>
          </a:prstGeom>
          <a:noFill/>
          <a:ln/>
        </p:spPr>
        <p:txBody>
          <a:bodyPr wrap="none" lIns="0" tIns="0" rIns="0" bIns="0" rtlCol="0" anchor="t"/>
          <a:lstStyle/>
          <a:p>
            <a:pPr marL="0" indent="0" algn="l">
              <a:lnSpc>
                <a:spcPts val="1671"/>
              </a:lnSpc>
              <a:buNone/>
            </a:pPr>
            <a:r>
              <a:rPr lang="en-US" sz="956" dirty="0">
                <a:solidFill>
                  <a:srgbClr val="0F172A"/>
                </a:solidFill>
                <a:latin typeface="Carlito" pitchFamily="34" charset="0"/>
                <a:ea typeface="Carlito" pitchFamily="34" charset="-122"/>
                <a:cs typeface="Carlito" pitchFamily="34" charset="-120"/>
              </a:rPr>
              <a:t>Open source (</a:t>
            </a:r>
            <a:r>
              <a:rPr lang="en-US" sz="1238" b="1" dirty="0">
                <a:solidFill>
                  <a:srgbClr val="C2410C"/>
                </a:solidFill>
                <a:latin typeface="Liberation Sans Narrow" pitchFamily="34" charset="0"/>
                <a:ea typeface="Liberation Sans Narrow" pitchFamily="34" charset="-122"/>
                <a:cs typeface="Liberation Sans Narrow" pitchFamily="34" charset="-120"/>
              </a:rPr>
              <a:t>GPLv3</a:t>
            </a:r>
            <a:r>
              <a:rPr lang="en-US" sz="956" dirty="0">
                <a:solidFill>
                  <a:srgbClr val="0F172A"/>
                </a:solidFill>
                <a:latin typeface="Carlito" pitchFamily="34" charset="0"/>
                <a:ea typeface="Carlito" pitchFamily="34" charset="-122"/>
                <a:cs typeface="Carlito" pitchFamily="34" charset="-120"/>
              </a:rPr>
              <a:t>)</a:t>
            </a:r>
            <a:endParaRPr lang="en-US" sz="956"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00050" y="342900"/>
            <a:ext cx="4300967" cy="356348"/>
          </a:xfrm>
          <a:prstGeom prst="rect">
            <a:avLst/>
          </a:prstGeom>
          <a:noFill/>
          <a:ln/>
        </p:spPr>
        <p:txBody>
          <a:bodyPr wrap="none" lIns="0" tIns="0" rIns="0" bIns="0" rtlCol="0" anchor="t"/>
          <a:lstStyle/>
          <a:p>
            <a:pPr marL="0" indent="0" algn="l">
              <a:lnSpc>
                <a:spcPts val="2599"/>
              </a:lnSpc>
              <a:buNone/>
            </a:pPr>
            <a:r>
              <a:rPr lang="en-US" sz="2363" b="1" dirty="0">
                <a:solidFill>
                  <a:srgbClr val="0F172A"/>
                </a:solidFill>
                <a:latin typeface="Carlito" pitchFamily="34" charset="0"/>
                <a:ea typeface="Carlito" pitchFamily="34" charset="-122"/>
                <a:cs typeface="Carlito" pitchFamily="34" charset="-120"/>
              </a:rPr>
              <a:t>Ansible vs Chef vs Puppet</a:t>
            </a:r>
            <a:endParaRPr lang="en-US" sz="2363" dirty="0"/>
          </a:p>
        </p:txBody>
      </p:sp>
      <p:sp>
        <p:nvSpPr>
          <p:cNvPr id="3" name="Text 1"/>
          <p:cNvSpPr/>
          <p:nvPr/>
        </p:nvSpPr>
        <p:spPr>
          <a:xfrm>
            <a:off x="400050" y="758577"/>
            <a:ext cx="571500" cy="42863"/>
          </a:xfrm>
          <a:prstGeom prst="roundRect">
            <a:avLst>
              <a:gd name="adj" fmla="val 66666"/>
            </a:avLst>
          </a:prstGeom>
          <a:solidFill>
            <a:srgbClr val="F97316"/>
          </a:solidFill>
          <a:ln/>
        </p:spPr>
        <p:txBody>
          <a:bodyPr wrap="square" rtlCol="0" anchor="ctr"/>
          <a:lstStyle/>
          <a:p>
            <a:pPr marL="0" indent="0">
              <a:buNone/>
            </a:pPr>
            <a:endParaRPr lang="en-US" dirty="0"/>
          </a:p>
        </p:txBody>
      </p:sp>
      <p:sp>
        <p:nvSpPr>
          <p:cNvPr id="4" name="Text 2"/>
          <p:cNvSpPr/>
          <p:nvPr/>
        </p:nvSpPr>
        <p:spPr>
          <a:xfrm>
            <a:off x="400050" y="858589"/>
            <a:ext cx="4096159" cy="194328"/>
          </a:xfrm>
          <a:prstGeom prst="rect">
            <a:avLst/>
          </a:prstGeom>
          <a:noFill/>
          <a:ln/>
        </p:spPr>
        <p:txBody>
          <a:bodyPr wrap="square" lIns="0" tIns="0" rIns="0" bIns="0" rtlCol="0" anchor="t"/>
          <a:lstStyle/>
          <a:p>
            <a:pPr marL="0" indent="0" algn="l">
              <a:lnSpc>
                <a:spcPts val="1418"/>
              </a:lnSpc>
              <a:buNone/>
            </a:pPr>
            <a:r>
              <a:rPr lang="en-US" sz="1013" dirty="0">
                <a:solidFill>
                  <a:srgbClr val="64748B"/>
                </a:solidFill>
                <a:latin typeface="Carlito" pitchFamily="34" charset="0"/>
                <a:ea typeface="Carlito" pitchFamily="34" charset="-122"/>
                <a:cs typeface="Carlito" pitchFamily="34" charset="-120"/>
              </a:rPr>
              <a:t>Three configuration management giants — different design philosophies.</a:t>
            </a:r>
            <a:endParaRPr lang="en-US" sz="1013" dirty="0"/>
          </a:p>
        </p:txBody>
      </p:sp>
      <p:sp>
        <p:nvSpPr>
          <p:cNvPr id="5" name="Text 3"/>
          <p:cNvSpPr/>
          <p:nvPr/>
        </p:nvSpPr>
        <p:spPr>
          <a:xfrm>
            <a:off x="7299484" y="330098"/>
            <a:ext cx="1467326" cy="331333"/>
          </a:xfrm>
          <a:prstGeom prst="roundRect">
            <a:avLst>
              <a:gd name="adj" fmla="val 2871877"/>
            </a:avLst>
          </a:prstGeom>
          <a:solidFill>
            <a:srgbClr val="0F172A"/>
          </a:solidFill>
          <a:ln/>
        </p:spPr>
        <p:txBody>
          <a:bodyPr wrap="square" rtlCol="0" anchor="ctr"/>
          <a:lstStyle/>
          <a:p>
            <a:pPr marL="0" indent="0">
              <a:buNone/>
            </a:pPr>
            <a:endParaRPr lang="en-US" dirty="0"/>
          </a:p>
        </p:txBody>
      </p:sp>
      <p:sp>
        <p:nvSpPr>
          <p:cNvPr id="6" name="Text 4"/>
          <p:cNvSpPr/>
          <p:nvPr/>
        </p:nvSpPr>
        <p:spPr>
          <a:xfrm>
            <a:off x="7322344" y="342900"/>
            <a:ext cx="1421606" cy="305730"/>
          </a:xfrm>
          <a:prstGeom prst="rect">
            <a:avLst/>
          </a:prstGeom>
          <a:noFill/>
          <a:ln/>
        </p:spPr>
        <p:txBody>
          <a:bodyPr wrap="none" lIns="0" tIns="0" rIns="0" bIns="0" rtlCol="0" anchor="ctr"/>
          <a:lstStyle/>
          <a:p>
            <a:pPr marL="0" indent="0" algn="ctr">
              <a:lnSpc>
                <a:spcPts val="1733"/>
              </a:lnSpc>
              <a:buNone/>
            </a:pPr>
            <a:r>
              <a:rPr lang="en-US" sz="1238" b="1" kern="0" spc="28" dirty="0">
                <a:solidFill>
                  <a:srgbClr val="FFFFFF"/>
                </a:solidFill>
                <a:latin typeface="Liberation Sans Narrow" pitchFamily="34" charset="0"/>
                <a:ea typeface="Liberation Sans Narrow" pitchFamily="34" charset="-122"/>
                <a:cs typeface="Liberation Sans Narrow" pitchFamily="34" charset="-120"/>
              </a:rPr>
              <a:t>02 · Comparison</a:t>
            </a:r>
            <a:endParaRPr lang="en-US" sz="1238" dirty="0"/>
          </a:p>
        </p:txBody>
      </p:sp>
      <p:sp>
        <p:nvSpPr>
          <p:cNvPr id="7" name="Text 5"/>
          <p:cNvSpPr/>
          <p:nvPr/>
        </p:nvSpPr>
        <p:spPr>
          <a:xfrm>
            <a:off x="407194" y="1188541"/>
            <a:ext cx="2690738" cy="3126284"/>
          </a:xfrm>
          <a:prstGeom prst="roundRect">
            <a:avLst>
              <a:gd name="adj" fmla="val 4956"/>
            </a:avLst>
          </a:prstGeom>
          <a:solidFill>
            <a:srgbClr val="FFFFFF"/>
          </a:solidFill>
          <a:ln w="14288">
            <a:solidFill>
              <a:srgbClr val="F97316"/>
            </a:solidFill>
            <a:prstDash val="solid"/>
          </a:ln>
        </p:spPr>
        <p:txBody>
          <a:bodyPr wrap="square" rtlCol="0" anchor="ctr"/>
          <a:lstStyle/>
          <a:p>
            <a:pPr marL="0" indent="0">
              <a:buNone/>
            </a:pPr>
            <a:endParaRPr lang="en-US" dirty="0"/>
          </a:p>
        </p:txBody>
      </p:sp>
      <p:sp>
        <p:nvSpPr>
          <p:cNvPr id="8" name="Text 6"/>
          <p:cNvSpPr/>
          <p:nvPr/>
        </p:nvSpPr>
        <p:spPr>
          <a:xfrm>
            <a:off x="2169155" y="1114476"/>
            <a:ext cx="844481" cy="182398"/>
          </a:xfrm>
          <a:prstGeom prst="roundRect">
            <a:avLst>
              <a:gd name="adj" fmla="val 5216875"/>
            </a:avLst>
          </a:prstGeom>
          <a:solidFill>
            <a:srgbClr val="F97316"/>
          </a:solidFill>
          <a:ln/>
        </p:spPr>
        <p:txBody>
          <a:bodyPr wrap="square" rtlCol="0" anchor="ctr"/>
          <a:lstStyle/>
          <a:p>
            <a:pPr marL="0" indent="0">
              <a:buNone/>
            </a:pPr>
            <a:endParaRPr lang="en-US" dirty="0"/>
          </a:p>
        </p:txBody>
      </p:sp>
      <p:sp>
        <p:nvSpPr>
          <p:cNvPr id="9" name="Text 7"/>
          <p:cNvSpPr/>
          <p:nvPr/>
        </p:nvSpPr>
        <p:spPr>
          <a:xfrm>
            <a:off x="2164797" y="1124248"/>
            <a:ext cx="853196" cy="162855"/>
          </a:xfrm>
          <a:prstGeom prst="rect">
            <a:avLst/>
          </a:prstGeom>
          <a:noFill/>
          <a:ln/>
        </p:spPr>
        <p:txBody>
          <a:bodyPr wrap="none" lIns="0" tIns="0" rIns="0" bIns="0" rtlCol="0" anchor="ctr"/>
          <a:lstStyle/>
          <a:p>
            <a:pPr marL="0" indent="0" algn="ctr">
              <a:lnSpc>
                <a:spcPts val="945"/>
              </a:lnSpc>
              <a:buNone/>
            </a:pPr>
            <a:r>
              <a:rPr lang="en-US" sz="800" b="1" kern="0" spc="28" dirty="0">
                <a:solidFill>
                  <a:srgbClr val="FFFFFF"/>
                </a:solidFill>
                <a:latin typeface="Carlito" pitchFamily="34" charset="0"/>
                <a:ea typeface="Carlito" pitchFamily="34" charset="-122"/>
                <a:cs typeface="Carlito" pitchFamily="34" charset="-120"/>
              </a:rPr>
              <a:t>RECOMMENDED</a:t>
            </a:r>
            <a:endParaRPr lang="en-US" sz="800" dirty="0"/>
          </a:p>
        </p:txBody>
      </p:sp>
      <p:sp>
        <p:nvSpPr>
          <p:cNvPr id="10" name="Text 8"/>
          <p:cNvSpPr/>
          <p:nvPr/>
        </p:nvSpPr>
        <p:spPr>
          <a:xfrm>
            <a:off x="414338" y="1195685"/>
            <a:ext cx="2676451" cy="459991"/>
          </a:xfrm>
          <a:prstGeom prst="rect">
            <a:avLst/>
          </a:prstGeom>
          <a:solidFill>
            <a:srgbClr val="F97316"/>
          </a:solidFill>
          <a:ln/>
        </p:spPr>
        <p:txBody>
          <a:bodyPr wrap="square" rtlCol="0" anchor="ctr"/>
          <a:lstStyle/>
          <a:p>
            <a:pPr marL="0" indent="0">
              <a:buNone/>
            </a:pPr>
            <a:endParaRPr lang="en-US" dirty="0"/>
          </a:p>
        </p:txBody>
      </p:sp>
      <p:sp>
        <p:nvSpPr>
          <p:cNvPr id="11" name="Text 9"/>
          <p:cNvSpPr/>
          <p:nvPr/>
        </p:nvSpPr>
        <p:spPr>
          <a:xfrm>
            <a:off x="652595" y="1302841"/>
            <a:ext cx="884705" cy="254603"/>
          </a:xfrm>
          <a:prstGeom prst="rect">
            <a:avLst/>
          </a:prstGeom>
          <a:noFill/>
          <a:ln/>
        </p:spPr>
        <p:txBody>
          <a:bodyPr wrap="none" lIns="128588" tIns="100013" rIns="128588" bIns="100013" rtlCol="0" anchor="t"/>
          <a:lstStyle/>
          <a:p>
            <a:pPr marL="0" indent="0" algn="l">
              <a:lnSpc>
                <a:spcPts val="2047"/>
              </a:lnSpc>
              <a:buNone/>
            </a:pPr>
            <a:r>
              <a:rPr lang="en-US" sz="1463" b="1" dirty="0">
                <a:solidFill>
                  <a:srgbClr val="FFFFFF"/>
                </a:solidFill>
                <a:latin typeface="Carlito" pitchFamily="34" charset="0"/>
                <a:ea typeface="Carlito" pitchFamily="34" charset="-122"/>
                <a:cs typeface="Carlito" pitchFamily="34" charset="-120"/>
              </a:rPr>
              <a:t>Ansible</a:t>
            </a:r>
            <a:endParaRPr lang="en-US" sz="1463" dirty="0"/>
          </a:p>
        </p:txBody>
      </p:sp>
      <p:sp>
        <p:nvSpPr>
          <p:cNvPr id="12" name="Text 10"/>
          <p:cNvSpPr/>
          <p:nvPr/>
        </p:nvSpPr>
        <p:spPr>
          <a:xfrm>
            <a:off x="542925" y="1332756"/>
            <a:ext cx="185738" cy="185738"/>
          </a:xfrm>
          <a:prstGeom prst="rect">
            <a:avLst/>
          </a:prstGeom>
          <a:noFill/>
          <a:ln/>
        </p:spPr>
        <p:txBody>
          <a:bodyPr wrap="none" lIns="0" tIns="0" rIns="0" bIns="0" rtlCol="0" anchor="ctr"/>
          <a:lstStyle/>
          <a:p>
            <a:pPr marL="0" indent="0" algn="ctr">
              <a:buNone/>
            </a:pPr>
            <a:r>
              <a:rPr lang="en-US" sz="1828" dirty="0">
                <a:solidFill>
                  <a:srgbClr val="FFFFFF"/>
                </a:solidFill>
                <a:latin typeface="Segoe UI Symbol" pitchFamily="34" charset="0"/>
                <a:ea typeface="Segoe UI Symbol" pitchFamily="34" charset="-122"/>
                <a:cs typeface="Segoe UI Symbol" pitchFamily="34" charset="-120"/>
              </a:rPr>
              <a:t>✦</a:t>
            </a:r>
            <a:endParaRPr lang="en-US" sz="1828" dirty="0"/>
          </a:p>
        </p:txBody>
      </p:sp>
      <p:sp>
        <p:nvSpPr>
          <p:cNvPr id="13" name="Text 11"/>
          <p:cNvSpPr/>
          <p:nvPr/>
        </p:nvSpPr>
        <p:spPr>
          <a:xfrm>
            <a:off x="414338" y="1655676"/>
            <a:ext cx="2676451" cy="275034"/>
          </a:xfrm>
          <a:prstGeom prst="rect">
            <a:avLst/>
          </a:prstGeom>
          <a:solidFill>
            <a:srgbClr val="F8FAFC"/>
          </a:solidFill>
          <a:ln/>
        </p:spPr>
        <p:txBody>
          <a:bodyPr wrap="square" rtlCol="0" anchor="ctr"/>
          <a:lstStyle/>
          <a:p>
            <a:pPr marL="0" indent="0">
              <a:buNone/>
            </a:pPr>
            <a:endParaRPr lang="en-US" dirty="0"/>
          </a:p>
        </p:txBody>
      </p:sp>
      <p:sp>
        <p:nvSpPr>
          <p:cNvPr id="14" name="Shape 12"/>
          <p:cNvSpPr/>
          <p:nvPr/>
        </p:nvSpPr>
        <p:spPr>
          <a:xfrm>
            <a:off x="414338" y="1659248"/>
            <a:ext cx="2676451" cy="0"/>
          </a:xfrm>
          <a:prstGeom prst="line">
            <a:avLst/>
          </a:prstGeom>
          <a:noFill/>
          <a:ln w="7144">
            <a:solidFill>
              <a:srgbClr val="CBD5E1"/>
            </a:solidFill>
            <a:prstDash val="solid"/>
          </a:ln>
        </p:spPr>
      </p:sp>
      <p:sp>
        <p:nvSpPr>
          <p:cNvPr id="15" name="Text 13"/>
          <p:cNvSpPr/>
          <p:nvPr/>
        </p:nvSpPr>
        <p:spPr>
          <a:xfrm>
            <a:off x="528638" y="1736378"/>
            <a:ext cx="1121071" cy="130039"/>
          </a:xfrm>
          <a:prstGeom prst="rect">
            <a:avLst/>
          </a:prstGeom>
          <a:noFill/>
          <a:ln/>
        </p:spPr>
        <p:txBody>
          <a:bodyPr wrap="none" lIns="0" tIns="0" rIns="0" bIns="0" rtlCol="0" anchor="t"/>
          <a:lstStyle/>
          <a:p>
            <a:pPr marL="0" indent="0" algn="l">
              <a:lnSpc>
                <a:spcPts val="951"/>
              </a:lnSpc>
              <a:buNone/>
            </a:pPr>
            <a:r>
              <a:rPr lang="en-US" sz="800" b="1" kern="0" spc="28" dirty="0">
                <a:solidFill>
                  <a:srgbClr val="64748B"/>
                </a:solidFill>
                <a:latin typeface="Courier New" pitchFamily="34" charset="0"/>
                <a:ea typeface="Courier New" pitchFamily="34" charset="-122"/>
                <a:cs typeface="Courier New" pitchFamily="34" charset="-120"/>
              </a:rPr>
              <a:t>ARCHITECTURE</a:t>
            </a:r>
            <a:endParaRPr lang="en-US" sz="800" dirty="0"/>
          </a:p>
        </p:txBody>
      </p:sp>
      <p:sp>
        <p:nvSpPr>
          <p:cNvPr id="16" name="Text 14"/>
          <p:cNvSpPr/>
          <p:nvPr/>
        </p:nvSpPr>
        <p:spPr>
          <a:xfrm>
            <a:off x="1457325" y="1727113"/>
            <a:ext cx="1519163" cy="139303"/>
          </a:xfrm>
          <a:prstGeom prst="rect">
            <a:avLst/>
          </a:prstGeom>
          <a:noFill/>
          <a:ln/>
        </p:spPr>
        <p:txBody>
          <a:bodyPr wrap="none" lIns="0" tIns="0" rIns="0" bIns="0" rtlCol="0" anchor="t"/>
          <a:lstStyle/>
          <a:p>
            <a:pPr marL="0" indent="0" algn="l">
              <a:lnSpc>
                <a:spcPts val="1097"/>
              </a:lnSpc>
              <a:buNone/>
            </a:pPr>
            <a:r>
              <a:rPr lang="en-US" sz="844" dirty="0">
                <a:solidFill>
                  <a:srgbClr val="0F172A"/>
                </a:solidFill>
                <a:latin typeface="Carlito" pitchFamily="34" charset="0"/>
                <a:ea typeface="Carlito" pitchFamily="34" charset="-122"/>
                <a:cs typeface="Carlito" pitchFamily="34" charset="-120"/>
              </a:rPr>
              <a:t>Agentless</a:t>
            </a:r>
            <a:endParaRPr lang="en-US" sz="844" dirty="0"/>
          </a:p>
        </p:txBody>
      </p:sp>
      <p:sp>
        <p:nvSpPr>
          <p:cNvPr id="17" name="Shape 15"/>
          <p:cNvSpPr/>
          <p:nvPr/>
        </p:nvSpPr>
        <p:spPr>
          <a:xfrm>
            <a:off x="414338" y="1934282"/>
            <a:ext cx="2676451" cy="0"/>
          </a:xfrm>
          <a:prstGeom prst="line">
            <a:avLst/>
          </a:prstGeom>
          <a:noFill/>
          <a:ln w="7144">
            <a:solidFill>
              <a:srgbClr val="CBD5E1"/>
            </a:solidFill>
            <a:prstDash val="solid"/>
          </a:ln>
        </p:spPr>
      </p:sp>
      <p:sp>
        <p:nvSpPr>
          <p:cNvPr id="18" name="Text 16"/>
          <p:cNvSpPr/>
          <p:nvPr/>
        </p:nvSpPr>
        <p:spPr>
          <a:xfrm>
            <a:off x="528638" y="2011412"/>
            <a:ext cx="1221369" cy="130039"/>
          </a:xfrm>
          <a:prstGeom prst="rect">
            <a:avLst/>
          </a:prstGeom>
          <a:noFill/>
          <a:ln/>
        </p:spPr>
        <p:txBody>
          <a:bodyPr wrap="none" lIns="0" tIns="0" rIns="0" bIns="0" rtlCol="0" anchor="t"/>
          <a:lstStyle/>
          <a:p>
            <a:pPr marL="0" indent="0" algn="l">
              <a:lnSpc>
                <a:spcPts val="951"/>
              </a:lnSpc>
              <a:buNone/>
            </a:pPr>
            <a:r>
              <a:rPr lang="en-US" sz="800" b="1" kern="0" spc="28" dirty="0">
                <a:solidFill>
                  <a:srgbClr val="64748B"/>
                </a:solidFill>
                <a:latin typeface="Courier New" pitchFamily="34" charset="0"/>
                <a:ea typeface="Courier New" pitchFamily="34" charset="-122"/>
                <a:cs typeface="Courier New" pitchFamily="34" charset="-120"/>
              </a:rPr>
              <a:t>PROTOCOL</a:t>
            </a:r>
            <a:endParaRPr lang="en-US" sz="800" dirty="0"/>
          </a:p>
        </p:txBody>
      </p:sp>
      <p:sp>
        <p:nvSpPr>
          <p:cNvPr id="19" name="Text 17"/>
          <p:cNvSpPr/>
          <p:nvPr/>
        </p:nvSpPr>
        <p:spPr>
          <a:xfrm>
            <a:off x="1457325" y="2002148"/>
            <a:ext cx="1519163" cy="139303"/>
          </a:xfrm>
          <a:prstGeom prst="rect">
            <a:avLst/>
          </a:prstGeom>
          <a:noFill/>
          <a:ln/>
        </p:spPr>
        <p:txBody>
          <a:bodyPr wrap="none" lIns="0" tIns="0" rIns="0" bIns="0" rtlCol="0" anchor="t"/>
          <a:lstStyle/>
          <a:p>
            <a:pPr marL="0" indent="0" algn="l">
              <a:lnSpc>
                <a:spcPts val="1097"/>
              </a:lnSpc>
              <a:buNone/>
            </a:pPr>
            <a:r>
              <a:rPr lang="en-US" sz="844" dirty="0">
                <a:solidFill>
                  <a:srgbClr val="0F172A"/>
                </a:solidFill>
                <a:latin typeface="Carlito" pitchFamily="34" charset="0"/>
                <a:ea typeface="Carlito" pitchFamily="34" charset="-122"/>
                <a:cs typeface="Carlito" pitchFamily="34" charset="-120"/>
              </a:rPr>
              <a:t>SSH / WinRM</a:t>
            </a:r>
            <a:endParaRPr lang="en-US" sz="844" dirty="0"/>
          </a:p>
        </p:txBody>
      </p:sp>
      <p:sp>
        <p:nvSpPr>
          <p:cNvPr id="20" name="Text 18"/>
          <p:cNvSpPr/>
          <p:nvPr/>
        </p:nvSpPr>
        <p:spPr>
          <a:xfrm>
            <a:off x="414338" y="2205744"/>
            <a:ext cx="2676451" cy="275034"/>
          </a:xfrm>
          <a:prstGeom prst="rect">
            <a:avLst/>
          </a:prstGeom>
          <a:solidFill>
            <a:srgbClr val="F8FAFC"/>
          </a:solidFill>
          <a:ln/>
        </p:spPr>
        <p:txBody>
          <a:bodyPr wrap="square" rtlCol="0" anchor="ctr"/>
          <a:lstStyle/>
          <a:p>
            <a:pPr marL="0" indent="0">
              <a:buNone/>
            </a:pPr>
            <a:endParaRPr lang="en-US" dirty="0"/>
          </a:p>
        </p:txBody>
      </p:sp>
      <p:sp>
        <p:nvSpPr>
          <p:cNvPr id="21" name="Shape 19"/>
          <p:cNvSpPr/>
          <p:nvPr/>
        </p:nvSpPr>
        <p:spPr>
          <a:xfrm>
            <a:off x="414338" y="2209316"/>
            <a:ext cx="2676451" cy="0"/>
          </a:xfrm>
          <a:prstGeom prst="line">
            <a:avLst/>
          </a:prstGeom>
          <a:noFill/>
          <a:ln w="7144">
            <a:solidFill>
              <a:srgbClr val="CBD5E1"/>
            </a:solidFill>
            <a:prstDash val="solid"/>
          </a:ln>
        </p:spPr>
      </p:sp>
      <p:sp>
        <p:nvSpPr>
          <p:cNvPr id="22" name="Text 20"/>
          <p:cNvSpPr/>
          <p:nvPr/>
        </p:nvSpPr>
        <p:spPr>
          <a:xfrm>
            <a:off x="528638" y="2286446"/>
            <a:ext cx="1221369" cy="130039"/>
          </a:xfrm>
          <a:prstGeom prst="rect">
            <a:avLst/>
          </a:prstGeom>
          <a:noFill/>
          <a:ln/>
        </p:spPr>
        <p:txBody>
          <a:bodyPr wrap="none" lIns="0" tIns="0" rIns="0" bIns="0" rtlCol="0" anchor="t"/>
          <a:lstStyle/>
          <a:p>
            <a:pPr marL="0" indent="0" algn="l">
              <a:lnSpc>
                <a:spcPts val="951"/>
              </a:lnSpc>
              <a:buNone/>
            </a:pPr>
            <a:r>
              <a:rPr lang="en-US" sz="800" b="1" kern="0" spc="28" dirty="0">
                <a:solidFill>
                  <a:srgbClr val="64748B"/>
                </a:solidFill>
                <a:latin typeface="Courier New" pitchFamily="34" charset="0"/>
                <a:ea typeface="Courier New" pitchFamily="34" charset="-122"/>
                <a:cs typeface="Courier New" pitchFamily="34" charset="-120"/>
              </a:rPr>
              <a:t>LANGUAGE</a:t>
            </a:r>
            <a:endParaRPr lang="en-US" sz="800" dirty="0"/>
          </a:p>
        </p:txBody>
      </p:sp>
      <p:sp>
        <p:nvSpPr>
          <p:cNvPr id="23" name="Text 21"/>
          <p:cNvSpPr/>
          <p:nvPr/>
        </p:nvSpPr>
        <p:spPr>
          <a:xfrm>
            <a:off x="1457325" y="2277182"/>
            <a:ext cx="1519163" cy="139303"/>
          </a:xfrm>
          <a:prstGeom prst="rect">
            <a:avLst/>
          </a:prstGeom>
          <a:noFill/>
          <a:ln/>
        </p:spPr>
        <p:txBody>
          <a:bodyPr wrap="none" lIns="0" tIns="0" rIns="0" bIns="0" rtlCol="0" anchor="t"/>
          <a:lstStyle/>
          <a:p>
            <a:pPr marL="0" indent="0" algn="l">
              <a:lnSpc>
                <a:spcPts val="1097"/>
              </a:lnSpc>
              <a:buNone/>
            </a:pPr>
            <a:r>
              <a:rPr lang="en-US" sz="844" dirty="0">
                <a:solidFill>
                  <a:srgbClr val="0F172A"/>
                </a:solidFill>
                <a:latin typeface="Carlito" pitchFamily="34" charset="0"/>
                <a:ea typeface="Carlito" pitchFamily="34" charset="-122"/>
                <a:cs typeface="Carlito" pitchFamily="34" charset="-120"/>
              </a:rPr>
              <a:t>YAML (declarative)</a:t>
            </a:r>
            <a:endParaRPr lang="en-US" sz="844" dirty="0"/>
          </a:p>
        </p:txBody>
      </p:sp>
      <p:sp>
        <p:nvSpPr>
          <p:cNvPr id="24" name="Shape 22"/>
          <p:cNvSpPr/>
          <p:nvPr/>
        </p:nvSpPr>
        <p:spPr>
          <a:xfrm>
            <a:off x="414338" y="2484351"/>
            <a:ext cx="2676451" cy="0"/>
          </a:xfrm>
          <a:prstGeom prst="line">
            <a:avLst/>
          </a:prstGeom>
          <a:noFill/>
          <a:ln w="7144">
            <a:solidFill>
              <a:srgbClr val="CBD5E1"/>
            </a:solidFill>
            <a:prstDash val="solid"/>
          </a:ln>
        </p:spPr>
      </p:sp>
      <p:sp>
        <p:nvSpPr>
          <p:cNvPr id="25" name="Text 23"/>
          <p:cNvSpPr/>
          <p:nvPr/>
        </p:nvSpPr>
        <p:spPr>
          <a:xfrm>
            <a:off x="528638" y="2561481"/>
            <a:ext cx="1121071" cy="130039"/>
          </a:xfrm>
          <a:prstGeom prst="rect">
            <a:avLst/>
          </a:prstGeom>
          <a:noFill/>
          <a:ln/>
        </p:spPr>
        <p:txBody>
          <a:bodyPr wrap="none" lIns="0" tIns="0" rIns="0" bIns="0" rtlCol="0" anchor="t"/>
          <a:lstStyle/>
          <a:p>
            <a:pPr marL="0" indent="0" algn="l">
              <a:lnSpc>
                <a:spcPts val="951"/>
              </a:lnSpc>
              <a:buNone/>
            </a:pPr>
            <a:r>
              <a:rPr lang="en-US" sz="800" b="1" kern="0" spc="28" dirty="0">
                <a:solidFill>
                  <a:srgbClr val="64748B"/>
                </a:solidFill>
                <a:latin typeface="Courier New" pitchFamily="34" charset="0"/>
                <a:ea typeface="Courier New" pitchFamily="34" charset="-122"/>
                <a:cs typeface="Courier New" pitchFamily="34" charset="-120"/>
              </a:rPr>
              <a:t>LEARNING CURVE</a:t>
            </a:r>
            <a:endParaRPr lang="en-US" sz="800" dirty="0"/>
          </a:p>
        </p:txBody>
      </p:sp>
      <p:sp>
        <p:nvSpPr>
          <p:cNvPr id="26" name="Text 24"/>
          <p:cNvSpPr/>
          <p:nvPr/>
        </p:nvSpPr>
        <p:spPr>
          <a:xfrm>
            <a:off x="1457325" y="2552216"/>
            <a:ext cx="1519163" cy="139303"/>
          </a:xfrm>
          <a:prstGeom prst="rect">
            <a:avLst/>
          </a:prstGeom>
          <a:noFill/>
          <a:ln/>
        </p:spPr>
        <p:txBody>
          <a:bodyPr wrap="none" lIns="0" tIns="0" rIns="0" bIns="0" rtlCol="0" anchor="t"/>
          <a:lstStyle/>
          <a:p>
            <a:pPr marL="0" indent="0" algn="l">
              <a:lnSpc>
                <a:spcPts val="1097"/>
              </a:lnSpc>
              <a:buNone/>
            </a:pPr>
            <a:r>
              <a:rPr lang="en-US" sz="844" dirty="0">
                <a:solidFill>
                  <a:srgbClr val="0F172A"/>
                </a:solidFill>
                <a:latin typeface="Carlito" pitchFamily="34" charset="0"/>
                <a:ea typeface="Carlito" pitchFamily="34" charset="-122"/>
                <a:cs typeface="Carlito" pitchFamily="34" charset="-120"/>
              </a:rPr>
              <a:t>Gentle (hours)</a:t>
            </a:r>
            <a:endParaRPr lang="en-US" sz="844" dirty="0"/>
          </a:p>
        </p:txBody>
      </p:sp>
      <p:sp>
        <p:nvSpPr>
          <p:cNvPr id="27" name="Text 25"/>
          <p:cNvSpPr/>
          <p:nvPr/>
        </p:nvSpPr>
        <p:spPr>
          <a:xfrm>
            <a:off x="414338" y="2755813"/>
            <a:ext cx="2676451" cy="275034"/>
          </a:xfrm>
          <a:prstGeom prst="rect">
            <a:avLst/>
          </a:prstGeom>
          <a:solidFill>
            <a:srgbClr val="F8FAFC"/>
          </a:solidFill>
          <a:ln/>
        </p:spPr>
        <p:txBody>
          <a:bodyPr wrap="square" rtlCol="0" anchor="ctr"/>
          <a:lstStyle/>
          <a:p>
            <a:pPr marL="0" indent="0">
              <a:buNone/>
            </a:pPr>
            <a:endParaRPr lang="en-US" dirty="0"/>
          </a:p>
        </p:txBody>
      </p:sp>
      <p:sp>
        <p:nvSpPr>
          <p:cNvPr id="28" name="Shape 26"/>
          <p:cNvSpPr/>
          <p:nvPr/>
        </p:nvSpPr>
        <p:spPr>
          <a:xfrm>
            <a:off x="414338" y="2759385"/>
            <a:ext cx="2676451" cy="0"/>
          </a:xfrm>
          <a:prstGeom prst="line">
            <a:avLst/>
          </a:prstGeom>
          <a:noFill/>
          <a:ln w="7144">
            <a:solidFill>
              <a:srgbClr val="CBD5E1"/>
            </a:solidFill>
            <a:prstDash val="solid"/>
          </a:ln>
        </p:spPr>
      </p:sp>
      <p:sp>
        <p:nvSpPr>
          <p:cNvPr id="29" name="Text 27"/>
          <p:cNvSpPr/>
          <p:nvPr/>
        </p:nvSpPr>
        <p:spPr>
          <a:xfrm>
            <a:off x="528638" y="2836515"/>
            <a:ext cx="1221369" cy="130039"/>
          </a:xfrm>
          <a:prstGeom prst="rect">
            <a:avLst/>
          </a:prstGeom>
          <a:noFill/>
          <a:ln/>
        </p:spPr>
        <p:txBody>
          <a:bodyPr wrap="none" lIns="0" tIns="0" rIns="0" bIns="0" rtlCol="0" anchor="t"/>
          <a:lstStyle/>
          <a:p>
            <a:pPr marL="0" indent="0" algn="l">
              <a:lnSpc>
                <a:spcPts val="951"/>
              </a:lnSpc>
              <a:buNone/>
            </a:pPr>
            <a:r>
              <a:rPr lang="en-US" sz="800" b="1" kern="0" spc="28" dirty="0">
                <a:solidFill>
                  <a:srgbClr val="C2410C"/>
                </a:solidFill>
                <a:latin typeface="Courier New" pitchFamily="34" charset="0"/>
                <a:ea typeface="Courier New" pitchFamily="34" charset="-122"/>
                <a:cs typeface="Courier New" pitchFamily="34" charset="-120"/>
              </a:rPr>
              <a:t>BEST FOR</a:t>
            </a:r>
            <a:endParaRPr lang="en-US" sz="800" dirty="0"/>
          </a:p>
        </p:txBody>
      </p:sp>
      <p:sp>
        <p:nvSpPr>
          <p:cNvPr id="30" name="Text 28"/>
          <p:cNvSpPr/>
          <p:nvPr/>
        </p:nvSpPr>
        <p:spPr>
          <a:xfrm>
            <a:off x="1457325" y="2827251"/>
            <a:ext cx="1519163" cy="139303"/>
          </a:xfrm>
          <a:prstGeom prst="rect">
            <a:avLst/>
          </a:prstGeom>
          <a:noFill/>
          <a:ln/>
        </p:spPr>
        <p:txBody>
          <a:bodyPr wrap="none" lIns="0" tIns="0" rIns="0" bIns="0" rtlCol="0" anchor="t"/>
          <a:lstStyle/>
          <a:p>
            <a:pPr marL="0" indent="0" algn="l">
              <a:lnSpc>
                <a:spcPts val="1097"/>
              </a:lnSpc>
              <a:buNone/>
            </a:pPr>
            <a:r>
              <a:rPr lang="en-US" sz="844" dirty="0">
                <a:solidFill>
                  <a:srgbClr val="0F172A"/>
                </a:solidFill>
                <a:latin typeface="Carlito" pitchFamily="34" charset="0"/>
                <a:ea typeface="Carlito" pitchFamily="34" charset="-122"/>
                <a:cs typeface="Carlito" pitchFamily="34" charset="-120"/>
              </a:rPr>
              <a:t>Ad-hoc + recurring config</a:t>
            </a:r>
            <a:endParaRPr lang="en-US" sz="844" dirty="0"/>
          </a:p>
        </p:txBody>
      </p:sp>
      <p:sp>
        <p:nvSpPr>
          <p:cNvPr id="31" name="Text 29"/>
          <p:cNvSpPr/>
          <p:nvPr/>
        </p:nvSpPr>
        <p:spPr>
          <a:xfrm>
            <a:off x="3222947" y="1184970"/>
            <a:ext cx="2697993" cy="3133427"/>
          </a:xfrm>
          <a:prstGeom prst="roundRect">
            <a:avLst>
              <a:gd name="adj" fmla="val 4943"/>
            </a:avLst>
          </a:prstGeom>
          <a:solidFill>
            <a:srgbClr val="FFFFFF"/>
          </a:solidFill>
          <a:ln w="7144">
            <a:solidFill>
              <a:srgbClr val="CBD5E1"/>
            </a:solidFill>
            <a:prstDash val="solid"/>
          </a:ln>
        </p:spPr>
        <p:txBody>
          <a:bodyPr wrap="square" rtlCol="0" anchor="ctr"/>
          <a:lstStyle/>
          <a:p>
            <a:pPr marL="0" indent="0">
              <a:buNone/>
            </a:pPr>
            <a:endParaRPr lang="en-US" dirty="0"/>
          </a:p>
        </p:txBody>
      </p:sp>
      <p:sp>
        <p:nvSpPr>
          <p:cNvPr id="32" name="Text 30"/>
          <p:cNvSpPr/>
          <p:nvPr/>
        </p:nvSpPr>
        <p:spPr>
          <a:xfrm>
            <a:off x="3226519" y="1188541"/>
            <a:ext cx="2690850" cy="459991"/>
          </a:xfrm>
          <a:prstGeom prst="rect">
            <a:avLst/>
          </a:prstGeom>
          <a:solidFill>
            <a:srgbClr val="334155"/>
          </a:solidFill>
          <a:ln/>
        </p:spPr>
        <p:txBody>
          <a:bodyPr wrap="square" rtlCol="0" anchor="ctr"/>
          <a:lstStyle/>
          <a:p>
            <a:pPr marL="0" indent="0">
              <a:buNone/>
            </a:pPr>
            <a:endParaRPr lang="en-US" dirty="0"/>
          </a:p>
        </p:txBody>
      </p:sp>
      <p:sp>
        <p:nvSpPr>
          <p:cNvPr id="33" name="Text 31"/>
          <p:cNvSpPr/>
          <p:nvPr/>
        </p:nvSpPr>
        <p:spPr>
          <a:xfrm>
            <a:off x="3526396" y="1295698"/>
            <a:ext cx="542799" cy="254603"/>
          </a:xfrm>
          <a:prstGeom prst="rect">
            <a:avLst/>
          </a:prstGeom>
          <a:noFill/>
          <a:ln/>
        </p:spPr>
        <p:txBody>
          <a:bodyPr wrap="none" lIns="128588" tIns="100013" rIns="128588" bIns="100013" rtlCol="0" anchor="t"/>
          <a:lstStyle/>
          <a:p>
            <a:pPr marL="0" indent="0" algn="l">
              <a:lnSpc>
                <a:spcPts val="2047"/>
              </a:lnSpc>
              <a:buNone/>
            </a:pPr>
            <a:r>
              <a:rPr lang="en-US" sz="1463" b="1" dirty="0">
                <a:solidFill>
                  <a:srgbClr val="FFFFFF"/>
                </a:solidFill>
                <a:latin typeface="Carlito" pitchFamily="34" charset="0"/>
                <a:ea typeface="Carlito" pitchFamily="34" charset="-122"/>
                <a:cs typeface="Carlito" pitchFamily="34" charset="-120"/>
              </a:rPr>
              <a:t>Chef</a:t>
            </a:r>
            <a:endParaRPr lang="en-US" sz="1463" dirty="0"/>
          </a:p>
        </p:txBody>
      </p:sp>
      <p:sp>
        <p:nvSpPr>
          <p:cNvPr id="34" name="Text 32"/>
          <p:cNvSpPr/>
          <p:nvPr/>
        </p:nvSpPr>
        <p:spPr>
          <a:xfrm>
            <a:off x="3355107" y="1325612"/>
            <a:ext cx="185738" cy="185738"/>
          </a:xfrm>
          <a:prstGeom prst="rect">
            <a:avLst/>
          </a:prstGeom>
          <a:noFill/>
          <a:ln/>
        </p:spPr>
        <p:txBody>
          <a:bodyPr wrap="none" lIns="0" tIns="0" rIns="0" bIns="0" rtlCol="0" anchor="ctr"/>
          <a:lstStyle/>
          <a:p>
            <a:pPr marL="0" indent="0" algn="ctr">
              <a:buNone/>
            </a:pPr>
            <a:r>
              <a:rPr lang="en-US" sz="1828" dirty="0">
                <a:solidFill>
                  <a:srgbClr val="FFFFFF"/>
                </a:solidFill>
                <a:latin typeface="Segoe UI Symbol" pitchFamily="34" charset="0"/>
                <a:ea typeface="Segoe UI Symbol" pitchFamily="34" charset="-122"/>
                <a:cs typeface="Segoe UI Symbol" pitchFamily="34" charset="-120"/>
              </a:rPr>
              <a:t>⊕</a:t>
            </a:r>
            <a:endParaRPr lang="en-US" sz="1828" dirty="0"/>
          </a:p>
        </p:txBody>
      </p:sp>
      <p:sp>
        <p:nvSpPr>
          <p:cNvPr id="35" name="Shape 33"/>
          <p:cNvSpPr/>
          <p:nvPr/>
        </p:nvSpPr>
        <p:spPr>
          <a:xfrm>
            <a:off x="3226519" y="1652104"/>
            <a:ext cx="2690850" cy="0"/>
          </a:xfrm>
          <a:prstGeom prst="line">
            <a:avLst/>
          </a:prstGeom>
          <a:noFill/>
          <a:ln w="7144">
            <a:solidFill>
              <a:srgbClr val="CBD5E1"/>
            </a:solidFill>
            <a:prstDash val="solid"/>
          </a:ln>
        </p:spPr>
      </p:sp>
      <p:sp>
        <p:nvSpPr>
          <p:cNvPr id="36" name="Text 34"/>
          <p:cNvSpPr/>
          <p:nvPr/>
        </p:nvSpPr>
        <p:spPr>
          <a:xfrm>
            <a:off x="3340819" y="1729234"/>
            <a:ext cx="1121071" cy="130039"/>
          </a:xfrm>
          <a:prstGeom prst="rect">
            <a:avLst/>
          </a:prstGeom>
          <a:noFill/>
          <a:ln/>
        </p:spPr>
        <p:txBody>
          <a:bodyPr wrap="none" lIns="0" tIns="0" rIns="0" bIns="0" rtlCol="0" anchor="t"/>
          <a:lstStyle/>
          <a:p>
            <a:pPr marL="0" indent="0" algn="l">
              <a:lnSpc>
                <a:spcPts val="951"/>
              </a:lnSpc>
              <a:buNone/>
            </a:pPr>
            <a:r>
              <a:rPr lang="en-US" sz="800" b="1" kern="0" spc="28" dirty="0">
                <a:solidFill>
                  <a:srgbClr val="64748B"/>
                </a:solidFill>
                <a:latin typeface="Courier New" pitchFamily="34" charset="0"/>
                <a:ea typeface="Courier New" pitchFamily="34" charset="-122"/>
                <a:cs typeface="Courier New" pitchFamily="34" charset="-120"/>
              </a:rPr>
              <a:t>ARCHITECTURE</a:t>
            </a:r>
            <a:endParaRPr lang="en-US" sz="800" dirty="0"/>
          </a:p>
        </p:txBody>
      </p:sp>
      <p:sp>
        <p:nvSpPr>
          <p:cNvPr id="37" name="Text 35"/>
          <p:cNvSpPr/>
          <p:nvPr/>
        </p:nvSpPr>
        <p:spPr>
          <a:xfrm>
            <a:off x="4269507" y="1719969"/>
            <a:ext cx="1625576" cy="139303"/>
          </a:xfrm>
          <a:prstGeom prst="rect">
            <a:avLst/>
          </a:prstGeom>
          <a:noFill/>
          <a:ln/>
        </p:spPr>
        <p:txBody>
          <a:bodyPr wrap="square" lIns="0" tIns="0" rIns="0" bIns="0" rtlCol="0" anchor="t"/>
          <a:lstStyle/>
          <a:p>
            <a:pPr marL="0" indent="0" algn="l">
              <a:lnSpc>
                <a:spcPts val="1097"/>
              </a:lnSpc>
              <a:buNone/>
            </a:pPr>
            <a:r>
              <a:rPr lang="en-US" sz="844" dirty="0">
                <a:solidFill>
                  <a:srgbClr val="0F172A"/>
                </a:solidFill>
                <a:latin typeface="Carlito" pitchFamily="34" charset="0"/>
                <a:ea typeface="Carlito" pitchFamily="34" charset="-122"/>
                <a:cs typeface="Carlito" pitchFamily="34" charset="-120"/>
              </a:rPr>
              <a:t>Agent-based (Chef Client)</a:t>
            </a:r>
            <a:endParaRPr lang="en-US" sz="844" dirty="0"/>
          </a:p>
        </p:txBody>
      </p:sp>
      <p:sp>
        <p:nvSpPr>
          <p:cNvPr id="38" name="Text 36"/>
          <p:cNvSpPr/>
          <p:nvPr/>
        </p:nvSpPr>
        <p:spPr>
          <a:xfrm>
            <a:off x="3226519" y="1923566"/>
            <a:ext cx="2690850" cy="275034"/>
          </a:xfrm>
          <a:prstGeom prst="rect">
            <a:avLst/>
          </a:prstGeom>
          <a:solidFill>
            <a:srgbClr val="F8FAFC"/>
          </a:solidFill>
          <a:ln/>
        </p:spPr>
        <p:txBody>
          <a:bodyPr wrap="square" rtlCol="0" anchor="ctr"/>
          <a:lstStyle/>
          <a:p>
            <a:pPr marL="0" indent="0">
              <a:buNone/>
            </a:pPr>
            <a:endParaRPr lang="en-US" dirty="0"/>
          </a:p>
        </p:txBody>
      </p:sp>
      <p:sp>
        <p:nvSpPr>
          <p:cNvPr id="39" name="Shape 37"/>
          <p:cNvSpPr/>
          <p:nvPr/>
        </p:nvSpPr>
        <p:spPr>
          <a:xfrm>
            <a:off x="3226519" y="1927138"/>
            <a:ext cx="2690850" cy="0"/>
          </a:xfrm>
          <a:prstGeom prst="line">
            <a:avLst/>
          </a:prstGeom>
          <a:noFill/>
          <a:ln w="7144">
            <a:solidFill>
              <a:srgbClr val="CBD5E1"/>
            </a:solidFill>
            <a:prstDash val="solid"/>
          </a:ln>
        </p:spPr>
      </p:sp>
      <p:sp>
        <p:nvSpPr>
          <p:cNvPr id="40" name="Text 38"/>
          <p:cNvSpPr/>
          <p:nvPr/>
        </p:nvSpPr>
        <p:spPr>
          <a:xfrm>
            <a:off x="3340819" y="2004268"/>
            <a:ext cx="1221369" cy="130039"/>
          </a:xfrm>
          <a:prstGeom prst="rect">
            <a:avLst/>
          </a:prstGeom>
          <a:noFill/>
          <a:ln/>
        </p:spPr>
        <p:txBody>
          <a:bodyPr wrap="none" lIns="0" tIns="0" rIns="0" bIns="0" rtlCol="0" anchor="t"/>
          <a:lstStyle/>
          <a:p>
            <a:pPr marL="0" indent="0" algn="l">
              <a:lnSpc>
                <a:spcPts val="951"/>
              </a:lnSpc>
              <a:buNone/>
            </a:pPr>
            <a:r>
              <a:rPr lang="en-US" sz="800" b="1" kern="0" spc="28" dirty="0">
                <a:solidFill>
                  <a:srgbClr val="64748B"/>
                </a:solidFill>
                <a:latin typeface="Courier New" pitchFamily="34" charset="0"/>
                <a:ea typeface="Courier New" pitchFamily="34" charset="-122"/>
                <a:cs typeface="Courier New" pitchFamily="34" charset="-120"/>
              </a:rPr>
              <a:t>PROTOCOL</a:t>
            </a:r>
            <a:endParaRPr lang="en-US" sz="800" dirty="0"/>
          </a:p>
        </p:txBody>
      </p:sp>
      <p:sp>
        <p:nvSpPr>
          <p:cNvPr id="41" name="Text 39"/>
          <p:cNvSpPr/>
          <p:nvPr/>
        </p:nvSpPr>
        <p:spPr>
          <a:xfrm>
            <a:off x="4269507" y="1995004"/>
            <a:ext cx="1533562" cy="139303"/>
          </a:xfrm>
          <a:prstGeom prst="rect">
            <a:avLst/>
          </a:prstGeom>
          <a:noFill/>
          <a:ln/>
        </p:spPr>
        <p:txBody>
          <a:bodyPr wrap="none" lIns="0" tIns="0" rIns="0" bIns="0" rtlCol="0" anchor="t"/>
          <a:lstStyle/>
          <a:p>
            <a:pPr marL="0" indent="0" algn="l">
              <a:lnSpc>
                <a:spcPts val="1097"/>
              </a:lnSpc>
              <a:buNone/>
            </a:pPr>
            <a:r>
              <a:rPr lang="en-US" sz="844" dirty="0">
                <a:solidFill>
                  <a:srgbClr val="0F172A"/>
                </a:solidFill>
                <a:latin typeface="Carlito" pitchFamily="34" charset="0"/>
                <a:ea typeface="Carlito" pitchFamily="34" charset="-122"/>
                <a:cs typeface="Carlito" pitchFamily="34" charset="-120"/>
              </a:rPr>
              <a:t>HTTPS to Chef Server</a:t>
            </a:r>
            <a:endParaRPr lang="en-US" sz="844" dirty="0"/>
          </a:p>
        </p:txBody>
      </p:sp>
      <p:sp>
        <p:nvSpPr>
          <p:cNvPr id="42" name="Shape 40"/>
          <p:cNvSpPr/>
          <p:nvPr/>
        </p:nvSpPr>
        <p:spPr>
          <a:xfrm>
            <a:off x="3226519" y="2202173"/>
            <a:ext cx="2690850" cy="0"/>
          </a:xfrm>
          <a:prstGeom prst="line">
            <a:avLst/>
          </a:prstGeom>
          <a:noFill/>
          <a:ln w="7144">
            <a:solidFill>
              <a:srgbClr val="CBD5E1"/>
            </a:solidFill>
            <a:prstDash val="solid"/>
          </a:ln>
        </p:spPr>
      </p:sp>
      <p:sp>
        <p:nvSpPr>
          <p:cNvPr id="43" name="Text 41"/>
          <p:cNvSpPr/>
          <p:nvPr/>
        </p:nvSpPr>
        <p:spPr>
          <a:xfrm>
            <a:off x="3340819" y="2279303"/>
            <a:ext cx="1221369" cy="130039"/>
          </a:xfrm>
          <a:prstGeom prst="rect">
            <a:avLst/>
          </a:prstGeom>
          <a:noFill/>
          <a:ln/>
        </p:spPr>
        <p:txBody>
          <a:bodyPr wrap="none" lIns="0" tIns="0" rIns="0" bIns="0" rtlCol="0" anchor="t"/>
          <a:lstStyle/>
          <a:p>
            <a:pPr marL="0" indent="0" algn="l">
              <a:lnSpc>
                <a:spcPts val="951"/>
              </a:lnSpc>
              <a:buNone/>
            </a:pPr>
            <a:r>
              <a:rPr lang="en-US" sz="800" b="1" kern="0" spc="28" dirty="0">
                <a:solidFill>
                  <a:srgbClr val="64748B"/>
                </a:solidFill>
                <a:latin typeface="Courier New" pitchFamily="34" charset="0"/>
                <a:ea typeface="Courier New" pitchFamily="34" charset="-122"/>
                <a:cs typeface="Courier New" pitchFamily="34" charset="-120"/>
              </a:rPr>
              <a:t>LANGUAGE</a:t>
            </a:r>
            <a:endParaRPr lang="en-US" sz="800" dirty="0"/>
          </a:p>
        </p:txBody>
      </p:sp>
      <p:sp>
        <p:nvSpPr>
          <p:cNvPr id="44" name="Text 42"/>
          <p:cNvSpPr/>
          <p:nvPr/>
        </p:nvSpPr>
        <p:spPr>
          <a:xfrm>
            <a:off x="4269507" y="2270038"/>
            <a:ext cx="1625576" cy="139303"/>
          </a:xfrm>
          <a:prstGeom prst="rect">
            <a:avLst/>
          </a:prstGeom>
          <a:noFill/>
          <a:ln/>
        </p:spPr>
        <p:txBody>
          <a:bodyPr wrap="square" lIns="0" tIns="0" rIns="0" bIns="0" rtlCol="0" anchor="t"/>
          <a:lstStyle/>
          <a:p>
            <a:pPr marL="0" indent="0" algn="l">
              <a:lnSpc>
                <a:spcPts val="1097"/>
              </a:lnSpc>
              <a:buNone/>
            </a:pPr>
            <a:r>
              <a:rPr lang="en-US" sz="844" dirty="0">
                <a:solidFill>
                  <a:srgbClr val="0F172A"/>
                </a:solidFill>
                <a:latin typeface="Carlito" pitchFamily="34" charset="0"/>
                <a:ea typeface="Carlito" pitchFamily="34" charset="-122"/>
                <a:cs typeface="Carlito" pitchFamily="34" charset="-120"/>
              </a:rPr>
              <a:t>Ruby DSL (imperative-flavoured)</a:t>
            </a:r>
            <a:endParaRPr lang="en-US" sz="844" dirty="0"/>
          </a:p>
        </p:txBody>
      </p:sp>
      <p:sp>
        <p:nvSpPr>
          <p:cNvPr id="45" name="Text 43"/>
          <p:cNvSpPr/>
          <p:nvPr/>
        </p:nvSpPr>
        <p:spPr>
          <a:xfrm>
            <a:off x="3226519" y="2473635"/>
            <a:ext cx="2690850" cy="275034"/>
          </a:xfrm>
          <a:prstGeom prst="rect">
            <a:avLst/>
          </a:prstGeom>
          <a:solidFill>
            <a:srgbClr val="F8FAFC"/>
          </a:solidFill>
          <a:ln/>
        </p:spPr>
        <p:txBody>
          <a:bodyPr wrap="square" rtlCol="0" anchor="ctr"/>
          <a:lstStyle/>
          <a:p>
            <a:pPr marL="0" indent="0">
              <a:buNone/>
            </a:pPr>
            <a:endParaRPr lang="en-US" dirty="0"/>
          </a:p>
        </p:txBody>
      </p:sp>
      <p:sp>
        <p:nvSpPr>
          <p:cNvPr id="46" name="Shape 44"/>
          <p:cNvSpPr/>
          <p:nvPr/>
        </p:nvSpPr>
        <p:spPr>
          <a:xfrm>
            <a:off x="3226519" y="2477207"/>
            <a:ext cx="2690850" cy="0"/>
          </a:xfrm>
          <a:prstGeom prst="line">
            <a:avLst/>
          </a:prstGeom>
          <a:noFill/>
          <a:ln w="7144">
            <a:solidFill>
              <a:srgbClr val="CBD5E1"/>
            </a:solidFill>
            <a:prstDash val="solid"/>
          </a:ln>
        </p:spPr>
      </p:sp>
      <p:sp>
        <p:nvSpPr>
          <p:cNvPr id="47" name="Text 45"/>
          <p:cNvSpPr/>
          <p:nvPr/>
        </p:nvSpPr>
        <p:spPr>
          <a:xfrm>
            <a:off x="3340819" y="2554337"/>
            <a:ext cx="1121071" cy="130039"/>
          </a:xfrm>
          <a:prstGeom prst="rect">
            <a:avLst/>
          </a:prstGeom>
          <a:noFill/>
          <a:ln/>
        </p:spPr>
        <p:txBody>
          <a:bodyPr wrap="none" lIns="0" tIns="0" rIns="0" bIns="0" rtlCol="0" anchor="t"/>
          <a:lstStyle/>
          <a:p>
            <a:pPr marL="0" indent="0" algn="l">
              <a:lnSpc>
                <a:spcPts val="951"/>
              </a:lnSpc>
              <a:buNone/>
            </a:pPr>
            <a:r>
              <a:rPr lang="en-US" sz="800" b="1" kern="0" spc="28" dirty="0">
                <a:solidFill>
                  <a:srgbClr val="64748B"/>
                </a:solidFill>
                <a:latin typeface="Courier New" pitchFamily="34" charset="0"/>
                <a:ea typeface="Courier New" pitchFamily="34" charset="-122"/>
                <a:cs typeface="Courier New" pitchFamily="34" charset="-120"/>
              </a:rPr>
              <a:t>LEARNING CURVE</a:t>
            </a:r>
            <a:endParaRPr lang="en-US" sz="800" dirty="0"/>
          </a:p>
        </p:txBody>
      </p:sp>
      <p:sp>
        <p:nvSpPr>
          <p:cNvPr id="48" name="Text 46"/>
          <p:cNvSpPr/>
          <p:nvPr/>
        </p:nvSpPr>
        <p:spPr>
          <a:xfrm>
            <a:off x="4269507" y="2545073"/>
            <a:ext cx="1533562" cy="139303"/>
          </a:xfrm>
          <a:prstGeom prst="rect">
            <a:avLst/>
          </a:prstGeom>
          <a:noFill/>
          <a:ln/>
        </p:spPr>
        <p:txBody>
          <a:bodyPr wrap="none" lIns="0" tIns="0" rIns="0" bIns="0" rtlCol="0" anchor="t"/>
          <a:lstStyle/>
          <a:p>
            <a:pPr marL="0" indent="0" algn="l">
              <a:lnSpc>
                <a:spcPts val="1097"/>
              </a:lnSpc>
              <a:buNone/>
            </a:pPr>
            <a:r>
              <a:rPr lang="en-US" sz="844" dirty="0">
                <a:solidFill>
                  <a:srgbClr val="0F172A"/>
                </a:solidFill>
                <a:latin typeface="Carlito" pitchFamily="34" charset="0"/>
                <a:ea typeface="Carlito" pitchFamily="34" charset="-122"/>
                <a:cs typeface="Carlito" pitchFamily="34" charset="-120"/>
              </a:rPr>
              <a:t>Steep (days)</a:t>
            </a:r>
            <a:endParaRPr lang="en-US" sz="844" dirty="0"/>
          </a:p>
        </p:txBody>
      </p:sp>
      <p:sp>
        <p:nvSpPr>
          <p:cNvPr id="49" name="Text 47"/>
          <p:cNvSpPr/>
          <p:nvPr/>
        </p:nvSpPr>
        <p:spPr>
          <a:xfrm>
            <a:off x="3226519" y="2748669"/>
            <a:ext cx="2690850" cy="275034"/>
          </a:xfrm>
          <a:prstGeom prst="rect">
            <a:avLst/>
          </a:prstGeom>
          <a:solidFill>
            <a:srgbClr val="FFF7ED"/>
          </a:solidFill>
          <a:ln/>
        </p:spPr>
        <p:txBody>
          <a:bodyPr wrap="square" rtlCol="0" anchor="ctr"/>
          <a:lstStyle/>
          <a:p>
            <a:pPr marL="0" indent="0">
              <a:buNone/>
            </a:pPr>
            <a:endParaRPr lang="en-US" dirty="0"/>
          </a:p>
        </p:txBody>
      </p:sp>
      <p:sp>
        <p:nvSpPr>
          <p:cNvPr id="50" name="Shape 48"/>
          <p:cNvSpPr/>
          <p:nvPr/>
        </p:nvSpPr>
        <p:spPr>
          <a:xfrm>
            <a:off x="3226519" y="2752241"/>
            <a:ext cx="2690850" cy="0"/>
          </a:xfrm>
          <a:prstGeom prst="line">
            <a:avLst/>
          </a:prstGeom>
          <a:noFill/>
          <a:ln w="7144">
            <a:solidFill>
              <a:srgbClr val="CBD5E1"/>
            </a:solidFill>
            <a:prstDash val="solid"/>
          </a:ln>
        </p:spPr>
      </p:sp>
      <p:sp>
        <p:nvSpPr>
          <p:cNvPr id="51" name="Text 49"/>
          <p:cNvSpPr/>
          <p:nvPr/>
        </p:nvSpPr>
        <p:spPr>
          <a:xfrm>
            <a:off x="3340819" y="2829371"/>
            <a:ext cx="1221369" cy="130039"/>
          </a:xfrm>
          <a:prstGeom prst="rect">
            <a:avLst/>
          </a:prstGeom>
          <a:noFill/>
          <a:ln/>
        </p:spPr>
        <p:txBody>
          <a:bodyPr wrap="none" lIns="0" tIns="0" rIns="0" bIns="0" rtlCol="0" anchor="t"/>
          <a:lstStyle/>
          <a:p>
            <a:pPr marL="0" indent="0" algn="l">
              <a:lnSpc>
                <a:spcPts val="951"/>
              </a:lnSpc>
              <a:buNone/>
            </a:pPr>
            <a:r>
              <a:rPr lang="en-US" sz="800" b="1" kern="0" spc="28" dirty="0">
                <a:solidFill>
                  <a:srgbClr val="C2410C"/>
                </a:solidFill>
                <a:latin typeface="Courier New" pitchFamily="34" charset="0"/>
                <a:ea typeface="Courier New" pitchFamily="34" charset="-122"/>
                <a:cs typeface="Courier New" pitchFamily="34" charset="-120"/>
              </a:rPr>
              <a:t>BEST FOR</a:t>
            </a:r>
            <a:endParaRPr lang="en-US" sz="800" dirty="0"/>
          </a:p>
        </p:txBody>
      </p:sp>
      <p:sp>
        <p:nvSpPr>
          <p:cNvPr id="52" name="Text 50"/>
          <p:cNvSpPr/>
          <p:nvPr/>
        </p:nvSpPr>
        <p:spPr>
          <a:xfrm>
            <a:off x="4269507" y="2820107"/>
            <a:ext cx="1625576" cy="139303"/>
          </a:xfrm>
          <a:prstGeom prst="rect">
            <a:avLst/>
          </a:prstGeom>
          <a:noFill/>
          <a:ln/>
        </p:spPr>
        <p:txBody>
          <a:bodyPr wrap="square" lIns="0" tIns="0" rIns="0" bIns="0" rtlCol="0" anchor="t"/>
          <a:lstStyle/>
          <a:p>
            <a:pPr marL="0" indent="0" algn="l">
              <a:lnSpc>
                <a:spcPts val="1097"/>
              </a:lnSpc>
              <a:buNone/>
            </a:pPr>
            <a:r>
              <a:rPr lang="en-US" sz="844" dirty="0">
                <a:solidFill>
                  <a:srgbClr val="0F172A"/>
                </a:solidFill>
                <a:latin typeface="Carlito" pitchFamily="34" charset="0"/>
                <a:ea typeface="Carlito" pitchFamily="34" charset="-122"/>
                <a:cs typeface="Carlito" pitchFamily="34" charset="-120"/>
              </a:rPr>
              <a:t>Complex multi-step recipes</a:t>
            </a:r>
            <a:endParaRPr lang="en-US" sz="844" dirty="0"/>
          </a:p>
        </p:txBody>
      </p:sp>
      <p:sp>
        <p:nvSpPr>
          <p:cNvPr id="53" name="Text 51"/>
          <p:cNvSpPr/>
          <p:nvPr/>
        </p:nvSpPr>
        <p:spPr>
          <a:xfrm>
            <a:off x="6042385" y="1184970"/>
            <a:ext cx="2697882" cy="3133427"/>
          </a:xfrm>
          <a:prstGeom prst="roundRect">
            <a:avLst>
              <a:gd name="adj" fmla="val 4943"/>
            </a:avLst>
          </a:prstGeom>
          <a:solidFill>
            <a:srgbClr val="FFFFFF"/>
          </a:solidFill>
          <a:ln w="7144">
            <a:solidFill>
              <a:srgbClr val="CBD5E1"/>
            </a:solidFill>
            <a:prstDash val="solid"/>
          </a:ln>
        </p:spPr>
        <p:txBody>
          <a:bodyPr wrap="square" rtlCol="0" anchor="ctr"/>
          <a:lstStyle/>
          <a:p>
            <a:pPr marL="0" indent="0">
              <a:buNone/>
            </a:pPr>
            <a:endParaRPr lang="en-US" dirty="0"/>
          </a:p>
        </p:txBody>
      </p:sp>
      <p:sp>
        <p:nvSpPr>
          <p:cNvPr id="54" name="Text 52"/>
          <p:cNvSpPr/>
          <p:nvPr/>
        </p:nvSpPr>
        <p:spPr>
          <a:xfrm>
            <a:off x="6045957" y="1188541"/>
            <a:ext cx="2690738" cy="459991"/>
          </a:xfrm>
          <a:prstGeom prst="rect">
            <a:avLst/>
          </a:prstGeom>
          <a:solidFill>
            <a:srgbClr val="0F172A"/>
          </a:solidFill>
          <a:ln/>
        </p:spPr>
        <p:txBody>
          <a:bodyPr wrap="square" rtlCol="0" anchor="ctr"/>
          <a:lstStyle/>
          <a:p>
            <a:pPr marL="0" indent="0">
              <a:buNone/>
            </a:pPr>
            <a:endParaRPr lang="en-US" dirty="0"/>
          </a:p>
        </p:txBody>
      </p:sp>
      <p:sp>
        <p:nvSpPr>
          <p:cNvPr id="55" name="Text 53"/>
          <p:cNvSpPr/>
          <p:nvPr/>
        </p:nvSpPr>
        <p:spPr>
          <a:xfrm>
            <a:off x="6328250" y="1295698"/>
            <a:ext cx="770736" cy="254603"/>
          </a:xfrm>
          <a:prstGeom prst="rect">
            <a:avLst/>
          </a:prstGeom>
          <a:noFill/>
          <a:ln/>
        </p:spPr>
        <p:txBody>
          <a:bodyPr wrap="none" lIns="128588" tIns="100013" rIns="128588" bIns="100013" rtlCol="0" anchor="t"/>
          <a:lstStyle/>
          <a:p>
            <a:pPr marL="0" indent="0" algn="l">
              <a:lnSpc>
                <a:spcPts val="2047"/>
              </a:lnSpc>
              <a:buNone/>
            </a:pPr>
            <a:r>
              <a:rPr lang="en-US" sz="1463" b="1" dirty="0">
                <a:solidFill>
                  <a:srgbClr val="FFFFFF"/>
                </a:solidFill>
                <a:latin typeface="Carlito" pitchFamily="34" charset="0"/>
                <a:ea typeface="Carlito" pitchFamily="34" charset="-122"/>
                <a:cs typeface="Carlito" pitchFamily="34" charset="-120"/>
              </a:rPr>
              <a:t>Puppet</a:t>
            </a:r>
            <a:endParaRPr lang="en-US" sz="1463" dirty="0"/>
          </a:p>
        </p:txBody>
      </p:sp>
      <p:sp>
        <p:nvSpPr>
          <p:cNvPr id="56" name="Text 54"/>
          <p:cNvSpPr/>
          <p:nvPr/>
        </p:nvSpPr>
        <p:spPr>
          <a:xfrm>
            <a:off x="6174544" y="1325612"/>
            <a:ext cx="185738" cy="185738"/>
          </a:xfrm>
          <a:prstGeom prst="rect">
            <a:avLst/>
          </a:prstGeom>
          <a:noFill/>
          <a:ln/>
        </p:spPr>
        <p:txBody>
          <a:bodyPr wrap="none" lIns="0" tIns="0" rIns="0" bIns="0" rtlCol="0" anchor="ctr"/>
          <a:lstStyle/>
          <a:p>
            <a:pPr marL="0" indent="0" algn="ctr">
              <a:buNone/>
            </a:pPr>
            <a:r>
              <a:rPr lang="en-US" sz="1828" dirty="0">
                <a:solidFill>
                  <a:srgbClr val="FFFFFF"/>
                </a:solidFill>
                <a:latin typeface="Segoe UI Symbol" pitchFamily="34" charset="0"/>
                <a:ea typeface="Segoe UI Symbol" pitchFamily="34" charset="-122"/>
                <a:cs typeface="Segoe UI Symbol" pitchFamily="34" charset="-120"/>
              </a:rPr>
              <a:t>✦</a:t>
            </a:r>
            <a:endParaRPr lang="en-US" sz="1828" dirty="0"/>
          </a:p>
        </p:txBody>
      </p:sp>
      <p:sp>
        <p:nvSpPr>
          <p:cNvPr id="57" name="Shape 55"/>
          <p:cNvSpPr/>
          <p:nvPr/>
        </p:nvSpPr>
        <p:spPr>
          <a:xfrm>
            <a:off x="6045957" y="1652104"/>
            <a:ext cx="2690738" cy="0"/>
          </a:xfrm>
          <a:prstGeom prst="line">
            <a:avLst/>
          </a:prstGeom>
          <a:noFill/>
          <a:ln w="7144">
            <a:solidFill>
              <a:srgbClr val="CBD5E1"/>
            </a:solidFill>
            <a:prstDash val="solid"/>
          </a:ln>
        </p:spPr>
      </p:sp>
      <p:sp>
        <p:nvSpPr>
          <p:cNvPr id="58" name="Text 56"/>
          <p:cNvSpPr/>
          <p:nvPr/>
        </p:nvSpPr>
        <p:spPr>
          <a:xfrm>
            <a:off x="6160257" y="1729234"/>
            <a:ext cx="1121071" cy="130039"/>
          </a:xfrm>
          <a:prstGeom prst="rect">
            <a:avLst/>
          </a:prstGeom>
          <a:noFill/>
          <a:ln/>
        </p:spPr>
        <p:txBody>
          <a:bodyPr wrap="none" lIns="0" tIns="0" rIns="0" bIns="0" rtlCol="0" anchor="t"/>
          <a:lstStyle/>
          <a:p>
            <a:pPr marL="0" indent="0" algn="l">
              <a:lnSpc>
                <a:spcPts val="951"/>
              </a:lnSpc>
              <a:buNone/>
            </a:pPr>
            <a:r>
              <a:rPr lang="en-US" sz="800" b="1" kern="0" spc="28" dirty="0">
                <a:solidFill>
                  <a:srgbClr val="64748B"/>
                </a:solidFill>
                <a:latin typeface="Courier New" pitchFamily="34" charset="0"/>
                <a:ea typeface="Courier New" pitchFamily="34" charset="-122"/>
                <a:cs typeface="Courier New" pitchFamily="34" charset="-120"/>
              </a:rPr>
              <a:t>ARCHITECTURE</a:t>
            </a:r>
            <a:endParaRPr lang="en-US" sz="800" dirty="0"/>
          </a:p>
        </p:txBody>
      </p:sp>
      <p:sp>
        <p:nvSpPr>
          <p:cNvPr id="59" name="Text 57"/>
          <p:cNvSpPr/>
          <p:nvPr/>
        </p:nvSpPr>
        <p:spPr>
          <a:xfrm>
            <a:off x="7088944" y="1719969"/>
            <a:ext cx="1625458" cy="139303"/>
          </a:xfrm>
          <a:prstGeom prst="rect">
            <a:avLst/>
          </a:prstGeom>
          <a:noFill/>
          <a:ln/>
        </p:spPr>
        <p:txBody>
          <a:bodyPr wrap="square" lIns="0" tIns="0" rIns="0" bIns="0" rtlCol="0" anchor="t"/>
          <a:lstStyle/>
          <a:p>
            <a:pPr marL="0" indent="0" algn="l">
              <a:lnSpc>
                <a:spcPts val="1097"/>
              </a:lnSpc>
              <a:buNone/>
            </a:pPr>
            <a:r>
              <a:rPr lang="en-US" sz="844" dirty="0">
                <a:solidFill>
                  <a:srgbClr val="0F172A"/>
                </a:solidFill>
                <a:latin typeface="Carlito" pitchFamily="34" charset="0"/>
                <a:ea typeface="Carlito" pitchFamily="34" charset="-122"/>
                <a:cs typeface="Carlito" pitchFamily="34" charset="-120"/>
              </a:rPr>
              <a:t>Agent-based (Puppet Agent)</a:t>
            </a:r>
            <a:endParaRPr lang="en-US" sz="844" dirty="0"/>
          </a:p>
        </p:txBody>
      </p:sp>
      <p:sp>
        <p:nvSpPr>
          <p:cNvPr id="60" name="Text 58"/>
          <p:cNvSpPr/>
          <p:nvPr/>
        </p:nvSpPr>
        <p:spPr>
          <a:xfrm>
            <a:off x="6045957" y="1923566"/>
            <a:ext cx="2690738" cy="275034"/>
          </a:xfrm>
          <a:prstGeom prst="rect">
            <a:avLst/>
          </a:prstGeom>
          <a:solidFill>
            <a:srgbClr val="F8FAFC"/>
          </a:solidFill>
          <a:ln/>
        </p:spPr>
        <p:txBody>
          <a:bodyPr wrap="square" rtlCol="0" anchor="ctr"/>
          <a:lstStyle/>
          <a:p>
            <a:pPr marL="0" indent="0">
              <a:buNone/>
            </a:pPr>
            <a:endParaRPr lang="en-US" dirty="0"/>
          </a:p>
        </p:txBody>
      </p:sp>
      <p:sp>
        <p:nvSpPr>
          <p:cNvPr id="61" name="Shape 59"/>
          <p:cNvSpPr/>
          <p:nvPr/>
        </p:nvSpPr>
        <p:spPr>
          <a:xfrm>
            <a:off x="6045957" y="1927138"/>
            <a:ext cx="2690738" cy="0"/>
          </a:xfrm>
          <a:prstGeom prst="line">
            <a:avLst/>
          </a:prstGeom>
          <a:noFill/>
          <a:ln w="7144">
            <a:solidFill>
              <a:srgbClr val="CBD5E1"/>
            </a:solidFill>
            <a:prstDash val="solid"/>
          </a:ln>
        </p:spPr>
      </p:sp>
      <p:sp>
        <p:nvSpPr>
          <p:cNvPr id="62" name="Text 60"/>
          <p:cNvSpPr/>
          <p:nvPr/>
        </p:nvSpPr>
        <p:spPr>
          <a:xfrm>
            <a:off x="6160257" y="2004268"/>
            <a:ext cx="1221369" cy="130039"/>
          </a:xfrm>
          <a:prstGeom prst="rect">
            <a:avLst/>
          </a:prstGeom>
          <a:noFill/>
          <a:ln/>
        </p:spPr>
        <p:txBody>
          <a:bodyPr wrap="none" lIns="0" tIns="0" rIns="0" bIns="0" rtlCol="0" anchor="t"/>
          <a:lstStyle/>
          <a:p>
            <a:pPr marL="0" indent="0" algn="l">
              <a:lnSpc>
                <a:spcPts val="951"/>
              </a:lnSpc>
              <a:buNone/>
            </a:pPr>
            <a:r>
              <a:rPr lang="en-US" sz="800" b="1" kern="0" spc="28" dirty="0">
                <a:solidFill>
                  <a:srgbClr val="64748B"/>
                </a:solidFill>
                <a:latin typeface="Courier New" pitchFamily="34" charset="0"/>
                <a:ea typeface="Courier New" pitchFamily="34" charset="-122"/>
                <a:cs typeface="Courier New" pitchFamily="34" charset="-120"/>
              </a:rPr>
              <a:t>PROTOCOL</a:t>
            </a:r>
            <a:endParaRPr lang="en-US" sz="800" dirty="0"/>
          </a:p>
        </p:txBody>
      </p:sp>
      <p:sp>
        <p:nvSpPr>
          <p:cNvPr id="63" name="Text 61"/>
          <p:cNvSpPr/>
          <p:nvPr/>
        </p:nvSpPr>
        <p:spPr>
          <a:xfrm>
            <a:off x="7088944" y="1995004"/>
            <a:ext cx="1533451" cy="139303"/>
          </a:xfrm>
          <a:prstGeom prst="rect">
            <a:avLst/>
          </a:prstGeom>
          <a:noFill/>
          <a:ln/>
        </p:spPr>
        <p:txBody>
          <a:bodyPr wrap="none" lIns="0" tIns="0" rIns="0" bIns="0" rtlCol="0" anchor="t"/>
          <a:lstStyle/>
          <a:p>
            <a:pPr marL="0" indent="0" algn="l">
              <a:lnSpc>
                <a:spcPts val="1097"/>
              </a:lnSpc>
              <a:buNone/>
            </a:pPr>
            <a:r>
              <a:rPr lang="en-US" sz="844" dirty="0">
                <a:solidFill>
                  <a:srgbClr val="0F172A"/>
                </a:solidFill>
                <a:latin typeface="Carlito" pitchFamily="34" charset="0"/>
                <a:ea typeface="Carlito" pitchFamily="34" charset="-122"/>
                <a:cs typeface="Carlito" pitchFamily="34" charset="-120"/>
              </a:rPr>
              <a:t>HTTPS to Puppet Master</a:t>
            </a:r>
            <a:endParaRPr lang="en-US" sz="844" dirty="0"/>
          </a:p>
        </p:txBody>
      </p:sp>
      <p:sp>
        <p:nvSpPr>
          <p:cNvPr id="64" name="Shape 62"/>
          <p:cNvSpPr/>
          <p:nvPr/>
        </p:nvSpPr>
        <p:spPr>
          <a:xfrm>
            <a:off x="6045957" y="2202173"/>
            <a:ext cx="2690738" cy="0"/>
          </a:xfrm>
          <a:prstGeom prst="line">
            <a:avLst/>
          </a:prstGeom>
          <a:noFill/>
          <a:ln w="7144">
            <a:solidFill>
              <a:srgbClr val="CBD5E1"/>
            </a:solidFill>
            <a:prstDash val="solid"/>
          </a:ln>
        </p:spPr>
      </p:sp>
      <p:sp>
        <p:nvSpPr>
          <p:cNvPr id="65" name="Text 63"/>
          <p:cNvSpPr/>
          <p:nvPr/>
        </p:nvSpPr>
        <p:spPr>
          <a:xfrm>
            <a:off x="6160257" y="2279303"/>
            <a:ext cx="1221369" cy="130039"/>
          </a:xfrm>
          <a:prstGeom prst="rect">
            <a:avLst/>
          </a:prstGeom>
          <a:noFill/>
          <a:ln/>
        </p:spPr>
        <p:txBody>
          <a:bodyPr wrap="none" lIns="0" tIns="0" rIns="0" bIns="0" rtlCol="0" anchor="t"/>
          <a:lstStyle/>
          <a:p>
            <a:pPr marL="0" indent="0" algn="l">
              <a:lnSpc>
                <a:spcPts val="951"/>
              </a:lnSpc>
              <a:buNone/>
            </a:pPr>
            <a:r>
              <a:rPr lang="en-US" sz="800" b="1" kern="0" spc="28" dirty="0">
                <a:solidFill>
                  <a:srgbClr val="64748B"/>
                </a:solidFill>
                <a:latin typeface="Courier New" pitchFamily="34" charset="0"/>
                <a:ea typeface="Courier New" pitchFamily="34" charset="-122"/>
                <a:cs typeface="Courier New" pitchFamily="34" charset="-120"/>
              </a:rPr>
              <a:t>LANGUAGE</a:t>
            </a:r>
            <a:endParaRPr lang="en-US" sz="800" dirty="0"/>
          </a:p>
        </p:txBody>
      </p:sp>
      <p:sp>
        <p:nvSpPr>
          <p:cNvPr id="66" name="Text 64"/>
          <p:cNvSpPr/>
          <p:nvPr/>
        </p:nvSpPr>
        <p:spPr>
          <a:xfrm>
            <a:off x="7088944" y="2270038"/>
            <a:ext cx="1533451" cy="139303"/>
          </a:xfrm>
          <a:prstGeom prst="rect">
            <a:avLst/>
          </a:prstGeom>
          <a:noFill/>
          <a:ln/>
        </p:spPr>
        <p:txBody>
          <a:bodyPr wrap="none" lIns="0" tIns="0" rIns="0" bIns="0" rtlCol="0" anchor="t"/>
          <a:lstStyle/>
          <a:p>
            <a:pPr marL="0" indent="0" algn="l">
              <a:lnSpc>
                <a:spcPts val="1097"/>
              </a:lnSpc>
              <a:buNone/>
            </a:pPr>
            <a:r>
              <a:rPr lang="en-US" sz="844" dirty="0">
                <a:solidFill>
                  <a:srgbClr val="0F172A"/>
                </a:solidFill>
                <a:latin typeface="Carlito" pitchFamily="34" charset="0"/>
                <a:ea typeface="Carlito" pitchFamily="34" charset="-122"/>
                <a:cs typeface="Carlito" pitchFamily="34" charset="-120"/>
              </a:rPr>
              <a:t>Puppet DSL (declarative)</a:t>
            </a:r>
            <a:endParaRPr lang="en-US" sz="844" dirty="0"/>
          </a:p>
        </p:txBody>
      </p:sp>
      <p:sp>
        <p:nvSpPr>
          <p:cNvPr id="67" name="Text 65"/>
          <p:cNvSpPr/>
          <p:nvPr/>
        </p:nvSpPr>
        <p:spPr>
          <a:xfrm>
            <a:off x="6045957" y="2473635"/>
            <a:ext cx="2690738" cy="275034"/>
          </a:xfrm>
          <a:prstGeom prst="rect">
            <a:avLst/>
          </a:prstGeom>
          <a:solidFill>
            <a:srgbClr val="F8FAFC"/>
          </a:solidFill>
          <a:ln/>
        </p:spPr>
        <p:txBody>
          <a:bodyPr wrap="square" rtlCol="0" anchor="ctr"/>
          <a:lstStyle/>
          <a:p>
            <a:pPr marL="0" indent="0">
              <a:buNone/>
            </a:pPr>
            <a:endParaRPr lang="en-US" dirty="0"/>
          </a:p>
        </p:txBody>
      </p:sp>
      <p:sp>
        <p:nvSpPr>
          <p:cNvPr id="68" name="Shape 66"/>
          <p:cNvSpPr/>
          <p:nvPr/>
        </p:nvSpPr>
        <p:spPr>
          <a:xfrm>
            <a:off x="6045957" y="2477207"/>
            <a:ext cx="2690738" cy="0"/>
          </a:xfrm>
          <a:prstGeom prst="line">
            <a:avLst/>
          </a:prstGeom>
          <a:noFill/>
          <a:ln w="7144">
            <a:solidFill>
              <a:srgbClr val="CBD5E1"/>
            </a:solidFill>
            <a:prstDash val="solid"/>
          </a:ln>
        </p:spPr>
      </p:sp>
      <p:sp>
        <p:nvSpPr>
          <p:cNvPr id="69" name="Text 67"/>
          <p:cNvSpPr/>
          <p:nvPr/>
        </p:nvSpPr>
        <p:spPr>
          <a:xfrm>
            <a:off x="6160257" y="2554337"/>
            <a:ext cx="1121071" cy="130039"/>
          </a:xfrm>
          <a:prstGeom prst="rect">
            <a:avLst/>
          </a:prstGeom>
          <a:noFill/>
          <a:ln/>
        </p:spPr>
        <p:txBody>
          <a:bodyPr wrap="none" lIns="0" tIns="0" rIns="0" bIns="0" rtlCol="0" anchor="t"/>
          <a:lstStyle/>
          <a:p>
            <a:pPr marL="0" indent="0" algn="l">
              <a:lnSpc>
                <a:spcPts val="951"/>
              </a:lnSpc>
              <a:buNone/>
            </a:pPr>
            <a:r>
              <a:rPr lang="en-US" sz="800" b="1" kern="0" spc="28" dirty="0">
                <a:solidFill>
                  <a:srgbClr val="64748B"/>
                </a:solidFill>
                <a:latin typeface="Courier New" pitchFamily="34" charset="0"/>
                <a:ea typeface="Courier New" pitchFamily="34" charset="-122"/>
                <a:cs typeface="Courier New" pitchFamily="34" charset="-120"/>
              </a:rPr>
              <a:t>LEARNING CURVE</a:t>
            </a:r>
            <a:endParaRPr lang="en-US" sz="800" dirty="0"/>
          </a:p>
        </p:txBody>
      </p:sp>
      <p:sp>
        <p:nvSpPr>
          <p:cNvPr id="70" name="Text 68"/>
          <p:cNvSpPr/>
          <p:nvPr/>
        </p:nvSpPr>
        <p:spPr>
          <a:xfrm>
            <a:off x="7088944" y="2545073"/>
            <a:ext cx="1533451" cy="139303"/>
          </a:xfrm>
          <a:prstGeom prst="rect">
            <a:avLst/>
          </a:prstGeom>
          <a:noFill/>
          <a:ln/>
        </p:spPr>
        <p:txBody>
          <a:bodyPr wrap="none" lIns="0" tIns="0" rIns="0" bIns="0" rtlCol="0" anchor="t"/>
          <a:lstStyle/>
          <a:p>
            <a:pPr marL="0" indent="0" algn="l">
              <a:lnSpc>
                <a:spcPts val="1097"/>
              </a:lnSpc>
              <a:buNone/>
            </a:pPr>
            <a:r>
              <a:rPr lang="en-US" sz="844" dirty="0">
                <a:solidFill>
                  <a:srgbClr val="0F172A"/>
                </a:solidFill>
                <a:latin typeface="Liberation Sans Narrow" pitchFamily="34" charset="0"/>
                <a:ea typeface="Liberation Sans Narrow" pitchFamily="34" charset="-122"/>
                <a:cs typeface="Liberation Sans Narrow" pitchFamily="34" charset="-120"/>
              </a:rPr>
              <a:t>Moderate (1-2 days)</a:t>
            </a:r>
            <a:endParaRPr lang="en-US" sz="844" dirty="0"/>
          </a:p>
        </p:txBody>
      </p:sp>
      <p:sp>
        <p:nvSpPr>
          <p:cNvPr id="71" name="Text 69"/>
          <p:cNvSpPr/>
          <p:nvPr/>
        </p:nvSpPr>
        <p:spPr>
          <a:xfrm>
            <a:off x="6045957" y="2748669"/>
            <a:ext cx="2690738" cy="275034"/>
          </a:xfrm>
          <a:prstGeom prst="rect">
            <a:avLst/>
          </a:prstGeom>
          <a:solidFill>
            <a:srgbClr val="FFF7ED"/>
          </a:solidFill>
          <a:ln/>
        </p:spPr>
        <p:txBody>
          <a:bodyPr wrap="square" rtlCol="0" anchor="ctr"/>
          <a:lstStyle/>
          <a:p>
            <a:pPr marL="0" indent="0">
              <a:buNone/>
            </a:pPr>
            <a:endParaRPr lang="en-US" dirty="0"/>
          </a:p>
        </p:txBody>
      </p:sp>
      <p:sp>
        <p:nvSpPr>
          <p:cNvPr id="72" name="Shape 70"/>
          <p:cNvSpPr/>
          <p:nvPr/>
        </p:nvSpPr>
        <p:spPr>
          <a:xfrm>
            <a:off x="6045957" y="2752241"/>
            <a:ext cx="2690738" cy="0"/>
          </a:xfrm>
          <a:prstGeom prst="line">
            <a:avLst/>
          </a:prstGeom>
          <a:noFill/>
          <a:ln w="7144">
            <a:solidFill>
              <a:srgbClr val="CBD5E1"/>
            </a:solidFill>
            <a:prstDash val="solid"/>
          </a:ln>
        </p:spPr>
      </p:sp>
      <p:sp>
        <p:nvSpPr>
          <p:cNvPr id="73" name="Text 71"/>
          <p:cNvSpPr/>
          <p:nvPr/>
        </p:nvSpPr>
        <p:spPr>
          <a:xfrm>
            <a:off x="6160257" y="2829371"/>
            <a:ext cx="1221369" cy="130039"/>
          </a:xfrm>
          <a:prstGeom prst="rect">
            <a:avLst/>
          </a:prstGeom>
          <a:noFill/>
          <a:ln/>
        </p:spPr>
        <p:txBody>
          <a:bodyPr wrap="none" lIns="0" tIns="0" rIns="0" bIns="0" rtlCol="0" anchor="t"/>
          <a:lstStyle/>
          <a:p>
            <a:pPr marL="0" indent="0" algn="l">
              <a:lnSpc>
                <a:spcPts val="951"/>
              </a:lnSpc>
              <a:buNone/>
            </a:pPr>
            <a:r>
              <a:rPr lang="en-US" sz="800" b="1" kern="0" spc="28" dirty="0">
                <a:solidFill>
                  <a:srgbClr val="C2410C"/>
                </a:solidFill>
                <a:latin typeface="Courier New" pitchFamily="34" charset="0"/>
                <a:ea typeface="Courier New" pitchFamily="34" charset="-122"/>
                <a:cs typeface="Courier New" pitchFamily="34" charset="-120"/>
              </a:rPr>
              <a:t>BEST FOR</a:t>
            </a:r>
            <a:endParaRPr lang="en-US" sz="800" dirty="0"/>
          </a:p>
        </p:txBody>
      </p:sp>
      <p:sp>
        <p:nvSpPr>
          <p:cNvPr id="74" name="Text 72"/>
          <p:cNvSpPr/>
          <p:nvPr/>
        </p:nvSpPr>
        <p:spPr>
          <a:xfrm>
            <a:off x="7088944" y="2820107"/>
            <a:ext cx="1625458" cy="139303"/>
          </a:xfrm>
          <a:prstGeom prst="rect">
            <a:avLst/>
          </a:prstGeom>
          <a:noFill/>
          <a:ln/>
        </p:spPr>
        <p:txBody>
          <a:bodyPr wrap="square" lIns="0" tIns="0" rIns="0" bIns="0" rtlCol="0" anchor="t"/>
          <a:lstStyle/>
          <a:p>
            <a:pPr marL="0" indent="0" algn="l">
              <a:lnSpc>
                <a:spcPts val="1097"/>
              </a:lnSpc>
              <a:buNone/>
            </a:pPr>
            <a:r>
              <a:rPr lang="en-US" sz="844" dirty="0">
                <a:solidFill>
                  <a:srgbClr val="0F172A"/>
                </a:solidFill>
                <a:latin typeface="Carlito" pitchFamily="34" charset="0"/>
                <a:ea typeface="Carlito" pitchFamily="34" charset="-122"/>
                <a:cs typeface="Carlito" pitchFamily="34" charset="-120"/>
              </a:rPr>
              <a:t>Long-lived infra with stable state</a:t>
            </a:r>
            <a:endParaRPr lang="en-US" sz="844" dirty="0"/>
          </a:p>
        </p:txBody>
      </p:sp>
      <p:sp>
        <p:nvSpPr>
          <p:cNvPr id="75" name="Text 73"/>
          <p:cNvSpPr/>
          <p:nvPr/>
        </p:nvSpPr>
        <p:spPr>
          <a:xfrm>
            <a:off x="400050" y="4436269"/>
            <a:ext cx="8343900" cy="364331"/>
          </a:xfrm>
          <a:prstGeom prst="roundRect">
            <a:avLst>
              <a:gd name="adj" fmla="val 20915"/>
            </a:avLst>
          </a:prstGeom>
          <a:solidFill>
            <a:srgbClr val="FFF7ED"/>
          </a:solidFill>
          <a:ln/>
        </p:spPr>
        <p:txBody>
          <a:bodyPr wrap="square" rtlCol="0" anchor="ctr"/>
          <a:lstStyle/>
          <a:p>
            <a:pPr marL="0" indent="0">
              <a:buNone/>
            </a:pPr>
            <a:endParaRPr lang="en-US" dirty="0"/>
          </a:p>
        </p:txBody>
      </p:sp>
      <p:sp>
        <p:nvSpPr>
          <p:cNvPr id="76" name="Shape 74"/>
          <p:cNvSpPr/>
          <p:nvPr/>
        </p:nvSpPr>
        <p:spPr>
          <a:xfrm>
            <a:off x="421481" y="4436269"/>
            <a:ext cx="0" cy="364331"/>
          </a:xfrm>
          <a:prstGeom prst="line">
            <a:avLst/>
          </a:prstGeom>
          <a:noFill/>
          <a:ln w="42863">
            <a:solidFill>
              <a:srgbClr val="F97316"/>
            </a:solidFill>
            <a:prstDash val="solid"/>
          </a:ln>
        </p:spPr>
      </p:sp>
      <p:sp>
        <p:nvSpPr>
          <p:cNvPr id="77" name="Text 75"/>
          <p:cNvSpPr/>
          <p:nvPr/>
        </p:nvSpPr>
        <p:spPr>
          <a:xfrm>
            <a:off x="400050" y="4436269"/>
            <a:ext cx="8343900" cy="393478"/>
          </a:xfrm>
          <a:prstGeom prst="rect">
            <a:avLst/>
          </a:prstGeom>
          <a:noFill/>
          <a:ln/>
        </p:spPr>
        <p:txBody>
          <a:bodyPr wrap="square" lIns="157163" tIns="85725" rIns="157163" bIns="85725" rtlCol="0" anchor="t"/>
          <a:lstStyle/>
          <a:p>
            <a:pPr marL="0" indent="0" algn="l">
              <a:lnSpc>
                <a:spcPts val="1418"/>
              </a:lnSpc>
              <a:buNone/>
            </a:pPr>
            <a:r>
              <a:rPr lang="en-US" sz="1013" dirty="0">
                <a:solidFill>
                  <a:srgbClr val="F97316"/>
                </a:solidFill>
                <a:latin typeface="Segoe UI Symbol" pitchFamily="34" charset="0"/>
                <a:ea typeface="Segoe UI Symbol" pitchFamily="34" charset="-122"/>
                <a:cs typeface="Segoe UI Symbol" pitchFamily="34" charset="-120"/>
              </a:rPr>
              <a:t>👍</a:t>
            </a:r>
            <a:r>
              <a:rPr lang="en-US" sz="1013" dirty="0">
                <a:solidFill>
                  <a:srgbClr val="0F172A"/>
                </a:solidFill>
                <a:latin typeface="Carlito" pitchFamily="34" charset="0"/>
                <a:ea typeface="Carlito" pitchFamily="34" charset="-122"/>
                <a:cs typeface="Carlito" pitchFamily="34" charset="-120"/>
              </a:rPr>
              <a:t> For this course and most modern DevOps work: </a:t>
            </a:r>
            <a:r>
              <a:rPr lang="en-US" sz="1013" dirty="0">
                <a:solidFill>
                  <a:srgbClr val="F97316"/>
                </a:solidFill>
                <a:latin typeface="Carlito" pitchFamily="34" charset="0"/>
                <a:ea typeface="Carlito" pitchFamily="34" charset="-122"/>
                <a:cs typeface="Carlito" pitchFamily="34" charset="-120"/>
              </a:rPr>
              <a:t>Ansible</a:t>
            </a:r>
            <a:r>
              <a:rPr lang="en-US" sz="1013" dirty="0">
                <a:solidFill>
                  <a:srgbClr val="0F172A"/>
                </a:solidFill>
                <a:latin typeface="Carlito" pitchFamily="34" charset="0"/>
                <a:ea typeface="Carlito" pitchFamily="34" charset="-122"/>
                <a:cs typeface="Carlito" pitchFamily="34" charset="-120"/>
              </a:rPr>
              <a:t>. Agentless wins for simplicity, security, and speed of adoption.</a:t>
            </a:r>
            <a:endParaRPr lang="en-US" sz="1013"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71475"/>
            <a:ext cx="5643362" cy="356348"/>
          </a:xfrm>
          <a:prstGeom prst="rect">
            <a:avLst/>
          </a:prstGeom>
          <a:noFill/>
          <a:ln/>
        </p:spPr>
        <p:txBody>
          <a:bodyPr wrap="square" lIns="0" tIns="0" rIns="0" bIns="0" rtlCol="0" anchor="t"/>
          <a:lstStyle/>
          <a:p>
            <a:pPr marL="0" indent="0" algn="l">
              <a:lnSpc>
                <a:spcPts val="2599"/>
              </a:lnSpc>
              <a:buNone/>
            </a:pPr>
            <a:r>
              <a:rPr lang="en-US" sz="2363" b="1" dirty="0">
                <a:solidFill>
                  <a:srgbClr val="0F172A"/>
                </a:solidFill>
                <a:latin typeface="Carlito" pitchFamily="34" charset="0"/>
                <a:ea typeface="Carlito" pitchFamily="34" charset="-122"/>
                <a:cs typeface="Carlito" pitchFamily="34" charset="-120"/>
              </a:rPr>
              <a:t>Agentless Architecture — How It Works</a:t>
            </a:r>
            <a:endParaRPr lang="en-US" sz="2363" dirty="0"/>
          </a:p>
        </p:txBody>
      </p:sp>
      <p:sp>
        <p:nvSpPr>
          <p:cNvPr id="3" name="Text 1"/>
          <p:cNvSpPr/>
          <p:nvPr/>
        </p:nvSpPr>
        <p:spPr>
          <a:xfrm>
            <a:off x="457200" y="787152"/>
            <a:ext cx="571500" cy="42863"/>
          </a:xfrm>
          <a:prstGeom prst="roundRect">
            <a:avLst>
              <a:gd name="adj" fmla="val 66666"/>
            </a:avLst>
          </a:prstGeom>
          <a:solidFill>
            <a:srgbClr val="F97316"/>
          </a:solidFill>
          <a:ln/>
        </p:spPr>
        <p:txBody>
          <a:bodyPr wrap="square" rtlCol="0" anchor="ctr"/>
          <a:lstStyle/>
          <a:p>
            <a:pPr marL="0" indent="0">
              <a:buNone/>
            </a:pPr>
            <a:endParaRPr lang="en-US" dirty="0"/>
          </a:p>
        </p:txBody>
      </p:sp>
      <p:sp>
        <p:nvSpPr>
          <p:cNvPr id="4" name="Text 2"/>
          <p:cNvSpPr/>
          <p:nvPr/>
        </p:nvSpPr>
        <p:spPr>
          <a:xfrm>
            <a:off x="457200" y="887164"/>
            <a:ext cx="5540755" cy="216027"/>
          </a:xfrm>
          <a:prstGeom prst="rect">
            <a:avLst/>
          </a:prstGeom>
          <a:noFill/>
          <a:ln/>
        </p:spPr>
        <p:txBody>
          <a:bodyPr wrap="square" lIns="0" tIns="0" rIns="0" bIns="0" rtlCol="0" anchor="t"/>
          <a:lstStyle/>
          <a:p>
            <a:pPr marL="0" indent="0" algn="l">
              <a:lnSpc>
                <a:spcPts val="1575"/>
              </a:lnSpc>
              <a:buNone/>
            </a:pPr>
            <a:r>
              <a:rPr lang="en-US" sz="1125" dirty="0">
                <a:solidFill>
                  <a:srgbClr val="64748B"/>
                </a:solidFill>
                <a:latin typeface="Carlito" pitchFamily="34" charset="0"/>
                <a:ea typeface="Carlito" pitchFamily="34" charset="-122"/>
                <a:cs typeface="Carlito" pitchFamily="34" charset="-120"/>
              </a:rPr>
              <a:t>No daemons. No agents. Just SSH.</a:t>
            </a:r>
            <a:endParaRPr lang="en-US" sz="1125" dirty="0"/>
          </a:p>
        </p:txBody>
      </p:sp>
      <p:sp>
        <p:nvSpPr>
          <p:cNvPr id="5" name="Text 3"/>
          <p:cNvSpPr/>
          <p:nvPr/>
        </p:nvSpPr>
        <p:spPr>
          <a:xfrm>
            <a:off x="7238315" y="358673"/>
            <a:ext cx="1471345" cy="331333"/>
          </a:xfrm>
          <a:prstGeom prst="roundRect">
            <a:avLst>
              <a:gd name="adj" fmla="val 2871877"/>
            </a:avLst>
          </a:prstGeom>
          <a:solidFill>
            <a:srgbClr val="0F172A"/>
          </a:solidFill>
          <a:ln/>
        </p:spPr>
        <p:txBody>
          <a:bodyPr wrap="square" rtlCol="0" anchor="ctr"/>
          <a:lstStyle/>
          <a:p>
            <a:pPr marL="0" indent="0">
              <a:buNone/>
            </a:pPr>
            <a:endParaRPr lang="en-US" dirty="0"/>
          </a:p>
        </p:txBody>
      </p:sp>
      <p:sp>
        <p:nvSpPr>
          <p:cNvPr id="6" name="Text 4"/>
          <p:cNvSpPr/>
          <p:nvPr/>
        </p:nvSpPr>
        <p:spPr>
          <a:xfrm>
            <a:off x="7261175" y="371475"/>
            <a:ext cx="1425625" cy="305730"/>
          </a:xfrm>
          <a:prstGeom prst="rect">
            <a:avLst/>
          </a:prstGeom>
          <a:noFill/>
          <a:ln/>
        </p:spPr>
        <p:txBody>
          <a:bodyPr wrap="none" lIns="0" tIns="0" rIns="0" bIns="0" rtlCol="0" anchor="ctr"/>
          <a:lstStyle/>
          <a:p>
            <a:pPr marL="0" indent="0" algn="ctr">
              <a:lnSpc>
                <a:spcPts val="1733"/>
              </a:lnSpc>
              <a:buNone/>
            </a:pPr>
            <a:r>
              <a:rPr lang="en-US" sz="1238" b="1" kern="0" spc="28" dirty="0">
                <a:solidFill>
                  <a:srgbClr val="FFFFFF"/>
                </a:solidFill>
                <a:latin typeface="Liberation Sans Narrow" pitchFamily="34" charset="0"/>
                <a:ea typeface="Liberation Sans Narrow" pitchFamily="34" charset="-122"/>
                <a:cs typeface="Liberation Sans Narrow" pitchFamily="34" charset="-120"/>
              </a:rPr>
              <a:t>02 · Architecture</a:t>
            </a:r>
            <a:endParaRPr lang="en-US" sz="1238" dirty="0"/>
          </a:p>
        </p:txBody>
      </p:sp>
      <p:sp>
        <p:nvSpPr>
          <p:cNvPr id="7" name="Text 5"/>
          <p:cNvSpPr/>
          <p:nvPr/>
        </p:nvSpPr>
        <p:spPr>
          <a:xfrm>
            <a:off x="460772" y="1219349"/>
            <a:ext cx="1953816" cy="2861965"/>
          </a:xfrm>
          <a:prstGeom prst="roundRect">
            <a:avLst>
              <a:gd name="adj" fmla="val 6825"/>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8" name="Text 6"/>
          <p:cNvSpPr/>
          <p:nvPr/>
        </p:nvSpPr>
        <p:spPr>
          <a:xfrm>
            <a:off x="592931" y="1390129"/>
            <a:ext cx="1418034" cy="194328"/>
          </a:xfrm>
          <a:prstGeom prst="rect">
            <a:avLst/>
          </a:prstGeom>
          <a:noFill/>
          <a:ln/>
        </p:spPr>
        <p:txBody>
          <a:bodyPr wrap="none" lIns="0" tIns="0" rIns="0" bIns="0" rtlCol="0" anchor="t"/>
          <a:lstStyle/>
          <a:p>
            <a:pPr marL="0" indent="0" algn="l">
              <a:lnSpc>
                <a:spcPts val="1418"/>
              </a:lnSpc>
              <a:buNone/>
            </a:pPr>
            <a:r>
              <a:rPr lang="en-US" sz="1013" b="1" kern="0" spc="56" dirty="0">
                <a:solidFill>
                  <a:srgbClr val="F97316"/>
                </a:solidFill>
                <a:latin typeface="Liberation Sans Narrow" pitchFamily="34" charset="0"/>
                <a:ea typeface="Liberation Sans Narrow" pitchFamily="34" charset="-122"/>
                <a:cs typeface="Liberation Sans Narrow" pitchFamily="34" charset="-120"/>
              </a:rPr>
              <a:t>STEP 01</a:t>
            </a:r>
            <a:endParaRPr lang="en-US" sz="1013" dirty="0"/>
          </a:p>
        </p:txBody>
      </p:sp>
      <p:sp>
        <p:nvSpPr>
          <p:cNvPr id="9" name="Text 7"/>
          <p:cNvSpPr/>
          <p:nvPr/>
        </p:nvSpPr>
        <p:spPr>
          <a:xfrm>
            <a:off x="2025253" y="1351508"/>
            <a:ext cx="257175" cy="257175"/>
          </a:xfrm>
          <a:prstGeom prst="rect">
            <a:avLst/>
          </a:prstGeom>
          <a:noFill/>
          <a:ln/>
        </p:spPr>
        <p:txBody>
          <a:bodyPr wrap="none" lIns="0" tIns="0" rIns="0" bIns="0" rtlCol="0" anchor="ctr"/>
          <a:lstStyle/>
          <a:p>
            <a:pPr marL="0" indent="0" algn="ctr">
              <a:buNone/>
            </a:pPr>
            <a:r>
              <a:rPr lang="en-US" sz="2531" dirty="0">
                <a:solidFill>
                  <a:srgbClr val="0F172A"/>
                </a:solidFill>
                <a:latin typeface="Segoe UI Symbol" pitchFamily="34" charset="0"/>
                <a:ea typeface="Segoe UI Symbol" pitchFamily="34" charset="-122"/>
                <a:cs typeface="Segoe UI Symbol" pitchFamily="34" charset="-120"/>
              </a:rPr>
              <a:t>▢</a:t>
            </a:r>
            <a:endParaRPr lang="en-US" sz="2531" dirty="0"/>
          </a:p>
        </p:txBody>
      </p:sp>
      <p:sp>
        <p:nvSpPr>
          <p:cNvPr id="10" name="Text 8"/>
          <p:cNvSpPr/>
          <p:nvPr/>
        </p:nvSpPr>
        <p:spPr>
          <a:xfrm>
            <a:off x="592931" y="1708696"/>
            <a:ext cx="1689497" cy="195172"/>
          </a:xfrm>
          <a:prstGeom prst="rect">
            <a:avLst/>
          </a:prstGeom>
          <a:noFill/>
          <a:ln/>
        </p:spPr>
        <p:txBody>
          <a:bodyPr wrap="none" lIns="0" tIns="0" rIns="0" bIns="0" rtlCol="0" anchor="t"/>
          <a:lstStyle/>
          <a:p>
            <a:pPr marL="0" indent="0" algn="l">
              <a:lnSpc>
                <a:spcPts val="1423"/>
              </a:lnSpc>
              <a:buNone/>
            </a:pPr>
            <a:r>
              <a:rPr lang="en-US" sz="1238" b="1" dirty="0">
                <a:solidFill>
                  <a:srgbClr val="0F172A"/>
                </a:solidFill>
                <a:latin typeface="Carlito" pitchFamily="34" charset="0"/>
                <a:ea typeface="Carlito" pitchFamily="34" charset="-122"/>
                <a:cs typeface="Carlito" pitchFamily="34" charset="-120"/>
              </a:rPr>
              <a:t>Control Node</a:t>
            </a:r>
            <a:endParaRPr lang="en-US" sz="1238" dirty="0"/>
          </a:p>
        </p:txBody>
      </p:sp>
      <p:sp>
        <p:nvSpPr>
          <p:cNvPr id="11" name="Text 9"/>
          <p:cNvSpPr/>
          <p:nvPr/>
        </p:nvSpPr>
        <p:spPr>
          <a:xfrm>
            <a:off x="592931" y="1946560"/>
            <a:ext cx="1689497" cy="536692"/>
          </a:xfrm>
          <a:prstGeom prst="rect">
            <a:avLst/>
          </a:prstGeom>
          <a:noFill/>
          <a:ln/>
        </p:spPr>
        <p:txBody>
          <a:bodyPr wrap="square" lIns="0" tIns="0" rIns="0" bIns="0" rtlCol="0" anchor="t"/>
          <a:lstStyle/>
          <a:p>
            <a:pPr marL="0" indent="0" algn="l">
              <a:lnSpc>
                <a:spcPts val="1305"/>
              </a:lnSpc>
              <a:buNone/>
            </a:pPr>
            <a:r>
              <a:rPr lang="en-US" sz="900" dirty="0">
                <a:solidFill>
                  <a:srgbClr val="334155"/>
                </a:solidFill>
                <a:latin typeface="Carlito" pitchFamily="34" charset="0"/>
                <a:ea typeface="Carlito" pitchFamily="34" charset="-122"/>
                <a:cs typeface="Carlito" pitchFamily="34" charset="-120"/>
              </a:rPr>
              <a:t>Your laptop or a CI runner. Has Ansible installed. Reads the </a:t>
            </a:r>
            <a:r>
              <a:rPr lang="en-US" sz="900" b="1" dirty="0">
                <a:solidFill>
                  <a:srgbClr val="0F172A"/>
                </a:solidFill>
                <a:latin typeface="Carlito" pitchFamily="34" charset="0"/>
                <a:ea typeface="Carlito" pitchFamily="34" charset="-122"/>
                <a:cs typeface="Carlito" pitchFamily="34" charset="-120"/>
              </a:rPr>
              <a:t>playbook</a:t>
            </a:r>
            <a:r>
              <a:rPr lang="en-US" sz="900" dirty="0">
                <a:solidFill>
                  <a:srgbClr val="334155"/>
                </a:solidFill>
                <a:latin typeface="Carlito" pitchFamily="34" charset="0"/>
                <a:ea typeface="Carlito" pitchFamily="34" charset="-122"/>
                <a:cs typeface="Carlito" pitchFamily="34" charset="-120"/>
              </a:rPr>
              <a:t> and </a:t>
            </a:r>
            <a:r>
              <a:rPr lang="en-US" sz="900" b="1" dirty="0">
                <a:solidFill>
                  <a:srgbClr val="0F172A"/>
                </a:solidFill>
                <a:latin typeface="Carlito" pitchFamily="34" charset="0"/>
                <a:ea typeface="Carlito" pitchFamily="34" charset="-122"/>
                <a:cs typeface="Carlito" pitchFamily="34" charset="-120"/>
              </a:rPr>
              <a:t>inventory</a:t>
            </a:r>
            <a:r>
              <a:rPr lang="en-US" sz="900" dirty="0">
                <a:solidFill>
                  <a:srgbClr val="334155"/>
                </a:solidFill>
                <a:latin typeface="Carlito" pitchFamily="34" charset="0"/>
                <a:ea typeface="Carlito" pitchFamily="34" charset="-122"/>
                <a:cs typeface="Carlito" pitchFamily="34" charset="-120"/>
              </a:rPr>
              <a:t>.</a:t>
            </a:r>
            <a:endParaRPr lang="en-US" sz="900" dirty="0"/>
          </a:p>
        </p:txBody>
      </p:sp>
      <p:sp>
        <p:nvSpPr>
          <p:cNvPr id="12" name="Text 10"/>
          <p:cNvSpPr/>
          <p:nvPr/>
        </p:nvSpPr>
        <p:spPr>
          <a:xfrm>
            <a:off x="2550319" y="1219349"/>
            <a:ext cx="1953816" cy="2861965"/>
          </a:xfrm>
          <a:prstGeom prst="roundRect">
            <a:avLst>
              <a:gd name="adj" fmla="val 6825"/>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13" name="Text 11"/>
          <p:cNvSpPr/>
          <p:nvPr/>
        </p:nvSpPr>
        <p:spPr>
          <a:xfrm>
            <a:off x="2682478" y="1390129"/>
            <a:ext cx="1418034" cy="194328"/>
          </a:xfrm>
          <a:prstGeom prst="rect">
            <a:avLst/>
          </a:prstGeom>
          <a:noFill/>
          <a:ln/>
        </p:spPr>
        <p:txBody>
          <a:bodyPr wrap="none" lIns="0" tIns="0" rIns="0" bIns="0" rtlCol="0" anchor="t"/>
          <a:lstStyle/>
          <a:p>
            <a:pPr marL="0" indent="0" algn="l">
              <a:lnSpc>
                <a:spcPts val="1418"/>
              </a:lnSpc>
              <a:buNone/>
            </a:pPr>
            <a:r>
              <a:rPr lang="en-US" sz="1013" b="1" kern="0" spc="56" dirty="0">
                <a:solidFill>
                  <a:srgbClr val="F97316"/>
                </a:solidFill>
                <a:latin typeface="Liberation Sans Narrow" pitchFamily="34" charset="0"/>
                <a:ea typeface="Liberation Sans Narrow" pitchFamily="34" charset="-122"/>
                <a:cs typeface="Liberation Sans Narrow" pitchFamily="34" charset="-120"/>
              </a:rPr>
              <a:t>STEP 02</a:t>
            </a:r>
            <a:endParaRPr lang="en-US" sz="1013" dirty="0"/>
          </a:p>
        </p:txBody>
      </p:sp>
      <p:sp>
        <p:nvSpPr>
          <p:cNvPr id="14" name="Text 12"/>
          <p:cNvSpPr/>
          <p:nvPr/>
        </p:nvSpPr>
        <p:spPr>
          <a:xfrm>
            <a:off x="4114800" y="1351508"/>
            <a:ext cx="257175" cy="257175"/>
          </a:xfrm>
          <a:prstGeom prst="rect">
            <a:avLst/>
          </a:prstGeom>
          <a:noFill/>
          <a:ln/>
        </p:spPr>
        <p:txBody>
          <a:bodyPr wrap="none" lIns="0" tIns="0" rIns="0" bIns="0" rtlCol="0" anchor="ctr"/>
          <a:lstStyle/>
          <a:p>
            <a:pPr marL="0" indent="0" algn="ctr">
              <a:buNone/>
            </a:pPr>
            <a:r>
              <a:rPr lang="en-US" sz="2531" dirty="0">
                <a:solidFill>
                  <a:srgbClr val="0F172A"/>
                </a:solidFill>
                <a:latin typeface="Segoe UI Symbol" pitchFamily="34" charset="0"/>
                <a:ea typeface="Segoe UI Symbol" pitchFamily="34" charset="-122"/>
                <a:cs typeface="Segoe UI Symbol" pitchFamily="34" charset="-120"/>
              </a:rPr>
              <a:t>▭</a:t>
            </a:r>
            <a:endParaRPr lang="en-US" sz="2531" dirty="0"/>
          </a:p>
        </p:txBody>
      </p:sp>
      <p:sp>
        <p:nvSpPr>
          <p:cNvPr id="15" name="Text 13"/>
          <p:cNvSpPr/>
          <p:nvPr/>
        </p:nvSpPr>
        <p:spPr>
          <a:xfrm>
            <a:off x="2682478" y="1708696"/>
            <a:ext cx="1689497" cy="195172"/>
          </a:xfrm>
          <a:prstGeom prst="rect">
            <a:avLst/>
          </a:prstGeom>
          <a:noFill/>
          <a:ln/>
        </p:spPr>
        <p:txBody>
          <a:bodyPr wrap="none" lIns="0" tIns="0" rIns="0" bIns="0" rtlCol="0" anchor="t"/>
          <a:lstStyle/>
          <a:p>
            <a:pPr marL="0" indent="0" algn="l">
              <a:lnSpc>
                <a:spcPts val="1423"/>
              </a:lnSpc>
              <a:buNone/>
            </a:pPr>
            <a:r>
              <a:rPr lang="en-US" sz="1238" b="1" dirty="0">
                <a:solidFill>
                  <a:srgbClr val="0F172A"/>
                </a:solidFill>
                <a:latin typeface="Carlito" pitchFamily="34" charset="0"/>
                <a:ea typeface="Carlito" pitchFamily="34" charset="-122"/>
                <a:cs typeface="Carlito" pitchFamily="34" charset="-120"/>
              </a:rPr>
              <a:t>SSH Connection</a:t>
            </a:r>
            <a:endParaRPr lang="en-US" sz="1238" dirty="0"/>
          </a:p>
        </p:txBody>
      </p:sp>
      <p:sp>
        <p:nvSpPr>
          <p:cNvPr id="16" name="Text 14"/>
          <p:cNvSpPr/>
          <p:nvPr/>
        </p:nvSpPr>
        <p:spPr>
          <a:xfrm>
            <a:off x="2682478" y="1946560"/>
            <a:ext cx="1689497" cy="576326"/>
          </a:xfrm>
          <a:prstGeom prst="rect">
            <a:avLst/>
          </a:prstGeom>
          <a:noFill/>
          <a:ln/>
        </p:spPr>
        <p:txBody>
          <a:bodyPr wrap="square" lIns="0" tIns="0" rIns="0" bIns="0" rtlCol="0" anchor="t">
            <a:normAutofit fontScale="92500"/>
          </a:bodyPr>
          <a:lstStyle/>
          <a:p>
            <a:pPr marL="0" indent="0" algn="l">
              <a:lnSpc>
                <a:spcPts val="1305"/>
              </a:lnSpc>
              <a:buNone/>
            </a:pPr>
            <a:r>
              <a:rPr lang="en-US" sz="900" dirty="0">
                <a:solidFill>
                  <a:srgbClr val="334155"/>
                </a:solidFill>
                <a:latin typeface="Carlito" pitchFamily="34" charset="0"/>
                <a:ea typeface="Carlito" pitchFamily="34" charset="-122"/>
                <a:cs typeface="Carlito" pitchFamily="34" charset="-120"/>
              </a:rPr>
              <a:t>Control node opens an SSH session to each managed host. Uses </a:t>
            </a:r>
            <a:r>
              <a:rPr lang="en-US" sz="900" b="1" dirty="0">
                <a:solidFill>
                  <a:srgbClr val="0F172A"/>
                </a:solidFill>
                <a:latin typeface="Carlito" pitchFamily="34" charset="0"/>
                <a:ea typeface="Carlito" pitchFamily="34" charset="-122"/>
                <a:cs typeface="Carlito" pitchFamily="34" charset="-120"/>
              </a:rPr>
              <a:t>standard SSH keys</a:t>
            </a:r>
            <a:r>
              <a:rPr lang="en-US" sz="900" dirty="0">
                <a:solidFill>
                  <a:srgbClr val="334155"/>
                </a:solidFill>
                <a:latin typeface="Carlito" pitchFamily="34" charset="0"/>
                <a:ea typeface="Carlito" pitchFamily="34" charset="-122"/>
                <a:cs typeface="Carlito" pitchFamily="34" charset="-120"/>
              </a:rPr>
              <a:t> — no special credentials.</a:t>
            </a:r>
            <a:endParaRPr lang="en-US" sz="900" dirty="0"/>
          </a:p>
        </p:txBody>
      </p:sp>
      <p:sp>
        <p:nvSpPr>
          <p:cNvPr id="17" name="Text 15"/>
          <p:cNvSpPr/>
          <p:nvPr/>
        </p:nvSpPr>
        <p:spPr>
          <a:xfrm>
            <a:off x="4639866" y="1219349"/>
            <a:ext cx="1953816" cy="2861965"/>
          </a:xfrm>
          <a:prstGeom prst="roundRect">
            <a:avLst>
              <a:gd name="adj" fmla="val 6825"/>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18" name="Text 16"/>
          <p:cNvSpPr/>
          <p:nvPr/>
        </p:nvSpPr>
        <p:spPr>
          <a:xfrm>
            <a:off x="4772025" y="1390129"/>
            <a:ext cx="1418034" cy="194328"/>
          </a:xfrm>
          <a:prstGeom prst="rect">
            <a:avLst/>
          </a:prstGeom>
          <a:noFill/>
          <a:ln/>
        </p:spPr>
        <p:txBody>
          <a:bodyPr wrap="none" lIns="0" tIns="0" rIns="0" bIns="0" rtlCol="0" anchor="t"/>
          <a:lstStyle/>
          <a:p>
            <a:pPr marL="0" indent="0" algn="l">
              <a:lnSpc>
                <a:spcPts val="1418"/>
              </a:lnSpc>
              <a:buNone/>
            </a:pPr>
            <a:r>
              <a:rPr lang="en-US" sz="1013" b="1" kern="0" spc="56" dirty="0">
                <a:solidFill>
                  <a:srgbClr val="F97316"/>
                </a:solidFill>
                <a:latin typeface="Liberation Sans Narrow" pitchFamily="34" charset="0"/>
                <a:ea typeface="Liberation Sans Narrow" pitchFamily="34" charset="-122"/>
                <a:cs typeface="Liberation Sans Narrow" pitchFamily="34" charset="-120"/>
              </a:rPr>
              <a:t>STEP 03</a:t>
            </a:r>
            <a:endParaRPr lang="en-US" sz="1013" dirty="0"/>
          </a:p>
        </p:txBody>
      </p:sp>
      <p:sp>
        <p:nvSpPr>
          <p:cNvPr id="19" name="Text 17"/>
          <p:cNvSpPr/>
          <p:nvPr/>
        </p:nvSpPr>
        <p:spPr>
          <a:xfrm>
            <a:off x="6204347" y="1351508"/>
            <a:ext cx="257175" cy="257175"/>
          </a:xfrm>
          <a:prstGeom prst="rect">
            <a:avLst/>
          </a:prstGeom>
          <a:noFill/>
          <a:ln/>
        </p:spPr>
        <p:txBody>
          <a:bodyPr wrap="none" lIns="0" tIns="0" rIns="0" bIns="0" rtlCol="0" anchor="ctr"/>
          <a:lstStyle/>
          <a:p>
            <a:pPr marL="0" indent="0" algn="ctr">
              <a:buNone/>
            </a:pPr>
            <a:r>
              <a:rPr lang="en-US" sz="2531" dirty="0">
                <a:solidFill>
                  <a:srgbClr val="0F172A"/>
                </a:solidFill>
                <a:latin typeface="Segoe UI Symbol" pitchFamily="34" charset="0"/>
                <a:ea typeface="Segoe UI Symbol" pitchFamily="34" charset="-122"/>
                <a:cs typeface="Segoe UI Symbol" pitchFamily="34" charset="-120"/>
              </a:rPr>
              <a:t>↑</a:t>
            </a:r>
            <a:endParaRPr lang="en-US" sz="2531" dirty="0"/>
          </a:p>
        </p:txBody>
      </p:sp>
      <p:sp>
        <p:nvSpPr>
          <p:cNvPr id="20" name="Text 18"/>
          <p:cNvSpPr/>
          <p:nvPr/>
        </p:nvSpPr>
        <p:spPr>
          <a:xfrm>
            <a:off x="4772025" y="1708696"/>
            <a:ext cx="1689497" cy="195172"/>
          </a:xfrm>
          <a:prstGeom prst="rect">
            <a:avLst/>
          </a:prstGeom>
          <a:noFill/>
          <a:ln/>
        </p:spPr>
        <p:txBody>
          <a:bodyPr wrap="none" lIns="0" tIns="0" rIns="0" bIns="0" rtlCol="0" anchor="t"/>
          <a:lstStyle/>
          <a:p>
            <a:pPr marL="0" indent="0" algn="l">
              <a:lnSpc>
                <a:spcPts val="1423"/>
              </a:lnSpc>
              <a:buNone/>
            </a:pPr>
            <a:r>
              <a:rPr lang="en-US" sz="1238" b="1" dirty="0">
                <a:solidFill>
                  <a:srgbClr val="0F172A"/>
                </a:solidFill>
                <a:latin typeface="Carlito" pitchFamily="34" charset="0"/>
                <a:ea typeface="Carlito" pitchFamily="34" charset="-122"/>
                <a:cs typeface="Carlito" pitchFamily="34" charset="-120"/>
              </a:rPr>
              <a:t>Module Push</a:t>
            </a:r>
            <a:endParaRPr lang="en-US" sz="1238" dirty="0"/>
          </a:p>
        </p:txBody>
      </p:sp>
      <p:sp>
        <p:nvSpPr>
          <p:cNvPr id="21" name="Text 19"/>
          <p:cNvSpPr/>
          <p:nvPr/>
        </p:nvSpPr>
        <p:spPr>
          <a:xfrm>
            <a:off x="4772025" y="1946560"/>
            <a:ext cx="1689497" cy="536692"/>
          </a:xfrm>
          <a:prstGeom prst="rect">
            <a:avLst/>
          </a:prstGeom>
          <a:noFill/>
          <a:ln/>
        </p:spPr>
        <p:txBody>
          <a:bodyPr wrap="square" lIns="0" tIns="0" rIns="0" bIns="0" rtlCol="0" anchor="t"/>
          <a:lstStyle/>
          <a:p>
            <a:pPr marL="0" indent="0" algn="l">
              <a:lnSpc>
                <a:spcPts val="1305"/>
              </a:lnSpc>
              <a:buNone/>
            </a:pPr>
            <a:r>
              <a:rPr lang="en-US" sz="900" dirty="0">
                <a:solidFill>
                  <a:srgbClr val="334155"/>
                </a:solidFill>
                <a:latin typeface="Carlito" pitchFamily="34" charset="0"/>
                <a:ea typeface="Carlito" pitchFamily="34" charset="-122"/>
                <a:cs typeface="Carlito" pitchFamily="34" charset="-120"/>
              </a:rPr>
              <a:t>Ansible copies a small Python module (a self-contained script) to the target host over SSH.</a:t>
            </a:r>
            <a:endParaRPr lang="en-US" sz="900" dirty="0"/>
          </a:p>
        </p:txBody>
      </p:sp>
      <p:sp>
        <p:nvSpPr>
          <p:cNvPr id="22" name="Text 20"/>
          <p:cNvSpPr/>
          <p:nvPr/>
        </p:nvSpPr>
        <p:spPr>
          <a:xfrm>
            <a:off x="6729413" y="1219349"/>
            <a:ext cx="1953816" cy="2861965"/>
          </a:xfrm>
          <a:prstGeom prst="roundRect">
            <a:avLst>
              <a:gd name="adj" fmla="val 6825"/>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23" name="Text 21"/>
          <p:cNvSpPr/>
          <p:nvPr/>
        </p:nvSpPr>
        <p:spPr>
          <a:xfrm>
            <a:off x="6861572" y="1390129"/>
            <a:ext cx="1418034" cy="194328"/>
          </a:xfrm>
          <a:prstGeom prst="rect">
            <a:avLst/>
          </a:prstGeom>
          <a:noFill/>
          <a:ln/>
        </p:spPr>
        <p:txBody>
          <a:bodyPr wrap="none" lIns="0" tIns="0" rIns="0" bIns="0" rtlCol="0" anchor="t"/>
          <a:lstStyle/>
          <a:p>
            <a:pPr marL="0" indent="0" algn="l">
              <a:lnSpc>
                <a:spcPts val="1418"/>
              </a:lnSpc>
              <a:buNone/>
            </a:pPr>
            <a:r>
              <a:rPr lang="en-US" sz="1013" b="1" kern="0" spc="56" dirty="0">
                <a:solidFill>
                  <a:srgbClr val="F97316"/>
                </a:solidFill>
                <a:latin typeface="Liberation Sans Narrow" pitchFamily="34" charset="0"/>
                <a:ea typeface="Liberation Sans Narrow" pitchFamily="34" charset="-122"/>
                <a:cs typeface="Liberation Sans Narrow" pitchFamily="34" charset="-120"/>
              </a:rPr>
              <a:t>STEP 04</a:t>
            </a:r>
            <a:endParaRPr lang="en-US" sz="1013" dirty="0"/>
          </a:p>
        </p:txBody>
      </p:sp>
      <p:sp>
        <p:nvSpPr>
          <p:cNvPr id="24" name="Text 22"/>
          <p:cNvSpPr/>
          <p:nvPr/>
        </p:nvSpPr>
        <p:spPr>
          <a:xfrm>
            <a:off x="8293894" y="1351508"/>
            <a:ext cx="257175" cy="257175"/>
          </a:xfrm>
          <a:prstGeom prst="rect">
            <a:avLst/>
          </a:prstGeom>
          <a:noFill/>
          <a:ln/>
        </p:spPr>
        <p:txBody>
          <a:bodyPr wrap="none" lIns="0" tIns="0" rIns="0" bIns="0" rtlCol="0" anchor="ctr"/>
          <a:lstStyle/>
          <a:p>
            <a:pPr marL="0" indent="0" algn="ctr">
              <a:buNone/>
            </a:pPr>
            <a:r>
              <a:rPr lang="en-US" sz="2531" dirty="0">
                <a:solidFill>
                  <a:srgbClr val="0F172A"/>
                </a:solidFill>
                <a:latin typeface="Segoe UI Symbol" pitchFamily="34" charset="0"/>
                <a:ea typeface="Segoe UI Symbol" pitchFamily="34" charset="-122"/>
                <a:cs typeface="Segoe UI Symbol" pitchFamily="34" charset="-120"/>
              </a:rPr>
              <a:t>▶</a:t>
            </a:r>
            <a:endParaRPr lang="en-US" sz="2531" dirty="0"/>
          </a:p>
        </p:txBody>
      </p:sp>
      <p:sp>
        <p:nvSpPr>
          <p:cNvPr id="25" name="Text 23"/>
          <p:cNvSpPr/>
          <p:nvPr/>
        </p:nvSpPr>
        <p:spPr>
          <a:xfrm>
            <a:off x="6861572" y="1708696"/>
            <a:ext cx="1689497" cy="195172"/>
          </a:xfrm>
          <a:prstGeom prst="rect">
            <a:avLst/>
          </a:prstGeom>
          <a:noFill/>
          <a:ln/>
        </p:spPr>
        <p:txBody>
          <a:bodyPr wrap="none" lIns="0" tIns="0" rIns="0" bIns="0" rtlCol="0" anchor="t"/>
          <a:lstStyle/>
          <a:p>
            <a:pPr marL="0" indent="0" algn="l">
              <a:lnSpc>
                <a:spcPts val="1423"/>
              </a:lnSpc>
              <a:buNone/>
            </a:pPr>
            <a:r>
              <a:rPr lang="en-US" sz="1238" b="1" dirty="0">
                <a:solidFill>
                  <a:srgbClr val="0F172A"/>
                </a:solidFill>
                <a:latin typeface="Carlito" pitchFamily="34" charset="0"/>
                <a:ea typeface="Carlito" pitchFamily="34" charset="-122"/>
                <a:cs typeface="Carlito" pitchFamily="34" charset="-120"/>
              </a:rPr>
              <a:t>Execute + Remove</a:t>
            </a:r>
            <a:endParaRPr lang="en-US" sz="1238" dirty="0"/>
          </a:p>
        </p:txBody>
      </p:sp>
      <p:sp>
        <p:nvSpPr>
          <p:cNvPr id="26" name="Text 24"/>
          <p:cNvSpPr/>
          <p:nvPr/>
        </p:nvSpPr>
        <p:spPr>
          <a:xfrm>
            <a:off x="6861572" y="1946560"/>
            <a:ext cx="1689497" cy="536692"/>
          </a:xfrm>
          <a:prstGeom prst="rect">
            <a:avLst/>
          </a:prstGeom>
          <a:noFill/>
          <a:ln/>
        </p:spPr>
        <p:txBody>
          <a:bodyPr wrap="square" lIns="0" tIns="0" rIns="0" bIns="0" rtlCol="0" anchor="t"/>
          <a:lstStyle/>
          <a:p>
            <a:pPr marL="0" indent="0" algn="l">
              <a:lnSpc>
                <a:spcPts val="1305"/>
              </a:lnSpc>
              <a:buNone/>
            </a:pPr>
            <a:r>
              <a:rPr lang="en-US" sz="900" dirty="0">
                <a:solidFill>
                  <a:srgbClr val="334155"/>
                </a:solidFill>
                <a:latin typeface="Carlito" pitchFamily="34" charset="0"/>
                <a:ea typeface="Carlito" pitchFamily="34" charset="-122"/>
                <a:cs typeface="Carlito" pitchFamily="34" charset="-120"/>
              </a:rPr>
              <a:t>The module runs, returns JSON to the control node, then </a:t>
            </a:r>
            <a:r>
              <a:rPr lang="en-US" sz="900" b="1" dirty="0">
                <a:solidFill>
                  <a:srgbClr val="0F172A"/>
                </a:solidFill>
                <a:latin typeface="Carlito" pitchFamily="34" charset="0"/>
                <a:ea typeface="Carlito" pitchFamily="34" charset="-122"/>
                <a:cs typeface="Carlito" pitchFamily="34" charset="-120"/>
              </a:rPr>
              <a:t>deletes itself</a:t>
            </a:r>
            <a:r>
              <a:rPr lang="en-US" sz="900" dirty="0">
                <a:solidFill>
                  <a:srgbClr val="334155"/>
                </a:solidFill>
                <a:latin typeface="Carlito" pitchFamily="34" charset="0"/>
                <a:ea typeface="Carlito" pitchFamily="34" charset="-122"/>
                <a:cs typeface="Carlito" pitchFamily="34" charset="-120"/>
              </a:rPr>
              <a:t>. No trace left behind.</a:t>
            </a:r>
            <a:endParaRPr lang="en-US" sz="900" dirty="0"/>
          </a:p>
        </p:txBody>
      </p:sp>
      <p:sp>
        <p:nvSpPr>
          <p:cNvPr id="27" name="Text 25"/>
          <p:cNvSpPr/>
          <p:nvPr/>
        </p:nvSpPr>
        <p:spPr>
          <a:xfrm>
            <a:off x="457200" y="4199186"/>
            <a:ext cx="8229600" cy="572839"/>
          </a:xfrm>
          <a:prstGeom prst="roundRect">
            <a:avLst>
              <a:gd name="adj" fmla="val 13302"/>
            </a:avLst>
          </a:prstGeom>
          <a:solidFill>
            <a:srgbClr val="FFF7ED"/>
          </a:solidFill>
          <a:ln/>
        </p:spPr>
        <p:txBody>
          <a:bodyPr wrap="square" rtlCol="0" anchor="ctr"/>
          <a:lstStyle/>
          <a:p>
            <a:pPr marL="0" indent="0">
              <a:buNone/>
            </a:pPr>
            <a:endParaRPr lang="en-US" dirty="0"/>
          </a:p>
        </p:txBody>
      </p:sp>
      <p:sp>
        <p:nvSpPr>
          <p:cNvPr id="28" name="Shape 26"/>
          <p:cNvSpPr/>
          <p:nvPr/>
        </p:nvSpPr>
        <p:spPr>
          <a:xfrm>
            <a:off x="478631" y="4199186"/>
            <a:ext cx="0" cy="572839"/>
          </a:xfrm>
          <a:prstGeom prst="line">
            <a:avLst/>
          </a:prstGeom>
          <a:noFill/>
          <a:ln w="42863">
            <a:solidFill>
              <a:srgbClr val="F97316"/>
            </a:solidFill>
            <a:prstDash val="solid"/>
          </a:ln>
        </p:spPr>
      </p:sp>
      <p:sp>
        <p:nvSpPr>
          <p:cNvPr id="29" name="Text 27"/>
          <p:cNvSpPr/>
          <p:nvPr/>
        </p:nvSpPr>
        <p:spPr>
          <a:xfrm>
            <a:off x="457200" y="4199186"/>
            <a:ext cx="8229600" cy="618667"/>
          </a:xfrm>
          <a:prstGeom prst="rect">
            <a:avLst/>
          </a:prstGeom>
          <a:noFill/>
          <a:ln/>
        </p:spPr>
        <p:txBody>
          <a:bodyPr wrap="square" lIns="157163" tIns="100013" rIns="157163" bIns="100013" rtlCol="0" anchor="t"/>
          <a:lstStyle/>
          <a:p>
            <a:pPr marL="0" indent="0" algn="l">
              <a:lnSpc>
                <a:spcPts val="1418"/>
              </a:lnSpc>
              <a:buNone/>
            </a:pPr>
            <a:r>
              <a:rPr lang="en-US" sz="1013" dirty="0">
                <a:solidFill>
                  <a:srgbClr val="F97316"/>
                </a:solidFill>
                <a:latin typeface="Segoe UI Symbol" pitchFamily="34" charset="0"/>
                <a:ea typeface="Segoe UI Symbol" pitchFamily="34" charset="-122"/>
                <a:cs typeface="Segoe UI Symbol" pitchFamily="34" charset="-120"/>
              </a:rPr>
              <a:t>⇄</a:t>
            </a:r>
            <a:r>
              <a:rPr lang="en-US" sz="1013" dirty="0">
                <a:solidFill>
                  <a:srgbClr val="0F172A"/>
                </a:solidFill>
                <a:latin typeface="Carlito" pitchFamily="34" charset="0"/>
                <a:ea typeface="Carlito" pitchFamily="34" charset="-122"/>
                <a:cs typeface="Carlito" pitchFamily="34" charset="-120"/>
              </a:rPr>
              <a:t> Contrast with Chef/Puppet: those install a </a:t>
            </a:r>
            <a:r>
              <a:rPr lang="en-US" sz="1013" dirty="0">
                <a:solidFill>
                  <a:srgbClr val="F97316"/>
                </a:solidFill>
                <a:latin typeface="Carlito" pitchFamily="34" charset="0"/>
                <a:ea typeface="Carlito" pitchFamily="34" charset="-122"/>
                <a:cs typeface="Carlito" pitchFamily="34" charset="-120"/>
              </a:rPr>
              <a:t>permanent agent</a:t>
            </a:r>
            <a:r>
              <a:rPr lang="en-US" sz="1013" dirty="0">
                <a:solidFill>
                  <a:srgbClr val="0F172A"/>
                </a:solidFill>
                <a:latin typeface="Carlito" pitchFamily="34" charset="0"/>
                <a:ea typeface="Carlito" pitchFamily="34" charset="-122"/>
                <a:cs typeface="Carlito" pitchFamily="34" charset="-120"/>
              </a:rPr>
              <a:t> that runs as a daemon. More moving parts, more attack surface, more upgrade pain.</a:t>
            </a:r>
            <a:endParaRPr lang="en-US" sz="1013" dirty="0"/>
          </a:p>
        </p:txBody>
      </p:sp>
      <p:sp>
        <p:nvSpPr>
          <p:cNvPr id="30" name="Text 28"/>
          <p:cNvSpPr/>
          <p:nvPr/>
        </p:nvSpPr>
        <p:spPr>
          <a:xfrm>
            <a:off x="2368153" y="2550319"/>
            <a:ext cx="200025" cy="200025"/>
          </a:xfrm>
          <a:prstGeom prst="rect">
            <a:avLst/>
          </a:prstGeom>
          <a:noFill/>
          <a:ln/>
        </p:spPr>
        <p:txBody>
          <a:bodyPr wrap="none" lIns="0" tIns="0" rIns="0" bIns="0" rtlCol="0" anchor="ctr"/>
          <a:lstStyle/>
          <a:p>
            <a:pPr marL="0" indent="0" algn="ctr">
              <a:buNone/>
            </a:pPr>
            <a:r>
              <a:rPr lang="en-US" sz="1969" dirty="0">
                <a:solidFill>
                  <a:srgbClr val="F97316"/>
                </a:solidFill>
                <a:latin typeface="Segoe UI Symbol" pitchFamily="34" charset="0"/>
                <a:ea typeface="Segoe UI Symbol" pitchFamily="34" charset="-122"/>
                <a:cs typeface="Segoe UI Symbol" pitchFamily="34" charset="-120"/>
              </a:rPr>
              <a:t>›</a:t>
            </a:r>
            <a:endParaRPr lang="en-US" sz="1969" dirty="0"/>
          </a:p>
        </p:txBody>
      </p:sp>
      <p:sp>
        <p:nvSpPr>
          <p:cNvPr id="31" name="Text 29"/>
          <p:cNvSpPr/>
          <p:nvPr/>
        </p:nvSpPr>
        <p:spPr>
          <a:xfrm>
            <a:off x="4457700" y="2550319"/>
            <a:ext cx="200025" cy="200025"/>
          </a:xfrm>
          <a:prstGeom prst="rect">
            <a:avLst/>
          </a:prstGeom>
          <a:noFill/>
          <a:ln/>
        </p:spPr>
        <p:txBody>
          <a:bodyPr wrap="none" lIns="0" tIns="0" rIns="0" bIns="0" rtlCol="0" anchor="ctr"/>
          <a:lstStyle/>
          <a:p>
            <a:pPr marL="0" indent="0" algn="ctr">
              <a:buNone/>
            </a:pPr>
            <a:r>
              <a:rPr lang="en-US" sz="1969" dirty="0">
                <a:solidFill>
                  <a:srgbClr val="F97316"/>
                </a:solidFill>
                <a:latin typeface="Segoe UI Symbol" pitchFamily="34" charset="0"/>
                <a:ea typeface="Segoe UI Symbol" pitchFamily="34" charset="-122"/>
                <a:cs typeface="Segoe UI Symbol" pitchFamily="34" charset="-120"/>
              </a:rPr>
              <a:t>›</a:t>
            </a:r>
            <a:endParaRPr lang="en-US" sz="1969" dirty="0"/>
          </a:p>
        </p:txBody>
      </p:sp>
      <p:sp>
        <p:nvSpPr>
          <p:cNvPr id="32" name="Text 30"/>
          <p:cNvSpPr/>
          <p:nvPr/>
        </p:nvSpPr>
        <p:spPr>
          <a:xfrm>
            <a:off x="6547247" y="2550319"/>
            <a:ext cx="200025" cy="200025"/>
          </a:xfrm>
          <a:prstGeom prst="rect">
            <a:avLst/>
          </a:prstGeom>
          <a:noFill/>
          <a:ln/>
        </p:spPr>
        <p:txBody>
          <a:bodyPr wrap="none" lIns="0" tIns="0" rIns="0" bIns="0" rtlCol="0" anchor="ctr"/>
          <a:lstStyle/>
          <a:p>
            <a:pPr marL="0" indent="0" algn="ctr">
              <a:buNone/>
            </a:pPr>
            <a:r>
              <a:rPr lang="en-US" sz="1969" dirty="0">
                <a:solidFill>
                  <a:srgbClr val="F97316"/>
                </a:solidFill>
                <a:latin typeface="Segoe UI Symbol" pitchFamily="34" charset="0"/>
                <a:ea typeface="Segoe UI Symbol" pitchFamily="34" charset="-122"/>
                <a:cs typeface="Segoe UI Symbol" pitchFamily="34" charset="-120"/>
              </a:rPr>
              <a:t>›</a:t>
            </a:r>
            <a:endParaRPr lang="en-US" sz="1969"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71475"/>
            <a:ext cx="4812365" cy="356348"/>
          </a:xfrm>
          <a:prstGeom prst="rect">
            <a:avLst/>
          </a:prstGeom>
          <a:noFill/>
          <a:ln/>
        </p:spPr>
        <p:txBody>
          <a:bodyPr wrap="square" lIns="0" tIns="0" rIns="0" bIns="0" rtlCol="0" anchor="t"/>
          <a:lstStyle/>
          <a:p>
            <a:pPr marL="0" indent="0" algn="l">
              <a:lnSpc>
                <a:spcPts val="2599"/>
              </a:lnSpc>
              <a:buNone/>
            </a:pPr>
            <a:r>
              <a:rPr lang="en-US" sz="2363" b="1" dirty="0">
                <a:solidFill>
                  <a:srgbClr val="0F172A"/>
                </a:solidFill>
                <a:latin typeface="Carlito" pitchFamily="34" charset="0"/>
                <a:ea typeface="Carlito" pitchFamily="34" charset="-122"/>
                <a:cs typeface="Carlito" pitchFamily="34" charset="-120"/>
              </a:rPr>
              <a:t>Push vs Pull — Execution Models</a:t>
            </a:r>
            <a:endParaRPr lang="en-US" sz="2363" dirty="0"/>
          </a:p>
        </p:txBody>
      </p:sp>
      <p:sp>
        <p:nvSpPr>
          <p:cNvPr id="3" name="Text 1"/>
          <p:cNvSpPr/>
          <p:nvPr/>
        </p:nvSpPr>
        <p:spPr>
          <a:xfrm>
            <a:off x="457200" y="787152"/>
            <a:ext cx="571500" cy="42863"/>
          </a:xfrm>
          <a:prstGeom prst="roundRect">
            <a:avLst>
              <a:gd name="adj" fmla="val 66666"/>
            </a:avLst>
          </a:prstGeom>
          <a:solidFill>
            <a:srgbClr val="F97316"/>
          </a:solidFill>
          <a:ln/>
        </p:spPr>
        <p:txBody>
          <a:bodyPr wrap="square" rtlCol="0" anchor="ctr"/>
          <a:lstStyle/>
          <a:p>
            <a:pPr marL="0" indent="0">
              <a:buNone/>
            </a:pPr>
            <a:endParaRPr lang="en-US" dirty="0"/>
          </a:p>
        </p:txBody>
      </p:sp>
      <p:sp>
        <p:nvSpPr>
          <p:cNvPr id="4" name="Text 2"/>
          <p:cNvSpPr/>
          <p:nvPr/>
        </p:nvSpPr>
        <p:spPr>
          <a:xfrm>
            <a:off x="7573514" y="358673"/>
            <a:ext cx="1136146" cy="331333"/>
          </a:xfrm>
          <a:prstGeom prst="roundRect">
            <a:avLst>
              <a:gd name="adj" fmla="val 2871877"/>
            </a:avLst>
          </a:prstGeom>
          <a:solidFill>
            <a:srgbClr val="0F172A"/>
          </a:solidFill>
          <a:ln/>
        </p:spPr>
        <p:txBody>
          <a:bodyPr wrap="square" rtlCol="0" anchor="ctr"/>
          <a:lstStyle/>
          <a:p>
            <a:pPr marL="0" indent="0">
              <a:buNone/>
            </a:pPr>
            <a:endParaRPr lang="en-US" dirty="0"/>
          </a:p>
        </p:txBody>
      </p:sp>
      <p:sp>
        <p:nvSpPr>
          <p:cNvPr id="5" name="Text 3"/>
          <p:cNvSpPr/>
          <p:nvPr/>
        </p:nvSpPr>
        <p:spPr>
          <a:xfrm>
            <a:off x="7596374" y="371475"/>
            <a:ext cx="1090426" cy="305730"/>
          </a:xfrm>
          <a:prstGeom prst="rect">
            <a:avLst/>
          </a:prstGeom>
          <a:noFill/>
          <a:ln/>
        </p:spPr>
        <p:txBody>
          <a:bodyPr wrap="none" lIns="0" tIns="0" rIns="0" bIns="0" rtlCol="0" anchor="ctr"/>
          <a:lstStyle/>
          <a:p>
            <a:pPr marL="0" indent="0" algn="ctr">
              <a:lnSpc>
                <a:spcPts val="1733"/>
              </a:lnSpc>
              <a:buNone/>
            </a:pPr>
            <a:r>
              <a:rPr lang="en-US" sz="1238" b="1" kern="0" spc="28" dirty="0">
                <a:solidFill>
                  <a:srgbClr val="FFFFFF"/>
                </a:solidFill>
                <a:latin typeface="Liberation Sans Narrow" pitchFamily="34" charset="0"/>
                <a:ea typeface="Liberation Sans Narrow" pitchFamily="34" charset="-122"/>
                <a:cs typeface="Liberation Sans Narrow" pitchFamily="34" charset="-120"/>
              </a:rPr>
              <a:t>02 · Models</a:t>
            </a:r>
            <a:endParaRPr lang="en-US" sz="1238" dirty="0"/>
          </a:p>
        </p:txBody>
      </p:sp>
      <p:sp>
        <p:nvSpPr>
          <p:cNvPr id="6" name="Text 4"/>
          <p:cNvSpPr/>
          <p:nvPr/>
        </p:nvSpPr>
        <p:spPr>
          <a:xfrm>
            <a:off x="460772" y="976461"/>
            <a:ext cx="4036219" cy="3283446"/>
          </a:xfrm>
          <a:prstGeom prst="roundRect">
            <a:avLst>
              <a:gd name="adj" fmla="val 4061"/>
            </a:avLst>
          </a:prstGeom>
          <a:solidFill>
            <a:srgbClr val="FFFFFF"/>
          </a:solidFill>
          <a:ln w="7144">
            <a:solidFill>
              <a:srgbClr val="CBD5E1"/>
            </a:solidFill>
            <a:prstDash val="solid"/>
          </a:ln>
        </p:spPr>
        <p:txBody>
          <a:bodyPr wrap="square" rtlCol="0" anchor="ctr"/>
          <a:lstStyle/>
          <a:p>
            <a:pPr marL="0" indent="0">
              <a:buNone/>
            </a:pPr>
            <a:endParaRPr lang="en-US" dirty="0"/>
          </a:p>
        </p:txBody>
      </p:sp>
      <p:sp>
        <p:nvSpPr>
          <p:cNvPr id="7" name="Text 5"/>
          <p:cNvSpPr/>
          <p:nvPr/>
        </p:nvSpPr>
        <p:spPr>
          <a:xfrm>
            <a:off x="464344" y="980033"/>
            <a:ext cx="4029075" cy="488566"/>
          </a:xfrm>
          <a:prstGeom prst="rect">
            <a:avLst/>
          </a:prstGeom>
          <a:solidFill>
            <a:srgbClr val="0F172A"/>
          </a:solidFill>
          <a:ln/>
        </p:spPr>
        <p:txBody>
          <a:bodyPr wrap="square" rtlCol="0" anchor="ctr"/>
          <a:lstStyle/>
          <a:p>
            <a:pPr marL="0" indent="0">
              <a:buNone/>
            </a:pPr>
            <a:endParaRPr lang="en-US" dirty="0"/>
          </a:p>
        </p:txBody>
      </p:sp>
      <p:sp>
        <p:nvSpPr>
          <p:cNvPr id="8" name="Text 6"/>
          <p:cNvSpPr/>
          <p:nvPr/>
        </p:nvSpPr>
        <p:spPr>
          <a:xfrm>
            <a:off x="3379217" y="1135745"/>
            <a:ext cx="957039" cy="177143"/>
          </a:xfrm>
          <a:prstGeom prst="roundRect">
            <a:avLst>
              <a:gd name="adj" fmla="val 5371635"/>
            </a:avLst>
          </a:prstGeom>
          <a:solidFill>
            <a:srgbClr val="FFFFFF">
              <a:alpha val="20000"/>
            </a:srgbClr>
          </a:solidFill>
          <a:ln/>
        </p:spPr>
        <p:txBody>
          <a:bodyPr wrap="square" rtlCol="0" anchor="ctr"/>
          <a:lstStyle/>
          <a:p>
            <a:pPr marL="0" indent="0">
              <a:buNone/>
            </a:pPr>
            <a:endParaRPr lang="en-US" dirty="0"/>
          </a:p>
        </p:txBody>
      </p:sp>
      <p:sp>
        <p:nvSpPr>
          <p:cNvPr id="9" name="Text 7"/>
          <p:cNvSpPr/>
          <p:nvPr/>
        </p:nvSpPr>
        <p:spPr>
          <a:xfrm>
            <a:off x="921544" y="1101477"/>
            <a:ext cx="1710147" cy="254603"/>
          </a:xfrm>
          <a:prstGeom prst="rect">
            <a:avLst/>
          </a:prstGeom>
          <a:noFill/>
          <a:ln/>
        </p:spPr>
        <p:txBody>
          <a:bodyPr wrap="none" lIns="157163" tIns="114300" rIns="157163" bIns="114300" rtlCol="0" anchor="t"/>
          <a:lstStyle/>
          <a:p>
            <a:pPr marL="0" indent="0" algn="l">
              <a:lnSpc>
                <a:spcPts val="2047"/>
              </a:lnSpc>
              <a:buNone/>
            </a:pPr>
            <a:r>
              <a:rPr lang="en-US" sz="1463" b="1" dirty="0">
                <a:solidFill>
                  <a:srgbClr val="FFFFFF"/>
                </a:solidFill>
                <a:latin typeface="Carlito" pitchFamily="34" charset="0"/>
                <a:ea typeface="Carlito" pitchFamily="34" charset="-122"/>
                <a:cs typeface="Carlito" pitchFamily="34" charset="-120"/>
              </a:rPr>
              <a:t>Push Model (Ansible)</a:t>
            </a:r>
            <a:endParaRPr lang="en-US" sz="1463" dirty="0"/>
          </a:p>
        </p:txBody>
      </p:sp>
      <p:sp>
        <p:nvSpPr>
          <p:cNvPr id="10" name="Text 8"/>
          <p:cNvSpPr/>
          <p:nvPr/>
        </p:nvSpPr>
        <p:spPr>
          <a:xfrm>
            <a:off x="621506" y="1117104"/>
            <a:ext cx="214313" cy="214313"/>
          </a:xfrm>
          <a:prstGeom prst="rect">
            <a:avLst/>
          </a:prstGeom>
          <a:noFill/>
          <a:ln/>
        </p:spPr>
        <p:txBody>
          <a:bodyPr wrap="none" lIns="0" tIns="0" rIns="0" bIns="0" rtlCol="0" anchor="ctr"/>
          <a:lstStyle/>
          <a:p>
            <a:pPr marL="0" indent="0" algn="ctr">
              <a:buNone/>
            </a:pPr>
            <a:r>
              <a:rPr lang="en-US" sz="2109" dirty="0">
                <a:solidFill>
                  <a:srgbClr val="FFFFFF"/>
                </a:solidFill>
                <a:latin typeface="Segoe UI Symbol" pitchFamily="34" charset="0"/>
                <a:ea typeface="Segoe UI Symbol" pitchFamily="34" charset="-122"/>
                <a:cs typeface="Segoe UI Symbol" pitchFamily="34" charset="-120"/>
              </a:rPr>
              <a:t>↗</a:t>
            </a:r>
            <a:endParaRPr lang="en-US" sz="2109" dirty="0"/>
          </a:p>
        </p:txBody>
      </p:sp>
      <p:sp>
        <p:nvSpPr>
          <p:cNvPr id="11" name="Text 9"/>
          <p:cNvSpPr/>
          <p:nvPr/>
        </p:nvSpPr>
        <p:spPr>
          <a:xfrm>
            <a:off x="3356357" y="1125116"/>
            <a:ext cx="1002759" cy="198400"/>
          </a:xfrm>
          <a:prstGeom prst="roundRect">
            <a:avLst>
              <a:gd name="adj" fmla="val 4796106"/>
            </a:avLst>
          </a:prstGeom>
          <a:solidFill>
            <a:srgbClr val="FFFFFF">
              <a:alpha val="20000"/>
            </a:srgbClr>
          </a:solidFill>
          <a:ln/>
        </p:spPr>
        <p:txBody>
          <a:bodyPr wrap="square" rtlCol="0" anchor="ctr"/>
          <a:lstStyle/>
          <a:p>
            <a:pPr marL="0" indent="0">
              <a:buNone/>
            </a:pPr>
            <a:endParaRPr lang="en-US" dirty="0"/>
          </a:p>
        </p:txBody>
      </p:sp>
      <p:sp>
        <p:nvSpPr>
          <p:cNvPr id="12" name="Text 10"/>
          <p:cNvSpPr/>
          <p:nvPr/>
        </p:nvSpPr>
        <p:spPr>
          <a:xfrm>
            <a:off x="3379217" y="1135745"/>
            <a:ext cx="957039" cy="177143"/>
          </a:xfrm>
          <a:prstGeom prst="rect">
            <a:avLst/>
          </a:prstGeom>
          <a:noFill/>
          <a:ln/>
        </p:spPr>
        <p:txBody>
          <a:bodyPr wrap="none" lIns="0" tIns="0" rIns="0" bIns="0" rtlCol="0" anchor="ctr"/>
          <a:lstStyle/>
          <a:p>
            <a:pPr marL="0" indent="0" algn="ctr">
              <a:lnSpc>
                <a:spcPts val="945"/>
              </a:lnSpc>
              <a:buNone/>
            </a:pPr>
            <a:r>
              <a:rPr lang="en-US" sz="800" b="1" kern="0" spc="28" dirty="0">
                <a:solidFill>
                  <a:srgbClr val="FFFFFF"/>
                </a:solidFill>
                <a:latin typeface="Carlito" pitchFamily="34" charset="0"/>
                <a:ea typeface="Carlito" pitchFamily="34" charset="-122"/>
                <a:cs typeface="Carlito" pitchFamily="34" charset="-120"/>
              </a:rPr>
              <a:t>CONTROL → HOSTS</a:t>
            </a:r>
            <a:endParaRPr lang="en-US" sz="800" dirty="0"/>
          </a:p>
        </p:txBody>
      </p:sp>
      <p:sp>
        <p:nvSpPr>
          <p:cNvPr id="13" name="Text 11"/>
          <p:cNvSpPr/>
          <p:nvPr/>
        </p:nvSpPr>
        <p:spPr>
          <a:xfrm>
            <a:off x="2103834" y="1518605"/>
            <a:ext cx="292894" cy="285442"/>
          </a:xfrm>
          <a:prstGeom prst="rect">
            <a:avLst/>
          </a:prstGeom>
          <a:noFill/>
          <a:ln/>
        </p:spPr>
        <p:txBody>
          <a:bodyPr wrap="none" lIns="0" tIns="0" rIns="0" bIns="0" rtlCol="0" anchor="ctr">
            <a:normAutofit/>
          </a:bodyPr>
          <a:lstStyle/>
          <a:p>
            <a:pPr marL="0" indent="0" algn="ctr">
              <a:buNone/>
            </a:pPr>
            <a:r>
              <a:rPr lang="en-US" sz="1800" dirty="0">
                <a:solidFill>
                  <a:srgbClr val="64748B"/>
                </a:solidFill>
                <a:latin typeface="Segoe UI Symbol" pitchFamily="34" charset="0"/>
                <a:ea typeface="Segoe UI Symbol" pitchFamily="34" charset="-122"/>
                <a:cs typeface="Segoe UI Symbol" pitchFamily="34" charset="-120"/>
              </a:rPr>
              <a:t>→</a:t>
            </a:r>
            <a:endParaRPr lang="en-US" sz="1800" dirty="0"/>
          </a:p>
        </p:txBody>
      </p:sp>
      <p:sp>
        <p:nvSpPr>
          <p:cNvPr id="14" name="Text 12"/>
          <p:cNvSpPr/>
          <p:nvPr/>
        </p:nvSpPr>
        <p:spPr>
          <a:xfrm>
            <a:off x="1838846" y="1557114"/>
            <a:ext cx="228600" cy="228600"/>
          </a:xfrm>
          <a:prstGeom prst="rect">
            <a:avLst/>
          </a:prstGeom>
          <a:noFill/>
          <a:ln/>
        </p:spPr>
        <p:txBody>
          <a:bodyPr wrap="none" lIns="0" tIns="0" rIns="0" bIns="0" rtlCol="0" anchor="ctr"/>
          <a:lstStyle/>
          <a:p>
            <a:pPr marL="0" indent="0" algn="ctr">
              <a:buNone/>
            </a:pPr>
            <a:r>
              <a:rPr lang="en-US" sz="2250" dirty="0">
                <a:solidFill>
                  <a:srgbClr val="0F172A"/>
                </a:solidFill>
                <a:latin typeface="Segoe UI Symbol" pitchFamily="34" charset="0"/>
                <a:ea typeface="Segoe UI Symbol" pitchFamily="34" charset="-122"/>
                <a:cs typeface="Segoe UI Symbol" pitchFamily="34" charset="-120"/>
              </a:rPr>
              <a:t>▢</a:t>
            </a:r>
            <a:endParaRPr lang="en-US" sz="2250" dirty="0"/>
          </a:p>
        </p:txBody>
      </p:sp>
      <p:sp>
        <p:nvSpPr>
          <p:cNvPr id="15" name="Text 13"/>
          <p:cNvSpPr/>
          <p:nvPr/>
        </p:nvSpPr>
        <p:spPr>
          <a:xfrm>
            <a:off x="2433117" y="1557114"/>
            <a:ext cx="228600" cy="228600"/>
          </a:xfrm>
          <a:prstGeom prst="rect">
            <a:avLst/>
          </a:prstGeom>
          <a:noFill/>
          <a:ln/>
        </p:spPr>
        <p:txBody>
          <a:bodyPr wrap="none" lIns="0" tIns="0" rIns="0" bIns="0" rtlCol="0" anchor="ctr"/>
          <a:lstStyle/>
          <a:p>
            <a:pPr marL="0" indent="0" algn="ctr">
              <a:buNone/>
            </a:pPr>
            <a:r>
              <a:rPr lang="en-US" sz="2250" dirty="0">
                <a:solidFill>
                  <a:srgbClr val="334155"/>
                </a:solidFill>
                <a:latin typeface="Segoe UI Symbol" pitchFamily="34" charset="0"/>
                <a:ea typeface="Segoe UI Symbol" pitchFamily="34" charset="-122"/>
                <a:cs typeface="Segoe UI Symbol" pitchFamily="34" charset="-120"/>
              </a:rPr>
              <a:t>▦</a:t>
            </a:r>
            <a:endParaRPr lang="en-US" sz="2250" dirty="0"/>
          </a:p>
        </p:txBody>
      </p:sp>
      <p:sp>
        <p:nvSpPr>
          <p:cNvPr id="16" name="Text 14"/>
          <p:cNvSpPr/>
          <p:nvPr/>
        </p:nvSpPr>
        <p:spPr>
          <a:xfrm>
            <a:off x="2661717" y="1557114"/>
            <a:ext cx="228600" cy="228600"/>
          </a:xfrm>
          <a:prstGeom prst="rect">
            <a:avLst/>
          </a:prstGeom>
          <a:noFill/>
          <a:ln/>
        </p:spPr>
        <p:txBody>
          <a:bodyPr wrap="none" lIns="0" tIns="0" rIns="0" bIns="0" rtlCol="0" anchor="ctr"/>
          <a:lstStyle/>
          <a:p>
            <a:pPr marL="0" indent="0" algn="ctr">
              <a:buNone/>
            </a:pPr>
            <a:r>
              <a:rPr lang="en-US" sz="2250" dirty="0">
                <a:solidFill>
                  <a:srgbClr val="334155"/>
                </a:solidFill>
                <a:latin typeface="Segoe UI Symbol" pitchFamily="34" charset="0"/>
                <a:ea typeface="Segoe UI Symbol" pitchFamily="34" charset="-122"/>
                <a:cs typeface="Segoe UI Symbol" pitchFamily="34" charset="-120"/>
              </a:rPr>
              <a:t>▦</a:t>
            </a:r>
            <a:endParaRPr lang="en-US" sz="2250" dirty="0"/>
          </a:p>
        </p:txBody>
      </p:sp>
      <p:sp>
        <p:nvSpPr>
          <p:cNvPr id="17" name="Text 15"/>
          <p:cNvSpPr/>
          <p:nvPr/>
        </p:nvSpPr>
        <p:spPr>
          <a:xfrm>
            <a:off x="2890317" y="1557114"/>
            <a:ext cx="228600" cy="228600"/>
          </a:xfrm>
          <a:prstGeom prst="rect">
            <a:avLst/>
          </a:prstGeom>
          <a:noFill/>
          <a:ln/>
        </p:spPr>
        <p:txBody>
          <a:bodyPr wrap="none" lIns="0" tIns="0" rIns="0" bIns="0" rtlCol="0" anchor="ctr"/>
          <a:lstStyle/>
          <a:p>
            <a:pPr marL="0" indent="0" algn="ctr">
              <a:buNone/>
            </a:pPr>
            <a:r>
              <a:rPr lang="en-US" sz="2250" dirty="0">
                <a:solidFill>
                  <a:srgbClr val="334155"/>
                </a:solidFill>
                <a:latin typeface="Segoe UI Symbol" pitchFamily="34" charset="0"/>
                <a:ea typeface="Segoe UI Symbol" pitchFamily="34" charset="-122"/>
                <a:cs typeface="Segoe UI Symbol" pitchFamily="34" charset="-120"/>
              </a:rPr>
              <a:t>▦</a:t>
            </a:r>
            <a:endParaRPr lang="en-US" sz="2250" dirty="0"/>
          </a:p>
        </p:txBody>
      </p:sp>
      <p:sp>
        <p:nvSpPr>
          <p:cNvPr id="18" name="Shape 16"/>
          <p:cNvSpPr/>
          <p:nvPr/>
        </p:nvSpPr>
        <p:spPr>
          <a:xfrm>
            <a:off x="464344" y="1835051"/>
            <a:ext cx="4029075" cy="0"/>
          </a:xfrm>
          <a:prstGeom prst="line">
            <a:avLst/>
          </a:prstGeom>
          <a:noFill/>
          <a:ln w="7144">
            <a:solidFill>
              <a:srgbClr val="CBD5E1"/>
            </a:solidFill>
            <a:prstDash val="solid"/>
          </a:ln>
        </p:spPr>
      </p:sp>
      <p:sp>
        <p:nvSpPr>
          <p:cNvPr id="19" name="Text 17"/>
          <p:cNvSpPr/>
          <p:nvPr/>
        </p:nvSpPr>
        <p:spPr>
          <a:xfrm>
            <a:off x="821531" y="1902916"/>
            <a:ext cx="1070223" cy="154305"/>
          </a:xfrm>
          <a:prstGeom prst="rect">
            <a:avLst/>
          </a:prstGeom>
          <a:noFill/>
          <a:ln/>
        </p:spPr>
        <p:txBody>
          <a:bodyPr wrap="none" lIns="157163" tIns="57150" rIns="157163" bIns="57150" rtlCol="0" anchor="t"/>
          <a:lstStyle/>
          <a:p>
            <a:pPr marL="0" indent="0" algn="l">
              <a:lnSpc>
                <a:spcPts val="1260"/>
              </a:lnSpc>
              <a:buNone/>
            </a:pPr>
            <a:r>
              <a:rPr lang="en-US" sz="900" dirty="0">
                <a:solidFill>
                  <a:srgbClr val="0F172A"/>
                </a:solidFill>
                <a:latin typeface="Carlito" pitchFamily="34" charset="0"/>
                <a:ea typeface="Carlito" pitchFamily="34" charset="-122"/>
                <a:cs typeface="Carlito" pitchFamily="34" charset="-120"/>
              </a:rPr>
              <a:t>Control node initiates</a:t>
            </a:r>
            <a:endParaRPr lang="en-US" sz="900" dirty="0"/>
          </a:p>
        </p:txBody>
      </p:sp>
      <p:sp>
        <p:nvSpPr>
          <p:cNvPr id="20" name="Text 18"/>
          <p:cNvSpPr/>
          <p:nvPr/>
        </p:nvSpPr>
        <p:spPr>
          <a:xfrm>
            <a:off x="621506" y="1924348"/>
            <a:ext cx="128588" cy="128588"/>
          </a:xfrm>
          <a:prstGeom prst="rect">
            <a:avLst/>
          </a:prstGeom>
          <a:noFill/>
          <a:ln/>
        </p:spPr>
        <p:txBody>
          <a:bodyPr wrap="none" lIns="0" tIns="0" rIns="0" bIns="0" rtlCol="0" anchor="ctr"/>
          <a:lstStyle/>
          <a:p>
            <a:pPr marL="0" indent="0" algn="ctr">
              <a:buNone/>
            </a:pPr>
            <a:r>
              <a:rPr lang="en-US" sz="1266" dirty="0">
                <a:solidFill>
                  <a:srgbClr val="0F172A"/>
                </a:solidFill>
                <a:latin typeface="Segoe UI Symbol" pitchFamily="34" charset="0"/>
                <a:ea typeface="Segoe UI Symbol" pitchFamily="34" charset="-122"/>
                <a:cs typeface="Segoe UI Symbol" pitchFamily="34" charset="-120"/>
              </a:rPr>
              <a:t>▶</a:t>
            </a:r>
            <a:endParaRPr lang="en-US" sz="1266" dirty="0"/>
          </a:p>
        </p:txBody>
      </p:sp>
      <p:sp>
        <p:nvSpPr>
          <p:cNvPr id="21" name="Shape 19"/>
          <p:cNvSpPr/>
          <p:nvPr/>
        </p:nvSpPr>
        <p:spPr>
          <a:xfrm>
            <a:off x="464344" y="2116448"/>
            <a:ext cx="4029075" cy="0"/>
          </a:xfrm>
          <a:prstGeom prst="line">
            <a:avLst/>
          </a:prstGeom>
          <a:noFill/>
          <a:ln w="7144">
            <a:solidFill>
              <a:srgbClr val="CBD5E1"/>
            </a:solidFill>
            <a:prstDash val="solid"/>
          </a:ln>
        </p:spPr>
      </p:sp>
      <p:sp>
        <p:nvSpPr>
          <p:cNvPr id="22" name="Text 20"/>
          <p:cNvSpPr/>
          <p:nvPr/>
        </p:nvSpPr>
        <p:spPr>
          <a:xfrm>
            <a:off x="821531" y="2184313"/>
            <a:ext cx="2001813" cy="154305"/>
          </a:xfrm>
          <a:prstGeom prst="rect">
            <a:avLst/>
          </a:prstGeom>
          <a:noFill/>
          <a:ln/>
        </p:spPr>
        <p:txBody>
          <a:bodyPr wrap="square" lIns="157163" tIns="57150" rIns="157163" bIns="57150" rtlCol="0" anchor="t"/>
          <a:lstStyle/>
          <a:p>
            <a:pPr marL="0" indent="0" algn="l">
              <a:lnSpc>
                <a:spcPts val="1260"/>
              </a:lnSpc>
              <a:buNone/>
            </a:pPr>
            <a:r>
              <a:rPr lang="en-US" sz="900" dirty="0">
                <a:solidFill>
                  <a:srgbClr val="0F172A"/>
                </a:solidFill>
                <a:latin typeface="Carlito" pitchFamily="34" charset="0"/>
                <a:ea typeface="Carlito" pitchFamily="34" charset="-122"/>
                <a:cs typeface="Carlito" pitchFamily="34" charset="-120"/>
              </a:rPr>
              <a:t>Configuration pushed to hosts over SSH</a:t>
            </a:r>
            <a:endParaRPr lang="en-US" sz="900" dirty="0"/>
          </a:p>
        </p:txBody>
      </p:sp>
      <p:sp>
        <p:nvSpPr>
          <p:cNvPr id="23" name="Text 21"/>
          <p:cNvSpPr/>
          <p:nvPr/>
        </p:nvSpPr>
        <p:spPr>
          <a:xfrm>
            <a:off x="621506" y="2205744"/>
            <a:ext cx="128588" cy="128588"/>
          </a:xfrm>
          <a:prstGeom prst="rect">
            <a:avLst/>
          </a:prstGeom>
          <a:noFill/>
          <a:ln/>
        </p:spPr>
        <p:txBody>
          <a:bodyPr wrap="none" lIns="0" tIns="0" rIns="0" bIns="0" rtlCol="0" anchor="ctr"/>
          <a:lstStyle/>
          <a:p>
            <a:pPr marL="0" indent="0" algn="ctr">
              <a:buNone/>
            </a:pPr>
            <a:r>
              <a:rPr lang="en-US" sz="1266" dirty="0">
                <a:solidFill>
                  <a:srgbClr val="0F172A"/>
                </a:solidFill>
                <a:latin typeface="Segoe UI Symbol" pitchFamily="34" charset="0"/>
                <a:ea typeface="Segoe UI Symbol" pitchFamily="34" charset="-122"/>
                <a:cs typeface="Segoe UI Symbol" pitchFamily="34" charset="-120"/>
              </a:rPr>
              <a:t>▶</a:t>
            </a:r>
            <a:endParaRPr lang="en-US" sz="1266" dirty="0"/>
          </a:p>
        </p:txBody>
      </p:sp>
      <p:sp>
        <p:nvSpPr>
          <p:cNvPr id="24" name="Shape 22"/>
          <p:cNvSpPr/>
          <p:nvPr/>
        </p:nvSpPr>
        <p:spPr>
          <a:xfrm>
            <a:off x="464344" y="2397844"/>
            <a:ext cx="4029075" cy="0"/>
          </a:xfrm>
          <a:prstGeom prst="line">
            <a:avLst/>
          </a:prstGeom>
          <a:noFill/>
          <a:ln w="7144">
            <a:solidFill>
              <a:srgbClr val="CBD5E1"/>
            </a:solidFill>
            <a:prstDash val="solid"/>
          </a:ln>
        </p:spPr>
      </p:sp>
      <p:sp>
        <p:nvSpPr>
          <p:cNvPr id="25" name="Text 23"/>
          <p:cNvSpPr/>
          <p:nvPr/>
        </p:nvSpPr>
        <p:spPr>
          <a:xfrm>
            <a:off x="821531" y="2465710"/>
            <a:ext cx="1613706" cy="154305"/>
          </a:xfrm>
          <a:prstGeom prst="rect">
            <a:avLst/>
          </a:prstGeom>
          <a:noFill/>
          <a:ln/>
        </p:spPr>
        <p:txBody>
          <a:bodyPr wrap="none" lIns="157163" tIns="57150" rIns="157163" bIns="57150" rtlCol="0" anchor="t"/>
          <a:lstStyle/>
          <a:p>
            <a:pPr marL="0" indent="0" algn="l">
              <a:lnSpc>
                <a:spcPts val="1260"/>
              </a:lnSpc>
              <a:buNone/>
            </a:pPr>
            <a:r>
              <a:rPr lang="en-US" sz="900" dirty="0">
                <a:solidFill>
                  <a:srgbClr val="0F172A"/>
                </a:solidFill>
                <a:latin typeface="Carlito" pitchFamily="34" charset="0"/>
                <a:ea typeface="Carlito" pitchFamily="34" charset="-122"/>
                <a:cs typeface="Carlito" pitchFamily="34" charset="-120"/>
              </a:rPr>
              <a:t>Real-time, on-demand execution</a:t>
            </a:r>
            <a:endParaRPr lang="en-US" sz="900" dirty="0"/>
          </a:p>
        </p:txBody>
      </p:sp>
      <p:sp>
        <p:nvSpPr>
          <p:cNvPr id="26" name="Text 24"/>
          <p:cNvSpPr/>
          <p:nvPr/>
        </p:nvSpPr>
        <p:spPr>
          <a:xfrm>
            <a:off x="621506" y="2487141"/>
            <a:ext cx="128588" cy="128588"/>
          </a:xfrm>
          <a:prstGeom prst="rect">
            <a:avLst/>
          </a:prstGeom>
          <a:noFill/>
          <a:ln/>
        </p:spPr>
        <p:txBody>
          <a:bodyPr wrap="none" lIns="0" tIns="0" rIns="0" bIns="0" rtlCol="0" anchor="ctr"/>
          <a:lstStyle/>
          <a:p>
            <a:pPr marL="0" indent="0" algn="ctr">
              <a:buNone/>
            </a:pPr>
            <a:r>
              <a:rPr lang="en-US" sz="1266" dirty="0">
                <a:solidFill>
                  <a:srgbClr val="0F172A"/>
                </a:solidFill>
                <a:latin typeface="Segoe UI Symbol" pitchFamily="34" charset="0"/>
                <a:ea typeface="Segoe UI Symbol" pitchFamily="34" charset="-122"/>
                <a:cs typeface="Segoe UI Symbol" pitchFamily="34" charset="-120"/>
              </a:rPr>
              <a:t>▶</a:t>
            </a:r>
            <a:endParaRPr lang="en-US" sz="1266" dirty="0"/>
          </a:p>
        </p:txBody>
      </p:sp>
      <p:sp>
        <p:nvSpPr>
          <p:cNvPr id="27" name="Shape 25"/>
          <p:cNvSpPr/>
          <p:nvPr/>
        </p:nvSpPr>
        <p:spPr>
          <a:xfrm>
            <a:off x="464344" y="2679241"/>
            <a:ext cx="4029075" cy="0"/>
          </a:xfrm>
          <a:prstGeom prst="line">
            <a:avLst/>
          </a:prstGeom>
          <a:noFill/>
          <a:ln w="7144">
            <a:solidFill>
              <a:srgbClr val="CBD5E1"/>
            </a:solidFill>
            <a:prstDash val="solid"/>
          </a:ln>
        </p:spPr>
      </p:sp>
      <p:sp>
        <p:nvSpPr>
          <p:cNvPr id="28" name="Text 26"/>
          <p:cNvSpPr/>
          <p:nvPr/>
        </p:nvSpPr>
        <p:spPr>
          <a:xfrm>
            <a:off x="821531" y="2747107"/>
            <a:ext cx="1054596" cy="154305"/>
          </a:xfrm>
          <a:prstGeom prst="rect">
            <a:avLst/>
          </a:prstGeom>
          <a:noFill/>
          <a:ln/>
        </p:spPr>
        <p:txBody>
          <a:bodyPr wrap="none" lIns="157163" tIns="57150" rIns="157163" bIns="57150" rtlCol="0" anchor="t"/>
          <a:lstStyle/>
          <a:p>
            <a:pPr marL="0" indent="0" algn="l">
              <a:lnSpc>
                <a:spcPts val="1260"/>
              </a:lnSpc>
              <a:buNone/>
            </a:pPr>
            <a:r>
              <a:rPr lang="en-US" sz="900" dirty="0">
                <a:solidFill>
                  <a:srgbClr val="0F172A"/>
                </a:solidFill>
                <a:latin typeface="Carlito" pitchFamily="34" charset="0"/>
                <a:ea typeface="Carlito" pitchFamily="34" charset="-122"/>
                <a:cs typeface="Carlito" pitchFamily="34" charset="-120"/>
              </a:rPr>
              <a:t>No daemon on target</a:t>
            </a:r>
            <a:endParaRPr lang="en-US" sz="900" dirty="0"/>
          </a:p>
        </p:txBody>
      </p:sp>
      <p:sp>
        <p:nvSpPr>
          <p:cNvPr id="29" name="Text 27"/>
          <p:cNvSpPr/>
          <p:nvPr/>
        </p:nvSpPr>
        <p:spPr>
          <a:xfrm>
            <a:off x="621506" y="2768538"/>
            <a:ext cx="128588" cy="128588"/>
          </a:xfrm>
          <a:prstGeom prst="rect">
            <a:avLst/>
          </a:prstGeom>
          <a:noFill/>
          <a:ln/>
        </p:spPr>
        <p:txBody>
          <a:bodyPr wrap="none" lIns="0" tIns="0" rIns="0" bIns="0" rtlCol="0" anchor="ctr"/>
          <a:lstStyle/>
          <a:p>
            <a:pPr marL="0" indent="0" algn="ctr">
              <a:buNone/>
            </a:pPr>
            <a:r>
              <a:rPr lang="en-US" sz="1266" dirty="0">
                <a:solidFill>
                  <a:srgbClr val="0F172A"/>
                </a:solidFill>
                <a:latin typeface="Segoe UI Symbol" pitchFamily="34" charset="0"/>
                <a:ea typeface="Segoe UI Symbol" pitchFamily="34" charset="-122"/>
                <a:cs typeface="Segoe UI Symbol" pitchFamily="34" charset="-120"/>
              </a:rPr>
              <a:t>▶</a:t>
            </a:r>
            <a:endParaRPr lang="en-US" sz="1266" dirty="0"/>
          </a:p>
        </p:txBody>
      </p:sp>
      <p:sp>
        <p:nvSpPr>
          <p:cNvPr id="30" name="Text 28"/>
          <p:cNvSpPr/>
          <p:nvPr/>
        </p:nvSpPr>
        <p:spPr>
          <a:xfrm>
            <a:off x="464344" y="2957066"/>
            <a:ext cx="4029075" cy="214313"/>
          </a:xfrm>
          <a:prstGeom prst="rect">
            <a:avLst/>
          </a:prstGeom>
          <a:solidFill>
            <a:srgbClr val="ECFDF5"/>
          </a:solidFill>
          <a:ln/>
        </p:spPr>
        <p:txBody>
          <a:bodyPr wrap="square" rtlCol="0" anchor="ctr"/>
          <a:lstStyle/>
          <a:p>
            <a:pPr marL="0" indent="0">
              <a:buNone/>
            </a:pPr>
            <a:endParaRPr lang="en-US" dirty="0"/>
          </a:p>
        </p:txBody>
      </p:sp>
      <p:sp>
        <p:nvSpPr>
          <p:cNvPr id="31" name="Text 29"/>
          <p:cNvSpPr/>
          <p:nvPr/>
        </p:nvSpPr>
        <p:spPr>
          <a:xfrm>
            <a:off x="464344" y="2957066"/>
            <a:ext cx="4029075" cy="186881"/>
          </a:xfrm>
          <a:prstGeom prst="rect">
            <a:avLst/>
          </a:prstGeom>
          <a:noFill/>
          <a:ln/>
        </p:spPr>
        <p:txBody>
          <a:bodyPr wrap="none" lIns="157163" tIns="42863" rIns="157163" bIns="42863" rtlCol="0" anchor="t">
            <a:normAutofit fontScale="55000" lnSpcReduction="20000"/>
          </a:bodyPr>
          <a:lstStyle/>
          <a:p>
            <a:pPr marL="0" indent="0" algn="l">
              <a:lnSpc>
                <a:spcPts val="945"/>
              </a:lnSpc>
              <a:buNone/>
            </a:pPr>
            <a:r>
              <a:rPr lang="en-US" sz="800" b="1" kern="0" spc="56" dirty="0">
                <a:solidFill>
                  <a:srgbClr val="15803D"/>
                </a:solidFill>
                <a:latin typeface="Segoe UI Symbol" pitchFamily="34" charset="0"/>
                <a:ea typeface="Segoe UI Symbol" pitchFamily="34" charset="-122"/>
                <a:cs typeface="Segoe UI Symbol" pitchFamily="34" charset="-120"/>
              </a:rPr>
              <a:t>✓</a:t>
            </a:r>
            <a:r>
              <a:rPr lang="en-US" sz="800" b="1" kern="0" spc="56" dirty="0">
                <a:solidFill>
                  <a:srgbClr val="15803D"/>
                </a:solidFill>
                <a:latin typeface="Courier New" pitchFamily="34" charset="0"/>
                <a:ea typeface="Courier New" pitchFamily="34" charset="-122"/>
                <a:cs typeface="Courier New" pitchFamily="34" charset="-120"/>
              </a:rPr>
              <a:t>PROS</a:t>
            </a:r>
            <a:endParaRPr lang="en-US" sz="800" dirty="0"/>
          </a:p>
        </p:txBody>
      </p:sp>
      <p:sp>
        <p:nvSpPr>
          <p:cNvPr id="32" name="Shape 30"/>
          <p:cNvSpPr/>
          <p:nvPr/>
        </p:nvSpPr>
        <p:spPr>
          <a:xfrm>
            <a:off x="464344" y="3174950"/>
            <a:ext cx="4029075" cy="0"/>
          </a:xfrm>
          <a:prstGeom prst="line">
            <a:avLst/>
          </a:prstGeom>
          <a:noFill/>
          <a:ln w="7144">
            <a:solidFill>
              <a:srgbClr val="CBD5E1"/>
            </a:solidFill>
            <a:prstDash val="solid"/>
          </a:ln>
        </p:spPr>
      </p:sp>
      <p:sp>
        <p:nvSpPr>
          <p:cNvPr id="33" name="Text 31"/>
          <p:cNvSpPr/>
          <p:nvPr/>
        </p:nvSpPr>
        <p:spPr>
          <a:xfrm>
            <a:off x="821531" y="3242816"/>
            <a:ext cx="2273610" cy="154305"/>
          </a:xfrm>
          <a:prstGeom prst="rect">
            <a:avLst/>
          </a:prstGeom>
          <a:noFill/>
          <a:ln/>
        </p:spPr>
        <p:txBody>
          <a:bodyPr wrap="square" lIns="157163" tIns="57150" rIns="157163" bIns="57150" rtlCol="0" anchor="t"/>
          <a:lstStyle/>
          <a:p>
            <a:pPr marL="0" indent="0" algn="l">
              <a:lnSpc>
                <a:spcPts val="1260"/>
              </a:lnSpc>
              <a:buNone/>
            </a:pPr>
            <a:r>
              <a:rPr lang="en-US" sz="900" dirty="0">
                <a:solidFill>
                  <a:srgbClr val="0F172A"/>
                </a:solidFill>
                <a:latin typeface="Carlito" pitchFamily="34" charset="0"/>
                <a:ea typeface="Carlito" pitchFamily="34" charset="-122"/>
                <a:cs typeface="Carlito" pitchFamily="34" charset="-120"/>
              </a:rPr>
              <a:t>Simple, fast feedback, no agent maintenance</a:t>
            </a:r>
            <a:endParaRPr lang="en-US" sz="900" dirty="0"/>
          </a:p>
        </p:txBody>
      </p:sp>
      <p:sp>
        <p:nvSpPr>
          <p:cNvPr id="34" name="Text 32"/>
          <p:cNvSpPr/>
          <p:nvPr/>
        </p:nvSpPr>
        <p:spPr>
          <a:xfrm>
            <a:off x="621506" y="3264247"/>
            <a:ext cx="128588" cy="128588"/>
          </a:xfrm>
          <a:prstGeom prst="rect">
            <a:avLst/>
          </a:prstGeom>
          <a:noFill/>
          <a:ln/>
        </p:spPr>
        <p:txBody>
          <a:bodyPr wrap="none" lIns="0" tIns="0" rIns="0" bIns="0" rtlCol="0" anchor="ctr"/>
          <a:lstStyle/>
          <a:p>
            <a:pPr marL="0" indent="0" algn="ctr">
              <a:buNone/>
            </a:pPr>
            <a:r>
              <a:rPr lang="en-US" sz="1266" dirty="0">
                <a:solidFill>
                  <a:srgbClr val="16A34A"/>
                </a:solidFill>
                <a:latin typeface="Segoe UI Symbol" pitchFamily="34" charset="0"/>
                <a:ea typeface="Segoe UI Symbol" pitchFamily="34" charset="-122"/>
                <a:cs typeface="Segoe UI Symbol" pitchFamily="34" charset="-120"/>
              </a:rPr>
              <a:t>⊕</a:t>
            </a:r>
            <a:endParaRPr lang="en-US" sz="1266" dirty="0"/>
          </a:p>
        </p:txBody>
      </p:sp>
      <p:sp>
        <p:nvSpPr>
          <p:cNvPr id="35" name="Text 33"/>
          <p:cNvSpPr/>
          <p:nvPr/>
        </p:nvSpPr>
        <p:spPr>
          <a:xfrm>
            <a:off x="464344" y="3452775"/>
            <a:ext cx="4029075" cy="214313"/>
          </a:xfrm>
          <a:prstGeom prst="rect">
            <a:avLst/>
          </a:prstGeom>
          <a:solidFill>
            <a:srgbClr val="FEF2F2"/>
          </a:solidFill>
          <a:ln/>
        </p:spPr>
        <p:txBody>
          <a:bodyPr wrap="square" rtlCol="0" anchor="ctr"/>
          <a:lstStyle/>
          <a:p>
            <a:pPr marL="0" indent="0">
              <a:buNone/>
            </a:pPr>
            <a:endParaRPr lang="en-US" dirty="0"/>
          </a:p>
        </p:txBody>
      </p:sp>
      <p:sp>
        <p:nvSpPr>
          <p:cNvPr id="36" name="Text 34"/>
          <p:cNvSpPr/>
          <p:nvPr/>
        </p:nvSpPr>
        <p:spPr>
          <a:xfrm>
            <a:off x="464344" y="3452775"/>
            <a:ext cx="4029075" cy="186881"/>
          </a:xfrm>
          <a:prstGeom prst="rect">
            <a:avLst/>
          </a:prstGeom>
          <a:noFill/>
          <a:ln/>
        </p:spPr>
        <p:txBody>
          <a:bodyPr wrap="none" lIns="157163" tIns="42863" rIns="157163" bIns="42863" rtlCol="0" anchor="t">
            <a:normAutofit fontScale="55000" lnSpcReduction="20000"/>
          </a:bodyPr>
          <a:lstStyle/>
          <a:p>
            <a:pPr marL="0" indent="0" algn="l">
              <a:lnSpc>
                <a:spcPts val="945"/>
              </a:lnSpc>
              <a:buNone/>
            </a:pPr>
            <a:r>
              <a:rPr lang="en-US" sz="800" b="1" kern="0" spc="56" dirty="0">
                <a:solidFill>
                  <a:srgbClr val="B91C1C"/>
                </a:solidFill>
                <a:latin typeface="Segoe UI Symbol" pitchFamily="34" charset="0"/>
                <a:ea typeface="Segoe UI Symbol" pitchFamily="34" charset="-122"/>
                <a:cs typeface="Segoe UI Symbol" pitchFamily="34" charset="-120"/>
              </a:rPr>
              <a:t>⚠</a:t>
            </a:r>
            <a:r>
              <a:rPr lang="en-US" sz="800" b="1" kern="0" spc="56" dirty="0">
                <a:solidFill>
                  <a:srgbClr val="B91C1C"/>
                </a:solidFill>
                <a:latin typeface="Courier New" pitchFamily="34" charset="0"/>
                <a:ea typeface="Courier New" pitchFamily="34" charset="-122"/>
                <a:cs typeface="Courier New" pitchFamily="34" charset="-120"/>
              </a:rPr>
              <a:t>CONS</a:t>
            </a:r>
            <a:endParaRPr lang="en-US" sz="800" dirty="0"/>
          </a:p>
        </p:txBody>
      </p:sp>
      <p:sp>
        <p:nvSpPr>
          <p:cNvPr id="37" name="Shape 35"/>
          <p:cNvSpPr/>
          <p:nvPr/>
        </p:nvSpPr>
        <p:spPr>
          <a:xfrm>
            <a:off x="464344" y="3670660"/>
            <a:ext cx="4029075" cy="0"/>
          </a:xfrm>
          <a:prstGeom prst="line">
            <a:avLst/>
          </a:prstGeom>
          <a:noFill/>
          <a:ln w="7144">
            <a:solidFill>
              <a:srgbClr val="CBD5E1"/>
            </a:solidFill>
            <a:prstDash val="solid"/>
          </a:ln>
        </p:spPr>
      </p:sp>
      <p:sp>
        <p:nvSpPr>
          <p:cNvPr id="38" name="Text 36"/>
          <p:cNvSpPr/>
          <p:nvPr/>
        </p:nvSpPr>
        <p:spPr>
          <a:xfrm>
            <a:off x="821531" y="3738525"/>
            <a:ext cx="2181969" cy="154305"/>
          </a:xfrm>
          <a:prstGeom prst="rect">
            <a:avLst/>
          </a:prstGeom>
          <a:noFill/>
          <a:ln/>
        </p:spPr>
        <p:txBody>
          <a:bodyPr wrap="square" lIns="157163" tIns="57150" rIns="157163" bIns="57150" rtlCol="0" anchor="t"/>
          <a:lstStyle/>
          <a:p>
            <a:pPr marL="0" indent="0" algn="l">
              <a:lnSpc>
                <a:spcPts val="1260"/>
              </a:lnSpc>
              <a:buNone/>
            </a:pPr>
            <a:r>
              <a:rPr lang="en-US" sz="900" dirty="0">
                <a:solidFill>
                  <a:srgbClr val="0F172A"/>
                </a:solidFill>
                <a:latin typeface="Carlito" pitchFamily="34" charset="0"/>
                <a:ea typeface="Carlito" pitchFamily="34" charset="-122"/>
                <a:cs typeface="Carlito" pitchFamily="34" charset="-120"/>
              </a:rPr>
              <a:t>Does not auto-remediate drift between runs</a:t>
            </a:r>
            <a:endParaRPr lang="en-US" sz="900" dirty="0"/>
          </a:p>
        </p:txBody>
      </p:sp>
      <p:sp>
        <p:nvSpPr>
          <p:cNvPr id="39" name="Text 37"/>
          <p:cNvSpPr/>
          <p:nvPr/>
        </p:nvSpPr>
        <p:spPr>
          <a:xfrm>
            <a:off x="621506" y="3759957"/>
            <a:ext cx="128588" cy="128588"/>
          </a:xfrm>
          <a:prstGeom prst="rect">
            <a:avLst/>
          </a:prstGeom>
          <a:noFill/>
          <a:ln/>
        </p:spPr>
        <p:txBody>
          <a:bodyPr wrap="none" lIns="0" tIns="0" rIns="0" bIns="0" rtlCol="0" anchor="ctr"/>
          <a:lstStyle/>
          <a:p>
            <a:pPr marL="0" indent="0" algn="ctr">
              <a:buNone/>
            </a:pPr>
            <a:r>
              <a:rPr lang="en-US" sz="1266" dirty="0">
                <a:solidFill>
                  <a:srgbClr val="DC2626"/>
                </a:solidFill>
                <a:latin typeface="Segoe UI Symbol" pitchFamily="34" charset="0"/>
                <a:ea typeface="Segoe UI Symbol" pitchFamily="34" charset="-122"/>
                <a:cs typeface="Segoe UI Symbol" pitchFamily="34" charset="-120"/>
              </a:rPr>
              <a:t>⊖</a:t>
            </a:r>
            <a:endParaRPr lang="en-US" sz="1266" dirty="0"/>
          </a:p>
        </p:txBody>
      </p:sp>
      <p:sp>
        <p:nvSpPr>
          <p:cNvPr id="40" name="Text 38"/>
          <p:cNvSpPr/>
          <p:nvPr/>
        </p:nvSpPr>
        <p:spPr>
          <a:xfrm>
            <a:off x="4650581" y="980033"/>
            <a:ext cx="4029075" cy="3276302"/>
          </a:xfrm>
          <a:prstGeom prst="roundRect">
            <a:avLst>
              <a:gd name="adj" fmla="val 4070"/>
            </a:avLst>
          </a:prstGeom>
          <a:solidFill>
            <a:srgbClr val="FFFFFF"/>
          </a:solidFill>
          <a:ln w="14288">
            <a:solidFill>
              <a:srgbClr val="F97316"/>
            </a:solidFill>
            <a:prstDash val="solid"/>
          </a:ln>
        </p:spPr>
        <p:txBody>
          <a:bodyPr wrap="square" rtlCol="0" anchor="ctr"/>
          <a:lstStyle/>
          <a:p>
            <a:pPr marL="0" indent="0">
              <a:buNone/>
            </a:pPr>
            <a:endParaRPr lang="en-US" dirty="0"/>
          </a:p>
        </p:txBody>
      </p:sp>
      <p:sp>
        <p:nvSpPr>
          <p:cNvPr id="41" name="Text 39"/>
          <p:cNvSpPr/>
          <p:nvPr/>
        </p:nvSpPr>
        <p:spPr>
          <a:xfrm>
            <a:off x="4657725" y="987177"/>
            <a:ext cx="4014788" cy="748531"/>
          </a:xfrm>
          <a:prstGeom prst="rect">
            <a:avLst/>
          </a:prstGeom>
          <a:solidFill>
            <a:srgbClr val="F97316"/>
          </a:solidFill>
          <a:ln/>
        </p:spPr>
        <p:txBody>
          <a:bodyPr wrap="square" rtlCol="0" anchor="ctr"/>
          <a:lstStyle/>
          <a:p>
            <a:pPr marL="0" indent="0">
              <a:buNone/>
            </a:pPr>
            <a:endParaRPr lang="en-US" dirty="0"/>
          </a:p>
        </p:txBody>
      </p:sp>
      <p:sp>
        <p:nvSpPr>
          <p:cNvPr id="42" name="Text 40"/>
          <p:cNvSpPr/>
          <p:nvPr/>
        </p:nvSpPr>
        <p:spPr>
          <a:xfrm>
            <a:off x="7636334" y="1212875"/>
            <a:ext cx="879016" cy="297135"/>
          </a:xfrm>
          <a:prstGeom prst="roundRect">
            <a:avLst>
              <a:gd name="adj" fmla="val 3202408"/>
            </a:avLst>
          </a:prstGeom>
          <a:solidFill>
            <a:srgbClr val="FFFFFF">
              <a:alpha val="20000"/>
            </a:srgbClr>
          </a:solidFill>
          <a:ln/>
        </p:spPr>
        <p:txBody>
          <a:bodyPr wrap="square" rtlCol="0" anchor="ctr"/>
          <a:lstStyle/>
          <a:p>
            <a:pPr marL="0" indent="0">
              <a:buNone/>
            </a:pPr>
            <a:endParaRPr lang="en-US" dirty="0"/>
          </a:p>
        </p:txBody>
      </p:sp>
      <p:sp>
        <p:nvSpPr>
          <p:cNvPr id="43" name="Text 41"/>
          <p:cNvSpPr/>
          <p:nvPr/>
        </p:nvSpPr>
        <p:spPr>
          <a:xfrm>
            <a:off x="5114925" y="1108621"/>
            <a:ext cx="2058739" cy="535366"/>
          </a:xfrm>
          <a:prstGeom prst="rect">
            <a:avLst/>
          </a:prstGeom>
          <a:noFill/>
          <a:ln/>
        </p:spPr>
        <p:txBody>
          <a:bodyPr wrap="none" lIns="157163" tIns="114300" rIns="157163" bIns="114300" rtlCol="0" anchor="t"/>
          <a:lstStyle/>
          <a:p>
            <a:pPr marL="0" indent="0" algn="l">
              <a:lnSpc>
                <a:spcPts val="2047"/>
              </a:lnSpc>
              <a:buNone/>
            </a:pPr>
            <a:r>
              <a:rPr lang="en-US" sz="1463" b="1" dirty="0">
                <a:solidFill>
                  <a:srgbClr val="FFFFFF"/>
                </a:solidFill>
                <a:latin typeface="Carlito" pitchFamily="34" charset="0"/>
                <a:ea typeface="Carlito" pitchFamily="34" charset="-122"/>
                <a:cs typeface="Carlito" pitchFamily="34" charset="-120"/>
              </a:rPr>
              <a:t>Pull Model (Chef, Puppet, Salt)</a:t>
            </a:r>
            <a:endParaRPr lang="en-US" sz="1463" dirty="0"/>
          </a:p>
        </p:txBody>
      </p:sp>
      <p:sp>
        <p:nvSpPr>
          <p:cNvPr id="44" name="Text 42"/>
          <p:cNvSpPr/>
          <p:nvPr/>
        </p:nvSpPr>
        <p:spPr>
          <a:xfrm>
            <a:off x="4814888" y="1254286"/>
            <a:ext cx="214313" cy="214313"/>
          </a:xfrm>
          <a:prstGeom prst="rect">
            <a:avLst/>
          </a:prstGeom>
          <a:noFill/>
          <a:ln/>
        </p:spPr>
        <p:txBody>
          <a:bodyPr wrap="none" lIns="0" tIns="0" rIns="0" bIns="0" rtlCol="0" anchor="ctr"/>
          <a:lstStyle/>
          <a:p>
            <a:pPr marL="0" indent="0" algn="ctr">
              <a:buNone/>
            </a:pPr>
            <a:r>
              <a:rPr lang="en-US" sz="2109" dirty="0">
                <a:solidFill>
                  <a:srgbClr val="FFFFFF"/>
                </a:solidFill>
                <a:latin typeface="Segoe UI Symbol" pitchFamily="34" charset="0"/>
                <a:ea typeface="Segoe UI Symbol" pitchFamily="34" charset="-122"/>
                <a:cs typeface="Segoe UI Symbol" pitchFamily="34" charset="-120"/>
              </a:rPr>
              <a:t>↙</a:t>
            </a:r>
            <a:endParaRPr lang="en-US" sz="2109" dirty="0"/>
          </a:p>
        </p:txBody>
      </p:sp>
      <p:sp>
        <p:nvSpPr>
          <p:cNvPr id="45" name="Text 43"/>
          <p:cNvSpPr/>
          <p:nvPr/>
        </p:nvSpPr>
        <p:spPr>
          <a:xfrm>
            <a:off x="7613474" y="1200073"/>
            <a:ext cx="924736" cy="322739"/>
          </a:xfrm>
          <a:prstGeom prst="roundRect">
            <a:avLst>
              <a:gd name="adj" fmla="val 2948350"/>
            </a:avLst>
          </a:prstGeom>
          <a:solidFill>
            <a:srgbClr val="FFFFFF">
              <a:alpha val="20000"/>
            </a:srgbClr>
          </a:solidFill>
          <a:ln/>
        </p:spPr>
        <p:txBody>
          <a:bodyPr wrap="square" rtlCol="0" anchor="ctr"/>
          <a:lstStyle/>
          <a:p>
            <a:pPr marL="0" indent="0">
              <a:buNone/>
            </a:pPr>
            <a:endParaRPr lang="en-US" dirty="0"/>
          </a:p>
        </p:txBody>
      </p:sp>
      <p:sp>
        <p:nvSpPr>
          <p:cNvPr id="46" name="Text 44"/>
          <p:cNvSpPr/>
          <p:nvPr/>
        </p:nvSpPr>
        <p:spPr>
          <a:xfrm>
            <a:off x="7636334" y="1212875"/>
            <a:ext cx="879016" cy="297135"/>
          </a:xfrm>
          <a:prstGeom prst="rect">
            <a:avLst/>
          </a:prstGeom>
          <a:noFill/>
          <a:ln/>
        </p:spPr>
        <p:txBody>
          <a:bodyPr wrap="none" lIns="0" tIns="0" rIns="0" bIns="0" rtlCol="0" anchor="ctr"/>
          <a:lstStyle/>
          <a:p>
            <a:pPr marL="0" indent="0" algn="ctr">
              <a:lnSpc>
                <a:spcPts val="945"/>
              </a:lnSpc>
              <a:buNone/>
            </a:pPr>
            <a:r>
              <a:rPr lang="en-US" sz="800" b="1" kern="0" spc="28" dirty="0">
                <a:solidFill>
                  <a:srgbClr val="FFFFFF"/>
                </a:solidFill>
                <a:latin typeface="Carlito" pitchFamily="34" charset="0"/>
                <a:ea typeface="Carlito" pitchFamily="34" charset="-122"/>
                <a:cs typeface="Carlito" pitchFamily="34" charset="-120"/>
              </a:rPr>
              <a:t>HOSTS → SERVER</a:t>
            </a:r>
            <a:endParaRPr lang="en-US" sz="800" dirty="0"/>
          </a:p>
        </p:txBody>
      </p:sp>
      <p:sp>
        <p:nvSpPr>
          <p:cNvPr id="47" name="Text 45"/>
          <p:cNvSpPr/>
          <p:nvPr/>
        </p:nvSpPr>
        <p:spPr>
          <a:xfrm>
            <a:off x="6747272" y="1785714"/>
            <a:ext cx="292894" cy="285442"/>
          </a:xfrm>
          <a:prstGeom prst="rect">
            <a:avLst/>
          </a:prstGeom>
          <a:noFill/>
          <a:ln/>
        </p:spPr>
        <p:txBody>
          <a:bodyPr wrap="none" lIns="0" tIns="0" rIns="0" bIns="0" rtlCol="0" anchor="ctr">
            <a:normAutofit/>
          </a:bodyPr>
          <a:lstStyle/>
          <a:p>
            <a:pPr marL="0" indent="0" algn="ctr">
              <a:buNone/>
            </a:pPr>
            <a:r>
              <a:rPr lang="en-US" sz="1800" dirty="0">
                <a:solidFill>
                  <a:srgbClr val="64748B"/>
                </a:solidFill>
                <a:latin typeface="Segoe UI Symbol" pitchFamily="34" charset="0"/>
                <a:ea typeface="Segoe UI Symbol" pitchFamily="34" charset="-122"/>
                <a:cs typeface="Segoe UI Symbol" pitchFamily="34" charset="-120"/>
              </a:rPr>
              <a:t>←</a:t>
            </a:r>
            <a:endParaRPr lang="en-US" sz="1800" dirty="0"/>
          </a:p>
        </p:txBody>
      </p:sp>
      <p:sp>
        <p:nvSpPr>
          <p:cNvPr id="48" name="Text 46"/>
          <p:cNvSpPr/>
          <p:nvPr/>
        </p:nvSpPr>
        <p:spPr>
          <a:xfrm>
            <a:off x="6025083" y="1824224"/>
            <a:ext cx="228600" cy="228600"/>
          </a:xfrm>
          <a:prstGeom prst="rect">
            <a:avLst/>
          </a:prstGeom>
          <a:noFill/>
          <a:ln/>
        </p:spPr>
        <p:txBody>
          <a:bodyPr wrap="none" lIns="0" tIns="0" rIns="0" bIns="0" rtlCol="0" anchor="ctr"/>
          <a:lstStyle/>
          <a:p>
            <a:pPr marL="0" indent="0" algn="ctr">
              <a:buNone/>
            </a:pPr>
            <a:r>
              <a:rPr lang="en-US" sz="2250" dirty="0">
                <a:solidFill>
                  <a:srgbClr val="334155"/>
                </a:solidFill>
                <a:latin typeface="Segoe UI Symbol" pitchFamily="34" charset="0"/>
                <a:ea typeface="Segoe UI Symbol" pitchFamily="34" charset="-122"/>
                <a:cs typeface="Segoe UI Symbol" pitchFamily="34" charset="-120"/>
              </a:rPr>
              <a:t>▦</a:t>
            </a:r>
            <a:endParaRPr lang="en-US" sz="2250" dirty="0"/>
          </a:p>
        </p:txBody>
      </p:sp>
      <p:sp>
        <p:nvSpPr>
          <p:cNvPr id="49" name="Text 47"/>
          <p:cNvSpPr/>
          <p:nvPr/>
        </p:nvSpPr>
        <p:spPr>
          <a:xfrm>
            <a:off x="6253683" y="1824224"/>
            <a:ext cx="228600" cy="228600"/>
          </a:xfrm>
          <a:prstGeom prst="rect">
            <a:avLst/>
          </a:prstGeom>
          <a:noFill/>
          <a:ln/>
        </p:spPr>
        <p:txBody>
          <a:bodyPr wrap="none" lIns="0" tIns="0" rIns="0" bIns="0" rtlCol="0" anchor="ctr"/>
          <a:lstStyle/>
          <a:p>
            <a:pPr marL="0" indent="0" algn="ctr">
              <a:buNone/>
            </a:pPr>
            <a:r>
              <a:rPr lang="en-US" sz="2250" dirty="0">
                <a:solidFill>
                  <a:srgbClr val="334155"/>
                </a:solidFill>
                <a:latin typeface="Segoe UI Symbol" pitchFamily="34" charset="0"/>
                <a:ea typeface="Segoe UI Symbol" pitchFamily="34" charset="-122"/>
                <a:cs typeface="Segoe UI Symbol" pitchFamily="34" charset="-120"/>
              </a:rPr>
              <a:t>▦</a:t>
            </a:r>
            <a:endParaRPr lang="en-US" sz="2250" dirty="0"/>
          </a:p>
        </p:txBody>
      </p:sp>
      <p:sp>
        <p:nvSpPr>
          <p:cNvPr id="50" name="Text 48"/>
          <p:cNvSpPr/>
          <p:nvPr/>
        </p:nvSpPr>
        <p:spPr>
          <a:xfrm>
            <a:off x="6482283" y="1824224"/>
            <a:ext cx="228600" cy="228600"/>
          </a:xfrm>
          <a:prstGeom prst="rect">
            <a:avLst/>
          </a:prstGeom>
          <a:noFill/>
          <a:ln/>
        </p:spPr>
        <p:txBody>
          <a:bodyPr wrap="none" lIns="0" tIns="0" rIns="0" bIns="0" rtlCol="0" anchor="ctr"/>
          <a:lstStyle/>
          <a:p>
            <a:pPr marL="0" indent="0" algn="ctr">
              <a:buNone/>
            </a:pPr>
            <a:r>
              <a:rPr lang="en-US" sz="2250" dirty="0">
                <a:solidFill>
                  <a:srgbClr val="334155"/>
                </a:solidFill>
                <a:latin typeface="Segoe UI Symbol" pitchFamily="34" charset="0"/>
                <a:ea typeface="Segoe UI Symbol" pitchFamily="34" charset="-122"/>
                <a:cs typeface="Segoe UI Symbol" pitchFamily="34" charset="-120"/>
              </a:rPr>
              <a:t>▦</a:t>
            </a:r>
            <a:endParaRPr lang="en-US" sz="2250" dirty="0"/>
          </a:p>
        </p:txBody>
      </p:sp>
      <p:sp>
        <p:nvSpPr>
          <p:cNvPr id="51" name="Text 49"/>
          <p:cNvSpPr/>
          <p:nvPr/>
        </p:nvSpPr>
        <p:spPr>
          <a:xfrm>
            <a:off x="7076554" y="1824224"/>
            <a:ext cx="228600" cy="228600"/>
          </a:xfrm>
          <a:prstGeom prst="rect">
            <a:avLst/>
          </a:prstGeom>
          <a:noFill/>
          <a:ln/>
        </p:spPr>
        <p:txBody>
          <a:bodyPr wrap="none" lIns="0" tIns="0" rIns="0" bIns="0" rtlCol="0" anchor="ctr"/>
          <a:lstStyle/>
          <a:p>
            <a:pPr marL="0" indent="0" algn="ctr">
              <a:buNone/>
            </a:pPr>
            <a:r>
              <a:rPr lang="en-US" sz="2250" dirty="0">
                <a:solidFill>
                  <a:srgbClr val="F97316"/>
                </a:solidFill>
                <a:latin typeface="Segoe UI Symbol" pitchFamily="34" charset="0"/>
                <a:ea typeface="Segoe UI Symbol" pitchFamily="34" charset="-122"/>
                <a:cs typeface="Segoe UI Symbol" pitchFamily="34" charset="-120"/>
              </a:rPr>
              <a:t>▦</a:t>
            </a:r>
            <a:endParaRPr lang="en-US" sz="2250" dirty="0"/>
          </a:p>
        </p:txBody>
      </p:sp>
      <p:sp>
        <p:nvSpPr>
          <p:cNvPr id="52" name="Shape 50"/>
          <p:cNvSpPr/>
          <p:nvPr/>
        </p:nvSpPr>
        <p:spPr>
          <a:xfrm>
            <a:off x="4657725" y="2102160"/>
            <a:ext cx="4014788" cy="0"/>
          </a:xfrm>
          <a:prstGeom prst="line">
            <a:avLst/>
          </a:prstGeom>
          <a:noFill/>
          <a:ln w="7144">
            <a:solidFill>
              <a:srgbClr val="CBD5E1"/>
            </a:solidFill>
            <a:prstDash val="solid"/>
          </a:ln>
        </p:spPr>
      </p:sp>
      <p:sp>
        <p:nvSpPr>
          <p:cNvPr id="53" name="Text 51"/>
          <p:cNvSpPr/>
          <p:nvPr/>
        </p:nvSpPr>
        <p:spPr>
          <a:xfrm>
            <a:off x="5014913" y="2170026"/>
            <a:ext cx="1645741" cy="154305"/>
          </a:xfrm>
          <a:prstGeom prst="rect">
            <a:avLst/>
          </a:prstGeom>
          <a:noFill/>
          <a:ln/>
        </p:spPr>
        <p:txBody>
          <a:bodyPr wrap="square" lIns="157163" tIns="57150" rIns="157163" bIns="57150" rtlCol="0" anchor="t"/>
          <a:lstStyle/>
          <a:p>
            <a:pPr marL="0" indent="0" algn="l">
              <a:lnSpc>
                <a:spcPts val="1260"/>
              </a:lnSpc>
              <a:buNone/>
            </a:pPr>
            <a:r>
              <a:rPr lang="en-US" sz="900" dirty="0">
                <a:solidFill>
                  <a:srgbClr val="0F172A"/>
                </a:solidFill>
                <a:latin typeface="Carlito" pitchFamily="34" charset="0"/>
                <a:ea typeface="Carlito" pitchFamily="34" charset="-122"/>
                <a:cs typeface="Carlito" pitchFamily="34" charset="-120"/>
              </a:rPr>
              <a:t>Target hosts poll a central server</a:t>
            </a:r>
            <a:endParaRPr lang="en-US" sz="900" dirty="0"/>
          </a:p>
        </p:txBody>
      </p:sp>
      <p:sp>
        <p:nvSpPr>
          <p:cNvPr id="54" name="Text 52"/>
          <p:cNvSpPr/>
          <p:nvPr/>
        </p:nvSpPr>
        <p:spPr>
          <a:xfrm>
            <a:off x="4814888" y="2191457"/>
            <a:ext cx="128588" cy="128588"/>
          </a:xfrm>
          <a:prstGeom prst="rect">
            <a:avLst/>
          </a:prstGeom>
          <a:noFill/>
          <a:ln/>
        </p:spPr>
        <p:txBody>
          <a:bodyPr wrap="none" lIns="0" tIns="0" rIns="0" bIns="0" rtlCol="0" anchor="ctr"/>
          <a:lstStyle/>
          <a:p>
            <a:pPr marL="0" indent="0" algn="ctr">
              <a:buNone/>
            </a:pPr>
            <a:r>
              <a:rPr lang="en-US" sz="1266" dirty="0">
                <a:solidFill>
                  <a:srgbClr val="0F172A"/>
                </a:solidFill>
                <a:latin typeface="Segoe UI Symbol" pitchFamily="34" charset="0"/>
                <a:ea typeface="Segoe UI Symbol" pitchFamily="34" charset="-122"/>
                <a:cs typeface="Segoe UI Symbol" pitchFamily="34" charset="-120"/>
              </a:rPr>
              <a:t>▶</a:t>
            </a:r>
            <a:endParaRPr lang="en-US" sz="1266" dirty="0"/>
          </a:p>
        </p:txBody>
      </p:sp>
      <p:sp>
        <p:nvSpPr>
          <p:cNvPr id="55" name="Shape 53"/>
          <p:cNvSpPr/>
          <p:nvPr/>
        </p:nvSpPr>
        <p:spPr>
          <a:xfrm>
            <a:off x="4657725" y="2383557"/>
            <a:ext cx="4014788" cy="0"/>
          </a:xfrm>
          <a:prstGeom prst="line">
            <a:avLst/>
          </a:prstGeom>
          <a:noFill/>
          <a:ln w="7144">
            <a:solidFill>
              <a:srgbClr val="CBD5E1"/>
            </a:solidFill>
            <a:prstDash val="solid"/>
          </a:ln>
        </p:spPr>
      </p:sp>
      <p:sp>
        <p:nvSpPr>
          <p:cNvPr id="56" name="Text 54"/>
          <p:cNvSpPr/>
          <p:nvPr/>
        </p:nvSpPr>
        <p:spPr>
          <a:xfrm>
            <a:off x="5014913" y="2451422"/>
            <a:ext cx="2876252" cy="154305"/>
          </a:xfrm>
          <a:prstGeom prst="rect">
            <a:avLst/>
          </a:prstGeom>
          <a:noFill/>
          <a:ln/>
        </p:spPr>
        <p:txBody>
          <a:bodyPr wrap="square" lIns="157163" tIns="57150" rIns="157163" bIns="57150" rtlCol="0" anchor="t"/>
          <a:lstStyle/>
          <a:p>
            <a:pPr marL="0" indent="0" algn="l">
              <a:lnSpc>
                <a:spcPts val="1260"/>
              </a:lnSpc>
              <a:buNone/>
            </a:pPr>
            <a:r>
              <a:rPr lang="en-US" sz="900" dirty="0">
                <a:solidFill>
                  <a:srgbClr val="0F172A"/>
                </a:solidFill>
                <a:latin typeface="Carlito" pitchFamily="34" charset="0"/>
                <a:ea typeface="Carlito" pitchFamily="34" charset="-122"/>
                <a:cs typeface="Carlito" pitchFamily="34" charset="-120"/>
              </a:rPr>
              <a:t>Each agent pulls config periodically (every 30 min default)</a:t>
            </a:r>
            <a:endParaRPr lang="en-US" sz="900" dirty="0"/>
          </a:p>
        </p:txBody>
      </p:sp>
      <p:sp>
        <p:nvSpPr>
          <p:cNvPr id="57" name="Text 55"/>
          <p:cNvSpPr/>
          <p:nvPr/>
        </p:nvSpPr>
        <p:spPr>
          <a:xfrm>
            <a:off x="4814888" y="2472854"/>
            <a:ext cx="128588" cy="128588"/>
          </a:xfrm>
          <a:prstGeom prst="rect">
            <a:avLst/>
          </a:prstGeom>
          <a:noFill/>
          <a:ln/>
        </p:spPr>
        <p:txBody>
          <a:bodyPr wrap="none" lIns="0" tIns="0" rIns="0" bIns="0" rtlCol="0" anchor="ctr"/>
          <a:lstStyle/>
          <a:p>
            <a:pPr marL="0" indent="0" algn="ctr">
              <a:buNone/>
            </a:pPr>
            <a:r>
              <a:rPr lang="en-US" sz="1266" dirty="0">
                <a:solidFill>
                  <a:srgbClr val="0F172A"/>
                </a:solidFill>
                <a:latin typeface="Segoe UI Symbol" pitchFamily="34" charset="0"/>
                <a:ea typeface="Segoe UI Symbol" pitchFamily="34" charset="-122"/>
                <a:cs typeface="Segoe UI Symbol" pitchFamily="34" charset="-120"/>
              </a:rPr>
              <a:t>▶</a:t>
            </a:r>
            <a:endParaRPr lang="en-US" sz="1266" dirty="0"/>
          </a:p>
        </p:txBody>
      </p:sp>
      <p:sp>
        <p:nvSpPr>
          <p:cNvPr id="58" name="Shape 56"/>
          <p:cNvSpPr/>
          <p:nvPr/>
        </p:nvSpPr>
        <p:spPr>
          <a:xfrm>
            <a:off x="4657725" y="2664954"/>
            <a:ext cx="4014788" cy="0"/>
          </a:xfrm>
          <a:prstGeom prst="line">
            <a:avLst/>
          </a:prstGeom>
          <a:noFill/>
          <a:ln w="7144">
            <a:solidFill>
              <a:srgbClr val="CBD5E1"/>
            </a:solidFill>
            <a:prstDash val="solid"/>
          </a:ln>
        </p:spPr>
      </p:sp>
      <p:sp>
        <p:nvSpPr>
          <p:cNvPr id="59" name="Text 57"/>
          <p:cNvSpPr/>
          <p:nvPr/>
        </p:nvSpPr>
        <p:spPr>
          <a:xfrm>
            <a:off x="5014913" y="2732819"/>
            <a:ext cx="1321371" cy="154305"/>
          </a:xfrm>
          <a:prstGeom prst="rect">
            <a:avLst/>
          </a:prstGeom>
          <a:noFill/>
          <a:ln/>
        </p:spPr>
        <p:txBody>
          <a:bodyPr wrap="none" lIns="157163" tIns="57150" rIns="157163" bIns="57150" rtlCol="0" anchor="t"/>
          <a:lstStyle/>
          <a:p>
            <a:pPr marL="0" indent="0" algn="l">
              <a:lnSpc>
                <a:spcPts val="1260"/>
              </a:lnSpc>
              <a:buNone/>
            </a:pPr>
            <a:r>
              <a:rPr lang="en-US" sz="900" dirty="0">
                <a:solidFill>
                  <a:srgbClr val="0F172A"/>
                </a:solidFill>
                <a:latin typeface="Carlito" pitchFamily="34" charset="0"/>
                <a:ea typeface="Carlito" pitchFamily="34" charset="-122"/>
                <a:cs typeface="Carlito" pitchFamily="34" charset="-120"/>
              </a:rPr>
              <a:t>Continuous drift correction</a:t>
            </a:r>
            <a:endParaRPr lang="en-US" sz="900" dirty="0"/>
          </a:p>
        </p:txBody>
      </p:sp>
      <p:sp>
        <p:nvSpPr>
          <p:cNvPr id="60" name="Text 58"/>
          <p:cNvSpPr/>
          <p:nvPr/>
        </p:nvSpPr>
        <p:spPr>
          <a:xfrm>
            <a:off x="4814888" y="2754250"/>
            <a:ext cx="128588" cy="128588"/>
          </a:xfrm>
          <a:prstGeom prst="rect">
            <a:avLst/>
          </a:prstGeom>
          <a:noFill/>
          <a:ln/>
        </p:spPr>
        <p:txBody>
          <a:bodyPr wrap="none" lIns="0" tIns="0" rIns="0" bIns="0" rtlCol="0" anchor="ctr"/>
          <a:lstStyle/>
          <a:p>
            <a:pPr marL="0" indent="0" algn="ctr">
              <a:buNone/>
            </a:pPr>
            <a:r>
              <a:rPr lang="en-US" sz="1266" dirty="0">
                <a:solidFill>
                  <a:srgbClr val="0F172A"/>
                </a:solidFill>
                <a:latin typeface="Segoe UI Symbol" pitchFamily="34" charset="0"/>
                <a:ea typeface="Segoe UI Symbol" pitchFamily="34" charset="-122"/>
                <a:cs typeface="Segoe UI Symbol" pitchFamily="34" charset="-120"/>
              </a:rPr>
              <a:t>▶</a:t>
            </a:r>
            <a:endParaRPr lang="en-US" sz="1266" dirty="0"/>
          </a:p>
        </p:txBody>
      </p:sp>
      <p:sp>
        <p:nvSpPr>
          <p:cNvPr id="61" name="Shape 59"/>
          <p:cNvSpPr/>
          <p:nvPr/>
        </p:nvSpPr>
        <p:spPr>
          <a:xfrm>
            <a:off x="4657725" y="2946350"/>
            <a:ext cx="4014788" cy="0"/>
          </a:xfrm>
          <a:prstGeom prst="line">
            <a:avLst/>
          </a:prstGeom>
          <a:noFill/>
          <a:ln w="7144">
            <a:solidFill>
              <a:srgbClr val="CBD5E1"/>
            </a:solidFill>
            <a:prstDash val="solid"/>
          </a:ln>
        </p:spPr>
      </p:sp>
      <p:sp>
        <p:nvSpPr>
          <p:cNvPr id="62" name="Text 60"/>
          <p:cNvSpPr/>
          <p:nvPr/>
        </p:nvSpPr>
        <p:spPr>
          <a:xfrm>
            <a:off x="5014913" y="3014216"/>
            <a:ext cx="1657127" cy="154305"/>
          </a:xfrm>
          <a:prstGeom prst="rect">
            <a:avLst/>
          </a:prstGeom>
          <a:noFill/>
          <a:ln/>
        </p:spPr>
        <p:txBody>
          <a:bodyPr wrap="none" lIns="157163" tIns="57150" rIns="157163" bIns="57150" rtlCol="0" anchor="t"/>
          <a:lstStyle/>
          <a:p>
            <a:pPr marL="0" indent="0" algn="l">
              <a:lnSpc>
                <a:spcPts val="1260"/>
              </a:lnSpc>
              <a:buNone/>
            </a:pPr>
            <a:r>
              <a:rPr lang="en-US" sz="900" dirty="0">
                <a:solidFill>
                  <a:srgbClr val="0F172A"/>
                </a:solidFill>
                <a:latin typeface="Carlito" pitchFamily="34" charset="0"/>
                <a:ea typeface="Carlito" pitchFamily="34" charset="-122"/>
                <a:cs typeface="Carlito" pitchFamily="34" charset="-120"/>
              </a:rPr>
              <a:t>Requires a daemon on each host</a:t>
            </a:r>
            <a:endParaRPr lang="en-US" sz="900" dirty="0"/>
          </a:p>
        </p:txBody>
      </p:sp>
      <p:sp>
        <p:nvSpPr>
          <p:cNvPr id="63" name="Text 61"/>
          <p:cNvSpPr/>
          <p:nvPr/>
        </p:nvSpPr>
        <p:spPr>
          <a:xfrm>
            <a:off x="4814888" y="3035647"/>
            <a:ext cx="128588" cy="128588"/>
          </a:xfrm>
          <a:prstGeom prst="rect">
            <a:avLst/>
          </a:prstGeom>
          <a:noFill/>
          <a:ln/>
        </p:spPr>
        <p:txBody>
          <a:bodyPr wrap="none" lIns="0" tIns="0" rIns="0" bIns="0" rtlCol="0" anchor="ctr"/>
          <a:lstStyle/>
          <a:p>
            <a:pPr marL="0" indent="0" algn="ctr">
              <a:buNone/>
            </a:pPr>
            <a:r>
              <a:rPr lang="en-US" sz="1266" dirty="0">
                <a:solidFill>
                  <a:srgbClr val="0F172A"/>
                </a:solidFill>
                <a:latin typeface="Segoe UI Symbol" pitchFamily="34" charset="0"/>
                <a:ea typeface="Segoe UI Symbol" pitchFamily="34" charset="-122"/>
                <a:cs typeface="Segoe UI Symbol" pitchFamily="34" charset="-120"/>
              </a:rPr>
              <a:t>▶</a:t>
            </a:r>
            <a:endParaRPr lang="en-US" sz="1266" dirty="0"/>
          </a:p>
        </p:txBody>
      </p:sp>
      <p:sp>
        <p:nvSpPr>
          <p:cNvPr id="64" name="Text 62"/>
          <p:cNvSpPr/>
          <p:nvPr/>
        </p:nvSpPr>
        <p:spPr>
          <a:xfrm>
            <a:off x="4657725" y="3224175"/>
            <a:ext cx="4014788" cy="214313"/>
          </a:xfrm>
          <a:prstGeom prst="rect">
            <a:avLst/>
          </a:prstGeom>
          <a:solidFill>
            <a:srgbClr val="ECFDF5"/>
          </a:solidFill>
          <a:ln/>
        </p:spPr>
        <p:txBody>
          <a:bodyPr wrap="square" rtlCol="0" anchor="ctr"/>
          <a:lstStyle/>
          <a:p>
            <a:pPr marL="0" indent="0">
              <a:buNone/>
            </a:pPr>
            <a:endParaRPr lang="en-US" dirty="0"/>
          </a:p>
        </p:txBody>
      </p:sp>
      <p:sp>
        <p:nvSpPr>
          <p:cNvPr id="65" name="Text 63"/>
          <p:cNvSpPr/>
          <p:nvPr/>
        </p:nvSpPr>
        <p:spPr>
          <a:xfrm>
            <a:off x="4657725" y="3224175"/>
            <a:ext cx="4014788" cy="186881"/>
          </a:xfrm>
          <a:prstGeom prst="rect">
            <a:avLst/>
          </a:prstGeom>
          <a:noFill/>
          <a:ln/>
        </p:spPr>
        <p:txBody>
          <a:bodyPr wrap="none" lIns="157163" tIns="42863" rIns="157163" bIns="42863" rtlCol="0" anchor="t">
            <a:normAutofit fontScale="55000" lnSpcReduction="20000"/>
          </a:bodyPr>
          <a:lstStyle/>
          <a:p>
            <a:pPr marL="0" indent="0" algn="l">
              <a:lnSpc>
                <a:spcPts val="945"/>
              </a:lnSpc>
              <a:buNone/>
            </a:pPr>
            <a:r>
              <a:rPr lang="en-US" sz="800" b="1" kern="0" spc="56" dirty="0">
                <a:solidFill>
                  <a:srgbClr val="15803D"/>
                </a:solidFill>
                <a:latin typeface="Segoe UI Symbol" pitchFamily="34" charset="0"/>
                <a:ea typeface="Segoe UI Symbol" pitchFamily="34" charset="-122"/>
                <a:cs typeface="Segoe UI Symbol" pitchFamily="34" charset="-120"/>
              </a:rPr>
              <a:t>✓</a:t>
            </a:r>
            <a:r>
              <a:rPr lang="en-US" sz="800" b="1" kern="0" spc="56" dirty="0">
                <a:solidFill>
                  <a:srgbClr val="15803D"/>
                </a:solidFill>
                <a:latin typeface="Courier New" pitchFamily="34" charset="0"/>
                <a:ea typeface="Courier New" pitchFamily="34" charset="-122"/>
                <a:cs typeface="Courier New" pitchFamily="34" charset="-120"/>
              </a:rPr>
              <a:t>PROS</a:t>
            </a:r>
            <a:endParaRPr lang="en-US" sz="800" dirty="0"/>
          </a:p>
        </p:txBody>
      </p:sp>
      <p:sp>
        <p:nvSpPr>
          <p:cNvPr id="66" name="Shape 64"/>
          <p:cNvSpPr/>
          <p:nvPr/>
        </p:nvSpPr>
        <p:spPr>
          <a:xfrm>
            <a:off x="4657725" y="3442060"/>
            <a:ext cx="4014788" cy="0"/>
          </a:xfrm>
          <a:prstGeom prst="line">
            <a:avLst/>
          </a:prstGeom>
          <a:noFill/>
          <a:ln w="7144">
            <a:solidFill>
              <a:srgbClr val="CBD5E1"/>
            </a:solidFill>
            <a:prstDash val="solid"/>
          </a:ln>
        </p:spPr>
      </p:sp>
      <p:sp>
        <p:nvSpPr>
          <p:cNvPr id="67" name="Text 65"/>
          <p:cNvSpPr/>
          <p:nvPr/>
        </p:nvSpPr>
        <p:spPr>
          <a:xfrm>
            <a:off x="5014913" y="3509925"/>
            <a:ext cx="2514935" cy="154305"/>
          </a:xfrm>
          <a:prstGeom prst="rect">
            <a:avLst/>
          </a:prstGeom>
          <a:noFill/>
          <a:ln/>
        </p:spPr>
        <p:txBody>
          <a:bodyPr wrap="square" lIns="157163" tIns="57150" rIns="157163" bIns="57150" rtlCol="0" anchor="t"/>
          <a:lstStyle/>
          <a:p>
            <a:pPr marL="0" indent="0" algn="l">
              <a:lnSpc>
                <a:spcPts val="1260"/>
              </a:lnSpc>
              <a:buNone/>
            </a:pPr>
            <a:r>
              <a:rPr lang="en-US" sz="900" dirty="0">
                <a:solidFill>
                  <a:srgbClr val="0F172A"/>
                </a:solidFill>
                <a:latin typeface="Carlito" pitchFamily="34" charset="0"/>
                <a:ea typeface="Carlito" pitchFamily="34" charset="-122"/>
                <a:cs typeface="Carlito" pitchFamily="34" charset="-120"/>
              </a:rPr>
              <a:t>Auto-remediates drift without operator intervention</a:t>
            </a:r>
            <a:endParaRPr lang="en-US" sz="900" dirty="0"/>
          </a:p>
        </p:txBody>
      </p:sp>
      <p:sp>
        <p:nvSpPr>
          <p:cNvPr id="68" name="Text 66"/>
          <p:cNvSpPr/>
          <p:nvPr/>
        </p:nvSpPr>
        <p:spPr>
          <a:xfrm>
            <a:off x="4814888" y="3531357"/>
            <a:ext cx="128588" cy="128588"/>
          </a:xfrm>
          <a:prstGeom prst="rect">
            <a:avLst/>
          </a:prstGeom>
          <a:noFill/>
          <a:ln/>
        </p:spPr>
        <p:txBody>
          <a:bodyPr wrap="none" lIns="0" tIns="0" rIns="0" bIns="0" rtlCol="0" anchor="ctr"/>
          <a:lstStyle/>
          <a:p>
            <a:pPr marL="0" indent="0" algn="ctr">
              <a:buNone/>
            </a:pPr>
            <a:r>
              <a:rPr lang="en-US" sz="1266" dirty="0">
                <a:solidFill>
                  <a:srgbClr val="16A34A"/>
                </a:solidFill>
                <a:latin typeface="Segoe UI Symbol" pitchFamily="34" charset="0"/>
                <a:ea typeface="Segoe UI Symbol" pitchFamily="34" charset="-122"/>
                <a:cs typeface="Segoe UI Symbol" pitchFamily="34" charset="-120"/>
              </a:rPr>
              <a:t>⊕</a:t>
            </a:r>
            <a:endParaRPr lang="en-US" sz="1266" dirty="0"/>
          </a:p>
        </p:txBody>
      </p:sp>
      <p:sp>
        <p:nvSpPr>
          <p:cNvPr id="69" name="Text 67"/>
          <p:cNvSpPr/>
          <p:nvPr/>
        </p:nvSpPr>
        <p:spPr>
          <a:xfrm>
            <a:off x="4657725" y="3719885"/>
            <a:ext cx="4014788" cy="214313"/>
          </a:xfrm>
          <a:prstGeom prst="rect">
            <a:avLst/>
          </a:prstGeom>
          <a:solidFill>
            <a:srgbClr val="FEF2F2"/>
          </a:solidFill>
          <a:ln/>
        </p:spPr>
        <p:txBody>
          <a:bodyPr wrap="square" rtlCol="0" anchor="ctr"/>
          <a:lstStyle/>
          <a:p>
            <a:pPr marL="0" indent="0">
              <a:buNone/>
            </a:pPr>
            <a:endParaRPr lang="en-US" dirty="0"/>
          </a:p>
        </p:txBody>
      </p:sp>
      <p:sp>
        <p:nvSpPr>
          <p:cNvPr id="70" name="Text 68"/>
          <p:cNvSpPr/>
          <p:nvPr/>
        </p:nvSpPr>
        <p:spPr>
          <a:xfrm>
            <a:off x="4657725" y="3719885"/>
            <a:ext cx="4014788" cy="186881"/>
          </a:xfrm>
          <a:prstGeom prst="rect">
            <a:avLst/>
          </a:prstGeom>
          <a:noFill/>
          <a:ln/>
        </p:spPr>
        <p:txBody>
          <a:bodyPr wrap="none" lIns="157163" tIns="42863" rIns="157163" bIns="42863" rtlCol="0" anchor="t">
            <a:normAutofit fontScale="55000" lnSpcReduction="20000"/>
          </a:bodyPr>
          <a:lstStyle/>
          <a:p>
            <a:pPr marL="0" indent="0" algn="l">
              <a:lnSpc>
                <a:spcPts val="945"/>
              </a:lnSpc>
              <a:buNone/>
            </a:pPr>
            <a:r>
              <a:rPr lang="en-US" sz="800" b="1" kern="0" spc="56" dirty="0">
                <a:solidFill>
                  <a:srgbClr val="B91C1C"/>
                </a:solidFill>
                <a:latin typeface="Segoe UI Symbol" pitchFamily="34" charset="0"/>
                <a:ea typeface="Segoe UI Symbol" pitchFamily="34" charset="-122"/>
                <a:cs typeface="Segoe UI Symbol" pitchFamily="34" charset="-120"/>
              </a:rPr>
              <a:t>⚠</a:t>
            </a:r>
            <a:r>
              <a:rPr lang="en-US" sz="800" b="1" kern="0" spc="56" dirty="0">
                <a:solidFill>
                  <a:srgbClr val="B91C1C"/>
                </a:solidFill>
                <a:latin typeface="Courier New" pitchFamily="34" charset="0"/>
                <a:ea typeface="Courier New" pitchFamily="34" charset="-122"/>
                <a:cs typeface="Courier New" pitchFamily="34" charset="-120"/>
              </a:rPr>
              <a:t>CONS</a:t>
            </a:r>
            <a:endParaRPr lang="en-US" sz="800" dirty="0"/>
          </a:p>
        </p:txBody>
      </p:sp>
      <p:sp>
        <p:nvSpPr>
          <p:cNvPr id="71" name="Shape 69"/>
          <p:cNvSpPr/>
          <p:nvPr/>
        </p:nvSpPr>
        <p:spPr>
          <a:xfrm>
            <a:off x="4657725" y="3937769"/>
            <a:ext cx="4014788" cy="0"/>
          </a:xfrm>
          <a:prstGeom prst="line">
            <a:avLst/>
          </a:prstGeom>
          <a:noFill/>
          <a:ln w="7144">
            <a:solidFill>
              <a:srgbClr val="CBD5E1"/>
            </a:solidFill>
            <a:prstDash val="solid"/>
          </a:ln>
        </p:spPr>
      </p:sp>
      <p:sp>
        <p:nvSpPr>
          <p:cNvPr id="72" name="Text 70"/>
          <p:cNvSpPr/>
          <p:nvPr/>
        </p:nvSpPr>
        <p:spPr>
          <a:xfrm>
            <a:off x="5014913" y="4005635"/>
            <a:ext cx="2960526" cy="154305"/>
          </a:xfrm>
          <a:prstGeom prst="rect">
            <a:avLst/>
          </a:prstGeom>
          <a:noFill/>
          <a:ln/>
        </p:spPr>
        <p:txBody>
          <a:bodyPr wrap="square" lIns="157163" tIns="57150" rIns="157163" bIns="57150" rtlCol="0" anchor="t"/>
          <a:lstStyle/>
          <a:p>
            <a:pPr marL="0" indent="0" algn="l">
              <a:lnSpc>
                <a:spcPts val="1260"/>
              </a:lnSpc>
              <a:buNone/>
            </a:pPr>
            <a:r>
              <a:rPr lang="en-US" sz="900" dirty="0">
                <a:solidFill>
                  <a:srgbClr val="0F172A"/>
                </a:solidFill>
                <a:latin typeface="Carlito" pitchFamily="34" charset="0"/>
                <a:ea typeface="Carlito" pitchFamily="34" charset="-122"/>
                <a:cs typeface="Carlito" pitchFamily="34" charset="-120"/>
              </a:rPr>
              <a:t>Agent overhead, security surface, infra to run central server</a:t>
            </a:r>
            <a:endParaRPr lang="en-US" sz="900" dirty="0"/>
          </a:p>
        </p:txBody>
      </p:sp>
      <p:sp>
        <p:nvSpPr>
          <p:cNvPr id="73" name="Text 71"/>
          <p:cNvSpPr/>
          <p:nvPr/>
        </p:nvSpPr>
        <p:spPr>
          <a:xfrm>
            <a:off x="4814888" y="4027066"/>
            <a:ext cx="128588" cy="128588"/>
          </a:xfrm>
          <a:prstGeom prst="rect">
            <a:avLst/>
          </a:prstGeom>
          <a:noFill/>
          <a:ln/>
        </p:spPr>
        <p:txBody>
          <a:bodyPr wrap="none" lIns="0" tIns="0" rIns="0" bIns="0" rtlCol="0" anchor="ctr"/>
          <a:lstStyle/>
          <a:p>
            <a:pPr marL="0" indent="0" algn="ctr">
              <a:buNone/>
            </a:pPr>
            <a:r>
              <a:rPr lang="en-US" sz="1266" dirty="0">
                <a:solidFill>
                  <a:srgbClr val="DC2626"/>
                </a:solidFill>
                <a:latin typeface="Segoe UI Symbol" pitchFamily="34" charset="0"/>
                <a:ea typeface="Segoe UI Symbol" pitchFamily="34" charset="-122"/>
                <a:cs typeface="Segoe UI Symbol" pitchFamily="34" charset="-120"/>
              </a:rPr>
              <a:t>⊖</a:t>
            </a:r>
            <a:endParaRPr lang="en-US" sz="1266" dirty="0"/>
          </a:p>
        </p:txBody>
      </p:sp>
      <p:sp>
        <p:nvSpPr>
          <p:cNvPr id="74" name="Text 72"/>
          <p:cNvSpPr/>
          <p:nvPr/>
        </p:nvSpPr>
        <p:spPr>
          <a:xfrm>
            <a:off x="460772" y="4381351"/>
            <a:ext cx="8222456" cy="387102"/>
          </a:xfrm>
          <a:prstGeom prst="roundRect">
            <a:avLst>
              <a:gd name="adj" fmla="val 29527"/>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75" name="Text 73"/>
          <p:cNvSpPr/>
          <p:nvPr/>
        </p:nvSpPr>
        <p:spPr>
          <a:xfrm>
            <a:off x="878681" y="4492079"/>
            <a:ext cx="6332265" cy="169736"/>
          </a:xfrm>
          <a:prstGeom prst="rect">
            <a:avLst/>
          </a:prstGeom>
          <a:noFill/>
          <a:ln/>
        </p:spPr>
        <p:txBody>
          <a:bodyPr wrap="square" lIns="157163" tIns="100013" rIns="157163" bIns="100013" rtlCol="0" anchor="t"/>
          <a:lstStyle/>
          <a:p>
            <a:pPr marL="0" indent="0" algn="l">
              <a:lnSpc>
                <a:spcPts val="1418"/>
              </a:lnSpc>
              <a:buNone/>
            </a:pPr>
            <a:r>
              <a:rPr lang="en-US" sz="1013" dirty="0">
                <a:solidFill>
                  <a:srgbClr val="0F172A"/>
                </a:solidFill>
                <a:latin typeface="Carlito" pitchFamily="34" charset="0"/>
                <a:ea typeface="Carlito" pitchFamily="34" charset="-122"/>
                <a:cs typeface="Carlito" pitchFamily="34" charset="-120"/>
              </a:rPr>
              <a:t>For most modern teams: . Schedule Ansible Tower/AWX runs if you need continuous drift correction.</a:t>
            </a:r>
            <a:endParaRPr lang="en-US" sz="1013" dirty="0"/>
          </a:p>
        </p:txBody>
      </p:sp>
      <p:sp>
        <p:nvSpPr>
          <p:cNvPr id="76" name="Text 74"/>
          <p:cNvSpPr/>
          <p:nvPr/>
        </p:nvSpPr>
        <p:spPr>
          <a:xfrm>
            <a:off x="621506" y="4489177"/>
            <a:ext cx="171450" cy="171450"/>
          </a:xfrm>
          <a:prstGeom prst="rect">
            <a:avLst/>
          </a:prstGeom>
          <a:noFill/>
          <a:ln/>
        </p:spPr>
        <p:txBody>
          <a:bodyPr wrap="none" lIns="0" tIns="0" rIns="0" bIns="0" rtlCol="0" anchor="ctr"/>
          <a:lstStyle/>
          <a:p>
            <a:pPr marL="0" indent="0" algn="ctr">
              <a:buNone/>
            </a:pPr>
            <a:r>
              <a:rPr lang="en-US" sz="1688" dirty="0">
                <a:solidFill>
                  <a:srgbClr val="F97316"/>
                </a:solidFill>
                <a:latin typeface="Segoe UI Symbol" pitchFamily="34" charset="0"/>
                <a:ea typeface="Segoe UI Symbol" pitchFamily="34" charset="-122"/>
                <a:cs typeface="Segoe UI Symbol" pitchFamily="34" charset="-120"/>
              </a:rPr>
              <a:t>⚖</a:t>
            </a:r>
            <a:endParaRPr lang="en-US" sz="1688" dirty="0"/>
          </a:p>
        </p:txBody>
      </p:sp>
      <p:sp>
        <p:nvSpPr>
          <p:cNvPr id="77" name="Text 75"/>
          <p:cNvSpPr/>
          <p:nvPr/>
        </p:nvSpPr>
        <p:spPr>
          <a:xfrm>
            <a:off x="2348731" y="4484936"/>
            <a:ext cx="6173763" cy="179933"/>
          </a:xfrm>
          <a:prstGeom prst="rect">
            <a:avLst/>
          </a:prstGeom>
          <a:noFill/>
          <a:ln/>
        </p:spPr>
        <p:txBody>
          <a:bodyPr wrap="none" lIns="0" tIns="0" rIns="0" bIns="0" rtlCol="0" anchor="t"/>
          <a:lstStyle/>
          <a:p>
            <a:pPr marL="0" indent="0" algn="l">
              <a:lnSpc>
                <a:spcPts val="1418"/>
              </a:lnSpc>
              <a:buNone/>
            </a:pPr>
            <a:r>
              <a:rPr lang="en-US" sz="1013" dirty="0">
                <a:solidFill>
                  <a:srgbClr val="F97316"/>
                </a:solidFill>
                <a:latin typeface="Carlito" pitchFamily="34" charset="0"/>
                <a:ea typeface="Carlito" pitchFamily="34" charset="-122"/>
                <a:cs typeface="Carlito" pitchFamily="34" charset="-120"/>
              </a:rPr>
              <a:t>Push wins</a:t>
            </a:r>
            <a:endParaRPr lang="en-US" sz="1013"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71475"/>
            <a:ext cx="5819310" cy="339471"/>
          </a:xfrm>
          <a:prstGeom prst="rect">
            <a:avLst/>
          </a:prstGeom>
          <a:noFill/>
          <a:ln/>
        </p:spPr>
        <p:txBody>
          <a:bodyPr wrap="square" lIns="0" tIns="0" rIns="0" bIns="0" rtlCol="0" anchor="t"/>
          <a:lstStyle/>
          <a:p>
            <a:pPr marL="0" indent="0" algn="l">
              <a:lnSpc>
                <a:spcPts val="2475"/>
              </a:lnSpc>
              <a:buNone/>
            </a:pPr>
            <a:r>
              <a:rPr lang="en-US" sz="2250" b="1" dirty="0">
                <a:solidFill>
                  <a:srgbClr val="0F172A"/>
                </a:solidFill>
                <a:latin typeface="Carlito" pitchFamily="34" charset="0"/>
                <a:ea typeface="Carlito" pitchFamily="34" charset="-122"/>
                <a:cs typeface="Carlito" pitchFamily="34" charset="-120"/>
              </a:rPr>
              <a:t>SSH Connection Model — Under the Hood</a:t>
            </a:r>
            <a:endParaRPr lang="en-US" sz="2250" dirty="0"/>
          </a:p>
        </p:txBody>
      </p:sp>
      <p:sp>
        <p:nvSpPr>
          <p:cNvPr id="3" name="Text 1"/>
          <p:cNvSpPr/>
          <p:nvPr/>
        </p:nvSpPr>
        <p:spPr>
          <a:xfrm>
            <a:off x="457200" y="771525"/>
            <a:ext cx="571500" cy="42863"/>
          </a:xfrm>
          <a:prstGeom prst="roundRect">
            <a:avLst>
              <a:gd name="adj" fmla="val 66666"/>
            </a:avLst>
          </a:prstGeom>
          <a:solidFill>
            <a:srgbClr val="F97316"/>
          </a:solidFill>
          <a:ln/>
        </p:spPr>
        <p:txBody>
          <a:bodyPr wrap="square" rtlCol="0" anchor="ctr"/>
          <a:lstStyle/>
          <a:p>
            <a:pPr marL="0" indent="0">
              <a:buNone/>
            </a:pPr>
            <a:endParaRPr lang="en-US" dirty="0"/>
          </a:p>
        </p:txBody>
      </p:sp>
      <p:sp>
        <p:nvSpPr>
          <p:cNvPr id="4" name="Text 2"/>
          <p:cNvSpPr/>
          <p:nvPr/>
        </p:nvSpPr>
        <p:spPr>
          <a:xfrm>
            <a:off x="7788161" y="358673"/>
            <a:ext cx="921499" cy="331333"/>
          </a:xfrm>
          <a:prstGeom prst="roundRect">
            <a:avLst>
              <a:gd name="adj" fmla="val 2871877"/>
            </a:avLst>
          </a:prstGeom>
          <a:solidFill>
            <a:srgbClr val="0F172A"/>
          </a:solidFill>
          <a:ln/>
        </p:spPr>
        <p:txBody>
          <a:bodyPr wrap="square" rtlCol="0" anchor="ctr"/>
          <a:lstStyle/>
          <a:p>
            <a:pPr marL="0" indent="0">
              <a:buNone/>
            </a:pPr>
            <a:endParaRPr lang="en-US" dirty="0"/>
          </a:p>
        </p:txBody>
      </p:sp>
      <p:sp>
        <p:nvSpPr>
          <p:cNvPr id="5" name="Text 3"/>
          <p:cNvSpPr/>
          <p:nvPr/>
        </p:nvSpPr>
        <p:spPr>
          <a:xfrm>
            <a:off x="7811021" y="371475"/>
            <a:ext cx="875779" cy="305730"/>
          </a:xfrm>
          <a:prstGeom prst="rect">
            <a:avLst/>
          </a:prstGeom>
          <a:noFill/>
          <a:ln/>
        </p:spPr>
        <p:txBody>
          <a:bodyPr wrap="none" lIns="0" tIns="0" rIns="0" bIns="0" rtlCol="0" anchor="ctr"/>
          <a:lstStyle/>
          <a:p>
            <a:pPr marL="0" indent="0" algn="ctr">
              <a:lnSpc>
                <a:spcPts val="1733"/>
              </a:lnSpc>
              <a:buNone/>
            </a:pPr>
            <a:r>
              <a:rPr lang="en-US" sz="1238" b="1" kern="0" spc="28" dirty="0">
                <a:solidFill>
                  <a:srgbClr val="FFFFFF"/>
                </a:solidFill>
                <a:latin typeface="Liberation Sans Narrow" pitchFamily="34" charset="0"/>
                <a:ea typeface="Liberation Sans Narrow" pitchFamily="34" charset="-122"/>
                <a:cs typeface="Liberation Sans Narrow" pitchFamily="34" charset="-120"/>
              </a:rPr>
              <a:t>02 · SSH</a:t>
            </a:r>
            <a:endParaRPr lang="en-US" sz="1238" dirty="0"/>
          </a:p>
        </p:txBody>
      </p:sp>
      <p:sp>
        <p:nvSpPr>
          <p:cNvPr id="6" name="Text 4"/>
          <p:cNvSpPr/>
          <p:nvPr/>
        </p:nvSpPr>
        <p:spPr>
          <a:xfrm>
            <a:off x="460772" y="932259"/>
            <a:ext cx="4733851" cy="527075"/>
          </a:xfrm>
          <a:prstGeom prst="roundRect">
            <a:avLst>
              <a:gd name="adj" fmla="val 21686"/>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7" name="Text 5"/>
          <p:cNvSpPr/>
          <p:nvPr/>
        </p:nvSpPr>
        <p:spPr>
          <a:xfrm>
            <a:off x="592931" y="1035844"/>
            <a:ext cx="365760" cy="237606"/>
          </a:xfrm>
          <a:prstGeom prst="rect">
            <a:avLst/>
          </a:prstGeom>
          <a:noFill/>
          <a:ln/>
        </p:spPr>
        <p:txBody>
          <a:bodyPr wrap="none" lIns="0" tIns="0" rIns="0" bIns="0" rtlCol="0" anchor="t"/>
          <a:lstStyle/>
          <a:p>
            <a:pPr marL="0" indent="0" algn="l">
              <a:lnSpc>
                <a:spcPts val="1733"/>
              </a:lnSpc>
              <a:buNone/>
            </a:pPr>
            <a:r>
              <a:rPr lang="en-US" sz="1238" b="1" dirty="0">
                <a:solidFill>
                  <a:srgbClr val="F97316"/>
                </a:solidFill>
                <a:latin typeface="Liberation Sans Narrow" pitchFamily="34" charset="0"/>
                <a:ea typeface="Liberation Sans Narrow" pitchFamily="34" charset="-122"/>
                <a:cs typeface="Liberation Sans Narrow" pitchFamily="34" charset="-120"/>
              </a:rPr>
              <a:t>01</a:t>
            </a:r>
            <a:endParaRPr lang="en-US" sz="1238" dirty="0"/>
          </a:p>
        </p:txBody>
      </p:sp>
      <p:sp>
        <p:nvSpPr>
          <p:cNvPr id="8" name="Text 6"/>
          <p:cNvSpPr/>
          <p:nvPr/>
        </p:nvSpPr>
        <p:spPr>
          <a:xfrm>
            <a:off x="3140459" y="1050131"/>
            <a:ext cx="235744" cy="135731"/>
          </a:xfrm>
          <a:prstGeom prst="roundRect">
            <a:avLst>
              <a:gd name="adj" fmla="val 28070"/>
            </a:avLst>
          </a:prstGeom>
          <a:solidFill>
            <a:srgbClr val="F1F5F9"/>
          </a:solidFill>
          <a:ln/>
        </p:spPr>
        <p:txBody>
          <a:bodyPr wrap="square" rtlCol="0" anchor="ctr"/>
          <a:lstStyle/>
          <a:p>
            <a:pPr marL="0" indent="0">
              <a:buNone/>
            </a:pPr>
            <a:endParaRPr lang="en-US" dirty="0"/>
          </a:p>
        </p:txBody>
      </p:sp>
      <p:sp>
        <p:nvSpPr>
          <p:cNvPr id="9" name="Text 7"/>
          <p:cNvSpPr/>
          <p:nvPr/>
        </p:nvSpPr>
        <p:spPr>
          <a:xfrm>
            <a:off x="921544" y="1035844"/>
            <a:ext cx="4140919" cy="319906"/>
          </a:xfrm>
          <a:prstGeom prst="rect">
            <a:avLst/>
          </a:prstGeom>
          <a:noFill/>
          <a:ln/>
        </p:spPr>
        <p:txBody>
          <a:bodyPr wrap="square" lIns="0" tIns="0" rIns="0" bIns="0" rtlCol="0" anchor="t"/>
          <a:lstStyle/>
          <a:p>
            <a:pPr marL="0" indent="0" algn="l">
              <a:lnSpc>
                <a:spcPts val="1260"/>
              </a:lnSpc>
              <a:buNone/>
            </a:pPr>
            <a:r>
              <a:rPr lang="en-US" sz="900" dirty="0">
                <a:solidFill>
                  <a:srgbClr val="334155"/>
                </a:solidFill>
                <a:latin typeface="Carlito" pitchFamily="34" charset="0"/>
                <a:ea typeface="Carlito" pitchFamily="34" charset="-122"/>
                <a:cs typeface="Carlito" pitchFamily="34" charset="-120"/>
              </a:rPr>
              <a:t>Ansible uses </a:t>
            </a:r>
            <a:r>
              <a:rPr lang="en-US" sz="900" b="1" dirty="0">
                <a:solidFill>
                  <a:srgbClr val="0F172A"/>
                </a:solidFill>
                <a:latin typeface="Carlito" pitchFamily="34" charset="0"/>
                <a:ea typeface="Carlito" pitchFamily="34" charset="-122"/>
                <a:cs typeface="Carlito" pitchFamily="34" charset="-120"/>
              </a:rPr>
              <a:t>standard OpenSSH</a:t>
            </a:r>
            <a:r>
              <a:rPr lang="en-US" sz="900" dirty="0">
                <a:solidFill>
                  <a:srgbClr val="334155"/>
                </a:solidFill>
                <a:latin typeface="Carlito" pitchFamily="34" charset="0"/>
                <a:ea typeface="Carlito" pitchFamily="34" charset="-122"/>
                <a:cs typeface="Carlito" pitchFamily="34" charset="-120"/>
              </a:rPr>
              <a:t>. The same </a:t>
            </a:r>
            <a:r>
              <a:rPr lang="en-US" sz="800" dirty="0">
                <a:solidFill>
                  <a:srgbClr val="0F172A"/>
                </a:solidFill>
                <a:highlight>
                  <a:srgbClr val="F1F5F9"/>
                </a:highlight>
                <a:latin typeface="Courier New" pitchFamily="34" charset="0"/>
                <a:ea typeface="Courier New" pitchFamily="34" charset="-122"/>
                <a:cs typeface="Courier New" pitchFamily="34" charset="-120"/>
              </a:rPr>
              <a:t>ssh</a:t>
            </a:r>
            <a:r>
              <a:rPr lang="en-US" sz="900" dirty="0">
                <a:solidFill>
                  <a:srgbClr val="334155"/>
                </a:solidFill>
                <a:latin typeface="Carlito" pitchFamily="34" charset="0"/>
                <a:ea typeface="Carlito" pitchFamily="34" charset="-122"/>
                <a:cs typeface="Carlito" pitchFamily="34" charset="-120"/>
              </a:rPr>
              <a:t> binary you use to log into servers. No special SSH fork, no custom protocol.</a:t>
            </a:r>
            <a:endParaRPr lang="en-US" sz="900" dirty="0"/>
          </a:p>
        </p:txBody>
      </p:sp>
      <p:sp>
        <p:nvSpPr>
          <p:cNvPr id="10" name="Text 8"/>
          <p:cNvSpPr/>
          <p:nvPr/>
        </p:nvSpPr>
        <p:spPr>
          <a:xfrm>
            <a:off x="460772" y="1552203"/>
            <a:ext cx="4733851" cy="527075"/>
          </a:xfrm>
          <a:prstGeom prst="roundRect">
            <a:avLst>
              <a:gd name="adj" fmla="val 21686"/>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11" name="Text 9"/>
          <p:cNvSpPr/>
          <p:nvPr/>
        </p:nvSpPr>
        <p:spPr>
          <a:xfrm>
            <a:off x="592931" y="1655787"/>
            <a:ext cx="365760" cy="237606"/>
          </a:xfrm>
          <a:prstGeom prst="rect">
            <a:avLst/>
          </a:prstGeom>
          <a:noFill/>
          <a:ln/>
        </p:spPr>
        <p:txBody>
          <a:bodyPr wrap="none" lIns="0" tIns="0" rIns="0" bIns="0" rtlCol="0" anchor="t"/>
          <a:lstStyle/>
          <a:p>
            <a:pPr marL="0" indent="0" algn="l">
              <a:lnSpc>
                <a:spcPts val="1733"/>
              </a:lnSpc>
              <a:buNone/>
            </a:pPr>
            <a:r>
              <a:rPr lang="en-US" sz="1238" b="1" dirty="0">
                <a:solidFill>
                  <a:srgbClr val="F97316"/>
                </a:solidFill>
                <a:latin typeface="Liberation Sans Narrow" pitchFamily="34" charset="0"/>
                <a:ea typeface="Liberation Sans Narrow" pitchFamily="34" charset="-122"/>
                <a:cs typeface="Liberation Sans Narrow" pitchFamily="34" charset="-120"/>
              </a:rPr>
              <a:t>02</a:t>
            </a:r>
            <a:endParaRPr lang="en-US" sz="1238" dirty="0"/>
          </a:p>
        </p:txBody>
      </p:sp>
      <p:sp>
        <p:nvSpPr>
          <p:cNvPr id="12" name="Text 10"/>
          <p:cNvSpPr/>
          <p:nvPr/>
        </p:nvSpPr>
        <p:spPr>
          <a:xfrm>
            <a:off x="921544" y="1655787"/>
            <a:ext cx="4140919" cy="319906"/>
          </a:xfrm>
          <a:prstGeom prst="rect">
            <a:avLst/>
          </a:prstGeom>
          <a:noFill/>
          <a:ln/>
        </p:spPr>
        <p:txBody>
          <a:bodyPr wrap="square" lIns="0" tIns="0" rIns="0" bIns="0" rtlCol="0" anchor="t"/>
          <a:lstStyle/>
          <a:p>
            <a:pPr marL="0" indent="0" algn="l">
              <a:lnSpc>
                <a:spcPts val="1260"/>
              </a:lnSpc>
              <a:buNone/>
            </a:pPr>
            <a:r>
              <a:rPr lang="en-US" sz="900" dirty="0">
                <a:solidFill>
                  <a:srgbClr val="334155"/>
                </a:solidFill>
                <a:latin typeface="Carlito" pitchFamily="34" charset="0"/>
                <a:ea typeface="Carlito" pitchFamily="34" charset="-122"/>
                <a:cs typeface="Carlito" pitchFamily="34" charset="-120"/>
              </a:rPr>
              <a:t>Authentication via </a:t>
            </a:r>
            <a:r>
              <a:rPr lang="en-US" sz="900" b="1" dirty="0">
                <a:solidFill>
                  <a:srgbClr val="0F172A"/>
                </a:solidFill>
                <a:latin typeface="Carlito" pitchFamily="34" charset="0"/>
                <a:ea typeface="Carlito" pitchFamily="34" charset="-122"/>
                <a:cs typeface="Carlito" pitchFamily="34" charset="-120"/>
              </a:rPr>
              <a:t>SSH keys</a:t>
            </a:r>
            <a:r>
              <a:rPr lang="en-US" sz="900" dirty="0">
                <a:solidFill>
                  <a:srgbClr val="334155"/>
                </a:solidFill>
                <a:latin typeface="Carlito" pitchFamily="34" charset="0"/>
                <a:ea typeface="Carlito" pitchFamily="34" charset="-122"/>
                <a:cs typeface="Carlito" pitchFamily="34" charset="-120"/>
              </a:rPr>
              <a:t> (recommended) or passwords (not recommended). Ansible can also use Kerberos, jump hosts (bastion), and SSH agent forwarding.</a:t>
            </a:r>
            <a:endParaRPr lang="en-US" sz="900" dirty="0"/>
          </a:p>
        </p:txBody>
      </p:sp>
      <p:sp>
        <p:nvSpPr>
          <p:cNvPr id="13" name="Text 11"/>
          <p:cNvSpPr/>
          <p:nvPr/>
        </p:nvSpPr>
        <p:spPr>
          <a:xfrm>
            <a:off x="460772" y="2172146"/>
            <a:ext cx="4733851" cy="527075"/>
          </a:xfrm>
          <a:prstGeom prst="roundRect">
            <a:avLst>
              <a:gd name="adj" fmla="val 21686"/>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14" name="Text 12"/>
          <p:cNvSpPr/>
          <p:nvPr/>
        </p:nvSpPr>
        <p:spPr>
          <a:xfrm>
            <a:off x="592931" y="2275731"/>
            <a:ext cx="365760" cy="237606"/>
          </a:xfrm>
          <a:prstGeom prst="rect">
            <a:avLst/>
          </a:prstGeom>
          <a:noFill/>
          <a:ln/>
        </p:spPr>
        <p:txBody>
          <a:bodyPr wrap="none" lIns="0" tIns="0" rIns="0" bIns="0" rtlCol="0" anchor="t"/>
          <a:lstStyle/>
          <a:p>
            <a:pPr marL="0" indent="0" algn="l">
              <a:lnSpc>
                <a:spcPts val="1733"/>
              </a:lnSpc>
              <a:buNone/>
            </a:pPr>
            <a:r>
              <a:rPr lang="en-US" sz="1238" b="1" dirty="0">
                <a:solidFill>
                  <a:srgbClr val="F97316"/>
                </a:solidFill>
                <a:latin typeface="Liberation Sans Narrow" pitchFamily="34" charset="0"/>
                <a:ea typeface="Liberation Sans Narrow" pitchFamily="34" charset="-122"/>
                <a:cs typeface="Liberation Sans Narrow" pitchFamily="34" charset="-120"/>
              </a:rPr>
              <a:t>03</a:t>
            </a:r>
            <a:endParaRPr lang="en-US" sz="1238" dirty="0"/>
          </a:p>
        </p:txBody>
      </p:sp>
      <p:sp>
        <p:nvSpPr>
          <p:cNvPr id="15" name="Text 13"/>
          <p:cNvSpPr/>
          <p:nvPr/>
        </p:nvSpPr>
        <p:spPr>
          <a:xfrm>
            <a:off x="2138214" y="2449971"/>
            <a:ext cx="335756" cy="135731"/>
          </a:xfrm>
          <a:prstGeom prst="roundRect">
            <a:avLst>
              <a:gd name="adj" fmla="val 28070"/>
            </a:avLst>
          </a:prstGeom>
          <a:solidFill>
            <a:srgbClr val="F1F5F9"/>
          </a:solidFill>
          <a:ln/>
        </p:spPr>
        <p:txBody>
          <a:bodyPr wrap="square" rtlCol="0" anchor="ctr"/>
          <a:lstStyle/>
          <a:p>
            <a:pPr marL="0" indent="0">
              <a:buNone/>
            </a:pPr>
            <a:endParaRPr lang="en-US" dirty="0"/>
          </a:p>
        </p:txBody>
      </p:sp>
      <p:sp>
        <p:nvSpPr>
          <p:cNvPr id="16" name="Text 14"/>
          <p:cNvSpPr/>
          <p:nvPr/>
        </p:nvSpPr>
        <p:spPr>
          <a:xfrm>
            <a:off x="921544" y="2275731"/>
            <a:ext cx="4140919" cy="319906"/>
          </a:xfrm>
          <a:prstGeom prst="rect">
            <a:avLst/>
          </a:prstGeom>
          <a:noFill/>
          <a:ln/>
        </p:spPr>
        <p:txBody>
          <a:bodyPr wrap="square" lIns="0" tIns="0" rIns="0" bIns="0" rtlCol="0" anchor="t"/>
          <a:lstStyle/>
          <a:p>
            <a:pPr marL="0" indent="0" algn="l">
              <a:lnSpc>
                <a:spcPts val="1260"/>
              </a:lnSpc>
              <a:buNone/>
            </a:pPr>
            <a:r>
              <a:rPr lang="en-US" sz="900" b="1" dirty="0">
                <a:solidFill>
                  <a:srgbClr val="0F172A"/>
                </a:solidFill>
                <a:latin typeface="Carlito" pitchFamily="34" charset="0"/>
                <a:ea typeface="Carlito" pitchFamily="34" charset="-122"/>
                <a:cs typeface="Carlito" pitchFamily="34" charset="-120"/>
              </a:rPr>
              <a:t>Parallelism via Python multiprocessing.</a:t>
            </a:r>
            <a:r>
              <a:rPr lang="en-US" sz="900" dirty="0">
                <a:solidFill>
                  <a:srgbClr val="334155"/>
                </a:solidFill>
                <a:latin typeface="Carlito" pitchFamily="34" charset="0"/>
                <a:ea typeface="Carlito" pitchFamily="34" charset="-122"/>
                <a:cs typeface="Carlito" pitchFamily="34" charset="-120"/>
              </a:rPr>
              <a:t> Ansible forks N worker processes — one per host (capped by the </a:t>
            </a:r>
            <a:r>
              <a:rPr lang="en-US" sz="800" dirty="0">
                <a:solidFill>
                  <a:srgbClr val="0F172A"/>
                </a:solidFill>
                <a:highlight>
                  <a:srgbClr val="F1F5F9"/>
                </a:highlight>
                <a:latin typeface="Courier New" pitchFamily="34" charset="0"/>
                <a:ea typeface="Courier New" pitchFamily="34" charset="-122"/>
                <a:cs typeface="Courier New" pitchFamily="34" charset="-120"/>
              </a:rPr>
              <a:t>forks</a:t>
            </a:r>
            <a:r>
              <a:rPr lang="en-US" sz="900" dirty="0">
                <a:solidFill>
                  <a:srgbClr val="334155"/>
                </a:solidFill>
                <a:latin typeface="Carlito" pitchFamily="34" charset="0"/>
                <a:ea typeface="Carlito" pitchFamily="34" charset="-122"/>
                <a:cs typeface="Carlito" pitchFamily="34" charset="-120"/>
              </a:rPr>
              <a:t> setting, default 5). Each worker SSHes in parallel.</a:t>
            </a:r>
            <a:endParaRPr lang="en-US" sz="900" dirty="0"/>
          </a:p>
        </p:txBody>
      </p:sp>
      <p:sp>
        <p:nvSpPr>
          <p:cNvPr id="17" name="Text 15"/>
          <p:cNvSpPr/>
          <p:nvPr/>
        </p:nvSpPr>
        <p:spPr>
          <a:xfrm>
            <a:off x="460772" y="2792090"/>
            <a:ext cx="4733851" cy="687028"/>
          </a:xfrm>
          <a:prstGeom prst="roundRect">
            <a:avLst>
              <a:gd name="adj" fmla="val 16637"/>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18" name="Text 16"/>
          <p:cNvSpPr/>
          <p:nvPr/>
        </p:nvSpPr>
        <p:spPr>
          <a:xfrm>
            <a:off x="592931" y="2895674"/>
            <a:ext cx="365760" cy="237606"/>
          </a:xfrm>
          <a:prstGeom prst="rect">
            <a:avLst/>
          </a:prstGeom>
          <a:noFill/>
          <a:ln/>
        </p:spPr>
        <p:txBody>
          <a:bodyPr wrap="none" lIns="0" tIns="0" rIns="0" bIns="0" rtlCol="0" anchor="t"/>
          <a:lstStyle/>
          <a:p>
            <a:pPr marL="0" indent="0" algn="l">
              <a:lnSpc>
                <a:spcPts val="1733"/>
              </a:lnSpc>
              <a:buNone/>
            </a:pPr>
            <a:r>
              <a:rPr lang="en-US" sz="1238" b="1" dirty="0">
                <a:solidFill>
                  <a:srgbClr val="F97316"/>
                </a:solidFill>
                <a:latin typeface="Liberation Sans Narrow" pitchFamily="34" charset="0"/>
                <a:ea typeface="Liberation Sans Narrow" pitchFamily="34" charset="-122"/>
                <a:cs typeface="Liberation Sans Narrow" pitchFamily="34" charset="-120"/>
              </a:rPr>
              <a:t>04</a:t>
            </a:r>
            <a:endParaRPr lang="en-US" sz="1238" dirty="0"/>
          </a:p>
        </p:txBody>
      </p:sp>
      <p:sp>
        <p:nvSpPr>
          <p:cNvPr id="19" name="Text 17"/>
          <p:cNvSpPr/>
          <p:nvPr/>
        </p:nvSpPr>
        <p:spPr>
          <a:xfrm>
            <a:off x="1211647" y="3069915"/>
            <a:ext cx="1735931" cy="135731"/>
          </a:xfrm>
          <a:prstGeom prst="roundRect">
            <a:avLst>
              <a:gd name="adj" fmla="val 28070"/>
            </a:avLst>
          </a:prstGeom>
          <a:solidFill>
            <a:srgbClr val="F1F5F9"/>
          </a:solidFill>
          <a:ln/>
        </p:spPr>
        <p:txBody>
          <a:bodyPr wrap="square" rtlCol="0" anchor="ctr"/>
          <a:lstStyle/>
          <a:p>
            <a:pPr marL="0" indent="0">
              <a:buNone/>
            </a:pPr>
            <a:endParaRPr lang="en-US" dirty="0"/>
          </a:p>
        </p:txBody>
      </p:sp>
      <p:sp>
        <p:nvSpPr>
          <p:cNvPr id="20" name="Text 18"/>
          <p:cNvSpPr/>
          <p:nvPr/>
        </p:nvSpPr>
        <p:spPr>
          <a:xfrm>
            <a:off x="921544" y="2895674"/>
            <a:ext cx="4140919" cy="479859"/>
          </a:xfrm>
          <a:prstGeom prst="rect">
            <a:avLst/>
          </a:prstGeom>
          <a:noFill/>
          <a:ln/>
        </p:spPr>
        <p:txBody>
          <a:bodyPr wrap="square" lIns="0" tIns="0" rIns="0" bIns="0" rtlCol="0" anchor="t"/>
          <a:lstStyle/>
          <a:p>
            <a:pPr marL="0" indent="0" algn="l">
              <a:lnSpc>
                <a:spcPts val="1260"/>
              </a:lnSpc>
              <a:buNone/>
            </a:pPr>
            <a:r>
              <a:rPr lang="en-US" sz="900" b="1" dirty="0">
                <a:solidFill>
                  <a:srgbClr val="0F172A"/>
                </a:solidFill>
                <a:latin typeface="Carlito" pitchFamily="34" charset="0"/>
                <a:ea typeface="Carlito" pitchFamily="34" charset="-122"/>
                <a:cs typeface="Carlito" pitchFamily="34" charset="-120"/>
              </a:rPr>
              <a:t>Module transport:</a:t>
            </a:r>
            <a:r>
              <a:rPr lang="en-US" sz="900" dirty="0">
                <a:solidFill>
                  <a:srgbClr val="334155"/>
                </a:solidFill>
                <a:latin typeface="Carlito" pitchFamily="34" charset="0"/>
                <a:ea typeface="Carlito" pitchFamily="34" charset="-122"/>
                <a:cs typeface="Carlito" pitchFamily="34" charset="-120"/>
              </a:rPr>
              <a:t> Ansible SFTPs the Python module to a temp dir on the target (e.g., </a:t>
            </a:r>
            <a:r>
              <a:rPr lang="en-US" sz="800" dirty="0">
                <a:solidFill>
                  <a:srgbClr val="0F172A"/>
                </a:solidFill>
                <a:highlight>
                  <a:srgbClr val="F1F5F9"/>
                </a:highlight>
                <a:latin typeface="Liberation Sans Narrow" pitchFamily="34" charset="0"/>
                <a:ea typeface="Liberation Sans Narrow" pitchFamily="34" charset="-122"/>
                <a:cs typeface="Liberation Sans Narrow" pitchFamily="34" charset="-120"/>
              </a:rPr>
              <a:t>~/.ansible/tmp/ansible-tmp-12345/</a:t>
            </a:r>
            <a:r>
              <a:rPr lang="en-US" sz="900" dirty="0">
                <a:solidFill>
                  <a:srgbClr val="334155"/>
                </a:solidFill>
                <a:latin typeface="Carlito" pitchFamily="34" charset="0"/>
                <a:ea typeface="Carlito" pitchFamily="34" charset="-122"/>
                <a:cs typeface="Carlito" pitchFamily="34" charset="-120"/>
              </a:rPr>
              <a:t>), executes via SSH, captures stdout (JSON), removes the temp dir.</a:t>
            </a:r>
            <a:endParaRPr lang="en-US" sz="900" dirty="0"/>
          </a:p>
        </p:txBody>
      </p:sp>
      <p:sp>
        <p:nvSpPr>
          <p:cNvPr id="21" name="Text 19"/>
          <p:cNvSpPr/>
          <p:nvPr/>
        </p:nvSpPr>
        <p:spPr>
          <a:xfrm>
            <a:off x="5344641" y="932259"/>
            <a:ext cx="3338475" cy="3836194"/>
          </a:xfrm>
          <a:prstGeom prst="roundRect">
            <a:avLst>
              <a:gd name="adj" fmla="val 3994"/>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22" name="Text 20"/>
          <p:cNvSpPr/>
          <p:nvPr/>
        </p:nvSpPr>
        <p:spPr>
          <a:xfrm>
            <a:off x="6333604" y="1899121"/>
            <a:ext cx="1360438" cy="379958"/>
          </a:xfrm>
          <a:prstGeom prst="roundRect">
            <a:avLst>
              <a:gd name="adj" fmla="val 30082"/>
            </a:avLst>
          </a:prstGeom>
          <a:solidFill>
            <a:srgbClr val="0F172A"/>
          </a:solidFill>
          <a:ln/>
        </p:spPr>
        <p:txBody>
          <a:bodyPr wrap="square" rtlCol="0" anchor="ctr"/>
          <a:lstStyle/>
          <a:p>
            <a:pPr marL="0" indent="0">
              <a:buNone/>
            </a:pPr>
            <a:endParaRPr lang="en-US" dirty="0"/>
          </a:p>
        </p:txBody>
      </p:sp>
      <p:sp>
        <p:nvSpPr>
          <p:cNvPr id="23" name="Text 21"/>
          <p:cNvSpPr/>
          <p:nvPr/>
        </p:nvSpPr>
        <p:spPr>
          <a:xfrm>
            <a:off x="6635247" y="2006278"/>
            <a:ext cx="985752" cy="169736"/>
          </a:xfrm>
          <a:prstGeom prst="rect">
            <a:avLst/>
          </a:prstGeom>
          <a:noFill/>
          <a:ln/>
        </p:spPr>
        <p:txBody>
          <a:bodyPr wrap="none" lIns="0" tIns="0" rIns="0" bIns="0" rtlCol="0" anchor="t"/>
          <a:lstStyle/>
          <a:p>
            <a:pPr marL="0" indent="0" algn="l">
              <a:lnSpc>
                <a:spcPts val="1418"/>
              </a:lnSpc>
              <a:buNone/>
            </a:pPr>
            <a:r>
              <a:rPr lang="en-US" sz="1013" b="1" dirty="0">
                <a:solidFill>
                  <a:srgbClr val="FFFFFF"/>
                </a:solidFill>
                <a:latin typeface="Carlito" pitchFamily="34" charset="0"/>
                <a:ea typeface="Carlito" pitchFamily="34" charset="-122"/>
                <a:cs typeface="Carlito" pitchFamily="34" charset="-120"/>
              </a:rPr>
              <a:t>Control Node</a:t>
            </a:r>
            <a:endParaRPr lang="en-US" sz="1013" dirty="0"/>
          </a:p>
        </p:txBody>
      </p:sp>
      <p:sp>
        <p:nvSpPr>
          <p:cNvPr id="24" name="Text 22"/>
          <p:cNvSpPr/>
          <p:nvPr/>
        </p:nvSpPr>
        <p:spPr>
          <a:xfrm>
            <a:off x="6533629" y="2003375"/>
            <a:ext cx="171450" cy="171450"/>
          </a:xfrm>
          <a:prstGeom prst="rect">
            <a:avLst/>
          </a:prstGeom>
          <a:noFill/>
          <a:ln/>
        </p:spPr>
        <p:txBody>
          <a:bodyPr wrap="none" lIns="0" tIns="0" rIns="0" bIns="0" rtlCol="0" anchor="ctr"/>
          <a:lstStyle/>
          <a:p>
            <a:pPr marL="0" indent="0" algn="ctr">
              <a:buNone/>
            </a:pPr>
            <a:r>
              <a:rPr lang="en-US" sz="1688" dirty="0">
                <a:solidFill>
                  <a:srgbClr val="F97316"/>
                </a:solidFill>
                <a:latin typeface="Segoe UI Symbol" pitchFamily="34" charset="0"/>
                <a:ea typeface="Segoe UI Symbol" pitchFamily="34" charset="-122"/>
                <a:cs typeface="Segoe UI Symbol" pitchFamily="34" charset="-120"/>
              </a:rPr>
              <a:t>▢</a:t>
            </a:r>
            <a:endParaRPr lang="en-US" sz="1688" dirty="0"/>
          </a:p>
        </p:txBody>
      </p:sp>
      <p:sp>
        <p:nvSpPr>
          <p:cNvPr id="25" name="Text 23"/>
          <p:cNvSpPr/>
          <p:nvPr/>
        </p:nvSpPr>
        <p:spPr>
          <a:xfrm>
            <a:off x="6410176" y="2336229"/>
            <a:ext cx="1207294" cy="460541"/>
          </a:xfrm>
          <a:prstGeom prst="rect">
            <a:avLst/>
          </a:prstGeom>
          <a:noFill/>
          <a:ln/>
        </p:spPr>
        <p:txBody>
          <a:bodyPr wrap="square" lIns="0" tIns="0" rIns="0" bIns="0" rtlCol="0" anchor="t"/>
          <a:lstStyle/>
          <a:p>
            <a:pPr marL="0" indent="0" algn="ctr">
              <a:lnSpc>
                <a:spcPts val="1024"/>
              </a:lnSpc>
              <a:buNone/>
            </a:pPr>
            <a:r>
              <a:rPr lang="en-US" sz="800" dirty="0">
                <a:solidFill>
                  <a:srgbClr val="64748B"/>
                </a:solidFill>
                <a:latin typeface="Courier New" pitchFamily="34" charset="0"/>
                <a:ea typeface="Courier New" pitchFamily="34" charset="-122"/>
                <a:cs typeface="Courier New" pitchFamily="34" charset="-120"/>
              </a:rPr>
              <a:t>│</a:t>
            </a:r>
            <a:endParaRPr lang="en-US" sz="800" dirty="0"/>
          </a:p>
          <a:p>
            <a:pPr marL="0" indent="0" algn="ctr">
              <a:lnSpc>
                <a:spcPts val="1024"/>
              </a:lnSpc>
              <a:buNone/>
            </a:pPr>
            <a:r>
              <a:rPr lang="en-US" sz="800" dirty="0">
                <a:solidFill>
                  <a:srgbClr val="64748B"/>
                </a:solidFill>
                <a:latin typeface="Liberation Sans Narrow" pitchFamily="34" charset="0"/>
                <a:ea typeface="Liberation Sans Narrow" pitchFamily="34" charset="-122"/>
                <a:cs typeface="Liberation Sans Narrow" pitchFamily="34" charset="-120"/>
              </a:rPr>
              <a:t>│ SSH (parallel, 5 forks)</a:t>
            </a:r>
            <a:endParaRPr lang="en-US" sz="800" dirty="0"/>
          </a:p>
          <a:p>
            <a:pPr marL="0" indent="0" algn="ctr">
              <a:lnSpc>
                <a:spcPts val="1024"/>
              </a:lnSpc>
              <a:buNone/>
            </a:pPr>
            <a:r>
              <a:rPr lang="en-US" sz="800" dirty="0">
                <a:solidFill>
                  <a:srgbClr val="64748B"/>
                </a:solidFill>
                <a:latin typeface="Courier New" pitchFamily="34" charset="0"/>
                <a:ea typeface="Courier New" pitchFamily="34" charset="-122"/>
                <a:cs typeface="Courier New" pitchFamily="34" charset="-120"/>
              </a:rPr>
              <a:t>│</a:t>
            </a:r>
            <a:endParaRPr lang="en-US" sz="800" dirty="0"/>
          </a:p>
        </p:txBody>
      </p:sp>
      <p:sp>
        <p:nvSpPr>
          <p:cNvPr id="26" name="Text 24"/>
          <p:cNvSpPr/>
          <p:nvPr/>
        </p:nvSpPr>
        <p:spPr>
          <a:xfrm>
            <a:off x="6008117" y="2826023"/>
            <a:ext cx="2542840" cy="295376"/>
          </a:xfrm>
          <a:prstGeom prst="rect">
            <a:avLst/>
          </a:prstGeom>
          <a:noFill/>
          <a:ln/>
        </p:spPr>
        <p:txBody>
          <a:bodyPr wrap="none" lIns="0" tIns="0" rIns="0" bIns="0" rtlCol="0" anchor="t">
            <a:normAutofit/>
          </a:bodyPr>
          <a:lstStyle/>
          <a:p>
            <a:pPr marL="0" indent="0" algn="l">
              <a:lnSpc>
                <a:spcPts val="2205"/>
              </a:lnSpc>
              <a:buNone/>
            </a:pPr>
            <a:r>
              <a:rPr lang="en-US" sz="1575" kern="0" spc="675" dirty="0">
                <a:solidFill>
                  <a:srgbClr val="F97316"/>
                </a:solidFill>
                <a:latin typeface="Carlito" pitchFamily="34" charset="0"/>
                <a:ea typeface="Carlito" pitchFamily="34" charset="-122"/>
                <a:cs typeface="Carlito" pitchFamily="34" charset="-120"/>
              </a:rPr>
              <a:t>▼ ▼ ▼ ▼ ▼</a:t>
            </a:r>
            <a:endParaRPr lang="en-US" sz="1575" dirty="0"/>
          </a:p>
        </p:txBody>
      </p:sp>
      <p:sp>
        <p:nvSpPr>
          <p:cNvPr id="27" name="Text 25"/>
          <p:cNvSpPr/>
          <p:nvPr/>
        </p:nvSpPr>
        <p:spPr>
          <a:xfrm>
            <a:off x="5476801" y="3136029"/>
            <a:ext cx="569044" cy="298405"/>
          </a:xfrm>
          <a:prstGeom prst="roundRect">
            <a:avLst>
              <a:gd name="adj" fmla="val 25536"/>
            </a:avLst>
          </a:prstGeom>
          <a:solidFill>
            <a:srgbClr val="FFFFFF"/>
          </a:solidFill>
          <a:ln w="14288">
            <a:solidFill>
              <a:srgbClr val="F97316"/>
            </a:solidFill>
            <a:prstDash val="solid"/>
          </a:ln>
        </p:spPr>
        <p:txBody>
          <a:bodyPr wrap="square" rtlCol="0" anchor="ctr"/>
          <a:lstStyle/>
          <a:p>
            <a:pPr marL="0" indent="0">
              <a:buNone/>
            </a:pPr>
            <a:endParaRPr lang="en-US" dirty="0"/>
          </a:p>
        </p:txBody>
      </p:sp>
      <p:sp>
        <p:nvSpPr>
          <p:cNvPr id="28" name="Text 26"/>
          <p:cNvSpPr/>
          <p:nvPr/>
        </p:nvSpPr>
        <p:spPr>
          <a:xfrm>
            <a:off x="5476801" y="3148831"/>
            <a:ext cx="569044" cy="272802"/>
          </a:xfrm>
          <a:prstGeom prst="rect">
            <a:avLst/>
          </a:prstGeom>
          <a:noFill/>
          <a:ln/>
        </p:spPr>
        <p:txBody>
          <a:bodyPr wrap="none" lIns="0" tIns="0" rIns="0" bIns="0" rtlCol="0" anchor="ctr"/>
          <a:lstStyle/>
          <a:p>
            <a:pPr marL="0" indent="0" algn="ctr">
              <a:lnSpc>
                <a:spcPts val="1024"/>
              </a:lnSpc>
              <a:buNone/>
            </a:pPr>
            <a:r>
              <a:rPr lang="en-US" sz="800" b="1" dirty="0">
                <a:solidFill>
                  <a:srgbClr val="0F172A"/>
                </a:solidFill>
                <a:latin typeface="Liberation Sans Narrow" pitchFamily="34" charset="0"/>
                <a:ea typeface="Liberation Sans Narrow" pitchFamily="34" charset="-122"/>
                <a:cs typeface="Liberation Sans Narrow" pitchFamily="34" charset="-120"/>
              </a:rPr>
              <a:t>Host 1</a:t>
            </a:r>
            <a:endParaRPr lang="en-US" sz="800" dirty="0"/>
          </a:p>
        </p:txBody>
      </p:sp>
      <p:sp>
        <p:nvSpPr>
          <p:cNvPr id="29" name="Text 27"/>
          <p:cNvSpPr/>
          <p:nvPr/>
        </p:nvSpPr>
        <p:spPr>
          <a:xfrm>
            <a:off x="6102995" y="3136029"/>
            <a:ext cx="569156" cy="298405"/>
          </a:xfrm>
          <a:prstGeom prst="roundRect">
            <a:avLst>
              <a:gd name="adj" fmla="val 25536"/>
            </a:avLst>
          </a:prstGeom>
          <a:solidFill>
            <a:srgbClr val="FFFFFF"/>
          </a:solidFill>
          <a:ln w="14288">
            <a:solidFill>
              <a:srgbClr val="F97316"/>
            </a:solidFill>
            <a:prstDash val="solid"/>
          </a:ln>
        </p:spPr>
        <p:txBody>
          <a:bodyPr wrap="square" rtlCol="0" anchor="ctr"/>
          <a:lstStyle/>
          <a:p>
            <a:pPr marL="0" indent="0">
              <a:buNone/>
            </a:pPr>
            <a:endParaRPr lang="en-US" dirty="0"/>
          </a:p>
        </p:txBody>
      </p:sp>
      <p:sp>
        <p:nvSpPr>
          <p:cNvPr id="30" name="Text 28"/>
          <p:cNvSpPr/>
          <p:nvPr/>
        </p:nvSpPr>
        <p:spPr>
          <a:xfrm>
            <a:off x="6102995" y="3148831"/>
            <a:ext cx="569156" cy="272802"/>
          </a:xfrm>
          <a:prstGeom prst="rect">
            <a:avLst/>
          </a:prstGeom>
          <a:noFill/>
          <a:ln/>
        </p:spPr>
        <p:txBody>
          <a:bodyPr wrap="none" lIns="0" tIns="0" rIns="0" bIns="0" rtlCol="0" anchor="ctr"/>
          <a:lstStyle/>
          <a:p>
            <a:pPr marL="0" indent="0" algn="ctr">
              <a:lnSpc>
                <a:spcPts val="1024"/>
              </a:lnSpc>
              <a:buNone/>
            </a:pPr>
            <a:r>
              <a:rPr lang="en-US" sz="800" b="1" dirty="0">
                <a:solidFill>
                  <a:srgbClr val="0F172A"/>
                </a:solidFill>
                <a:latin typeface="Liberation Sans Narrow" pitchFamily="34" charset="0"/>
                <a:ea typeface="Liberation Sans Narrow" pitchFamily="34" charset="-122"/>
                <a:cs typeface="Liberation Sans Narrow" pitchFamily="34" charset="-120"/>
              </a:rPr>
              <a:t>Host 2</a:t>
            </a:r>
            <a:endParaRPr lang="en-US" sz="800" dirty="0"/>
          </a:p>
        </p:txBody>
      </p:sp>
      <p:sp>
        <p:nvSpPr>
          <p:cNvPr id="31" name="Text 29"/>
          <p:cNvSpPr/>
          <p:nvPr/>
        </p:nvSpPr>
        <p:spPr>
          <a:xfrm>
            <a:off x="6729301" y="3136029"/>
            <a:ext cx="569044" cy="298405"/>
          </a:xfrm>
          <a:prstGeom prst="roundRect">
            <a:avLst>
              <a:gd name="adj" fmla="val 25536"/>
            </a:avLst>
          </a:prstGeom>
          <a:solidFill>
            <a:srgbClr val="FFFFFF"/>
          </a:solidFill>
          <a:ln w="14288">
            <a:solidFill>
              <a:srgbClr val="F97316"/>
            </a:solidFill>
            <a:prstDash val="solid"/>
          </a:ln>
        </p:spPr>
        <p:txBody>
          <a:bodyPr wrap="square" rtlCol="0" anchor="ctr"/>
          <a:lstStyle/>
          <a:p>
            <a:pPr marL="0" indent="0">
              <a:buNone/>
            </a:pPr>
            <a:endParaRPr lang="en-US" dirty="0"/>
          </a:p>
        </p:txBody>
      </p:sp>
      <p:sp>
        <p:nvSpPr>
          <p:cNvPr id="32" name="Text 30"/>
          <p:cNvSpPr/>
          <p:nvPr/>
        </p:nvSpPr>
        <p:spPr>
          <a:xfrm>
            <a:off x="6729301" y="3148831"/>
            <a:ext cx="569044" cy="272802"/>
          </a:xfrm>
          <a:prstGeom prst="rect">
            <a:avLst/>
          </a:prstGeom>
          <a:noFill/>
          <a:ln/>
        </p:spPr>
        <p:txBody>
          <a:bodyPr wrap="none" lIns="0" tIns="0" rIns="0" bIns="0" rtlCol="0" anchor="ctr"/>
          <a:lstStyle/>
          <a:p>
            <a:pPr marL="0" indent="0" algn="ctr">
              <a:lnSpc>
                <a:spcPts val="1024"/>
              </a:lnSpc>
              <a:buNone/>
            </a:pPr>
            <a:r>
              <a:rPr lang="en-US" sz="800" b="1" dirty="0">
                <a:solidFill>
                  <a:srgbClr val="0F172A"/>
                </a:solidFill>
                <a:latin typeface="Liberation Sans Narrow" pitchFamily="34" charset="0"/>
                <a:ea typeface="Liberation Sans Narrow" pitchFamily="34" charset="-122"/>
                <a:cs typeface="Liberation Sans Narrow" pitchFamily="34" charset="-120"/>
              </a:rPr>
              <a:t>Host 3</a:t>
            </a:r>
            <a:endParaRPr lang="en-US" sz="800" dirty="0"/>
          </a:p>
        </p:txBody>
      </p:sp>
      <p:sp>
        <p:nvSpPr>
          <p:cNvPr id="33" name="Text 31"/>
          <p:cNvSpPr/>
          <p:nvPr/>
        </p:nvSpPr>
        <p:spPr>
          <a:xfrm>
            <a:off x="7355495" y="3136029"/>
            <a:ext cx="569156" cy="298405"/>
          </a:xfrm>
          <a:prstGeom prst="roundRect">
            <a:avLst>
              <a:gd name="adj" fmla="val 25536"/>
            </a:avLst>
          </a:prstGeom>
          <a:solidFill>
            <a:srgbClr val="FFFFFF"/>
          </a:solidFill>
          <a:ln w="14288">
            <a:solidFill>
              <a:srgbClr val="F97316"/>
            </a:solidFill>
            <a:prstDash val="solid"/>
          </a:ln>
        </p:spPr>
        <p:txBody>
          <a:bodyPr wrap="square" rtlCol="0" anchor="ctr"/>
          <a:lstStyle/>
          <a:p>
            <a:pPr marL="0" indent="0">
              <a:buNone/>
            </a:pPr>
            <a:endParaRPr lang="en-US" dirty="0"/>
          </a:p>
        </p:txBody>
      </p:sp>
      <p:sp>
        <p:nvSpPr>
          <p:cNvPr id="34" name="Text 32"/>
          <p:cNvSpPr/>
          <p:nvPr/>
        </p:nvSpPr>
        <p:spPr>
          <a:xfrm>
            <a:off x="7355495" y="3148831"/>
            <a:ext cx="569156" cy="272802"/>
          </a:xfrm>
          <a:prstGeom prst="rect">
            <a:avLst/>
          </a:prstGeom>
          <a:noFill/>
          <a:ln/>
        </p:spPr>
        <p:txBody>
          <a:bodyPr wrap="none" lIns="0" tIns="0" rIns="0" bIns="0" rtlCol="0" anchor="ctr"/>
          <a:lstStyle/>
          <a:p>
            <a:pPr marL="0" indent="0" algn="ctr">
              <a:lnSpc>
                <a:spcPts val="1024"/>
              </a:lnSpc>
              <a:buNone/>
            </a:pPr>
            <a:r>
              <a:rPr lang="en-US" sz="800" b="1" dirty="0">
                <a:solidFill>
                  <a:srgbClr val="0F172A"/>
                </a:solidFill>
                <a:latin typeface="Liberation Sans Narrow" pitchFamily="34" charset="0"/>
                <a:ea typeface="Liberation Sans Narrow" pitchFamily="34" charset="-122"/>
                <a:cs typeface="Liberation Sans Narrow" pitchFamily="34" charset="-120"/>
              </a:rPr>
              <a:t>Host 4</a:t>
            </a:r>
            <a:endParaRPr lang="en-US" sz="800" dirty="0"/>
          </a:p>
        </p:txBody>
      </p:sp>
      <p:sp>
        <p:nvSpPr>
          <p:cNvPr id="35" name="Text 33"/>
          <p:cNvSpPr/>
          <p:nvPr/>
        </p:nvSpPr>
        <p:spPr>
          <a:xfrm>
            <a:off x="7981801" y="3136029"/>
            <a:ext cx="569156" cy="298405"/>
          </a:xfrm>
          <a:prstGeom prst="roundRect">
            <a:avLst>
              <a:gd name="adj" fmla="val 25536"/>
            </a:avLst>
          </a:prstGeom>
          <a:solidFill>
            <a:srgbClr val="FFFFFF"/>
          </a:solidFill>
          <a:ln w="14288">
            <a:solidFill>
              <a:srgbClr val="F97316"/>
            </a:solidFill>
            <a:prstDash val="solid"/>
          </a:ln>
        </p:spPr>
        <p:txBody>
          <a:bodyPr wrap="square" rtlCol="0" anchor="ctr"/>
          <a:lstStyle/>
          <a:p>
            <a:pPr marL="0" indent="0">
              <a:buNone/>
            </a:pPr>
            <a:endParaRPr lang="en-US" dirty="0"/>
          </a:p>
        </p:txBody>
      </p:sp>
      <p:sp>
        <p:nvSpPr>
          <p:cNvPr id="36" name="Text 34"/>
          <p:cNvSpPr/>
          <p:nvPr/>
        </p:nvSpPr>
        <p:spPr>
          <a:xfrm>
            <a:off x="7981801" y="3148831"/>
            <a:ext cx="569156" cy="272802"/>
          </a:xfrm>
          <a:prstGeom prst="rect">
            <a:avLst/>
          </a:prstGeom>
          <a:noFill/>
          <a:ln/>
        </p:spPr>
        <p:txBody>
          <a:bodyPr wrap="none" lIns="0" tIns="0" rIns="0" bIns="0" rtlCol="0" anchor="ctr"/>
          <a:lstStyle/>
          <a:p>
            <a:pPr marL="0" indent="0" algn="ctr">
              <a:lnSpc>
                <a:spcPts val="1024"/>
              </a:lnSpc>
              <a:buNone/>
            </a:pPr>
            <a:r>
              <a:rPr lang="en-US" sz="800" b="1" dirty="0">
                <a:solidFill>
                  <a:srgbClr val="0F172A"/>
                </a:solidFill>
                <a:latin typeface="Liberation Sans Narrow" pitchFamily="34" charset="0"/>
                <a:ea typeface="Liberation Sans Narrow" pitchFamily="34" charset="-122"/>
                <a:cs typeface="Liberation Sans Narrow" pitchFamily="34" charset="-120"/>
              </a:rPr>
              <a:t>Host 5</a:t>
            </a:r>
            <a:endParaRPr lang="en-US" sz="800" dirty="0"/>
          </a:p>
        </p:txBody>
      </p:sp>
      <p:sp>
        <p:nvSpPr>
          <p:cNvPr id="37" name="Text 35"/>
          <p:cNvSpPr/>
          <p:nvPr/>
        </p:nvSpPr>
        <p:spPr>
          <a:xfrm>
            <a:off x="5513636" y="3521646"/>
            <a:ext cx="3000375" cy="307140"/>
          </a:xfrm>
          <a:prstGeom prst="rect">
            <a:avLst/>
          </a:prstGeom>
          <a:noFill/>
          <a:ln/>
        </p:spPr>
        <p:txBody>
          <a:bodyPr wrap="square" lIns="0" tIns="0" rIns="0" bIns="0" rtlCol="0" anchor="t"/>
          <a:lstStyle/>
          <a:p>
            <a:pPr marL="0" indent="0" algn="ctr">
              <a:lnSpc>
                <a:spcPts val="1103"/>
              </a:lnSpc>
              <a:buNone/>
            </a:pPr>
            <a:r>
              <a:rPr lang="en-US" sz="800" dirty="0">
                <a:solidFill>
                  <a:srgbClr val="64748B"/>
                </a:solidFill>
                <a:latin typeface="Carlito" pitchFamily="34" charset="0"/>
                <a:ea typeface="Carlito" pitchFamily="34" charset="-122"/>
                <a:cs typeface="Carlito" pitchFamily="34" charset="-120"/>
              </a:rPr>
              <a:t>Each host gets an independent SSH session. </a:t>
            </a:r>
            <a:r>
              <a:rPr lang="en-US" sz="800" b="1" dirty="0">
                <a:solidFill>
                  <a:srgbClr val="64748B"/>
                </a:solidFill>
                <a:latin typeface="Carlito" pitchFamily="34" charset="0"/>
                <a:ea typeface="Carlito" pitchFamily="34" charset="-122"/>
                <a:cs typeface="Carlito" pitchFamily="34" charset="-120"/>
              </a:rPr>
              <a:t>No agent. No daemon. No central server.</a:t>
            </a:r>
            <a:endParaRPr lang="en-US" sz="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71475"/>
            <a:ext cx="4412828" cy="373346"/>
          </a:xfrm>
          <a:prstGeom prst="rect">
            <a:avLst/>
          </a:prstGeom>
          <a:noFill/>
          <a:ln/>
        </p:spPr>
        <p:txBody>
          <a:bodyPr wrap="square" lIns="0" tIns="0" rIns="0" bIns="0" rtlCol="0" anchor="t"/>
          <a:lstStyle/>
          <a:p>
            <a:pPr marL="0" indent="0" algn="l">
              <a:lnSpc>
                <a:spcPts val="2723"/>
              </a:lnSpc>
              <a:buNone/>
            </a:pPr>
            <a:r>
              <a:rPr lang="en-US" sz="2475" b="1" dirty="0">
                <a:solidFill>
                  <a:srgbClr val="0F172A"/>
                </a:solidFill>
                <a:latin typeface="Carlito" pitchFamily="34" charset="0"/>
                <a:ea typeface="Carlito" pitchFamily="34" charset="-122"/>
                <a:cs typeface="Carlito" pitchFamily="34" charset="-120"/>
              </a:rPr>
              <a:t>The Inventory File — Concept</a:t>
            </a:r>
            <a:endParaRPr lang="en-US" sz="2475" dirty="0"/>
          </a:p>
        </p:txBody>
      </p:sp>
      <p:sp>
        <p:nvSpPr>
          <p:cNvPr id="3" name="Text 1"/>
          <p:cNvSpPr/>
          <p:nvPr/>
        </p:nvSpPr>
        <p:spPr>
          <a:xfrm>
            <a:off x="457200" y="817178"/>
            <a:ext cx="571500" cy="42863"/>
          </a:xfrm>
          <a:prstGeom prst="roundRect">
            <a:avLst>
              <a:gd name="adj" fmla="val 66666"/>
            </a:avLst>
          </a:prstGeom>
          <a:solidFill>
            <a:srgbClr val="F97316"/>
          </a:solidFill>
          <a:ln/>
        </p:spPr>
        <p:txBody>
          <a:bodyPr wrap="square" rtlCol="0" anchor="ctr"/>
          <a:lstStyle/>
          <a:p>
            <a:pPr marL="0" indent="0">
              <a:buNone/>
            </a:pPr>
            <a:endParaRPr lang="en-US" dirty="0"/>
          </a:p>
        </p:txBody>
      </p:sp>
      <p:sp>
        <p:nvSpPr>
          <p:cNvPr id="4" name="Text 2"/>
          <p:cNvSpPr/>
          <p:nvPr/>
        </p:nvSpPr>
        <p:spPr>
          <a:xfrm>
            <a:off x="7449837" y="358673"/>
            <a:ext cx="1259823" cy="331333"/>
          </a:xfrm>
          <a:prstGeom prst="roundRect">
            <a:avLst>
              <a:gd name="adj" fmla="val 2871877"/>
            </a:avLst>
          </a:prstGeom>
          <a:solidFill>
            <a:srgbClr val="0F172A"/>
          </a:solidFill>
          <a:ln/>
        </p:spPr>
        <p:txBody>
          <a:bodyPr wrap="square" rtlCol="0" anchor="ctr"/>
          <a:lstStyle/>
          <a:p>
            <a:pPr marL="0" indent="0">
              <a:buNone/>
            </a:pPr>
            <a:endParaRPr lang="en-US" dirty="0"/>
          </a:p>
        </p:txBody>
      </p:sp>
      <p:sp>
        <p:nvSpPr>
          <p:cNvPr id="5" name="Text 3"/>
          <p:cNvSpPr/>
          <p:nvPr/>
        </p:nvSpPr>
        <p:spPr>
          <a:xfrm>
            <a:off x="7400382" y="371475"/>
            <a:ext cx="1358733" cy="305730"/>
          </a:xfrm>
          <a:prstGeom prst="rect">
            <a:avLst/>
          </a:prstGeom>
          <a:noFill/>
          <a:ln/>
        </p:spPr>
        <p:txBody>
          <a:bodyPr wrap="none" lIns="0" tIns="0" rIns="0" bIns="0" rtlCol="0" anchor="ctr"/>
          <a:lstStyle/>
          <a:p>
            <a:pPr marL="0" indent="0" algn="ctr">
              <a:lnSpc>
                <a:spcPts val="1733"/>
              </a:lnSpc>
              <a:buNone/>
            </a:pPr>
            <a:r>
              <a:rPr lang="en-US" sz="1238" b="1" kern="0" spc="28" dirty="0">
                <a:solidFill>
                  <a:srgbClr val="FFFFFF"/>
                </a:solidFill>
                <a:latin typeface="Liberation Sans Narrow" pitchFamily="34" charset="0"/>
                <a:ea typeface="Liberation Sans Narrow" pitchFamily="34" charset="-122"/>
                <a:cs typeface="Liberation Sans Narrow" pitchFamily="34" charset="-120"/>
              </a:rPr>
              <a:t>02 · Inventory</a:t>
            </a:r>
            <a:endParaRPr lang="en-US" sz="1238" dirty="0"/>
          </a:p>
        </p:txBody>
      </p:sp>
      <p:sp>
        <p:nvSpPr>
          <p:cNvPr id="6" name="Text 4"/>
          <p:cNvSpPr/>
          <p:nvPr/>
        </p:nvSpPr>
        <p:spPr>
          <a:xfrm>
            <a:off x="1000125" y="1031491"/>
            <a:ext cx="7143750" cy="624935"/>
          </a:xfrm>
          <a:prstGeom prst="rect">
            <a:avLst/>
          </a:prstGeom>
          <a:noFill/>
          <a:ln/>
        </p:spPr>
        <p:txBody>
          <a:bodyPr wrap="square" lIns="0" tIns="0" rIns="0" bIns="0" rtlCol="0" anchor="t"/>
          <a:lstStyle/>
          <a:p>
            <a:pPr marL="0" indent="0" algn="ctr">
              <a:lnSpc>
                <a:spcPts val="2250"/>
              </a:lnSpc>
              <a:buNone/>
            </a:pPr>
            <a:r>
              <a:rPr lang="en-US" sz="1800" b="1" kern="0" spc="-17" dirty="0">
                <a:solidFill>
                  <a:srgbClr val="F97316"/>
                </a:solidFill>
                <a:latin typeface="Segoe UI Symbol" pitchFamily="34" charset="0"/>
                <a:ea typeface="Segoe UI Symbol" pitchFamily="34" charset="-122"/>
                <a:cs typeface="Segoe UI Symbol" pitchFamily="34" charset="-120"/>
              </a:rPr>
              <a:t>▤</a:t>
            </a:r>
            <a:r>
              <a:rPr lang="en-US" sz="1800" b="1" kern="0" spc="-17" dirty="0">
                <a:solidFill>
                  <a:srgbClr val="0F172A"/>
                </a:solidFill>
                <a:latin typeface="Carlito" pitchFamily="34" charset="0"/>
                <a:ea typeface="Carlito" pitchFamily="34" charset="-122"/>
                <a:cs typeface="Carlito" pitchFamily="34" charset="-120"/>
              </a:rPr>
              <a:t> The inventory tells Ansible </a:t>
            </a:r>
            <a:r>
              <a:rPr lang="en-US" sz="1800" b="1" kern="0" spc="-17" dirty="0">
                <a:solidFill>
                  <a:srgbClr val="F97316"/>
                </a:solidFill>
                <a:latin typeface="Carlito" pitchFamily="34" charset="0"/>
                <a:ea typeface="Carlito" pitchFamily="34" charset="-122"/>
                <a:cs typeface="Carlito" pitchFamily="34" charset="-120"/>
              </a:rPr>
              <a:t>WHAT</a:t>
            </a:r>
            <a:r>
              <a:rPr lang="en-US" sz="1800" b="1" kern="0" spc="-17" dirty="0">
                <a:solidFill>
                  <a:srgbClr val="0F172A"/>
                </a:solidFill>
                <a:latin typeface="Carlito" pitchFamily="34" charset="0"/>
                <a:ea typeface="Carlito" pitchFamily="34" charset="-122"/>
                <a:cs typeface="Carlito" pitchFamily="34" charset="-120"/>
              </a:rPr>
              <a:t> hosts to manage.</a:t>
            </a:r>
            <a:endParaRPr lang="en-US" sz="1800" dirty="0"/>
          </a:p>
          <a:p>
            <a:pPr marL="0" indent="0" algn="ctr">
              <a:lnSpc>
                <a:spcPts val="2250"/>
              </a:lnSpc>
              <a:buNone/>
            </a:pPr>
            <a:r>
              <a:rPr lang="en-US" sz="1800" b="1" kern="0" spc="-17" dirty="0">
                <a:solidFill>
                  <a:srgbClr val="0F172A"/>
                </a:solidFill>
                <a:latin typeface="Carlito" pitchFamily="34" charset="0"/>
                <a:ea typeface="Carlito" pitchFamily="34" charset="-122"/>
                <a:cs typeface="Carlito" pitchFamily="34" charset="-120"/>
              </a:rPr>
              <a:t>Groups let you target subsets.</a:t>
            </a:r>
            <a:endParaRPr lang="en-US" sz="1800" dirty="0"/>
          </a:p>
        </p:txBody>
      </p:sp>
      <p:sp>
        <p:nvSpPr>
          <p:cNvPr id="7" name="Text 5"/>
          <p:cNvSpPr/>
          <p:nvPr/>
        </p:nvSpPr>
        <p:spPr>
          <a:xfrm>
            <a:off x="460772" y="1756581"/>
            <a:ext cx="2640732" cy="1555440"/>
          </a:xfrm>
          <a:prstGeom prst="roundRect">
            <a:avLst>
              <a:gd name="adj" fmla="val 8573"/>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8" name="Text 6"/>
          <p:cNvSpPr/>
          <p:nvPr/>
        </p:nvSpPr>
        <p:spPr>
          <a:xfrm>
            <a:off x="598646" y="1968190"/>
            <a:ext cx="652939" cy="198400"/>
          </a:xfrm>
          <a:prstGeom prst="roundRect">
            <a:avLst>
              <a:gd name="adj" fmla="val 4796106"/>
            </a:avLst>
          </a:prstGeom>
          <a:solidFill>
            <a:srgbClr val="FED7AA"/>
          </a:solidFill>
          <a:ln/>
        </p:spPr>
        <p:txBody>
          <a:bodyPr wrap="square" rtlCol="0" anchor="ctr"/>
          <a:lstStyle/>
          <a:p>
            <a:pPr marL="0" indent="0">
              <a:buNone/>
            </a:pPr>
            <a:endParaRPr lang="en-US" dirty="0"/>
          </a:p>
        </p:txBody>
      </p:sp>
      <p:sp>
        <p:nvSpPr>
          <p:cNvPr id="9" name="Text 7"/>
          <p:cNvSpPr/>
          <p:nvPr/>
        </p:nvSpPr>
        <p:spPr>
          <a:xfrm>
            <a:off x="800546" y="2007394"/>
            <a:ext cx="406302" cy="146304"/>
          </a:xfrm>
          <a:prstGeom prst="rect">
            <a:avLst/>
          </a:prstGeom>
          <a:noFill/>
          <a:ln/>
        </p:spPr>
        <p:txBody>
          <a:bodyPr wrap="none" lIns="0" tIns="0" rIns="0" bIns="0" rtlCol="0" anchor="t"/>
          <a:lstStyle/>
          <a:p>
            <a:pPr marL="0" indent="0" algn="l">
              <a:lnSpc>
                <a:spcPts val="945"/>
              </a:lnSpc>
              <a:buNone/>
            </a:pPr>
            <a:r>
              <a:rPr lang="en-US" sz="675" b="1" kern="0" spc="28" dirty="0">
                <a:solidFill>
                  <a:srgbClr val="C2410C"/>
                </a:solidFill>
                <a:latin typeface="Courier New" pitchFamily="34" charset="0"/>
                <a:ea typeface="Courier New" pitchFamily="34" charset="-122"/>
                <a:cs typeface="Courier New" pitchFamily="34" charset="-120"/>
              </a:rPr>
              <a:t>STATIC</a:t>
            </a:r>
            <a:endParaRPr lang="en-US" sz="675" dirty="0"/>
          </a:p>
        </p:txBody>
      </p:sp>
      <p:sp>
        <p:nvSpPr>
          <p:cNvPr id="10" name="Text 8"/>
          <p:cNvSpPr/>
          <p:nvPr/>
        </p:nvSpPr>
        <p:spPr>
          <a:xfrm>
            <a:off x="707231" y="2017328"/>
            <a:ext cx="100013" cy="100013"/>
          </a:xfrm>
          <a:prstGeom prst="rect">
            <a:avLst/>
          </a:prstGeom>
          <a:noFill/>
          <a:ln/>
        </p:spPr>
        <p:txBody>
          <a:bodyPr wrap="none" lIns="0" tIns="0" rIns="0" bIns="0" rtlCol="0" anchor="ctr"/>
          <a:lstStyle/>
          <a:p>
            <a:pPr marL="0" indent="0" algn="ctr">
              <a:buNone/>
            </a:pPr>
            <a:r>
              <a:rPr lang="en-US" sz="984" dirty="0">
                <a:solidFill>
                  <a:srgbClr val="C2410C"/>
                </a:solidFill>
                <a:latin typeface="Segoe UI Symbol" pitchFamily="34" charset="0"/>
                <a:ea typeface="Segoe UI Symbol" pitchFamily="34" charset="-122"/>
                <a:cs typeface="Segoe UI Symbol" pitchFamily="34" charset="-120"/>
              </a:rPr>
              <a:t>▤</a:t>
            </a:r>
            <a:endParaRPr lang="en-US" sz="984" dirty="0"/>
          </a:p>
        </p:txBody>
      </p:sp>
      <p:sp>
        <p:nvSpPr>
          <p:cNvPr id="11" name="Text 9"/>
          <p:cNvSpPr/>
          <p:nvPr/>
        </p:nvSpPr>
        <p:spPr>
          <a:xfrm>
            <a:off x="621506" y="2240124"/>
            <a:ext cx="2428991" cy="237606"/>
          </a:xfrm>
          <a:prstGeom prst="rect">
            <a:avLst/>
          </a:prstGeom>
          <a:noFill/>
          <a:ln/>
        </p:spPr>
        <p:txBody>
          <a:bodyPr wrap="square" lIns="0" tIns="0" rIns="0" bIns="0" rtlCol="0" anchor="t"/>
          <a:lstStyle/>
          <a:p>
            <a:pPr marL="0" indent="0" algn="l">
              <a:lnSpc>
                <a:spcPts val="1733"/>
              </a:lnSpc>
              <a:buNone/>
            </a:pPr>
            <a:r>
              <a:rPr lang="en-US" sz="1238" b="1" dirty="0">
                <a:solidFill>
                  <a:srgbClr val="0F172A"/>
                </a:solidFill>
                <a:latin typeface="Carlito" pitchFamily="34" charset="0"/>
                <a:ea typeface="Carlito" pitchFamily="34" charset="-122"/>
                <a:cs typeface="Carlito" pitchFamily="34" charset="-120"/>
              </a:rPr>
              <a:t>Static Inventory (INI or YAML)</a:t>
            </a:r>
            <a:endParaRPr lang="en-US" sz="1238" dirty="0"/>
          </a:p>
        </p:txBody>
      </p:sp>
      <p:sp>
        <p:nvSpPr>
          <p:cNvPr id="12" name="Text 10"/>
          <p:cNvSpPr/>
          <p:nvPr/>
        </p:nvSpPr>
        <p:spPr>
          <a:xfrm>
            <a:off x="621506" y="2517279"/>
            <a:ext cx="2319263" cy="662583"/>
          </a:xfrm>
          <a:prstGeom prst="rect">
            <a:avLst/>
          </a:prstGeom>
          <a:noFill/>
          <a:ln/>
        </p:spPr>
        <p:txBody>
          <a:bodyPr wrap="square" lIns="0" tIns="0" rIns="0" bIns="0" rtlCol="0" anchor="t"/>
          <a:lstStyle/>
          <a:p>
            <a:pPr marL="0" indent="0" algn="l">
              <a:lnSpc>
                <a:spcPts val="1305"/>
              </a:lnSpc>
              <a:buNone/>
            </a:pPr>
            <a:r>
              <a:rPr lang="en-US" sz="900" dirty="0">
                <a:solidFill>
                  <a:srgbClr val="334155"/>
                </a:solidFill>
                <a:latin typeface="Carlito" pitchFamily="34" charset="0"/>
                <a:ea typeface="Carlito" pitchFamily="34" charset="-122"/>
                <a:cs typeface="Carlito" pitchFamily="34" charset="-120"/>
              </a:rPr>
              <a:t>A plain-text file listing hostnames or IPs, optionally grouped. Simple, version-controllable. Best for small fleets (</a:t>
            </a:r>
            <a:r>
              <a:rPr lang="en-US" sz="900" b="1" dirty="0">
                <a:solidFill>
                  <a:srgbClr val="0F172A"/>
                </a:solidFill>
                <a:latin typeface="Liberation Sans Narrow" pitchFamily="34" charset="0"/>
                <a:ea typeface="Liberation Sans Narrow" pitchFamily="34" charset="-122"/>
                <a:cs typeface="Liberation Sans Narrow" pitchFamily="34" charset="-120"/>
              </a:rPr>
              <a:t>&lt;100 hosts</a:t>
            </a:r>
            <a:r>
              <a:rPr lang="en-US" sz="900" dirty="0">
                <a:solidFill>
                  <a:srgbClr val="334155"/>
                </a:solidFill>
                <a:latin typeface="Carlito" pitchFamily="34" charset="0"/>
                <a:ea typeface="Carlito" pitchFamily="34" charset="-122"/>
                <a:cs typeface="Carlito" pitchFamily="34" charset="-120"/>
              </a:rPr>
              <a:t>).</a:t>
            </a:r>
            <a:endParaRPr lang="en-US" sz="900" dirty="0"/>
          </a:p>
        </p:txBody>
      </p:sp>
      <p:sp>
        <p:nvSpPr>
          <p:cNvPr id="13" name="Text 11"/>
          <p:cNvSpPr/>
          <p:nvPr/>
        </p:nvSpPr>
        <p:spPr>
          <a:xfrm>
            <a:off x="3251522" y="1756581"/>
            <a:ext cx="2640843" cy="1555440"/>
          </a:xfrm>
          <a:prstGeom prst="roundRect">
            <a:avLst>
              <a:gd name="adj" fmla="val 8573"/>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14" name="Text 12"/>
          <p:cNvSpPr/>
          <p:nvPr/>
        </p:nvSpPr>
        <p:spPr>
          <a:xfrm>
            <a:off x="3389397" y="1968190"/>
            <a:ext cx="699373" cy="198400"/>
          </a:xfrm>
          <a:prstGeom prst="roundRect">
            <a:avLst>
              <a:gd name="adj" fmla="val 4796106"/>
            </a:avLst>
          </a:prstGeom>
          <a:solidFill>
            <a:srgbClr val="FED7AA"/>
          </a:solidFill>
          <a:ln/>
        </p:spPr>
        <p:txBody>
          <a:bodyPr wrap="square" rtlCol="0" anchor="ctr"/>
          <a:lstStyle/>
          <a:p>
            <a:pPr marL="0" indent="0">
              <a:buNone/>
            </a:pPr>
            <a:endParaRPr lang="en-US" dirty="0"/>
          </a:p>
        </p:txBody>
      </p:sp>
      <p:sp>
        <p:nvSpPr>
          <p:cNvPr id="15" name="Text 13"/>
          <p:cNvSpPr/>
          <p:nvPr/>
        </p:nvSpPr>
        <p:spPr>
          <a:xfrm>
            <a:off x="3583155" y="2007394"/>
            <a:ext cx="469019" cy="146304"/>
          </a:xfrm>
          <a:prstGeom prst="rect">
            <a:avLst/>
          </a:prstGeom>
          <a:noFill/>
          <a:ln/>
        </p:spPr>
        <p:txBody>
          <a:bodyPr wrap="none" lIns="0" tIns="0" rIns="0" bIns="0" rtlCol="0" anchor="t"/>
          <a:lstStyle/>
          <a:p>
            <a:pPr marL="0" indent="0" algn="l">
              <a:lnSpc>
                <a:spcPts val="945"/>
              </a:lnSpc>
              <a:buNone/>
            </a:pPr>
            <a:r>
              <a:rPr lang="en-US" sz="675" b="1" kern="0" spc="28" dirty="0">
                <a:solidFill>
                  <a:srgbClr val="C2410C"/>
                </a:solidFill>
                <a:latin typeface="Courier New" pitchFamily="34" charset="0"/>
                <a:ea typeface="Courier New" pitchFamily="34" charset="-122"/>
                <a:cs typeface="Courier New" pitchFamily="34" charset="-120"/>
              </a:rPr>
              <a:t>DYNAMIC</a:t>
            </a:r>
            <a:endParaRPr lang="en-US" sz="675" dirty="0"/>
          </a:p>
        </p:txBody>
      </p:sp>
      <p:sp>
        <p:nvSpPr>
          <p:cNvPr id="16" name="Text 14"/>
          <p:cNvSpPr/>
          <p:nvPr/>
        </p:nvSpPr>
        <p:spPr>
          <a:xfrm>
            <a:off x="3497982" y="2017328"/>
            <a:ext cx="100013" cy="100013"/>
          </a:xfrm>
          <a:prstGeom prst="rect">
            <a:avLst/>
          </a:prstGeom>
          <a:noFill/>
          <a:ln/>
        </p:spPr>
        <p:txBody>
          <a:bodyPr wrap="none" lIns="0" tIns="0" rIns="0" bIns="0" rtlCol="0" anchor="ctr"/>
          <a:lstStyle/>
          <a:p>
            <a:pPr marL="0" indent="0" algn="ctr">
              <a:buNone/>
            </a:pPr>
            <a:r>
              <a:rPr lang="en-US" sz="984" dirty="0">
                <a:solidFill>
                  <a:srgbClr val="C2410C"/>
                </a:solidFill>
                <a:latin typeface="Segoe UI Symbol" pitchFamily="34" charset="0"/>
                <a:ea typeface="Segoe UI Symbol" pitchFamily="34" charset="-122"/>
                <a:cs typeface="Segoe UI Symbol" pitchFamily="34" charset="-120"/>
              </a:rPr>
              <a:t>↻</a:t>
            </a:r>
            <a:endParaRPr lang="en-US" sz="984" dirty="0"/>
          </a:p>
        </p:txBody>
      </p:sp>
      <p:sp>
        <p:nvSpPr>
          <p:cNvPr id="17" name="Text 15"/>
          <p:cNvSpPr/>
          <p:nvPr/>
        </p:nvSpPr>
        <p:spPr>
          <a:xfrm>
            <a:off x="3412257" y="2240124"/>
            <a:ext cx="2319375" cy="237606"/>
          </a:xfrm>
          <a:prstGeom prst="rect">
            <a:avLst/>
          </a:prstGeom>
          <a:noFill/>
          <a:ln/>
        </p:spPr>
        <p:txBody>
          <a:bodyPr wrap="none" lIns="0" tIns="0" rIns="0" bIns="0" rtlCol="0" anchor="t"/>
          <a:lstStyle/>
          <a:p>
            <a:pPr marL="0" indent="0" algn="l">
              <a:lnSpc>
                <a:spcPts val="1733"/>
              </a:lnSpc>
              <a:buNone/>
            </a:pPr>
            <a:r>
              <a:rPr lang="en-US" sz="1238" b="1" dirty="0">
                <a:solidFill>
                  <a:srgbClr val="0F172A"/>
                </a:solidFill>
                <a:latin typeface="Carlito" pitchFamily="34" charset="0"/>
                <a:ea typeface="Carlito" pitchFamily="34" charset="-122"/>
                <a:cs typeface="Carlito" pitchFamily="34" charset="-120"/>
              </a:rPr>
              <a:t>Dynamic Inventory</a:t>
            </a:r>
            <a:endParaRPr lang="en-US" sz="1238" dirty="0"/>
          </a:p>
        </p:txBody>
      </p:sp>
      <p:sp>
        <p:nvSpPr>
          <p:cNvPr id="18" name="Text 16"/>
          <p:cNvSpPr/>
          <p:nvPr/>
        </p:nvSpPr>
        <p:spPr>
          <a:xfrm>
            <a:off x="3412257" y="2517279"/>
            <a:ext cx="2319375" cy="662583"/>
          </a:xfrm>
          <a:prstGeom prst="rect">
            <a:avLst/>
          </a:prstGeom>
          <a:noFill/>
          <a:ln/>
        </p:spPr>
        <p:txBody>
          <a:bodyPr wrap="square" lIns="0" tIns="0" rIns="0" bIns="0" rtlCol="0" anchor="t"/>
          <a:lstStyle/>
          <a:p>
            <a:pPr marL="0" indent="0" algn="l">
              <a:lnSpc>
                <a:spcPts val="1305"/>
              </a:lnSpc>
              <a:buNone/>
            </a:pPr>
            <a:r>
              <a:rPr lang="en-US" sz="900" dirty="0">
                <a:solidFill>
                  <a:srgbClr val="334155"/>
                </a:solidFill>
                <a:latin typeface="Carlito" pitchFamily="34" charset="0"/>
                <a:ea typeface="Carlito" pitchFamily="34" charset="-122"/>
                <a:cs typeface="Carlito" pitchFamily="34" charset="-120"/>
              </a:rPr>
              <a:t>A script that queries </a:t>
            </a:r>
            <a:r>
              <a:rPr lang="en-US" sz="900" b="1" dirty="0">
                <a:solidFill>
                  <a:srgbClr val="0F172A"/>
                </a:solidFill>
                <a:latin typeface="Carlito" pitchFamily="34" charset="0"/>
                <a:ea typeface="Carlito" pitchFamily="34" charset="-122"/>
                <a:cs typeface="Carlito" pitchFamily="34" charset="-120"/>
              </a:rPr>
              <a:t>AWS / GCP / Azure / VMWare</a:t>
            </a:r>
            <a:r>
              <a:rPr lang="en-US" sz="900" dirty="0">
                <a:solidFill>
                  <a:srgbClr val="334155"/>
                </a:solidFill>
                <a:latin typeface="Carlito" pitchFamily="34" charset="0"/>
                <a:ea typeface="Carlito" pitchFamily="34" charset="-122"/>
                <a:cs typeface="Carlito" pitchFamily="34" charset="-120"/>
              </a:rPr>
              <a:t> APIs and returns the current host list. Hosts that spin up or down are picked up automatically.</a:t>
            </a:r>
            <a:endParaRPr lang="en-US" sz="900" dirty="0"/>
          </a:p>
        </p:txBody>
      </p:sp>
      <p:sp>
        <p:nvSpPr>
          <p:cNvPr id="19" name="Text 17"/>
          <p:cNvSpPr/>
          <p:nvPr/>
        </p:nvSpPr>
        <p:spPr>
          <a:xfrm>
            <a:off x="6042385" y="1756581"/>
            <a:ext cx="2640732" cy="1555440"/>
          </a:xfrm>
          <a:prstGeom prst="roundRect">
            <a:avLst>
              <a:gd name="adj" fmla="val 8573"/>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20" name="Text 18"/>
          <p:cNvSpPr/>
          <p:nvPr/>
        </p:nvSpPr>
        <p:spPr>
          <a:xfrm>
            <a:off x="6180259" y="1968190"/>
            <a:ext cx="977979" cy="198400"/>
          </a:xfrm>
          <a:prstGeom prst="roundRect">
            <a:avLst>
              <a:gd name="adj" fmla="val 4796106"/>
            </a:avLst>
          </a:prstGeom>
          <a:solidFill>
            <a:srgbClr val="FED7AA"/>
          </a:solidFill>
          <a:ln/>
        </p:spPr>
        <p:txBody>
          <a:bodyPr wrap="square" rtlCol="0" anchor="ctr"/>
          <a:lstStyle/>
          <a:p>
            <a:pPr marL="0" indent="0">
              <a:buNone/>
            </a:pPr>
            <a:endParaRPr lang="en-US" dirty="0"/>
          </a:p>
        </p:txBody>
      </p:sp>
      <p:sp>
        <p:nvSpPr>
          <p:cNvPr id="21" name="Text 19"/>
          <p:cNvSpPr/>
          <p:nvPr/>
        </p:nvSpPr>
        <p:spPr>
          <a:xfrm>
            <a:off x="6368163" y="2007394"/>
            <a:ext cx="759335" cy="146304"/>
          </a:xfrm>
          <a:prstGeom prst="rect">
            <a:avLst/>
          </a:prstGeom>
          <a:noFill/>
          <a:ln/>
        </p:spPr>
        <p:txBody>
          <a:bodyPr wrap="none" lIns="0" tIns="0" rIns="0" bIns="0" rtlCol="0" anchor="t"/>
          <a:lstStyle/>
          <a:p>
            <a:pPr marL="0" indent="0" algn="l">
              <a:lnSpc>
                <a:spcPts val="945"/>
              </a:lnSpc>
              <a:buNone/>
            </a:pPr>
            <a:r>
              <a:rPr lang="en-US" sz="675" b="1" kern="0" spc="28" dirty="0">
                <a:solidFill>
                  <a:srgbClr val="C2410C"/>
                </a:solidFill>
                <a:latin typeface="Courier New" pitchFamily="34" charset="0"/>
                <a:ea typeface="Courier New" pitchFamily="34" charset="-122"/>
                <a:cs typeface="Courier New" pitchFamily="34" charset="-120"/>
              </a:rPr>
              <a:t>GROUPS + VARS</a:t>
            </a:r>
            <a:endParaRPr lang="en-US" sz="675" dirty="0"/>
          </a:p>
        </p:txBody>
      </p:sp>
      <p:sp>
        <p:nvSpPr>
          <p:cNvPr id="22" name="Text 20"/>
          <p:cNvSpPr/>
          <p:nvPr/>
        </p:nvSpPr>
        <p:spPr>
          <a:xfrm>
            <a:off x="6288844" y="2017328"/>
            <a:ext cx="100013" cy="100013"/>
          </a:xfrm>
          <a:prstGeom prst="rect">
            <a:avLst/>
          </a:prstGeom>
          <a:noFill/>
          <a:ln/>
        </p:spPr>
        <p:txBody>
          <a:bodyPr wrap="none" lIns="0" tIns="0" rIns="0" bIns="0" rtlCol="0" anchor="ctr"/>
          <a:lstStyle/>
          <a:p>
            <a:pPr marL="0" indent="0" algn="ctr">
              <a:buNone/>
            </a:pPr>
            <a:r>
              <a:rPr lang="en-US" sz="984" dirty="0">
                <a:solidFill>
                  <a:srgbClr val="C2410C"/>
                </a:solidFill>
                <a:latin typeface="Segoe UI Symbol" pitchFamily="34" charset="0"/>
                <a:ea typeface="Segoe UI Symbol" pitchFamily="34" charset="-122"/>
                <a:cs typeface="Segoe UI Symbol" pitchFamily="34" charset="-120"/>
              </a:rPr>
              <a:t>▭</a:t>
            </a:r>
            <a:endParaRPr lang="en-US" sz="984" dirty="0"/>
          </a:p>
        </p:txBody>
      </p:sp>
      <p:sp>
        <p:nvSpPr>
          <p:cNvPr id="23" name="Text 21"/>
          <p:cNvSpPr/>
          <p:nvPr/>
        </p:nvSpPr>
        <p:spPr>
          <a:xfrm>
            <a:off x="6203119" y="2240124"/>
            <a:ext cx="2319263" cy="237606"/>
          </a:xfrm>
          <a:prstGeom prst="rect">
            <a:avLst/>
          </a:prstGeom>
          <a:noFill/>
          <a:ln/>
        </p:spPr>
        <p:txBody>
          <a:bodyPr wrap="none" lIns="0" tIns="0" rIns="0" bIns="0" rtlCol="0" anchor="t"/>
          <a:lstStyle/>
          <a:p>
            <a:pPr marL="0" indent="0" algn="l">
              <a:lnSpc>
                <a:spcPts val="1733"/>
              </a:lnSpc>
              <a:buNone/>
            </a:pPr>
            <a:r>
              <a:rPr lang="en-US" sz="1238" b="1" dirty="0">
                <a:solidFill>
                  <a:srgbClr val="0F172A"/>
                </a:solidFill>
                <a:latin typeface="Carlito" pitchFamily="34" charset="0"/>
                <a:ea typeface="Carlito" pitchFamily="34" charset="-122"/>
                <a:cs typeface="Carlito" pitchFamily="34" charset="-120"/>
              </a:rPr>
              <a:t>Inventory Groups + Vars</a:t>
            </a:r>
            <a:endParaRPr lang="en-US" sz="1238" dirty="0"/>
          </a:p>
        </p:txBody>
      </p:sp>
      <p:sp>
        <p:nvSpPr>
          <p:cNvPr id="24" name="Text 22"/>
          <p:cNvSpPr/>
          <p:nvPr/>
        </p:nvSpPr>
        <p:spPr>
          <a:xfrm>
            <a:off x="7805440" y="2697212"/>
            <a:ext cx="671513" cy="135731"/>
          </a:xfrm>
          <a:prstGeom prst="roundRect">
            <a:avLst>
              <a:gd name="adj" fmla="val 28070"/>
            </a:avLst>
          </a:prstGeom>
          <a:solidFill>
            <a:srgbClr val="F1F5F9"/>
          </a:solidFill>
          <a:ln/>
        </p:spPr>
        <p:txBody>
          <a:bodyPr wrap="square" rtlCol="0" anchor="ctr"/>
          <a:lstStyle/>
          <a:p>
            <a:pPr marL="0" indent="0">
              <a:buNone/>
            </a:pPr>
            <a:endParaRPr lang="en-US" dirty="0"/>
          </a:p>
        </p:txBody>
      </p:sp>
      <p:sp>
        <p:nvSpPr>
          <p:cNvPr id="25" name="Text 23"/>
          <p:cNvSpPr/>
          <p:nvPr/>
        </p:nvSpPr>
        <p:spPr>
          <a:xfrm>
            <a:off x="6203119" y="2862858"/>
            <a:ext cx="671513" cy="135731"/>
          </a:xfrm>
          <a:prstGeom prst="roundRect">
            <a:avLst>
              <a:gd name="adj" fmla="val 28070"/>
            </a:avLst>
          </a:prstGeom>
          <a:solidFill>
            <a:srgbClr val="F1F5F9"/>
          </a:solidFill>
          <a:ln/>
        </p:spPr>
        <p:txBody>
          <a:bodyPr wrap="square" rtlCol="0" anchor="ctr"/>
          <a:lstStyle/>
          <a:p>
            <a:pPr marL="0" indent="0">
              <a:buNone/>
            </a:pPr>
            <a:endParaRPr lang="en-US" dirty="0"/>
          </a:p>
        </p:txBody>
      </p:sp>
      <p:sp>
        <p:nvSpPr>
          <p:cNvPr id="26" name="Text 24"/>
          <p:cNvSpPr/>
          <p:nvPr/>
        </p:nvSpPr>
        <p:spPr>
          <a:xfrm>
            <a:off x="6203119" y="2517279"/>
            <a:ext cx="2319263" cy="536692"/>
          </a:xfrm>
          <a:prstGeom prst="rect">
            <a:avLst/>
          </a:prstGeom>
          <a:noFill/>
          <a:ln/>
        </p:spPr>
        <p:txBody>
          <a:bodyPr wrap="square" lIns="0" tIns="0" rIns="0" bIns="0" rtlCol="0" anchor="t"/>
          <a:lstStyle/>
          <a:p>
            <a:pPr marL="0" indent="0" algn="l">
              <a:lnSpc>
                <a:spcPts val="1305"/>
              </a:lnSpc>
              <a:buNone/>
            </a:pPr>
            <a:r>
              <a:rPr lang="en-US" sz="900" dirty="0">
                <a:solidFill>
                  <a:srgbClr val="334155"/>
                </a:solidFill>
                <a:latin typeface="Carlito" pitchFamily="34" charset="0"/>
                <a:ea typeface="Carlito" pitchFamily="34" charset="-122"/>
                <a:cs typeface="Carlito" pitchFamily="34" charset="-120"/>
              </a:rPr>
              <a:t>Group hosts by role (</a:t>
            </a:r>
            <a:r>
              <a:rPr lang="en-US" sz="900" b="1" dirty="0">
                <a:solidFill>
                  <a:srgbClr val="0F172A"/>
                </a:solidFill>
                <a:latin typeface="Carlito" pitchFamily="34" charset="0"/>
                <a:ea typeface="Carlito" pitchFamily="34" charset="-122"/>
                <a:cs typeface="Carlito" pitchFamily="34" charset="-120"/>
              </a:rPr>
              <a:t>web, db, cache</a:t>
            </a:r>
            <a:r>
              <a:rPr lang="en-US" sz="900" dirty="0">
                <a:solidFill>
                  <a:srgbClr val="334155"/>
                </a:solidFill>
                <a:latin typeface="Carlito" pitchFamily="34" charset="0"/>
                <a:ea typeface="Carlito" pitchFamily="34" charset="-122"/>
                <a:cs typeface="Carlito" pitchFamily="34" charset="-120"/>
              </a:rPr>
              <a:t>). Attach variables per host or per group (</a:t>
            </a:r>
            <a:r>
              <a:rPr lang="en-US" sz="800" dirty="0">
                <a:solidFill>
                  <a:srgbClr val="334155"/>
                </a:solidFill>
                <a:highlight>
                  <a:srgbClr val="F1F5F9"/>
                </a:highlight>
                <a:latin typeface="Courier New" pitchFamily="34" charset="0"/>
                <a:ea typeface="Courier New" pitchFamily="34" charset="-122"/>
                <a:cs typeface="Courier New" pitchFamily="34" charset="-120"/>
              </a:rPr>
              <a:t>ansible_user</a:t>
            </a:r>
            <a:r>
              <a:rPr lang="en-US" sz="900" dirty="0">
                <a:solidFill>
                  <a:srgbClr val="334155"/>
                </a:solidFill>
                <a:latin typeface="Carlito" pitchFamily="34" charset="0"/>
                <a:ea typeface="Carlito" pitchFamily="34" charset="-122"/>
                <a:cs typeface="Carlito" pitchFamily="34" charset="-120"/>
              </a:rPr>
              <a:t>, </a:t>
            </a:r>
            <a:r>
              <a:rPr lang="en-US" sz="800" dirty="0">
                <a:solidFill>
                  <a:srgbClr val="334155"/>
                </a:solidFill>
                <a:highlight>
                  <a:srgbClr val="F1F5F9"/>
                </a:highlight>
                <a:latin typeface="Courier New" pitchFamily="34" charset="0"/>
                <a:ea typeface="Courier New" pitchFamily="34" charset="-122"/>
                <a:cs typeface="Courier New" pitchFamily="34" charset="-120"/>
              </a:rPr>
              <a:t>ansible_port</a:t>
            </a:r>
            <a:r>
              <a:rPr lang="en-US" sz="900" dirty="0">
                <a:solidFill>
                  <a:srgbClr val="334155"/>
                </a:solidFill>
                <a:latin typeface="Carlito" pitchFamily="34" charset="0"/>
                <a:ea typeface="Carlito" pitchFamily="34" charset="-122"/>
                <a:cs typeface="Carlito" pitchFamily="34" charset="-120"/>
              </a:rPr>
              <a:t>, custom facts).</a:t>
            </a:r>
            <a:endParaRPr lang="en-US" sz="900" dirty="0"/>
          </a:p>
        </p:txBody>
      </p:sp>
      <p:sp>
        <p:nvSpPr>
          <p:cNvPr id="27" name="Text 25"/>
          <p:cNvSpPr/>
          <p:nvPr/>
        </p:nvSpPr>
        <p:spPr>
          <a:xfrm>
            <a:off x="457200" y="3458468"/>
            <a:ext cx="8229600" cy="392906"/>
          </a:xfrm>
          <a:prstGeom prst="roundRect">
            <a:avLst>
              <a:gd name="adj" fmla="val 19394"/>
            </a:avLst>
          </a:prstGeom>
          <a:solidFill>
            <a:srgbClr val="FFF7ED"/>
          </a:solidFill>
          <a:ln/>
        </p:spPr>
        <p:txBody>
          <a:bodyPr wrap="square" rtlCol="0" anchor="ctr"/>
          <a:lstStyle/>
          <a:p>
            <a:pPr marL="0" indent="0">
              <a:buNone/>
            </a:pPr>
            <a:endParaRPr lang="en-US" dirty="0"/>
          </a:p>
        </p:txBody>
      </p:sp>
      <p:sp>
        <p:nvSpPr>
          <p:cNvPr id="28" name="Shape 26"/>
          <p:cNvSpPr/>
          <p:nvPr/>
        </p:nvSpPr>
        <p:spPr>
          <a:xfrm>
            <a:off x="478631" y="3458468"/>
            <a:ext cx="0" cy="392906"/>
          </a:xfrm>
          <a:prstGeom prst="line">
            <a:avLst/>
          </a:prstGeom>
          <a:noFill/>
          <a:ln w="42863">
            <a:solidFill>
              <a:srgbClr val="F97316"/>
            </a:solidFill>
            <a:prstDash val="solid"/>
          </a:ln>
        </p:spPr>
      </p:sp>
      <p:sp>
        <p:nvSpPr>
          <p:cNvPr id="29" name="Text 27"/>
          <p:cNvSpPr/>
          <p:nvPr/>
        </p:nvSpPr>
        <p:spPr>
          <a:xfrm>
            <a:off x="457200" y="3458468"/>
            <a:ext cx="8229600" cy="424339"/>
          </a:xfrm>
          <a:prstGeom prst="rect">
            <a:avLst/>
          </a:prstGeom>
          <a:noFill/>
          <a:ln/>
        </p:spPr>
        <p:txBody>
          <a:bodyPr wrap="square" lIns="157163" tIns="100013" rIns="157163" bIns="100013" rtlCol="0" anchor="t"/>
          <a:lstStyle/>
          <a:p>
            <a:pPr marL="0" indent="0" algn="l">
              <a:lnSpc>
                <a:spcPts val="1418"/>
              </a:lnSpc>
              <a:buNone/>
            </a:pPr>
            <a:r>
              <a:rPr lang="en-US" sz="1013" dirty="0">
                <a:solidFill>
                  <a:srgbClr val="F97316"/>
                </a:solidFill>
                <a:latin typeface="Segoe UI Symbol" pitchFamily="34" charset="0"/>
                <a:ea typeface="Segoe UI Symbol" pitchFamily="34" charset="-122"/>
                <a:cs typeface="Segoe UI Symbol" pitchFamily="34" charset="-120"/>
              </a:rPr>
              <a:t>▤</a:t>
            </a:r>
            <a:r>
              <a:rPr lang="en-US" sz="1013" dirty="0">
                <a:solidFill>
                  <a:srgbClr val="0F172A"/>
                </a:solidFill>
                <a:latin typeface="Carlito" pitchFamily="34" charset="0"/>
                <a:ea typeface="Carlito" pitchFamily="34" charset="-122"/>
                <a:cs typeface="Carlito" pitchFamily="34" charset="-120"/>
              </a:rPr>
              <a:t> Think of the inventory as Ansible's </a:t>
            </a:r>
            <a:r>
              <a:rPr lang="en-US" sz="1013" dirty="0">
                <a:solidFill>
                  <a:srgbClr val="F97316"/>
                </a:solidFill>
                <a:latin typeface="Carlito" pitchFamily="34" charset="0"/>
                <a:ea typeface="Carlito" pitchFamily="34" charset="-122"/>
                <a:cs typeface="Carlito" pitchFamily="34" charset="-120"/>
              </a:rPr>
              <a:t>address book</a:t>
            </a:r>
            <a:r>
              <a:rPr lang="en-US" sz="1013" dirty="0">
                <a:solidFill>
                  <a:srgbClr val="0F172A"/>
                </a:solidFill>
                <a:latin typeface="Carlito" pitchFamily="34" charset="0"/>
                <a:ea typeface="Carlito" pitchFamily="34" charset="-122"/>
                <a:cs typeface="Carlito" pitchFamily="34" charset="-120"/>
              </a:rPr>
              <a:t> — without it, Ansible does not know where to connect.</a:t>
            </a:r>
            <a:endParaRPr lang="en-US" sz="1013"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00050" y="314325"/>
            <a:ext cx="5898751" cy="322473"/>
          </a:xfrm>
          <a:prstGeom prst="rect">
            <a:avLst/>
          </a:prstGeom>
          <a:noFill/>
          <a:ln/>
        </p:spPr>
        <p:txBody>
          <a:bodyPr wrap="square" lIns="0" tIns="0" rIns="0" bIns="0" rtlCol="0" anchor="t"/>
          <a:lstStyle/>
          <a:p>
            <a:pPr marL="0" indent="0" algn="l">
              <a:lnSpc>
                <a:spcPts val="2351"/>
              </a:lnSpc>
              <a:buNone/>
            </a:pPr>
            <a:r>
              <a:rPr lang="en-US" sz="2138" b="1" dirty="0">
                <a:solidFill>
                  <a:srgbClr val="0F172A"/>
                </a:solidFill>
                <a:latin typeface="Carlito" pitchFamily="34" charset="0"/>
                <a:ea typeface="Carlito" pitchFamily="34" charset="-122"/>
                <a:cs typeface="Carlito" pitchFamily="34" charset="-120"/>
              </a:rPr>
              <a:t>Code Example — Static Inventory (INI format)</a:t>
            </a:r>
            <a:endParaRPr lang="en-US" sz="2138" dirty="0"/>
          </a:p>
        </p:txBody>
      </p:sp>
      <p:sp>
        <p:nvSpPr>
          <p:cNvPr id="3" name="Text 1"/>
          <p:cNvSpPr/>
          <p:nvPr/>
        </p:nvSpPr>
        <p:spPr>
          <a:xfrm>
            <a:off x="400050" y="684349"/>
            <a:ext cx="571500" cy="42863"/>
          </a:xfrm>
          <a:prstGeom prst="roundRect">
            <a:avLst>
              <a:gd name="adj" fmla="val 66666"/>
            </a:avLst>
          </a:prstGeom>
          <a:solidFill>
            <a:srgbClr val="F97316"/>
          </a:solidFill>
          <a:ln/>
        </p:spPr>
        <p:txBody>
          <a:bodyPr wrap="square" rtlCol="0" anchor="ctr"/>
          <a:lstStyle/>
          <a:p>
            <a:pPr marL="0" indent="0">
              <a:buNone/>
            </a:pPr>
            <a:endParaRPr lang="en-US" dirty="0"/>
          </a:p>
        </p:txBody>
      </p:sp>
      <p:sp>
        <p:nvSpPr>
          <p:cNvPr id="4" name="Text 2"/>
          <p:cNvSpPr/>
          <p:nvPr/>
        </p:nvSpPr>
        <p:spPr>
          <a:xfrm>
            <a:off x="400050" y="770074"/>
            <a:ext cx="5791501" cy="194328"/>
          </a:xfrm>
          <a:prstGeom prst="rect">
            <a:avLst/>
          </a:prstGeom>
          <a:noFill/>
          <a:ln/>
        </p:spPr>
        <p:txBody>
          <a:bodyPr wrap="square" lIns="0" tIns="0" rIns="0" bIns="0" rtlCol="0" anchor="t"/>
          <a:lstStyle/>
          <a:p>
            <a:pPr marL="0" indent="0" algn="l">
              <a:lnSpc>
                <a:spcPts val="1418"/>
              </a:lnSpc>
              <a:buNone/>
            </a:pPr>
            <a:r>
              <a:rPr lang="en-US" sz="1013" dirty="0">
                <a:solidFill>
                  <a:srgbClr val="64748B"/>
                </a:solidFill>
                <a:latin typeface="Carlito" pitchFamily="34" charset="0"/>
                <a:ea typeface="Carlito" pitchFamily="34" charset="-122"/>
                <a:cs typeface="Carlito" pitchFamily="34" charset="-120"/>
              </a:rPr>
              <a:t>Group hosts by role. Attach variables per group.</a:t>
            </a:r>
            <a:endParaRPr lang="en-US" sz="1013" dirty="0"/>
          </a:p>
        </p:txBody>
      </p:sp>
      <p:sp>
        <p:nvSpPr>
          <p:cNvPr id="5" name="Text 3"/>
          <p:cNvSpPr/>
          <p:nvPr/>
        </p:nvSpPr>
        <p:spPr>
          <a:xfrm>
            <a:off x="8095119" y="301523"/>
            <a:ext cx="671691" cy="331333"/>
          </a:xfrm>
          <a:prstGeom prst="roundRect">
            <a:avLst>
              <a:gd name="adj" fmla="val 2871877"/>
            </a:avLst>
          </a:prstGeom>
          <a:solidFill>
            <a:srgbClr val="FED7AA"/>
          </a:solidFill>
          <a:ln/>
        </p:spPr>
        <p:txBody>
          <a:bodyPr wrap="square" rtlCol="0" anchor="ctr"/>
          <a:lstStyle/>
          <a:p>
            <a:pPr marL="0" indent="0">
              <a:buNone/>
            </a:pPr>
            <a:endParaRPr lang="en-US" dirty="0"/>
          </a:p>
        </p:txBody>
      </p:sp>
      <p:sp>
        <p:nvSpPr>
          <p:cNvPr id="6" name="Text 4"/>
          <p:cNvSpPr/>
          <p:nvPr/>
        </p:nvSpPr>
        <p:spPr>
          <a:xfrm>
            <a:off x="8117979" y="314325"/>
            <a:ext cx="625971" cy="330189"/>
          </a:xfrm>
          <a:prstGeom prst="rect">
            <a:avLst/>
          </a:prstGeom>
          <a:noFill/>
          <a:ln/>
        </p:spPr>
        <p:txBody>
          <a:bodyPr wrap="none" lIns="0" tIns="0" rIns="0" bIns="0" rtlCol="0" anchor="t"/>
          <a:lstStyle/>
          <a:p>
            <a:pPr marL="0" indent="0" algn="l">
              <a:lnSpc>
                <a:spcPts val="1733"/>
              </a:lnSpc>
              <a:buNone/>
            </a:pPr>
            <a:r>
              <a:rPr lang="en-US" sz="1238" b="1" kern="0" spc="28" dirty="0">
                <a:solidFill>
                  <a:srgbClr val="C2410C"/>
                </a:solidFill>
                <a:latin typeface="Segoe UI Symbol" pitchFamily="34" charset="0"/>
                <a:ea typeface="Segoe UI Symbol" pitchFamily="34" charset="-122"/>
                <a:cs typeface="Segoe UI Symbol" pitchFamily="34" charset="-120"/>
              </a:rPr>
              <a:t>✦</a:t>
            </a:r>
            <a:r>
              <a:rPr lang="en-US" sz="1238" b="1" kern="0" spc="28" dirty="0">
                <a:solidFill>
                  <a:srgbClr val="C2410C"/>
                </a:solidFill>
                <a:latin typeface="Carlito" pitchFamily="34" charset="0"/>
                <a:ea typeface="Carlito" pitchFamily="34" charset="-122"/>
                <a:cs typeface="Carlito" pitchFamily="34" charset="-120"/>
              </a:rPr>
              <a:t> INI</a:t>
            </a:r>
            <a:endParaRPr lang="en-US" sz="1238" dirty="0"/>
          </a:p>
        </p:txBody>
      </p:sp>
      <p:sp>
        <p:nvSpPr>
          <p:cNvPr id="7" name="Text 5"/>
          <p:cNvSpPr/>
          <p:nvPr/>
        </p:nvSpPr>
        <p:spPr>
          <a:xfrm>
            <a:off x="585788" y="1235757"/>
            <a:ext cx="1838480" cy="176165"/>
          </a:xfrm>
          <a:prstGeom prst="rect">
            <a:avLst/>
          </a:prstGeom>
          <a:noFill/>
          <a:ln/>
        </p:spPr>
        <p:txBody>
          <a:bodyPr wrap="none" lIns="0" tIns="0" rIns="0" bIns="0" rtlCol="0" anchor="t">
            <a:normAutofit fontScale="55000" lnSpcReduction="20000"/>
          </a:bodyPr>
          <a:lstStyle/>
          <a:p>
            <a:pPr marL="0" indent="0" algn="l">
              <a:lnSpc>
                <a:spcPts val="1603"/>
              </a:lnSpc>
              <a:buNone/>
            </a:pPr>
            <a:r>
              <a:rPr lang="en-US" sz="1069" i="1" dirty="0">
                <a:solidFill>
                  <a:srgbClr val="94A3B8"/>
                </a:solidFill>
                <a:latin typeface="Courier New" pitchFamily="34" charset="0"/>
                <a:ea typeface="Courier New" pitchFamily="34" charset="-122"/>
                <a:cs typeface="Courier New" pitchFamily="34" charset="-120"/>
              </a:rPr>
              <a:t># inventory/hosts.ini</a:t>
            </a:r>
            <a:endParaRPr lang="en-US" sz="1069" dirty="0"/>
          </a:p>
        </p:txBody>
      </p:sp>
      <p:sp>
        <p:nvSpPr>
          <p:cNvPr id="8" name="Text 6"/>
          <p:cNvSpPr/>
          <p:nvPr/>
        </p:nvSpPr>
        <p:spPr>
          <a:xfrm>
            <a:off x="585788" y="1439354"/>
            <a:ext cx="4682728" cy="185166"/>
          </a:xfrm>
          <a:prstGeom prst="rect">
            <a:avLst/>
          </a:prstGeom>
          <a:noFill/>
          <a:ln/>
        </p:spPr>
        <p:txBody>
          <a:bodyPr wrap="none" lIns="0" tIns="0" rIns="0" bIns="0" rtlCol="0" anchor="t"/>
          <a:lstStyle/>
          <a:p>
            <a:pPr marL="0" indent="0" algn="l">
              <a:lnSpc>
                <a:spcPts val="1603"/>
              </a:lnSpc>
              <a:buNone/>
            </a:pPr>
            <a:r>
              <a:rPr lang="en-US" sz="1069" i="1" dirty="0">
                <a:solidFill>
                  <a:srgbClr val="94A3B8"/>
                </a:solidFill>
                <a:latin typeface="Courier New" pitchFamily="34" charset="0"/>
                <a:ea typeface="Courier New" pitchFamily="34" charset="-122"/>
                <a:cs typeface="Courier New" pitchFamily="34" charset="-120"/>
              </a:rPr>
              <a:t># Static inventory — version-controlled in the same repo as playbooks</a:t>
            </a:r>
            <a:endParaRPr lang="en-US" sz="1069" dirty="0"/>
          </a:p>
        </p:txBody>
      </p:sp>
      <p:sp>
        <p:nvSpPr>
          <p:cNvPr id="9" name="Text 7"/>
          <p:cNvSpPr/>
          <p:nvPr/>
        </p:nvSpPr>
        <p:spPr>
          <a:xfrm>
            <a:off x="582530" y="1846548"/>
            <a:ext cx="1024499" cy="176165"/>
          </a:xfrm>
          <a:prstGeom prst="rect">
            <a:avLst/>
          </a:prstGeom>
          <a:noFill/>
          <a:ln/>
        </p:spPr>
        <p:txBody>
          <a:bodyPr wrap="none" lIns="0" tIns="0" rIns="0" bIns="0" rtlCol="0" anchor="t">
            <a:normAutofit fontScale="55000" lnSpcReduction="20000"/>
          </a:bodyPr>
          <a:lstStyle/>
          <a:p>
            <a:pPr marL="0" indent="0" algn="l">
              <a:lnSpc>
                <a:spcPts val="1603"/>
              </a:lnSpc>
              <a:buNone/>
            </a:pPr>
            <a:r>
              <a:rPr lang="en-US" sz="1069" dirty="0">
                <a:solidFill>
                  <a:srgbClr val="FBA74A"/>
                </a:solidFill>
                <a:latin typeface="Courier New" pitchFamily="34" charset="0"/>
                <a:ea typeface="Courier New" pitchFamily="34" charset="-122"/>
                <a:cs typeface="Courier New" pitchFamily="34" charset="-120"/>
              </a:rPr>
              <a:t>[webservers]</a:t>
            </a:r>
            <a:endParaRPr lang="en-US" sz="1069" dirty="0"/>
          </a:p>
        </p:txBody>
      </p:sp>
      <p:sp>
        <p:nvSpPr>
          <p:cNvPr id="10" name="Text 8"/>
          <p:cNvSpPr/>
          <p:nvPr/>
        </p:nvSpPr>
        <p:spPr>
          <a:xfrm>
            <a:off x="1866371" y="2050145"/>
            <a:ext cx="1035711" cy="185166"/>
          </a:xfrm>
          <a:prstGeom prst="rect">
            <a:avLst/>
          </a:prstGeom>
          <a:noFill/>
          <a:ln/>
        </p:spPr>
        <p:txBody>
          <a:bodyPr wrap="none" lIns="0" tIns="0" rIns="0" bIns="0" rtlCol="0" anchor="t"/>
          <a:lstStyle/>
          <a:p>
            <a:pPr marL="0" indent="0" algn="l">
              <a:lnSpc>
                <a:spcPts val="1603"/>
              </a:lnSpc>
              <a:buNone/>
            </a:pPr>
            <a:r>
              <a:rPr lang="en-US" sz="1069" dirty="0">
                <a:solidFill>
                  <a:srgbClr val="FBA74A"/>
                </a:solidFill>
                <a:latin typeface="Courier New" pitchFamily="34" charset="0"/>
                <a:ea typeface="Courier New" pitchFamily="34" charset="-122"/>
                <a:cs typeface="Courier New" pitchFamily="34" charset="-120"/>
              </a:rPr>
              <a:t>ansible_user</a:t>
            </a:r>
            <a:endParaRPr lang="en-US" sz="1069" dirty="0"/>
          </a:p>
        </p:txBody>
      </p:sp>
      <p:sp>
        <p:nvSpPr>
          <p:cNvPr id="11" name="Text 9"/>
          <p:cNvSpPr/>
          <p:nvPr/>
        </p:nvSpPr>
        <p:spPr>
          <a:xfrm>
            <a:off x="2757488" y="2050145"/>
            <a:ext cx="582287" cy="176165"/>
          </a:xfrm>
          <a:prstGeom prst="rect">
            <a:avLst/>
          </a:prstGeom>
          <a:noFill/>
          <a:ln/>
        </p:spPr>
        <p:txBody>
          <a:bodyPr wrap="none" lIns="0" tIns="0" rIns="0" bIns="0" rtlCol="0" anchor="t">
            <a:normAutofit fontScale="55000" lnSpcReduction="20000"/>
          </a:bodyPr>
          <a:lstStyle/>
          <a:p>
            <a:pPr marL="0" indent="0" algn="l">
              <a:lnSpc>
                <a:spcPts val="1603"/>
              </a:lnSpc>
              <a:buNone/>
            </a:pPr>
            <a:r>
              <a:rPr lang="en-US" sz="1069" dirty="0">
                <a:solidFill>
                  <a:srgbClr val="86EFAC"/>
                </a:solidFill>
                <a:latin typeface="Courier New" pitchFamily="34" charset="0"/>
                <a:ea typeface="Courier New" pitchFamily="34" charset="-122"/>
                <a:cs typeface="Courier New" pitchFamily="34" charset="-120"/>
              </a:rPr>
              <a:t>ubuntu</a:t>
            </a:r>
            <a:endParaRPr lang="en-US" sz="1069" dirty="0"/>
          </a:p>
        </p:txBody>
      </p:sp>
      <p:sp>
        <p:nvSpPr>
          <p:cNvPr id="12" name="Text 10"/>
          <p:cNvSpPr/>
          <p:nvPr/>
        </p:nvSpPr>
        <p:spPr>
          <a:xfrm>
            <a:off x="1866371" y="2253742"/>
            <a:ext cx="1035711" cy="185166"/>
          </a:xfrm>
          <a:prstGeom prst="rect">
            <a:avLst/>
          </a:prstGeom>
          <a:noFill/>
          <a:ln/>
        </p:spPr>
        <p:txBody>
          <a:bodyPr wrap="none" lIns="0" tIns="0" rIns="0" bIns="0" rtlCol="0" anchor="t"/>
          <a:lstStyle/>
          <a:p>
            <a:pPr marL="0" indent="0" algn="l">
              <a:lnSpc>
                <a:spcPts val="1603"/>
              </a:lnSpc>
              <a:buNone/>
            </a:pPr>
            <a:r>
              <a:rPr lang="en-US" sz="1069" dirty="0">
                <a:solidFill>
                  <a:srgbClr val="FBA74A"/>
                </a:solidFill>
                <a:latin typeface="Courier New" pitchFamily="34" charset="0"/>
                <a:ea typeface="Courier New" pitchFamily="34" charset="-122"/>
                <a:cs typeface="Courier New" pitchFamily="34" charset="-120"/>
              </a:rPr>
              <a:t>ansible_user</a:t>
            </a:r>
            <a:endParaRPr lang="en-US" sz="1069" dirty="0"/>
          </a:p>
        </p:txBody>
      </p:sp>
      <p:sp>
        <p:nvSpPr>
          <p:cNvPr id="13" name="Text 11"/>
          <p:cNvSpPr/>
          <p:nvPr/>
        </p:nvSpPr>
        <p:spPr>
          <a:xfrm>
            <a:off x="2757488" y="2253742"/>
            <a:ext cx="582287" cy="176165"/>
          </a:xfrm>
          <a:prstGeom prst="rect">
            <a:avLst/>
          </a:prstGeom>
          <a:noFill/>
          <a:ln/>
        </p:spPr>
        <p:txBody>
          <a:bodyPr wrap="none" lIns="0" tIns="0" rIns="0" bIns="0" rtlCol="0" anchor="t">
            <a:normAutofit fontScale="55000" lnSpcReduction="20000"/>
          </a:bodyPr>
          <a:lstStyle/>
          <a:p>
            <a:pPr marL="0" indent="0" algn="l">
              <a:lnSpc>
                <a:spcPts val="1603"/>
              </a:lnSpc>
              <a:buNone/>
            </a:pPr>
            <a:r>
              <a:rPr lang="en-US" sz="1069" dirty="0">
                <a:solidFill>
                  <a:srgbClr val="86EFAC"/>
                </a:solidFill>
                <a:latin typeface="Courier New" pitchFamily="34" charset="0"/>
                <a:ea typeface="Courier New" pitchFamily="34" charset="-122"/>
                <a:cs typeface="Courier New" pitchFamily="34" charset="-120"/>
              </a:rPr>
              <a:t>ubuntu</a:t>
            </a:r>
            <a:endParaRPr lang="en-US" sz="1069" dirty="0"/>
          </a:p>
        </p:txBody>
      </p:sp>
      <p:sp>
        <p:nvSpPr>
          <p:cNvPr id="14" name="Text 12"/>
          <p:cNvSpPr/>
          <p:nvPr/>
        </p:nvSpPr>
        <p:spPr>
          <a:xfrm>
            <a:off x="1866371" y="2457338"/>
            <a:ext cx="1035711" cy="185166"/>
          </a:xfrm>
          <a:prstGeom prst="rect">
            <a:avLst/>
          </a:prstGeom>
          <a:noFill/>
          <a:ln/>
        </p:spPr>
        <p:txBody>
          <a:bodyPr wrap="none" lIns="0" tIns="0" rIns="0" bIns="0" rtlCol="0" anchor="t"/>
          <a:lstStyle/>
          <a:p>
            <a:pPr marL="0" indent="0" algn="l">
              <a:lnSpc>
                <a:spcPts val="1603"/>
              </a:lnSpc>
              <a:buNone/>
            </a:pPr>
            <a:r>
              <a:rPr lang="en-US" sz="1069" dirty="0">
                <a:solidFill>
                  <a:srgbClr val="FBA74A"/>
                </a:solidFill>
                <a:latin typeface="Courier New" pitchFamily="34" charset="0"/>
                <a:ea typeface="Courier New" pitchFamily="34" charset="-122"/>
                <a:cs typeface="Courier New" pitchFamily="34" charset="-120"/>
              </a:rPr>
              <a:t>ansible_user</a:t>
            </a:r>
            <a:endParaRPr lang="en-US" sz="1069" dirty="0"/>
          </a:p>
        </p:txBody>
      </p:sp>
      <p:sp>
        <p:nvSpPr>
          <p:cNvPr id="15" name="Text 13"/>
          <p:cNvSpPr/>
          <p:nvPr/>
        </p:nvSpPr>
        <p:spPr>
          <a:xfrm>
            <a:off x="2757488" y="2457338"/>
            <a:ext cx="582287" cy="185166"/>
          </a:xfrm>
          <a:prstGeom prst="rect">
            <a:avLst/>
          </a:prstGeom>
          <a:noFill/>
          <a:ln/>
        </p:spPr>
        <p:txBody>
          <a:bodyPr wrap="none" lIns="0" tIns="0" rIns="0" bIns="0" rtlCol="0" anchor="t"/>
          <a:lstStyle/>
          <a:p>
            <a:pPr marL="0" indent="0" algn="l">
              <a:lnSpc>
                <a:spcPts val="1603"/>
              </a:lnSpc>
              <a:buNone/>
            </a:pPr>
            <a:r>
              <a:rPr lang="en-US" sz="1069" dirty="0">
                <a:solidFill>
                  <a:srgbClr val="86EFAC"/>
                </a:solidFill>
                <a:latin typeface="Courier New" pitchFamily="34" charset="0"/>
                <a:ea typeface="Courier New" pitchFamily="34" charset="-122"/>
                <a:cs typeface="Courier New" pitchFamily="34" charset="-120"/>
              </a:rPr>
              <a:t>ubuntu</a:t>
            </a:r>
            <a:endParaRPr lang="en-US" sz="1069" dirty="0"/>
          </a:p>
        </p:txBody>
      </p:sp>
      <p:sp>
        <p:nvSpPr>
          <p:cNvPr id="16" name="Text 14"/>
          <p:cNvSpPr/>
          <p:nvPr/>
        </p:nvSpPr>
        <p:spPr>
          <a:xfrm>
            <a:off x="581756" y="2864532"/>
            <a:ext cx="941215" cy="176165"/>
          </a:xfrm>
          <a:prstGeom prst="rect">
            <a:avLst/>
          </a:prstGeom>
          <a:noFill/>
          <a:ln/>
        </p:spPr>
        <p:txBody>
          <a:bodyPr wrap="none" lIns="0" tIns="0" rIns="0" bIns="0" rtlCol="0" anchor="t">
            <a:normAutofit fontScale="55000" lnSpcReduction="20000"/>
          </a:bodyPr>
          <a:lstStyle/>
          <a:p>
            <a:pPr marL="0" indent="0" algn="l">
              <a:lnSpc>
                <a:spcPts val="1603"/>
              </a:lnSpc>
              <a:buNone/>
            </a:pPr>
            <a:r>
              <a:rPr lang="en-US" sz="1069" dirty="0">
                <a:solidFill>
                  <a:srgbClr val="FBA74A"/>
                </a:solidFill>
                <a:latin typeface="Courier New" pitchFamily="34" charset="0"/>
                <a:ea typeface="Courier New" pitchFamily="34" charset="-122"/>
                <a:cs typeface="Courier New" pitchFamily="34" charset="-120"/>
              </a:rPr>
              <a:t>[dbservers]</a:t>
            </a:r>
            <a:endParaRPr lang="en-US" sz="1069" dirty="0"/>
          </a:p>
        </p:txBody>
      </p:sp>
      <p:sp>
        <p:nvSpPr>
          <p:cNvPr id="17" name="Text 15"/>
          <p:cNvSpPr/>
          <p:nvPr/>
        </p:nvSpPr>
        <p:spPr>
          <a:xfrm>
            <a:off x="1866371" y="3068129"/>
            <a:ext cx="1035711" cy="185166"/>
          </a:xfrm>
          <a:prstGeom prst="rect">
            <a:avLst/>
          </a:prstGeom>
          <a:noFill/>
          <a:ln/>
        </p:spPr>
        <p:txBody>
          <a:bodyPr wrap="none" lIns="0" tIns="0" rIns="0" bIns="0" rtlCol="0" anchor="t"/>
          <a:lstStyle/>
          <a:p>
            <a:pPr marL="0" indent="0" algn="l">
              <a:lnSpc>
                <a:spcPts val="1603"/>
              </a:lnSpc>
              <a:buNone/>
            </a:pPr>
            <a:r>
              <a:rPr lang="en-US" sz="1069" dirty="0">
                <a:solidFill>
                  <a:srgbClr val="FBA74A"/>
                </a:solidFill>
                <a:latin typeface="Courier New" pitchFamily="34" charset="0"/>
                <a:ea typeface="Courier New" pitchFamily="34" charset="-122"/>
                <a:cs typeface="Courier New" pitchFamily="34" charset="-120"/>
              </a:rPr>
              <a:t>ansible_user</a:t>
            </a:r>
            <a:endParaRPr lang="en-US" sz="1069" dirty="0"/>
          </a:p>
        </p:txBody>
      </p:sp>
      <p:sp>
        <p:nvSpPr>
          <p:cNvPr id="18" name="Text 16"/>
          <p:cNvSpPr/>
          <p:nvPr/>
        </p:nvSpPr>
        <p:spPr>
          <a:xfrm>
            <a:off x="2757488" y="3068129"/>
            <a:ext cx="776383" cy="185166"/>
          </a:xfrm>
          <a:prstGeom prst="rect">
            <a:avLst/>
          </a:prstGeom>
          <a:noFill/>
          <a:ln/>
        </p:spPr>
        <p:txBody>
          <a:bodyPr wrap="none" lIns="0" tIns="0" rIns="0" bIns="0" rtlCol="0" anchor="t"/>
          <a:lstStyle/>
          <a:p>
            <a:pPr marL="0" indent="0" algn="l">
              <a:lnSpc>
                <a:spcPts val="1603"/>
              </a:lnSpc>
              <a:buNone/>
            </a:pPr>
            <a:r>
              <a:rPr lang="en-US" sz="1069" dirty="0">
                <a:solidFill>
                  <a:srgbClr val="86EFAC"/>
                </a:solidFill>
                <a:latin typeface="Courier New" pitchFamily="34" charset="0"/>
                <a:ea typeface="Courier New" pitchFamily="34" charset="-122"/>
                <a:cs typeface="Courier New" pitchFamily="34" charset="-120"/>
              </a:rPr>
              <a:t>postgres</a:t>
            </a:r>
            <a:endParaRPr lang="en-US" sz="1069" dirty="0"/>
          </a:p>
        </p:txBody>
      </p:sp>
      <p:sp>
        <p:nvSpPr>
          <p:cNvPr id="19" name="Text 17"/>
          <p:cNvSpPr/>
          <p:nvPr/>
        </p:nvSpPr>
        <p:spPr>
          <a:xfrm>
            <a:off x="3359415" y="3068129"/>
            <a:ext cx="1035711" cy="185166"/>
          </a:xfrm>
          <a:prstGeom prst="rect">
            <a:avLst/>
          </a:prstGeom>
          <a:noFill/>
          <a:ln/>
        </p:spPr>
        <p:txBody>
          <a:bodyPr wrap="none" lIns="0" tIns="0" rIns="0" bIns="0" rtlCol="0" anchor="t"/>
          <a:lstStyle/>
          <a:p>
            <a:pPr marL="0" indent="0" algn="l">
              <a:lnSpc>
                <a:spcPts val="1603"/>
              </a:lnSpc>
              <a:buNone/>
            </a:pPr>
            <a:r>
              <a:rPr lang="en-US" sz="1069" dirty="0">
                <a:solidFill>
                  <a:srgbClr val="FBA74A"/>
                </a:solidFill>
                <a:latin typeface="Courier New" pitchFamily="34" charset="0"/>
                <a:ea typeface="Courier New" pitchFamily="34" charset="-122"/>
                <a:cs typeface="Courier New" pitchFamily="34" charset="-120"/>
              </a:rPr>
              <a:t>ansible_port</a:t>
            </a:r>
            <a:endParaRPr lang="en-US" sz="1069" dirty="0"/>
          </a:p>
        </p:txBody>
      </p:sp>
      <p:sp>
        <p:nvSpPr>
          <p:cNvPr id="20" name="Text 18"/>
          <p:cNvSpPr/>
          <p:nvPr/>
        </p:nvSpPr>
        <p:spPr>
          <a:xfrm>
            <a:off x="4245346" y="3068129"/>
            <a:ext cx="444710" cy="176165"/>
          </a:xfrm>
          <a:prstGeom prst="rect">
            <a:avLst/>
          </a:prstGeom>
          <a:noFill/>
          <a:ln/>
        </p:spPr>
        <p:txBody>
          <a:bodyPr wrap="none" lIns="0" tIns="0" rIns="0" bIns="0" rtlCol="0" anchor="t">
            <a:normAutofit fontScale="70000" lnSpcReduction="20000"/>
          </a:bodyPr>
          <a:lstStyle/>
          <a:p>
            <a:pPr marL="0" indent="0" algn="l">
              <a:lnSpc>
                <a:spcPts val="1603"/>
              </a:lnSpc>
              <a:buNone/>
            </a:pPr>
            <a:r>
              <a:rPr lang="en-US" sz="1069" dirty="0">
                <a:solidFill>
                  <a:srgbClr val="93C5FD"/>
                </a:solidFill>
                <a:latin typeface="Liberation Sans Narrow" pitchFamily="34" charset="0"/>
                <a:ea typeface="Liberation Sans Narrow" pitchFamily="34" charset="-122"/>
                <a:cs typeface="Liberation Sans Narrow" pitchFamily="34" charset="-120"/>
              </a:rPr>
              <a:t>2222</a:t>
            </a:r>
            <a:endParaRPr lang="en-US" sz="1069" dirty="0"/>
          </a:p>
        </p:txBody>
      </p:sp>
      <p:sp>
        <p:nvSpPr>
          <p:cNvPr id="21" name="Text 19"/>
          <p:cNvSpPr/>
          <p:nvPr/>
        </p:nvSpPr>
        <p:spPr>
          <a:xfrm>
            <a:off x="1866371" y="3271726"/>
            <a:ext cx="1035711" cy="185166"/>
          </a:xfrm>
          <a:prstGeom prst="rect">
            <a:avLst/>
          </a:prstGeom>
          <a:noFill/>
          <a:ln/>
        </p:spPr>
        <p:txBody>
          <a:bodyPr wrap="none" lIns="0" tIns="0" rIns="0" bIns="0" rtlCol="0" anchor="t"/>
          <a:lstStyle/>
          <a:p>
            <a:pPr marL="0" indent="0" algn="l">
              <a:lnSpc>
                <a:spcPts val="1603"/>
              </a:lnSpc>
              <a:buNone/>
            </a:pPr>
            <a:r>
              <a:rPr lang="en-US" sz="1069" dirty="0">
                <a:solidFill>
                  <a:srgbClr val="FBA74A"/>
                </a:solidFill>
                <a:latin typeface="Courier New" pitchFamily="34" charset="0"/>
                <a:ea typeface="Courier New" pitchFamily="34" charset="-122"/>
                <a:cs typeface="Courier New" pitchFamily="34" charset="-120"/>
              </a:rPr>
              <a:t>ansible_user</a:t>
            </a:r>
            <a:endParaRPr lang="en-US" sz="1069" dirty="0"/>
          </a:p>
        </p:txBody>
      </p:sp>
      <p:sp>
        <p:nvSpPr>
          <p:cNvPr id="22" name="Text 20"/>
          <p:cNvSpPr/>
          <p:nvPr/>
        </p:nvSpPr>
        <p:spPr>
          <a:xfrm>
            <a:off x="2757488" y="3271726"/>
            <a:ext cx="776383" cy="185166"/>
          </a:xfrm>
          <a:prstGeom prst="rect">
            <a:avLst/>
          </a:prstGeom>
          <a:noFill/>
          <a:ln/>
        </p:spPr>
        <p:txBody>
          <a:bodyPr wrap="none" lIns="0" tIns="0" rIns="0" bIns="0" rtlCol="0" anchor="t"/>
          <a:lstStyle/>
          <a:p>
            <a:pPr marL="0" indent="0" algn="l">
              <a:lnSpc>
                <a:spcPts val="1603"/>
              </a:lnSpc>
              <a:buNone/>
            </a:pPr>
            <a:r>
              <a:rPr lang="en-US" sz="1069" dirty="0">
                <a:solidFill>
                  <a:srgbClr val="86EFAC"/>
                </a:solidFill>
                <a:latin typeface="Courier New" pitchFamily="34" charset="0"/>
                <a:ea typeface="Courier New" pitchFamily="34" charset="-122"/>
                <a:cs typeface="Courier New" pitchFamily="34" charset="-120"/>
              </a:rPr>
              <a:t>postgres</a:t>
            </a:r>
            <a:endParaRPr lang="en-US" sz="1069" dirty="0"/>
          </a:p>
        </p:txBody>
      </p:sp>
      <p:sp>
        <p:nvSpPr>
          <p:cNvPr id="23" name="Text 21"/>
          <p:cNvSpPr/>
          <p:nvPr/>
        </p:nvSpPr>
        <p:spPr>
          <a:xfrm>
            <a:off x="3359415" y="3271726"/>
            <a:ext cx="1035711" cy="185166"/>
          </a:xfrm>
          <a:prstGeom prst="rect">
            <a:avLst/>
          </a:prstGeom>
          <a:noFill/>
          <a:ln/>
        </p:spPr>
        <p:txBody>
          <a:bodyPr wrap="none" lIns="0" tIns="0" rIns="0" bIns="0" rtlCol="0" anchor="t"/>
          <a:lstStyle/>
          <a:p>
            <a:pPr marL="0" indent="0" algn="l">
              <a:lnSpc>
                <a:spcPts val="1603"/>
              </a:lnSpc>
              <a:buNone/>
            </a:pPr>
            <a:r>
              <a:rPr lang="en-US" sz="1069" dirty="0">
                <a:solidFill>
                  <a:srgbClr val="FBA74A"/>
                </a:solidFill>
                <a:latin typeface="Courier New" pitchFamily="34" charset="0"/>
                <a:ea typeface="Courier New" pitchFamily="34" charset="-122"/>
                <a:cs typeface="Courier New" pitchFamily="34" charset="-120"/>
              </a:rPr>
              <a:t>ansible_port</a:t>
            </a:r>
            <a:endParaRPr lang="en-US" sz="1069" dirty="0"/>
          </a:p>
        </p:txBody>
      </p:sp>
      <p:sp>
        <p:nvSpPr>
          <p:cNvPr id="24" name="Text 22"/>
          <p:cNvSpPr/>
          <p:nvPr/>
        </p:nvSpPr>
        <p:spPr>
          <a:xfrm>
            <a:off x="4245346" y="3271726"/>
            <a:ext cx="444710" cy="185166"/>
          </a:xfrm>
          <a:prstGeom prst="rect">
            <a:avLst/>
          </a:prstGeom>
          <a:noFill/>
          <a:ln/>
        </p:spPr>
        <p:txBody>
          <a:bodyPr wrap="none" lIns="0" tIns="0" rIns="0" bIns="0" rtlCol="0" anchor="t"/>
          <a:lstStyle/>
          <a:p>
            <a:pPr marL="0" indent="0" algn="l">
              <a:lnSpc>
                <a:spcPts val="1603"/>
              </a:lnSpc>
              <a:buNone/>
            </a:pPr>
            <a:r>
              <a:rPr lang="en-US" sz="1069" dirty="0">
                <a:solidFill>
                  <a:srgbClr val="93C5FD"/>
                </a:solidFill>
                <a:latin typeface="Liberation Sans Narrow" pitchFamily="34" charset="0"/>
                <a:ea typeface="Liberation Sans Narrow" pitchFamily="34" charset="-122"/>
                <a:cs typeface="Liberation Sans Narrow" pitchFamily="34" charset="-120"/>
              </a:rPr>
              <a:t>2222</a:t>
            </a:r>
            <a:endParaRPr lang="en-US" sz="1069" dirty="0"/>
          </a:p>
        </p:txBody>
      </p:sp>
      <p:sp>
        <p:nvSpPr>
          <p:cNvPr id="25" name="Text 23"/>
          <p:cNvSpPr/>
          <p:nvPr/>
        </p:nvSpPr>
        <p:spPr>
          <a:xfrm>
            <a:off x="585788" y="3678920"/>
            <a:ext cx="679335" cy="176165"/>
          </a:xfrm>
          <a:prstGeom prst="rect">
            <a:avLst/>
          </a:prstGeom>
          <a:noFill/>
          <a:ln/>
        </p:spPr>
        <p:txBody>
          <a:bodyPr wrap="none" lIns="0" tIns="0" rIns="0" bIns="0" rtlCol="0" anchor="t">
            <a:normAutofit fontScale="55000" lnSpcReduction="20000"/>
          </a:bodyPr>
          <a:lstStyle/>
          <a:p>
            <a:pPr marL="0" indent="0" algn="l">
              <a:lnSpc>
                <a:spcPts val="1603"/>
              </a:lnSpc>
              <a:buNone/>
            </a:pPr>
            <a:r>
              <a:rPr lang="en-US" sz="1069" dirty="0">
                <a:solidFill>
                  <a:srgbClr val="FBA74A"/>
                </a:solidFill>
                <a:latin typeface="Courier New" pitchFamily="34" charset="0"/>
                <a:ea typeface="Courier New" pitchFamily="34" charset="-122"/>
                <a:cs typeface="Courier New" pitchFamily="34" charset="-120"/>
              </a:rPr>
              <a:t>[cache]</a:t>
            </a:r>
            <a:endParaRPr lang="en-US" sz="1069" dirty="0"/>
          </a:p>
        </p:txBody>
      </p:sp>
      <p:sp>
        <p:nvSpPr>
          <p:cNvPr id="26" name="Text 24"/>
          <p:cNvSpPr/>
          <p:nvPr/>
        </p:nvSpPr>
        <p:spPr>
          <a:xfrm>
            <a:off x="2002102" y="3882517"/>
            <a:ext cx="1035711" cy="185166"/>
          </a:xfrm>
          <a:prstGeom prst="rect">
            <a:avLst/>
          </a:prstGeom>
          <a:noFill/>
          <a:ln/>
        </p:spPr>
        <p:txBody>
          <a:bodyPr wrap="none" lIns="0" tIns="0" rIns="0" bIns="0" rtlCol="0" anchor="t"/>
          <a:lstStyle/>
          <a:p>
            <a:pPr marL="0" indent="0" algn="l">
              <a:lnSpc>
                <a:spcPts val="1603"/>
              </a:lnSpc>
              <a:buNone/>
            </a:pPr>
            <a:r>
              <a:rPr lang="en-US" sz="1069" dirty="0">
                <a:solidFill>
                  <a:srgbClr val="FBA74A"/>
                </a:solidFill>
                <a:latin typeface="Courier New" pitchFamily="34" charset="0"/>
                <a:ea typeface="Courier New" pitchFamily="34" charset="-122"/>
                <a:cs typeface="Courier New" pitchFamily="34" charset="-120"/>
              </a:rPr>
              <a:t>ansible_user</a:t>
            </a:r>
            <a:endParaRPr lang="en-US" sz="1069" dirty="0"/>
          </a:p>
        </p:txBody>
      </p:sp>
      <p:sp>
        <p:nvSpPr>
          <p:cNvPr id="27" name="Text 25"/>
          <p:cNvSpPr/>
          <p:nvPr/>
        </p:nvSpPr>
        <p:spPr>
          <a:xfrm>
            <a:off x="2893219" y="3882517"/>
            <a:ext cx="542925" cy="185166"/>
          </a:xfrm>
          <a:prstGeom prst="rect">
            <a:avLst/>
          </a:prstGeom>
          <a:noFill/>
          <a:ln/>
        </p:spPr>
        <p:txBody>
          <a:bodyPr wrap="none" lIns="0" tIns="0" rIns="0" bIns="0" rtlCol="0" anchor="t"/>
          <a:lstStyle/>
          <a:p>
            <a:pPr marL="0" indent="0" algn="l">
              <a:lnSpc>
                <a:spcPts val="1603"/>
              </a:lnSpc>
              <a:buNone/>
            </a:pPr>
            <a:r>
              <a:rPr lang="en-US" sz="1069" dirty="0">
                <a:solidFill>
                  <a:srgbClr val="86EFAC"/>
                </a:solidFill>
                <a:latin typeface="Courier New" pitchFamily="34" charset="0"/>
                <a:ea typeface="Courier New" pitchFamily="34" charset="-122"/>
                <a:cs typeface="Courier New" pitchFamily="34" charset="-120"/>
              </a:rPr>
              <a:t>redis</a:t>
            </a:r>
            <a:endParaRPr lang="en-US" sz="1069" dirty="0"/>
          </a:p>
        </p:txBody>
      </p:sp>
      <p:sp>
        <p:nvSpPr>
          <p:cNvPr id="28" name="Text 26"/>
          <p:cNvSpPr/>
          <p:nvPr/>
        </p:nvSpPr>
        <p:spPr>
          <a:xfrm>
            <a:off x="585788" y="4289710"/>
            <a:ext cx="3732609" cy="91440"/>
          </a:xfrm>
          <a:prstGeom prst="rect">
            <a:avLst/>
          </a:prstGeom>
          <a:noFill/>
          <a:ln/>
        </p:spPr>
        <p:txBody>
          <a:bodyPr wrap="none" lIns="0" tIns="0" rIns="0" bIns="0" rtlCol="0" anchor="t"/>
          <a:lstStyle/>
          <a:p>
            <a:pPr marL="0" indent="0" algn="l">
              <a:lnSpc>
                <a:spcPts val="1603"/>
              </a:lnSpc>
              <a:buNone/>
            </a:pPr>
            <a:r>
              <a:rPr lang="en-US" sz="1069" i="1" dirty="0">
                <a:solidFill>
                  <a:srgbClr val="94A3B8"/>
                </a:solidFill>
                <a:latin typeface="Courier New" pitchFamily="34" charset="0"/>
                <a:ea typeface="Courier New" pitchFamily="34" charset="-122"/>
                <a:cs typeface="Courier New" pitchFamily="34" charset="-120"/>
              </a:rPr>
              <a:t># Group-of-groups — target all production hosts at once</a:t>
            </a:r>
            <a:endParaRPr lang="en-US" sz="1069" dirty="0"/>
          </a:p>
        </p:txBody>
      </p:sp>
      <p:sp>
        <p:nvSpPr>
          <p:cNvPr id="29" name="Text 27"/>
          <p:cNvSpPr/>
          <p:nvPr/>
        </p:nvSpPr>
        <p:spPr>
          <a:xfrm>
            <a:off x="585788" y="4493307"/>
            <a:ext cx="1781473" cy="91440"/>
          </a:xfrm>
          <a:prstGeom prst="rect">
            <a:avLst/>
          </a:prstGeom>
          <a:noFill/>
          <a:ln/>
        </p:spPr>
        <p:txBody>
          <a:bodyPr wrap="none" lIns="0" tIns="0" rIns="0" bIns="0" rtlCol="0" anchor="t"/>
          <a:lstStyle/>
          <a:p>
            <a:pPr marL="0" indent="0" algn="l">
              <a:lnSpc>
                <a:spcPts val="1603"/>
              </a:lnSpc>
              <a:buNone/>
            </a:pPr>
            <a:r>
              <a:rPr lang="en-US" sz="1069" dirty="0">
                <a:solidFill>
                  <a:srgbClr val="FBA74A"/>
                </a:solidFill>
                <a:latin typeface="Courier New" pitchFamily="34" charset="0"/>
                <a:ea typeface="Courier New" pitchFamily="34" charset="-122"/>
                <a:cs typeface="Courier New" pitchFamily="34" charset="-120"/>
              </a:rPr>
              <a:t>[production:children]</a:t>
            </a:r>
            <a:endParaRPr lang="en-US" sz="1069" dirty="0"/>
          </a:p>
        </p:txBody>
      </p:sp>
      <p:sp>
        <p:nvSpPr>
          <p:cNvPr id="30" name="Text 28"/>
          <p:cNvSpPr/>
          <p:nvPr/>
        </p:nvSpPr>
        <p:spPr>
          <a:xfrm>
            <a:off x="585788" y="5511292"/>
            <a:ext cx="3078385" cy="91440"/>
          </a:xfrm>
          <a:prstGeom prst="rect">
            <a:avLst/>
          </a:prstGeom>
          <a:noFill/>
          <a:ln/>
        </p:spPr>
        <p:txBody>
          <a:bodyPr wrap="none" lIns="0" tIns="0" rIns="0" bIns="0" rtlCol="0" anchor="t"/>
          <a:lstStyle/>
          <a:p>
            <a:pPr marL="0" indent="0" algn="l">
              <a:lnSpc>
                <a:spcPts val="1603"/>
              </a:lnSpc>
              <a:buNone/>
            </a:pPr>
            <a:r>
              <a:rPr lang="en-US" sz="1069" i="1" dirty="0">
                <a:solidFill>
                  <a:srgbClr val="94A3B8"/>
                </a:solidFill>
                <a:latin typeface="Courier New" pitchFamily="34" charset="0"/>
                <a:ea typeface="Courier New" pitchFamily="34" charset="-122"/>
                <a:cs typeface="Courier New" pitchFamily="34" charset="-120"/>
              </a:rPr>
              <a:t># Variables shared by ALL production hosts</a:t>
            </a:r>
            <a:endParaRPr lang="en-US" sz="1069" dirty="0"/>
          </a:p>
        </p:txBody>
      </p:sp>
      <p:sp>
        <p:nvSpPr>
          <p:cNvPr id="31" name="Text 29"/>
          <p:cNvSpPr/>
          <p:nvPr/>
        </p:nvSpPr>
        <p:spPr>
          <a:xfrm>
            <a:off x="585788" y="5714888"/>
            <a:ext cx="1442145" cy="91440"/>
          </a:xfrm>
          <a:prstGeom prst="rect">
            <a:avLst/>
          </a:prstGeom>
          <a:noFill/>
          <a:ln/>
        </p:spPr>
        <p:txBody>
          <a:bodyPr wrap="none" lIns="0" tIns="0" rIns="0" bIns="0" rtlCol="0" anchor="t"/>
          <a:lstStyle/>
          <a:p>
            <a:pPr marL="0" indent="0" algn="l">
              <a:lnSpc>
                <a:spcPts val="1603"/>
              </a:lnSpc>
              <a:buNone/>
            </a:pPr>
            <a:r>
              <a:rPr lang="en-US" sz="1069" dirty="0">
                <a:solidFill>
                  <a:srgbClr val="FBA74A"/>
                </a:solidFill>
                <a:latin typeface="Courier New" pitchFamily="34" charset="0"/>
                <a:ea typeface="Courier New" pitchFamily="34" charset="-122"/>
                <a:cs typeface="Courier New" pitchFamily="34" charset="-120"/>
              </a:rPr>
              <a:t>[production:vars]</a:t>
            </a:r>
            <a:endParaRPr lang="en-US" sz="1069" dirty="0"/>
          </a:p>
        </p:txBody>
      </p:sp>
      <p:sp>
        <p:nvSpPr>
          <p:cNvPr id="32" name="Text 30"/>
          <p:cNvSpPr/>
          <p:nvPr/>
        </p:nvSpPr>
        <p:spPr>
          <a:xfrm>
            <a:off x="585788" y="5918485"/>
            <a:ext cx="1685782" cy="91440"/>
          </a:xfrm>
          <a:prstGeom prst="rect">
            <a:avLst/>
          </a:prstGeom>
          <a:noFill/>
          <a:ln/>
        </p:spPr>
        <p:txBody>
          <a:bodyPr wrap="none" lIns="0" tIns="0" rIns="0" bIns="0" rtlCol="0" anchor="t"/>
          <a:lstStyle/>
          <a:p>
            <a:pPr marL="0" indent="0" algn="l">
              <a:lnSpc>
                <a:spcPts val="1603"/>
              </a:lnSpc>
              <a:buNone/>
            </a:pPr>
            <a:r>
              <a:rPr lang="en-US" sz="1069" dirty="0">
                <a:solidFill>
                  <a:srgbClr val="FBA74A"/>
                </a:solidFill>
                <a:latin typeface="Courier New" pitchFamily="34" charset="0"/>
                <a:ea typeface="Courier New" pitchFamily="34" charset="-122"/>
                <a:cs typeface="Courier New" pitchFamily="34" charset="-120"/>
              </a:rPr>
              <a:t>ansible_ssh_common_args</a:t>
            </a:r>
            <a:endParaRPr lang="en-US" sz="1069" dirty="0"/>
          </a:p>
        </p:txBody>
      </p:sp>
      <p:sp>
        <p:nvSpPr>
          <p:cNvPr id="33" name="Text 31"/>
          <p:cNvSpPr/>
          <p:nvPr/>
        </p:nvSpPr>
        <p:spPr>
          <a:xfrm>
            <a:off x="2214563" y="5918485"/>
            <a:ext cx="2125551" cy="91440"/>
          </a:xfrm>
          <a:prstGeom prst="rect">
            <a:avLst/>
          </a:prstGeom>
          <a:noFill/>
          <a:ln/>
        </p:spPr>
        <p:txBody>
          <a:bodyPr wrap="none" lIns="0" tIns="0" rIns="0" bIns="0" rtlCol="0" anchor="t"/>
          <a:lstStyle/>
          <a:p>
            <a:pPr marL="0" indent="0" algn="l">
              <a:lnSpc>
                <a:spcPts val="1603"/>
              </a:lnSpc>
              <a:buNone/>
            </a:pPr>
            <a:r>
              <a:rPr lang="en-US" sz="1069" dirty="0">
                <a:solidFill>
                  <a:srgbClr val="86EFAC"/>
                </a:solidFill>
                <a:latin typeface="Courier New" pitchFamily="34" charset="0"/>
                <a:ea typeface="Courier New" pitchFamily="34" charset="-122"/>
                <a:cs typeface="Courier New" pitchFamily="34" charset="-120"/>
              </a:rPr>
              <a:t>'-o StrictHostKeyChecking=no'</a:t>
            </a:r>
            <a:endParaRPr lang="en-US" sz="1069" dirty="0"/>
          </a:p>
        </p:txBody>
      </p:sp>
      <p:sp>
        <p:nvSpPr>
          <p:cNvPr id="34" name="Text 32"/>
          <p:cNvSpPr/>
          <p:nvPr/>
        </p:nvSpPr>
        <p:spPr>
          <a:xfrm>
            <a:off x="585788" y="6122082"/>
            <a:ext cx="325755" cy="91440"/>
          </a:xfrm>
          <a:prstGeom prst="rect">
            <a:avLst/>
          </a:prstGeom>
          <a:noFill/>
          <a:ln/>
        </p:spPr>
        <p:txBody>
          <a:bodyPr wrap="none" lIns="0" tIns="0" rIns="0" bIns="0" rtlCol="0" anchor="t"/>
          <a:lstStyle/>
          <a:p>
            <a:pPr marL="0" indent="0" algn="l">
              <a:lnSpc>
                <a:spcPts val="1603"/>
              </a:lnSpc>
              <a:buNone/>
            </a:pPr>
            <a:r>
              <a:rPr lang="en-US" sz="1069" dirty="0">
                <a:solidFill>
                  <a:srgbClr val="FBA74A"/>
                </a:solidFill>
                <a:latin typeface="Courier New" pitchFamily="34" charset="0"/>
                <a:ea typeface="Courier New" pitchFamily="34" charset="-122"/>
                <a:cs typeface="Courier New" pitchFamily="34" charset="-120"/>
              </a:rPr>
              <a:t>env</a:t>
            </a:r>
            <a:endParaRPr lang="en-US" sz="1069" dirty="0"/>
          </a:p>
        </p:txBody>
      </p:sp>
      <p:sp>
        <p:nvSpPr>
          <p:cNvPr id="35" name="Text 33"/>
          <p:cNvSpPr/>
          <p:nvPr/>
        </p:nvSpPr>
        <p:spPr>
          <a:xfrm>
            <a:off x="857250" y="6122082"/>
            <a:ext cx="434340" cy="91440"/>
          </a:xfrm>
          <a:prstGeom prst="rect">
            <a:avLst/>
          </a:prstGeom>
          <a:noFill/>
          <a:ln/>
        </p:spPr>
        <p:txBody>
          <a:bodyPr wrap="none" lIns="0" tIns="0" rIns="0" bIns="0" rtlCol="0" anchor="t"/>
          <a:lstStyle/>
          <a:p>
            <a:pPr marL="0" indent="0" algn="l">
              <a:lnSpc>
                <a:spcPts val="1603"/>
              </a:lnSpc>
              <a:buNone/>
            </a:pPr>
            <a:r>
              <a:rPr lang="en-US" sz="1069" dirty="0">
                <a:solidFill>
                  <a:srgbClr val="86EFAC"/>
                </a:solidFill>
                <a:latin typeface="Courier New" pitchFamily="34" charset="0"/>
                <a:ea typeface="Courier New" pitchFamily="34" charset="-122"/>
                <a:cs typeface="Courier New" pitchFamily="34" charset="-120"/>
              </a:rPr>
              <a:t>prod</a:t>
            </a:r>
            <a:endParaRPr lang="en-US" sz="1069" dirty="0"/>
          </a:p>
        </p:txBody>
      </p:sp>
      <p:sp>
        <p:nvSpPr>
          <p:cNvPr id="36" name="Text 34"/>
          <p:cNvSpPr/>
          <p:nvPr/>
        </p:nvSpPr>
        <p:spPr>
          <a:xfrm>
            <a:off x="403622" y="4582604"/>
            <a:ext cx="8336756" cy="371475"/>
          </a:xfrm>
          <a:prstGeom prst="roundRect">
            <a:avLst>
              <a:gd name="adj" fmla="val 20513"/>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37" name="Text 35"/>
          <p:cNvSpPr/>
          <p:nvPr/>
        </p:nvSpPr>
        <p:spPr>
          <a:xfrm>
            <a:off x="986954" y="4671901"/>
            <a:ext cx="2686050" cy="192881"/>
          </a:xfrm>
          <a:prstGeom prst="roundRect">
            <a:avLst>
              <a:gd name="adj" fmla="val 19753"/>
            </a:avLst>
          </a:prstGeom>
          <a:solidFill>
            <a:srgbClr val="0F172A"/>
          </a:solidFill>
          <a:ln/>
        </p:spPr>
        <p:txBody>
          <a:bodyPr wrap="square" rtlCol="0" anchor="ctr"/>
          <a:lstStyle/>
          <a:p>
            <a:pPr marL="0" indent="0">
              <a:buNone/>
            </a:pPr>
            <a:endParaRPr lang="en-US" dirty="0"/>
          </a:p>
        </p:txBody>
      </p:sp>
      <p:sp>
        <p:nvSpPr>
          <p:cNvPr id="38" name="Text 36"/>
          <p:cNvSpPr/>
          <p:nvPr/>
        </p:nvSpPr>
        <p:spPr>
          <a:xfrm>
            <a:off x="721519" y="4695453"/>
            <a:ext cx="3776142" cy="154305"/>
          </a:xfrm>
          <a:prstGeom prst="rect">
            <a:avLst/>
          </a:prstGeom>
          <a:noFill/>
          <a:ln/>
        </p:spPr>
        <p:txBody>
          <a:bodyPr wrap="none" lIns="0" tIns="0" rIns="0" bIns="0" rtlCol="0" anchor="t"/>
          <a:lstStyle/>
          <a:p>
            <a:pPr marL="0" indent="0" algn="l">
              <a:lnSpc>
                <a:spcPts val="1260"/>
              </a:lnSpc>
              <a:buNone/>
            </a:pPr>
            <a:r>
              <a:rPr lang="en-US" sz="900" dirty="0">
                <a:solidFill>
                  <a:srgbClr val="0F172A"/>
                </a:solidFill>
                <a:latin typeface="Carlito" pitchFamily="34" charset="0"/>
                <a:ea typeface="Carlito" pitchFamily="34" charset="-122"/>
                <a:cs typeface="Carlito" pitchFamily="34" charset="-120"/>
              </a:rPr>
              <a:t>Run to use this file.</a:t>
            </a:r>
            <a:endParaRPr lang="en-US" sz="900" dirty="0"/>
          </a:p>
        </p:txBody>
      </p:sp>
      <p:sp>
        <p:nvSpPr>
          <p:cNvPr id="39" name="Text 37"/>
          <p:cNvSpPr/>
          <p:nvPr/>
        </p:nvSpPr>
        <p:spPr>
          <a:xfrm>
            <a:off x="535781" y="4711192"/>
            <a:ext cx="114300" cy="114300"/>
          </a:xfrm>
          <a:prstGeom prst="rect">
            <a:avLst/>
          </a:prstGeom>
          <a:noFill/>
          <a:ln/>
        </p:spPr>
        <p:txBody>
          <a:bodyPr wrap="none" lIns="0" tIns="0" rIns="0" bIns="0" rtlCol="0" anchor="ctr"/>
          <a:lstStyle/>
          <a:p>
            <a:pPr marL="0" indent="0" algn="ctr">
              <a:buNone/>
            </a:pPr>
            <a:r>
              <a:rPr lang="en-US" sz="1125" dirty="0">
                <a:solidFill>
                  <a:srgbClr val="F97316"/>
                </a:solidFill>
                <a:latin typeface="Segoe UI Symbol" pitchFamily="34" charset="0"/>
                <a:ea typeface="Segoe UI Symbol" pitchFamily="34" charset="-122"/>
                <a:cs typeface="Segoe UI Symbol" pitchFamily="34" charset="-120"/>
              </a:rPr>
              <a:t>✦</a:t>
            </a:r>
            <a:endParaRPr lang="en-US" sz="1125" dirty="0"/>
          </a:p>
        </p:txBody>
      </p:sp>
      <p:sp>
        <p:nvSpPr>
          <p:cNvPr id="40" name="Text 38"/>
          <p:cNvSpPr/>
          <p:nvPr/>
        </p:nvSpPr>
        <p:spPr>
          <a:xfrm>
            <a:off x="986954" y="4671901"/>
            <a:ext cx="2686050" cy="192881"/>
          </a:xfrm>
          <a:prstGeom prst="roundRect">
            <a:avLst>
              <a:gd name="adj" fmla="val 19753"/>
            </a:avLst>
          </a:prstGeom>
          <a:solidFill>
            <a:srgbClr val="0F172A"/>
          </a:solidFill>
          <a:ln/>
        </p:spPr>
        <p:txBody>
          <a:bodyPr wrap="square" rtlCol="0" anchor="ctr"/>
          <a:lstStyle/>
          <a:p>
            <a:pPr marL="0" indent="0">
              <a:buNone/>
            </a:pPr>
            <a:endParaRPr lang="en-US" dirty="0"/>
          </a:p>
        </p:txBody>
      </p:sp>
      <p:sp>
        <p:nvSpPr>
          <p:cNvPr id="41" name="Text 39"/>
          <p:cNvSpPr/>
          <p:nvPr/>
        </p:nvSpPr>
        <p:spPr>
          <a:xfrm>
            <a:off x="986954" y="4671901"/>
            <a:ext cx="7621265" cy="192881"/>
          </a:xfrm>
          <a:prstGeom prst="rect">
            <a:avLst/>
          </a:prstGeom>
          <a:noFill/>
          <a:ln/>
        </p:spPr>
        <p:txBody>
          <a:bodyPr wrap="square" lIns="57150" tIns="21431" rIns="57150" bIns="21431" rtlCol="0" anchor="t"/>
          <a:lstStyle/>
          <a:p>
            <a:pPr marL="0" indent="0" algn="l">
              <a:lnSpc>
                <a:spcPts val="1181"/>
              </a:lnSpc>
              <a:buNone/>
            </a:pPr>
            <a:r>
              <a:rPr lang="en-US" sz="844" dirty="0">
                <a:solidFill>
                  <a:srgbClr val="FBA74A"/>
                </a:solidFill>
                <a:latin typeface="Courier New" pitchFamily="34" charset="0"/>
                <a:ea typeface="Courier New" pitchFamily="34" charset="-122"/>
                <a:cs typeface="Courier New" pitchFamily="34" charset="-120"/>
              </a:rPr>
              <a:t>ansible-playbook -i inventory/hosts.ini site.yml</a:t>
            </a:r>
            <a:endParaRPr lang="en-US" sz="844"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71475"/>
            <a:ext cx="5946759" cy="373346"/>
          </a:xfrm>
          <a:prstGeom prst="rect">
            <a:avLst/>
          </a:prstGeom>
          <a:noFill/>
          <a:ln/>
        </p:spPr>
        <p:txBody>
          <a:bodyPr wrap="square" lIns="0" tIns="0" rIns="0" bIns="0" rtlCol="0" anchor="t"/>
          <a:lstStyle/>
          <a:p>
            <a:pPr marL="0" indent="0" algn="l">
              <a:lnSpc>
                <a:spcPts val="2723"/>
              </a:lnSpc>
              <a:buNone/>
            </a:pPr>
            <a:r>
              <a:rPr lang="en-US" sz="2475" b="1" dirty="0">
                <a:solidFill>
                  <a:srgbClr val="0F172A"/>
                </a:solidFill>
                <a:latin typeface="Carlito" pitchFamily="34" charset="0"/>
                <a:ea typeface="Carlito" pitchFamily="34" charset="-122"/>
                <a:cs typeface="Carlito" pitchFamily="34" charset="-120"/>
              </a:rPr>
              <a:t>Ad-Hoc Commands — Quick One-Shots</a:t>
            </a:r>
            <a:endParaRPr lang="en-US" sz="2475" dirty="0"/>
          </a:p>
        </p:txBody>
      </p:sp>
      <p:sp>
        <p:nvSpPr>
          <p:cNvPr id="3" name="Text 1"/>
          <p:cNvSpPr/>
          <p:nvPr/>
        </p:nvSpPr>
        <p:spPr>
          <a:xfrm>
            <a:off x="457200" y="817178"/>
            <a:ext cx="571500" cy="42863"/>
          </a:xfrm>
          <a:prstGeom prst="roundRect">
            <a:avLst>
              <a:gd name="adj" fmla="val 66666"/>
            </a:avLst>
          </a:prstGeom>
          <a:solidFill>
            <a:srgbClr val="F97316"/>
          </a:solidFill>
          <a:ln/>
        </p:spPr>
        <p:txBody>
          <a:bodyPr wrap="square" rtlCol="0" anchor="ctr"/>
          <a:lstStyle/>
          <a:p>
            <a:pPr marL="0" indent="0">
              <a:buNone/>
            </a:pPr>
            <a:endParaRPr lang="en-US" dirty="0"/>
          </a:p>
        </p:txBody>
      </p:sp>
      <p:sp>
        <p:nvSpPr>
          <p:cNvPr id="4" name="Text 2"/>
          <p:cNvSpPr/>
          <p:nvPr/>
        </p:nvSpPr>
        <p:spPr>
          <a:xfrm>
            <a:off x="7592266" y="358673"/>
            <a:ext cx="1117394" cy="331333"/>
          </a:xfrm>
          <a:prstGeom prst="roundRect">
            <a:avLst>
              <a:gd name="adj" fmla="val 2871877"/>
            </a:avLst>
          </a:prstGeom>
          <a:solidFill>
            <a:srgbClr val="0F172A"/>
          </a:solidFill>
          <a:ln/>
        </p:spPr>
        <p:txBody>
          <a:bodyPr wrap="square" rtlCol="0" anchor="ctr"/>
          <a:lstStyle/>
          <a:p>
            <a:pPr marL="0" indent="0">
              <a:buNone/>
            </a:pPr>
            <a:endParaRPr lang="en-US" dirty="0"/>
          </a:p>
        </p:txBody>
      </p:sp>
      <p:sp>
        <p:nvSpPr>
          <p:cNvPr id="5" name="Text 3"/>
          <p:cNvSpPr/>
          <p:nvPr/>
        </p:nvSpPr>
        <p:spPr>
          <a:xfrm>
            <a:off x="7613467" y="371475"/>
            <a:ext cx="1074992" cy="305730"/>
          </a:xfrm>
          <a:prstGeom prst="rect">
            <a:avLst/>
          </a:prstGeom>
          <a:noFill/>
          <a:ln/>
        </p:spPr>
        <p:txBody>
          <a:bodyPr wrap="none" lIns="0" tIns="0" rIns="0" bIns="0" rtlCol="0" anchor="ctr"/>
          <a:lstStyle/>
          <a:p>
            <a:pPr marL="0" indent="0" algn="ctr">
              <a:lnSpc>
                <a:spcPts val="1733"/>
              </a:lnSpc>
              <a:buNone/>
            </a:pPr>
            <a:r>
              <a:rPr lang="en-US" sz="1238" b="1" kern="0" spc="28" dirty="0">
                <a:solidFill>
                  <a:srgbClr val="FFFFFF"/>
                </a:solidFill>
                <a:latin typeface="Liberation Sans Narrow" pitchFamily="34" charset="0"/>
                <a:ea typeface="Liberation Sans Narrow" pitchFamily="34" charset="-122"/>
                <a:cs typeface="Liberation Sans Narrow" pitchFamily="34" charset="-120"/>
              </a:rPr>
              <a:t>02 · Ad-Hoc</a:t>
            </a:r>
            <a:endParaRPr lang="en-US" sz="1238" dirty="0"/>
          </a:p>
        </p:txBody>
      </p:sp>
      <p:sp>
        <p:nvSpPr>
          <p:cNvPr id="6" name="Text 4"/>
          <p:cNvSpPr/>
          <p:nvPr/>
        </p:nvSpPr>
        <p:spPr>
          <a:xfrm>
            <a:off x="821531" y="1031491"/>
            <a:ext cx="7500938" cy="609505"/>
          </a:xfrm>
          <a:prstGeom prst="rect">
            <a:avLst/>
          </a:prstGeom>
          <a:noFill/>
          <a:ln/>
        </p:spPr>
        <p:txBody>
          <a:bodyPr wrap="square" lIns="0" tIns="0" rIns="0" bIns="0" rtlCol="0" anchor="t"/>
          <a:lstStyle/>
          <a:p>
            <a:pPr marL="0" indent="0" algn="ctr">
              <a:lnSpc>
                <a:spcPts val="2194"/>
              </a:lnSpc>
              <a:buNone/>
            </a:pPr>
            <a:r>
              <a:rPr lang="en-US" sz="1688" b="1" kern="0" spc="-17" dirty="0">
                <a:solidFill>
                  <a:srgbClr val="F97316"/>
                </a:solidFill>
                <a:latin typeface="Segoe UI Symbol" pitchFamily="34" charset="0"/>
                <a:ea typeface="Segoe UI Symbol" pitchFamily="34" charset="-122"/>
                <a:cs typeface="Segoe UI Symbol" pitchFamily="34" charset="-120"/>
              </a:rPr>
              <a:t>⚡</a:t>
            </a:r>
            <a:r>
              <a:rPr lang="en-US" sz="1688" b="1" kern="0" spc="-17" dirty="0">
                <a:solidFill>
                  <a:srgbClr val="0F172A"/>
                </a:solidFill>
                <a:latin typeface="Carlito" pitchFamily="34" charset="0"/>
                <a:ea typeface="Carlito" pitchFamily="34" charset="-122"/>
                <a:cs typeface="Carlito" pitchFamily="34" charset="-120"/>
              </a:rPr>
              <a:t> Need to ping 50 servers? Reboot the web tier? Check disk space everywhere? </a:t>
            </a:r>
            <a:r>
              <a:rPr lang="en-US" sz="1688" b="1" kern="0" spc="-17" dirty="0">
                <a:solidFill>
                  <a:srgbClr val="F97316"/>
                </a:solidFill>
                <a:latin typeface="Carlito" pitchFamily="34" charset="0"/>
                <a:ea typeface="Carlito" pitchFamily="34" charset="-122"/>
                <a:cs typeface="Carlito" pitchFamily="34" charset="-120"/>
              </a:rPr>
              <a:t>Ad-hoc commands.</a:t>
            </a:r>
            <a:r>
              <a:rPr lang="en-US" sz="1688" b="1" kern="0" spc="-17" dirty="0">
                <a:solidFill>
                  <a:srgbClr val="0F172A"/>
                </a:solidFill>
                <a:latin typeface="Carlito" pitchFamily="34" charset="0"/>
                <a:ea typeface="Carlito" pitchFamily="34" charset="-122"/>
                <a:cs typeface="Carlito" pitchFamily="34" charset="-120"/>
              </a:rPr>
              <a:t> No playbook needed.</a:t>
            </a:r>
            <a:endParaRPr lang="en-US" sz="1688" dirty="0"/>
          </a:p>
        </p:txBody>
      </p:sp>
      <p:sp>
        <p:nvSpPr>
          <p:cNvPr id="7" name="Text 5"/>
          <p:cNvSpPr/>
          <p:nvPr/>
        </p:nvSpPr>
        <p:spPr>
          <a:xfrm>
            <a:off x="460772" y="1742294"/>
            <a:ext cx="2640732" cy="1204057"/>
          </a:xfrm>
          <a:prstGeom prst="roundRect">
            <a:avLst>
              <a:gd name="adj" fmla="val 11075"/>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8" name="Text 6"/>
          <p:cNvSpPr/>
          <p:nvPr/>
        </p:nvSpPr>
        <p:spPr>
          <a:xfrm>
            <a:off x="878681" y="1881597"/>
            <a:ext cx="1078957" cy="216027"/>
          </a:xfrm>
          <a:prstGeom prst="rect">
            <a:avLst/>
          </a:prstGeom>
          <a:noFill/>
          <a:ln/>
        </p:spPr>
        <p:txBody>
          <a:bodyPr wrap="none" lIns="0" tIns="0" rIns="0" bIns="0" rtlCol="0" anchor="t"/>
          <a:lstStyle/>
          <a:p>
            <a:pPr marL="0" indent="0" algn="l">
              <a:lnSpc>
                <a:spcPts val="1733"/>
              </a:lnSpc>
              <a:buNone/>
            </a:pPr>
            <a:r>
              <a:rPr lang="en-US" sz="1238" b="1" dirty="0">
                <a:solidFill>
                  <a:srgbClr val="0F172A"/>
                </a:solidFill>
                <a:latin typeface="Carlito" pitchFamily="34" charset="0"/>
                <a:ea typeface="Carlito" pitchFamily="34" charset="-122"/>
                <a:cs typeface="Carlito" pitchFamily="34" charset="-120"/>
              </a:rPr>
              <a:t>When to use</a:t>
            </a:r>
            <a:endParaRPr lang="en-US" sz="1238" dirty="0"/>
          </a:p>
        </p:txBody>
      </p:sp>
      <p:sp>
        <p:nvSpPr>
          <p:cNvPr id="9" name="Text 7"/>
          <p:cNvSpPr/>
          <p:nvPr/>
        </p:nvSpPr>
        <p:spPr>
          <a:xfrm>
            <a:off x="621506" y="1891531"/>
            <a:ext cx="185738" cy="185738"/>
          </a:xfrm>
          <a:prstGeom prst="rect">
            <a:avLst/>
          </a:prstGeom>
          <a:noFill/>
          <a:ln/>
        </p:spPr>
        <p:txBody>
          <a:bodyPr wrap="none" lIns="0" tIns="0" rIns="0" bIns="0" rtlCol="0" anchor="ctr"/>
          <a:lstStyle/>
          <a:p>
            <a:pPr marL="0" indent="0" algn="ctr">
              <a:buNone/>
            </a:pPr>
            <a:r>
              <a:rPr lang="en-US" sz="1828" dirty="0">
                <a:solidFill>
                  <a:srgbClr val="F97316"/>
                </a:solidFill>
                <a:latin typeface="Segoe UI Symbol" pitchFamily="34" charset="0"/>
                <a:ea typeface="Segoe UI Symbol" pitchFamily="34" charset="-122"/>
                <a:cs typeface="Segoe UI Symbol" pitchFamily="34" charset="-120"/>
              </a:rPr>
              <a:t>✓</a:t>
            </a:r>
            <a:endParaRPr lang="en-US" sz="1828" dirty="0"/>
          </a:p>
        </p:txBody>
      </p:sp>
      <p:sp>
        <p:nvSpPr>
          <p:cNvPr id="10" name="Text 8"/>
          <p:cNvSpPr/>
          <p:nvPr/>
        </p:nvSpPr>
        <p:spPr>
          <a:xfrm>
            <a:off x="621506" y="2151608"/>
            <a:ext cx="2319263" cy="662583"/>
          </a:xfrm>
          <a:prstGeom prst="rect">
            <a:avLst/>
          </a:prstGeom>
          <a:noFill/>
          <a:ln/>
        </p:spPr>
        <p:txBody>
          <a:bodyPr wrap="square" lIns="0" tIns="0" rIns="0" bIns="0" rtlCol="0" anchor="t"/>
          <a:lstStyle/>
          <a:p>
            <a:pPr marL="0" indent="0" algn="l">
              <a:lnSpc>
                <a:spcPts val="1305"/>
              </a:lnSpc>
              <a:buNone/>
            </a:pPr>
            <a:r>
              <a:rPr lang="en-US" sz="900" dirty="0">
                <a:solidFill>
                  <a:srgbClr val="334155"/>
                </a:solidFill>
                <a:latin typeface="Carlito" pitchFamily="34" charset="0"/>
                <a:ea typeface="Carlito" pitchFamily="34" charset="-122"/>
                <a:cs typeface="Carlito" pitchFamily="34" charset="-120"/>
              </a:rPr>
              <a:t>Quick one-off operations: </a:t>
            </a:r>
            <a:r>
              <a:rPr lang="en-US" sz="900" b="1" dirty="0">
                <a:solidFill>
                  <a:srgbClr val="0F172A"/>
                </a:solidFill>
                <a:latin typeface="Carlito" pitchFamily="34" charset="0"/>
                <a:ea typeface="Carlito" pitchFamily="34" charset="-122"/>
                <a:cs typeface="Carlito" pitchFamily="34" charset="-120"/>
              </a:rPr>
              <a:t>ping all hosts, gather facts, restart a service, install a package, copy a file</a:t>
            </a:r>
            <a:r>
              <a:rPr lang="en-US" sz="900" dirty="0">
                <a:solidFill>
                  <a:srgbClr val="334155"/>
                </a:solidFill>
                <a:latin typeface="Carlito" pitchFamily="34" charset="0"/>
                <a:ea typeface="Carlito" pitchFamily="34" charset="-122"/>
                <a:cs typeface="Carlito" pitchFamily="34" charset="-120"/>
              </a:rPr>
              <a:t>. No persistent state, no playbook to write.</a:t>
            </a:r>
            <a:endParaRPr lang="en-US" sz="900" dirty="0"/>
          </a:p>
        </p:txBody>
      </p:sp>
      <p:sp>
        <p:nvSpPr>
          <p:cNvPr id="11" name="Text 9"/>
          <p:cNvSpPr/>
          <p:nvPr/>
        </p:nvSpPr>
        <p:spPr>
          <a:xfrm>
            <a:off x="3251522" y="1742294"/>
            <a:ext cx="2640843" cy="1204057"/>
          </a:xfrm>
          <a:prstGeom prst="roundRect">
            <a:avLst>
              <a:gd name="adj" fmla="val 11075"/>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12" name="Text 10"/>
          <p:cNvSpPr/>
          <p:nvPr/>
        </p:nvSpPr>
        <p:spPr>
          <a:xfrm>
            <a:off x="3669432" y="1881597"/>
            <a:ext cx="1495165" cy="216027"/>
          </a:xfrm>
          <a:prstGeom prst="rect">
            <a:avLst/>
          </a:prstGeom>
          <a:noFill/>
          <a:ln/>
        </p:spPr>
        <p:txBody>
          <a:bodyPr wrap="none" lIns="0" tIns="0" rIns="0" bIns="0" rtlCol="0" anchor="t"/>
          <a:lstStyle/>
          <a:p>
            <a:pPr marL="0" indent="0" algn="l">
              <a:lnSpc>
                <a:spcPts val="1733"/>
              </a:lnSpc>
              <a:buNone/>
            </a:pPr>
            <a:r>
              <a:rPr lang="en-US" sz="1238" b="1" dirty="0">
                <a:solidFill>
                  <a:srgbClr val="0F172A"/>
                </a:solidFill>
                <a:latin typeface="Carlito" pitchFamily="34" charset="0"/>
                <a:ea typeface="Carlito" pitchFamily="34" charset="-122"/>
                <a:cs typeface="Carlito" pitchFamily="34" charset="-120"/>
              </a:rPr>
              <a:t>When NOT to use</a:t>
            </a:r>
            <a:endParaRPr lang="en-US" sz="1238" dirty="0"/>
          </a:p>
        </p:txBody>
      </p:sp>
      <p:sp>
        <p:nvSpPr>
          <p:cNvPr id="13" name="Text 11"/>
          <p:cNvSpPr/>
          <p:nvPr/>
        </p:nvSpPr>
        <p:spPr>
          <a:xfrm>
            <a:off x="3412257" y="1891531"/>
            <a:ext cx="185738" cy="185738"/>
          </a:xfrm>
          <a:prstGeom prst="rect">
            <a:avLst/>
          </a:prstGeom>
          <a:noFill/>
          <a:ln/>
        </p:spPr>
        <p:txBody>
          <a:bodyPr wrap="none" lIns="0" tIns="0" rIns="0" bIns="0" rtlCol="0" anchor="ctr"/>
          <a:lstStyle/>
          <a:p>
            <a:pPr marL="0" indent="0" algn="ctr">
              <a:buNone/>
            </a:pPr>
            <a:r>
              <a:rPr lang="en-US" sz="1828" dirty="0">
                <a:solidFill>
                  <a:srgbClr val="F97316"/>
                </a:solidFill>
                <a:latin typeface="Segoe UI Symbol" pitchFamily="34" charset="0"/>
                <a:ea typeface="Segoe UI Symbol" pitchFamily="34" charset="-122"/>
                <a:cs typeface="Segoe UI Symbol" pitchFamily="34" charset="-120"/>
              </a:rPr>
              <a:t>⊘</a:t>
            </a:r>
            <a:endParaRPr lang="en-US" sz="1828" dirty="0"/>
          </a:p>
        </p:txBody>
      </p:sp>
      <p:sp>
        <p:nvSpPr>
          <p:cNvPr id="14" name="Text 12"/>
          <p:cNvSpPr/>
          <p:nvPr/>
        </p:nvSpPr>
        <p:spPr>
          <a:xfrm>
            <a:off x="3412257" y="2151608"/>
            <a:ext cx="2319375" cy="662583"/>
          </a:xfrm>
          <a:prstGeom prst="rect">
            <a:avLst/>
          </a:prstGeom>
          <a:noFill/>
          <a:ln/>
        </p:spPr>
        <p:txBody>
          <a:bodyPr wrap="square" lIns="0" tIns="0" rIns="0" bIns="0" rtlCol="0" anchor="t"/>
          <a:lstStyle/>
          <a:p>
            <a:pPr marL="0" indent="0" algn="l">
              <a:lnSpc>
                <a:spcPts val="1305"/>
              </a:lnSpc>
              <a:buNone/>
            </a:pPr>
            <a:r>
              <a:rPr lang="en-US" sz="900" dirty="0">
                <a:solidFill>
                  <a:srgbClr val="334155"/>
                </a:solidFill>
                <a:latin typeface="Carlito" pitchFamily="34" charset="0"/>
                <a:ea typeface="Carlito" pitchFamily="34" charset="-122"/>
                <a:cs typeface="Carlito" pitchFamily="34" charset="-120"/>
              </a:rPr>
              <a:t>Anything you will do more than once. If you are running the same ad-hoc command twice, </a:t>
            </a:r>
            <a:r>
              <a:rPr lang="en-US" sz="900" b="1" dirty="0">
                <a:solidFill>
                  <a:srgbClr val="0F172A"/>
                </a:solidFill>
                <a:latin typeface="Carlito" pitchFamily="34" charset="0"/>
                <a:ea typeface="Carlito" pitchFamily="34" charset="-122"/>
                <a:cs typeface="Carlito" pitchFamily="34" charset="-120"/>
              </a:rPr>
              <a:t>write a playbook instead</a:t>
            </a:r>
            <a:r>
              <a:rPr lang="en-US" sz="900" dirty="0">
                <a:solidFill>
                  <a:srgbClr val="334155"/>
                </a:solidFill>
                <a:latin typeface="Carlito" pitchFamily="34" charset="0"/>
                <a:ea typeface="Carlito" pitchFamily="34" charset="-122"/>
                <a:cs typeface="Carlito" pitchFamily="34" charset="-120"/>
              </a:rPr>
              <a:t> — version-control it, document it, schedule it.</a:t>
            </a:r>
            <a:endParaRPr lang="en-US" sz="900" dirty="0"/>
          </a:p>
        </p:txBody>
      </p:sp>
      <p:sp>
        <p:nvSpPr>
          <p:cNvPr id="15" name="Text 13"/>
          <p:cNvSpPr/>
          <p:nvPr/>
        </p:nvSpPr>
        <p:spPr>
          <a:xfrm>
            <a:off x="6038813" y="1738722"/>
            <a:ext cx="2647876" cy="1211200"/>
          </a:xfrm>
          <a:prstGeom prst="roundRect">
            <a:avLst>
              <a:gd name="adj" fmla="val 11010"/>
            </a:avLst>
          </a:prstGeom>
          <a:solidFill>
            <a:srgbClr val="0F172A"/>
          </a:solidFill>
          <a:ln/>
        </p:spPr>
        <p:txBody>
          <a:bodyPr wrap="square" rtlCol="0" anchor="ctr"/>
          <a:lstStyle/>
          <a:p>
            <a:pPr marL="0" indent="0">
              <a:buNone/>
            </a:pPr>
            <a:endParaRPr lang="en-US" dirty="0"/>
          </a:p>
        </p:txBody>
      </p:sp>
      <p:sp>
        <p:nvSpPr>
          <p:cNvPr id="16" name="Text 14"/>
          <p:cNvSpPr/>
          <p:nvPr/>
        </p:nvSpPr>
        <p:spPr>
          <a:xfrm>
            <a:off x="6453150" y="1874453"/>
            <a:ext cx="839592" cy="216027"/>
          </a:xfrm>
          <a:prstGeom prst="rect">
            <a:avLst/>
          </a:prstGeom>
          <a:noFill/>
          <a:ln/>
        </p:spPr>
        <p:txBody>
          <a:bodyPr wrap="none" lIns="0" tIns="0" rIns="0" bIns="0" rtlCol="0" anchor="t"/>
          <a:lstStyle/>
          <a:p>
            <a:pPr marL="0" indent="0" algn="l">
              <a:lnSpc>
                <a:spcPts val="1733"/>
              </a:lnSpc>
              <a:buNone/>
            </a:pPr>
            <a:r>
              <a:rPr lang="en-US" sz="1238" b="1" dirty="0">
                <a:solidFill>
                  <a:srgbClr val="FFFFFF"/>
                </a:solidFill>
                <a:latin typeface="Carlito" pitchFamily="34" charset="0"/>
                <a:ea typeface="Carlito" pitchFamily="34" charset="-122"/>
                <a:cs typeface="Carlito" pitchFamily="34" charset="-120"/>
              </a:rPr>
              <a:t>Anatomy</a:t>
            </a:r>
            <a:endParaRPr lang="en-US" sz="1238" dirty="0"/>
          </a:p>
        </p:txBody>
      </p:sp>
      <p:sp>
        <p:nvSpPr>
          <p:cNvPr id="17" name="Text 15"/>
          <p:cNvSpPr/>
          <p:nvPr/>
        </p:nvSpPr>
        <p:spPr>
          <a:xfrm>
            <a:off x="6195975" y="1884387"/>
            <a:ext cx="185738" cy="185738"/>
          </a:xfrm>
          <a:prstGeom prst="rect">
            <a:avLst/>
          </a:prstGeom>
          <a:noFill/>
          <a:ln/>
        </p:spPr>
        <p:txBody>
          <a:bodyPr wrap="none" lIns="0" tIns="0" rIns="0" bIns="0" rtlCol="0" anchor="ctr"/>
          <a:lstStyle/>
          <a:p>
            <a:pPr marL="0" indent="0" algn="ctr">
              <a:buNone/>
            </a:pPr>
            <a:r>
              <a:rPr lang="en-US" sz="1828" dirty="0">
                <a:solidFill>
                  <a:srgbClr val="F97316"/>
                </a:solidFill>
                <a:latin typeface="Segoe UI Symbol" pitchFamily="34" charset="0"/>
                <a:ea typeface="Segoe UI Symbol" pitchFamily="34" charset="-122"/>
                <a:cs typeface="Segoe UI Symbol" pitchFamily="34" charset="-120"/>
              </a:rPr>
              <a:t>✦</a:t>
            </a:r>
            <a:endParaRPr lang="en-US" sz="1828" dirty="0"/>
          </a:p>
        </p:txBody>
      </p:sp>
      <p:sp>
        <p:nvSpPr>
          <p:cNvPr id="18" name="Text 16"/>
          <p:cNvSpPr/>
          <p:nvPr/>
        </p:nvSpPr>
        <p:spPr>
          <a:xfrm>
            <a:off x="6195975" y="2151608"/>
            <a:ext cx="1185863" cy="150019"/>
          </a:xfrm>
          <a:prstGeom prst="roundRect">
            <a:avLst>
              <a:gd name="adj" fmla="val 25397"/>
            </a:avLst>
          </a:prstGeom>
          <a:solidFill>
            <a:srgbClr val="FFFFFF">
              <a:alpha val="10000"/>
            </a:srgbClr>
          </a:solidFill>
          <a:ln/>
        </p:spPr>
        <p:txBody>
          <a:bodyPr wrap="square" rtlCol="0" anchor="ctr"/>
          <a:lstStyle/>
          <a:p>
            <a:pPr marL="0" indent="0">
              <a:buNone/>
            </a:pPr>
            <a:endParaRPr lang="en-US" dirty="0"/>
          </a:p>
        </p:txBody>
      </p:sp>
      <p:sp>
        <p:nvSpPr>
          <p:cNvPr id="19" name="Text 17"/>
          <p:cNvSpPr/>
          <p:nvPr/>
        </p:nvSpPr>
        <p:spPr>
          <a:xfrm>
            <a:off x="7416105" y="2151608"/>
            <a:ext cx="635794" cy="150019"/>
          </a:xfrm>
          <a:prstGeom prst="roundRect">
            <a:avLst>
              <a:gd name="adj" fmla="val 25397"/>
            </a:avLst>
          </a:prstGeom>
          <a:solidFill>
            <a:srgbClr val="FFFFFF">
              <a:alpha val="10000"/>
            </a:srgbClr>
          </a:solidFill>
          <a:ln/>
        </p:spPr>
        <p:txBody>
          <a:bodyPr wrap="square" rtlCol="0" anchor="ctr"/>
          <a:lstStyle/>
          <a:p>
            <a:pPr marL="0" indent="0">
              <a:buNone/>
            </a:pPr>
            <a:endParaRPr lang="en-US" dirty="0"/>
          </a:p>
        </p:txBody>
      </p:sp>
      <p:sp>
        <p:nvSpPr>
          <p:cNvPr id="20" name="Text 18"/>
          <p:cNvSpPr/>
          <p:nvPr/>
        </p:nvSpPr>
        <p:spPr>
          <a:xfrm>
            <a:off x="6195975" y="2151608"/>
            <a:ext cx="2133079" cy="315664"/>
          </a:xfrm>
          <a:prstGeom prst="roundRect">
            <a:avLst>
              <a:gd name="adj" fmla="val 12070"/>
            </a:avLst>
          </a:prstGeom>
          <a:solidFill>
            <a:srgbClr val="FFFFFF">
              <a:alpha val="10000"/>
            </a:srgbClr>
          </a:solidFill>
          <a:ln/>
        </p:spPr>
        <p:txBody>
          <a:bodyPr wrap="square" rtlCol="0" anchor="ctr"/>
          <a:lstStyle/>
          <a:p>
            <a:pPr marL="0" indent="0">
              <a:buNone/>
            </a:pPr>
            <a:endParaRPr lang="en-US" dirty="0"/>
          </a:p>
        </p:txBody>
      </p:sp>
      <p:sp>
        <p:nvSpPr>
          <p:cNvPr id="21" name="Text 19"/>
          <p:cNvSpPr/>
          <p:nvPr/>
        </p:nvSpPr>
        <p:spPr>
          <a:xfrm>
            <a:off x="6195975" y="2144464"/>
            <a:ext cx="2333551" cy="536692"/>
          </a:xfrm>
          <a:prstGeom prst="rect">
            <a:avLst/>
          </a:prstGeom>
          <a:noFill/>
          <a:ln/>
        </p:spPr>
        <p:txBody>
          <a:bodyPr wrap="square" lIns="0" tIns="0" rIns="0" bIns="0" rtlCol="0" anchor="t"/>
          <a:lstStyle/>
          <a:p>
            <a:pPr marL="0" indent="0" algn="l">
              <a:lnSpc>
                <a:spcPts val="1305"/>
              </a:lnSpc>
              <a:buNone/>
            </a:pPr>
            <a:r>
              <a:rPr lang="en-US" sz="800" dirty="0">
                <a:solidFill>
                  <a:srgbClr val="FBA74A"/>
                </a:solidFill>
                <a:highlight>
                  <a:srgbClr val="FFFFFF"/>
                </a:highlight>
                <a:latin typeface="Courier New" pitchFamily="34" charset="0"/>
                <a:ea typeface="Courier New" pitchFamily="34" charset="-122"/>
                <a:cs typeface="Courier New" pitchFamily="34" charset="-120"/>
              </a:rPr>
              <a:t>ansible &lt;host-pattern&gt;</a:t>
            </a:r>
            <a:r>
              <a:rPr lang="en-US" sz="900" dirty="0">
                <a:solidFill>
                  <a:srgbClr val="E2E8F0"/>
                </a:solidFill>
                <a:latin typeface="Carlito" pitchFamily="34" charset="0"/>
                <a:ea typeface="Carlito" pitchFamily="34" charset="-122"/>
                <a:cs typeface="Carlito" pitchFamily="34" charset="-120"/>
              </a:rPr>
              <a:t> </a:t>
            </a:r>
            <a:r>
              <a:rPr lang="en-US" sz="800" dirty="0">
                <a:solidFill>
                  <a:srgbClr val="FBA74A"/>
                </a:solidFill>
                <a:highlight>
                  <a:srgbClr val="FFFFFF"/>
                </a:highlight>
                <a:latin typeface="Courier New" pitchFamily="34" charset="0"/>
                <a:ea typeface="Courier New" pitchFamily="34" charset="-122"/>
                <a:cs typeface="Courier New" pitchFamily="34" charset="-120"/>
              </a:rPr>
              <a:t>-m &lt;module&gt;</a:t>
            </a:r>
            <a:r>
              <a:rPr lang="en-US" sz="900" dirty="0">
                <a:solidFill>
                  <a:srgbClr val="E2E8F0"/>
                </a:solidFill>
                <a:latin typeface="Carlito" pitchFamily="34" charset="0"/>
                <a:ea typeface="Carlito" pitchFamily="34" charset="-122"/>
                <a:cs typeface="Carlito" pitchFamily="34" charset="-120"/>
              </a:rPr>
              <a:t> </a:t>
            </a:r>
            <a:r>
              <a:rPr lang="en-US" sz="800" dirty="0">
                <a:solidFill>
                  <a:srgbClr val="FBA74A"/>
                </a:solidFill>
                <a:highlight>
                  <a:srgbClr val="FFFFFF"/>
                </a:highlight>
                <a:latin typeface="Courier New" pitchFamily="34" charset="0"/>
                <a:ea typeface="Courier New" pitchFamily="34" charset="-122"/>
                <a:cs typeface="Courier New" pitchFamily="34" charset="-120"/>
              </a:rPr>
              <a:t>-a "&lt;args&gt;"</a:t>
            </a:r>
            <a:r>
              <a:rPr lang="en-US" sz="900" dirty="0">
                <a:solidFill>
                  <a:srgbClr val="E2E8F0"/>
                </a:solidFill>
                <a:latin typeface="Carlito" pitchFamily="34" charset="0"/>
                <a:ea typeface="Carlito" pitchFamily="34" charset="-122"/>
                <a:cs typeface="Carlito" pitchFamily="34" charset="-120"/>
              </a:rPr>
              <a:t>. Reads the default inventory. Returns JSON results formatted as a table.</a:t>
            </a:r>
            <a:endParaRPr lang="en-US" sz="900" dirty="0"/>
          </a:p>
        </p:txBody>
      </p:sp>
      <p:sp>
        <p:nvSpPr>
          <p:cNvPr id="22" name="Text 20"/>
          <p:cNvSpPr/>
          <p:nvPr/>
        </p:nvSpPr>
        <p:spPr>
          <a:xfrm>
            <a:off x="457200" y="3092797"/>
            <a:ext cx="8229600" cy="392906"/>
          </a:xfrm>
          <a:prstGeom prst="roundRect">
            <a:avLst>
              <a:gd name="adj" fmla="val 19394"/>
            </a:avLst>
          </a:prstGeom>
          <a:solidFill>
            <a:srgbClr val="FFF7ED"/>
          </a:solidFill>
          <a:ln/>
        </p:spPr>
        <p:txBody>
          <a:bodyPr wrap="square" rtlCol="0" anchor="ctr"/>
          <a:lstStyle/>
          <a:p>
            <a:pPr marL="0" indent="0">
              <a:buNone/>
            </a:pPr>
            <a:endParaRPr lang="en-US" dirty="0"/>
          </a:p>
        </p:txBody>
      </p:sp>
      <p:sp>
        <p:nvSpPr>
          <p:cNvPr id="23" name="Shape 21"/>
          <p:cNvSpPr/>
          <p:nvPr/>
        </p:nvSpPr>
        <p:spPr>
          <a:xfrm>
            <a:off x="478631" y="3092797"/>
            <a:ext cx="0" cy="392906"/>
          </a:xfrm>
          <a:prstGeom prst="line">
            <a:avLst/>
          </a:prstGeom>
          <a:noFill/>
          <a:ln w="42863">
            <a:solidFill>
              <a:srgbClr val="F97316"/>
            </a:solidFill>
            <a:prstDash val="solid"/>
          </a:ln>
        </p:spPr>
      </p:sp>
      <p:sp>
        <p:nvSpPr>
          <p:cNvPr id="24" name="Text 22"/>
          <p:cNvSpPr/>
          <p:nvPr/>
        </p:nvSpPr>
        <p:spPr>
          <a:xfrm>
            <a:off x="457200" y="3092797"/>
            <a:ext cx="8229600" cy="424339"/>
          </a:xfrm>
          <a:prstGeom prst="rect">
            <a:avLst/>
          </a:prstGeom>
          <a:noFill/>
          <a:ln/>
        </p:spPr>
        <p:txBody>
          <a:bodyPr wrap="square" lIns="157163" tIns="100013" rIns="157163" bIns="100013" rtlCol="0" anchor="t"/>
          <a:lstStyle/>
          <a:p>
            <a:pPr marL="0" indent="0" algn="l">
              <a:lnSpc>
                <a:spcPts val="1418"/>
              </a:lnSpc>
              <a:buNone/>
            </a:pPr>
            <a:r>
              <a:rPr lang="en-US" sz="1013" dirty="0">
                <a:solidFill>
                  <a:srgbClr val="F97316"/>
                </a:solidFill>
                <a:latin typeface="Segoe UI Symbol" pitchFamily="34" charset="0"/>
                <a:ea typeface="Segoe UI Symbol" pitchFamily="34" charset="-122"/>
                <a:cs typeface="Segoe UI Symbol" pitchFamily="34" charset="-120"/>
              </a:rPr>
              <a:t>➤</a:t>
            </a:r>
            <a:r>
              <a:rPr lang="en-US" sz="1013" dirty="0">
                <a:solidFill>
                  <a:srgbClr val="0F172A"/>
                </a:solidFill>
                <a:latin typeface="Carlito" pitchFamily="34" charset="0"/>
                <a:ea typeface="Carlito" pitchFamily="34" charset="-122"/>
                <a:cs typeface="Carlito" pitchFamily="34" charset="-120"/>
              </a:rPr>
              <a:t> Ad-hoc commands are the </a:t>
            </a:r>
            <a:r>
              <a:rPr lang="en-US" sz="1013" dirty="0">
                <a:solidFill>
                  <a:srgbClr val="F97316"/>
                </a:solidFill>
                <a:latin typeface="Carlito" pitchFamily="34" charset="0"/>
                <a:ea typeface="Carlito" pitchFamily="34" charset="-122"/>
                <a:cs typeface="Carlito" pitchFamily="34" charset="-120"/>
              </a:rPr>
              <a:t>gateway drug</a:t>
            </a:r>
            <a:r>
              <a:rPr lang="en-US" sz="1013" dirty="0">
                <a:solidFill>
                  <a:srgbClr val="0F172A"/>
                </a:solidFill>
                <a:latin typeface="Carlito" pitchFamily="34" charset="0"/>
                <a:ea typeface="Carlito" pitchFamily="34" charset="-122"/>
                <a:cs typeface="Carlito" pitchFamily="34" charset="-120"/>
              </a:rPr>
              <a:t> to Ansible. Use them to learn, then graduate to playbooks.</a:t>
            </a:r>
            <a:endParaRPr lang="en-US" sz="1013"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00050" y="285750"/>
            <a:ext cx="4813715" cy="322473"/>
          </a:xfrm>
          <a:prstGeom prst="rect">
            <a:avLst/>
          </a:prstGeom>
          <a:noFill/>
          <a:ln/>
        </p:spPr>
        <p:txBody>
          <a:bodyPr wrap="square" lIns="0" tIns="0" rIns="0" bIns="0" rtlCol="0" anchor="t"/>
          <a:lstStyle/>
          <a:p>
            <a:pPr marL="0" indent="0" algn="l">
              <a:lnSpc>
                <a:spcPts val="2351"/>
              </a:lnSpc>
              <a:buNone/>
            </a:pPr>
            <a:r>
              <a:rPr lang="en-US" sz="2138" b="1" dirty="0">
                <a:solidFill>
                  <a:srgbClr val="0F172A"/>
                </a:solidFill>
                <a:latin typeface="Carlito" pitchFamily="34" charset="0"/>
                <a:ea typeface="Carlito" pitchFamily="34" charset="-122"/>
                <a:cs typeface="Carlito" pitchFamily="34" charset="-120"/>
              </a:rPr>
              <a:t>Code Example — Ad-Hoc Commands</a:t>
            </a:r>
            <a:endParaRPr lang="en-US" sz="2138" dirty="0"/>
          </a:p>
        </p:txBody>
      </p:sp>
      <p:sp>
        <p:nvSpPr>
          <p:cNvPr id="3" name="Text 1"/>
          <p:cNvSpPr/>
          <p:nvPr/>
        </p:nvSpPr>
        <p:spPr>
          <a:xfrm>
            <a:off x="400050" y="655774"/>
            <a:ext cx="571500" cy="42863"/>
          </a:xfrm>
          <a:prstGeom prst="roundRect">
            <a:avLst>
              <a:gd name="adj" fmla="val 66666"/>
            </a:avLst>
          </a:prstGeom>
          <a:solidFill>
            <a:srgbClr val="F97316"/>
          </a:solidFill>
          <a:ln/>
        </p:spPr>
        <p:txBody>
          <a:bodyPr wrap="square" rtlCol="0" anchor="ctr"/>
          <a:lstStyle/>
          <a:p>
            <a:pPr marL="0" indent="0">
              <a:buNone/>
            </a:pPr>
            <a:endParaRPr lang="en-US" dirty="0"/>
          </a:p>
        </p:txBody>
      </p:sp>
      <p:sp>
        <p:nvSpPr>
          <p:cNvPr id="4" name="Text 2"/>
          <p:cNvSpPr/>
          <p:nvPr/>
        </p:nvSpPr>
        <p:spPr>
          <a:xfrm>
            <a:off x="400050" y="741499"/>
            <a:ext cx="4726193" cy="194328"/>
          </a:xfrm>
          <a:prstGeom prst="rect">
            <a:avLst/>
          </a:prstGeom>
          <a:noFill/>
          <a:ln/>
        </p:spPr>
        <p:txBody>
          <a:bodyPr wrap="square" lIns="0" tIns="0" rIns="0" bIns="0" rtlCol="0" anchor="t"/>
          <a:lstStyle/>
          <a:p>
            <a:pPr marL="0" indent="0" algn="l">
              <a:lnSpc>
                <a:spcPts val="1418"/>
              </a:lnSpc>
              <a:buNone/>
            </a:pPr>
            <a:r>
              <a:rPr lang="en-US" sz="1013" dirty="0">
                <a:solidFill>
                  <a:srgbClr val="64748B"/>
                </a:solidFill>
                <a:latin typeface="Carlito" pitchFamily="34" charset="0"/>
                <a:ea typeface="Carlito" pitchFamily="34" charset="-122"/>
                <a:cs typeface="Carlito" pitchFamily="34" charset="-120"/>
              </a:rPr>
              <a:t>Five common ad-hoc operations.</a:t>
            </a:r>
            <a:endParaRPr lang="en-US" sz="1013" dirty="0"/>
          </a:p>
        </p:txBody>
      </p:sp>
      <p:sp>
        <p:nvSpPr>
          <p:cNvPr id="5" name="Text 3"/>
          <p:cNvSpPr/>
          <p:nvPr/>
        </p:nvSpPr>
        <p:spPr>
          <a:xfrm>
            <a:off x="7890629" y="272948"/>
            <a:ext cx="876181" cy="331333"/>
          </a:xfrm>
          <a:prstGeom prst="roundRect">
            <a:avLst>
              <a:gd name="adj" fmla="val 2871877"/>
            </a:avLst>
          </a:prstGeom>
          <a:solidFill>
            <a:srgbClr val="FED7AA"/>
          </a:solidFill>
          <a:ln/>
        </p:spPr>
        <p:txBody>
          <a:bodyPr wrap="square" rtlCol="0" anchor="ctr"/>
          <a:lstStyle/>
          <a:p>
            <a:pPr marL="0" indent="0">
              <a:buNone/>
            </a:pPr>
            <a:endParaRPr lang="en-US" dirty="0"/>
          </a:p>
        </p:txBody>
      </p:sp>
      <p:sp>
        <p:nvSpPr>
          <p:cNvPr id="6" name="Text 4"/>
          <p:cNvSpPr/>
          <p:nvPr/>
        </p:nvSpPr>
        <p:spPr>
          <a:xfrm>
            <a:off x="7913489" y="285750"/>
            <a:ext cx="830461" cy="330189"/>
          </a:xfrm>
          <a:prstGeom prst="rect">
            <a:avLst/>
          </a:prstGeom>
          <a:noFill/>
          <a:ln/>
        </p:spPr>
        <p:txBody>
          <a:bodyPr wrap="none" lIns="0" tIns="0" rIns="0" bIns="0" rtlCol="0" anchor="t"/>
          <a:lstStyle/>
          <a:p>
            <a:pPr marL="0" indent="0" algn="l">
              <a:lnSpc>
                <a:spcPts val="1733"/>
              </a:lnSpc>
              <a:buNone/>
            </a:pPr>
            <a:r>
              <a:rPr lang="en-US" sz="1238" b="1" kern="0" spc="28" dirty="0">
                <a:solidFill>
                  <a:srgbClr val="C2410C"/>
                </a:solidFill>
                <a:latin typeface="Segoe UI Symbol" pitchFamily="34" charset="0"/>
                <a:ea typeface="Segoe UI Symbol" pitchFamily="34" charset="-122"/>
                <a:cs typeface="Segoe UI Symbol" pitchFamily="34" charset="-120"/>
              </a:rPr>
              <a:t>✦</a:t>
            </a:r>
            <a:r>
              <a:rPr lang="en-US" sz="1238" b="1" kern="0" spc="28" dirty="0">
                <a:solidFill>
                  <a:srgbClr val="C2410C"/>
                </a:solidFill>
                <a:latin typeface="Carlito" pitchFamily="34" charset="0"/>
                <a:ea typeface="Carlito" pitchFamily="34" charset="-122"/>
                <a:cs typeface="Carlito" pitchFamily="34" charset="-120"/>
              </a:rPr>
              <a:t> BASH</a:t>
            </a:r>
            <a:endParaRPr lang="en-US" sz="1238" dirty="0"/>
          </a:p>
        </p:txBody>
      </p:sp>
      <p:sp>
        <p:nvSpPr>
          <p:cNvPr id="7" name="Text 5"/>
          <p:cNvSpPr/>
          <p:nvPr/>
        </p:nvSpPr>
        <p:spPr>
          <a:xfrm>
            <a:off x="557213" y="1150032"/>
            <a:ext cx="2360867" cy="154734"/>
          </a:xfrm>
          <a:prstGeom prst="rect">
            <a:avLst/>
          </a:prstGeom>
          <a:noFill/>
          <a:ln/>
        </p:spPr>
        <p:txBody>
          <a:bodyPr wrap="none" lIns="0" tIns="0" rIns="0" bIns="0" rtlCol="0" anchor="t">
            <a:normAutofit fontScale="62500" lnSpcReduction="20000"/>
          </a:bodyPr>
          <a:lstStyle/>
          <a:p>
            <a:pPr marL="0" indent="0" algn="l">
              <a:lnSpc>
                <a:spcPts val="1434"/>
              </a:lnSpc>
              <a:buNone/>
            </a:pPr>
            <a:r>
              <a:rPr lang="en-US" sz="956" i="1" dirty="0">
                <a:solidFill>
                  <a:srgbClr val="94A3B8"/>
                </a:solidFill>
                <a:latin typeface="Liberation Sans Narrow" pitchFamily="34" charset="0"/>
                <a:ea typeface="Liberation Sans Narrow" pitchFamily="34" charset="-122"/>
                <a:cs typeface="Liberation Sans Narrow" pitchFamily="34" charset="-120"/>
              </a:rPr>
              <a:t># 1. Ping all hosts in the inventory</a:t>
            </a:r>
            <a:endParaRPr lang="en-US" sz="956" dirty="0"/>
          </a:p>
        </p:txBody>
      </p:sp>
      <p:sp>
        <p:nvSpPr>
          <p:cNvPr id="8" name="Text 6"/>
          <p:cNvSpPr/>
          <p:nvPr/>
        </p:nvSpPr>
        <p:spPr>
          <a:xfrm>
            <a:off x="1042988" y="1332198"/>
            <a:ext cx="291465" cy="162020"/>
          </a:xfrm>
          <a:prstGeom prst="rect">
            <a:avLst/>
          </a:prstGeom>
          <a:noFill/>
          <a:ln/>
        </p:spPr>
        <p:txBody>
          <a:bodyPr wrap="none" lIns="0" tIns="0" rIns="0" bIns="0" rtlCol="0" anchor="t"/>
          <a:lstStyle/>
          <a:p>
            <a:pPr marL="0" indent="0" algn="l">
              <a:lnSpc>
                <a:spcPts val="1434"/>
              </a:lnSpc>
              <a:buNone/>
            </a:pPr>
            <a:r>
              <a:rPr lang="en-US" sz="956" dirty="0">
                <a:solidFill>
                  <a:srgbClr val="FBA74A"/>
                </a:solidFill>
                <a:latin typeface="Courier New" pitchFamily="34" charset="0"/>
                <a:ea typeface="Courier New" pitchFamily="34" charset="-122"/>
                <a:cs typeface="Courier New" pitchFamily="34" charset="-120"/>
              </a:rPr>
              <a:t>all</a:t>
            </a:r>
            <a:endParaRPr lang="en-US" sz="956" dirty="0"/>
          </a:p>
        </p:txBody>
      </p:sp>
      <p:sp>
        <p:nvSpPr>
          <p:cNvPr id="9" name="Text 7"/>
          <p:cNvSpPr/>
          <p:nvPr/>
        </p:nvSpPr>
        <p:spPr>
          <a:xfrm>
            <a:off x="1468041" y="1332198"/>
            <a:ext cx="388620" cy="162020"/>
          </a:xfrm>
          <a:prstGeom prst="rect">
            <a:avLst/>
          </a:prstGeom>
          <a:noFill/>
          <a:ln/>
        </p:spPr>
        <p:txBody>
          <a:bodyPr wrap="none" lIns="0" tIns="0" rIns="0" bIns="0" rtlCol="0" anchor="t"/>
          <a:lstStyle/>
          <a:p>
            <a:pPr marL="0" indent="0" algn="l">
              <a:lnSpc>
                <a:spcPts val="1434"/>
              </a:lnSpc>
              <a:buNone/>
            </a:pPr>
            <a:r>
              <a:rPr lang="en-US" sz="956" dirty="0">
                <a:solidFill>
                  <a:srgbClr val="86EFAC"/>
                </a:solidFill>
                <a:latin typeface="Courier New" pitchFamily="34" charset="0"/>
                <a:ea typeface="Courier New" pitchFamily="34" charset="-122"/>
                <a:cs typeface="Courier New" pitchFamily="34" charset="-120"/>
              </a:rPr>
              <a:t>ping</a:t>
            </a:r>
            <a:endParaRPr lang="en-US" sz="956" dirty="0"/>
          </a:p>
        </p:txBody>
      </p:sp>
      <p:sp>
        <p:nvSpPr>
          <p:cNvPr id="10" name="Text 8"/>
          <p:cNvSpPr/>
          <p:nvPr/>
        </p:nvSpPr>
        <p:spPr>
          <a:xfrm>
            <a:off x="557213" y="1696529"/>
            <a:ext cx="3764756" cy="154734"/>
          </a:xfrm>
          <a:prstGeom prst="rect">
            <a:avLst/>
          </a:prstGeom>
          <a:noFill/>
          <a:ln/>
        </p:spPr>
        <p:txBody>
          <a:bodyPr wrap="none" lIns="0" tIns="0" rIns="0" bIns="0" rtlCol="0" anchor="t">
            <a:normAutofit fontScale="55000" lnSpcReduction="20000"/>
          </a:bodyPr>
          <a:lstStyle/>
          <a:p>
            <a:pPr marL="0" indent="0" algn="l">
              <a:lnSpc>
                <a:spcPts val="1434"/>
              </a:lnSpc>
              <a:buNone/>
            </a:pPr>
            <a:r>
              <a:rPr lang="en-US" sz="956" i="1" dirty="0">
                <a:solidFill>
                  <a:srgbClr val="94A3B8"/>
                </a:solidFill>
                <a:latin typeface="Courier New" pitchFamily="34" charset="0"/>
                <a:ea typeface="Courier New" pitchFamily="34" charset="-122"/>
                <a:cs typeface="Courier New" pitchFamily="34" charset="-120"/>
              </a:rPr>
              <a:t># 2. Gather facts from every webserver (OS, IP, memory, disks)</a:t>
            </a:r>
            <a:endParaRPr lang="en-US" sz="956" dirty="0"/>
          </a:p>
        </p:txBody>
      </p:sp>
      <p:sp>
        <p:nvSpPr>
          <p:cNvPr id="11" name="Text 9"/>
          <p:cNvSpPr/>
          <p:nvPr/>
        </p:nvSpPr>
        <p:spPr>
          <a:xfrm>
            <a:off x="1028657" y="1878695"/>
            <a:ext cx="787684" cy="162020"/>
          </a:xfrm>
          <a:prstGeom prst="rect">
            <a:avLst/>
          </a:prstGeom>
          <a:noFill/>
          <a:ln/>
        </p:spPr>
        <p:txBody>
          <a:bodyPr wrap="none" lIns="0" tIns="0" rIns="0" bIns="0" rtlCol="0" anchor="t"/>
          <a:lstStyle/>
          <a:p>
            <a:pPr marL="0" indent="0" algn="l">
              <a:lnSpc>
                <a:spcPts val="1434"/>
              </a:lnSpc>
              <a:buNone/>
            </a:pPr>
            <a:r>
              <a:rPr lang="en-US" sz="956" dirty="0">
                <a:solidFill>
                  <a:srgbClr val="FBA74A"/>
                </a:solidFill>
                <a:latin typeface="Courier New" pitchFamily="34" charset="0"/>
                <a:ea typeface="Courier New" pitchFamily="34" charset="-122"/>
                <a:cs typeface="Courier New" pitchFamily="34" charset="-120"/>
              </a:rPr>
              <a:t>webservers</a:t>
            </a:r>
            <a:endParaRPr lang="en-US" sz="956" dirty="0"/>
          </a:p>
        </p:txBody>
      </p:sp>
      <p:sp>
        <p:nvSpPr>
          <p:cNvPr id="12" name="Text 10"/>
          <p:cNvSpPr/>
          <p:nvPr/>
        </p:nvSpPr>
        <p:spPr>
          <a:xfrm>
            <a:off x="1893094" y="1878695"/>
            <a:ext cx="485775" cy="162020"/>
          </a:xfrm>
          <a:prstGeom prst="rect">
            <a:avLst/>
          </a:prstGeom>
          <a:noFill/>
          <a:ln/>
        </p:spPr>
        <p:txBody>
          <a:bodyPr wrap="none" lIns="0" tIns="0" rIns="0" bIns="0" rtlCol="0" anchor="t"/>
          <a:lstStyle/>
          <a:p>
            <a:pPr marL="0" indent="0" algn="l">
              <a:lnSpc>
                <a:spcPts val="1434"/>
              </a:lnSpc>
              <a:buNone/>
            </a:pPr>
            <a:r>
              <a:rPr lang="en-US" sz="956" dirty="0">
                <a:solidFill>
                  <a:srgbClr val="86EFAC"/>
                </a:solidFill>
                <a:latin typeface="Courier New" pitchFamily="34" charset="0"/>
                <a:ea typeface="Courier New" pitchFamily="34" charset="-122"/>
                <a:cs typeface="Courier New" pitchFamily="34" charset="-120"/>
              </a:rPr>
              <a:t>setup</a:t>
            </a:r>
            <a:endParaRPr lang="en-US" sz="956" dirty="0"/>
          </a:p>
        </p:txBody>
      </p:sp>
      <p:sp>
        <p:nvSpPr>
          <p:cNvPr id="13" name="Text 11"/>
          <p:cNvSpPr/>
          <p:nvPr/>
        </p:nvSpPr>
        <p:spPr>
          <a:xfrm>
            <a:off x="557213" y="2243026"/>
            <a:ext cx="2951083" cy="154734"/>
          </a:xfrm>
          <a:prstGeom prst="rect">
            <a:avLst/>
          </a:prstGeom>
          <a:noFill/>
          <a:ln/>
        </p:spPr>
        <p:txBody>
          <a:bodyPr wrap="none" lIns="0" tIns="0" rIns="0" bIns="0" rtlCol="0" anchor="t">
            <a:normAutofit fontScale="55000" lnSpcReduction="20000"/>
          </a:bodyPr>
          <a:lstStyle/>
          <a:p>
            <a:pPr marL="0" indent="0" algn="l">
              <a:lnSpc>
                <a:spcPts val="1434"/>
              </a:lnSpc>
              <a:buNone/>
            </a:pPr>
            <a:r>
              <a:rPr lang="en-US" sz="956" i="1" dirty="0">
                <a:solidFill>
                  <a:srgbClr val="94A3B8"/>
                </a:solidFill>
                <a:latin typeface="Courier New" pitchFamily="34" charset="0"/>
                <a:ea typeface="Courier New" pitchFamily="34" charset="-122"/>
                <a:cs typeface="Courier New" pitchFamily="34" charset="-120"/>
              </a:rPr>
              <a:t># 3. Check disk usage on all production hosts</a:t>
            </a:r>
            <a:endParaRPr lang="en-US" sz="956" dirty="0"/>
          </a:p>
        </p:txBody>
      </p:sp>
      <p:sp>
        <p:nvSpPr>
          <p:cNvPr id="14" name="Text 12"/>
          <p:cNvSpPr/>
          <p:nvPr/>
        </p:nvSpPr>
        <p:spPr>
          <a:xfrm>
            <a:off x="1028657" y="2425192"/>
            <a:ext cx="787684" cy="162020"/>
          </a:xfrm>
          <a:prstGeom prst="rect">
            <a:avLst/>
          </a:prstGeom>
          <a:noFill/>
          <a:ln/>
        </p:spPr>
        <p:txBody>
          <a:bodyPr wrap="none" lIns="0" tIns="0" rIns="0" bIns="0" rtlCol="0" anchor="t"/>
          <a:lstStyle/>
          <a:p>
            <a:pPr marL="0" indent="0" algn="l">
              <a:lnSpc>
                <a:spcPts val="1434"/>
              </a:lnSpc>
              <a:buNone/>
            </a:pPr>
            <a:r>
              <a:rPr lang="en-US" sz="956" dirty="0">
                <a:solidFill>
                  <a:srgbClr val="FBA74A"/>
                </a:solidFill>
                <a:latin typeface="Courier New" pitchFamily="34" charset="0"/>
                <a:ea typeface="Courier New" pitchFamily="34" charset="-122"/>
                <a:cs typeface="Courier New" pitchFamily="34" charset="-120"/>
              </a:rPr>
              <a:t>production</a:t>
            </a:r>
            <a:endParaRPr lang="en-US" sz="956" dirty="0"/>
          </a:p>
        </p:txBody>
      </p:sp>
      <p:sp>
        <p:nvSpPr>
          <p:cNvPr id="15" name="Text 13"/>
          <p:cNvSpPr/>
          <p:nvPr/>
        </p:nvSpPr>
        <p:spPr>
          <a:xfrm>
            <a:off x="1893094" y="2425192"/>
            <a:ext cx="607826" cy="162020"/>
          </a:xfrm>
          <a:prstGeom prst="rect">
            <a:avLst/>
          </a:prstGeom>
          <a:noFill/>
          <a:ln/>
        </p:spPr>
        <p:txBody>
          <a:bodyPr wrap="none" lIns="0" tIns="0" rIns="0" bIns="0" rtlCol="0" anchor="t"/>
          <a:lstStyle/>
          <a:p>
            <a:pPr marL="0" indent="0" algn="l">
              <a:lnSpc>
                <a:spcPts val="1434"/>
              </a:lnSpc>
              <a:buNone/>
            </a:pPr>
            <a:r>
              <a:rPr lang="en-US" sz="956" dirty="0">
                <a:solidFill>
                  <a:srgbClr val="86EFAC"/>
                </a:solidFill>
                <a:latin typeface="Courier New" pitchFamily="34" charset="0"/>
                <a:ea typeface="Courier New" pitchFamily="34" charset="-122"/>
                <a:cs typeface="Courier New" pitchFamily="34" charset="-120"/>
              </a:rPr>
              <a:t>command</a:t>
            </a:r>
            <a:endParaRPr lang="en-US" sz="956" dirty="0"/>
          </a:p>
        </p:txBody>
      </p:sp>
      <p:sp>
        <p:nvSpPr>
          <p:cNvPr id="16" name="Text 14"/>
          <p:cNvSpPr/>
          <p:nvPr/>
        </p:nvSpPr>
        <p:spPr>
          <a:xfrm>
            <a:off x="2561034" y="2425192"/>
            <a:ext cx="607826" cy="162020"/>
          </a:xfrm>
          <a:prstGeom prst="rect">
            <a:avLst/>
          </a:prstGeom>
          <a:noFill/>
          <a:ln/>
        </p:spPr>
        <p:txBody>
          <a:bodyPr wrap="none" lIns="0" tIns="0" rIns="0" bIns="0" rtlCol="0" anchor="t"/>
          <a:lstStyle/>
          <a:p>
            <a:pPr marL="0" indent="0" algn="l">
              <a:lnSpc>
                <a:spcPts val="1434"/>
              </a:lnSpc>
              <a:buNone/>
            </a:pPr>
            <a:r>
              <a:rPr lang="en-US" sz="956" dirty="0">
                <a:solidFill>
                  <a:srgbClr val="86EFAC"/>
                </a:solidFill>
                <a:latin typeface="Courier New" pitchFamily="34" charset="0"/>
                <a:ea typeface="Courier New" pitchFamily="34" charset="-122"/>
                <a:cs typeface="Courier New" pitchFamily="34" charset="-120"/>
              </a:rPr>
              <a:t>"df -h"</a:t>
            </a:r>
            <a:endParaRPr lang="en-US" sz="956" dirty="0"/>
          </a:p>
        </p:txBody>
      </p:sp>
      <p:sp>
        <p:nvSpPr>
          <p:cNvPr id="17" name="Text 15"/>
          <p:cNvSpPr/>
          <p:nvPr/>
        </p:nvSpPr>
        <p:spPr>
          <a:xfrm>
            <a:off x="557213" y="2789523"/>
            <a:ext cx="2360867" cy="154734"/>
          </a:xfrm>
          <a:prstGeom prst="rect">
            <a:avLst/>
          </a:prstGeom>
          <a:noFill/>
          <a:ln/>
        </p:spPr>
        <p:txBody>
          <a:bodyPr wrap="none" lIns="0" tIns="0" rIns="0" bIns="0" rtlCol="0" anchor="t">
            <a:normAutofit fontScale="62500" lnSpcReduction="20000"/>
          </a:bodyPr>
          <a:lstStyle/>
          <a:p>
            <a:pPr marL="0" indent="0" algn="l">
              <a:lnSpc>
                <a:spcPts val="1434"/>
              </a:lnSpc>
              <a:buNone/>
            </a:pPr>
            <a:r>
              <a:rPr lang="en-US" sz="956" i="1" dirty="0">
                <a:solidFill>
                  <a:srgbClr val="94A3B8"/>
                </a:solidFill>
                <a:latin typeface="Liberation Sans Narrow" pitchFamily="34" charset="0"/>
                <a:ea typeface="Liberation Sans Narrow" pitchFamily="34" charset="-122"/>
                <a:cs typeface="Liberation Sans Narrow" pitchFamily="34" charset="-120"/>
              </a:rPr>
              <a:t># 4. Reboot the web tier (with sudo)</a:t>
            </a:r>
            <a:endParaRPr lang="en-US" sz="956" dirty="0"/>
          </a:p>
        </p:txBody>
      </p:sp>
      <p:sp>
        <p:nvSpPr>
          <p:cNvPr id="18" name="Text 16"/>
          <p:cNvSpPr/>
          <p:nvPr/>
        </p:nvSpPr>
        <p:spPr>
          <a:xfrm>
            <a:off x="1028657" y="2971688"/>
            <a:ext cx="787684" cy="162020"/>
          </a:xfrm>
          <a:prstGeom prst="rect">
            <a:avLst/>
          </a:prstGeom>
          <a:noFill/>
          <a:ln/>
        </p:spPr>
        <p:txBody>
          <a:bodyPr wrap="none" lIns="0" tIns="0" rIns="0" bIns="0" rtlCol="0" anchor="t"/>
          <a:lstStyle/>
          <a:p>
            <a:pPr marL="0" indent="0" algn="l">
              <a:lnSpc>
                <a:spcPts val="1434"/>
              </a:lnSpc>
              <a:buNone/>
            </a:pPr>
            <a:r>
              <a:rPr lang="en-US" sz="956" dirty="0">
                <a:solidFill>
                  <a:srgbClr val="FBA74A"/>
                </a:solidFill>
                <a:latin typeface="Courier New" pitchFamily="34" charset="0"/>
                <a:ea typeface="Courier New" pitchFamily="34" charset="-122"/>
                <a:cs typeface="Courier New" pitchFamily="34" charset="-120"/>
              </a:rPr>
              <a:t>webservers</a:t>
            </a:r>
            <a:endParaRPr lang="en-US" sz="956" dirty="0"/>
          </a:p>
        </p:txBody>
      </p:sp>
      <p:sp>
        <p:nvSpPr>
          <p:cNvPr id="19" name="Text 17"/>
          <p:cNvSpPr/>
          <p:nvPr/>
        </p:nvSpPr>
        <p:spPr>
          <a:xfrm>
            <a:off x="1893094" y="2971688"/>
            <a:ext cx="520994" cy="162020"/>
          </a:xfrm>
          <a:prstGeom prst="rect">
            <a:avLst/>
          </a:prstGeom>
          <a:noFill/>
          <a:ln/>
        </p:spPr>
        <p:txBody>
          <a:bodyPr wrap="none" lIns="0" tIns="0" rIns="0" bIns="0" rtlCol="0" anchor="t"/>
          <a:lstStyle/>
          <a:p>
            <a:pPr marL="0" indent="0" algn="l">
              <a:lnSpc>
                <a:spcPts val="1434"/>
              </a:lnSpc>
              <a:buNone/>
            </a:pPr>
            <a:r>
              <a:rPr lang="en-US" sz="956" dirty="0">
                <a:solidFill>
                  <a:srgbClr val="86EFAC"/>
                </a:solidFill>
                <a:latin typeface="Courier New" pitchFamily="34" charset="0"/>
                <a:ea typeface="Courier New" pitchFamily="34" charset="-122"/>
                <a:cs typeface="Courier New" pitchFamily="34" charset="-120"/>
              </a:rPr>
              <a:t>reboot</a:t>
            </a:r>
            <a:endParaRPr lang="en-US" sz="956" dirty="0"/>
          </a:p>
        </p:txBody>
      </p:sp>
      <p:sp>
        <p:nvSpPr>
          <p:cNvPr id="20" name="Text 18"/>
          <p:cNvSpPr/>
          <p:nvPr/>
        </p:nvSpPr>
        <p:spPr>
          <a:xfrm>
            <a:off x="557213" y="3336020"/>
            <a:ext cx="3082242" cy="154734"/>
          </a:xfrm>
          <a:prstGeom prst="rect">
            <a:avLst/>
          </a:prstGeom>
          <a:noFill/>
          <a:ln/>
        </p:spPr>
        <p:txBody>
          <a:bodyPr wrap="none" lIns="0" tIns="0" rIns="0" bIns="0" rtlCol="0" anchor="t">
            <a:normAutofit fontScale="55000" lnSpcReduction="20000"/>
          </a:bodyPr>
          <a:lstStyle/>
          <a:p>
            <a:pPr marL="0" indent="0" algn="l">
              <a:lnSpc>
                <a:spcPts val="1434"/>
              </a:lnSpc>
              <a:buNone/>
            </a:pPr>
            <a:r>
              <a:rPr lang="en-US" sz="956" i="1" dirty="0">
                <a:solidFill>
                  <a:srgbClr val="94A3B8"/>
                </a:solidFill>
                <a:latin typeface="Courier New" pitchFamily="34" charset="0"/>
                <a:ea typeface="Courier New" pitchFamily="34" charset="-122"/>
                <a:cs typeface="Courier New" pitchFamily="34" charset="-120"/>
              </a:rPr>
              <a:t># 5. Install nginx on the web tier (apt module)</a:t>
            </a:r>
            <a:endParaRPr lang="en-US" sz="956" dirty="0"/>
          </a:p>
        </p:txBody>
      </p:sp>
      <p:sp>
        <p:nvSpPr>
          <p:cNvPr id="21" name="Text 19"/>
          <p:cNvSpPr/>
          <p:nvPr/>
        </p:nvSpPr>
        <p:spPr>
          <a:xfrm>
            <a:off x="1028657" y="3518185"/>
            <a:ext cx="787684" cy="162020"/>
          </a:xfrm>
          <a:prstGeom prst="rect">
            <a:avLst/>
          </a:prstGeom>
          <a:noFill/>
          <a:ln/>
        </p:spPr>
        <p:txBody>
          <a:bodyPr wrap="none" lIns="0" tIns="0" rIns="0" bIns="0" rtlCol="0" anchor="t"/>
          <a:lstStyle/>
          <a:p>
            <a:pPr marL="0" indent="0" algn="l">
              <a:lnSpc>
                <a:spcPts val="1434"/>
              </a:lnSpc>
              <a:buNone/>
            </a:pPr>
            <a:r>
              <a:rPr lang="en-US" sz="956" dirty="0">
                <a:solidFill>
                  <a:srgbClr val="FBA74A"/>
                </a:solidFill>
                <a:latin typeface="Courier New" pitchFamily="34" charset="0"/>
                <a:ea typeface="Courier New" pitchFamily="34" charset="-122"/>
                <a:cs typeface="Courier New" pitchFamily="34" charset="-120"/>
              </a:rPr>
              <a:t>webservers</a:t>
            </a:r>
            <a:endParaRPr lang="en-US" sz="956" dirty="0"/>
          </a:p>
        </p:txBody>
      </p:sp>
      <p:sp>
        <p:nvSpPr>
          <p:cNvPr id="22" name="Text 20"/>
          <p:cNvSpPr/>
          <p:nvPr/>
        </p:nvSpPr>
        <p:spPr>
          <a:xfrm>
            <a:off x="1893094" y="3518185"/>
            <a:ext cx="291465" cy="162020"/>
          </a:xfrm>
          <a:prstGeom prst="rect">
            <a:avLst/>
          </a:prstGeom>
          <a:noFill/>
          <a:ln/>
        </p:spPr>
        <p:txBody>
          <a:bodyPr wrap="none" lIns="0" tIns="0" rIns="0" bIns="0" rtlCol="0" anchor="t"/>
          <a:lstStyle/>
          <a:p>
            <a:pPr marL="0" indent="0" algn="l">
              <a:lnSpc>
                <a:spcPts val="1434"/>
              </a:lnSpc>
              <a:buNone/>
            </a:pPr>
            <a:r>
              <a:rPr lang="en-US" sz="956" dirty="0">
                <a:solidFill>
                  <a:srgbClr val="86EFAC"/>
                </a:solidFill>
                <a:latin typeface="Courier New" pitchFamily="34" charset="0"/>
                <a:ea typeface="Courier New" pitchFamily="34" charset="-122"/>
                <a:cs typeface="Courier New" pitchFamily="34" charset="-120"/>
              </a:rPr>
              <a:t>apt</a:t>
            </a:r>
            <a:endParaRPr lang="en-US" sz="956" dirty="0"/>
          </a:p>
        </p:txBody>
      </p:sp>
      <p:sp>
        <p:nvSpPr>
          <p:cNvPr id="23" name="Text 21"/>
          <p:cNvSpPr/>
          <p:nvPr/>
        </p:nvSpPr>
        <p:spPr>
          <a:xfrm>
            <a:off x="2318147" y="3518185"/>
            <a:ext cx="2819924" cy="162020"/>
          </a:xfrm>
          <a:prstGeom prst="rect">
            <a:avLst/>
          </a:prstGeom>
          <a:noFill/>
          <a:ln/>
        </p:spPr>
        <p:txBody>
          <a:bodyPr wrap="none" lIns="0" tIns="0" rIns="0" bIns="0" rtlCol="0" anchor="t"/>
          <a:lstStyle/>
          <a:p>
            <a:pPr marL="0" indent="0" algn="l">
              <a:lnSpc>
                <a:spcPts val="1434"/>
              </a:lnSpc>
              <a:buNone/>
            </a:pPr>
            <a:r>
              <a:rPr lang="en-US" sz="956" dirty="0">
                <a:solidFill>
                  <a:srgbClr val="86EFAC"/>
                </a:solidFill>
                <a:latin typeface="Courier New" pitchFamily="34" charset="0"/>
                <a:ea typeface="Courier New" pitchFamily="34" charset="-122"/>
                <a:cs typeface="Courier New" pitchFamily="34" charset="-120"/>
              </a:rPr>
              <a:t>"name=nginx state=present update_cache=yes"</a:t>
            </a:r>
            <a:endParaRPr lang="en-US" sz="956" dirty="0"/>
          </a:p>
        </p:txBody>
      </p:sp>
      <p:sp>
        <p:nvSpPr>
          <p:cNvPr id="24" name="Text 22"/>
          <p:cNvSpPr/>
          <p:nvPr/>
        </p:nvSpPr>
        <p:spPr>
          <a:xfrm>
            <a:off x="557213" y="4064682"/>
            <a:ext cx="1958280" cy="154734"/>
          </a:xfrm>
          <a:prstGeom prst="rect">
            <a:avLst/>
          </a:prstGeom>
          <a:noFill/>
          <a:ln/>
        </p:spPr>
        <p:txBody>
          <a:bodyPr wrap="none" lIns="0" tIns="0" rIns="0" bIns="0" rtlCol="0" anchor="t">
            <a:normAutofit fontScale="55000" lnSpcReduction="20000"/>
          </a:bodyPr>
          <a:lstStyle/>
          <a:p>
            <a:pPr marL="0" indent="0" algn="l">
              <a:lnSpc>
                <a:spcPts val="1434"/>
              </a:lnSpc>
              <a:buNone/>
            </a:pPr>
            <a:r>
              <a:rPr lang="en-US" sz="956" i="1" dirty="0">
                <a:solidFill>
                  <a:srgbClr val="94A3B8"/>
                </a:solidFill>
                <a:latin typeface="Courier New" pitchFamily="34" charset="0"/>
                <a:ea typeface="Courier New" pitchFamily="34" charset="-122"/>
                <a:cs typeface="Courier New" pitchFamily="34" charset="-120"/>
              </a:rPr>
              <a:t># Output looks like this:</a:t>
            </a:r>
            <a:endParaRPr lang="en-US" sz="956" dirty="0"/>
          </a:p>
        </p:txBody>
      </p:sp>
      <p:sp>
        <p:nvSpPr>
          <p:cNvPr id="25" name="Text 23"/>
          <p:cNvSpPr/>
          <p:nvPr/>
        </p:nvSpPr>
        <p:spPr>
          <a:xfrm>
            <a:off x="557213" y="4246848"/>
            <a:ext cx="2229707" cy="154734"/>
          </a:xfrm>
          <a:prstGeom prst="rect">
            <a:avLst/>
          </a:prstGeom>
          <a:noFill/>
          <a:ln/>
        </p:spPr>
        <p:txBody>
          <a:bodyPr wrap="none" lIns="0" tIns="0" rIns="0" bIns="0" rtlCol="0" anchor="t">
            <a:normAutofit fontScale="62500" lnSpcReduction="20000"/>
          </a:bodyPr>
          <a:lstStyle/>
          <a:p>
            <a:pPr marL="0" indent="0" algn="l">
              <a:lnSpc>
                <a:spcPts val="1434"/>
              </a:lnSpc>
              <a:buNone/>
            </a:pPr>
            <a:r>
              <a:rPr lang="en-US" sz="956" i="1" dirty="0">
                <a:solidFill>
                  <a:srgbClr val="94A3B8"/>
                </a:solidFill>
                <a:latin typeface="Liberation Sans Narrow" pitchFamily="34" charset="0"/>
                <a:ea typeface="Liberation Sans Narrow" pitchFamily="34" charset="-122"/>
                <a:cs typeface="Liberation Sans Narrow" pitchFamily="34" charset="-120"/>
              </a:rPr>
              <a:t># web01.example.com | SUCCESS =&gt; {</a:t>
            </a:r>
            <a:endParaRPr lang="en-US" sz="956" dirty="0"/>
          </a:p>
        </p:txBody>
      </p:sp>
      <p:sp>
        <p:nvSpPr>
          <p:cNvPr id="26" name="Text 24"/>
          <p:cNvSpPr/>
          <p:nvPr/>
        </p:nvSpPr>
        <p:spPr>
          <a:xfrm>
            <a:off x="557213" y="4429013"/>
            <a:ext cx="1723287" cy="154734"/>
          </a:xfrm>
          <a:prstGeom prst="rect">
            <a:avLst/>
          </a:prstGeom>
          <a:noFill/>
          <a:ln/>
        </p:spPr>
        <p:txBody>
          <a:bodyPr wrap="none" lIns="0" tIns="0" rIns="0" bIns="0" rtlCol="0" anchor="t">
            <a:normAutofit fontScale="55000" lnSpcReduction="20000"/>
          </a:bodyPr>
          <a:lstStyle/>
          <a:p>
            <a:pPr marL="0" indent="0" algn="l">
              <a:lnSpc>
                <a:spcPts val="1434"/>
              </a:lnSpc>
              <a:buNone/>
            </a:pPr>
            <a:r>
              <a:rPr lang="en-US" sz="956" i="1" dirty="0">
                <a:solidFill>
                  <a:srgbClr val="94A3B8"/>
                </a:solidFill>
                <a:latin typeface="Courier New" pitchFamily="34" charset="0"/>
                <a:ea typeface="Courier New" pitchFamily="34" charset="-122"/>
                <a:cs typeface="Courier New" pitchFamily="34" charset="-120"/>
              </a:rPr>
              <a:t>#     "changed": true,</a:t>
            </a:r>
            <a:endParaRPr lang="en-US" sz="956" dirty="0"/>
          </a:p>
        </p:txBody>
      </p:sp>
      <p:sp>
        <p:nvSpPr>
          <p:cNvPr id="27" name="Text 25"/>
          <p:cNvSpPr/>
          <p:nvPr/>
        </p:nvSpPr>
        <p:spPr>
          <a:xfrm>
            <a:off x="557213" y="4611179"/>
            <a:ext cx="1644956" cy="91440"/>
          </a:xfrm>
          <a:prstGeom prst="rect">
            <a:avLst/>
          </a:prstGeom>
          <a:noFill/>
          <a:ln/>
        </p:spPr>
        <p:txBody>
          <a:bodyPr wrap="none" lIns="0" tIns="0" rIns="0" bIns="0" rtlCol="0" anchor="t"/>
          <a:lstStyle/>
          <a:p>
            <a:pPr marL="0" indent="0" algn="l">
              <a:lnSpc>
                <a:spcPts val="1434"/>
              </a:lnSpc>
              <a:buNone/>
            </a:pPr>
            <a:r>
              <a:rPr lang="en-US" sz="956" i="1" dirty="0">
                <a:solidFill>
                  <a:srgbClr val="94A3B8"/>
                </a:solidFill>
                <a:latin typeface="Courier New" pitchFamily="34" charset="0"/>
                <a:ea typeface="Courier New" pitchFamily="34" charset="-122"/>
                <a:cs typeface="Courier New" pitchFamily="34" charset="-120"/>
              </a:rPr>
              <a:t>#     "stdout": "..."</a:t>
            </a:r>
            <a:endParaRPr lang="en-US" sz="956" dirty="0"/>
          </a:p>
        </p:txBody>
      </p:sp>
      <p:sp>
        <p:nvSpPr>
          <p:cNvPr id="28" name="Text 26"/>
          <p:cNvSpPr/>
          <p:nvPr/>
        </p:nvSpPr>
        <p:spPr>
          <a:xfrm>
            <a:off x="557213" y="4793345"/>
            <a:ext cx="291465" cy="91440"/>
          </a:xfrm>
          <a:prstGeom prst="rect">
            <a:avLst/>
          </a:prstGeom>
          <a:noFill/>
          <a:ln/>
        </p:spPr>
        <p:txBody>
          <a:bodyPr wrap="none" lIns="0" tIns="0" rIns="0" bIns="0" rtlCol="0" anchor="t"/>
          <a:lstStyle/>
          <a:p>
            <a:pPr marL="0" indent="0" algn="l">
              <a:lnSpc>
                <a:spcPts val="1434"/>
              </a:lnSpc>
              <a:buNone/>
            </a:pPr>
            <a:r>
              <a:rPr lang="en-US" sz="956" i="1" dirty="0">
                <a:solidFill>
                  <a:srgbClr val="94A3B8"/>
                </a:solidFill>
                <a:latin typeface="Courier New" pitchFamily="34" charset="0"/>
                <a:ea typeface="Courier New" pitchFamily="34" charset="-122"/>
                <a:cs typeface="Courier New" pitchFamily="34" charset="-120"/>
              </a:rPr>
              <a:t># }</a:t>
            </a:r>
            <a:endParaRPr lang="en-US" sz="956" dirty="0"/>
          </a:p>
        </p:txBody>
      </p:sp>
      <p:sp>
        <p:nvSpPr>
          <p:cNvPr id="29" name="Text 27"/>
          <p:cNvSpPr/>
          <p:nvPr/>
        </p:nvSpPr>
        <p:spPr>
          <a:xfrm>
            <a:off x="403622" y="4882642"/>
            <a:ext cx="8336756" cy="300038"/>
          </a:xfrm>
          <a:prstGeom prst="roundRect">
            <a:avLst>
              <a:gd name="adj" fmla="val 25397"/>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30" name="Text 28"/>
          <p:cNvSpPr/>
          <p:nvPr/>
        </p:nvSpPr>
        <p:spPr>
          <a:xfrm>
            <a:off x="700088" y="4964795"/>
            <a:ext cx="5183125" cy="138875"/>
          </a:xfrm>
          <a:prstGeom prst="rect">
            <a:avLst/>
          </a:prstGeom>
          <a:noFill/>
          <a:ln/>
        </p:spPr>
        <p:txBody>
          <a:bodyPr wrap="square" lIns="114300" tIns="71438" rIns="114300" bIns="71438" rtlCol="0" anchor="t"/>
          <a:lstStyle/>
          <a:p>
            <a:pPr marL="0" indent="0" algn="l">
              <a:lnSpc>
                <a:spcPts val="1181"/>
              </a:lnSpc>
              <a:buNone/>
            </a:pPr>
            <a:r>
              <a:rPr lang="en-US" sz="844" dirty="0">
                <a:solidFill>
                  <a:srgbClr val="0F172A"/>
                </a:solidFill>
                <a:latin typeface="Carlito" pitchFamily="34" charset="0"/>
                <a:ea typeface="Carlito" pitchFamily="34" charset="-122"/>
                <a:cs typeface="Carlito" pitchFamily="34" charset="-120"/>
              </a:rPr>
              <a:t>Pattern: . Use for sudo, for root.</a:t>
            </a:r>
            <a:endParaRPr lang="en-US" sz="844" dirty="0"/>
          </a:p>
        </p:txBody>
      </p:sp>
      <p:sp>
        <p:nvSpPr>
          <p:cNvPr id="31" name="Text 29"/>
          <p:cNvSpPr/>
          <p:nvPr/>
        </p:nvSpPr>
        <p:spPr>
          <a:xfrm>
            <a:off x="521494" y="4979082"/>
            <a:ext cx="107156" cy="107156"/>
          </a:xfrm>
          <a:prstGeom prst="rect">
            <a:avLst/>
          </a:prstGeom>
          <a:noFill/>
          <a:ln/>
        </p:spPr>
        <p:txBody>
          <a:bodyPr wrap="none" lIns="0" tIns="0" rIns="0" bIns="0" rtlCol="0" anchor="ctr"/>
          <a:lstStyle/>
          <a:p>
            <a:pPr marL="0" indent="0" algn="ctr">
              <a:buNone/>
            </a:pPr>
            <a:r>
              <a:rPr lang="en-US" sz="1055" dirty="0">
                <a:solidFill>
                  <a:srgbClr val="F97316"/>
                </a:solidFill>
                <a:latin typeface="Segoe UI Symbol" pitchFamily="34" charset="0"/>
                <a:ea typeface="Segoe UI Symbol" pitchFamily="34" charset="-122"/>
                <a:cs typeface="Segoe UI Symbol" pitchFamily="34" charset="-120"/>
              </a:rPr>
              <a:t>✦</a:t>
            </a:r>
            <a:endParaRPr lang="en-US" sz="1055" dirty="0"/>
          </a:p>
        </p:txBody>
      </p:sp>
      <p:sp>
        <p:nvSpPr>
          <p:cNvPr id="32" name="Text 30"/>
          <p:cNvSpPr/>
          <p:nvPr/>
        </p:nvSpPr>
        <p:spPr>
          <a:xfrm>
            <a:off x="1139651" y="4962674"/>
            <a:ext cx="2403649" cy="144996"/>
          </a:xfrm>
          <a:prstGeom prst="rect">
            <a:avLst/>
          </a:prstGeom>
          <a:noFill/>
          <a:ln/>
        </p:spPr>
        <p:txBody>
          <a:bodyPr wrap="none" lIns="0" tIns="0" rIns="0" bIns="0" rtlCol="0" anchor="t"/>
          <a:lstStyle/>
          <a:p>
            <a:pPr marL="0" indent="0" algn="l">
              <a:lnSpc>
                <a:spcPts val="1103"/>
              </a:lnSpc>
              <a:buNone/>
            </a:pPr>
            <a:r>
              <a:rPr lang="en-US" sz="800" b="1" dirty="0">
                <a:solidFill>
                  <a:srgbClr val="C2410C"/>
                </a:solidFill>
                <a:latin typeface="Courier New" pitchFamily="34" charset="0"/>
                <a:ea typeface="Courier New" pitchFamily="34" charset="-122"/>
                <a:cs typeface="Courier New" pitchFamily="34" charset="-120"/>
              </a:rPr>
              <a:t>ansible &lt;pattern&gt; -m &lt;module&gt; -a "&lt;args&gt;"</a:t>
            </a:r>
            <a:endParaRPr lang="en-US" sz="800" dirty="0"/>
          </a:p>
        </p:txBody>
      </p:sp>
      <p:sp>
        <p:nvSpPr>
          <p:cNvPr id="33" name="Text 31"/>
          <p:cNvSpPr/>
          <p:nvPr/>
        </p:nvSpPr>
        <p:spPr>
          <a:xfrm>
            <a:off x="3579019" y="4962674"/>
            <a:ext cx="924558" cy="144996"/>
          </a:xfrm>
          <a:prstGeom prst="rect">
            <a:avLst/>
          </a:prstGeom>
          <a:noFill/>
          <a:ln/>
        </p:spPr>
        <p:txBody>
          <a:bodyPr wrap="none" lIns="0" tIns="0" rIns="0" bIns="0" rtlCol="0" anchor="t"/>
          <a:lstStyle/>
          <a:p>
            <a:pPr marL="0" indent="0" algn="l">
              <a:lnSpc>
                <a:spcPts val="1103"/>
              </a:lnSpc>
              <a:buNone/>
            </a:pPr>
            <a:r>
              <a:rPr lang="en-US" sz="800" b="1" dirty="0">
                <a:solidFill>
                  <a:srgbClr val="C2410C"/>
                </a:solidFill>
                <a:latin typeface="Courier New" pitchFamily="34" charset="0"/>
                <a:ea typeface="Courier New" pitchFamily="34" charset="-122"/>
                <a:cs typeface="Courier New" pitchFamily="34" charset="-120"/>
              </a:rPr>
              <a:t>--become</a:t>
            </a:r>
            <a:endParaRPr lang="en-US" sz="800" dirty="0"/>
          </a:p>
        </p:txBody>
      </p:sp>
      <p:sp>
        <p:nvSpPr>
          <p:cNvPr id="34" name="Text 32"/>
          <p:cNvSpPr/>
          <p:nvPr/>
        </p:nvSpPr>
        <p:spPr>
          <a:xfrm>
            <a:off x="4539295" y="4962674"/>
            <a:ext cx="4083211" cy="144996"/>
          </a:xfrm>
          <a:prstGeom prst="rect">
            <a:avLst/>
          </a:prstGeom>
          <a:noFill/>
          <a:ln/>
        </p:spPr>
        <p:txBody>
          <a:bodyPr wrap="none" lIns="0" tIns="0" rIns="0" bIns="0" rtlCol="0" anchor="t"/>
          <a:lstStyle/>
          <a:p>
            <a:pPr marL="0" indent="0" algn="l">
              <a:lnSpc>
                <a:spcPts val="1103"/>
              </a:lnSpc>
              <a:buNone/>
            </a:pPr>
            <a:r>
              <a:rPr lang="en-US" sz="800" b="1" dirty="0">
                <a:solidFill>
                  <a:srgbClr val="C2410C"/>
                </a:solidFill>
                <a:latin typeface="Courier New" pitchFamily="34" charset="0"/>
                <a:ea typeface="Courier New" pitchFamily="34" charset="-122"/>
                <a:cs typeface="Courier New" pitchFamily="34" charset="-120"/>
              </a:rPr>
              <a:t>--become-user=root</a:t>
            </a:r>
            <a:endParaRPr lang="en-US" sz="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28625" y="342900"/>
            <a:ext cx="5184275" cy="339471"/>
          </a:xfrm>
          <a:prstGeom prst="rect">
            <a:avLst/>
          </a:prstGeom>
          <a:noFill/>
          <a:ln/>
        </p:spPr>
        <p:txBody>
          <a:bodyPr wrap="square" lIns="0" tIns="0" rIns="0" bIns="0" rtlCol="0" anchor="t"/>
          <a:lstStyle/>
          <a:p>
            <a:pPr marL="0" indent="0" algn="l">
              <a:lnSpc>
                <a:spcPts val="2475"/>
              </a:lnSpc>
              <a:buNone/>
            </a:pPr>
            <a:r>
              <a:rPr lang="en-US" sz="2250" b="1" dirty="0">
                <a:solidFill>
                  <a:srgbClr val="0F172A"/>
                </a:solidFill>
                <a:latin typeface="Carlito" pitchFamily="34" charset="0"/>
                <a:ea typeface="Carlito" pitchFamily="34" charset="-122"/>
                <a:cs typeface="Carlito" pitchFamily="34" charset="-120"/>
              </a:rPr>
              <a:t>Ansible Playbooks — Structure</a:t>
            </a:r>
            <a:endParaRPr lang="en-US" sz="2250" dirty="0"/>
          </a:p>
        </p:txBody>
      </p:sp>
      <p:sp>
        <p:nvSpPr>
          <p:cNvPr id="3" name="Text 1"/>
          <p:cNvSpPr/>
          <p:nvPr/>
        </p:nvSpPr>
        <p:spPr>
          <a:xfrm>
            <a:off x="428625" y="728663"/>
            <a:ext cx="571500" cy="42863"/>
          </a:xfrm>
          <a:prstGeom prst="roundRect">
            <a:avLst>
              <a:gd name="adj" fmla="val 66666"/>
            </a:avLst>
          </a:prstGeom>
          <a:solidFill>
            <a:srgbClr val="F97316"/>
          </a:solidFill>
          <a:ln/>
        </p:spPr>
        <p:txBody>
          <a:bodyPr wrap="square" rtlCol="0" anchor="ctr"/>
          <a:lstStyle/>
          <a:p>
            <a:pPr marL="0" indent="0">
              <a:buNone/>
            </a:pPr>
            <a:endParaRPr lang="en-US" dirty="0"/>
          </a:p>
        </p:txBody>
      </p:sp>
      <p:sp>
        <p:nvSpPr>
          <p:cNvPr id="4" name="Text 2"/>
          <p:cNvSpPr/>
          <p:nvPr/>
        </p:nvSpPr>
        <p:spPr>
          <a:xfrm>
            <a:off x="428625" y="814388"/>
            <a:ext cx="4712977" cy="194328"/>
          </a:xfrm>
          <a:prstGeom prst="rect">
            <a:avLst/>
          </a:prstGeom>
          <a:noFill/>
          <a:ln/>
        </p:spPr>
        <p:txBody>
          <a:bodyPr wrap="square" lIns="0" tIns="0" rIns="0" bIns="0" rtlCol="0" anchor="t"/>
          <a:lstStyle/>
          <a:p>
            <a:pPr marL="0" indent="0" algn="l">
              <a:lnSpc>
                <a:spcPts val="1418"/>
              </a:lnSpc>
              <a:buNone/>
            </a:pPr>
            <a:r>
              <a:rPr lang="en-US" sz="1013" dirty="0">
                <a:solidFill>
                  <a:srgbClr val="64748B"/>
                </a:solidFill>
                <a:latin typeface="Carlito" pitchFamily="34" charset="0"/>
                <a:ea typeface="Carlito" pitchFamily="34" charset="-122"/>
                <a:cs typeface="Carlito" pitchFamily="34" charset="-120"/>
              </a:rPr>
              <a:t>A playbook is a list of plays. A play targets a group of hosts and runs a list of tasks.</a:t>
            </a:r>
            <a:endParaRPr lang="en-US" sz="1013" dirty="0"/>
          </a:p>
        </p:txBody>
      </p:sp>
      <p:sp>
        <p:nvSpPr>
          <p:cNvPr id="5" name="Text 3"/>
          <p:cNvSpPr/>
          <p:nvPr/>
        </p:nvSpPr>
        <p:spPr>
          <a:xfrm>
            <a:off x="7488123" y="330098"/>
            <a:ext cx="1250112" cy="331333"/>
          </a:xfrm>
          <a:prstGeom prst="roundRect">
            <a:avLst>
              <a:gd name="adj" fmla="val 2871877"/>
            </a:avLst>
          </a:prstGeom>
          <a:solidFill>
            <a:srgbClr val="0F172A"/>
          </a:solidFill>
          <a:ln/>
        </p:spPr>
        <p:txBody>
          <a:bodyPr wrap="square" rtlCol="0" anchor="ctr"/>
          <a:lstStyle/>
          <a:p>
            <a:pPr marL="0" indent="0">
              <a:buNone/>
            </a:pPr>
            <a:endParaRPr lang="en-US" dirty="0"/>
          </a:p>
        </p:txBody>
      </p:sp>
      <p:sp>
        <p:nvSpPr>
          <p:cNvPr id="6" name="Text 4"/>
          <p:cNvSpPr/>
          <p:nvPr/>
        </p:nvSpPr>
        <p:spPr>
          <a:xfrm>
            <a:off x="7482030" y="342900"/>
            <a:ext cx="1262298" cy="305730"/>
          </a:xfrm>
          <a:prstGeom prst="rect">
            <a:avLst/>
          </a:prstGeom>
          <a:noFill/>
          <a:ln/>
        </p:spPr>
        <p:txBody>
          <a:bodyPr wrap="none" lIns="0" tIns="0" rIns="0" bIns="0" rtlCol="0" anchor="ctr"/>
          <a:lstStyle/>
          <a:p>
            <a:pPr marL="0" indent="0" algn="ctr">
              <a:lnSpc>
                <a:spcPts val="1733"/>
              </a:lnSpc>
              <a:buNone/>
            </a:pPr>
            <a:r>
              <a:rPr lang="en-US" sz="1238" b="1" kern="0" spc="28" dirty="0">
                <a:solidFill>
                  <a:srgbClr val="FFFFFF"/>
                </a:solidFill>
                <a:latin typeface="Liberation Sans Narrow" pitchFamily="34" charset="0"/>
                <a:ea typeface="Liberation Sans Narrow" pitchFamily="34" charset="-122"/>
                <a:cs typeface="Liberation Sans Narrow" pitchFamily="34" charset="-120"/>
              </a:rPr>
              <a:t>02 · Playbook</a:t>
            </a:r>
            <a:endParaRPr lang="en-US" sz="1238" dirty="0"/>
          </a:p>
        </p:txBody>
      </p:sp>
      <p:sp>
        <p:nvSpPr>
          <p:cNvPr id="7" name="Text 5"/>
          <p:cNvSpPr/>
          <p:nvPr/>
        </p:nvSpPr>
        <p:spPr>
          <a:xfrm>
            <a:off x="432197" y="1097905"/>
            <a:ext cx="4079081" cy="1556668"/>
          </a:xfrm>
          <a:prstGeom prst="roundRect">
            <a:avLst>
              <a:gd name="adj" fmla="val 8566"/>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8" name="Text 6"/>
          <p:cNvSpPr/>
          <p:nvPr/>
        </p:nvSpPr>
        <p:spPr>
          <a:xfrm>
            <a:off x="592931" y="1265783"/>
            <a:ext cx="3471863" cy="216027"/>
          </a:xfrm>
          <a:prstGeom prst="rect">
            <a:avLst/>
          </a:prstGeom>
          <a:noFill/>
          <a:ln/>
        </p:spPr>
        <p:txBody>
          <a:bodyPr wrap="none" lIns="0" tIns="0" rIns="0" bIns="0" rtlCol="0" anchor="t"/>
          <a:lstStyle/>
          <a:p>
            <a:pPr marL="0" indent="0" algn="l">
              <a:lnSpc>
                <a:spcPts val="1575"/>
              </a:lnSpc>
              <a:buNone/>
            </a:pPr>
            <a:r>
              <a:rPr lang="en-US" sz="1575" b="1" dirty="0">
                <a:solidFill>
                  <a:srgbClr val="F97316"/>
                </a:solidFill>
                <a:latin typeface="Liberation Sans Narrow" pitchFamily="34" charset="0"/>
                <a:ea typeface="Liberation Sans Narrow" pitchFamily="34" charset="-122"/>
                <a:cs typeface="Liberation Sans Narrow" pitchFamily="34" charset="-120"/>
              </a:rPr>
              <a:t>01</a:t>
            </a:r>
            <a:endParaRPr lang="en-US" sz="1575" dirty="0"/>
          </a:p>
        </p:txBody>
      </p:sp>
      <p:sp>
        <p:nvSpPr>
          <p:cNvPr id="9" name="Text 7"/>
          <p:cNvSpPr/>
          <p:nvPr/>
        </p:nvSpPr>
        <p:spPr>
          <a:xfrm>
            <a:off x="4079081" y="1230064"/>
            <a:ext cx="271463" cy="271463"/>
          </a:xfrm>
          <a:prstGeom prst="rect">
            <a:avLst/>
          </a:prstGeom>
          <a:noFill/>
          <a:ln/>
        </p:spPr>
        <p:txBody>
          <a:bodyPr wrap="none" lIns="0" tIns="0" rIns="0" bIns="0" rtlCol="0" anchor="ctr"/>
          <a:lstStyle/>
          <a:p>
            <a:pPr marL="0" indent="0" algn="ctr">
              <a:buNone/>
            </a:pPr>
            <a:r>
              <a:rPr lang="en-US" sz="2672" dirty="0">
                <a:solidFill>
                  <a:srgbClr val="0F172A"/>
                </a:solidFill>
                <a:latin typeface="Segoe UI Symbol" pitchFamily="34" charset="0"/>
                <a:ea typeface="Segoe UI Symbol" pitchFamily="34" charset="-122"/>
                <a:cs typeface="Segoe UI Symbol" pitchFamily="34" charset="-120"/>
              </a:rPr>
              <a:t>▤</a:t>
            </a:r>
            <a:endParaRPr lang="en-US" sz="2672" dirty="0"/>
          </a:p>
        </p:txBody>
      </p:sp>
      <p:sp>
        <p:nvSpPr>
          <p:cNvPr id="10" name="Text 8"/>
          <p:cNvSpPr/>
          <p:nvPr/>
        </p:nvSpPr>
        <p:spPr>
          <a:xfrm>
            <a:off x="592931" y="1587252"/>
            <a:ext cx="3757613" cy="280763"/>
          </a:xfrm>
          <a:prstGeom prst="rect">
            <a:avLst/>
          </a:prstGeom>
          <a:noFill/>
          <a:ln/>
        </p:spPr>
        <p:txBody>
          <a:bodyPr wrap="none" lIns="0" tIns="0" rIns="0" bIns="0" rtlCol="0" anchor="t"/>
          <a:lstStyle/>
          <a:p>
            <a:pPr marL="0" indent="0" algn="l">
              <a:lnSpc>
                <a:spcPts val="2047"/>
              </a:lnSpc>
              <a:buNone/>
            </a:pPr>
            <a:r>
              <a:rPr lang="en-US" sz="1463" b="1" dirty="0">
                <a:solidFill>
                  <a:srgbClr val="0F172A"/>
                </a:solidFill>
                <a:latin typeface="Carlito" pitchFamily="34" charset="0"/>
                <a:ea typeface="Carlito" pitchFamily="34" charset="-122"/>
                <a:cs typeface="Carlito" pitchFamily="34" charset="-120"/>
              </a:rPr>
              <a:t>Playbook</a:t>
            </a:r>
            <a:endParaRPr lang="en-US" sz="1463" dirty="0"/>
          </a:p>
        </p:txBody>
      </p:sp>
      <p:sp>
        <p:nvSpPr>
          <p:cNvPr id="11" name="Text 9"/>
          <p:cNvSpPr/>
          <p:nvPr/>
        </p:nvSpPr>
        <p:spPr>
          <a:xfrm>
            <a:off x="592931" y="1918655"/>
            <a:ext cx="3751362" cy="301377"/>
          </a:xfrm>
          <a:prstGeom prst="roundRect">
            <a:avLst>
              <a:gd name="adj" fmla="val 12642"/>
            </a:avLst>
          </a:prstGeom>
          <a:solidFill>
            <a:srgbClr val="F1F5F9"/>
          </a:solidFill>
          <a:ln/>
        </p:spPr>
        <p:txBody>
          <a:bodyPr wrap="square" rtlCol="0" anchor="ctr"/>
          <a:lstStyle/>
          <a:p>
            <a:pPr marL="0" indent="0">
              <a:buNone/>
            </a:pPr>
            <a:endParaRPr lang="en-US" dirty="0"/>
          </a:p>
        </p:txBody>
      </p:sp>
      <p:sp>
        <p:nvSpPr>
          <p:cNvPr id="12" name="Text 10"/>
          <p:cNvSpPr/>
          <p:nvPr/>
        </p:nvSpPr>
        <p:spPr>
          <a:xfrm>
            <a:off x="592931" y="1904367"/>
            <a:ext cx="3757613" cy="357795"/>
          </a:xfrm>
          <a:prstGeom prst="rect">
            <a:avLst/>
          </a:prstGeom>
          <a:noFill/>
          <a:ln/>
        </p:spPr>
        <p:txBody>
          <a:bodyPr wrap="square" lIns="0" tIns="0" rIns="0" bIns="0" rtlCol="0" anchor="t"/>
          <a:lstStyle/>
          <a:p>
            <a:pPr marL="0" indent="0" algn="l">
              <a:lnSpc>
                <a:spcPts val="1305"/>
              </a:lnSpc>
              <a:buNone/>
            </a:pPr>
            <a:r>
              <a:rPr lang="en-US" sz="900" dirty="0">
                <a:solidFill>
                  <a:srgbClr val="334155"/>
                </a:solidFill>
                <a:latin typeface="Carlito" pitchFamily="34" charset="0"/>
                <a:ea typeface="Carlito" pitchFamily="34" charset="-122"/>
                <a:cs typeface="Carlito" pitchFamily="34" charset="-120"/>
              </a:rPr>
              <a:t>Top-level YAML file. Contains a list of plays. Invoked with: </a:t>
            </a:r>
            <a:r>
              <a:rPr lang="en-US" sz="800" dirty="0">
                <a:solidFill>
                  <a:srgbClr val="0F172A"/>
                </a:solidFill>
                <a:highlight>
                  <a:srgbClr val="F1F5F9"/>
                </a:highlight>
                <a:latin typeface="Courier New" pitchFamily="34" charset="0"/>
                <a:ea typeface="Courier New" pitchFamily="34" charset="-122"/>
                <a:cs typeface="Courier New" pitchFamily="34" charset="-120"/>
              </a:rPr>
              <a:t>ansible-playbook site.yml</a:t>
            </a:r>
            <a:r>
              <a:rPr lang="en-US" sz="900" dirty="0">
                <a:solidFill>
                  <a:srgbClr val="334155"/>
                </a:solidFill>
                <a:latin typeface="Carlito" pitchFamily="34" charset="0"/>
                <a:ea typeface="Carlito" pitchFamily="34" charset="-122"/>
                <a:cs typeface="Carlito" pitchFamily="34" charset="-120"/>
              </a:rPr>
              <a:t>.</a:t>
            </a:r>
            <a:endParaRPr lang="en-US" sz="900" dirty="0"/>
          </a:p>
        </p:txBody>
      </p:sp>
      <p:sp>
        <p:nvSpPr>
          <p:cNvPr id="13" name="Text 11"/>
          <p:cNvSpPr/>
          <p:nvPr/>
        </p:nvSpPr>
        <p:spPr>
          <a:xfrm>
            <a:off x="4632722" y="1097905"/>
            <a:ext cx="4079081" cy="1556668"/>
          </a:xfrm>
          <a:prstGeom prst="roundRect">
            <a:avLst>
              <a:gd name="adj" fmla="val 8566"/>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14" name="Text 12"/>
          <p:cNvSpPr/>
          <p:nvPr/>
        </p:nvSpPr>
        <p:spPr>
          <a:xfrm>
            <a:off x="4793456" y="1265783"/>
            <a:ext cx="3471863" cy="216027"/>
          </a:xfrm>
          <a:prstGeom prst="rect">
            <a:avLst/>
          </a:prstGeom>
          <a:noFill/>
          <a:ln/>
        </p:spPr>
        <p:txBody>
          <a:bodyPr wrap="none" lIns="0" tIns="0" rIns="0" bIns="0" rtlCol="0" anchor="t"/>
          <a:lstStyle/>
          <a:p>
            <a:pPr marL="0" indent="0" algn="l">
              <a:lnSpc>
                <a:spcPts val="1575"/>
              </a:lnSpc>
              <a:buNone/>
            </a:pPr>
            <a:r>
              <a:rPr lang="en-US" sz="1575" b="1" dirty="0">
                <a:solidFill>
                  <a:srgbClr val="F97316"/>
                </a:solidFill>
                <a:latin typeface="Liberation Sans Narrow" pitchFamily="34" charset="0"/>
                <a:ea typeface="Liberation Sans Narrow" pitchFamily="34" charset="-122"/>
                <a:cs typeface="Liberation Sans Narrow" pitchFamily="34" charset="-120"/>
              </a:rPr>
              <a:t>02</a:t>
            </a:r>
            <a:endParaRPr lang="en-US" sz="1575" dirty="0"/>
          </a:p>
        </p:txBody>
      </p:sp>
      <p:sp>
        <p:nvSpPr>
          <p:cNvPr id="15" name="Text 13"/>
          <p:cNvSpPr/>
          <p:nvPr/>
        </p:nvSpPr>
        <p:spPr>
          <a:xfrm>
            <a:off x="8279606" y="1230064"/>
            <a:ext cx="271463" cy="271463"/>
          </a:xfrm>
          <a:prstGeom prst="rect">
            <a:avLst/>
          </a:prstGeom>
          <a:noFill/>
          <a:ln/>
        </p:spPr>
        <p:txBody>
          <a:bodyPr wrap="none" lIns="0" tIns="0" rIns="0" bIns="0" rtlCol="0" anchor="ctr"/>
          <a:lstStyle/>
          <a:p>
            <a:pPr marL="0" indent="0" algn="ctr">
              <a:buNone/>
            </a:pPr>
            <a:r>
              <a:rPr lang="en-US" sz="2672" dirty="0">
                <a:solidFill>
                  <a:srgbClr val="0F172A"/>
                </a:solidFill>
                <a:latin typeface="Segoe UI Symbol" pitchFamily="34" charset="0"/>
                <a:ea typeface="Segoe UI Symbol" pitchFamily="34" charset="-122"/>
                <a:cs typeface="Segoe UI Symbol" pitchFamily="34" charset="-120"/>
              </a:rPr>
              <a:t>▶</a:t>
            </a:r>
            <a:endParaRPr lang="en-US" sz="2672" dirty="0"/>
          </a:p>
        </p:txBody>
      </p:sp>
      <p:sp>
        <p:nvSpPr>
          <p:cNvPr id="16" name="Text 14"/>
          <p:cNvSpPr/>
          <p:nvPr/>
        </p:nvSpPr>
        <p:spPr>
          <a:xfrm>
            <a:off x="4793456" y="1587252"/>
            <a:ext cx="3757613" cy="280763"/>
          </a:xfrm>
          <a:prstGeom prst="rect">
            <a:avLst/>
          </a:prstGeom>
          <a:noFill/>
          <a:ln/>
        </p:spPr>
        <p:txBody>
          <a:bodyPr wrap="none" lIns="0" tIns="0" rIns="0" bIns="0" rtlCol="0" anchor="t"/>
          <a:lstStyle/>
          <a:p>
            <a:pPr marL="0" indent="0" algn="l">
              <a:lnSpc>
                <a:spcPts val="2047"/>
              </a:lnSpc>
              <a:buNone/>
            </a:pPr>
            <a:r>
              <a:rPr lang="en-US" sz="1463" b="1" dirty="0">
                <a:solidFill>
                  <a:srgbClr val="0F172A"/>
                </a:solidFill>
                <a:latin typeface="Carlito" pitchFamily="34" charset="0"/>
                <a:ea typeface="Carlito" pitchFamily="34" charset="-122"/>
                <a:cs typeface="Carlito" pitchFamily="34" charset="-120"/>
              </a:rPr>
              <a:t>Play</a:t>
            </a:r>
            <a:endParaRPr lang="en-US" sz="1463" dirty="0"/>
          </a:p>
        </p:txBody>
      </p:sp>
      <p:sp>
        <p:nvSpPr>
          <p:cNvPr id="17" name="Text 15"/>
          <p:cNvSpPr/>
          <p:nvPr/>
        </p:nvSpPr>
        <p:spPr>
          <a:xfrm>
            <a:off x="6460182" y="1918655"/>
            <a:ext cx="585788" cy="135731"/>
          </a:xfrm>
          <a:prstGeom prst="roundRect">
            <a:avLst>
              <a:gd name="adj" fmla="val 28070"/>
            </a:avLst>
          </a:prstGeom>
          <a:solidFill>
            <a:srgbClr val="F1F5F9"/>
          </a:solidFill>
          <a:ln/>
        </p:spPr>
        <p:txBody>
          <a:bodyPr wrap="square" rtlCol="0" anchor="ctr"/>
          <a:lstStyle/>
          <a:p>
            <a:pPr marL="0" indent="0">
              <a:buNone/>
            </a:pPr>
            <a:endParaRPr lang="en-US" dirty="0"/>
          </a:p>
        </p:txBody>
      </p:sp>
      <p:sp>
        <p:nvSpPr>
          <p:cNvPr id="18" name="Text 16"/>
          <p:cNvSpPr/>
          <p:nvPr/>
        </p:nvSpPr>
        <p:spPr>
          <a:xfrm>
            <a:off x="4793456" y="1904367"/>
            <a:ext cx="3757613" cy="357795"/>
          </a:xfrm>
          <a:prstGeom prst="rect">
            <a:avLst/>
          </a:prstGeom>
          <a:noFill/>
          <a:ln/>
        </p:spPr>
        <p:txBody>
          <a:bodyPr wrap="square" lIns="0" tIns="0" rIns="0" bIns="0" rtlCol="0" anchor="t"/>
          <a:lstStyle/>
          <a:p>
            <a:pPr marL="0" indent="0" algn="l">
              <a:lnSpc>
                <a:spcPts val="1305"/>
              </a:lnSpc>
              <a:buNone/>
            </a:pPr>
            <a:r>
              <a:rPr lang="en-US" sz="900" dirty="0">
                <a:solidFill>
                  <a:srgbClr val="334155"/>
                </a:solidFill>
                <a:latin typeface="Carlito" pitchFamily="34" charset="0"/>
                <a:ea typeface="Carlito" pitchFamily="34" charset="-122"/>
                <a:cs typeface="Carlito" pitchFamily="34" charset="-120"/>
              </a:rPr>
              <a:t>A play targets a </a:t>
            </a:r>
            <a:r>
              <a:rPr lang="en-US" sz="900" b="1" dirty="0">
                <a:solidFill>
                  <a:srgbClr val="0F172A"/>
                </a:solidFill>
                <a:latin typeface="Carlito" pitchFamily="34" charset="0"/>
                <a:ea typeface="Carlito" pitchFamily="34" charset="-122"/>
                <a:cs typeface="Carlito" pitchFamily="34" charset="-120"/>
              </a:rPr>
              <a:t>host group</a:t>
            </a:r>
            <a:r>
              <a:rPr lang="en-US" sz="900" dirty="0">
                <a:solidFill>
                  <a:srgbClr val="334155"/>
                </a:solidFill>
                <a:latin typeface="Carlito" pitchFamily="34" charset="0"/>
                <a:ea typeface="Carlito" pitchFamily="34" charset="-122"/>
                <a:cs typeface="Carlito" pitchFamily="34" charset="-120"/>
              </a:rPr>
              <a:t> (e.g., </a:t>
            </a:r>
            <a:r>
              <a:rPr lang="en-US" sz="800" dirty="0">
                <a:solidFill>
                  <a:srgbClr val="0F172A"/>
                </a:solidFill>
                <a:highlight>
                  <a:srgbClr val="F1F5F9"/>
                </a:highlight>
                <a:latin typeface="Courier New" pitchFamily="34" charset="0"/>
                <a:ea typeface="Courier New" pitchFamily="34" charset="-122"/>
                <a:cs typeface="Courier New" pitchFamily="34" charset="-120"/>
              </a:rPr>
              <a:t>webservers</a:t>
            </a:r>
            <a:r>
              <a:rPr lang="en-US" sz="900" dirty="0">
                <a:solidFill>
                  <a:srgbClr val="334155"/>
                </a:solidFill>
                <a:latin typeface="Carlito" pitchFamily="34" charset="0"/>
                <a:ea typeface="Carlito" pitchFamily="34" charset="-122"/>
                <a:cs typeface="Carlito" pitchFamily="34" charset="-120"/>
              </a:rPr>
              <a:t>) and runs a list of tasks. Optional </a:t>
            </a:r>
            <a:r>
              <a:rPr lang="en-US" sz="900" b="1" dirty="0">
                <a:solidFill>
                  <a:srgbClr val="0F172A"/>
                </a:solidFill>
                <a:latin typeface="Carlito" pitchFamily="34" charset="0"/>
                <a:ea typeface="Carlito" pitchFamily="34" charset="-122"/>
                <a:cs typeface="Carlito" pitchFamily="34" charset="-120"/>
              </a:rPr>
              <a:t>vars, handlers, roles</a:t>
            </a:r>
            <a:r>
              <a:rPr lang="en-US" sz="900" dirty="0">
                <a:solidFill>
                  <a:srgbClr val="334155"/>
                </a:solidFill>
                <a:latin typeface="Carlito" pitchFamily="34" charset="0"/>
                <a:ea typeface="Carlito" pitchFamily="34" charset="-122"/>
                <a:cs typeface="Carlito" pitchFamily="34" charset="-120"/>
              </a:rPr>
              <a:t>.</a:t>
            </a:r>
            <a:endParaRPr lang="en-US" sz="900" dirty="0"/>
          </a:p>
        </p:txBody>
      </p:sp>
      <p:sp>
        <p:nvSpPr>
          <p:cNvPr id="19" name="Text 17"/>
          <p:cNvSpPr/>
          <p:nvPr/>
        </p:nvSpPr>
        <p:spPr>
          <a:xfrm>
            <a:off x="432197" y="2776017"/>
            <a:ext cx="4079081" cy="1556668"/>
          </a:xfrm>
          <a:prstGeom prst="roundRect">
            <a:avLst>
              <a:gd name="adj" fmla="val 8566"/>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20" name="Text 18"/>
          <p:cNvSpPr/>
          <p:nvPr/>
        </p:nvSpPr>
        <p:spPr>
          <a:xfrm>
            <a:off x="592931" y="2943895"/>
            <a:ext cx="3471863" cy="216027"/>
          </a:xfrm>
          <a:prstGeom prst="rect">
            <a:avLst/>
          </a:prstGeom>
          <a:noFill/>
          <a:ln/>
        </p:spPr>
        <p:txBody>
          <a:bodyPr wrap="none" lIns="0" tIns="0" rIns="0" bIns="0" rtlCol="0" anchor="t"/>
          <a:lstStyle/>
          <a:p>
            <a:pPr marL="0" indent="0" algn="l">
              <a:lnSpc>
                <a:spcPts val="1575"/>
              </a:lnSpc>
              <a:buNone/>
            </a:pPr>
            <a:r>
              <a:rPr lang="en-US" sz="1575" b="1" dirty="0">
                <a:solidFill>
                  <a:srgbClr val="F97316"/>
                </a:solidFill>
                <a:latin typeface="Liberation Sans Narrow" pitchFamily="34" charset="0"/>
                <a:ea typeface="Liberation Sans Narrow" pitchFamily="34" charset="-122"/>
                <a:cs typeface="Liberation Sans Narrow" pitchFamily="34" charset="-120"/>
              </a:rPr>
              <a:t>03</a:t>
            </a:r>
            <a:endParaRPr lang="en-US" sz="1575" dirty="0"/>
          </a:p>
        </p:txBody>
      </p:sp>
      <p:sp>
        <p:nvSpPr>
          <p:cNvPr id="21" name="Text 19"/>
          <p:cNvSpPr/>
          <p:nvPr/>
        </p:nvSpPr>
        <p:spPr>
          <a:xfrm>
            <a:off x="4079081" y="2908176"/>
            <a:ext cx="271463" cy="271463"/>
          </a:xfrm>
          <a:prstGeom prst="rect">
            <a:avLst/>
          </a:prstGeom>
          <a:noFill/>
          <a:ln/>
        </p:spPr>
        <p:txBody>
          <a:bodyPr wrap="none" lIns="0" tIns="0" rIns="0" bIns="0" rtlCol="0" anchor="ctr"/>
          <a:lstStyle/>
          <a:p>
            <a:pPr marL="0" indent="0" algn="ctr">
              <a:buNone/>
            </a:pPr>
            <a:r>
              <a:rPr lang="en-US" sz="2672" dirty="0">
                <a:solidFill>
                  <a:srgbClr val="0F172A"/>
                </a:solidFill>
                <a:latin typeface="Segoe UI Symbol" pitchFamily="34" charset="0"/>
                <a:ea typeface="Segoe UI Symbol" pitchFamily="34" charset="-122"/>
                <a:cs typeface="Segoe UI Symbol" pitchFamily="34" charset="-120"/>
              </a:rPr>
              <a:t>✓</a:t>
            </a:r>
            <a:endParaRPr lang="en-US" sz="2672" dirty="0"/>
          </a:p>
        </p:txBody>
      </p:sp>
      <p:sp>
        <p:nvSpPr>
          <p:cNvPr id="22" name="Text 20"/>
          <p:cNvSpPr/>
          <p:nvPr/>
        </p:nvSpPr>
        <p:spPr>
          <a:xfrm>
            <a:off x="592931" y="3265363"/>
            <a:ext cx="3757613" cy="280763"/>
          </a:xfrm>
          <a:prstGeom prst="rect">
            <a:avLst/>
          </a:prstGeom>
          <a:noFill/>
          <a:ln/>
        </p:spPr>
        <p:txBody>
          <a:bodyPr wrap="none" lIns="0" tIns="0" rIns="0" bIns="0" rtlCol="0" anchor="t"/>
          <a:lstStyle/>
          <a:p>
            <a:pPr marL="0" indent="0" algn="l">
              <a:lnSpc>
                <a:spcPts val="2047"/>
              </a:lnSpc>
              <a:buNone/>
            </a:pPr>
            <a:r>
              <a:rPr lang="en-US" sz="1463" b="1" dirty="0">
                <a:solidFill>
                  <a:srgbClr val="0F172A"/>
                </a:solidFill>
                <a:latin typeface="Carlito" pitchFamily="34" charset="0"/>
                <a:ea typeface="Carlito" pitchFamily="34" charset="-122"/>
                <a:cs typeface="Carlito" pitchFamily="34" charset="-120"/>
              </a:rPr>
              <a:t>Task</a:t>
            </a:r>
            <a:endParaRPr lang="en-US" sz="1463" dirty="0"/>
          </a:p>
        </p:txBody>
      </p:sp>
      <p:sp>
        <p:nvSpPr>
          <p:cNvPr id="23" name="Text 21"/>
          <p:cNvSpPr/>
          <p:nvPr/>
        </p:nvSpPr>
        <p:spPr>
          <a:xfrm>
            <a:off x="592931" y="3582479"/>
            <a:ext cx="3757613" cy="357795"/>
          </a:xfrm>
          <a:prstGeom prst="rect">
            <a:avLst/>
          </a:prstGeom>
          <a:noFill/>
          <a:ln/>
        </p:spPr>
        <p:txBody>
          <a:bodyPr wrap="square" lIns="0" tIns="0" rIns="0" bIns="0" rtlCol="0" anchor="t"/>
          <a:lstStyle/>
          <a:p>
            <a:pPr marL="0" indent="0" algn="l">
              <a:lnSpc>
                <a:spcPts val="1305"/>
              </a:lnSpc>
              <a:buNone/>
            </a:pPr>
            <a:r>
              <a:rPr lang="en-US" sz="900" dirty="0">
                <a:solidFill>
                  <a:srgbClr val="334155"/>
                </a:solidFill>
                <a:latin typeface="Carlito" pitchFamily="34" charset="0"/>
                <a:ea typeface="Carlito" pitchFamily="34" charset="-122"/>
                <a:cs typeface="Carlito" pitchFamily="34" charset="-120"/>
              </a:rPr>
              <a:t>A single action: install a package, copy a file, start a service. Each task calls a </a:t>
            </a:r>
            <a:r>
              <a:rPr lang="en-US" sz="900" b="1" dirty="0">
                <a:solidFill>
                  <a:srgbClr val="0F172A"/>
                </a:solidFill>
                <a:latin typeface="Carlito" pitchFamily="34" charset="0"/>
                <a:ea typeface="Carlito" pitchFamily="34" charset="-122"/>
                <a:cs typeface="Carlito" pitchFamily="34" charset="-120"/>
              </a:rPr>
              <a:t>MODULE</a:t>
            </a:r>
            <a:r>
              <a:rPr lang="en-US" sz="900" dirty="0">
                <a:solidFill>
                  <a:srgbClr val="334155"/>
                </a:solidFill>
                <a:latin typeface="Carlito" pitchFamily="34" charset="0"/>
                <a:ea typeface="Carlito" pitchFamily="34" charset="-122"/>
                <a:cs typeface="Carlito" pitchFamily="34" charset="-120"/>
              </a:rPr>
              <a:t> with arguments.</a:t>
            </a:r>
            <a:endParaRPr lang="en-US" sz="900" dirty="0"/>
          </a:p>
        </p:txBody>
      </p:sp>
      <p:sp>
        <p:nvSpPr>
          <p:cNvPr id="24" name="Text 22"/>
          <p:cNvSpPr/>
          <p:nvPr/>
        </p:nvSpPr>
        <p:spPr>
          <a:xfrm>
            <a:off x="4632722" y="2776017"/>
            <a:ext cx="4079081" cy="1556668"/>
          </a:xfrm>
          <a:prstGeom prst="roundRect">
            <a:avLst>
              <a:gd name="adj" fmla="val 8566"/>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25" name="Text 23"/>
          <p:cNvSpPr/>
          <p:nvPr/>
        </p:nvSpPr>
        <p:spPr>
          <a:xfrm>
            <a:off x="4793456" y="2943895"/>
            <a:ext cx="3471863" cy="216027"/>
          </a:xfrm>
          <a:prstGeom prst="rect">
            <a:avLst/>
          </a:prstGeom>
          <a:noFill/>
          <a:ln/>
        </p:spPr>
        <p:txBody>
          <a:bodyPr wrap="none" lIns="0" tIns="0" rIns="0" bIns="0" rtlCol="0" anchor="t"/>
          <a:lstStyle/>
          <a:p>
            <a:pPr marL="0" indent="0" algn="l">
              <a:lnSpc>
                <a:spcPts val="1575"/>
              </a:lnSpc>
              <a:buNone/>
            </a:pPr>
            <a:r>
              <a:rPr lang="en-US" sz="1575" b="1" dirty="0">
                <a:solidFill>
                  <a:srgbClr val="F97316"/>
                </a:solidFill>
                <a:latin typeface="Liberation Sans Narrow" pitchFamily="34" charset="0"/>
                <a:ea typeface="Liberation Sans Narrow" pitchFamily="34" charset="-122"/>
                <a:cs typeface="Liberation Sans Narrow" pitchFamily="34" charset="-120"/>
              </a:rPr>
              <a:t>04</a:t>
            </a:r>
            <a:endParaRPr lang="en-US" sz="1575" dirty="0"/>
          </a:p>
        </p:txBody>
      </p:sp>
      <p:sp>
        <p:nvSpPr>
          <p:cNvPr id="26" name="Text 24"/>
          <p:cNvSpPr/>
          <p:nvPr/>
        </p:nvSpPr>
        <p:spPr>
          <a:xfrm>
            <a:off x="8279606" y="2908176"/>
            <a:ext cx="271463" cy="271463"/>
          </a:xfrm>
          <a:prstGeom prst="rect">
            <a:avLst/>
          </a:prstGeom>
          <a:noFill/>
          <a:ln/>
        </p:spPr>
        <p:txBody>
          <a:bodyPr wrap="none" lIns="0" tIns="0" rIns="0" bIns="0" rtlCol="0" anchor="ctr"/>
          <a:lstStyle/>
          <a:p>
            <a:pPr marL="0" indent="0" algn="ctr">
              <a:buNone/>
            </a:pPr>
            <a:r>
              <a:rPr lang="en-US" sz="2672" dirty="0">
                <a:solidFill>
                  <a:srgbClr val="0F172A"/>
                </a:solidFill>
                <a:latin typeface="Segoe UI Symbol" pitchFamily="34" charset="0"/>
                <a:ea typeface="Segoe UI Symbol" pitchFamily="34" charset="-122"/>
                <a:cs typeface="Segoe UI Symbol" pitchFamily="34" charset="-120"/>
              </a:rPr>
              <a:t>▭</a:t>
            </a:r>
            <a:endParaRPr lang="en-US" sz="2672" dirty="0"/>
          </a:p>
        </p:txBody>
      </p:sp>
      <p:sp>
        <p:nvSpPr>
          <p:cNvPr id="27" name="Text 25"/>
          <p:cNvSpPr/>
          <p:nvPr/>
        </p:nvSpPr>
        <p:spPr>
          <a:xfrm>
            <a:off x="4793456" y="3265363"/>
            <a:ext cx="3757613" cy="280763"/>
          </a:xfrm>
          <a:prstGeom prst="rect">
            <a:avLst/>
          </a:prstGeom>
          <a:noFill/>
          <a:ln/>
        </p:spPr>
        <p:txBody>
          <a:bodyPr wrap="none" lIns="0" tIns="0" rIns="0" bIns="0" rtlCol="0" anchor="t"/>
          <a:lstStyle/>
          <a:p>
            <a:pPr marL="0" indent="0" algn="l">
              <a:lnSpc>
                <a:spcPts val="2047"/>
              </a:lnSpc>
              <a:buNone/>
            </a:pPr>
            <a:r>
              <a:rPr lang="en-US" sz="1463" b="1" dirty="0">
                <a:solidFill>
                  <a:srgbClr val="0F172A"/>
                </a:solidFill>
                <a:latin typeface="Carlito" pitchFamily="34" charset="0"/>
                <a:ea typeface="Carlito" pitchFamily="34" charset="-122"/>
                <a:cs typeface="Carlito" pitchFamily="34" charset="-120"/>
              </a:rPr>
              <a:t>Module</a:t>
            </a:r>
            <a:endParaRPr lang="en-US" sz="1463" dirty="0"/>
          </a:p>
        </p:txBody>
      </p:sp>
      <p:sp>
        <p:nvSpPr>
          <p:cNvPr id="28" name="Text 26"/>
          <p:cNvSpPr/>
          <p:nvPr/>
        </p:nvSpPr>
        <p:spPr>
          <a:xfrm>
            <a:off x="4793456" y="3596767"/>
            <a:ext cx="3641303" cy="301377"/>
          </a:xfrm>
          <a:prstGeom prst="roundRect">
            <a:avLst>
              <a:gd name="adj" fmla="val 12642"/>
            </a:avLst>
          </a:prstGeom>
          <a:solidFill>
            <a:srgbClr val="F1F5F9"/>
          </a:solidFill>
          <a:ln/>
        </p:spPr>
        <p:txBody>
          <a:bodyPr wrap="square" rtlCol="0" anchor="ctr"/>
          <a:lstStyle/>
          <a:p>
            <a:pPr marL="0" indent="0">
              <a:buNone/>
            </a:pPr>
            <a:endParaRPr lang="en-US" dirty="0"/>
          </a:p>
        </p:txBody>
      </p:sp>
      <p:sp>
        <p:nvSpPr>
          <p:cNvPr id="29" name="Text 27"/>
          <p:cNvSpPr/>
          <p:nvPr/>
        </p:nvSpPr>
        <p:spPr>
          <a:xfrm>
            <a:off x="4793456" y="3582479"/>
            <a:ext cx="3757613" cy="357795"/>
          </a:xfrm>
          <a:prstGeom prst="rect">
            <a:avLst/>
          </a:prstGeom>
          <a:noFill/>
          <a:ln/>
        </p:spPr>
        <p:txBody>
          <a:bodyPr wrap="square" lIns="0" tIns="0" rIns="0" bIns="0" rtlCol="0" anchor="t"/>
          <a:lstStyle/>
          <a:p>
            <a:pPr marL="0" indent="0" algn="l">
              <a:lnSpc>
                <a:spcPts val="1305"/>
              </a:lnSpc>
              <a:buNone/>
            </a:pPr>
            <a:r>
              <a:rPr lang="en-US" sz="900" dirty="0">
                <a:solidFill>
                  <a:srgbClr val="334155"/>
                </a:solidFill>
                <a:latin typeface="Carlito" pitchFamily="34" charset="0"/>
                <a:ea typeface="Carlito" pitchFamily="34" charset="-122"/>
                <a:cs typeface="Carlito" pitchFamily="34" charset="-120"/>
              </a:rPr>
              <a:t>The reusable unit of work. </a:t>
            </a:r>
            <a:r>
              <a:rPr lang="en-US" sz="900" b="1" dirty="0">
                <a:solidFill>
                  <a:srgbClr val="0F172A"/>
                </a:solidFill>
                <a:latin typeface="Liberation Sans Narrow" pitchFamily="34" charset="0"/>
                <a:ea typeface="Liberation Sans Narrow" pitchFamily="34" charset="-122"/>
                <a:cs typeface="Liberation Sans Narrow" pitchFamily="34" charset="-120"/>
              </a:rPr>
              <a:t>5,000+ built-in</a:t>
            </a:r>
            <a:r>
              <a:rPr lang="en-US" sz="900" dirty="0">
                <a:solidFill>
                  <a:srgbClr val="334155"/>
                </a:solidFill>
                <a:latin typeface="Carlito" pitchFamily="34" charset="0"/>
                <a:ea typeface="Carlito" pitchFamily="34" charset="-122"/>
                <a:cs typeface="Carlito" pitchFamily="34" charset="-120"/>
              </a:rPr>
              <a:t>: </a:t>
            </a:r>
            <a:r>
              <a:rPr lang="en-US" sz="800" dirty="0">
                <a:solidFill>
                  <a:srgbClr val="0F172A"/>
                </a:solidFill>
                <a:highlight>
                  <a:srgbClr val="F1F5F9"/>
                </a:highlight>
                <a:latin typeface="Courier New" pitchFamily="34" charset="0"/>
                <a:ea typeface="Courier New" pitchFamily="34" charset="-122"/>
                <a:cs typeface="Courier New" pitchFamily="34" charset="-120"/>
              </a:rPr>
              <a:t>apt, copy, template, service, file, git, docker, aws_ec2</a:t>
            </a:r>
            <a:r>
              <a:rPr lang="en-US" sz="900" dirty="0">
                <a:solidFill>
                  <a:srgbClr val="334155"/>
                </a:solidFill>
                <a:latin typeface="Carlito" pitchFamily="34" charset="0"/>
                <a:ea typeface="Carlito" pitchFamily="34" charset="-122"/>
                <a:cs typeface="Carlito" pitchFamily="34" charset="-120"/>
              </a:rPr>
              <a:t>. Idempotent by design.</a:t>
            </a:r>
            <a:endParaRPr lang="en-US" sz="900" dirty="0"/>
          </a:p>
        </p:txBody>
      </p:sp>
      <p:sp>
        <p:nvSpPr>
          <p:cNvPr id="30" name="Text 28"/>
          <p:cNvSpPr/>
          <p:nvPr/>
        </p:nvSpPr>
        <p:spPr>
          <a:xfrm>
            <a:off x="428625" y="4436269"/>
            <a:ext cx="8286750" cy="364331"/>
          </a:xfrm>
          <a:prstGeom prst="roundRect">
            <a:avLst>
              <a:gd name="adj" fmla="val 20915"/>
            </a:avLst>
          </a:prstGeom>
          <a:solidFill>
            <a:srgbClr val="FFF7ED"/>
          </a:solidFill>
          <a:ln/>
        </p:spPr>
        <p:txBody>
          <a:bodyPr wrap="square" rtlCol="0" anchor="ctr"/>
          <a:lstStyle/>
          <a:p>
            <a:pPr marL="0" indent="0">
              <a:buNone/>
            </a:pPr>
            <a:endParaRPr lang="en-US" dirty="0"/>
          </a:p>
        </p:txBody>
      </p:sp>
      <p:sp>
        <p:nvSpPr>
          <p:cNvPr id="31" name="Shape 29"/>
          <p:cNvSpPr/>
          <p:nvPr/>
        </p:nvSpPr>
        <p:spPr>
          <a:xfrm>
            <a:off x="450056" y="4436269"/>
            <a:ext cx="0" cy="364331"/>
          </a:xfrm>
          <a:prstGeom prst="line">
            <a:avLst/>
          </a:prstGeom>
          <a:noFill/>
          <a:ln w="42863">
            <a:solidFill>
              <a:srgbClr val="F97316"/>
            </a:solidFill>
            <a:prstDash val="solid"/>
          </a:ln>
        </p:spPr>
      </p:sp>
      <p:sp>
        <p:nvSpPr>
          <p:cNvPr id="32" name="Text 30"/>
          <p:cNvSpPr/>
          <p:nvPr/>
        </p:nvSpPr>
        <p:spPr>
          <a:xfrm>
            <a:off x="428625" y="4436269"/>
            <a:ext cx="8286750" cy="393478"/>
          </a:xfrm>
          <a:prstGeom prst="rect">
            <a:avLst/>
          </a:prstGeom>
          <a:noFill/>
          <a:ln/>
        </p:spPr>
        <p:txBody>
          <a:bodyPr wrap="square" lIns="157163" tIns="85725" rIns="157163" bIns="85725" rtlCol="0" anchor="t"/>
          <a:lstStyle/>
          <a:p>
            <a:pPr marL="0" indent="0" algn="l">
              <a:lnSpc>
                <a:spcPts val="1418"/>
              </a:lnSpc>
              <a:buNone/>
            </a:pPr>
            <a:r>
              <a:rPr lang="en-US" sz="1013" dirty="0">
                <a:solidFill>
                  <a:srgbClr val="F97316"/>
                </a:solidFill>
                <a:latin typeface="Segoe UI Symbol" pitchFamily="34" charset="0"/>
                <a:ea typeface="Segoe UI Symbol" pitchFamily="34" charset="-122"/>
                <a:cs typeface="Segoe UI Symbol" pitchFamily="34" charset="-120"/>
              </a:rPr>
              <a:t>✿</a:t>
            </a:r>
            <a:r>
              <a:rPr lang="en-US" sz="1013" dirty="0">
                <a:solidFill>
                  <a:srgbClr val="0F172A"/>
                </a:solidFill>
                <a:latin typeface="Carlito" pitchFamily="34" charset="0"/>
                <a:ea typeface="Carlito" pitchFamily="34" charset="-122"/>
                <a:cs typeface="Carlito" pitchFamily="34" charset="-120"/>
              </a:rPr>
              <a:t> Hierarchy: </a:t>
            </a:r>
            <a:r>
              <a:rPr lang="en-US" sz="900" b="1" dirty="0">
                <a:solidFill>
                  <a:srgbClr val="C2410C"/>
                </a:solidFill>
                <a:latin typeface="Courier New" pitchFamily="34" charset="0"/>
                <a:ea typeface="Courier New" pitchFamily="34" charset="-122"/>
                <a:cs typeface="Courier New" pitchFamily="34" charset="-120"/>
              </a:rPr>
              <a:t>Playbook → Play(s) → Task(s) → Module</a:t>
            </a:r>
            <a:r>
              <a:rPr lang="en-US" sz="1013" dirty="0">
                <a:solidFill>
                  <a:srgbClr val="0F172A"/>
                </a:solidFill>
                <a:latin typeface="Carlito" pitchFamily="34" charset="0"/>
                <a:ea typeface="Carlito" pitchFamily="34" charset="-122"/>
                <a:cs typeface="Carlito" pitchFamily="34" charset="-120"/>
              </a:rPr>
              <a:t>. Vars and handlers attach at the play level.</a:t>
            </a:r>
            <a:endParaRPr lang="en-US" sz="1013"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00050" y="285750"/>
            <a:ext cx="4473360" cy="322473"/>
          </a:xfrm>
          <a:prstGeom prst="rect">
            <a:avLst/>
          </a:prstGeom>
          <a:noFill/>
          <a:ln/>
        </p:spPr>
        <p:txBody>
          <a:bodyPr wrap="square" lIns="0" tIns="0" rIns="0" bIns="0" rtlCol="0" anchor="t"/>
          <a:lstStyle/>
          <a:p>
            <a:pPr marL="0" indent="0" algn="l">
              <a:lnSpc>
                <a:spcPts val="2351"/>
              </a:lnSpc>
              <a:buNone/>
            </a:pPr>
            <a:r>
              <a:rPr lang="en-US" sz="2138" b="1" dirty="0">
                <a:solidFill>
                  <a:srgbClr val="0F172A"/>
                </a:solidFill>
                <a:latin typeface="Carlito" pitchFamily="34" charset="0"/>
                <a:ea typeface="Carlito" pitchFamily="34" charset="-122"/>
                <a:cs typeface="Carlito" pitchFamily="34" charset="-120"/>
              </a:rPr>
              <a:t>Code Example — Simple Playbook</a:t>
            </a:r>
            <a:endParaRPr lang="en-US" sz="2138" dirty="0"/>
          </a:p>
        </p:txBody>
      </p:sp>
      <p:sp>
        <p:nvSpPr>
          <p:cNvPr id="3" name="Text 1"/>
          <p:cNvSpPr/>
          <p:nvPr/>
        </p:nvSpPr>
        <p:spPr>
          <a:xfrm>
            <a:off x="400050" y="655774"/>
            <a:ext cx="571500" cy="42863"/>
          </a:xfrm>
          <a:prstGeom prst="roundRect">
            <a:avLst>
              <a:gd name="adj" fmla="val 66666"/>
            </a:avLst>
          </a:prstGeom>
          <a:solidFill>
            <a:srgbClr val="F97316"/>
          </a:solidFill>
          <a:ln/>
        </p:spPr>
        <p:txBody>
          <a:bodyPr wrap="square" rtlCol="0" anchor="ctr"/>
          <a:lstStyle/>
          <a:p>
            <a:pPr marL="0" indent="0">
              <a:buNone/>
            </a:pPr>
            <a:endParaRPr lang="en-US" dirty="0"/>
          </a:p>
        </p:txBody>
      </p:sp>
      <p:sp>
        <p:nvSpPr>
          <p:cNvPr id="4" name="Text 2"/>
          <p:cNvSpPr/>
          <p:nvPr/>
        </p:nvSpPr>
        <p:spPr>
          <a:xfrm>
            <a:off x="400050" y="741499"/>
            <a:ext cx="4392027" cy="194328"/>
          </a:xfrm>
          <a:prstGeom prst="rect">
            <a:avLst/>
          </a:prstGeom>
          <a:noFill/>
          <a:ln/>
        </p:spPr>
        <p:txBody>
          <a:bodyPr wrap="square" lIns="0" tIns="0" rIns="0" bIns="0" rtlCol="0" anchor="t"/>
          <a:lstStyle/>
          <a:p>
            <a:pPr marL="0" indent="0" algn="l">
              <a:lnSpc>
                <a:spcPts val="1418"/>
              </a:lnSpc>
              <a:buNone/>
            </a:pPr>
            <a:r>
              <a:rPr lang="en-US" sz="1013" dirty="0">
                <a:solidFill>
                  <a:srgbClr val="64748B"/>
                </a:solidFill>
                <a:latin typeface="Carlito" pitchFamily="34" charset="0"/>
                <a:ea typeface="Carlito" pitchFamily="34" charset="-122"/>
                <a:cs typeface="Carlito" pitchFamily="34" charset="-120"/>
              </a:rPr>
              <a:t>Install nginx, deploy config, start service.</a:t>
            </a:r>
            <a:endParaRPr lang="en-US" sz="1013" dirty="0"/>
          </a:p>
        </p:txBody>
      </p:sp>
      <p:sp>
        <p:nvSpPr>
          <p:cNvPr id="5" name="Text 3"/>
          <p:cNvSpPr/>
          <p:nvPr/>
        </p:nvSpPr>
        <p:spPr>
          <a:xfrm>
            <a:off x="7893531" y="272948"/>
            <a:ext cx="873279" cy="331333"/>
          </a:xfrm>
          <a:prstGeom prst="roundRect">
            <a:avLst>
              <a:gd name="adj" fmla="val 2871877"/>
            </a:avLst>
          </a:prstGeom>
          <a:solidFill>
            <a:srgbClr val="FED7AA"/>
          </a:solidFill>
          <a:ln/>
        </p:spPr>
        <p:txBody>
          <a:bodyPr wrap="square" rtlCol="0" anchor="ctr"/>
          <a:lstStyle/>
          <a:p>
            <a:pPr marL="0" indent="0">
              <a:buNone/>
            </a:pPr>
            <a:endParaRPr lang="en-US" dirty="0"/>
          </a:p>
        </p:txBody>
      </p:sp>
      <p:sp>
        <p:nvSpPr>
          <p:cNvPr id="6" name="Text 4"/>
          <p:cNvSpPr/>
          <p:nvPr/>
        </p:nvSpPr>
        <p:spPr>
          <a:xfrm>
            <a:off x="7916391" y="285750"/>
            <a:ext cx="827559" cy="330189"/>
          </a:xfrm>
          <a:prstGeom prst="rect">
            <a:avLst/>
          </a:prstGeom>
          <a:noFill/>
          <a:ln/>
        </p:spPr>
        <p:txBody>
          <a:bodyPr wrap="none" lIns="0" tIns="0" rIns="0" bIns="0" rtlCol="0" anchor="t"/>
          <a:lstStyle/>
          <a:p>
            <a:pPr marL="0" indent="0" algn="l">
              <a:lnSpc>
                <a:spcPts val="1733"/>
              </a:lnSpc>
              <a:buNone/>
            </a:pPr>
            <a:r>
              <a:rPr lang="en-US" sz="1238" b="1" kern="0" spc="28" dirty="0">
                <a:solidFill>
                  <a:srgbClr val="C2410C"/>
                </a:solidFill>
                <a:latin typeface="Segoe UI Symbol" pitchFamily="34" charset="0"/>
                <a:ea typeface="Segoe UI Symbol" pitchFamily="34" charset="-122"/>
                <a:cs typeface="Segoe UI Symbol" pitchFamily="34" charset="-120"/>
              </a:rPr>
              <a:t>✦</a:t>
            </a:r>
            <a:r>
              <a:rPr lang="en-US" sz="1238" b="1" kern="0" spc="28" dirty="0">
                <a:solidFill>
                  <a:srgbClr val="C2410C"/>
                </a:solidFill>
                <a:latin typeface="Carlito" pitchFamily="34" charset="0"/>
                <a:ea typeface="Carlito" pitchFamily="34" charset="-122"/>
                <a:cs typeface="Carlito" pitchFamily="34" charset="-120"/>
              </a:rPr>
              <a:t> YAML</a:t>
            </a:r>
            <a:endParaRPr lang="en-US" sz="1238" dirty="0"/>
          </a:p>
        </p:txBody>
      </p:sp>
      <p:sp>
        <p:nvSpPr>
          <p:cNvPr id="7" name="Text 5"/>
          <p:cNvSpPr/>
          <p:nvPr/>
        </p:nvSpPr>
        <p:spPr>
          <a:xfrm>
            <a:off x="571500" y="1164320"/>
            <a:ext cx="308610" cy="165449"/>
          </a:xfrm>
          <a:prstGeom prst="rect">
            <a:avLst/>
          </a:prstGeom>
          <a:noFill/>
          <a:ln/>
        </p:spPr>
        <p:txBody>
          <a:bodyPr wrap="none" lIns="0" tIns="0" rIns="0" bIns="0" rtlCol="0" anchor="t">
            <a:normAutofit fontScale="47500" lnSpcReduction="20000"/>
          </a:bodyPr>
          <a:lstStyle/>
          <a:p>
            <a:pPr marL="0" indent="0" algn="l">
              <a:lnSpc>
                <a:spcPts val="1519"/>
              </a:lnSpc>
              <a:buNone/>
            </a:pPr>
            <a:r>
              <a:rPr lang="en-US" sz="1013" i="1" dirty="0">
                <a:solidFill>
                  <a:srgbClr val="94A3B8"/>
                </a:solidFill>
                <a:latin typeface="Courier New" pitchFamily="34" charset="0"/>
                <a:ea typeface="Courier New" pitchFamily="34" charset="-122"/>
                <a:cs typeface="Courier New" pitchFamily="34" charset="-120"/>
              </a:rPr>
              <a:t>---</a:t>
            </a:r>
            <a:endParaRPr lang="en-US" sz="1013" dirty="0"/>
          </a:p>
        </p:txBody>
      </p:sp>
      <p:sp>
        <p:nvSpPr>
          <p:cNvPr id="8" name="Text 6"/>
          <p:cNvSpPr/>
          <p:nvPr/>
        </p:nvSpPr>
        <p:spPr>
          <a:xfrm>
            <a:off x="571500" y="1357201"/>
            <a:ext cx="4050506" cy="165449"/>
          </a:xfrm>
          <a:prstGeom prst="rect">
            <a:avLst/>
          </a:prstGeom>
          <a:noFill/>
          <a:ln/>
        </p:spPr>
        <p:txBody>
          <a:bodyPr wrap="none" lIns="0" tIns="0" rIns="0" bIns="0" rtlCol="0" anchor="t">
            <a:normAutofit fontScale="47500" lnSpcReduction="20000"/>
          </a:bodyPr>
          <a:lstStyle/>
          <a:p>
            <a:pPr marL="0" indent="0" algn="l">
              <a:lnSpc>
                <a:spcPts val="1519"/>
              </a:lnSpc>
              <a:buNone/>
            </a:pPr>
            <a:r>
              <a:rPr lang="en-US" sz="1013" i="1" dirty="0">
                <a:solidFill>
                  <a:srgbClr val="94A3B8"/>
                </a:solidFill>
                <a:latin typeface="Courier New" pitchFamily="34" charset="0"/>
                <a:ea typeface="Courier New" pitchFamily="34" charset="-122"/>
                <a:cs typeface="Courier New" pitchFamily="34" charset="-120"/>
              </a:rPr>
              <a:t># install_nginx.yml — install and configure nginx on webservers</a:t>
            </a:r>
            <a:endParaRPr lang="en-US" sz="1013" dirty="0"/>
          </a:p>
        </p:txBody>
      </p:sp>
      <p:sp>
        <p:nvSpPr>
          <p:cNvPr id="9" name="Text 7"/>
          <p:cNvSpPr/>
          <p:nvPr/>
        </p:nvSpPr>
        <p:spPr>
          <a:xfrm>
            <a:off x="700088" y="1550082"/>
            <a:ext cx="514350" cy="169736"/>
          </a:xfrm>
          <a:prstGeom prst="rect">
            <a:avLst/>
          </a:prstGeom>
          <a:noFill/>
          <a:ln/>
        </p:spPr>
        <p:txBody>
          <a:bodyPr wrap="none" lIns="0" tIns="0" rIns="0" bIns="0" rtlCol="0" anchor="t"/>
          <a:lstStyle/>
          <a:p>
            <a:pPr marL="0" indent="0" algn="l">
              <a:lnSpc>
                <a:spcPts val="1519"/>
              </a:lnSpc>
              <a:buNone/>
            </a:pPr>
            <a:r>
              <a:rPr lang="en-US" sz="1013" dirty="0">
                <a:solidFill>
                  <a:srgbClr val="FBA74A"/>
                </a:solidFill>
                <a:latin typeface="Courier New" pitchFamily="34" charset="0"/>
                <a:ea typeface="Courier New" pitchFamily="34" charset="-122"/>
                <a:cs typeface="Courier New" pitchFamily="34" charset="-120"/>
              </a:rPr>
              <a:t>name:</a:t>
            </a:r>
            <a:endParaRPr lang="en-US" sz="1013" dirty="0"/>
          </a:p>
        </p:txBody>
      </p:sp>
      <p:sp>
        <p:nvSpPr>
          <p:cNvPr id="10" name="Text 8"/>
          <p:cNvSpPr/>
          <p:nvPr/>
        </p:nvSpPr>
        <p:spPr>
          <a:xfrm>
            <a:off x="1085850" y="1550082"/>
            <a:ext cx="2152555" cy="165449"/>
          </a:xfrm>
          <a:prstGeom prst="rect">
            <a:avLst/>
          </a:prstGeom>
          <a:noFill/>
          <a:ln/>
        </p:spPr>
        <p:txBody>
          <a:bodyPr wrap="none" lIns="0" tIns="0" rIns="0" bIns="0" rtlCol="0" anchor="t">
            <a:normAutofit fontScale="47500" lnSpcReduction="20000"/>
          </a:bodyPr>
          <a:lstStyle/>
          <a:p>
            <a:pPr marL="0" indent="0" algn="l">
              <a:lnSpc>
                <a:spcPts val="1519"/>
              </a:lnSpc>
              <a:buNone/>
            </a:pPr>
            <a:r>
              <a:rPr lang="en-US" sz="1013" dirty="0">
                <a:solidFill>
                  <a:srgbClr val="86EFAC"/>
                </a:solidFill>
                <a:latin typeface="Courier New" pitchFamily="34" charset="0"/>
                <a:ea typeface="Courier New" pitchFamily="34" charset="-122"/>
                <a:cs typeface="Courier New" pitchFamily="34" charset="-120"/>
              </a:rPr>
              <a:t>Configure webservers with nginx</a:t>
            </a:r>
            <a:endParaRPr lang="en-US" sz="1013" dirty="0"/>
          </a:p>
        </p:txBody>
      </p:sp>
      <p:sp>
        <p:nvSpPr>
          <p:cNvPr id="11" name="Text 9"/>
          <p:cNvSpPr/>
          <p:nvPr/>
        </p:nvSpPr>
        <p:spPr>
          <a:xfrm>
            <a:off x="700088" y="1742963"/>
            <a:ext cx="551640" cy="169736"/>
          </a:xfrm>
          <a:prstGeom prst="rect">
            <a:avLst/>
          </a:prstGeom>
          <a:noFill/>
          <a:ln/>
        </p:spPr>
        <p:txBody>
          <a:bodyPr wrap="none" lIns="0" tIns="0" rIns="0" bIns="0" rtlCol="0" anchor="t"/>
          <a:lstStyle/>
          <a:p>
            <a:pPr marL="0" indent="0" algn="l">
              <a:lnSpc>
                <a:spcPts val="1519"/>
              </a:lnSpc>
              <a:buNone/>
            </a:pPr>
            <a:r>
              <a:rPr lang="en-US" sz="1013" dirty="0">
                <a:solidFill>
                  <a:srgbClr val="FBA74A"/>
                </a:solidFill>
                <a:latin typeface="Courier New" pitchFamily="34" charset="0"/>
                <a:ea typeface="Courier New" pitchFamily="34" charset="-122"/>
                <a:cs typeface="Courier New" pitchFamily="34" charset="-120"/>
              </a:rPr>
              <a:t>hosts:</a:t>
            </a:r>
            <a:endParaRPr lang="en-US" sz="1013" dirty="0"/>
          </a:p>
        </p:txBody>
      </p:sp>
      <p:sp>
        <p:nvSpPr>
          <p:cNvPr id="12" name="Text 10"/>
          <p:cNvSpPr/>
          <p:nvPr/>
        </p:nvSpPr>
        <p:spPr>
          <a:xfrm>
            <a:off x="1134970" y="1742963"/>
            <a:ext cx="834019" cy="165449"/>
          </a:xfrm>
          <a:prstGeom prst="rect">
            <a:avLst/>
          </a:prstGeom>
          <a:noFill/>
          <a:ln/>
        </p:spPr>
        <p:txBody>
          <a:bodyPr wrap="none" lIns="0" tIns="0" rIns="0" bIns="0" rtlCol="0" anchor="t">
            <a:normAutofit fontScale="47500" lnSpcReduction="20000"/>
          </a:bodyPr>
          <a:lstStyle/>
          <a:p>
            <a:pPr marL="0" indent="0" algn="l">
              <a:lnSpc>
                <a:spcPts val="1519"/>
              </a:lnSpc>
              <a:buNone/>
            </a:pPr>
            <a:r>
              <a:rPr lang="en-US" sz="1013" dirty="0">
                <a:solidFill>
                  <a:srgbClr val="86EFAC"/>
                </a:solidFill>
                <a:latin typeface="Courier New" pitchFamily="34" charset="0"/>
                <a:ea typeface="Courier New" pitchFamily="34" charset="-122"/>
                <a:cs typeface="Courier New" pitchFamily="34" charset="-120"/>
              </a:rPr>
              <a:t>webservers</a:t>
            </a:r>
            <a:endParaRPr lang="en-US" sz="1013" dirty="0"/>
          </a:p>
        </p:txBody>
      </p:sp>
      <p:sp>
        <p:nvSpPr>
          <p:cNvPr id="13" name="Text 11"/>
          <p:cNvSpPr/>
          <p:nvPr/>
        </p:nvSpPr>
        <p:spPr>
          <a:xfrm>
            <a:off x="700088" y="1935845"/>
            <a:ext cx="643580" cy="169736"/>
          </a:xfrm>
          <a:prstGeom prst="rect">
            <a:avLst/>
          </a:prstGeom>
          <a:noFill/>
          <a:ln/>
        </p:spPr>
        <p:txBody>
          <a:bodyPr wrap="none" lIns="0" tIns="0" rIns="0" bIns="0" rtlCol="0" anchor="t"/>
          <a:lstStyle/>
          <a:p>
            <a:pPr marL="0" indent="0" algn="l">
              <a:lnSpc>
                <a:spcPts val="1519"/>
              </a:lnSpc>
              <a:buNone/>
            </a:pPr>
            <a:r>
              <a:rPr lang="en-US" sz="1013" dirty="0">
                <a:solidFill>
                  <a:srgbClr val="FBA74A"/>
                </a:solidFill>
                <a:latin typeface="Courier New" pitchFamily="34" charset="0"/>
                <a:ea typeface="Courier New" pitchFamily="34" charset="-122"/>
                <a:cs typeface="Courier New" pitchFamily="34" charset="-120"/>
              </a:rPr>
              <a:t>become:</a:t>
            </a:r>
            <a:endParaRPr lang="en-US" sz="1013" dirty="0"/>
          </a:p>
        </p:txBody>
      </p:sp>
      <p:sp>
        <p:nvSpPr>
          <p:cNvPr id="14" name="Text 12"/>
          <p:cNvSpPr/>
          <p:nvPr/>
        </p:nvSpPr>
        <p:spPr>
          <a:xfrm>
            <a:off x="1214438" y="1935845"/>
            <a:ext cx="308610" cy="169736"/>
          </a:xfrm>
          <a:prstGeom prst="rect">
            <a:avLst/>
          </a:prstGeom>
          <a:noFill/>
          <a:ln/>
        </p:spPr>
        <p:txBody>
          <a:bodyPr wrap="none" lIns="0" tIns="0" rIns="0" bIns="0" rtlCol="0" anchor="t"/>
          <a:lstStyle/>
          <a:p>
            <a:pPr marL="0" indent="0" algn="l">
              <a:lnSpc>
                <a:spcPts val="1519"/>
              </a:lnSpc>
              <a:buNone/>
            </a:pPr>
            <a:r>
              <a:rPr lang="en-US" sz="1013" dirty="0">
                <a:solidFill>
                  <a:srgbClr val="93C5FD"/>
                </a:solidFill>
                <a:latin typeface="Courier New" pitchFamily="34" charset="0"/>
                <a:ea typeface="Courier New" pitchFamily="34" charset="-122"/>
                <a:cs typeface="Courier New" pitchFamily="34" charset="-120"/>
              </a:rPr>
              <a:t>yes</a:t>
            </a:r>
            <a:endParaRPr lang="en-US" sz="1013" dirty="0"/>
          </a:p>
        </p:txBody>
      </p:sp>
      <p:sp>
        <p:nvSpPr>
          <p:cNvPr id="15" name="Text 13"/>
          <p:cNvSpPr/>
          <p:nvPr/>
        </p:nvSpPr>
        <p:spPr>
          <a:xfrm>
            <a:off x="2436019" y="1935845"/>
            <a:ext cx="1078206" cy="165449"/>
          </a:xfrm>
          <a:prstGeom prst="rect">
            <a:avLst/>
          </a:prstGeom>
          <a:noFill/>
          <a:ln/>
        </p:spPr>
        <p:txBody>
          <a:bodyPr wrap="none" lIns="0" tIns="0" rIns="0" bIns="0" rtlCol="0" anchor="t">
            <a:normAutofit fontScale="47500" lnSpcReduction="20000"/>
          </a:bodyPr>
          <a:lstStyle/>
          <a:p>
            <a:pPr marL="0" indent="0" algn="l">
              <a:lnSpc>
                <a:spcPts val="1519"/>
              </a:lnSpc>
              <a:buNone/>
            </a:pPr>
            <a:r>
              <a:rPr lang="en-US" sz="1013" i="1" dirty="0">
                <a:solidFill>
                  <a:srgbClr val="94A3B8"/>
                </a:solidFill>
                <a:latin typeface="Courier New" pitchFamily="34" charset="0"/>
                <a:ea typeface="Courier New" pitchFamily="34" charset="-122"/>
                <a:cs typeface="Courier New" pitchFamily="34" charset="-120"/>
              </a:rPr>
              <a:t># run as sudo</a:t>
            </a:r>
            <a:endParaRPr lang="en-US" sz="1013" dirty="0"/>
          </a:p>
        </p:txBody>
      </p:sp>
      <p:sp>
        <p:nvSpPr>
          <p:cNvPr id="16" name="Text 14"/>
          <p:cNvSpPr/>
          <p:nvPr/>
        </p:nvSpPr>
        <p:spPr>
          <a:xfrm>
            <a:off x="700088" y="2128726"/>
            <a:ext cx="514350" cy="165449"/>
          </a:xfrm>
          <a:prstGeom prst="rect">
            <a:avLst/>
          </a:prstGeom>
          <a:noFill/>
          <a:ln/>
        </p:spPr>
        <p:txBody>
          <a:bodyPr wrap="none" lIns="0" tIns="0" rIns="0" bIns="0" rtlCol="0" anchor="t">
            <a:normAutofit fontScale="47500" lnSpcReduction="20000"/>
          </a:bodyPr>
          <a:lstStyle/>
          <a:p>
            <a:pPr marL="0" indent="0" algn="l">
              <a:lnSpc>
                <a:spcPts val="1519"/>
              </a:lnSpc>
              <a:buNone/>
            </a:pPr>
            <a:r>
              <a:rPr lang="en-US" sz="1013" dirty="0">
                <a:solidFill>
                  <a:srgbClr val="FBA74A"/>
                </a:solidFill>
                <a:latin typeface="Courier New" pitchFamily="34" charset="0"/>
                <a:ea typeface="Courier New" pitchFamily="34" charset="-122"/>
                <a:cs typeface="Courier New" pitchFamily="34" charset="-120"/>
              </a:rPr>
              <a:t>vars:</a:t>
            </a:r>
            <a:endParaRPr lang="en-US" sz="1013" dirty="0"/>
          </a:p>
        </p:txBody>
      </p:sp>
      <p:sp>
        <p:nvSpPr>
          <p:cNvPr id="17" name="Text 15"/>
          <p:cNvSpPr/>
          <p:nvPr/>
        </p:nvSpPr>
        <p:spPr>
          <a:xfrm>
            <a:off x="824856" y="2321607"/>
            <a:ext cx="891677" cy="169736"/>
          </a:xfrm>
          <a:prstGeom prst="rect">
            <a:avLst/>
          </a:prstGeom>
          <a:noFill/>
          <a:ln/>
        </p:spPr>
        <p:txBody>
          <a:bodyPr wrap="none" lIns="0" tIns="0" rIns="0" bIns="0" rtlCol="0" anchor="t"/>
          <a:lstStyle/>
          <a:p>
            <a:pPr marL="0" indent="0" algn="l">
              <a:lnSpc>
                <a:spcPts val="1519"/>
              </a:lnSpc>
              <a:buNone/>
            </a:pPr>
            <a:r>
              <a:rPr lang="en-US" sz="1013" dirty="0">
                <a:solidFill>
                  <a:srgbClr val="FBA74A"/>
                </a:solidFill>
                <a:latin typeface="Courier New" pitchFamily="34" charset="0"/>
                <a:ea typeface="Courier New" pitchFamily="34" charset="-122"/>
                <a:cs typeface="Courier New" pitchFamily="34" charset="-120"/>
              </a:rPr>
              <a:t>nginx_port:</a:t>
            </a:r>
            <a:endParaRPr lang="en-US" sz="1013" dirty="0"/>
          </a:p>
        </p:txBody>
      </p:sp>
      <p:sp>
        <p:nvSpPr>
          <p:cNvPr id="18" name="Text 16"/>
          <p:cNvSpPr/>
          <p:nvPr/>
        </p:nvSpPr>
        <p:spPr>
          <a:xfrm>
            <a:off x="1595288" y="2321607"/>
            <a:ext cx="421304" cy="169736"/>
          </a:xfrm>
          <a:prstGeom prst="rect">
            <a:avLst/>
          </a:prstGeom>
          <a:noFill/>
          <a:ln/>
        </p:spPr>
        <p:txBody>
          <a:bodyPr wrap="none" lIns="0" tIns="0" rIns="0" bIns="0" rtlCol="0" anchor="t"/>
          <a:lstStyle/>
          <a:p>
            <a:pPr marL="0" indent="0" algn="l">
              <a:lnSpc>
                <a:spcPts val="1519"/>
              </a:lnSpc>
              <a:buNone/>
            </a:pPr>
            <a:r>
              <a:rPr lang="en-US" sz="1013" dirty="0">
                <a:solidFill>
                  <a:srgbClr val="93C5FD"/>
                </a:solidFill>
                <a:latin typeface="Liberation Sans Narrow" pitchFamily="34" charset="0"/>
                <a:ea typeface="Liberation Sans Narrow" pitchFamily="34" charset="-122"/>
                <a:cs typeface="Liberation Sans Narrow" pitchFamily="34" charset="-120"/>
              </a:rPr>
              <a:t>8080</a:t>
            </a:r>
            <a:endParaRPr lang="en-US" sz="1013" dirty="0"/>
          </a:p>
        </p:txBody>
      </p:sp>
      <p:sp>
        <p:nvSpPr>
          <p:cNvPr id="19" name="Text 17"/>
          <p:cNvSpPr/>
          <p:nvPr/>
        </p:nvSpPr>
        <p:spPr>
          <a:xfrm>
            <a:off x="700088" y="2707370"/>
            <a:ext cx="551640" cy="165449"/>
          </a:xfrm>
          <a:prstGeom prst="rect">
            <a:avLst/>
          </a:prstGeom>
          <a:noFill/>
          <a:ln/>
        </p:spPr>
        <p:txBody>
          <a:bodyPr wrap="none" lIns="0" tIns="0" rIns="0" bIns="0" rtlCol="0" anchor="t">
            <a:normAutofit fontScale="47500" lnSpcReduction="20000"/>
          </a:bodyPr>
          <a:lstStyle/>
          <a:p>
            <a:pPr marL="0" indent="0" algn="l">
              <a:lnSpc>
                <a:spcPts val="1519"/>
              </a:lnSpc>
              <a:buNone/>
            </a:pPr>
            <a:r>
              <a:rPr lang="en-US" sz="1013" dirty="0">
                <a:solidFill>
                  <a:srgbClr val="FBA74A"/>
                </a:solidFill>
                <a:latin typeface="Courier New" pitchFamily="34" charset="0"/>
                <a:ea typeface="Courier New" pitchFamily="34" charset="-122"/>
                <a:cs typeface="Courier New" pitchFamily="34" charset="-120"/>
              </a:rPr>
              <a:t>tasks:</a:t>
            </a:r>
            <a:endParaRPr lang="en-US" sz="1013" dirty="0"/>
          </a:p>
        </p:txBody>
      </p:sp>
      <p:sp>
        <p:nvSpPr>
          <p:cNvPr id="20" name="Text 18"/>
          <p:cNvSpPr/>
          <p:nvPr/>
        </p:nvSpPr>
        <p:spPr>
          <a:xfrm>
            <a:off x="957263" y="2900251"/>
            <a:ext cx="514350" cy="169736"/>
          </a:xfrm>
          <a:prstGeom prst="rect">
            <a:avLst/>
          </a:prstGeom>
          <a:noFill/>
          <a:ln/>
        </p:spPr>
        <p:txBody>
          <a:bodyPr wrap="none" lIns="0" tIns="0" rIns="0" bIns="0" rtlCol="0" anchor="t"/>
          <a:lstStyle/>
          <a:p>
            <a:pPr marL="0" indent="0" algn="l">
              <a:lnSpc>
                <a:spcPts val="1519"/>
              </a:lnSpc>
              <a:buNone/>
            </a:pPr>
            <a:r>
              <a:rPr lang="en-US" sz="1013" dirty="0">
                <a:solidFill>
                  <a:srgbClr val="FBA74A"/>
                </a:solidFill>
                <a:latin typeface="Courier New" pitchFamily="34" charset="0"/>
                <a:ea typeface="Courier New" pitchFamily="34" charset="-122"/>
                <a:cs typeface="Courier New" pitchFamily="34" charset="-120"/>
              </a:rPr>
              <a:t>name:</a:t>
            </a:r>
            <a:endParaRPr lang="en-US" sz="1013" dirty="0"/>
          </a:p>
        </p:txBody>
      </p:sp>
      <p:sp>
        <p:nvSpPr>
          <p:cNvPr id="21" name="Text 19"/>
          <p:cNvSpPr/>
          <p:nvPr/>
        </p:nvSpPr>
        <p:spPr>
          <a:xfrm>
            <a:off x="1343025" y="2900251"/>
            <a:ext cx="1687711" cy="165449"/>
          </a:xfrm>
          <a:prstGeom prst="rect">
            <a:avLst/>
          </a:prstGeom>
          <a:noFill/>
          <a:ln/>
        </p:spPr>
        <p:txBody>
          <a:bodyPr wrap="none" lIns="0" tIns="0" rIns="0" bIns="0" rtlCol="0" anchor="t">
            <a:normAutofit fontScale="47500" lnSpcReduction="20000"/>
          </a:bodyPr>
          <a:lstStyle/>
          <a:p>
            <a:pPr marL="0" indent="0" algn="l">
              <a:lnSpc>
                <a:spcPts val="1519"/>
              </a:lnSpc>
              <a:buNone/>
            </a:pPr>
            <a:r>
              <a:rPr lang="en-US" sz="1013" dirty="0">
                <a:solidFill>
                  <a:srgbClr val="86EFAC"/>
                </a:solidFill>
                <a:latin typeface="Courier New" pitchFamily="34" charset="0"/>
                <a:ea typeface="Courier New" pitchFamily="34" charset="-122"/>
                <a:cs typeface="Courier New" pitchFamily="34" charset="-120"/>
              </a:rPr>
              <a:t>Install nginx package</a:t>
            </a:r>
            <a:endParaRPr lang="en-US" sz="1013" dirty="0"/>
          </a:p>
        </p:txBody>
      </p:sp>
      <p:sp>
        <p:nvSpPr>
          <p:cNvPr id="22" name="Text 20"/>
          <p:cNvSpPr/>
          <p:nvPr/>
        </p:nvSpPr>
        <p:spPr>
          <a:xfrm>
            <a:off x="957263" y="3093132"/>
            <a:ext cx="411480" cy="165449"/>
          </a:xfrm>
          <a:prstGeom prst="rect">
            <a:avLst/>
          </a:prstGeom>
          <a:noFill/>
          <a:ln/>
        </p:spPr>
        <p:txBody>
          <a:bodyPr wrap="none" lIns="0" tIns="0" rIns="0" bIns="0" rtlCol="0" anchor="t">
            <a:normAutofit fontScale="47500" lnSpcReduction="20000"/>
          </a:bodyPr>
          <a:lstStyle/>
          <a:p>
            <a:pPr marL="0" indent="0" algn="l">
              <a:lnSpc>
                <a:spcPts val="1519"/>
              </a:lnSpc>
              <a:buNone/>
            </a:pPr>
            <a:r>
              <a:rPr lang="en-US" sz="1013" dirty="0">
                <a:solidFill>
                  <a:srgbClr val="FBA74A"/>
                </a:solidFill>
                <a:latin typeface="Courier New" pitchFamily="34" charset="0"/>
                <a:ea typeface="Courier New" pitchFamily="34" charset="-122"/>
                <a:cs typeface="Courier New" pitchFamily="34" charset="-120"/>
              </a:rPr>
              <a:t>apt:</a:t>
            </a:r>
            <a:endParaRPr lang="en-US" sz="1013" dirty="0"/>
          </a:p>
        </p:txBody>
      </p:sp>
      <p:sp>
        <p:nvSpPr>
          <p:cNvPr id="23" name="Text 21"/>
          <p:cNvSpPr/>
          <p:nvPr/>
        </p:nvSpPr>
        <p:spPr>
          <a:xfrm>
            <a:off x="1085850" y="3286013"/>
            <a:ext cx="514350" cy="169736"/>
          </a:xfrm>
          <a:prstGeom prst="rect">
            <a:avLst/>
          </a:prstGeom>
          <a:noFill/>
          <a:ln/>
        </p:spPr>
        <p:txBody>
          <a:bodyPr wrap="none" lIns="0" tIns="0" rIns="0" bIns="0" rtlCol="0" anchor="t"/>
          <a:lstStyle/>
          <a:p>
            <a:pPr marL="0" indent="0" algn="l">
              <a:lnSpc>
                <a:spcPts val="1519"/>
              </a:lnSpc>
              <a:buNone/>
            </a:pPr>
            <a:r>
              <a:rPr lang="en-US" sz="1013" dirty="0">
                <a:solidFill>
                  <a:srgbClr val="FBA74A"/>
                </a:solidFill>
                <a:latin typeface="Courier New" pitchFamily="34" charset="0"/>
                <a:ea typeface="Courier New" pitchFamily="34" charset="-122"/>
                <a:cs typeface="Courier New" pitchFamily="34" charset="-120"/>
              </a:rPr>
              <a:t>name:</a:t>
            </a:r>
            <a:endParaRPr lang="en-US" sz="1013" dirty="0"/>
          </a:p>
        </p:txBody>
      </p:sp>
      <p:sp>
        <p:nvSpPr>
          <p:cNvPr id="24" name="Text 22"/>
          <p:cNvSpPr/>
          <p:nvPr/>
        </p:nvSpPr>
        <p:spPr>
          <a:xfrm>
            <a:off x="1471613" y="3286013"/>
            <a:ext cx="514350" cy="165449"/>
          </a:xfrm>
          <a:prstGeom prst="rect">
            <a:avLst/>
          </a:prstGeom>
          <a:noFill/>
          <a:ln/>
        </p:spPr>
        <p:txBody>
          <a:bodyPr wrap="none" lIns="0" tIns="0" rIns="0" bIns="0" rtlCol="0" anchor="t">
            <a:normAutofit fontScale="47500" lnSpcReduction="20000"/>
          </a:bodyPr>
          <a:lstStyle/>
          <a:p>
            <a:pPr marL="0" indent="0" algn="l">
              <a:lnSpc>
                <a:spcPts val="1519"/>
              </a:lnSpc>
              <a:buNone/>
            </a:pPr>
            <a:r>
              <a:rPr lang="en-US" sz="1013" dirty="0">
                <a:solidFill>
                  <a:srgbClr val="86EFAC"/>
                </a:solidFill>
                <a:latin typeface="Courier New" pitchFamily="34" charset="0"/>
                <a:ea typeface="Courier New" pitchFamily="34" charset="-122"/>
                <a:cs typeface="Courier New" pitchFamily="34" charset="-120"/>
              </a:rPr>
              <a:t>nginx</a:t>
            </a:r>
            <a:endParaRPr lang="en-US" sz="1013" dirty="0"/>
          </a:p>
        </p:txBody>
      </p:sp>
      <p:sp>
        <p:nvSpPr>
          <p:cNvPr id="25" name="Text 23"/>
          <p:cNvSpPr/>
          <p:nvPr/>
        </p:nvSpPr>
        <p:spPr>
          <a:xfrm>
            <a:off x="1085850" y="3478895"/>
            <a:ext cx="551640" cy="169736"/>
          </a:xfrm>
          <a:prstGeom prst="rect">
            <a:avLst/>
          </a:prstGeom>
          <a:noFill/>
          <a:ln/>
        </p:spPr>
        <p:txBody>
          <a:bodyPr wrap="none" lIns="0" tIns="0" rIns="0" bIns="0" rtlCol="0" anchor="t"/>
          <a:lstStyle/>
          <a:p>
            <a:pPr marL="0" indent="0" algn="l">
              <a:lnSpc>
                <a:spcPts val="1519"/>
              </a:lnSpc>
              <a:buNone/>
            </a:pPr>
            <a:r>
              <a:rPr lang="en-US" sz="1013" dirty="0">
                <a:solidFill>
                  <a:srgbClr val="FBA74A"/>
                </a:solidFill>
                <a:latin typeface="Courier New" pitchFamily="34" charset="0"/>
                <a:ea typeface="Courier New" pitchFamily="34" charset="-122"/>
                <a:cs typeface="Courier New" pitchFamily="34" charset="-120"/>
              </a:rPr>
              <a:t>state:</a:t>
            </a:r>
            <a:endParaRPr lang="en-US" sz="1013" dirty="0"/>
          </a:p>
        </p:txBody>
      </p:sp>
      <p:sp>
        <p:nvSpPr>
          <p:cNvPr id="26" name="Text 24"/>
          <p:cNvSpPr/>
          <p:nvPr/>
        </p:nvSpPr>
        <p:spPr>
          <a:xfrm>
            <a:off x="1535906" y="3478895"/>
            <a:ext cx="643580" cy="165449"/>
          </a:xfrm>
          <a:prstGeom prst="rect">
            <a:avLst/>
          </a:prstGeom>
          <a:noFill/>
          <a:ln/>
        </p:spPr>
        <p:txBody>
          <a:bodyPr wrap="none" lIns="0" tIns="0" rIns="0" bIns="0" rtlCol="0" anchor="t">
            <a:normAutofit fontScale="47500" lnSpcReduction="20000"/>
          </a:bodyPr>
          <a:lstStyle/>
          <a:p>
            <a:pPr marL="0" indent="0" algn="l">
              <a:lnSpc>
                <a:spcPts val="1519"/>
              </a:lnSpc>
              <a:buNone/>
            </a:pPr>
            <a:r>
              <a:rPr lang="en-US" sz="1013" dirty="0">
                <a:solidFill>
                  <a:srgbClr val="86EFAC"/>
                </a:solidFill>
                <a:latin typeface="Courier New" pitchFamily="34" charset="0"/>
                <a:ea typeface="Courier New" pitchFamily="34" charset="-122"/>
                <a:cs typeface="Courier New" pitchFamily="34" charset="-120"/>
              </a:rPr>
              <a:t>present</a:t>
            </a:r>
            <a:endParaRPr lang="en-US" sz="1013" dirty="0"/>
          </a:p>
        </p:txBody>
      </p:sp>
      <p:sp>
        <p:nvSpPr>
          <p:cNvPr id="27" name="Text 25"/>
          <p:cNvSpPr/>
          <p:nvPr/>
        </p:nvSpPr>
        <p:spPr>
          <a:xfrm>
            <a:off x="1085850" y="3671776"/>
            <a:ext cx="1044773" cy="169736"/>
          </a:xfrm>
          <a:prstGeom prst="rect">
            <a:avLst/>
          </a:prstGeom>
          <a:noFill/>
          <a:ln/>
        </p:spPr>
        <p:txBody>
          <a:bodyPr wrap="none" lIns="0" tIns="0" rIns="0" bIns="0" rtlCol="0" anchor="t"/>
          <a:lstStyle/>
          <a:p>
            <a:pPr marL="0" indent="0" algn="l">
              <a:lnSpc>
                <a:spcPts val="1519"/>
              </a:lnSpc>
              <a:buNone/>
            </a:pPr>
            <a:r>
              <a:rPr lang="en-US" sz="1013" dirty="0">
                <a:solidFill>
                  <a:srgbClr val="FBA74A"/>
                </a:solidFill>
                <a:latin typeface="Courier New" pitchFamily="34" charset="0"/>
                <a:ea typeface="Courier New" pitchFamily="34" charset="-122"/>
                <a:cs typeface="Courier New" pitchFamily="34" charset="-120"/>
              </a:rPr>
              <a:t>update_cache:</a:t>
            </a:r>
            <a:endParaRPr lang="en-US" sz="1013" dirty="0"/>
          </a:p>
        </p:txBody>
      </p:sp>
      <p:sp>
        <p:nvSpPr>
          <p:cNvPr id="28" name="Text 26"/>
          <p:cNvSpPr/>
          <p:nvPr/>
        </p:nvSpPr>
        <p:spPr>
          <a:xfrm>
            <a:off x="1985963" y="3671776"/>
            <a:ext cx="308610" cy="169736"/>
          </a:xfrm>
          <a:prstGeom prst="rect">
            <a:avLst/>
          </a:prstGeom>
          <a:noFill/>
          <a:ln/>
        </p:spPr>
        <p:txBody>
          <a:bodyPr wrap="none" lIns="0" tIns="0" rIns="0" bIns="0" rtlCol="0" anchor="t"/>
          <a:lstStyle/>
          <a:p>
            <a:pPr marL="0" indent="0" algn="l">
              <a:lnSpc>
                <a:spcPts val="1519"/>
              </a:lnSpc>
              <a:buNone/>
            </a:pPr>
            <a:r>
              <a:rPr lang="en-US" sz="1013" dirty="0">
                <a:solidFill>
                  <a:srgbClr val="93C5FD"/>
                </a:solidFill>
                <a:latin typeface="Courier New" pitchFamily="34" charset="0"/>
                <a:ea typeface="Courier New" pitchFamily="34" charset="-122"/>
                <a:cs typeface="Courier New" pitchFamily="34" charset="-120"/>
              </a:rPr>
              <a:t>yes</a:t>
            </a:r>
            <a:endParaRPr lang="en-US" sz="1013" dirty="0"/>
          </a:p>
        </p:txBody>
      </p:sp>
      <p:sp>
        <p:nvSpPr>
          <p:cNvPr id="29" name="Text 27"/>
          <p:cNvSpPr/>
          <p:nvPr/>
        </p:nvSpPr>
        <p:spPr>
          <a:xfrm>
            <a:off x="957263" y="4057538"/>
            <a:ext cx="514350" cy="169736"/>
          </a:xfrm>
          <a:prstGeom prst="rect">
            <a:avLst/>
          </a:prstGeom>
          <a:noFill/>
          <a:ln/>
        </p:spPr>
        <p:txBody>
          <a:bodyPr wrap="none" lIns="0" tIns="0" rIns="0" bIns="0" rtlCol="0" anchor="t"/>
          <a:lstStyle/>
          <a:p>
            <a:pPr marL="0" indent="0" algn="l">
              <a:lnSpc>
                <a:spcPts val="1519"/>
              </a:lnSpc>
              <a:buNone/>
            </a:pPr>
            <a:r>
              <a:rPr lang="en-US" sz="1013" dirty="0">
                <a:solidFill>
                  <a:srgbClr val="FBA74A"/>
                </a:solidFill>
                <a:latin typeface="Courier New" pitchFamily="34" charset="0"/>
                <a:ea typeface="Courier New" pitchFamily="34" charset="-122"/>
                <a:cs typeface="Courier New" pitchFamily="34" charset="-120"/>
              </a:rPr>
              <a:t>name:</a:t>
            </a:r>
            <a:endParaRPr lang="en-US" sz="1013" dirty="0"/>
          </a:p>
        </p:txBody>
      </p:sp>
      <p:sp>
        <p:nvSpPr>
          <p:cNvPr id="30" name="Text 28"/>
          <p:cNvSpPr/>
          <p:nvPr/>
        </p:nvSpPr>
        <p:spPr>
          <a:xfrm>
            <a:off x="1343025" y="4057538"/>
            <a:ext cx="1366242" cy="165449"/>
          </a:xfrm>
          <a:prstGeom prst="rect">
            <a:avLst/>
          </a:prstGeom>
          <a:noFill/>
          <a:ln/>
        </p:spPr>
        <p:txBody>
          <a:bodyPr wrap="none" lIns="0" tIns="0" rIns="0" bIns="0" rtlCol="0" anchor="t">
            <a:normAutofit fontScale="47500" lnSpcReduction="20000"/>
          </a:bodyPr>
          <a:lstStyle/>
          <a:p>
            <a:pPr marL="0" indent="0" algn="l">
              <a:lnSpc>
                <a:spcPts val="1519"/>
              </a:lnSpc>
              <a:buNone/>
            </a:pPr>
            <a:r>
              <a:rPr lang="en-US" sz="1013" dirty="0">
                <a:solidFill>
                  <a:srgbClr val="86EFAC"/>
                </a:solidFill>
                <a:latin typeface="Courier New" pitchFamily="34" charset="0"/>
                <a:ea typeface="Courier New" pitchFamily="34" charset="-122"/>
                <a:cs typeface="Courier New" pitchFamily="34" charset="-120"/>
              </a:rPr>
              <a:t>Copy nginx config</a:t>
            </a:r>
            <a:endParaRPr lang="en-US" sz="1013" dirty="0"/>
          </a:p>
        </p:txBody>
      </p:sp>
      <p:sp>
        <p:nvSpPr>
          <p:cNvPr id="31" name="Text 29"/>
          <p:cNvSpPr/>
          <p:nvPr/>
        </p:nvSpPr>
        <p:spPr>
          <a:xfrm>
            <a:off x="957263" y="4250420"/>
            <a:ext cx="827461" cy="165449"/>
          </a:xfrm>
          <a:prstGeom prst="rect">
            <a:avLst/>
          </a:prstGeom>
          <a:noFill/>
          <a:ln/>
        </p:spPr>
        <p:txBody>
          <a:bodyPr wrap="none" lIns="0" tIns="0" rIns="0" bIns="0" rtlCol="0" anchor="t">
            <a:normAutofit fontScale="47500" lnSpcReduction="20000"/>
          </a:bodyPr>
          <a:lstStyle/>
          <a:p>
            <a:pPr marL="0" indent="0" algn="l">
              <a:lnSpc>
                <a:spcPts val="1519"/>
              </a:lnSpc>
              <a:buNone/>
            </a:pPr>
            <a:r>
              <a:rPr lang="en-US" sz="1013" dirty="0">
                <a:solidFill>
                  <a:srgbClr val="FBA74A"/>
                </a:solidFill>
                <a:latin typeface="Courier New" pitchFamily="34" charset="0"/>
                <a:ea typeface="Courier New" pitchFamily="34" charset="-122"/>
                <a:cs typeface="Courier New" pitchFamily="34" charset="-120"/>
              </a:rPr>
              <a:t>template:</a:t>
            </a:r>
            <a:endParaRPr lang="en-US" sz="1013" dirty="0"/>
          </a:p>
        </p:txBody>
      </p:sp>
      <p:sp>
        <p:nvSpPr>
          <p:cNvPr id="32" name="Text 30"/>
          <p:cNvSpPr/>
          <p:nvPr/>
        </p:nvSpPr>
        <p:spPr>
          <a:xfrm>
            <a:off x="1085850" y="4443301"/>
            <a:ext cx="411480" cy="169736"/>
          </a:xfrm>
          <a:prstGeom prst="rect">
            <a:avLst/>
          </a:prstGeom>
          <a:noFill/>
          <a:ln/>
        </p:spPr>
        <p:txBody>
          <a:bodyPr wrap="none" lIns="0" tIns="0" rIns="0" bIns="0" rtlCol="0" anchor="t"/>
          <a:lstStyle/>
          <a:p>
            <a:pPr marL="0" indent="0" algn="l">
              <a:lnSpc>
                <a:spcPts val="1519"/>
              </a:lnSpc>
              <a:buNone/>
            </a:pPr>
            <a:r>
              <a:rPr lang="en-US" sz="1013" dirty="0">
                <a:solidFill>
                  <a:srgbClr val="FBA74A"/>
                </a:solidFill>
                <a:latin typeface="Courier New" pitchFamily="34" charset="0"/>
                <a:ea typeface="Courier New" pitchFamily="34" charset="-122"/>
                <a:cs typeface="Courier New" pitchFamily="34" charset="-120"/>
              </a:rPr>
              <a:t>src:</a:t>
            </a:r>
            <a:endParaRPr lang="en-US" sz="1013" dirty="0"/>
          </a:p>
        </p:txBody>
      </p:sp>
      <p:sp>
        <p:nvSpPr>
          <p:cNvPr id="33" name="Text 31"/>
          <p:cNvSpPr/>
          <p:nvPr/>
        </p:nvSpPr>
        <p:spPr>
          <a:xfrm>
            <a:off x="1407319" y="4443301"/>
            <a:ext cx="1044773" cy="165449"/>
          </a:xfrm>
          <a:prstGeom prst="rect">
            <a:avLst/>
          </a:prstGeom>
          <a:noFill/>
          <a:ln/>
        </p:spPr>
        <p:txBody>
          <a:bodyPr wrap="none" lIns="0" tIns="0" rIns="0" bIns="0" rtlCol="0" anchor="t">
            <a:normAutofit fontScale="62500" lnSpcReduction="20000"/>
          </a:bodyPr>
          <a:lstStyle/>
          <a:p>
            <a:pPr marL="0" indent="0" algn="l">
              <a:lnSpc>
                <a:spcPts val="1519"/>
              </a:lnSpc>
              <a:buNone/>
            </a:pPr>
            <a:r>
              <a:rPr lang="en-US" sz="1013" dirty="0">
                <a:solidFill>
                  <a:srgbClr val="86EFAC"/>
                </a:solidFill>
                <a:latin typeface="Liberation Sans Narrow" pitchFamily="34" charset="0"/>
                <a:ea typeface="Liberation Sans Narrow" pitchFamily="34" charset="-122"/>
                <a:cs typeface="Liberation Sans Narrow" pitchFamily="34" charset="-120"/>
              </a:rPr>
              <a:t>nginx.conf.j2</a:t>
            </a:r>
            <a:endParaRPr lang="en-US" sz="1013" dirty="0"/>
          </a:p>
        </p:txBody>
      </p:sp>
      <p:sp>
        <p:nvSpPr>
          <p:cNvPr id="34" name="Text 32"/>
          <p:cNvSpPr/>
          <p:nvPr/>
        </p:nvSpPr>
        <p:spPr>
          <a:xfrm>
            <a:off x="1085850" y="4636182"/>
            <a:ext cx="514350" cy="91440"/>
          </a:xfrm>
          <a:prstGeom prst="rect">
            <a:avLst/>
          </a:prstGeom>
          <a:noFill/>
          <a:ln/>
        </p:spPr>
        <p:txBody>
          <a:bodyPr wrap="none" lIns="0" tIns="0" rIns="0" bIns="0" rtlCol="0" anchor="t"/>
          <a:lstStyle/>
          <a:p>
            <a:pPr marL="0" indent="0" algn="l">
              <a:lnSpc>
                <a:spcPts val="1519"/>
              </a:lnSpc>
              <a:buNone/>
            </a:pPr>
            <a:r>
              <a:rPr lang="en-US" sz="1013" dirty="0">
                <a:solidFill>
                  <a:srgbClr val="FBA74A"/>
                </a:solidFill>
                <a:latin typeface="Courier New" pitchFamily="34" charset="0"/>
                <a:ea typeface="Courier New" pitchFamily="34" charset="-122"/>
                <a:cs typeface="Courier New" pitchFamily="34" charset="-120"/>
              </a:rPr>
              <a:t>dest:</a:t>
            </a:r>
            <a:endParaRPr lang="en-US" sz="1013" dirty="0"/>
          </a:p>
        </p:txBody>
      </p:sp>
      <p:sp>
        <p:nvSpPr>
          <p:cNvPr id="35" name="Text 33"/>
          <p:cNvSpPr/>
          <p:nvPr/>
        </p:nvSpPr>
        <p:spPr>
          <a:xfrm>
            <a:off x="1471613" y="4636182"/>
            <a:ext cx="1687711" cy="91440"/>
          </a:xfrm>
          <a:prstGeom prst="rect">
            <a:avLst/>
          </a:prstGeom>
          <a:noFill/>
          <a:ln/>
        </p:spPr>
        <p:txBody>
          <a:bodyPr wrap="none" lIns="0" tIns="0" rIns="0" bIns="0" rtlCol="0" anchor="t"/>
          <a:lstStyle/>
          <a:p>
            <a:pPr marL="0" indent="0" algn="l">
              <a:lnSpc>
                <a:spcPts val="1519"/>
              </a:lnSpc>
              <a:buNone/>
            </a:pPr>
            <a:r>
              <a:rPr lang="en-US" sz="1013" dirty="0">
                <a:solidFill>
                  <a:srgbClr val="86EFAC"/>
                </a:solidFill>
                <a:latin typeface="Courier New" pitchFamily="34" charset="0"/>
                <a:ea typeface="Courier New" pitchFamily="34" charset="-122"/>
                <a:cs typeface="Courier New" pitchFamily="34" charset="-120"/>
              </a:rPr>
              <a:t>/etc/nginx/nginx.conf</a:t>
            </a:r>
            <a:endParaRPr lang="en-US" sz="1013" dirty="0"/>
          </a:p>
        </p:txBody>
      </p:sp>
      <p:sp>
        <p:nvSpPr>
          <p:cNvPr id="36" name="Text 34"/>
          <p:cNvSpPr/>
          <p:nvPr/>
        </p:nvSpPr>
        <p:spPr>
          <a:xfrm>
            <a:off x="1085850" y="4829063"/>
            <a:ext cx="514350" cy="91440"/>
          </a:xfrm>
          <a:prstGeom prst="rect">
            <a:avLst/>
          </a:prstGeom>
          <a:noFill/>
          <a:ln/>
        </p:spPr>
        <p:txBody>
          <a:bodyPr wrap="none" lIns="0" tIns="0" rIns="0" bIns="0" rtlCol="0" anchor="t"/>
          <a:lstStyle/>
          <a:p>
            <a:pPr marL="0" indent="0" algn="l">
              <a:lnSpc>
                <a:spcPts val="1519"/>
              </a:lnSpc>
              <a:buNone/>
            </a:pPr>
            <a:r>
              <a:rPr lang="en-US" sz="1013" dirty="0">
                <a:solidFill>
                  <a:srgbClr val="FBA74A"/>
                </a:solidFill>
                <a:latin typeface="Courier New" pitchFamily="34" charset="0"/>
                <a:ea typeface="Courier New" pitchFamily="34" charset="-122"/>
                <a:cs typeface="Courier New" pitchFamily="34" charset="-120"/>
              </a:rPr>
              <a:t>mode:</a:t>
            </a:r>
            <a:endParaRPr lang="en-US" sz="1013" dirty="0"/>
          </a:p>
        </p:txBody>
      </p:sp>
      <p:sp>
        <p:nvSpPr>
          <p:cNvPr id="37" name="Text 35"/>
          <p:cNvSpPr/>
          <p:nvPr/>
        </p:nvSpPr>
        <p:spPr>
          <a:xfrm>
            <a:off x="1468501" y="4829063"/>
            <a:ext cx="557864" cy="91440"/>
          </a:xfrm>
          <a:prstGeom prst="rect">
            <a:avLst/>
          </a:prstGeom>
          <a:noFill/>
          <a:ln/>
        </p:spPr>
        <p:txBody>
          <a:bodyPr wrap="none" lIns="0" tIns="0" rIns="0" bIns="0" rtlCol="0" anchor="t"/>
          <a:lstStyle/>
          <a:p>
            <a:pPr marL="0" indent="0" algn="l">
              <a:lnSpc>
                <a:spcPts val="1519"/>
              </a:lnSpc>
              <a:buNone/>
            </a:pPr>
            <a:r>
              <a:rPr lang="en-US" sz="1013" dirty="0">
                <a:solidFill>
                  <a:srgbClr val="86EFAC"/>
                </a:solidFill>
                <a:latin typeface="Liberation Sans Narrow" pitchFamily="34" charset="0"/>
                <a:ea typeface="Liberation Sans Narrow" pitchFamily="34" charset="-122"/>
                <a:cs typeface="Liberation Sans Narrow" pitchFamily="34" charset="-120"/>
              </a:rPr>
              <a:t>"0644"</a:t>
            </a:r>
            <a:endParaRPr lang="en-US" sz="1013" dirty="0"/>
          </a:p>
        </p:txBody>
      </p:sp>
      <p:sp>
        <p:nvSpPr>
          <p:cNvPr id="38" name="Text 36"/>
          <p:cNvSpPr/>
          <p:nvPr/>
        </p:nvSpPr>
        <p:spPr>
          <a:xfrm>
            <a:off x="957263" y="5021945"/>
            <a:ext cx="643580" cy="91440"/>
          </a:xfrm>
          <a:prstGeom prst="rect">
            <a:avLst/>
          </a:prstGeom>
          <a:noFill/>
          <a:ln/>
        </p:spPr>
        <p:txBody>
          <a:bodyPr wrap="none" lIns="0" tIns="0" rIns="0" bIns="0" rtlCol="0" anchor="t"/>
          <a:lstStyle/>
          <a:p>
            <a:pPr marL="0" indent="0" algn="l">
              <a:lnSpc>
                <a:spcPts val="1519"/>
              </a:lnSpc>
              <a:buNone/>
            </a:pPr>
            <a:r>
              <a:rPr lang="en-US" sz="1013" dirty="0">
                <a:solidFill>
                  <a:srgbClr val="FBA74A"/>
                </a:solidFill>
                <a:latin typeface="Courier New" pitchFamily="34" charset="0"/>
                <a:ea typeface="Courier New" pitchFamily="34" charset="-122"/>
                <a:cs typeface="Courier New" pitchFamily="34" charset="-120"/>
              </a:rPr>
              <a:t>notify:</a:t>
            </a:r>
            <a:endParaRPr lang="en-US" sz="1013" dirty="0"/>
          </a:p>
        </p:txBody>
      </p:sp>
      <p:sp>
        <p:nvSpPr>
          <p:cNvPr id="39" name="Text 37"/>
          <p:cNvSpPr/>
          <p:nvPr/>
        </p:nvSpPr>
        <p:spPr>
          <a:xfrm>
            <a:off x="1471613" y="5021945"/>
            <a:ext cx="1044773" cy="91440"/>
          </a:xfrm>
          <a:prstGeom prst="rect">
            <a:avLst/>
          </a:prstGeom>
          <a:noFill/>
          <a:ln/>
        </p:spPr>
        <p:txBody>
          <a:bodyPr wrap="none" lIns="0" tIns="0" rIns="0" bIns="0" rtlCol="0" anchor="t"/>
          <a:lstStyle/>
          <a:p>
            <a:pPr marL="0" indent="0" algn="l">
              <a:lnSpc>
                <a:spcPts val="1519"/>
              </a:lnSpc>
              <a:buNone/>
            </a:pPr>
            <a:r>
              <a:rPr lang="en-US" sz="1013" dirty="0">
                <a:solidFill>
                  <a:srgbClr val="86EFAC"/>
                </a:solidFill>
                <a:latin typeface="Courier New" pitchFamily="34" charset="0"/>
                <a:ea typeface="Courier New" pitchFamily="34" charset="-122"/>
                <a:cs typeface="Courier New" pitchFamily="34" charset="-120"/>
              </a:rPr>
              <a:t>restart nginx</a:t>
            </a:r>
            <a:endParaRPr lang="en-US" sz="1013" dirty="0"/>
          </a:p>
        </p:txBody>
      </p:sp>
      <p:sp>
        <p:nvSpPr>
          <p:cNvPr id="40" name="Text 38"/>
          <p:cNvSpPr/>
          <p:nvPr/>
        </p:nvSpPr>
        <p:spPr>
          <a:xfrm>
            <a:off x="2500313" y="5021945"/>
            <a:ext cx="1874806" cy="91440"/>
          </a:xfrm>
          <a:prstGeom prst="rect">
            <a:avLst/>
          </a:prstGeom>
          <a:noFill/>
          <a:ln/>
        </p:spPr>
        <p:txBody>
          <a:bodyPr wrap="none" lIns="0" tIns="0" rIns="0" bIns="0" rtlCol="0" anchor="t"/>
          <a:lstStyle/>
          <a:p>
            <a:pPr marL="0" indent="0" algn="l">
              <a:lnSpc>
                <a:spcPts val="1519"/>
              </a:lnSpc>
              <a:buNone/>
            </a:pPr>
            <a:r>
              <a:rPr lang="en-US" sz="1013" i="1" dirty="0">
                <a:solidFill>
                  <a:srgbClr val="94A3B8"/>
                </a:solidFill>
                <a:latin typeface="Courier New" pitchFamily="34" charset="0"/>
                <a:ea typeface="Courier New" pitchFamily="34" charset="-122"/>
                <a:cs typeface="Courier New" pitchFamily="34" charset="-120"/>
              </a:rPr>
              <a:t># trigger handler on change</a:t>
            </a:r>
            <a:endParaRPr lang="en-US" sz="1013" dirty="0"/>
          </a:p>
        </p:txBody>
      </p:sp>
      <p:sp>
        <p:nvSpPr>
          <p:cNvPr id="41" name="Text 39"/>
          <p:cNvSpPr/>
          <p:nvPr/>
        </p:nvSpPr>
        <p:spPr>
          <a:xfrm>
            <a:off x="957263" y="5407707"/>
            <a:ext cx="514350" cy="91440"/>
          </a:xfrm>
          <a:prstGeom prst="rect">
            <a:avLst/>
          </a:prstGeom>
          <a:noFill/>
          <a:ln/>
        </p:spPr>
        <p:txBody>
          <a:bodyPr wrap="none" lIns="0" tIns="0" rIns="0" bIns="0" rtlCol="0" anchor="t"/>
          <a:lstStyle/>
          <a:p>
            <a:pPr marL="0" indent="0" algn="l">
              <a:lnSpc>
                <a:spcPts val="1519"/>
              </a:lnSpc>
              <a:buNone/>
            </a:pPr>
            <a:r>
              <a:rPr lang="en-US" sz="1013" dirty="0">
                <a:solidFill>
                  <a:srgbClr val="FBA74A"/>
                </a:solidFill>
                <a:latin typeface="Courier New" pitchFamily="34" charset="0"/>
                <a:ea typeface="Courier New" pitchFamily="34" charset="-122"/>
                <a:cs typeface="Courier New" pitchFamily="34" charset="-120"/>
              </a:rPr>
              <a:t>name:</a:t>
            </a:r>
            <a:endParaRPr lang="en-US" sz="1013" dirty="0"/>
          </a:p>
        </p:txBody>
      </p:sp>
      <p:sp>
        <p:nvSpPr>
          <p:cNvPr id="42" name="Text 40"/>
          <p:cNvSpPr/>
          <p:nvPr/>
        </p:nvSpPr>
        <p:spPr>
          <a:xfrm>
            <a:off x="1343025" y="5407707"/>
            <a:ext cx="1848445" cy="91440"/>
          </a:xfrm>
          <a:prstGeom prst="rect">
            <a:avLst/>
          </a:prstGeom>
          <a:noFill/>
          <a:ln/>
        </p:spPr>
        <p:txBody>
          <a:bodyPr wrap="none" lIns="0" tIns="0" rIns="0" bIns="0" rtlCol="0" anchor="t"/>
          <a:lstStyle/>
          <a:p>
            <a:pPr marL="0" indent="0" algn="l">
              <a:lnSpc>
                <a:spcPts val="1519"/>
              </a:lnSpc>
              <a:buNone/>
            </a:pPr>
            <a:r>
              <a:rPr lang="en-US" sz="1013" dirty="0">
                <a:solidFill>
                  <a:srgbClr val="86EFAC"/>
                </a:solidFill>
                <a:latin typeface="Courier New" pitchFamily="34" charset="0"/>
                <a:ea typeface="Courier New" pitchFamily="34" charset="-122"/>
                <a:cs typeface="Courier New" pitchFamily="34" charset="-120"/>
              </a:rPr>
              <a:t>Ensure nginx is running</a:t>
            </a:r>
            <a:endParaRPr lang="en-US" sz="1013" dirty="0"/>
          </a:p>
        </p:txBody>
      </p:sp>
      <p:sp>
        <p:nvSpPr>
          <p:cNvPr id="43" name="Text 41"/>
          <p:cNvSpPr/>
          <p:nvPr/>
        </p:nvSpPr>
        <p:spPr>
          <a:xfrm>
            <a:off x="957263" y="5600588"/>
            <a:ext cx="735521" cy="91440"/>
          </a:xfrm>
          <a:prstGeom prst="rect">
            <a:avLst/>
          </a:prstGeom>
          <a:noFill/>
          <a:ln/>
        </p:spPr>
        <p:txBody>
          <a:bodyPr wrap="none" lIns="0" tIns="0" rIns="0" bIns="0" rtlCol="0" anchor="t"/>
          <a:lstStyle/>
          <a:p>
            <a:pPr marL="0" indent="0" algn="l">
              <a:lnSpc>
                <a:spcPts val="1519"/>
              </a:lnSpc>
              <a:buNone/>
            </a:pPr>
            <a:r>
              <a:rPr lang="en-US" sz="1013" dirty="0">
                <a:solidFill>
                  <a:srgbClr val="FBA74A"/>
                </a:solidFill>
                <a:latin typeface="Courier New" pitchFamily="34" charset="0"/>
                <a:ea typeface="Courier New" pitchFamily="34" charset="-122"/>
                <a:cs typeface="Courier New" pitchFamily="34" charset="-120"/>
              </a:rPr>
              <a:t>service:</a:t>
            </a:r>
            <a:endParaRPr lang="en-US" sz="1013" dirty="0"/>
          </a:p>
        </p:txBody>
      </p:sp>
      <p:sp>
        <p:nvSpPr>
          <p:cNvPr id="44" name="Text 42"/>
          <p:cNvSpPr/>
          <p:nvPr/>
        </p:nvSpPr>
        <p:spPr>
          <a:xfrm>
            <a:off x="1085850" y="5793470"/>
            <a:ext cx="514350" cy="91440"/>
          </a:xfrm>
          <a:prstGeom prst="rect">
            <a:avLst/>
          </a:prstGeom>
          <a:noFill/>
          <a:ln/>
        </p:spPr>
        <p:txBody>
          <a:bodyPr wrap="none" lIns="0" tIns="0" rIns="0" bIns="0" rtlCol="0" anchor="t"/>
          <a:lstStyle/>
          <a:p>
            <a:pPr marL="0" indent="0" algn="l">
              <a:lnSpc>
                <a:spcPts val="1519"/>
              </a:lnSpc>
              <a:buNone/>
            </a:pPr>
            <a:r>
              <a:rPr lang="en-US" sz="1013" dirty="0">
                <a:solidFill>
                  <a:srgbClr val="FBA74A"/>
                </a:solidFill>
                <a:latin typeface="Courier New" pitchFamily="34" charset="0"/>
                <a:ea typeface="Courier New" pitchFamily="34" charset="-122"/>
                <a:cs typeface="Courier New" pitchFamily="34" charset="-120"/>
              </a:rPr>
              <a:t>name:</a:t>
            </a:r>
            <a:endParaRPr lang="en-US" sz="1013" dirty="0"/>
          </a:p>
        </p:txBody>
      </p:sp>
      <p:sp>
        <p:nvSpPr>
          <p:cNvPr id="45" name="Text 43"/>
          <p:cNvSpPr/>
          <p:nvPr/>
        </p:nvSpPr>
        <p:spPr>
          <a:xfrm>
            <a:off x="1471613" y="5793470"/>
            <a:ext cx="514350" cy="91440"/>
          </a:xfrm>
          <a:prstGeom prst="rect">
            <a:avLst/>
          </a:prstGeom>
          <a:noFill/>
          <a:ln/>
        </p:spPr>
        <p:txBody>
          <a:bodyPr wrap="none" lIns="0" tIns="0" rIns="0" bIns="0" rtlCol="0" anchor="t"/>
          <a:lstStyle/>
          <a:p>
            <a:pPr marL="0" indent="0" algn="l">
              <a:lnSpc>
                <a:spcPts val="1519"/>
              </a:lnSpc>
              <a:buNone/>
            </a:pPr>
            <a:r>
              <a:rPr lang="en-US" sz="1013" dirty="0">
                <a:solidFill>
                  <a:srgbClr val="86EFAC"/>
                </a:solidFill>
                <a:latin typeface="Courier New" pitchFamily="34" charset="0"/>
                <a:ea typeface="Courier New" pitchFamily="34" charset="-122"/>
                <a:cs typeface="Courier New" pitchFamily="34" charset="-120"/>
              </a:rPr>
              <a:t>nginx</a:t>
            </a:r>
            <a:endParaRPr lang="en-US" sz="1013" dirty="0"/>
          </a:p>
        </p:txBody>
      </p:sp>
      <p:sp>
        <p:nvSpPr>
          <p:cNvPr id="46" name="Text 44"/>
          <p:cNvSpPr/>
          <p:nvPr/>
        </p:nvSpPr>
        <p:spPr>
          <a:xfrm>
            <a:off x="1085850" y="5986351"/>
            <a:ext cx="551640" cy="91440"/>
          </a:xfrm>
          <a:prstGeom prst="rect">
            <a:avLst/>
          </a:prstGeom>
          <a:noFill/>
          <a:ln/>
        </p:spPr>
        <p:txBody>
          <a:bodyPr wrap="none" lIns="0" tIns="0" rIns="0" bIns="0" rtlCol="0" anchor="t"/>
          <a:lstStyle/>
          <a:p>
            <a:pPr marL="0" indent="0" algn="l">
              <a:lnSpc>
                <a:spcPts val="1519"/>
              </a:lnSpc>
              <a:buNone/>
            </a:pPr>
            <a:r>
              <a:rPr lang="en-US" sz="1013" dirty="0">
                <a:solidFill>
                  <a:srgbClr val="FBA74A"/>
                </a:solidFill>
                <a:latin typeface="Courier New" pitchFamily="34" charset="0"/>
                <a:ea typeface="Courier New" pitchFamily="34" charset="-122"/>
                <a:cs typeface="Courier New" pitchFamily="34" charset="-120"/>
              </a:rPr>
              <a:t>state:</a:t>
            </a:r>
            <a:endParaRPr lang="en-US" sz="1013" dirty="0"/>
          </a:p>
        </p:txBody>
      </p:sp>
      <p:sp>
        <p:nvSpPr>
          <p:cNvPr id="47" name="Text 45"/>
          <p:cNvSpPr/>
          <p:nvPr/>
        </p:nvSpPr>
        <p:spPr>
          <a:xfrm>
            <a:off x="1535906" y="5986351"/>
            <a:ext cx="643580" cy="91440"/>
          </a:xfrm>
          <a:prstGeom prst="rect">
            <a:avLst/>
          </a:prstGeom>
          <a:noFill/>
          <a:ln/>
        </p:spPr>
        <p:txBody>
          <a:bodyPr wrap="none" lIns="0" tIns="0" rIns="0" bIns="0" rtlCol="0" anchor="t"/>
          <a:lstStyle/>
          <a:p>
            <a:pPr marL="0" indent="0" algn="l">
              <a:lnSpc>
                <a:spcPts val="1519"/>
              </a:lnSpc>
              <a:buNone/>
            </a:pPr>
            <a:r>
              <a:rPr lang="en-US" sz="1013" dirty="0">
                <a:solidFill>
                  <a:srgbClr val="86EFAC"/>
                </a:solidFill>
                <a:latin typeface="Courier New" pitchFamily="34" charset="0"/>
                <a:ea typeface="Courier New" pitchFamily="34" charset="-122"/>
                <a:cs typeface="Courier New" pitchFamily="34" charset="-120"/>
              </a:rPr>
              <a:t>started</a:t>
            </a:r>
            <a:endParaRPr lang="en-US" sz="1013" dirty="0"/>
          </a:p>
        </p:txBody>
      </p:sp>
      <p:sp>
        <p:nvSpPr>
          <p:cNvPr id="48" name="Text 46"/>
          <p:cNvSpPr/>
          <p:nvPr/>
        </p:nvSpPr>
        <p:spPr>
          <a:xfrm>
            <a:off x="1085850" y="6179232"/>
            <a:ext cx="735521" cy="91440"/>
          </a:xfrm>
          <a:prstGeom prst="rect">
            <a:avLst/>
          </a:prstGeom>
          <a:noFill/>
          <a:ln/>
        </p:spPr>
        <p:txBody>
          <a:bodyPr wrap="none" lIns="0" tIns="0" rIns="0" bIns="0" rtlCol="0" anchor="t"/>
          <a:lstStyle/>
          <a:p>
            <a:pPr marL="0" indent="0" algn="l">
              <a:lnSpc>
                <a:spcPts val="1519"/>
              </a:lnSpc>
              <a:buNone/>
            </a:pPr>
            <a:r>
              <a:rPr lang="en-US" sz="1013" dirty="0">
                <a:solidFill>
                  <a:srgbClr val="FBA74A"/>
                </a:solidFill>
                <a:latin typeface="Courier New" pitchFamily="34" charset="0"/>
                <a:ea typeface="Courier New" pitchFamily="34" charset="-122"/>
                <a:cs typeface="Courier New" pitchFamily="34" charset="-120"/>
              </a:rPr>
              <a:t>enabled:</a:t>
            </a:r>
            <a:endParaRPr lang="en-US" sz="1013" dirty="0"/>
          </a:p>
        </p:txBody>
      </p:sp>
      <p:sp>
        <p:nvSpPr>
          <p:cNvPr id="49" name="Text 47"/>
          <p:cNvSpPr/>
          <p:nvPr/>
        </p:nvSpPr>
        <p:spPr>
          <a:xfrm>
            <a:off x="1664494" y="6179232"/>
            <a:ext cx="308610" cy="91440"/>
          </a:xfrm>
          <a:prstGeom prst="rect">
            <a:avLst/>
          </a:prstGeom>
          <a:noFill/>
          <a:ln/>
        </p:spPr>
        <p:txBody>
          <a:bodyPr wrap="none" lIns="0" tIns="0" rIns="0" bIns="0" rtlCol="0" anchor="t"/>
          <a:lstStyle/>
          <a:p>
            <a:pPr marL="0" indent="0" algn="l">
              <a:lnSpc>
                <a:spcPts val="1519"/>
              </a:lnSpc>
              <a:buNone/>
            </a:pPr>
            <a:r>
              <a:rPr lang="en-US" sz="1013" dirty="0">
                <a:solidFill>
                  <a:srgbClr val="93C5FD"/>
                </a:solidFill>
                <a:latin typeface="Courier New" pitchFamily="34" charset="0"/>
                <a:ea typeface="Courier New" pitchFamily="34" charset="-122"/>
                <a:cs typeface="Courier New" pitchFamily="34" charset="-120"/>
              </a:rPr>
              <a:t>yes</a:t>
            </a:r>
            <a:endParaRPr lang="en-US" sz="1013" dirty="0"/>
          </a:p>
        </p:txBody>
      </p:sp>
      <p:sp>
        <p:nvSpPr>
          <p:cNvPr id="50" name="Text 48"/>
          <p:cNvSpPr/>
          <p:nvPr/>
        </p:nvSpPr>
        <p:spPr>
          <a:xfrm>
            <a:off x="700088" y="6564995"/>
            <a:ext cx="827461" cy="91440"/>
          </a:xfrm>
          <a:prstGeom prst="rect">
            <a:avLst/>
          </a:prstGeom>
          <a:noFill/>
          <a:ln/>
        </p:spPr>
        <p:txBody>
          <a:bodyPr wrap="none" lIns="0" tIns="0" rIns="0" bIns="0" rtlCol="0" anchor="t"/>
          <a:lstStyle/>
          <a:p>
            <a:pPr marL="0" indent="0" algn="l">
              <a:lnSpc>
                <a:spcPts val="1519"/>
              </a:lnSpc>
              <a:buNone/>
            </a:pPr>
            <a:r>
              <a:rPr lang="en-US" sz="1013" dirty="0">
                <a:solidFill>
                  <a:srgbClr val="FBA74A"/>
                </a:solidFill>
                <a:latin typeface="Courier New" pitchFamily="34" charset="0"/>
                <a:ea typeface="Courier New" pitchFamily="34" charset="-122"/>
                <a:cs typeface="Courier New" pitchFamily="34" charset="-120"/>
              </a:rPr>
              <a:t>handlers:</a:t>
            </a:r>
            <a:endParaRPr lang="en-US" sz="1013" dirty="0"/>
          </a:p>
        </p:txBody>
      </p:sp>
      <p:sp>
        <p:nvSpPr>
          <p:cNvPr id="51" name="Text 49"/>
          <p:cNvSpPr/>
          <p:nvPr/>
        </p:nvSpPr>
        <p:spPr>
          <a:xfrm>
            <a:off x="957263" y="6757876"/>
            <a:ext cx="514350" cy="91440"/>
          </a:xfrm>
          <a:prstGeom prst="rect">
            <a:avLst/>
          </a:prstGeom>
          <a:noFill/>
          <a:ln/>
        </p:spPr>
        <p:txBody>
          <a:bodyPr wrap="none" lIns="0" tIns="0" rIns="0" bIns="0" rtlCol="0" anchor="t"/>
          <a:lstStyle/>
          <a:p>
            <a:pPr marL="0" indent="0" algn="l">
              <a:lnSpc>
                <a:spcPts val="1519"/>
              </a:lnSpc>
              <a:buNone/>
            </a:pPr>
            <a:r>
              <a:rPr lang="en-US" sz="1013" dirty="0">
                <a:solidFill>
                  <a:srgbClr val="FBA74A"/>
                </a:solidFill>
                <a:latin typeface="Courier New" pitchFamily="34" charset="0"/>
                <a:ea typeface="Courier New" pitchFamily="34" charset="-122"/>
                <a:cs typeface="Courier New" pitchFamily="34" charset="-120"/>
              </a:rPr>
              <a:t>name:</a:t>
            </a:r>
            <a:endParaRPr lang="en-US" sz="1013" dirty="0"/>
          </a:p>
        </p:txBody>
      </p:sp>
      <p:sp>
        <p:nvSpPr>
          <p:cNvPr id="52" name="Text 50"/>
          <p:cNvSpPr/>
          <p:nvPr/>
        </p:nvSpPr>
        <p:spPr>
          <a:xfrm>
            <a:off x="1343025" y="6757876"/>
            <a:ext cx="1044773" cy="91440"/>
          </a:xfrm>
          <a:prstGeom prst="rect">
            <a:avLst/>
          </a:prstGeom>
          <a:noFill/>
          <a:ln/>
        </p:spPr>
        <p:txBody>
          <a:bodyPr wrap="none" lIns="0" tIns="0" rIns="0" bIns="0" rtlCol="0" anchor="t"/>
          <a:lstStyle/>
          <a:p>
            <a:pPr marL="0" indent="0" algn="l">
              <a:lnSpc>
                <a:spcPts val="1519"/>
              </a:lnSpc>
              <a:buNone/>
            </a:pPr>
            <a:r>
              <a:rPr lang="en-US" sz="1013" dirty="0">
                <a:solidFill>
                  <a:srgbClr val="86EFAC"/>
                </a:solidFill>
                <a:latin typeface="Courier New" pitchFamily="34" charset="0"/>
                <a:ea typeface="Courier New" pitchFamily="34" charset="-122"/>
                <a:cs typeface="Courier New" pitchFamily="34" charset="-120"/>
              </a:rPr>
              <a:t>restart nginx</a:t>
            </a:r>
            <a:endParaRPr lang="en-US" sz="1013" dirty="0"/>
          </a:p>
        </p:txBody>
      </p:sp>
      <p:sp>
        <p:nvSpPr>
          <p:cNvPr id="53" name="Text 51"/>
          <p:cNvSpPr/>
          <p:nvPr/>
        </p:nvSpPr>
        <p:spPr>
          <a:xfrm>
            <a:off x="957263" y="6950757"/>
            <a:ext cx="735521" cy="91440"/>
          </a:xfrm>
          <a:prstGeom prst="rect">
            <a:avLst/>
          </a:prstGeom>
          <a:noFill/>
          <a:ln/>
        </p:spPr>
        <p:txBody>
          <a:bodyPr wrap="none" lIns="0" tIns="0" rIns="0" bIns="0" rtlCol="0" anchor="t"/>
          <a:lstStyle/>
          <a:p>
            <a:pPr marL="0" indent="0" algn="l">
              <a:lnSpc>
                <a:spcPts val="1519"/>
              </a:lnSpc>
              <a:buNone/>
            </a:pPr>
            <a:r>
              <a:rPr lang="en-US" sz="1013" dirty="0">
                <a:solidFill>
                  <a:srgbClr val="FBA74A"/>
                </a:solidFill>
                <a:latin typeface="Courier New" pitchFamily="34" charset="0"/>
                <a:ea typeface="Courier New" pitchFamily="34" charset="-122"/>
                <a:cs typeface="Courier New" pitchFamily="34" charset="-120"/>
              </a:rPr>
              <a:t>service:</a:t>
            </a:r>
            <a:endParaRPr lang="en-US" sz="1013" dirty="0"/>
          </a:p>
        </p:txBody>
      </p:sp>
      <p:sp>
        <p:nvSpPr>
          <p:cNvPr id="54" name="Text 52"/>
          <p:cNvSpPr/>
          <p:nvPr/>
        </p:nvSpPr>
        <p:spPr>
          <a:xfrm>
            <a:off x="1085850" y="7143638"/>
            <a:ext cx="514350" cy="91440"/>
          </a:xfrm>
          <a:prstGeom prst="rect">
            <a:avLst/>
          </a:prstGeom>
          <a:noFill/>
          <a:ln/>
        </p:spPr>
        <p:txBody>
          <a:bodyPr wrap="none" lIns="0" tIns="0" rIns="0" bIns="0" rtlCol="0" anchor="t"/>
          <a:lstStyle/>
          <a:p>
            <a:pPr marL="0" indent="0" algn="l">
              <a:lnSpc>
                <a:spcPts val="1519"/>
              </a:lnSpc>
              <a:buNone/>
            </a:pPr>
            <a:r>
              <a:rPr lang="en-US" sz="1013" dirty="0">
                <a:solidFill>
                  <a:srgbClr val="FBA74A"/>
                </a:solidFill>
                <a:latin typeface="Courier New" pitchFamily="34" charset="0"/>
                <a:ea typeface="Courier New" pitchFamily="34" charset="-122"/>
                <a:cs typeface="Courier New" pitchFamily="34" charset="-120"/>
              </a:rPr>
              <a:t>name:</a:t>
            </a:r>
            <a:endParaRPr lang="en-US" sz="1013" dirty="0"/>
          </a:p>
        </p:txBody>
      </p:sp>
      <p:sp>
        <p:nvSpPr>
          <p:cNvPr id="55" name="Text 53"/>
          <p:cNvSpPr/>
          <p:nvPr/>
        </p:nvSpPr>
        <p:spPr>
          <a:xfrm>
            <a:off x="1471613" y="7143638"/>
            <a:ext cx="514350" cy="91440"/>
          </a:xfrm>
          <a:prstGeom prst="rect">
            <a:avLst/>
          </a:prstGeom>
          <a:noFill/>
          <a:ln/>
        </p:spPr>
        <p:txBody>
          <a:bodyPr wrap="none" lIns="0" tIns="0" rIns="0" bIns="0" rtlCol="0" anchor="t"/>
          <a:lstStyle/>
          <a:p>
            <a:pPr marL="0" indent="0" algn="l">
              <a:lnSpc>
                <a:spcPts val="1519"/>
              </a:lnSpc>
              <a:buNone/>
            </a:pPr>
            <a:r>
              <a:rPr lang="en-US" sz="1013" dirty="0">
                <a:solidFill>
                  <a:srgbClr val="86EFAC"/>
                </a:solidFill>
                <a:latin typeface="Courier New" pitchFamily="34" charset="0"/>
                <a:ea typeface="Courier New" pitchFamily="34" charset="-122"/>
                <a:cs typeface="Courier New" pitchFamily="34" charset="-120"/>
              </a:rPr>
              <a:t>nginx</a:t>
            </a:r>
            <a:endParaRPr lang="en-US" sz="1013" dirty="0"/>
          </a:p>
        </p:txBody>
      </p:sp>
      <p:sp>
        <p:nvSpPr>
          <p:cNvPr id="56" name="Text 54"/>
          <p:cNvSpPr/>
          <p:nvPr/>
        </p:nvSpPr>
        <p:spPr>
          <a:xfrm>
            <a:off x="1085850" y="7336520"/>
            <a:ext cx="551640" cy="91440"/>
          </a:xfrm>
          <a:prstGeom prst="rect">
            <a:avLst/>
          </a:prstGeom>
          <a:noFill/>
          <a:ln/>
        </p:spPr>
        <p:txBody>
          <a:bodyPr wrap="none" lIns="0" tIns="0" rIns="0" bIns="0" rtlCol="0" anchor="t"/>
          <a:lstStyle/>
          <a:p>
            <a:pPr marL="0" indent="0" algn="l">
              <a:lnSpc>
                <a:spcPts val="1519"/>
              </a:lnSpc>
              <a:buNone/>
            </a:pPr>
            <a:r>
              <a:rPr lang="en-US" sz="1013" dirty="0">
                <a:solidFill>
                  <a:srgbClr val="FBA74A"/>
                </a:solidFill>
                <a:latin typeface="Courier New" pitchFamily="34" charset="0"/>
                <a:ea typeface="Courier New" pitchFamily="34" charset="-122"/>
                <a:cs typeface="Courier New" pitchFamily="34" charset="-120"/>
              </a:rPr>
              <a:t>state:</a:t>
            </a:r>
            <a:endParaRPr lang="en-US" sz="1013" dirty="0"/>
          </a:p>
        </p:txBody>
      </p:sp>
      <p:sp>
        <p:nvSpPr>
          <p:cNvPr id="57" name="Text 55"/>
          <p:cNvSpPr/>
          <p:nvPr/>
        </p:nvSpPr>
        <p:spPr>
          <a:xfrm>
            <a:off x="1535906" y="7336520"/>
            <a:ext cx="827461" cy="91440"/>
          </a:xfrm>
          <a:prstGeom prst="rect">
            <a:avLst/>
          </a:prstGeom>
          <a:noFill/>
          <a:ln/>
        </p:spPr>
        <p:txBody>
          <a:bodyPr wrap="none" lIns="0" tIns="0" rIns="0" bIns="0" rtlCol="0" anchor="t"/>
          <a:lstStyle/>
          <a:p>
            <a:pPr marL="0" indent="0" algn="l">
              <a:lnSpc>
                <a:spcPts val="1519"/>
              </a:lnSpc>
              <a:buNone/>
            </a:pPr>
            <a:r>
              <a:rPr lang="en-US" sz="1013" dirty="0">
                <a:solidFill>
                  <a:srgbClr val="86EFAC"/>
                </a:solidFill>
                <a:latin typeface="Courier New" pitchFamily="34" charset="0"/>
                <a:ea typeface="Courier New" pitchFamily="34" charset="-122"/>
                <a:cs typeface="Courier New" pitchFamily="34" charset="-120"/>
              </a:rPr>
              <a:t>restarted</a:t>
            </a:r>
            <a:endParaRPr lang="en-US" sz="1013" dirty="0"/>
          </a:p>
        </p:txBody>
      </p:sp>
      <p:sp>
        <p:nvSpPr>
          <p:cNvPr id="58" name="Text 56"/>
          <p:cNvSpPr/>
          <p:nvPr/>
        </p:nvSpPr>
        <p:spPr>
          <a:xfrm>
            <a:off x="403622" y="4954079"/>
            <a:ext cx="8336756" cy="332854"/>
          </a:xfrm>
          <a:prstGeom prst="roundRect">
            <a:avLst>
              <a:gd name="adj" fmla="val 22893"/>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59" name="Text 57"/>
          <p:cNvSpPr/>
          <p:nvPr/>
        </p:nvSpPr>
        <p:spPr>
          <a:xfrm>
            <a:off x="1205954" y="5029088"/>
            <a:ext cx="2964656" cy="182835"/>
          </a:xfrm>
          <a:prstGeom prst="roundRect">
            <a:avLst>
              <a:gd name="adj" fmla="val 20838"/>
            </a:avLst>
          </a:prstGeom>
          <a:solidFill>
            <a:srgbClr val="0F172A"/>
          </a:solidFill>
          <a:ln/>
        </p:spPr>
        <p:txBody>
          <a:bodyPr wrap="square" rtlCol="0" anchor="ctr"/>
          <a:lstStyle/>
          <a:p>
            <a:pPr marL="0" indent="0">
              <a:buNone/>
            </a:pPr>
            <a:endParaRPr lang="en-US" dirty="0"/>
          </a:p>
        </p:txBody>
      </p:sp>
      <p:sp>
        <p:nvSpPr>
          <p:cNvPr id="60" name="Text 58"/>
          <p:cNvSpPr/>
          <p:nvPr/>
        </p:nvSpPr>
        <p:spPr>
          <a:xfrm>
            <a:off x="615947" y="5052640"/>
            <a:ext cx="602711" cy="91440"/>
          </a:xfrm>
          <a:prstGeom prst="rect">
            <a:avLst/>
          </a:prstGeom>
          <a:noFill/>
          <a:ln/>
        </p:spPr>
        <p:txBody>
          <a:bodyPr wrap="none" lIns="0" tIns="0" rIns="0" bIns="0" rtlCol="0" anchor="t"/>
          <a:lstStyle/>
          <a:p>
            <a:pPr marL="0" indent="0" algn="l">
              <a:lnSpc>
                <a:spcPts val="1181"/>
              </a:lnSpc>
              <a:buNone/>
            </a:pPr>
            <a:r>
              <a:rPr lang="en-US" sz="844" dirty="0">
                <a:solidFill>
                  <a:srgbClr val="0F172A"/>
                </a:solidFill>
                <a:latin typeface="Carlito" pitchFamily="34" charset="0"/>
                <a:ea typeface="Carlito" pitchFamily="34" charset="-122"/>
                <a:cs typeface="Carlito" pitchFamily="34" charset="-120"/>
              </a:rPr>
              <a:t>Run with:</a:t>
            </a:r>
            <a:endParaRPr lang="en-US" sz="844" dirty="0"/>
          </a:p>
        </p:txBody>
      </p:sp>
      <p:sp>
        <p:nvSpPr>
          <p:cNvPr id="61" name="Text 59"/>
          <p:cNvSpPr/>
          <p:nvPr/>
        </p:nvSpPr>
        <p:spPr>
          <a:xfrm>
            <a:off x="521494" y="5066928"/>
            <a:ext cx="107156" cy="91440"/>
          </a:xfrm>
          <a:prstGeom prst="rect">
            <a:avLst/>
          </a:prstGeom>
          <a:noFill/>
          <a:ln/>
        </p:spPr>
        <p:txBody>
          <a:bodyPr wrap="none" lIns="0" tIns="0" rIns="0" bIns="0" rtlCol="0" anchor="ctr"/>
          <a:lstStyle/>
          <a:p>
            <a:pPr marL="0" indent="0" algn="ctr">
              <a:buNone/>
            </a:pPr>
            <a:r>
              <a:rPr lang="en-US" sz="1055" dirty="0">
                <a:solidFill>
                  <a:srgbClr val="F97316"/>
                </a:solidFill>
                <a:latin typeface="Segoe UI Symbol" pitchFamily="34" charset="0"/>
                <a:ea typeface="Segoe UI Symbol" pitchFamily="34" charset="-122"/>
                <a:cs typeface="Segoe UI Symbol" pitchFamily="34" charset="-120"/>
              </a:rPr>
              <a:t>✦</a:t>
            </a:r>
            <a:endParaRPr lang="en-US" sz="1055" dirty="0"/>
          </a:p>
        </p:txBody>
      </p:sp>
      <p:sp>
        <p:nvSpPr>
          <p:cNvPr id="62" name="Text 60"/>
          <p:cNvSpPr/>
          <p:nvPr/>
        </p:nvSpPr>
        <p:spPr>
          <a:xfrm>
            <a:off x="1205954" y="5029088"/>
            <a:ext cx="2964656" cy="182835"/>
          </a:xfrm>
          <a:prstGeom prst="roundRect">
            <a:avLst>
              <a:gd name="adj" fmla="val 20838"/>
            </a:avLst>
          </a:prstGeom>
          <a:solidFill>
            <a:srgbClr val="0F172A"/>
          </a:solidFill>
          <a:ln/>
        </p:spPr>
        <p:txBody>
          <a:bodyPr wrap="square" rtlCol="0" anchor="ctr"/>
          <a:lstStyle/>
          <a:p>
            <a:pPr marL="0" indent="0">
              <a:buNone/>
            </a:pPr>
            <a:endParaRPr lang="en-US" dirty="0"/>
          </a:p>
        </p:txBody>
      </p:sp>
      <p:sp>
        <p:nvSpPr>
          <p:cNvPr id="63" name="Text 61"/>
          <p:cNvSpPr/>
          <p:nvPr/>
        </p:nvSpPr>
        <p:spPr>
          <a:xfrm>
            <a:off x="1205954" y="5029088"/>
            <a:ext cx="7416552" cy="114412"/>
          </a:xfrm>
          <a:prstGeom prst="rect">
            <a:avLst/>
          </a:prstGeom>
          <a:noFill/>
          <a:ln/>
        </p:spPr>
        <p:txBody>
          <a:bodyPr wrap="square" lIns="57150" tIns="21431" rIns="57150" bIns="21431" rtlCol="0" anchor="t"/>
          <a:lstStyle/>
          <a:p>
            <a:pPr marL="0" indent="0" algn="l">
              <a:lnSpc>
                <a:spcPts val="1103"/>
              </a:lnSpc>
              <a:buNone/>
            </a:pPr>
            <a:r>
              <a:rPr lang="en-US" sz="800" dirty="0">
                <a:solidFill>
                  <a:srgbClr val="FBA74A"/>
                </a:solidFill>
                <a:latin typeface="Courier New" pitchFamily="34" charset="0"/>
                <a:ea typeface="Courier New" pitchFamily="34" charset="-122"/>
                <a:cs typeface="Courier New" pitchFamily="34" charset="-120"/>
              </a:rPr>
              <a:t>ansible-playbook -i inventory/hosts.ini install_nginx.yml</a:t>
            </a:r>
            <a:endParaRPr lang="en-US" sz="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28625" y="342900"/>
            <a:ext cx="2719090" cy="356348"/>
          </a:xfrm>
          <a:prstGeom prst="rect">
            <a:avLst/>
          </a:prstGeom>
          <a:noFill/>
          <a:ln/>
        </p:spPr>
        <p:txBody>
          <a:bodyPr wrap="none" lIns="0" tIns="0" rIns="0" bIns="0" rtlCol="0" anchor="t"/>
          <a:lstStyle/>
          <a:p>
            <a:pPr marL="0" indent="0" algn="l">
              <a:lnSpc>
                <a:spcPts val="2599"/>
              </a:lnSpc>
              <a:buNone/>
            </a:pPr>
            <a:r>
              <a:rPr lang="en-US" sz="2363" b="1" dirty="0">
                <a:solidFill>
                  <a:srgbClr val="0F172A"/>
                </a:solidFill>
                <a:latin typeface="Carlito" pitchFamily="34" charset="0"/>
                <a:ea typeface="Carlito" pitchFamily="34" charset="-122"/>
                <a:cs typeface="Carlito" pitchFamily="34" charset="-120"/>
              </a:rPr>
              <a:t>Tasks — Deep Dive</a:t>
            </a:r>
            <a:endParaRPr lang="en-US" sz="2363" dirty="0"/>
          </a:p>
        </p:txBody>
      </p:sp>
      <p:sp>
        <p:nvSpPr>
          <p:cNvPr id="3" name="Text 1"/>
          <p:cNvSpPr/>
          <p:nvPr/>
        </p:nvSpPr>
        <p:spPr>
          <a:xfrm>
            <a:off x="428625" y="758577"/>
            <a:ext cx="571500" cy="42863"/>
          </a:xfrm>
          <a:prstGeom prst="roundRect">
            <a:avLst>
              <a:gd name="adj" fmla="val 66666"/>
            </a:avLst>
          </a:prstGeom>
          <a:solidFill>
            <a:srgbClr val="F97316"/>
          </a:solidFill>
          <a:ln/>
        </p:spPr>
        <p:txBody>
          <a:bodyPr wrap="square" rtlCol="0" anchor="ctr"/>
          <a:lstStyle/>
          <a:p>
            <a:pPr marL="0" indent="0">
              <a:buNone/>
            </a:pPr>
            <a:endParaRPr lang="en-US" dirty="0"/>
          </a:p>
        </p:txBody>
      </p:sp>
      <p:sp>
        <p:nvSpPr>
          <p:cNvPr id="4" name="Text 2"/>
          <p:cNvSpPr/>
          <p:nvPr/>
        </p:nvSpPr>
        <p:spPr>
          <a:xfrm>
            <a:off x="7702659" y="330098"/>
            <a:ext cx="1035576" cy="331333"/>
          </a:xfrm>
          <a:prstGeom prst="roundRect">
            <a:avLst>
              <a:gd name="adj" fmla="val 2871877"/>
            </a:avLst>
          </a:prstGeom>
          <a:solidFill>
            <a:srgbClr val="0F172A"/>
          </a:solidFill>
          <a:ln/>
        </p:spPr>
        <p:txBody>
          <a:bodyPr wrap="square" rtlCol="0" anchor="ctr"/>
          <a:lstStyle/>
          <a:p>
            <a:pPr marL="0" indent="0">
              <a:buNone/>
            </a:pPr>
            <a:endParaRPr lang="en-US" dirty="0"/>
          </a:p>
        </p:txBody>
      </p:sp>
      <p:sp>
        <p:nvSpPr>
          <p:cNvPr id="5" name="Text 3"/>
          <p:cNvSpPr/>
          <p:nvPr/>
        </p:nvSpPr>
        <p:spPr>
          <a:xfrm>
            <a:off x="7725519" y="342900"/>
            <a:ext cx="989856" cy="305730"/>
          </a:xfrm>
          <a:prstGeom prst="rect">
            <a:avLst/>
          </a:prstGeom>
          <a:noFill/>
          <a:ln/>
        </p:spPr>
        <p:txBody>
          <a:bodyPr wrap="none" lIns="0" tIns="0" rIns="0" bIns="0" rtlCol="0" anchor="ctr"/>
          <a:lstStyle/>
          <a:p>
            <a:pPr marL="0" indent="0" algn="ctr">
              <a:lnSpc>
                <a:spcPts val="1733"/>
              </a:lnSpc>
              <a:buNone/>
            </a:pPr>
            <a:r>
              <a:rPr lang="en-US" sz="1238" b="1" kern="0" spc="28" dirty="0">
                <a:solidFill>
                  <a:srgbClr val="FFFFFF"/>
                </a:solidFill>
                <a:latin typeface="Liberation Sans Narrow" pitchFamily="34" charset="0"/>
                <a:ea typeface="Liberation Sans Narrow" pitchFamily="34" charset="-122"/>
                <a:cs typeface="Liberation Sans Narrow" pitchFamily="34" charset="-120"/>
              </a:rPr>
              <a:t>02 · Tasks</a:t>
            </a:r>
            <a:endParaRPr lang="en-US" sz="1238" dirty="0"/>
          </a:p>
        </p:txBody>
      </p:sp>
      <p:sp>
        <p:nvSpPr>
          <p:cNvPr id="6" name="Text 4"/>
          <p:cNvSpPr/>
          <p:nvPr/>
        </p:nvSpPr>
        <p:spPr>
          <a:xfrm>
            <a:off x="432197" y="919311"/>
            <a:ext cx="4767225" cy="668610"/>
          </a:xfrm>
          <a:prstGeom prst="roundRect">
            <a:avLst>
              <a:gd name="adj" fmla="val 17095"/>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7" name="Text 5"/>
          <p:cNvSpPr/>
          <p:nvPr/>
        </p:nvSpPr>
        <p:spPr>
          <a:xfrm>
            <a:off x="550069" y="1008608"/>
            <a:ext cx="365760" cy="237606"/>
          </a:xfrm>
          <a:prstGeom prst="rect">
            <a:avLst/>
          </a:prstGeom>
          <a:noFill/>
          <a:ln/>
        </p:spPr>
        <p:txBody>
          <a:bodyPr wrap="none" lIns="0" tIns="0" rIns="0" bIns="0" rtlCol="0" anchor="t"/>
          <a:lstStyle/>
          <a:p>
            <a:pPr marL="0" indent="0" algn="l">
              <a:lnSpc>
                <a:spcPts val="1733"/>
              </a:lnSpc>
              <a:buNone/>
            </a:pPr>
            <a:r>
              <a:rPr lang="en-US" sz="1238" b="1" dirty="0">
                <a:solidFill>
                  <a:srgbClr val="F97316"/>
                </a:solidFill>
                <a:latin typeface="Liberation Sans Narrow" pitchFamily="34" charset="0"/>
                <a:ea typeface="Liberation Sans Narrow" pitchFamily="34" charset="-122"/>
                <a:cs typeface="Liberation Sans Narrow" pitchFamily="34" charset="-120"/>
              </a:rPr>
              <a:t>01</a:t>
            </a:r>
            <a:endParaRPr lang="en-US" sz="1238" dirty="0"/>
          </a:p>
        </p:txBody>
      </p:sp>
      <p:sp>
        <p:nvSpPr>
          <p:cNvPr id="8" name="Text 6"/>
          <p:cNvSpPr/>
          <p:nvPr/>
        </p:nvSpPr>
        <p:spPr>
          <a:xfrm>
            <a:off x="878681" y="1008608"/>
            <a:ext cx="4202869" cy="490017"/>
          </a:xfrm>
          <a:prstGeom prst="rect">
            <a:avLst/>
          </a:prstGeom>
          <a:noFill/>
          <a:ln/>
        </p:spPr>
        <p:txBody>
          <a:bodyPr wrap="square" lIns="0" tIns="0" rIns="0" bIns="0" rtlCol="0" anchor="t"/>
          <a:lstStyle/>
          <a:p>
            <a:pPr marL="0" indent="0" algn="l">
              <a:lnSpc>
                <a:spcPts val="1339"/>
              </a:lnSpc>
              <a:buNone/>
            </a:pPr>
            <a:r>
              <a:rPr lang="en-US" sz="956" b="1" dirty="0">
                <a:solidFill>
                  <a:srgbClr val="0F172A"/>
                </a:solidFill>
                <a:latin typeface="Carlito" pitchFamily="34" charset="0"/>
                <a:ea typeface="Carlito" pitchFamily="34" charset="-122"/>
                <a:cs typeface="Carlito" pitchFamily="34" charset="-120"/>
              </a:rPr>
              <a:t>name: (Required)</a:t>
            </a:r>
            <a:endParaRPr lang="en-US" sz="844" dirty="0"/>
          </a:p>
          <a:p>
            <a:pPr marL="0" indent="0" algn="l">
              <a:lnSpc>
                <a:spcPts val="1339"/>
              </a:lnSpc>
              <a:buNone/>
            </a:pPr>
            <a:r>
              <a:rPr lang="en-US" sz="844" dirty="0">
                <a:solidFill>
                  <a:srgbClr val="334155"/>
                </a:solidFill>
                <a:latin typeface="Carlito" pitchFamily="34" charset="0"/>
                <a:ea typeface="Carlito" pitchFamily="34" charset="-122"/>
                <a:cs typeface="Carlito" pitchFamily="34" charset="-120"/>
              </a:rPr>
              <a:t>Human-readable description. Shows up in Ansible output. </a:t>
            </a:r>
            <a:r>
              <a:rPr lang="en-US" sz="956" b="1" dirty="0">
                <a:solidFill>
                  <a:srgbClr val="0F172A"/>
                </a:solidFill>
                <a:latin typeface="Carlito" pitchFamily="34" charset="0"/>
                <a:ea typeface="Carlito" pitchFamily="34" charset="-122"/>
                <a:cs typeface="Carlito" pitchFamily="34" charset="-120"/>
              </a:rPr>
              <a:t>Critical for debugging</a:t>
            </a:r>
            <a:r>
              <a:rPr lang="en-US" sz="844" dirty="0">
                <a:solidFill>
                  <a:srgbClr val="334155"/>
                </a:solidFill>
                <a:latin typeface="Carlito" pitchFamily="34" charset="0"/>
                <a:ea typeface="Carlito" pitchFamily="34" charset="-122"/>
                <a:cs typeface="Carlito" pitchFamily="34" charset="-120"/>
              </a:rPr>
              <a:t> — every task needs a name.</a:t>
            </a:r>
            <a:endParaRPr lang="en-US" sz="844" dirty="0"/>
          </a:p>
        </p:txBody>
      </p:sp>
      <p:sp>
        <p:nvSpPr>
          <p:cNvPr id="9" name="Text 7"/>
          <p:cNvSpPr/>
          <p:nvPr/>
        </p:nvSpPr>
        <p:spPr>
          <a:xfrm>
            <a:off x="432197" y="1680790"/>
            <a:ext cx="4767225" cy="648630"/>
          </a:xfrm>
          <a:prstGeom prst="roundRect">
            <a:avLst>
              <a:gd name="adj" fmla="val 17622"/>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10" name="Text 8"/>
          <p:cNvSpPr/>
          <p:nvPr/>
        </p:nvSpPr>
        <p:spPr>
          <a:xfrm>
            <a:off x="550069" y="1770087"/>
            <a:ext cx="365760" cy="237606"/>
          </a:xfrm>
          <a:prstGeom prst="rect">
            <a:avLst/>
          </a:prstGeom>
          <a:noFill/>
          <a:ln/>
        </p:spPr>
        <p:txBody>
          <a:bodyPr wrap="none" lIns="0" tIns="0" rIns="0" bIns="0" rtlCol="0" anchor="t"/>
          <a:lstStyle/>
          <a:p>
            <a:pPr marL="0" indent="0" algn="l">
              <a:lnSpc>
                <a:spcPts val="1733"/>
              </a:lnSpc>
              <a:buNone/>
            </a:pPr>
            <a:r>
              <a:rPr lang="en-US" sz="1238" b="1" dirty="0">
                <a:solidFill>
                  <a:srgbClr val="F97316"/>
                </a:solidFill>
                <a:latin typeface="Liberation Sans Narrow" pitchFamily="34" charset="0"/>
                <a:ea typeface="Liberation Sans Narrow" pitchFamily="34" charset="-122"/>
                <a:cs typeface="Liberation Sans Narrow" pitchFamily="34" charset="-120"/>
              </a:rPr>
              <a:t>02</a:t>
            </a:r>
            <a:endParaRPr lang="en-US" sz="1238" dirty="0"/>
          </a:p>
        </p:txBody>
      </p:sp>
      <p:sp>
        <p:nvSpPr>
          <p:cNvPr id="11" name="Text 9"/>
          <p:cNvSpPr/>
          <p:nvPr/>
        </p:nvSpPr>
        <p:spPr>
          <a:xfrm>
            <a:off x="1805360" y="1947230"/>
            <a:ext cx="2253853" cy="135731"/>
          </a:xfrm>
          <a:prstGeom prst="roundRect">
            <a:avLst>
              <a:gd name="adj" fmla="val 28070"/>
            </a:avLst>
          </a:prstGeom>
          <a:solidFill>
            <a:srgbClr val="F1F5F9"/>
          </a:solidFill>
          <a:ln/>
        </p:spPr>
        <p:txBody>
          <a:bodyPr wrap="square" rtlCol="0" anchor="ctr"/>
          <a:lstStyle/>
          <a:p>
            <a:pPr marL="0" indent="0">
              <a:buNone/>
            </a:pPr>
            <a:endParaRPr lang="en-US" dirty="0"/>
          </a:p>
        </p:txBody>
      </p:sp>
      <p:sp>
        <p:nvSpPr>
          <p:cNvPr id="12" name="Text 10"/>
          <p:cNvSpPr/>
          <p:nvPr/>
        </p:nvSpPr>
        <p:spPr>
          <a:xfrm>
            <a:off x="878681" y="1770087"/>
            <a:ext cx="4202869" cy="470036"/>
          </a:xfrm>
          <a:prstGeom prst="rect">
            <a:avLst/>
          </a:prstGeom>
          <a:noFill/>
          <a:ln/>
        </p:spPr>
        <p:txBody>
          <a:bodyPr wrap="square" lIns="0" tIns="0" rIns="0" bIns="0" rtlCol="0" anchor="t"/>
          <a:lstStyle/>
          <a:p>
            <a:pPr marL="0" indent="0" algn="l">
              <a:lnSpc>
                <a:spcPts val="1339"/>
              </a:lnSpc>
              <a:buNone/>
            </a:pPr>
            <a:r>
              <a:rPr lang="en-US" sz="956" b="1" dirty="0">
                <a:solidFill>
                  <a:srgbClr val="0F172A"/>
                </a:solidFill>
                <a:latin typeface="Carlito" pitchFamily="34" charset="0"/>
                <a:ea typeface="Carlito" pitchFamily="34" charset="-122"/>
                <a:cs typeface="Carlito" pitchFamily="34" charset="-120"/>
              </a:rPr>
              <a:t>module: (Required)</a:t>
            </a:r>
            <a:endParaRPr lang="en-US" sz="844" dirty="0"/>
          </a:p>
          <a:p>
            <a:pPr marL="0" indent="0" algn="l">
              <a:lnSpc>
                <a:spcPts val="1339"/>
              </a:lnSpc>
              <a:buNone/>
            </a:pPr>
            <a:r>
              <a:rPr lang="en-US" sz="844" dirty="0">
                <a:solidFill>
                  <a:srgbClr val="334155"/>
                </a:solidFill>
                <a:latin typeface="Carlito" pitchFamily="34" charset="0"/>
                <a:ea typeface="Carlito" pitchFamily="34" charset="-122"/>
                <a:cs typeface="Carlito" pitchFamily="34" charset="-120"/>
              </a:rPr>
              <a:t>The module to call. </a:t>
            </a:r>
            <a:r>
              <a:rPr lang="en-US" sz="800" dirty="0">
                <a:solidFill>
                  <a:srgbClr val="0F172A"/>
                </a:solidFill>
                <a:highlight>
                  <a:srgbClr val="F1F5F9"/>
                </a:highlight>
                <a:latin typeface="Courier New" pitchFamily="34" charset="0"/>
                <a:ea typeface="Courier New" pitchFamily="34" charset="-122"/>
                <a:cs typeface="Courier New" pitchFamily="34" charset="-120"/>
              </a:rPr>
              <a:t>apt, copy, template, service, file, git, docker</a:t>
            </a:r>
            <a:r>
              <a:rPr lang="en-US" sz="844" dirty="0">
                <a:solidFill>
                  <a:srgbClr val="334155"/>
                </a:solidFill>
                <a:latin typeface="Carlito" pitchFamily="34" charset="0"/>
                <a:ea typeface="Carlito" pitchFamily="34" charset="-122"/>
                <a:cs typeface="Carlito" pitchFamily="34" charset="-120"/>
              </a:rPr>
              <a:t>, etc. Each module has its own arguments.</a:t>
            </a:r>
            <a:endParaRPr lang="en-US" sz="844" dirty="0"/>
          </a:p>
        </p:txBody>
      </p:sp>
      <p:sp>
        <p:nvSpPr>
          <p:cNvPr id="13" name="Text 11"/>
          <p:cNvSpPr/>
          <p:nvPr/>
        </p:nvSpPr>
        <p:spPr>
          <a:xfrm>
            <a:off x="432197" y="2422289"/>
            <a:ext cx="4767225" cy="648630"/>
          </a:xfrm>
          <a:prstGeom prst="roundRect">
            <a:avLst>
              <a:gd name="adj" fmla="val 17622"/>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14" name="Text 12"/>
          <p:cNvSpPr/>
          <p:nvPr/>
        </p:nvSpPr>
        <p:spPr>
          <a:xfrm>
            <a:off x="550069" y="2511586"/>
            <a:ext cx="365760" cy="237606"/>
          </a:xfrm>
          <a:prstGeom prst="rect">
            <a:avLst/>
          </a:prstGeom>
          <a:noFill/>
          <a:ln/>
        </p:spPr>
        <p:txBody>
          <a:bodyPr wrap="none" lIns="0" tIns="0" rIns="0" bIns="0" rtlCol="0" anchor="t"/>
          <a:lstStyle/>
          <a:p>
            <a:pPr marL="0" indent="0" algn="l">
              <a:lnSpc>
                <a:spcPts val="1733"/>
              </a:lnSpc>
              <a:buNone/>
            </a:pPr>
            <a:r>
              <a:rPr lang="en-US" sz="1238" b="1" dirty="0">
                <a:solidFill>
                  <a:srgbClr val="F97316"/>
                </a:solidFill>
                <a:latin typeface="Liberation Sans Narrow" pitchFamily="34" charset="0"/>
                <a:ea typeface="Liberation Sans Narrow" pitchFamily="34" charset="-122"/>
                <a:cs typeface="Liberation Sans Narrow" pitchFamily="34" charset="-120"/>
              </a:rPr>
              <a:t>03</a:t>
            </a:r>
            <a:endParaRPr lang="en-US" sz="1238" dirty="0"/>
          </a:p>
        </p:txBody>
      </p:sp>
      <p:sp>
        <p:nvSpPr>
          <p:cNvPr id="15" name="Text 13"/>
          <p:cNvSpPr/>
          <p:nvPr/>
        </p:nvSpPr>
        <p:spPr>
          <a:xfrm>
            <a:off x="878681" y="2838748"/>
            <a:ext cx="303609" cy="135731"/>
          </a:xfrm>
          <a:prstGeom prst="roundRect">
            <a:avLst>
              <a:gd name="adj" fmla="val 28070"/>
            </a:avLst>
          </a:prstGeom>
          <a:solidFill>
            <a:srgbClr val="F1F5F9"/>
          </a:solidFill>
          <a:ln/>
        </p:spPr>
        <p:txBody>
          <a:bodyPr wrap="square" rtlCol="0" anchor="ctr"/>
          <a:lstStyle/>
          <a:p>
            <a:pPr marL="0" indent="0">
              <a:buNone/>
            </a:pPr>
            <a:endParaRPr lang="en-US" dirty="0"/>
          </a:p>
        </p:txBody>
      </p:sp>
      <p:sp>
        <p:nvSpPr>
          <p:cNvPr id="16" name="Text 14"/>
          <p:cNvSpPr/>
          <p:nvPr/>
        </p:nvSpPr>
        <p:spPr>
          <a:xfrm>
            <a:off x="1302283" y="2838748"/>
            <a:ext cx="535781" cy="135731"/>
          </a:xfrm>
          <a:prstGeom prst="roundRect">
            <a:avLst>
              <a:gd name="adj" fmla="val 28070"/>
            </a:avLst>
          </a:prstGeom>
          <a:solidFill>
            <a:srgbClr val="F1F5F9"/>
          </a:solidFill>
          <a:ln/>
        </p:spPr>
        <p:txBody>
          <a:bodyPr wrap="square" rtlCol="0" anchor="ctr"/>
          <a:lstStyle/>
          <a:p>
            <a:pPr marL="0" indent="0">
              <a:buNone/>
            </a:pPr>
            <a:endParaRPr lang="en-US" dirty="0"/>
          </a:p>
        </p:txBody>
      </p:sp>
      <p:sp>
        <p:nvSpPr>
          <p:cNvPr id="17" name="Text 15"/>
          <p:cNvSpPr/>
          <p:nvPr/>
        </p:nvSpPr>
        <p:spPr>
          <a:xfrm>
            <a:off x="878681" y="2511586"/>
            <a:ext cx="4202869" cy="470036"/>
          </a:xfrm>
          <a:prstGeom prst="rect">
            <a:avLst/>
          </a:prstGeom>
          <a:noFill/>
          <a:ln/>
        </p:spPr>
        <p:txBody>
          <a:bodyPr wrap="square" lIns="0" tIns="0" rIns="0" bIns="0" rtlCol="0" anchor="t"/>
          <a:lstStyle/>
          <a:p>
            <a:pPr marL="0" indent="0" algn="l">
              <a:lnSpc>
                <a:spcPts val="1339"/>
              </a:lnSpc>
              <a:buNone/>
            </a:pPr>
            <a:r>
              <a:rPr lang="en-US" sz="956" b="1" dirty="0">
                <a:solidFill>
                  <a:srgbClr val="0F172A"/>
                </a:solidFill>
                <a:latin typeface="Carlito" pitchFamily="34" charset="0"/>
                <a:ea typeface="Carlito" pitchFamily="34" charset="-122"/>
                <a:cs typeface="Carlito" pitchFamily="34" charset="-120"/>
              </a:rPr>
              <a:t>vars + when: (Optional)</a:t>
            </a:r>
            <a:endParaRPr lang="en-US" sz="844" dirty="0"/>
          </a:p>
          <a:p>
            <a:pPr marL="0" indent="0" algn="l">
              <a:lnSpc>
                <a:spcPts val="1339"/>
              </a:lnSpc>
              <a:buNone/>
            </a:pPr>
            <a:r>
              <a:rPr lang="en-US" sz="844" dirty="0">
                <a:solidFill>
                  <a:srgbClr val="334155"/>
                </a:solidFill>
                <a:latin typeface="Carlito" pitchFamily="34" charset="0"/>
                <a:ea typeface="Carlito" pitchFamily="34" charset="-122"/>
                <a:cs typeface="Carlito" pitchFamily="34" charset="-120"/>
              </a:rPr>
              <a:t>Conditionals. Skip a task if a fact does not match (e.g., only run on Debian). Loop with </a:t>
            </a:r>
            <a:r>
              <a:rPr lang="en-US" sz="800" dirty="0">
                <a:solidFill>
                  <a:srgbClr val="0F172A"/>
                </a:solidFill>
                <a:highlight>
                  <a:srgbClr val="F1F5F9"/>
                </a:highlight>
                <a:latin typeface="Courier New" pitchFamily="34" charset="0"/>
                <a:ea typeface="Courier New" pitchFamily="34" charset="-122"/>
                <a:cs typeface="Courier New" pitchFamily="34" charset="-120"/>
              </a:rPr>
              <a:t>loop:</a:t>
            </a:r>
            <a:r>
              <a:rPr lang="en-US" sz="844" dirty="0">
                <a:solidFill>
                  <a:srgbClr val="334155"/>
                </a:solidFill>
                <a:latin typeface="Carlito" pitchFamily="34" charset="0"/>
                <a:ea typeface="Carlito" pitchFamily="34" charset="-122"/>
                <a:cs typeface="Carlito" pitchFamily="34" charset="-120"/>
              </a:rPr>
              <a:t> / </a:t>
            </a:r>
            <a:r>
              <a:rPr lang="en-US" sz="800" dirty="0">
                <a:solidFill>
                  <a:srgbClr val="0F172A"/>
                </a:solidFill>
                <a:highlight>
                  <a:srgbClr val="F1F5F9"/>
                </a:highlight>
                <a:latin typeface="Courier New" pitchFamily="34" charset="0"/>
                <a:ea typeface="Courier New" pitchFamily="34" charset="-122"/>
                <a:cs typeface="Courier New" pitchFamily="34" charset="-120"/>
              </a:rPr>
              <a:t>with_items</a:t>
            </a:r>
            <a:r>
              <a:rPr lang="en-US" sz="844" dirty="0">
                <a:solidFill>
                  <a:srgbClr val="334155"/>
                </a:solidFill>
                <a:latin typeface="Carlito" pitchFamily="34" charset="0"/>
                <a:ea typeface="Carlito" pitchFamily="34" charset="-122"/>
                <a:cs typeface="Carlito" pitchFamily="34" charset="-120"/>
              </a:rPr>
              <a:t>.</a:t>
            </a:r>
            <a:endParaRPr lang="en-US" sz="844" dirty="0"/>
          </a:p>
        </p:txBody>
      </p:sp>
      <p:sp>
        <p:nvSpPr>
          <p:cNvPr id="18" name="Text 16"/>
          <p:cNvSpPr/>
          <p:nvPr/>
        </p:nvSpPr>
        <p:spPr>
          <a:xfrm>
            <a:off x="432197" y="3163788"/>
            <a:ext cx="4767225" cy="648630"/>
          </a:xfrm>
          <a:prstGeom prst="roundRect">
            <a:avLst>
              <a:gd name="adj" fmla="val 17622"/>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19" name="Text 17"/>
          <p:cNvSpPr/>
          <p:nvPr/>
        </p:nvSpPr>
        <p:spPr>
          <a:xfrm>
            <a:off x="550069" y="3253085"/>
            <a:ext cx="365760" cy="237606"/>
          </a:xfrm>
          <a:prstGeom prst="rect">
            <a:avLst/>
          </a:prstGeom>
          <a:noFill/>
          <a:ln/>
        </p:spPr>
        <p:txBody>
          <a:bodyPr wrap="none" lIns="0" tIns="0" rIns="0" bIns="0" rtlCol="0" anchor="t"/>
          <a:lstStyle/>
          <a:p>
            <a:pPr marL="0" indent="0" algn="l">
              <a:lnSpc>
                <a:spcPts val="1733"/>
              </a:lnSpc>
              <a:buNone/>
            </a:pPr>
            <a:r>
              <a:rPr lang="en-US" sz="1238" b="1" dirty="0">
                <a:solidFill>
                  <a:srgbClr val="F97316"/>
                </a:solidFill>
                <a:latin typeface="Liberation Sans Narrow" pitchFamily="34" charset="0"/>
                <a:ea typeface="Liberation Sans Narrow" pitchFamily="34" charset="-122"/>
                <a:cs typeface="Liberation Sans Narrow" pitchFamily="34" charset="-120"/>
              </a:rPr>
              <a:t>04</a:t>
            </a:r>
            <a:endParaRPr lang="en-US" sz="1238" dirty="0"/>
          </a:p>
        </p:txBody>
      </p:sp>
      <p:sp>
        <p:nvSpPr>
          <p:cNvPr id="20" name="Text 18"/>
          <p:cNvSpPr/>
          <p:nvPr/>
        </p:nvSpPr>
        <p:spPr>
          <a:xfrm>
            <a:off x="1828688" y="3430228"/>
            <a:ext cx="442913" cy="135731"/>
          </a:xfrm>
          <a:prstGeom prst="roundRect">
            <a:avLst>
              <a:gd name="adj" fmla="val 28070"/>
            </a:avLst>
          </a:prstGeom>
          <a:solidFill>
            <a:srgbClr val="F1F5F9"/>
          </a:solidFill>
          <a:ln/>
        </p:spPr>
        <p:txBody>
          <a:bodyPr wrap="square" rtlCol="0" anchor="ctr"/>
          <a:lstStyle/>
          <a:p>
            <a:pPr marL="0" indent="0">
              <a:buNone/>
            </a:pPr>
            <a:endParaRPr lang="en-US" dirty="0"/>
          </a:p>
        </p:txBody>
      </p:sp>
      <p:sp>
        <p:nvSpPr>
          <p:cNvPr id="21" name="Text 19"/>
          <p:cNvSpPr/>
          <p:nvPr/>
        </p:nvSpPr>
        <p:spPr>
          <a:xfrm>
            <a:off x="4007309" y="3430228"/>
            <a:ext cx="675084" cy="135731"/>
          </a:xfrm>
          <a:prstGeom prst="roundRect">
            <a:avLst>
              <a:gd name="adj" fmla="val 28070"/>
            </a:avLst>
          </a:prstGeom>
          <a:solidFill>
            <a:srgbClr val="F1F5F9"/>
          </a:solidFill>
          <a:ln/>
        </p:spPr>
        <p:txBody>
          <a:bodyPr wrap="square" rtlCol="0" anchor="ctr"/>
          <a:lstStyle/>
          <a:p>
            <a:pPr marL="0" indent="0">
              <a:buNone/>
            </a:pPr>
            <a:endParaRPr lang="en-US" dirty="0"/>
          </a:p>
        </p:txBody>
      </p:sp>
      <p:sp>
        <p:nvSpPr>
          <p:cNvPr id="22" name="Text 20"/>
          <p:cNvSpPr/>
          <p:nvPr/>
        </p:nvSpPr>
        <p:spPr>
          <a:xfrm>
            <a:off x="878681" y="3253085"/>
            <a:ext cx="4202869" cy="470036"/>
          </a:xfrm>
          <a:prstGeom prst="rect">
            <a:avLst/>
          </a:prstGeom>
          <a:noFill/>
          <a:ln/>
        </p:spPr>
        <p:txBody>
          <a:bodyPr wrap="square" lIns="0" tIns="0" rIns="0" bIns="0" rtlCol="0" anchor="t"/>
          <a:lstStyle/>
          <a:p>
            <a:pPr marL="0" indent="0" algn="l">
              <a:lnSpc>
                <a:spcPts val="1339"/>
              </a:lnSpc>
              <a:buNone/>
            </a:pPr>
            <a:r>
              <a:rPr lang="en-US" sz="956" b="1" dirty="0">
                <a:solidFill>
                  <a:srgbClr val="0F172A"/>
                </a:solidFill>
                <a:latin typeface="Carlito" pitchFamily="34" charset="0"/>
                <a:ea typeface="Carlito" pitchFamily="34" charset="-122"/>
                <a:cs typeface="Carlito" pitchFamily="34" charset="-120"/>
              </a:rPr>
              <a:t>register + changed_when: (Optional)</a:t>
            </a:r>
            <a:endParaRPr lang="en-US" sz="844" dirty="0"/>
          </a:p>
          <a:p>
            <a:pPr marL="0" indent="0" algn="l">
              <a:lnSpc>
                <a:spcPts val="1339"/>
              </a:lnSpc>
              <a:buNone/>
            </a:pPr>
            <a:r>
              <a:rPr lang="en-US" sz="844" dirty="0">
                <a:solidFill>
                  <a:srgbClr val="334155"/>
                </a:solidFill>
                <a:latin typeface="Carlito" pitchFamily="34" charset="0"/>
                <a:ea typeface="Carlito" pitchFamily="34" charset="-122"/>
                <a:cs typeface="Carlito" pitchFamily="34" charset="-120"/>
              </a:rPr>
              <a:t>Capture output with </a:t>
            </a:r>
            <a:r>
              <a:rPr lang="en-US" sz="800" dirty="0">
                <a:solidFill>
                  <a:srgbClr val="0F172A"/>
                </a:solidFill>
                <a:highlight>
                  <a:srgbClr val="F1F5F9"/>
                </a:highlight>
                <a:latin typeface="Courier New" pitchFamily="34" charset="0"/>
                <a:ea typeface="Courier New" pitchFamily="34" charset="-122"/>
                <a:cs typeface="Courier New" pitchFamily="34" charset="-120"/>
              </a:rPr>
              <a:t>register</a:t>
            </a:r>
            <a:r>
              <a:rPr lang="en-US" sz="844" dirty="0">
                <a:solidFill>
                  <a:srgbClr val="334155"/>
                </a:solidFill>
                <a:latin typeface="Carlito" pitchFamily="34" charset="0"/>
                <a:ea typeface="Carlito" pitchFamily="34" charset="-122"/>
                <a:cs typeface="Carlito" pitchFamily="34" charset="-120"/>
              </a:rPr>
              <a:t>. Override the "changed" status with </a:t>
            </a:r>
            <a:r>
              <a:rPr lang="en-US" sz="800" dirty="0">
                <a:solidFill>
                  <a:srgbClr val="0F172A"/>
                </a:solidFill>
                <a:highlight>
                  <a:srgbClr val="F1F5F9"/>
                </a:highlight>
                <a:latin typeface="Courier New" pitchFamily="34" charset="0"/>
                <a:ea typeface="Courier New" pitchFamily="34" charset="-122"/>
                <a:cs typeface="Courier New" pitchFamily="34" charset="-120"/>
              </a:rPr>
              <a:t>changed_when:</a:t>
            </a:r>
            <a:r>
              <a:rPr lang="en-US" sz="844" dirty="0">
                <a:solidFill>
                  <a:srgbClr val="334155"/>
                </a:solidFill>
                <a:latin typeface="Carlito" pitchFamily="34" charset="0"/>
                <a:ea typeface="Carlito" pitchFamily="34" charset="-122"/>
                <a:cs typeface="Carlito" pitchFamily="34" charset="-120"/>
              </a:rPr>
              <a:t> for non-idempotent modules.</a:t>
            </a:r>
            <a:endParaRPr lang="en-US" sz="844" dirty="0"/>
          </a:p>
        </p:txBody>
      </p:sp>
      <p:sp>
        <p:nvSpPr>
          <p:cNvPr id="23" name="Text 21"/>
          <p:cNvSpPr/>
          <p:nvPr/>
        </p:nvSpPr>
        <p:spPr>
          <a:xfrm>
            <a:off x="5345869" y="915739"/>
            <a:ext cx="3369506" cy="3884861"/>
          </a:xfrm>
          <a:prstGeom prst="roundRect">
            <a:avLst>
              <a:gd name="adj" fmla="val 3958"/>
            </a:avLst>
          </a:prstGeom>
          <a:solidFill>
            <a:srgbClr val="0F172A"/>
          </a:solidFill>
          <a:ln/>
        </p:spPr>
        <p:txBody>
          <a:bodyPr wrap="square" rtlCol="0" anchor="ctr"/>
          <a:lstStyle/>
          <a:p>
            <a:pPr marL="0" indent="0">
              <a:buNone/>
            </a:pPr>
            <a:endParaRPr lang="en-US" dirty="0"/>
          </a:p>
        </p:txBody>
      </p:sp>
      <p:sp>
        <p:nvSpPr>
          <p:cNvPr id="24" name="Text 22"/>
          <p:cNvSpPr/>
          <p:nvPr/>
        </p:nvSpPr>
        <p:spPr>
          <a:xfrm>
            <a:off x="5674482" y="1044327"/>
            <a:ext cx="1202578" cy="143490"/>
          </a:xfrm>
          <a:prstGeom prst="rect">
            <a:avLst/>
          </a:prstGeom>
          <a:noFill/>
          <a:ln/>
        </p:spPr>
        <p:txBody>
          <a:bodyPr wrap="none" lIns="0" tIns="0" rIns="0" bIns="0" rtlCol="0" anchor="t"/>
          <a:lstStyle/>
          <a:p>
            <a:pPr marL="0" indent="0" algn="l">
              <a:lnSpc>
                <a:spcPts val="1024"/>
              </a:lnSpc>
              <a:buNone/>
            </a:pPr>
            <a:r>
              <a:rPr lang="en-US" sz="800" kern="0" spc="56" dirty="0">
                <a:solidFill>
                  <a:srgbClr val="94A3B8"/>
                </a:solidFill>
                <a:latin typeface="Courier New" pitchFamily="34" charset="0"/>
                <a:ea typeface="Courier New" pitchFamily="34" charset="-122"/>
                <a:cs typeface="Courier New" pitchFamily="34" charset="-120"/>
              </a:rPr>
              <a:t>TASK-SKELETON.YML</a:t>
            </a:r>
            <a:endParaRPr lang="en-US" sz="800" dirty="0"/>
          </a:p>
        </p:txBody>
      </p:sp>
      <p:sp>
        <p:nvSpPr>
          <p:cNvPr id="25" name="Text 23"/>
          <p:cNvSpPr/>
          <p:nvPr/>
        </p:nvSpPr>
        <p:spPr>
          <a:xfrm>
            <a:off x="5488744" y="1044997"/>
            <a:ext cx="128588" cy="128588"/>
          </a:xfrm>
          <a:prstGeom prst="rect">
            <a:avLst/>
          </a:prstGeom>
          <a:noFill/>
          <a:ln/>
        </p:spPr>
        <p:txBody>
          <a:bodyPr wrap="none" lIns="0" tIns="0" rIns="0" bIns="0" rtlCol="0" anchor="ctr"/>
          <a:lstStyle/>
          <a:p>
            <a:pPr marL="0" indent="0" algn="ctr">
              <a:buNone/>
            </a:pPr>
            <a:r>
              <a:rPr lang="en-US" sz="1266" dirty="0">
                <a:solidFill>
                  <a:srgbClr val="F97316"/>
                </a:solidFill>
                <a:latin typeface="Segoe UI Symbol" pitchFamily="34" charset="0"/>
                <a:ea typeface="Segoe UI Symbol" pitchFamily="34" charset="-122"/>
                <a:cs typeface="Segoe UI Symbol" pitchFamily="34" charset="-120"/>
              </a:rPr>
              <a:t>✦</a:t>
            </a:r>
            <a:endParaRPr lang="en-US" sz="1266" dirty="0"/>
          </a:p>
        </p:txBody>
      </p:sp>
      <p:sp>
        <p:nvSpPr>
          <p:cNvPr id="26" name="Text 24"/>
          <p:cNvSpPr/>
          <p:nvPr/>
        </p:nvSpPr>
        <p:spPr>
          <a:xfrm>
            <a:off x="5603044" y="1274266"/>
            <a:ext cx="457200" cy="154305"/>
          </a:xfrm>
          <a:prstGeom prst="rect">
            <a:avLst/>
          </a:prstGeom>
          <a:noFill/>
          <a:ln/>
        </p:spPr>
        <p:txBody>
          <a:bodyPr wrap="none" lIns="0" tIns="0" rIns="0" bIns="0" rtlCol="0" anchor="t"/>
          <a:lstStyle/>
          <a:p>
            <a:pPr marL="0" indent="0" algn="l">
              <a:lnSpc>
                <a:spcPts val="1395"/>
              </a:lnSpc>
              <a:buNone/>
            </a:pPr>
            <a:r>
              <a:rPr lang="en-US" sz="900" dirty="0">
                <a:solidFill>
                  <a:srgbClr val="FBA74A"/>
                </a:solidFill>
                <a:latin typeface="Courier New" pitchFamily="34" charset="0"/>
                <a:ea typeface="Courier New" pitchFamily="34" charset="-122"/>
                <a:cs typeface="Courier New" pitchFamily="34" charset="-120"/>
              </a:rPr>
              <a:t>name:</a:t>
            </a:r>
            <a:endParaRPr lang="en-US" sz="900" dirty="0"/>
          </a:p>
        </p:txBody>
      </p:sp>
      <p:sp>
        <p:nvSpPr>
          <p:cNvPr id="27" name="Text 25"/>
          <p:cNvSpPr/>
          <p:nvPr/>
        </p:nvSpPr>
        <p:spPr>
          <a:xfrm>
            <a:off x="5943852" y="1274266"/>
            <a:ext cx="932871" cy="154305"/>
          </a:xfrm>
          <a:prstGeom prst="rect">
            <a:avLst/>
          </a:prstGeom>
          <a:noFill/>
          <a:ln/>
        </p:spPr>
        <p:txBody>
          <a:bodyPr wrap="none" lIns="0" tIns="0" rIns="0" bIns="0" rtlCol="0" anchor="t"/>
          <a:lstStyle/>
          <a:p>
            <a:pPr marL="0" indent="0" algn="l">
              <a:lnSpc>
                <a:spcPts val="1395"/>
              </a:lnSpc>
              <a:buNone/>
            </a:pPr>
            <a:r>
              <a:rPr lang="en-US" sz="900" dirty="0">
                <a:solidFill>
                  <a:srgbClr val="86EFAC"/>
                </a:solidFill>
                <a:latin typeface="Courier New" pitchFamily="34" charset="0"/>
                <a:ea typeface="Courier New" pitchFamily="34" charset="-122"/>
                <a:cs typeface="Courier New" pitchFamily="34" charset="-120"/>
              </a:rPr>
              <a:t>Install nginx</a:t>
            </a:r>
            <a:endParaRPr lang="en-US" sz="900" dirty="0"/>
          </a:p>
        </p:txBody>
      </p:sp>
      <p:sp>
        <p:nvSpPr>
          <p:cNvPr id="28" name="Text 26"/>
          <p:cNvSpPr/>
          <p:nvPr/>
        </p:nvSpPr>
        <p:spPr>
          <a:xfrm>
            <a:off x="7260394" y="1274266"/>
            <a:ext cx="365760" cy="149711"/>
          </a:xfrm>
          <a:prstGeom prst="rect">
            <a:avLst/>
          </a:prstGeom>
          <a:noFill/>
          <a:ln/>
        </p:spPr>
        <p:txBody>
          <a:bodyPr wrap="none" lIns="0" tIns="0" rIns="0" bIns="0" rtlCol="0" anchor="t">
            <a:normAutofit fontScale="55000" lnSpcReduction="20000"/>
          </a:bodyPr>
          <a:lstStyle/>
          <a:p>
            <a:pPr marL="0" indent="0" algn="l">
              <a:lnSpc>
                <a:spcPts val="1395"/>
              </a:lnSpc>
              <a:buNone/>
            </a:pPr>
            <a:r>
              <a:rPr lang="en-US" sz="900" i="1" dirty="0">
                <a:solidFill>
                  <a:srgbClr val="94A3B8"/>
                </a:solidFill>
                <a:latin typeface="Liberation Sans Narrow" pitchFamily="34" charset="0"/>
                <a:ea typeface="Liberation Sans Narrow" pitchFamily="34" charset="-122"/>
                <a:cs typeface="Liberation Sans Narrow" pitchFamily="34" charset="-120"/>
              </a:rPr>
              <a:t># 01</a:t>
            </a:r>
            <a:endParaRPr lang="en-US" sz="900" dirty="0"/>
          </a:p>
        </p:txBody>
      </p:sp>
      <p:sp>
        <p:nvSpPr>
          <p:cNvPr id="29" name="Text 27"/>
          <p:cNvSpPr/>
          <p:nvPr/>
        </p:nvSpPr>
        <p:spPr>
          <a:xfrm>
            <a:off x="5603044" y="1451409"/>
            <a:ext cx="365760" cy="154305"/>
          </a:xfrm>
          <a:prstGeom prst="rect">
            <a:avLst/>
          </a:prstGeom>
          <a:noFill/>
          <a:ln/>
        </p:spPr>
        <p:txBody>
          <a:bodyPr wrap="none" lIns="0" tIns="0" rIns="0" bIns="0" rtlCol="0" anchor="t"/>
          <a:lstStyle/>
          <a:p>
            <a:pPr marL="0" indent="0" algn="l">
              <a:lnSpc>
                <a:spcPts val="1395"/>
              </a:lnSpc>
              <a:buNone/>
            </a:pPr>
            <a:r>
              <a:rPr lang="en-US" sz="900" dirty="0">
                <a:solidFill>
                  <a:srgbClr val="FBA74A"/>
                </a:solidFill>
                <a:latin typeface="Courier New" pitchFamily="34" charset="0"/>
                <a:ea typeface="Courier New" pitchFamily="34" charset="-122"/>
                <a:cs typeface="Courier New" pitchFamily="34" charset="-120"/>
              </a:rPr>
              <a:t>apt:</a:t>
            </a:r>
            <a:endParaRPr lang="en-US" sz="900" dirty="0"/>
          </a:p>
        </p:txBody>
      </p:sp>
      <p:sp>
        <p:nvSpPr>
          <p:cNvPr id="30" name="Text 28"/>
          <p:cNvSpPr/>
          <p:nvPr/>
        </p:nvSpPr>
        <p:spPr>
          <a:xfrm>
            <a:off x="7317544" y="1451409"/>
            <a:ext cx="365760" cy="149711"/>
          </a:xfrm>
          <a:prstGeom prst="rect">
            <a:avLst/>
          </a:prstGeom>
          <a:noFill/>
          <a:ln/>
        </p:spPr>
        <p:txBody>
          <a:bodyPr wrap="none" lIns="0" tIns="0" rIns="0" bIns="0" rtlCol="0" anchor="t">
            <a:normAutofit fontScale="55000" lnSpcReduction="20000"/>
          </a:bodyPr>
          <a:lstStyle/>
          <a:p>
            <a:pPr marL="0" indent="0" algn="l">
              <a:lnSpc>
                <a:spcPts val="1395"/>
              </a:lnSpc>
              <a:buNone/>
            </a:pPr>
            <a:r>
              <a:rPr lang="en-US" sz="900" i="1" dirty="0">
                <a:solidFill>
                  <a:srgbClr val="94A3B8"/>
                </a:solidFill>
                <a:latin typeface="Liberation Sans Narrow" pitchFamily="34" charset="0"/>
                <a:ea typeface="Liberation Sans Narrow" pitchFamily="34" charset="-122"/>
                <a:cs typeface="Liberation Sans Narrow" pitchFamily="34" charset="-120"/>
              </a:rPr>
              <a:t># 02</a:t>
            </a:r>
            <a:endParaRPr lang="en-US" sz="900" dirty="0"/>
          </a:p>
        </p:txBody>
      </p:sp>
      <p:sp>
        <p:nvSpPr>
          <p:cNvPr id="31" name="Text 29"/>
          <p:cNvSpPr/>
          <p:nvPr/>
        </p:nvSpPr>
        <p:spPr>
          <a:xfrm>
            <a:off x="5717344" y="1628552"/>
            <a:ext cx="457200" cy="154305"/>
          </a:xfrm>
          <a:prstGeom prst="rect">
            <a:avLst/>
          </a:prstGeom>
          <a:noFill/>
          <a:ln/>
        </p:spPr>
        <p:txBody>
          <a:bodyPr wrap="none" lIns="0" tIns="0" rIns="0" bIns="0" rtlCol="0" anchor="t"/>
          <a:lstStyle/>
          <a:p>
            <a:pPr marL="0" indent="0" algn="l">
              <a:lnSpc>
                <a:spcPts val="1395"/>
              </a:lnSpc>
              <a:buNone/>
            </a:pPr>
            <a:r>
              <a:rPr lang="en-US" sz="900" dirty="0">
                <a:solidFill>
                  <a:srgbClr val="FBA74A"/>
                </a:solidFill>
                <a:latin typeface="Courier New" pitchFamily="34" charset="0"/>
                <a:ea typeface="Courier New" pitchFamily="34" charset="-122"/>
                <a:cs typeface="Courier New" pitchFamily="34" charset="-120"/>
              </a:rPr>
              <a:t>name:</a:t>
            </a:r>
            <a:endParaRPr lang="en-US" sz="900" dirty="0"/>
          </a:p>
        </p:txBody>
      </p:sp>
      <p:sp>
        <p:nvSpPr>
          <p:cNvPr id="32" name="Text 30"/>
          <p:cNvSpPr/>
          <p:nvPr/>
        </p:nvSpPr>
        <p:spPr>
          <a:xfrm>
            <a:off x="6060244" y="1628552"/>
            <a:ext cx="457200" cy="149711"/>
          </a:xfrm>
          <a:prstGeom prst="rect">
            <a:avLst/>
          </a:prstGeom>
          <a:noFill/>
          <a:ln/>
        </p:spPr>
        <p:txBody>
          <a:bodyPr wrap="none" lIns="0" tIns="0" rIns="0" bIns="0" rtlCol="0" anchor="t">
            <a:normAutofit fontScale="47500" lnSpcReduction="20000"/>
          </a:bodyPr>
          <a:lstStyle/>
          <a:p>
            <a:pPr marL="0" indent="0" algn="l">
              <a:lnSpc>
                <a:spcPts val="1395"/>
              </a:lnSpc>
              <a:buNone/>
            </a:pPr>
            <a:r>
              <a:rPr lang="en-US" sz="900" dirty="0">
                <a:solidFill>
                  <a:srgbClr val="86EFAC"/>
                </a:solidFill>
                <a:latin typeface="Courier New" pitchFamily="34" charset="0"/>
                <a:ea typeface="Courier New" pitchFamily="34" charset="-122"/>
                <a:cs typeface="Courier New" pitchFamily="34" charset="-120"/>
              </a:rPr>
              <a:t>nginx</a:t>
            </a:r>
            <a:endParaRPr lang="en-US" sz="900" dirty="0"/>
          </a:p>
        </p:txBody>
      </p:sp>
      <p:sp>
        <p:nvSpPr>
          <p:cNvPr id="33" name="Text 31"/>
          <p:cNvSpPr/>
          <p:nvPr/>
        </p:nvSpPr>
        <p:spPr>
          <a:xfrm>
            <a:off x="5717344" y="1805694"/>
            <a:ext cx="490347" cy="154305"/>
          </a:xfrm>
          <a:prstGeom prst="rect">
            <a:avLst/>
          </a:prstGeom>
          <a:noFill/>
          <a:ln/>
        </p:spPr>
        <p:txBody>
          <a:bodyPr wrap="none" lIns="0" tIns="0" rIns="0" bIns="0" rtlCol="0" anchor="t"/>
          <a:lstStyle/>
          <a:p>
            <a:pPr marL="0" indent="0" algn="l">
              <a:lnSpc>
                <a:spcPts val="1395"/>
              </a:lnSpc>
              <a:buNone/>
            </a:pPr>
            <a:r>
              <a:rPr lang="en-US" sz="900" dirty="0">
                <a:solidFill>
                  <a:srgbClr val="FBA74A"/>
                </a:solidFill>
                <a:latin typeface="Courier New" pitchFamily="34" charset="0"/>
                <a:ea typeface="Courier New" pitchFamily="34" charset="-122"/>
                <a:cs typeface="Courier New" pitchFamily="34" charset="-120"/>
              </a:rPr>
              <a:t>state:</a:t>
            </a:r>
            <a:endParaRPr lang="en-US" sz="900" dirty="0"/>
          </a:p>
        </p:txBody>
      </p:sp>
      <p:sp>
        <p:nvSpPr>
          <p:cNvPr id="34" name="Text 32"/>
          <p:cNvSpPr/>
          <p:nvPr/>
        </p:nvSpPr>
        <p:spPr>
          <a:xfrm>
            <a:off x="6117394" y="1805694"/>
            <a:ext cx="572072" cy="149711"/>
          </a:xfrm>
          <a:prstGeom prst="rect">
            <a:avLst/>
          </a:prstGeom>
          <a:noFill/>
          <a:ln/>
        </p:spPr>
        <p:txBody>
          <a:bodyPr wrap="none" lIns="0" tIns="0" rIns="0" bIns="0" rtlCol="0" anchor="t">
            <a:normAutofit fontScale="47500" lnSpcReduction="20000"/>
          </a:bodyPr>
          <a:lstStyle/>
          <a:p>
            <a:pPr marL="0" indent="0" algn="l">
              <a:lnSpc>
                <a:spcPts val="1395"/>
              </a:lnSpc>
              <a:buNone/>
            </a:pPr>
            <a:r>
              <a:rPr lang="en-US" sz="900" dirty="0">
                <a:solidFill>
                  <a:srgbClr val="86EFAC"/>
                </a:solidFill>
                <a:latin typeface="Courier New" pitchFamily="34" charset="0"/>
                <a:ea typeface="Courier New" pitchFamily="34" charset="-122"/>
                <a:cs typeface="Courier New" pitchFamily="34" charset="-120"/>
              </a:rPr>
              <a:t>present</a:t>
            </a:r>
            <a:endParaRPr lang="en-US" sz="900" dirty="0"/>
          </a:p>
        </p:txBody>
      </p:sp>
      <p:sp>
        <p:nvSpPr>
          <p:cNvPr id="35" name="Text 33"/>
          <p:cNvSpPr/>
          <p:nvPr/>
        </p:nvSpPr>
        <p:spPr>
          <a:xfrm>
            <a:off x="5603044" y="1982837"/>
            <a:ext cx="457200" cy="154305"/>
          </a:xfrm>
          <a:prstGeom prst="rect">
            <a:avLst/>
          </a:prstGeom>
          <a:noFill/>
          <a:ln/>
        </p:spPr>
        <p:txBody>
          <a:bodyPr wrap="none" lIns="0" tIns="0" rIns="0" bIns="0" rtlCol="0" anchor="t"/>
          <a:lstStyle/>
          <a:p>
            <a:pPr marL="0" indent="0" algn="l">
              <a:lnSpc>
                <a:spcPts val="1395"/>
              </a:lnSpc>
              <a:buNone/>
            </a:pPr>
            <a:r>
              <a:rPr lang="en-US" sz="900" dirty="0">
                <a:solidFill>
                  <a:srgbClr val="FBA74A"/>
                </a:solidFill>
                <a:latin typeface="Courier New" pitchFamily="34" charset="0"/>
                <a:ea typeface="Courier New" pitchFamily="34" charset="-122"/>
                <a:cs typeface="Courier New" pitchFamily="34" charset="-120"/>
              </a:rPr>
              <a:t>when:</a:t>
            </a:r>
            <a:endParaRPr lang="en-US" sz="900" dirty="0"/>
          </a:p>
        </p:txBody>
      </p:sp>
      <p:sp>
        <p:nvSpPr>
          <p:cNvPr id="36" name="Text 34"/>
          <p:cNvSpPr/>
          <p:nvPr/>
        </p:nvSpPr>
        <p:spPr>
          <a:xfrm>
            <a:off x="5945944" y="1982837"/>
            <a:ext cx="1214438" cy="154305"/>
          </a:xfrm>
          <a:prstGeom prst="rect">
            <a:avLst/>
          </a:prstGeom>
          <a:noFill/>
          <a:ln/>
        </p:spPr>
        <p:txBody>
          <a:bodyPr wrap="none" lIns="0" tIns="0" rIns="0" bIns="0" rtlCol="0" anchor="t"/>
          <a:lstStyle/>
          <a:p>
            <a:pPr marL="0" indent="0" algn="l">
              <a:lnSpc>
                <a:spcPts val="1395"/>
              </a:lnSpc>
              <a:buNone/>
            </a:pPr>
            <a:r>
              <a:rPr lang="en-US" sz="900" dirty="0">
                <a:solidFill>
                  <a:srgbClr val="93C5FD"/>
                </a:solidFill>
                <a:latin typeface="Courier New" pitchFamily="34" charset="0"/>
                <a:ea typeface="Courier New" pitchFamily="34" charset="-122"/>
                <a:cs typeface="Courier New" pitchFamily="34" charset="-120"/>
              </a:rPr>
              <a:t>ansible_os_family</a:t>
            </a:r>
            <a:endParaRPr lang="en-US" sz="900" dirty="0"/>
          </a:p>
        </p:txBody>
      </p:sp>
      <p:sp>
        <p:nvSpPr>
          <p:cNvPr id="37" name="Text 35"/>
          <p:cNvSpPr/>
          <p:nvPr/>
        </p:nvSpPr>
        <p:spPr>
          <a:xfrm>
            <a:off x="7146094" y="1982837"/>
            <a:ext cx="653796" cy="154305"/>
          </a:xfrm>
          <a:prstGeom prst="rect">
            <a:avLst/>
          </a:prstGeom>
          <a:noFill/>
          <a:ln/>
        </p:spPr>
        <p:txBody>
          <a:bodyPr wrap="none" lIns="0" tIns="0" rIns="0" bIns="0" rtlCol="0" anchor="t"/>
          <a:lstStyle/>
          <a:p>
            <a:pPr marL="0" indent="0" algn="l">
              <a:lnSpc>
                <a:spcPts val="1395"/>
              </a:lnSpc>
              <a:buNone/>
            </a:pPr>
            <a:r>
              <a:rPr lang="en-US" sz="900" dirty="0">
                <a:solidFill>
                  <a:srgbClr val="86EFAC"/>
                </a:solidFill>
                <a:latin typeface="Courier New" pitchFamily="34" charset="0"/>
                <a:ea typeface="Courier New" pitchFamily="34" charset="-122"/>
                <a:cs typeface="Courier New" pitchFamily="34" charset="-120"/>
              </a:rPr>
              <a:t>"Debian"</a:t>
            </a:r>
            <a:endParaRPr lang="en-US" sz="900" dirty="0"/>
          </a:p>
        </p:txBody>
      </p:sp>
      <p:sp>
        <p:nvSpPr>
          <p:cNvPr id="38" name="Text 36"/>
          <p:cNvSpPr/>
          <p:nvPr/>
        </p:nvSpPr>
        <p:spPr>
          <a:xfrm>
            <a:off x="7774744" y="1982837"/>
            <a:ext cx="365760" cy="149711"/>
          </a:xfrm>
          <a:prstGeom prst="rect">
            <a:avLst/>
          </a:prstGeom>
          <a:noFill/>
          <a:ln/>
        </p:spPr>
        <p:txBody>
          <a:bodyPr wrap="none" lIns="0" tIns="0" rIns="0" bIns="0" rtlCol="0" anchor="t">
            <a:normAutofit fontScale="55000" lnSpcReduction="20000"/>
          </a:bodyPr>
          <a:lstStyle/>
          <a:p>
            <a:pPr marL="0" indent="0" algn="l">
              <a:lnSpc>
                <a:spcPts val="1395"/>
              </a:lnSpc>
              <a:buNone/>
            </a:pPr>
            <a:r>
              <a:rPr lang="en-US" sz="900" i="1" dirty="0">
                <a:solidFill>
                  <a:srgbClr val="94A3B8"/>
                </a:solidFill>
                <a:latin typeface="Liberation Sans Narrow" pitchFamily="34" charset="0"/>
                <a:ea typeface="Liberation Sans Narrow" pitchFamily="34" charset="-122"/>
                <a:cs typeface="Liberation Sans Narrow" pitchFamily="34" charset="-120"/>
              </a:rPr>
              <a:t># 03</a:t>
            </a:r>
            <a:endParaRPr lang="en-US" sz="900" dirty="0"/>
          </a:p>
        </p:txBody>
      </p:sp>
      <p:sp>
        <p:nvSpPr>
          <p:cNvPr id="39" name="Text 37"/>
          <p:cNvSpPr/>
          <p:nvPr/>
        </p:nvSpPr>
        <p:spPr>
          <a:xfrm>
            <a:off x="5603044" y="2159980"/>
            <a:ext cx="735521" cy="154305"/>
          </a:xfrm>
          <a:prstGeom prst="rect">
            <a:avLst/>
          </a:prstGeom>
          <a:noFill/>
          <a:ln/>
        </p:spPr>
        <p:txBody>
          <a:bodyPr wrap="none" lIns="0" tIns="0" rIns="0" bIns="0" rtlCol="0" anchor="t"/>
          <a:lstStyle/>
          <a:p>
            <a:pPr marL="0" indent="0" algn="l">
              <a:lnSpc>
                <a:spcPts val="1395"/>
              </a:lnSpc>
              <a:buNone/>
            </a:pPr>
            <a:r>
              <a:rPr lang="en-US" sz="900" dirty="0">
                <a:solidFill>
                  <a:srgbClr val="FBA74A"/>
                </a:solidFill>
                <a:latin typeface="Courier New" pitchFamily="34" charset="0"/>
                <a:ea typeface="Courier New" pitchFamily="34" charset="-122"/>
                <a:cs typeface="Courier New" pitchFamily="34" charset="-120"/>
              </a:rPr>
              <a:t>register:</a:t>
            </a:r>
            <a:endParaRPr lang="en-US" sz="900" dirty="0"/>
          </a:p>
        </p:txBody>
      </p:sp>
      <p:sp>
        <p:nvSpPr>
          <p:cNvPr id="40" name="Text 38"/>
          <p:cNvSpPr/>
          <p:nvPr/>
        </p:nvSpPr>
        <p:spPr>
          <a:xfrm>
            <a:off x="6174544" y="2159980"/>
            <a:ext cx="1000125" cy="154305"/>
          </a:xfrm>
          <a:prstGeom prst="rect">
            <a:avLst/>
          </a:prstGeom>
          <a:noFill/>
          <a:ln/>
        </p:spPr>
        <p:txBody>
          <a:bodyPr wrap="none" lIns="0" tIns="0" rIns="0" bIns="0" rtlCol="0" anchor="t"/>
          <a:lstStyle/>
          <a:p>
            <a:pPr marL="0" indent="0" algn="l">
              <a:lnSpc>
                <a:spcPts val="1395"/>
              </a:lnSpc>
              <a:buNone/>
            </a:pPr>
            <a:r>
              <a:rPr lang="en-US" sz="900" dirty="0">
                <a:solidFill>
                  <a:srgbClr val="93C5FD"/>
                </a:solidFill>
                <a:latin typeface="Courier New" pitchFamily="34" charset="0"/>
                <a:ea typeface="Courier New" pitchFamily="34" charset="-122"/>
                <a:cs typeface="Courier New" pitchFamily="34" charset="-120"/>
              </a:rPr>
              <a:t>install_result</a:t>
            </a:r>
            <a:endParaRPr lang="en-US" sz="900" dirty="0"/>
          </a:p>
        </p:txBody>
      </p:sp>
      <p:sp>
        <p:nvSpPr>
          <p:cNvPr id="41" name="Text 39"/>
          <p:cNvSpPr/>
          <p:nvPr/>
        </p:nvSpPr>
        <p:spPr>
          <a:xfrm>
            <a:off x="7260394" y="2159980"/>
            <a:ext cx="365760" cy="149711"/>
          </a:xfrm>
          <a:prstGeom prst="rect">
            <a:avLst/>
          </a:prstGeom>
          <a:noFill/>
          <a:ln/>
        </p:spPr>
        <p:txBody>
          <a:bodyPr wrap="none" lIns="0" tIns="0" rIns="0" bIns="0" rtlCol="0" anchor="t">
            <a:normAutofit fontScale="55000" lnSpcReduction="20000"/>
          </a:bodyPr>
          <a:lstStyle/>
          <a:p>
            <a:pPr marL="0" indent="0" algn="l">
              <a:lnSpc>
                <a:spcPts val="1395"/>
              </a:lnSpc>
              <a:buNone/>
            </a:pPr>
            <a:r>
              <a:rPr lang="en-US" sz="900" i="1" dirty="0">
                <a:solidFill>
                  <a:srgbClr val="94A3B8"/>
                </a:solidFill>
                <a:latin typeface="Liberation Sans Narrow" pitchFamily="34" charset="0"/>
                <a:ea typeface="Liberation Sans Narrow" pitchFamily="34" charset="-122"/>
                <a:cs typeface="Liberation Sans Narrow" pitchFamily="34" charset="-120"/>
              </a:rPr>
              <a:t># 04</a:t>
            </a:r>
            <a:endParaRPr lang="en-US" sz="900" dirty="0"/>
          </a:p>
        </p:txBody>
      </p:sp>
      <p:sp>
        <p:nvSpPr>
          <p:cNvPr id="42" name="Text 40"/>
          <p:cNvSpPr/>
          <p:nvPr/>
        </p:nvSpPr>
        <p:spPr>
          <a:xfrm>
            <a:off x="5603044" y="2337122"/>
            <a:ext cx="928688" cy="154305"/>
          </a:xfrm>
          <a:prstGeom prst="rect">
            <a:avLst/>
          </a:prstGeom>
          <a:noFill/>
          <a:ln/>
        </p:spPr>
        <p:txBody>
          <a:bodyPr wrap="none" lIns="0" tIns="0" rIns="0" bIns="0" rtlCol="0" anchor="t"/>
          <a:lstStyle/>
          <a:p>
            <a:pPr marL="0" indent="0" algn="l">
              <a:lnSpc>
                <a:spcPts val="1395"/>
              </a:lnSpc>
              <a:buNone/>
            </a:pPr>
            <a:r>
              <a:rPr lang="en-US" sz="900" dirty="0">
                <a:solidFill>
                  <a:srgbClr val="FBA74A"/>
                </a:solidFill>
                <a:latin typeface="Courier New" pitchFamily="34" charset="0"/>
                <a:ea typeface="Courier New" pitchFamily="34" charset="-122"/>
                <a:cs typeface="Courier New" pitchFamily="34" charset="-120"/>
              </a:rPr>
              <a:t>changed_when:</a:t>
            </a:r>
            <a:endParaRPr lang="en-US" sz="900" dirty="0"/>
          </a:p>
        </p:txBody>
      </p:sp>
      <p:sp>
        <p:nvSpPr>
          <p:cNvPr id="43" name="Text 41"/>
          <p:cNvSpPr/>
          <p:nvPr/>
        </p:nvSpPr>
        <p:spPr>
          <a:xfrm>
            <a:off x="6403144" y="2337122"/>
            <a:ext cx="1000125" cy="154305"/>
          </a:xfrm>
          <a:prstGeom prst="rect">
            <a:avLst/>
          </a:prstGeom>
          <a:noFill/>
          <a:ln/>
        </p:spPr>
        <p:txBody>
          <a:bodyPr wrap="none" lIns="0" tIns="0" rIns="0" bIns="0" rtlCol="0" anchor="t"/>
          <a:lstStyle/>
          <a:p>
            <a:pPr marL="0" indent="0" algn="l">
              <a:lnSpc>
                <a:spcPts val="1395"/>
              </a:lnSpc>
              <a:buNone/>
            </a:pPr>
            <a:r>
              <a:rPr lang="en-US" sz="900" dirty="0">
                <a:solidFill>
                  <a:srgbClr val="93C5FD"/>
                </a:solidFill>
                <a:latin typeface="Courier New" pitchFamily="34" charset="0"/>
                <a:ea typeface="Courier New" pitchFamily="34" charset="-122"/>
                <a:cs typeface="Courier New" pitchFamily="34" charset="-120"/>
              </a:rPr>
              <a:t>install_result</a:t>
            </a:r>
            <a:endParaRPr lang="en-US" sz="900" dirty="0"/>
          </a:p>
        </p:txBody>
      </p:sp>
      <p:sp>
        <p:nvSpPr>
          <p:cNvPr id="44" name="Text 42"/>
          <p:cNvSpPr/>
          <p:nvPr/>
        </p:nvSpPr>
        <p:spPr>
          <a:xfrm>
            <a:off x="7587201" y="2337122"/>
            <a:ext cx="123627" cy="154305"/>
          </a:xfrm>
          <a:prstGeom prst="rect">
            <a:avLst/>
          </a:prstGeom>
          <a:noFill/>
          <a:ln/>
        </p:spPr>
        <p:txBody>
          <a:bodyPr wrap="none" lIns="0" tIns="0" rIns="0" bIns="0" rtlCol="0" anchor="t"/>
          <a:lstStyle/>
          <a:p>
            <a:pPr marL="0" indent="0" algn="l">
              <a:lnSpc>
                <a:spcPts val="1395"/>
              </a:lnSpc>
              <a:buNone/>
            </a:pPr>
            <a:r>
              <a:rPr lang="en-US" sz="900" dirty="0">
                <a:solidFill>
                  <a:srgbClr val="93C5FD"/>
                </a:solidFill>
                <a:latin typeface="Liberation Sans Narrow" pitchFamily="34" charset="0"/>
                <a:ea typeface="Liberation Sans Narrow" pitchFamily="34" charset="-122"/>
                <a:cs typeface="Liberation Sans Narrow" pitchFamily="34" charset="-120"/>
              </a:rPr>
              <a:t>0</a:t>
            </a:r>
            <a:endParaRPr lang="en-US" sz="900" dirty="0"/>
          </a:p>
        </p:txBody>
      </p:sp>
      <p:sp>
        <p:nvSpPr>
          <p:cNvPr id="45" name="Text 43"/>
          <p:cNvSpPr/>
          <p:nvPr/>
        </p:nvSpPr>
        <p:spPr>
          <a:xfrm>
            <a:off x="7717594" y="2337122"/>
            <a:ext cx="365760" cy="154305"/>
          </a:xfrm>
          <a:prstGeom prst="rect">
            <a:avLst/>
          </a:prstGeom>
          <a:noFill/>
          <a:ln/>
        </p:spPr>
        <p:txBody>
          <a:bodyPr wrap="none" lIns="0" tIns="0" rIns="0" bIns="0" rtlCol="0" anchor="t"/>
          <a:lstStyle/>
          <a:p>
            <a:pPr marL="0" indent="0" algn="l">
              <a:lnSpc>
                <a:spcPts val="1395"/>
              </a:lnSpc>
              <a:buNone/>
            </a:pPr>
            <a:r>
              <a:rPr lang="en-US" sz="900" i="1" dirty="0">
                <a:solidFill>
                  <a:srgbClr val="94A3B8"/>
                </a:solidFill>
                <a:latin typeface="Liberation Sans Narrow" pitchFamily="34" charset="0"/>
                <a:ea typeface="Liberation Sans Narrow" pitchFamily="34" charset="-122"/>
                <a:cs typeface="Liberation Sans Narrow" pitchFamily="34" charset="-120"/>
              </a:rPr>
              <a:t># 04</a:t>
            </a:r>
            <a:endParaRPr lang="en-US" sz="900" dirty="0"/>
          </a:p>
        </p:txBody>
      </p:sp>
      <p:sp>
        <p:nvSpPr>
          <p:cNvPr id="46" name="Text 44"/>
          <p:cNvSpPr/>
          <p:nvPr/>
        </p:nvSpPr>
        <p:spPr>
          <a:xfrm>
            <a:off x="5488744" y="2614947"/>
            <a:ext cx="71438" cy="71438"/>
          </a:xfrm>
          <a:prstGeom prst="roundRect">
            <a:avLst>
              <a:gd name="adj" fmla="val 66666"/>
            </a:avLst>
          </a:prstGeom>
          <a:solidFill>
            <a:srgbClr val="FBA74A"/>
          </a:solidFill>
          <a:ln/>
        </p:spPr>
        <p:txBody>
          <a:bodyPr wrap="square" rtlCol="0" anchor="ctr"/>
          <a:lstStyle/>
          <a:p>
            <a:pPr marL="0" indent="0">
              <a:buNone/>
            </a:pPr>
            <a:endParaRPr lang="en-US" dirty="0"/>
          </a:p>
        </p:txBody>
      </p:sp>
      <p:sp>
        <p:nvSpPr>
          <p:cNvPr id="47" name="Text 45"/>
          <p:cNvSpPr/>
          <p:nvPr/>
        </p:nvSpPr>
        <p:spPr>
          <a:xfrm>
            <a:off x="5488744" y="2585703"/>
            <a:ext cx="376833" cy="153514"/>
          </a:xfrm>
          <a:prstGeom prst="rect">
            <a:avLst/>
          </a:prstGeom>
          <a:noFill/>
          <a:ln/>
        </p:spPr>
        <p:txBody>
          <a:bodyPr wrap="none" lIns="0" tIns="0" rIns="0" bIns="0" rtlCol="0" anchor="t"/>
          <a:lstStyle/>
          <a:p>
            <a:pPr marL="0" indent="0" algn="l">
              <a:lnSpc>
                <a:spcPts val="1024"/>
              </a:lnSpc>
              <a:buNone/>
            </a:pPr>
            <a:r>
              <a:rPr lang="en-US" sz="800" dirty="0">
                <a:solidFill>
                  <a:srgbClr val="E2E8F0"/>
                </a:solidFill>
                <a:latin typeface="Carlito" pitchFamily="34" charset="0"/>
                <a:ea typeface="Carlito" pitchFamily="34" charset="-122"/>
                <a:cs typeface="Carlito" pitchFamily="34" charset="-120"/>
              </a:rPr>
              <a:t>key</a:t>
            </a:r>
            <a:endParaRPr lang="en-US" sz="800" dirty="0"/>
          </a:p>
        </p:txBody>
      </p:sp>
      <p:sp>
        <p:nvSpPr>
          <p:cNvPr id="48" name="Text 46"/>
          <p:cNvSpPr/>
          <p:nvPr/>
        </p:nvSpPr>
        <p:spPr>
          <a:xfrm>
            <a:off x="5809990" y="2614947"/>
            <a:ext cx="71438" cy="71438"/>
          </a:xfrm>
          <a:prstGeom prst="roundRect">
            <a:avLst>
              <a:gd name="adj" fmla="val 66666"/>
            </a:avLst>
          </a:prstGeom>
          <a:solidFill>
            <a:srgbClr val="86EFAC"/>
          </a:solidFill>
          <a:ln/>
        </p:spPr>
        <p:txBody>
          <a:bodyPr wrap="square" rtlCol="0" anchor="ctr"/>
          <a:lstStyle/>
          <a:p>
            <a:pPr marL="0" indent="0">
              <a:buNone/>
            </a:pPr>
            <a:endParaRPr lang="en-US" dirty="0"/>
          </a:p>
        </p:txBody>
      </p:sp>
      <p:sp>
        <p:nvSpPr>
          <p:cNvPr id="49" name="Text 47"/>
          <p:cNvSpPr/>
          <p:nvPr/>
        </p:nvSpPr>
        <p:spPr>
          <a:xfrm>
            <a:off x="5809990" y="2585703"/>
            <a:ext cx="466724" cy="153514"/>
          </a:xfrm>
          <a:prstGeom prst="rect">
            <a:avLst/>
          </a:prstGeom>
          <a:noFill/>
          <a:ln/>
        </p:spPr>
        <p:txBody>
          <a:bodyPr wrap="none" lIns="0" tIns="0" rIns="0" bIns="0" rtlCol="0" anchor="t"/>
          <a:lstStyle/>
          <a:p>
            <a:pPr marL="0" indent="0" algn="l">
              <a:lnSpc>
                <a:spcPts val="1024"/>
              </a:lnSpc>
              <a:buNone/>
            </a:pPr>
            <a:r>
              <a:rPr lang="en-US" sz="800" dirty="0">
                <a:solidFill>
                  <a:srgbClr val="E2E8F0"/>
                </a:solidFill>
                <a:latin typeface="Carlito" pitchFamily="34" charset="0"/>
                <a:ea typeface="Carlito" pitchFamily="34" charset="-122"/>
                <a:cs typeface="Carlito" pitchFamily="34" charset="-120"/>
              </a:rPr>
              <a:t>string</a:t>
            </a:r>
            <a:endParaRPr lang="en-US" sz="800" dirty="0"/>
          </a:p>
        </p:txBody>
      </p:sp>
      <p:sp>
        <p:nvSpPr>
          <p:cNvPr id="50" name="Text 48"/>
          <p:cNvSpPr/>
          <p:nvPr/>
        </p:nvSpPr>
        <p:spPr>
          <a:xfrm>
            <a:off x="6222095" y="2614947"/>
            <a:ext cx="71438" cy="71438"/>
          </a:xfrm>
          <a:prstGeom prst="roundRect">
            <a:avLst>
              <a:gd name="adj" fmla="val 66666"/>
            </a:avLst>
          </a:prstGeom>
          <a:solidFill>
            <a:srgbClr val="93C5FD"/>
          </a:solidFill>
          <a:ln/>
        </p:spPr>
        <p:txBody>
          <a:bodyPr wrap="square" rtlCol="0" anchor="ctr"/>
          <a:lstStyle/>
          <a:p>
            <a:pPr marL="0" indent="0">
              <a:buNone/>
            </a:pPr>
            <a:endParaRPr lang="en-US" dirty="0"/>
          </a:p>
        </p:txBody>
      </p:sp>
      <p:sp>
        <p:nvSpPr>
          <p:cNvPr id="51" name="Text 49"/>
          <p:cNvSpPr/>
          <p:nvPr/>
        </p:nvSpPr>
        <p:spPr>
          <a:xfrm>
            <a:off x="6222095" y="2585703"/>
            <a:ext cx="593780" cy="153514"/>
          </a:xfrm>
          <a:prstGeom prst="rect">
            <a:avLst/>
          </a:prstGeom>
          <a:noFill/>
          <a:ln/>
        </p:spPr>
        <p:txBody>
          <a:bodyPr wrap="none" lIns="0" tIns="0" rIns="0" bIns="0" rtlCol="0" anchor="t"/>
          <a:lstStyle/>
          <a:p>
            <a:pPr marL="0" indent="0" algn="l">
              <a:lnSpc>
                <a:spcPts val="1024"/>
              </a:lnSpc>
              <a:buNone/>
            </a:pPr>
            <a:r>
              <a:rPr lang="en-US" sz="800" dirty="0">
                <a:solidFill>
                  <a:srgbClr val="E2E8F0"/>
                </a:solidFill>
                <a:latin typeface="Carlito" pitchFamily="34" charset="0"/>
                <a:ea typeface="Carlito" pitchFamily="34" charset="-122"/>
                <a:cs typeface="Carlito" pitchFamily="34" charset="-120"/>
              </a:rPr>
              <a:t>variable</a:t>
            </a:r>
            <a:endParaRPr lang="en-US" sz="800" dirty="0"/>
          </a:p>
        </p:txBody>
      </p:sp>
      <p:sp>
        <p:nvSpPr>
          <p:cNvPr id="52" name="Text 50"/>
          <p:cNvSpPr/>
          <p:nvPr/>
        </p:nvSpPr>
        <p:spPr>
          <a:xfrm>
            <a:off x="6723050" y="2614947"/>
            <a:ext cx="71438" cy="71438"/>
          </a:xfrm>
          <a:prstGeom prst="roundRect">
            <a:avLst>
              <a:gd name="adj" fmla="val 66666"/>
            </a:avLst>
          </a:prstGeom>
          <a:solidFill>
            <a:srgbClr val="94A3B8"/>
          </a:solidFill>
          <a:ln/>
        </p:spPr>
        <p:txBody>
          <a:bodyPr wrap="square" rtlCol="0" anchor="ctr"/>
          <a:lstStyle/>
          <a:p>
            <a:pPr marL="0" indent="0">
              <a:buNone/>
            </a:pPr>
            <a:endParaRPr lang="en-US" dirty="0"/>
          </a:p>
        </p:txBody>
      </p:sp>
      <p:sp>
        <p:nvSpPr>
          <p:cNvPr id="53" name="Text 51"/>
          <p:cNvSpPr/>
          <p:nvPr/>
        </p:nvSpPr>
        <p:spPr>
          <a:xfrm>
            <a:off x="6723050" y="2585703"/>
            <a:ext cx="1849450" cy="153514"/>
          </a:xfrm>
          <a:prstGeom prst="rect">
            <a:avLst/>
          </a:prstGeom>
          <a:noFill/>
          <a:ln/>
        </p:spPr>
        <p:txBody>
          <a:bodyPr wrap="none" lIns="0" tIns="0" rIns="0" bIns="0" rtlCol="0" anchor="t"/>
          <a:lstStyle/>
          <a:p>
            <a:pPr marL="0" indent="0" algn="l">
              <a:lnSpc>
                <a:spcPts val="1024"/>
              </a:lnSpc>
              <a:buNone/>
            </a:pPr>
            <a:r>
              <a:rPr lang="en-US" sz="800" dirty="0">
                <a:solidFill>
                  <a:srgbClr val="E2E8F0"/>
                </a:solidFill>
                <a:latin typeface="Carlito" pitchFamily="34" charset="0"/>
                <a:ea typeface="Carlito" pitchFamily="34" charset="-122"/>
                <a:cs typeface="Carlito" pitchFamily="34" charset="-120"/>
              </a:rPr>
              <a:t>comment</a:t>
            </a:r>
            <a:endParaRPr lang="en-US" sz="8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00050" y="257175"/>
            <a:ext cx="8243419" cy="305476"/>
          </a:xfrm>
          <a:prstGeom prst="rect">
            <a:avLst/>
          </a:prstGeom>
          <a:noFill/>
          <a:ln/>
        </p:spPr>
        <p:txBody>
          <a:bodyPr wrap="square" lIns="0" tIns="0" rIns="0" bIns="0" rtlCol="0" anchor="t"/>
          <a:lstStyle/>
          <a:p>
            <a:pPr marL="0" indent="0" algn="l">
              <a:lnSpc>
                <a:spcPts val="2228"/>
              </a:lnSpc>
              <a:buNone/>
            </a:pPr>
            <a:r>
              <a:rPr lang="en-US" sz="2025" b="1" dirty="0">
                <a:solidFill>
                  <a:srgbClr val="0F172A"/>
                </a:solidFill>
                <a:latin typeface="Carlito" pitchFamily="34" charset="0"/>
                <a:ea typeface="Carlito" pitchFamily="34" charset="-122"/>
                <a:cs typeface="Carlito" pitchFamily="34" charset="-120"/>
              </a:rPr>
              <a:t>Code Example — Tasks with Loops, Conditionals, and Registration</a:t>
            </a:r>
            <a:endParaRPr lang="en-US" sz="2025" dirty="0"/>
          </a:p>
        </p:txBody>
      </p:sp>
      <p:sp>
        <p:nvSpPr>
          <p:cNvPr id="3" name="Text 1"/>
          <p:cNvSpPr/>
          <p:nvPr/>
        </p:nvSpPr>
        <p:spPr>
          <a:xfrm>
            <a:off x="400050" y="611460"/>
            <a:ext cx="571500" cy="42863"/>
          </a:xfrm>
          <a:prstGeom prst="roundRect">
            <a:avLst>
              <a:gd name="adj" fmla="val 66666"/>
            </a:avLst>
          </a:prstGeom>
          <a:solidFill>
            <a:srgbClr val="F97316"/>
          </a:solidFill>
          <a:ln/>
        </p:spPr>
        <p:txBody>
          <a:bodyPr wrap="square" rtlCol="0" anchor="ctr"/>
          <a:lstStyle/>
          <a:p>
            <a:pPr marL="0" indent="0">
              <a:buNone/>
            </a:pPr>
            <a:endParaRPr lang="en-US" dirty="0"/>
          </a:p>
        </p:txBody>
      </p:sp>
      <p:sp>
        <p:nvSpPr>
          <p:cNvPr id="4" name="Text 2"/>
          <p:cNvSpPr/>
          <p:nvPr/>
        </p:nvSpPr>
        <p:spPr>
          <a:xfrm>
            <a:off x="400050" y="697185"/>
            <a:ext cx="8093538" cy="183599"/>
          </a:xfrm>
          <a:prstGeom prst="rect">
            <a:avLst/>
          </a:prstGeom>
          <a:noFill/>
          <a:ln/>
        </p:spPr>
        <p:txBody>
          <a:bodyPr wrap="square" lIns="0" tIns="0" rIns="0" bIns="0" rtlCol="0" anchor="t"/>
          <a:lstStyle/>
          <a:p>
            <a:pPr marL="0" indent="0" algn="l">
              <a:lnSpc>
                <a:spcPts val="1339"/>
              </a:lnSpc>
              <a:buNone/>
            </a:pPr>
            <a:r>
              <a:rPr lang="en-US" sz="956" dirty="0">
                <a:solidFill>
                  <a:srgbClr val="64748B"/>
                </a:solidFill>
                <a:latin typeface="Carlito" pitchFamily="34" charset="0"/>
                <a:ea typeface="Carlito" pitchFamily="34" charset="-122"/>
                <a:cs typeface="Carlito" pitchFamily="34" charset="-120"/>
              </a:rPr>
              <a:t>Real-world task patterns.</a:t>
            </a:r>
            <a:endParaRPr lang="en-US" sz="956" dirty="0"/>
          </a:p>
        </p:txBody>
      </p:sp>
      <p:sp>
        <p:nvSpPr>
          <p:cNvPr id="5" name="Text 3"/>
          <p:cNvSpPr/>
          <p:nvPr/>
        </p:nvSpPr>
        <p:spPr>
          <a:xfrm>
            <a:off x="7916391" y="244373"/>
            <a:ext cx="827559" cy="331333"/>
          </a:xfrm>
          <a:prstGeom prst="roundRect">
            <a:avLst>
              <a:gd name="adj" fmla="val 2871877"/>
            </a:avLst>
          </a:prstGeom>
          <a:solidFill>
            <a:srgbClr val="FED7AA"/>
          </a:solidFill>
          <a:ln/>
        </p:spPr>
        <p:txBody>
          <a:bodyPr wrap="square" rtlCol="0" anchor="ctr"/>
          <a:lstStyle/>
          <a:p>
            <a:pPr marL="0" indent="0">
              <a:buNone/>
            </a:pPr>
            <a:endParaRPr lang="en-US" dirty="0"/>
          </a:p>
        </p:txBody>
      </p:sp>
      <p:sp>
        <p:nvSpPr>
          <p:cNvPr id="6" name="Text 4"/>
          <p:cNvSpPr/>
          <p:nvPr/>
        </p:nvSpPr>
        <p:spPr>
          <a:xfrm>
            <a:off x="7916391" y="257175"/>
            <a:ext cx="827559" cy="330189"/>
          </a:xfrm>
          <a:prstGeom prst="rect">
            <a:avLst/>
          </a:prstGeom>
          <a:noFill/>
          <a:ln/>
        </p:spPr>
        <p:txBody>
          <a:bodyPr wrap="none" lIns="0" tIns="0" rIns="0" bIns="0" rtlCol="0" anchor="t"/>
          <a:lstStyle/>
          <a:p>
            <a:pPr marL="0" indent="0" algn="l">
              <a:lnSpc>
                <a:spcPts val="1733"/>
              </a:lnSpc>
              <a:buNone/>
            </a:pPr>
            <a:r>
              <a:rPr lang="en-US" sz="1238" b="1" kern="0" spc="28" dirty="0">
                <a:solidFill>
                  <a:srgbClr val="C2410C"/>
                </a:solidFill>
                <a:latin typeface="Segoe UI Symbol" pitchFamily="34" charset="0"/>
                <a:ea typeface="Segoe UI Symbol" pitchFamily="34" charset="-122"/>
                <a:cs typeface="Segoe UI Symbol" pitchFamily="34" charset="-120"/>
              </a:rPr>
              <a:t>✦</a:t>
            </a:r>
            <a:r>
              <a:rPr lang="en-US" sz="1238" b="1" kern="0" spc="28" dirty="0">
                <a:solidFill>
                  <a:srgbClr val="C2410C"/>
                </a:solidFill>
                <a:latin typeface="Carlito" pitchFamily="34" charset="0"/>
                <a:ea typeface="Carlito" pitchFamily="34" charset="-122"/>
                <a:cs typeface="Carlito" pitchFamily="34" charset="-120"/>
              </a:rPr>
              <a:t> YAML</a:t>
            </a:r>
            <a:endParaRPr lang="en-US" sz="1238" dirty="0"/>
          </a:p>
        </p:txBody>
      </p:sp>
      <p:sp>
        <p:nvSpPr>
          <p:cNvPr id="7" name="Text 5"/>
          <p:cNvSpPr/>
          <p:nvPr/>
        </p:nvSpPr>
        <p:spPr>
          <a:xfrm>
            <a:off x="557213" y="1088641"/>
            <a:ext cx="274320" cy="138214"/>
          </a:xfrm>
          <a:prstGeom prst="rect">
            <a:avLst/>
          </a:prstGeom>
          <a:noFill/>
          <a:ln/>
        </p:spPr>
        <p:txBody>
          <a:bodyPr wrap="none" lIns="0" tIns="0" rIns="0" bIns="0" rtlCol="0" anchor="t">
            <a:normAutofit fontScale="32500" lnSpcReduction="20000"/>
          </a:bodyPr>
          <a:lstStyle/>
          <a:p>
            <a:pPr marL="0" indent="0" algn="l">
              <a:lnSpc>
                <a:spcPts val="1305"/>
              </a:lnSpc>
              <a:buNone/>
            </a:pPr>
            <a:r>
              <a:rPr lang="en-US" sz="900" i="1" dirty="0">
                <a:solidFill>
                  <a:srgbClr val="94A3B8"/>
                </a:solidFill>
                <a:latin typeface="Courier New" pitchFamily="34" charset="0"/>
                <a:ea typeface="Courier New" pitchFamily="34" charset="-122"/>
                <a:cs typeface="Courier New" pitchFamily="34" charset="-120"/>
              </a:rPr>
              <a:t>---</a:t>
            </a:r>
            <a:endParaRPr lang="en-US" sz="900" dirty="0"/>
          </a:p>
        </p:txBody>
      </p:sp>
      <p:sp>
        <p:nvSpPr>
          <p:cNvPr id="8" name="Text 6"/>
          <p:cNvSpPr/>
          <p:nvPr/>
        </p:nvSpPr>
        <p:spPr>
          <a:xfrm>
            <a:off x="671513" y="1254286"/>
            <a:ext cx="457200" cy="154305"/>
          </a:xfrm>
          <a:prstGeom prst="rect">
            <a:avLst/>
          </a:prstGeom>
          <a:noFill/>
          <a:ln/>
        </p:spPr>
        <p:txBody>
          <a:bodyPr wrap="none" lIns="0" tIns="0" rIns="0" bIns="0" rtlCol="0" anchor="t"/>
          <a:lstStyle/>
          <a:p>
            <a:pPr marL="0" indent="0" algn="l">
              <a:lnSpc>
                <a:spcPts val="1305"/>
              </a:lnSpc>
              <a:buNone/>
            </a:pPr>
            <a:r>
              <a:rPr lang="en-US" sz="900" dirty="0">
                <a:solidFill>
                  <a:srgbClr val="FBA74A"/>
                </a:solidFill>
                <a:latin typeface="Courier New" pitchFamily="34" charset="0"/>
                <a:ea typeface="Courier New" pitchFamily="34" charset="-122"/>
                <a:cs typeface="Courier New" pitchFamily="34" charset="-120"/>
              </a:rPr>
              <a:t>name:</a:t>
            </a:r>
            <a:endParaRPr lang="en-US" sz="900" dirty="0"/>
          </a:p>
        </p:txBody>
      </p:sp>
      <p:sp>
        <p:nvSpPr>
          <p:cNvPr id="9" name="Text 7"/>
          <p:cNvSpPr/>
          <p:nvPr/>
        </p:nvSpPr>
        <p:spPr>
          <a:xfrm>
            <a:off x="1014413" y="1254286"/>
            <a:ext cx="1643063" cy="138214"/>
          </a:xfrm>
          <a:prstGeom prst="rect">
            <a:avLst/>
          </a:prstGeom>
          <a:noFill/>
          <a:ln/>
        </p:spPr>
        <p:txBody>
          <a:bodyPr wrap="none" lIns="0" tIns="0" rIns="0" bIns="0" rtlCol="0" anchor="t">
            <a:normAutofit fontScale="32500" lnSpcReduction="20000"/>
          </a:bodyPr>
          <a:lstStyle/>
          <a:p>
            <a:pPr marL="0" indent="0" algn="l">
              <a:lnSpc>
                <a:spcPts val="1305"/>
              </a:lnSpc>
              <a:buNone/>
            </a:pPr>
            <a:r>
              <a:rPr lang="en-US" sz="900" dirty="0">
                <a:solidFill>
                  <a:srgbClr val="86EFAC"/>
                </a:solidFill>
                <a:latin typeface="Courier New" pitchFamily="34" charset="0"/>
                <a:ea typeface="Courier New" pitchFamily="34" charset="-122"/>
                <a:cs typeface="Courier New" pitchFamily="34" charset="-120"/>
              </a:rPr>
              <a:t>Realistic task examples</a:t>
            </a:r>
            <a:endParaRPr lang="en-US" sz="900" dirty="0"/>
          </a:p>
        </p:txBody>
      </p:sp>
      <p:sp>
        <p:nvSpPr>
          <p:cNvPr id="10" name="Text 8"/>
          <p:cNvSpPr/>
          <p:nvPr/>
        </p:nvSpPr>
        <p:spPr>
          <a:xfrm>
            <a:off x="671513" y="1419932"/>
            <a:ext cx="490347" cy="154305"/>
          </a:xfrm>
          <a:prstGeom prst="rect">
            <a:avLst/>
          </a:prstGeom>
          <a:noFill/>
          <a:ln/>
        </p:spPr>
        <p:txBody>
          <a:bodyPr wrap="none" lIns="0" tIns="0" rIns="0" bIns="0" rtlCol="0" anchor="t"/>
          <a:lstStyle/>
          <a:p>
            <a:pPr marL="0" indent="0" algn="l">
              <a:lnSpc>
                <a:spcPts val="1305"/>
              </a:lnSpc>
              <a:buNone/>
            </a:pPr>
            <a:r>
              <a:rPr lang="en-US" sz="900" dirty="0">
                <a:solidFill>
                  <a:srgbClr val="FBA74A"/>
                </a:solidFill>
                <a:latin typeface="Courier New" pitchFamily="34" charset="0"/>
                <a:ea typeface="Courier New" pitchFamily="34" charset="-122"/>
                <a:cs typeface="Courier New" pitchFamily="34" charset="-120"/>
              </a:rPr>
              <a:t>hosts:</a:t>
            </a:r>
            <a:endParaRPr lang="en-US" sz="900" dirty="0"/>
          </a:p>
        </p:txBody>
      </p:sp>
      <p:sp>
        <p:nvSpPr>
          <p:cNvPr id="11" name="Text 9"/>
          <p:cNvSpPr/>
          <p:nvPr/>
        </p:nvSpPr>
        <p:spPr>
          <a:xfrm>
            <a:off x="1058075" y="1419932"/>
            <a:ext cx="741350" cy="138214"/>
          </a:xfrm>
          <a:prstGeom prst="rect">
            <a:avLst/>
          </a:prstGeom>
          <a:noFill/>
          <a:ln/>
        </p:spPr>
        <p:txBody>
          <a:bodyPr wrap="none" lIns="0" tIns="0" rIns="0" bIns="0" rtlCol="0" anchor="t">
            <a:normAutofit fontScale="32500" lnSpcReduction="20000"/>
          </a:bodyPr>
          <a:lstStyle/>
          <a:p>
            <a:pPr marL="0" indent="0" algn="l">
              <a:lnSpc>
                <a:spcPts val="1305"/>
              </a:lnSpc>
              <a:buNone/>
            </a:pPr>
            <a:r>
              <a:rPr lang="en-US" sz="900" dirty="0">
                <a:solidFill>
                  <a:srgbClr val="86EFAC"/>
                </a:solidFill>
                <a:latin typeface="Courier New" pitchFamily="34" charset="0"/>
                <a:ea typeface="Courier New" pitchFamily="34" charset="-122"/>
                <a:cs typeface="Courier New" pitchFamily="34" charset="-120"/>
              </a:rPr>
              <a:t>webservers</a:t>
            </a:r>
            <a:endParaRPr lang="en-US" sz="900" dirty="0"/>
          </a:p>
        </p:txBody>
      </p:sp>
      <p:sp>
        <p:nvSpPr>
          <p:cNvPr id="12" name="Text 10"/>
          <p:cNvSpPr/>
          <p:nvPr/>
        </p:nvSpPr>
        <p:spPr>
          <a:xfrm>
            <a:off x="671513" y="1585578"/>
            <a:ext cx="572072" cy="154305"/>
          </a:xfrm>
          <a:prstGeom prst="rect">
            <a:avLst/>
          </a:prstGeom>
          <a:noFill/>
          <a:ln/>
        </p:spPr>
        <p:txBody>
          <a:bodyPr wrap="none" lIns="0" tIns="0" rIns="0" bIns="0" rtlCol="0" anchor="t"/>
          <a:lstStyle/>
          <a:p>
            <a:pPr marL="0" indent="0" algn="l">
              <a:lnSpc>
                <a:spcPts val="1305"/>
              </a:lnSpc>
              <a:buNone/>
            </a:pPr>
            <a:r>
              <a:rPr lang="en-US" sz="900" dirty="0">
                <a:solidFill>
                  <a:srgbClr val="FBA74A"/>
                </a:solidFill>
                <a:latin typeface="Courier New" pitchFamily="34" charset="0"/>
                <a:ea typeface="Courier New" pitchFamily="34" charset="-122"/>
                <a:cs typeface="Courier New" pitchFamily="34" charset="-120"/>
              </a:rPr>
              <a:t>become:</a:t>
            </a:r>
            <a:endParaRPr lang="en-US" sz="900" dirty="0"/>
          </a:p>
        </p:txBody>
      </p:sp>
      <p:sp>
        <p:nvSpPr>
          <p:cNvPr id="13" name="Text 11"/>
          <p:cNvSpPr/>
          <p:nvPr/>
        </p:nvSpPr>
        <p:spPr>
          <a:xfrm>
            <a:off x="1128713" y="1585578"/>
            <a:ext cx="274320" cy="154305"/>
          </a:xfrm>
          <a:prstGeom prst="rect">
            <a:avLst/>
          </a:prstGeom>
          <a:noFill/>
          <a:ln/>
        </p:spPr>
        <p:txBody>
          <a:bodyPr wrap="none" lIns="0" tIns="0" rIns="0" bIns="0" rtlCol="0" anchor="t"/>
          <a:lstStyle/>
          <a:p>
            <a:pPr marL="0" indent="0" algn="l">
              <a:lnSpc>
                <a:spcPts val="1305"/>
              </a:lnSpc>
              <a:buNone/>
            </a:pPr>
            <a:r>
              <a:rPr lang="en-US" sz="900" dirty="0">
                <a:solidFill>
                  <a:srgbClr val="93C5FD"/>
                </a:solidFill>
                <a:latin typeface="Courier New" pitchFamily="34" charset="0"/>
                <a:ea typeface="Courier New" pitchFamily="34" charset="-122"/>
                <a:cs typeface="Courier New" pitchFamily="34" charset="-120"/>
              </a:rPr>
              <a:t>yes</a:t>
            </a:r>
            <a:endParaRPr lang="en-US" sz="900" dirty="0"/>
          </a:p>
        </p:txBody>
      </p:sp>
      <p:sp>
        <p:nvSpPr>
          <p:cNvPr id="14" name="Text 12"/>
          <p:cNvSpPr/>
          <p:nvPr/>
        </p:nvSpPr>
        <p:spPr>
          <a:xfrm>
            <a:off x="671513" y="1916869"/>
            <a:ext cx="490347" cy="138214"/>
          </a:xfrm>
          <a:prstGeom prst="rect">
            <a:avLst/>
          </a:prstGeom>
          <a:noFill/>
          <a:ln/>
        </p:spPr>
        <p:txBody>
          <a:bodyPr wrap="none" lIns="0" tIns="0" rIns="0" bIns="0" rtlCol="0" anchor="t">
            <a:normAutofit fontScale="32500" lnSpcReduction="20000"/>
          </a:bodyPr>
          <a:lstStyle/>
          <a:p>
            <a:pPr marL="0" indent="0" algn="l">
              <a:lnSpc>
                <a:spcPts val="1305"/>
              </a:lnSpc>
              <a:buNone/>
            </a:pPr>
            <a:r>
              <a:rPr lang="en-US" sz="900" dirty="0">
                <a:solidFill>
                  <a:srgbClr val="FBA74A"/>
                </a:solidFill>
                <a:latin typeface="Courier New" pitchFamily="34" charset="0"/>
                <a:ea typeface="Courier New" pitchFamily="34" charset="-122"/>
                <a:cs typeface="Courier New" pitchFamily="34" charset="-120"/>
              </a:rPr>
              <a:t>tasks:</a:t>
            </a:r>
            <a:endParaRPr lang="en-US" sz="900" dirty="0"/>
          </a:p>
        </p:txBody>
      </p:sp>
      <p:sp>
        <p:nvSpPr>
          <p:cNvPr id="15" name="Text 13"/>
          <p:cNvSpPr/>
          <p:nvPr/>
        </p:nvSpPr>
        <p:spPr>
          <a:xfrm>
            <a:off x="785813" y="2082515"/>
            <a:ext cx="2283714" cy="138214"/>
          </a:xfrm>
          <a:prstGeom prst="rect">
            <a:avLst/>
          </a:prstGeom>
          <a:noFill/>
          <a:ln/>
        </p:spPr>
        <p:txBody>
          <a:bodyPr wrap="none" lIns="0" tIns="0" rIns="0" bIns="0" rtlCol="0" anchor="t">
            <a:normAutofit fontScale="32500" lnSpcReduction="20000"/>
          </a:bodyPr>
          <a:lstStyle/>
          <a:p>
            <a:pPr marL="0" indent="0" algn="l">
              <a:lnSpc>
                <a:spcPts val="1305"/>
              </a:lnSpc>
              <a:buNone/>
            </a:pPr>
            <a:r>
              <a:rPr lang="en-US" sz="900" i="1" dirty="0">
                <a:solidFill>
                  <a:srgbClr val="94A3B8"/>
                </a:solidFill>
                <a:latin typeface="Courier New" pitchFamily="34" charset="0"/>
                <a:ea typeface="Courier New" pitchFamily="34" charset="-122"/>
                <a:cs typeface="Courier New" pitchFamily="34" charset="-120"/>
              </a:rPr>
              <a:t># 1. Loop — install multiple packages</a:t>
            </a:r>
            <a:endParaRPr lang="en-US" sz="900" dirty="0"/>
          </a:p>
        </p:txBody>
      </p:sp>
      <p:sp>
        <p:nvSpPr>
          <p:cNvPr id="16" name="Text 14"/>
          <p:cNvSpPr/>
          <p:nvPr/>
        </p:nvSpPr>
        <p:spPr>
          <a:xfrm>
            <a:off x="900113" y="2248160"/>
            <a:ext cx="457200" cy="154305"/>
          </a:xfrm>
          <a:prstGeom prst="rect">
            <a:avLst/>
          </a:prstGeom>
          <a:noFill/>
          <a:ln/>
        </p:spPr>
        <p:txBody>
          <a:bodyPr wrap="none" lIns="0" tIns="0" rIns="0" bIns="0" rtlCol="0" anchor="t"/>
          <a:lstStyle/>
          <a:p>
            <a:pPr marL="0" indent="0" algn="l">
              <a:lnSpc>
                <a:spcPts val="1305"/>
              </a:lnSpc>
              <a:buNone/>
            </a:pPr>
            <a:r>
              <a:rPr lang="en-US" sz="900" dirty="0">
                <a:solidFill>
                  <a:srgbClr val="FBA74A"/>
                </a:solidFill>
                <a:latin typeface="Courier New" pitchFamily="34" charset="0"/>
                <a:ea typeface="Courier New" pitchFamily="34" charset="-122"/>
                <a:cs typeface="Courier New" pitchFamily="34" charset="-120"/>
              </a:rPr>
              <a:t>name:</a:t>
            </a:r>
            <a:endParaRPr lang="en-US" sz="900" dirty="0"/>
          </a:p>
        </p:txBody>
      </p:sp>
      <p:sp>
        <p:nvSpPr>
          <p:cNvPr id="17" name="Text 15"/>
          <p:cNvSpPr/>
          <p:nvPr/>
        </p:nvSpPr>
        <p:spPr>
          <a:xfrm>
            <a:off x="1243013" y="2248160"/>
            <a:ext cx="1543050" cy="138214"/>
          </a:xfrm>
          <a:prstGeom prst="rect">
            <a:avLst/>
          </a:prstGeom>
          <a:noFill/>
          <a:ln/>
        </p:spPr>
        <p:txBody>
          <a:bodyPr wrap="none" lIns="0" tIns="0" rIns="0" bIns="0" rtlCol="0" anchor="t">
            <a:normAutofit fontScale="32500" lnSpcReduction="20000"/>
          </a:bodyPr>
          <a:lstStyle/>
          <a:p>
            <a:pPr marL="0" indent="0" algn="l">
              <a:lnSpc>
                <a:spcPts val="1305"/>
              </a:lnSpc>
              <a:buNone/>
            </a:pPr>
            <a:r>
              <a:rPr lang="en-US" sz="900" dirty="0">
                <a:solidFill>
                  <a:srgbClr val="86EFAC"/>
                </a:solidFill>
                <a:latin typeface="Courier New" pitchFamily="34" charset="0"/>
                <a:ea typeface="Courier New" pitchFamily="34" charset="-122"/>
                <a:cs typeface="Courier New" pitchFamily="34" charset="-120"/>
              </a:rPr>
              <a:t>Install required packages</a:t>
            </a:r>
            <a:endParaRPr lang="en-US" sz="900" dirty="0"/>
          </a:p>
        </p:txBody>
      </p:sp>
      <p:sp>
        <p:nvSpPr>
          <p:cNvPr id="18" name="Text 16"/>
          <p:cNvSpPr/>
          <p:nvPr/>
        </p:nvSpPr>
        <p:spPr>
          <a:xfrm>
            <a:off x="900113" y="2413806"/>
            <a:ext cx="365760" cy="138214"/>
          </a:xfrm>
          <a:prstGeom prst="rect">
            <a:avLst/>
          </a:prstGeom>
          <a:noFill/>
          <a:ln/>
        </p:spPr>
        <p:txBody>
          <a:bodyPr wrap="none" lIns="0" tIns="0" rIns="0" bIns="0" rtlCol="0" anchor="t">
            <a:normAutofit fontScale="32500" lnSpcReduction="20000"/>
          </a:bodyPr>
          <a:lstStyle/>
          <a:p>
            <a:pPr marL="0" indent="0" algn="l">
              <a:lnSpc>
                <a:spcPts val="1305"/>
              </a:lnSpc>
              <a:buNone/>
            </a:pPr>
            <a:r>
              <a:rPr lang="en-US" sz="900" dirty="0">
                <a:solidFill>
                  <a:srgbClr val="FBA74A"/>
                </a:solidFill>
                <a:latin typeface="Courier New" pitchFamily="34" charset="0"/>
                <a:ea typeface="Courier New" pitchFamily="34" charset="-122"/>
                <a:cs typeface="Courier New" pitchFamily="34" charset="-120"/>
              </a:rPr>
              <a:t>apt:</a:t>
            </a:r>
            <a:endParaRPr lang="en-US" sz="900" dirty="0"/>
          </a:p>
        </p:txBody>
      </p:sp>
      <p:sp>
        <p:nvSpPr>
          <p:cNvPr id="19" name="Text 17"/>
          <p:cNvSpPr/>
          <p:nvPr/>
        </p:nvSpPr>
        <p:spPr>
          <a:xfrm>
            <a:off x="1014413" y="2579452"/>
            <a:ext cx="457200" cy="154305"/>
          </a:xfrm>
          <a:prstGeom prst="rect">
            <a:avLst/>
          </a:prstGeom>
          <a:noFill/>
          <a:ln/>
        </p:spPr>
        <p:txBody>
          <a:bodyPr wrap="none" lIns="0" tIns="0" rIns="0" bIns="0" rtlCol="0" anchor="t"/>
          <a:lstStyle/>
          <a:p>
            <a:pPr marL="0" indent="0" algn="l">
              <a:lnSpc>
                <a:spcPts val="1305"/>
              </a:lnSpc>
              <a:buNone/>
            </a:pPr>
            <a:r>
              <a:rPr lang="en-US" sz="900" dirty="0">
                <a:solidFill>
                  <a:srgbClr val="FBA74A"/>
                </a:solidFill>
                <a:latin typeface="Courier New" pitchFamily="34" charset="0"/>
                <a:ea typeface="Courier New" pitchFamily="34" charset="-122"/>
                <a:cs typeface="Courier New" pitchFamily="34" charset="-120"/>
              </a:rPr>
              <a:t>name:</a:t>
            </a:r>
            <a:endParaRPr lang="en-US" sz="900" dirty="0"/>
          </a:p>
        </p:txBody>
      </p:sp>
      <p:sp>
        <p:nvSpPr>
          <p:cNvPr id="20" name="Text 18"/>
          <p:cNvSpPr/>
          <p:nvPr/>
        </p:nvSpPr>
        <p:spPr>
          <a:xfrm>
            <a:off x="1357313" y="2579452"/>
            <a:ext cx="857250" cy="138214"/>
          </a:xfrm>
          <a:prstGeom prst="rect">
            <a:avLst/>
          </a:prstGeom>
          <a:noFill/>
          <a:ln/>
        </p:spPr>
        <p:txBody>
          <a:bodyPr wrap="none" lIns="0" tIns="0" rIns="0" bIns="0" rtlCol="0" anchor="t">
            <a:normAutofit fontScale="32500" lnSpcReduction="20000"/>
          </a:bodyPr>
          <a:lstStyle/>
          <a:p>
            <a:pPr marL="0" indent="0" algn="l">
              <a:lnSpc>
                <a:spcPts val="1305"/>
              </a:lnSpc>
              <a:buNone/>
            </a:pPr>
            <a:r>
              <a:rPr lang="en-US" sz="900" dirty="0">
                <a:solidFill>
                  <a:srgbClr val="86EFAC"/>
                </a:solidFill>
                <a:latin typeface="Courier New" pitchFamily="34" charset="0"/>
                <a:ea typeface="Courier New" pitchFamily="34" charset="-122"/>
                <a:cs typeface="Courier New" pitchFamily="34" charset="-120"/>
              </a:rPr>
              <a:t>"{{ item }}"</a:t>
            </a:r>
            <a:endParaRPr lang="en-US" sz="900" dirty="0"/>
          </a:p>
        </p:txBody>
      </p:sp>
      <p:sp>
        <p:nvSpPr>
          <p:cNvPr id="21" name="Text 19"/>
          <p:cNvSpPr/>
          <p:nvPr/>
        </p:nvSpPr>
        <p:spPr>
          <a:xfrm>
            <a:off x="1014413" y="2745098"/>
            <a:ext cx="490347" cy="154305"/>
          </a:xfrm>
          <a:prstGeom prst="rect">
            <a:avLst/>
          </a:prstGeom>
          <a:noFill/>
          <a:ln/>
        </p:spPr>
        <p:txBody>
          <a:bodyPr wrap="none" lIns="0" tIns="0" rIns="0" bIns="0" rtlCol="0" anchor="t"/>
          <a:lstStyle/>
          <a:p>
            <a:pPr marL="0" indent="0" algn="l">
              <a:lnSpc>
                <a:spcPts val="1305"/>
              </a:lnSpc>
              <a:buNone/>
            </a:pPr>
            <a:r>
              <a:rPr lang="en-US" sz="900" dirty="0">
                <a:solidFill>
                  <a:srgbClr val="FBA74A"/>
                </a:solidFill>
                <a:latin typeface="Courier New" pitchFamily="34" charset="0"/>
                <a:ea typeface="Courier New" pitchFamily="34" charset="-122"/>
                <a:cs typeface="Courier New" pitchFamily="34" charset="-120"/>
              </a:rPr>
              <a:t>state:</a:t>
            </a:r>
            <a:endParaRPr lang="en-US" sz="900" dirty="0"/>
          </a:p>
        </p:txBody>
      </p:sp>
      <p:sp>
        <p:nvSpPr>
          <p:cNvPr id="22" name="Text 20"/>
          <p:cNvSpPr/>
          <p:nvPr/>
        </p:nvSpPr>
        <p:spPr>
          <a:xfrm>
            <a:off x="1414463" y="2745098"/>
            <a:ext cx="572072" cy="138214"/>
          </a:xfrm>
          <a:prstGeom prst="rect">
            <a:avLst/>
          </a:prstGeom>
          <a:noFill/>
          <a:ln/>
        </p:spPr>
        <p:txBody>
          <a:bodyPr wrap="none" lIns="0" tIns="0" rIns="0" bIns="0" rtlCol="0" anchor="t">
            <a:normAutofit fontScale="32500" lnSpcReduction="20000"/>
          </a:bodyPr>
          <a:lstStyle/>
          <a:p>
            <a:pPr marL="0" indent="0" algn="l">
              <a:lnSpc>
                <a:spcPts val="1305"/>
              </a:lnSpc>
              <a:buNone/>
            </a:pPr>
            <a:r>
              <a:rPr lang="en-US" sz="900" dirty="0">
                <a:solidFill>
                  <a:srgbClr val="86EFAC"/>
                </a:solidFill>
                <a:latin typeface="Courier New" pitchFamily="34" charset="0"/>
                <a:ea typeface="Courier New" pitchFamily="34" charset="-122"/>
                <a:cs typeface="Courier New" pitchFamily="34" charset="-120"/>
              </a:rPr>
              <a:t>present</a:t>
            </a:r>
            <a:endParaRPr lang="en-US" sz="900" dirty="0"/>
          </a:p>
        </p:txBody>
      </p:sp>
      <p:sp>
        <p:nvSpPr>
          <p:cNvPr id="23" name="Text 21"/>
          <p:cNvSpPr/>
          <p:nvPr/>
        </p:nvSpPr>
        <p:spPr>
          <a:xfrm>
            <a:off x="900113" y="2910743"/>
            <a:ext cx="457200" cy="138214"/>
          </a:xfrm>
          <a:prstGeom prst="rect">
            <a:avLst/>
          </a:prstGeom>
          <a:noFill/>
          <a:ln/>
        </p:spPr>
        <p:txBody>
          <a:bodyPr wrap="none" lIns="0" tIns="0" rIns="0" bIns="0" rtlCol="0" anchor="t">
            <a:normAutofit fontScale="32500" lnSpcReduction="20000"/>
          </a:bodyPr>
          <a:lstStyle/>
          <a:p>
            <a:pPr marL="0" indent="0" algn="l">
              <a:lnSpc>
                <a:spcPts val="1305"/>
              </a:lnSpc>
              <a:buNone/>
            </a:pPr>
            <a:r>
              <a:rPr lang="en-US" sz="900" dirty="0">
                <a:solidFill>
                  <a:srgbClr val="FBA74A"/>
                </a:solidFill>
                <a:latin typeface="Courier New" pitchFamily="34" charset="0"/>
                <a:ea typeface="Courier New" pitchFamily="34" charset="-122"/>
                <a:cs typeface="Courier New" pitchFamily="34" charset="-120"/>
              </a:rPr>
              <a:t>loop:</a:t>
            </a:r>
            <a:endParaRPr lang="en-US" sz="900" dirty="0"/>
          </a:p>
        </p:txBody>
      </p:sp>
      <p:sp>
        <p:nvSpPr>
          <p:cNvPr id="24" name="Text 22"/>
          <p:cNvSpPr/>
          <p:nvPr/>
        </p:nvSpPr>
        <p:spPr>
          <a:xfrm>
            <a:off x="1128713" y="3076389"/>
            <a:ext cx="457200" cy="138214"/>
          </a:xfrm>
          <a:prstGeom prst="rect">
            <a:avLst/>
          </a:prstGeom>
          <a:noFill/>
          <a:ln/>
        </p:spPr>
        <p:txBody>
          <a:bodyPr wrap="none" lIns="0" tIns="0" rIns="0" bIns="0" rtlCol="0" anchor="t">
            <a:normAutofit fontScale="32500" lnSpcReduction="20000"/>
          </a:bodyPr>
          <a:lstStyle/>
          <a:p>
            <a:pPr marL="0" indent="0" algn="l">
              <a:lnSpc>
                <a:spcPts val="1305"/>
              </a:lnSpc>
              <a:buNone/>
            </a:pPr>
            <a:r>
              <a:rPr lang="en-US" sz="900" dirty="0">
                <a:solidFill>
                  <a:srgbClr val="86EFAC"/>
                </a:solidFill>
                <a:latin typeface="Courier New" pitchFamily="34" charset="0"/>
                <a:ea typeface="Courier New" pitchFamily="34" charset="-122"/>
                <a:cs typeface="Courier New" pitchFamily="34" charset="-120"/>
              </a:rPr>
              <a:t>nginx</a:t>
            </a:r>
            <a:endParaRPr lang="en-US" sz="900" dirty="0"/>
          </a:p>
        </p:txBody>
      </p:sp>
      <p:sp>
        <p:nvSpPr>
          <p:cNvPr id="25" name="Text 23"/>
          <p:cNvSpPr/>
          <p:nvPr/>
        </p:nvSpPr>
        <p:spPr>
          <a:xfrm>
            <a:off x="1128713" y="3242035"/>
            <a:ext cx="365760" cy="138214"/>
          </a:xfrm>
          <a:prstGeom prst="rect">
            <a:avLst/>
          </a:prstGeom>
          <a:noFill/>
          <a:ln/>
        </p:spPr>
        <p:txBody>
          <a:bodyPr wrap="none" lIns="0" tIns="0" rIns="0" bIns="0" rtlCol="0" anchor="t">
            <a:normAutofit fontScale="32500" lnSpcReduction="20000"/>
          </a:bodyPr>
          <a:lstStyle/>
          <a:p>
            <a:pPr marL="0" indent="0" algn="l">
              <a:lnSpc>
                <a:spcPts val="1305"/>
              </a:lnSpc>
              <a:buNone/>
            </a:pPr>
            <a:r>
              <a:rPr lang="en-US" sz="900" dirty="0">
                <a:solidFill>
                  <a:srgbClr val="86EFAC"/>
                </a:solidFill>
                <a:latin typeface="Courier New" pitchFamily="34" charset="0"/>
                <a:ea typeface="Courier New" pitchFamily="34" charset="-122"/>
                <a:cs typeface="Courier New" pitchFamily="34" charset="-120"/>
              </a:rPr>
              <a:t>curl</a:t>
            </a:r>
            <a:endParaRPr lang="en-US" sz="900" dirty="0"/>
          </a:p>
        </p:txBody>
      </p:sp>
      <p:sp>
        <p:nvSpPr>
          <p:cNvPr id="26" name="Text 24"/>
          <p:cNvSpPr/>
          <p:nvPr/>
        </p:nvSpPr>
        <p:spPr>
          <a:xfrm>
            <a:off x="1128713" y="3407680"/>
            <a:ext cx="365760" cy="138214"/>
          </a:xfrm>
          <a:prstGeom prst="rect">
            <a:avLst/>
          </a:prstGeom>
          <a:noFill/>
          <a:ln/>
        </p:spPr>
        <p:txBody>
          <a:bodyPr wrap="none" lIns="0" tIns="0" rIns="0" bIns="0" rtlCol="0" anchor="t">
            <a:normAutofit fontScale="32500" lnSpcReduction="20000"/>
          </a:bodyPr>
          <a:lstStyle/>
          <a:p>
            <a:pPr marL="0" indent="0" algn="l">
              <a:lnSpc>
                <a:spcPts val="1305"/>
              </a:lnSpc>
              <a:buNone/>
            </a:pPr>
            <a:r>
              <a:rPr lang="en-US" sz="900" dirty="0">
                <a:solidFill>
                  <a:srgbClr val="86EFAC"/>
                </a:solidFill>
                <a:latin typeface="Courier New" pitchFamily="34" charset="0"/>
                <a:ea typeface="Courier New" pitchFamily="34" charset="-122"/>
                <a:cs typeface="Courier New" pitchFamily="34" charset="-120"/>
              </a:rPr>
              <a:t>htop</a:t>
            </a:r>
            <a:endParaRPr lang="en-US" sz="900" dirty="0"/>
          </a:p>
        </p:txBody>
      </p:sp>
      <p:sp>
        <p:nvSpPr>
          <p:cNvPr id="27" name="Text 25"/>
          <p:cNvSpPr/>
          <p:nvPr/>
        </p:nvSpPr>
        <p:spPr>
          <a:xfrm>
            <a:off x="1128713" y="3573326"/>
            <a:ext cx="274320" cy="154305"/>
          </a:xfrm>
          <a:prstGeom prst="rect">
            <a:avLst/>
          </a:prstGeom>
          <a:noFill/>
          <a:ln/>
        </p:spPr>
        <p:txBody>
          <a:bodyPr wrap="none" lIns="0" tIns="0" rIns="0" bIns="0" rtlCol="0" anchor="t"/>
          <a:lstStyle/>
          <a:p>
            <a:pPr marL="0" indent="0" algn="l">
              <a:lnSpc>
                <a:spcPts val="1305"/>
              </a:lnSpc>
              <a:buNone/>
            </a:pPr>
            <a:r>
              <a:rPr lang="en-US" sz="900" dirty="0">
                <a:solidFill>
                  <a:srgbClr val="86EFAC"/>
                </a:solidFill>
                <a:latin typeface="Courier New" pitchFamily="34" charset="0"/>
                <a:ea typeface="Courier New" pitchFamily="34" charset="-122"/>
                <a:cs typeface="Courier New" pitchFamily="34" charset="-120"/>
              </a:rPr>
              <a:t>git</a:t>
            </a:r>
            <a:endParaRPr lang="en-US" sz="900" dirty="0"/>
          </a:p>
        </p:txBody>
      </p:sp>
      <p:sp>
        <p:nvSpPr>
          <p:cNvPr id="28" name="Text 26"/>
          <p:cNvSpPr/>
          <p:nvPr/>
        </p:nvSpPr>
        <p:spPr>
          <a:xfrm>
            <a:off x="785813" y="3904617"/>
            <a:ext cx="2283714" cy="138214"/>
          </a:xfrm>
          <a:prstGeom prst="rect">
            <a:avLst/>
          </a:prstGeom>
          <a:noFill/>
          <a:ln/>
        </p:spPr>
        <p:txBody>
          <a:bodyPr wrap="none" lIns="0" tIns="0" rIns="0" bIns="0" rtlCol="0" anchor="t">
            <a:normAutofit fontScale="32500" lnSpcReduction="20000"/>
          </a:bodyPr>
          <a:lstStyle/>
          <a:p>
            <a:pPr marL="0" indent="0" algn="l">
              <a:lnSpc>
                <a:spcPts val="1305"/>
              </a:lnSpc>
              <a:buNone/>
            </a:pPr>
            <a:r>
              <a:rPr lang="en-US" sz="900" i="1" dirty="0">
                <a:solidFill>
                  <a:srgbClr val="94A3B8"/>
                </a:solidFill>
                <a:latin typeface="Courier New" pitchFamily="34" charset="0"/>
                <a:ea typeface="Courier New" pitchFamily="34" charset="-122"/>
                <a:cs typeface="Courier New" pitchFamily="34" charset="-120"/>
              </a:rPr>
              <a:t># 2. Conditional — only run on Ubuntu</a:t>
            </a:r>
            <a:endParaRPr lang="en-US" sz="900" dirty="0"/>
          </a:p>
        </p:txBody>
      </p:sp>
      <p:sp>
        <p:nvSpPr>
          <p:cNvPr id="29" name="Text 27"/>
          <p:cNvSpPr/>
          <p:nvPr/>
        </p:nvSpPr>
        <p:spPr>
          <a:xfrm>
            <a:off x="900113" y="4070263"/>
            <a:ext cx="457200" cy="154305"/>
          </a:xfrm>
          <a:prstGeom prst="rect">
            <a:avLst/>
          </a:prstGeom>
          <a:noFill/>
          <a:ln/>
        </p:spPr>
        <p:txBody>
          <a:bodyPr wrap="none" lIns="0" tIns="0" rIns="0" bIns="0" rtlCol="0" anchor="t"/>
          <a:lstStyle/>
          <a:p>
            <a:pPr marL="0" indent="0" algn="l">
              <a:lnSpc>
                <a:spcPts val="1305"/>
              </a:lnSpc>
              <a:buNone/>
            </a:pPr>
            <a:r>
              <a:rPr lang="en-US" sz="900" dirty="0">
                <a:solidFill>
                  <a:srgbClr val="FBA74A"/>
                </a:solidFill>
                <a:latin typeface="Courier New" pitchFamily="34" charset="0"/>
                <a:ea typeface="Courier New" pitchFamily="34" charset="-122"/>
                <a:cs typeface="Courier New" pitchFamily="34" charset="-120"/>
              </a:rPr>
              <a:t>name:</a:t>
            </a:r>
            <a:endParaRPr lang="en-US" sz="900" dirty="0"/>
          </a:p>
        </p:txBody>
      </p:sp>
      <p:sp>
        <p:nvSpPr>
          <p:cNvPr id="30" name="Text 28"/>
          <p:cNvSpPr/>
          <p:nvPr/>
        </p:nvSpPr>
        <p:spPr>
          <a:xfrm>
            <a:off x="1243013" y="4070263"/>
            <a:ext cx="2098548" cy="138214"/>
          </a:xfrm>
          <a:prstGeom prst="rect">
            <a:avLst/>
          </a:prstGeom>
          <a:noFill/>
          <a:ln/>
        </p:spPr>
        <p:txBody>
          <a:bodyPr wrap="none" lIns="0" tIns="0" rIns="0" bIns="0" rtlCol="0" anchor="t">
            <a:normAutofit fontScale="32500" lnSpcReduction="20000"/>
          </a:bodyPr>
          <a:lstStyle/>
          <a:p>
            <a:pPr marL="0" indent="0" algn="l">
              <a:lnSpc>
                <a:spcPts val="1305"/>
              </a:lnSpc>
              <a:buNone/>
            </a:pPr>
            <a:r>
              <a:rPr lang="en-US" sz="900" dirty="0">
                <a:solidFill>
                  <a:srgbClr val="86EFAC"/>
                </a:solidFill>
                <a:latin typeface="Courier New" pitchFamily="34" charset="0"/>
                <a:ea typeface="Courier New" pitchFamily="34" charset="-122"/>
                <a:cs typeface="Courier New" pitchFamily="34" charset="-120"/>
              </a:rPr>
              <a:t>Install UFW firewall (Ubuntu only)</a:t>
            </a:r>
            <a:endParaRPr lang="en-US" sz="900" dirty="0"/>
          </a:p>
        </p:txBody>
      </p:sp>
      <p:sp>
        <p:nvSpPr>
          <p:cNvPr id="31" name="Text 29"/>
          <p:cNvSpPr/>
          <p:nvPr/>
        </p:nvSpPr>
        <p:spPr>
          <a:xfrm>
            <a:off x="900113" y="4235909"/>
            <a:ext cx="365760" cy="138214"/>
          </a:xfrm>
          <a:prstGeom prst="rect">
            <a:avLst/>
          </a:prstGeom>
          <a:noFill/>
          <a:ln/>
        </p:spPr>
        <p:txBody>
          <a:bodyPr wrap="none" lIns="0" tIns="0" rIns="0" bIns="0" rtlCol="0" anchor="t">
            <a:normAutofit fontScale="32500" lnSpcReduction="20000"/>
          </a:bodyPr>
          <a:lstStyle/>
          <a:p>
            <a:pPr marL="0" indent="0" algn="l">
              <a:lnSpc>
                <a:spcPts val="1305"/>
              </a:lnSpc>
              <a:buNone/>
            </a:pPr>
            <a:r>
              <a:rPr lang="en-US" sz="900" dirty="0">
                <a:solidFill>
                  <a:srgbClr val="FBA74A"/>
                </a:solidFill>
                <a:latin typeface="Courier New" pitchFamily="34" charset="0"/>
                <a:ea typeface="Courier New" pitchFamily="34" charset="-122"/>
                <a:cs typeface="Courier New" pitchFamily="34" charset="-120"/>
              </a:rPr>
              <a:t>apt:</a:t>
            </a:r>
            <a:endParaRPr lang="en-US" sz="900" dirty="0"/>
          </a:p>
        </p:txBody>
      </p:sp>
      <p:sp>
        <p:nvSpPr>
          <p:cNvPr id="32" name="Text 30"/>
          <p:cNvSpPr/>
          <p:nvPr/>
        </p:nvSpPr>
        <p:spPr>
          <a:xfrm>
            <a:off x="1014413" y="4401555"/>
            <a:ext cx="457200" cy="154305"/>
          </a:xfrm>
          <a:prstGeom prst="rect">
            <a:avLst/>
          </a:prstGeom>
          <a:noFill/>
          <a:ln/>
        </p:spPr>
        <p:txBody>
          <a:bodyPr wrap="none" lIns="0" tIns="0" rIns="0" bIns="0" rtlCol="0" anchor="t"/>
          <a:lstStyle/>
          <a:p>
            <a:pPr marL="0" indent="0" algn="l">
              <a:lnSpc>
                <a:spcPts val="1305"/>
              </a:lnSpc>
              <a:buNone/>
            </a:pPr>
            <a:r>
              <a:rPr lang="en-US" sz="900" dirty="0">
                <a:solidFill>
                  <a:srgbClr val="FBA74A"/>
                </a:solidFill>
                <a:latin typeface="Courier New" pitchFamily="34" charset="0"/>
                <a:ea typeface="Courier New" pitchFamily="34" charset="-122"/>
                <a:cs typeface="Courier New" pitchFamily="34" charset="-120"/>
              </a:rPr>
              <a:t>name:</a:t>
            </a:r>
            <a:endParaRPr lang="en-US" sz="900" dirty="0"/>
          </a:p>
        </p:txBody>
      </p:sp>
      <p:sp>
        <p:nvSpPr>
          <p:cNvPr id="33" name="Text 31"/>
          <p:cNvSpPr/>
          <p:nvPr/>
        </p:nvSpPr>
        <p:spPr>
          <a:xfrm>
            <a:off x="1357313" y="4401555"/>
            <a:ext cx="274320" cy="138214"/>
          </a:xfrm>
          <a:prstGeom prst="rect">
            <a:avLst/>
          </a:prstGeom>
          <a:noFill/>
          <a:ln/>
        </p:spPr>
        <p:txBody>
          <a:bodyPr wrap="none" lIns="0" tIns="0" rIns="0" bIns="0" rtlCol="0" anchor="t">
            <a:normAutofit fontScale="32500" lnSpcReduction="20000"/>
          </a:bodyPr>
          <a:lstStyle/>
          <a:p>
            <a:pPr marL="0" indent="0" algn="l">
              <a:lnSpc>
                <a:spcPts val="1305"/>
              </a:lnSpc>
              <a:buNone/>
            </a:pPr>
            <a:r>
              <a:rPr lang="en-US" sz="900" dirty="0">
                <a:solidFill>
                  <a:srgbClr val="86EFAC"/>
                </a:solidFill>
                <a:latin typeface="Courier New" pitchFamily="34" charset="0"/>
                <a:ea typeface="Courier New" pitchFamily="34" charset="-122"/>
                <a:cs typeface="Courier New" pitchFamily="34" charset="-120"/>
              </a:rPr>
              <a:t>ufw</a:t>
            </a:r>
            <a:endParaRPr lang="en-US" sz="900" dirty="0"/>
          </a:p>
        </p:txBody>
      </p:sp>
      <p:sp>
        <p:nvSpPr>
          <p:cNvPr id="34" name="Text 32"/>
          <p:cNvSpPr/>
          <p:nvPr/>
        </p:nvSpPr>
        <p:spPr>
          <a:xfrm>
            <a:off x="1014413" y="4567200"/>
            <a:ext cx="490347" cy="154305"/>
          </a:xfrm>
          <a:prstGeom prst="rect">
            <a:avLst/>
          </a:prstGeom>
          <a:noFill/>
          <a:ln/>
        </p:spPr>
        <p:txBody>
          <a:bodyPr wrap="none" lIns="0" tIns="0" rIns="0" bIns="0" rtlCol="0" anchor="t"/>
          <a:lstStyle/>
          <a:p>
            <a:pPr marL="0" indent="0" algn="l">
              <a:lnSpc>
                <a:spcPts val="1305"/>
              </a:lnSpc>
              <a:buNone/>
            </a:pPr>
            <a:r>
              <a:rPr lang="en-US" sz="900" dirty="0">
                <a:solidFill>
                  <a:srgbClr val="FBA74A"/>
                </a:solidFill>
                <a:latin typeface="Courier New" pitchFamily="34" charset="0"/>
                <a:ea typeface="Courier New" pitchFamily="34" charset="-122"/>
                <a:cs typeface="Courier New" pitchFamily="34" charset="-120"/>
              </a:rPr>
              <a:t>state:</a:t>
            </a:r>
            <a:endParaRPr lang="en-US" sz="900" dirty="0"/>
          </a:p>
        </p:txBody>
      </p:sp>
      <p:sp>
        <p:nvSpPr>
          <p:cNvPr id="35" name="Text 33"/>
          <p:cNvSpPr/>
          <p:nvPr/>
        </p:nvSpPr>
        <p:spPr>
          <a:xfrm>
            <a:off x="1414463" y="4567200"/>
            <a:ext cx="572072" cy="138214"/>
          </a:xfrm>
          <a:prstGeom prst="rect">
            <a:avLst/>
          </a:prstGeom>
          <a:noFill/>
          <a:ln/>
        </p:spPr>
        <p:txBody>
          <a:bodyPr wrap="none" lIns="0" tIns="0" rIns="0" bIns="0" rtlCol="0" anchor="t">
            <a:normAutofit fontScale="32500" lnSpcReduction="20000"/>
          </a:bodyPr>
          <a:lstStyle/>
          <a:p>
            <a:pPr marL="0" indent="0" algn="l">
              <a:lnSpc>
                <a:spcPts val="1305"/>
              </a:lnSpc>
              <a:buNone/>
            </a:pPr>
            <a:r>
              <a:rPr lang="en-US" sz="900" dirty="0">
                <a:solidFill>
                  <a:srgbClr val="86EFAC"/>
                </a:solidFill>
                <a:latin typeface="Courier New" pitchFamily="34" charset="0"/>
                <a:ea typeface="Courier New" pitchFamily="34" charset="-122"/>
                <a:cs typeface="Courier New" pitchFamily="34" charset="-120"/>
              </a:rPr>
              <a:t>present</a:t>
            </a:r>
            <a:endParaRPr lang="en-US" sz="900" dirty="0"/>
          </a:p>
        </p:txBody>
      </p:sp>
      <p:sp>
        <p:nvSpPr>
          <p:cNvPr id="36" name="Text 34"/>
          <p:cNvSpPr/>
          <p:nvPr/>
        </p:nvSpPr>
        <p:spPr>
          <a:xfrm>
            <a:off x="900113" y="4732846"/>
            <a:ext cx="457200" cy="91976"/>
          </a:xfrm>
          <a:prstGeom prst="rect">
            <a:avLst/>
          </a:prstGeom>
          <a:noFill/>
          <a:ln/>
        </p:spPr>
        <p:txBody>
          <a:bodyPr wrap="none" lIns="0" tIns="0" rIns="0" bIns="0" rtlCol="0" anchor="t"/>
          <a:lstStyle/>
          <a:p>
            <a:pPr marL="0" indent="0" algn="l">
              <a:lnSpc>
                <a:spcPts val="1305"/>
              </a:lnSpc>
              <a:buNone/>
            </a:pPr>
            <a:r>
              <a:rPr lang="en-US" sz="900" dirty="0">
                <a:solidFill>
                  <a:srgbClr val="FBA74A"/>
                </a:solidFill>
                <a:latin typeface="Courier New" pitchFamily="34" charset="0"/>
                <a:ea typeface="Courier New" pitchFamily="34" charset="-122"/>
                <a:cs typeface="Courier New" pitchFamily="34" charset="-120"/>
              </a:rPr>
              <a:t>when:</a:t>
            </a:r>
            <a:endParaRPr lang="en-US" sz="900" dirty="0"/>
          </a:p>
        </p:txBody>
      </p:sp>
      <p:sp>
        <p:nvSpPr>
          <p:cNvPr id="37" name="Text 35"/>
          <p:cNvSpPr/>
          <p:nvPr/>
        </p:nvSpPr>
        <p:spPr>
          <a:xfrm>
            <a:off x="1243013" y="4732846"/>
            <a:ext cx="1428750" cy="91976"/>
          </a:xfrm>
          <a:prstGeom prst="rect">
            <a:avLst/>
          </a:prstGeom>
          <a:noFill/>
          <a:ln/>
        </p:spPr>
        <p:txBody>
          <a:bodyPr wrap="none" lIns="0" tIns="0" rIns="0" bIns="0" rtlCol="0" anchor="t"/>
          <a:lstStyle/>
          <a:p>
            <a:pPr marL="0" indent="0" algn="l">
              <a:lnSpc>
                <a:spcPts val="1305"/>
              </a:lnSpc>
              <a:buNone/>
            </a:pPr>
            <a:r>
              <a:rPr lang="en-US" sz="900" dirty="0">
                <a:solidFill>
                  <a:srgbClr val="93C5FD"/>
                </a:solidFill>
                <a:latin typeface="Courier New" pitchFamily="34" charset="0"/>
                <a:ea typeface="Courier New" pitchFamily="34" charset="-122"/>
                <a:cs typeface="Courier New" pitchFamily="34" charset="-120"/>
              </a:rPr>
              <a:t>ansible_distribution</a:t>
            </a:r>
            <a:endParaRPr lang="en-US" sz="900" dirty="0"/>
          </a:p>
        </p:txBody>
      </p:sp>
      <p:sp>
        <p:nvSpPr>
          <p:cNvPr id="38" name="Text 36"/>
          <p:cNvSpPr/>
          <p:nvPr/>
        </p:nvSpPr>
        <p:spPr>
          <a:xfrm>
            <a:off x="2614613" y="4732846"/>
            <a:ext cx="653796" cy="91976"/>
          </a:xfrm>
          <a:prstGeom prst="rect">
            <a:avLst/>
          </a:prstGeom>
          <a:noFill/>
          <a:ln/>
        </p:spPr>
        <p:txBody>
          <a:bodyPr wrap="none" lIns="0" tIns="0" rIns="0" bIns="0" rtlCol="0" anchor="t"/>
          <a:lstStyle/>
          <a:p>
            <a:pPr marL="0" indent="0" algn="l">
              <a:lnSpc>
                <a:spcPts val="1305"/>
              </a:lnSpc>
              <a:buNone/>
            </a:pPr>
            <a:r>
              <a:rPr lang="en-US" sz="900" dirty="0">
                <a:solidFill>
                  <a:srgbClr val="86EFAC"/>
                </a:solidFill>
                <a:latin typeface="Courier New" pitchFamily="34" charset="0"/>
                <a:ea typeface="Courier New" pitchFamily="34" charset="-122"/>
                <a:cs typeface="Courier New" pitchFamily="34" charset="-120"/>
              </a:rPr>
              <a:t>"Ubuntu"</a:t>
            </a:r>
            <a:endParaRPr lang="en-US" sz="900" dirty="0"/>
          </a:p>
        </p:txBody>
      </p:sp>
      <p:sp>
        <p:nvSpPr>
          <p:cNvPr id="39" name="Text 37"/>
          <p:cNvSpPr/>
          <p:nvPr/>
        </p:nvSpPr>
        <p:spPr>
          <a:xfrm>
            <a:off x="785813" y="5064137"/>
            <a:ext cx="2962656" cy="91440"/>
          </a:xfrm>
          <a:prstGeom prst="rect">
            <a:avLst/>
          </a:prstGeom>
          <a:noFill/>
          <a:ln/>
        </p:spPr>
        <p:txBody>
          <a:bodyPr wrap="none" lIns="0" tIns="0" rIns="0" bIns="0" rtlCol="0" anchor="t"/>
          <a:lstStyle/>
          <a:p>
            <a:pPr marL="0" indent="0" algn="l">
              <a:lnSpc>
                <a:spcPts val="1305"/>
              </a:lnSpc>
              <a:buNone/>
            </a:pPr>
            <a:r>
              <a:rPr lang="en-US" sz="900" i="1" dirty="0">
                <a:solidFill>
                  <a:srgbClr val="94A3B8"/>
                </a:solidFill>
                <a:latin typeface="Courier New" pitchFamily="34" charset="0"/>
                <a:ea typeface="Courier New" pitchFamily="34" charset="-122"/>
                <a:cs typeface="Courier New" pitchFamily="34" charset="-120"/>
              </a:rPr>
              <a:t># 3. Register — capture output for the next task</a:t>
            </a:r>
            <a:endParaRPr lang="en-US" sz="900" dirty="0"/>
          </a:p>
        </p:txBody>
      </p:sp>
      <p:sp>
        <p:nvSpPr>
          <p:cNvPr id="40" name="Text 38"/>
          <p:cNvSpPr/>
          <p:nvPr/>
        </p:nvSpPr>
        <p:spPr>
          <a:xfrm>
            <a:off x="900113" y="5229783"/>
            <a:ext cx="457200" cy="91440"/>
          </a:xfrm>
          <a:prstGeom prst="rect">
            <a:avLst/>
          </a:prstGeom>
          <a:noFill/>
          <a:ln/>
        </p:spPr>
        <p:txBody>
          <a:bodyPr wrap="none" lIns="0" tIns="0" rIns="0" bIns="0" rtlCol="0" anchor="t"/>
          <a:lstStyle/>
          <a:p>
            <a:pPr marL="0" indent="0" algn="l">
              <a:lnSpc>
                <a:spcPts val="1305"/>
              </a:lnSpc>
              <a:buNone/>
            </a:pPr>
            <a:r>
              <a:rPr lang="en-US" sz="900" dirty="0">
                <a:solidFill>
                  <a:srgbClr val="FBA74A"/>
                </a:solidFill>
                <a:latin typeface="Courier New" pitchFamily="34" charset="0"/>
                <a:ea typeface="Courier New" pitchFamily="34" charset="-122"/>
                <a:cs typeface="Courier New" pitchFamily="34" charset="-120"/>
              </a:rPr>
              <a:t>name:</a:t>
            </a:r>
            <a:endParaRPr lang="en-US" sz="900" dirty="0"/>
          </a:p>
        </p:txBody>
      </p:sp>
      <p:sp>
        <p:nvSpPr>
          <p:cNvPr id="41" name="Text 39"/>
          <p:cNvSpPr/>
          <p:nvPr/>
        </p:nvSpPr>
        <p:spPr>
          <a:xfrm>
            <a:off x="1243013" y="5229783"/>
            <a:ext cx="1285875" cy="91440"/>
          </a:xfrm>
          <a:prstGeom prst="rect">
            <a:avLst/>
          </a:prstGeom>
          <a:noFill/>
          <a:ln/>
        </p:spPr>
        <p:txBody>
          <a:bodyPr wrap="none" lIns="0" tIns="0" rIns="0" bIns="0" rtlCol="0" anchor="t"/>
          <a:lstStyle/>
          <a:p>
            <a:pPr marL="0" indent="0" algn="l">
              <a:lnSpc>
                <a:spcPts val="1305"/>
              </a:lnSpc>
              <a:buNone/>
            </a:pPr>
            <a:r>
              <a:rPr lang="en-US" sz="900" dirty="0">
                <a:solidFill>
                  <a:srgbClr val="86EFAC"/>
                </a:solidFill>
                <a:latin typeface="Courier New" pitchFamily="34" charset="0"/>
                <a:ea typeface="Courier New" pitchFamily="34" charset="-122"/>
                <a:cs typeface="Courier New" pitchFamily="34" charset="-120"/>
              </a:rPr>
              <a:t>Check nginx status</a:t>
            </a:r>
            <a:endParaRPr lang="en-US" sz="900" dirty="0"/>
          </a:p>
        </p:txBody>
      </p:sp>
      <p:sp>
        <p:nvSpPr>
          <p:cNvPr id="42" name="Text 40"/>
          <p:cNvSpPr/>
          <p:nvPr/>
        </p:nvSpPr>
        <p:spPr>
          <a:xfrm>
            <a:off x="900113" y="5395429"/>
            <a:ext cx="653796" cy="91440"/>
          </a:xfrm>
          <a:prstGeom prst="rect">
            <a:avLst/>
          </a:prstGeom>
          <a:noFill/>
          <a:ln/>
        </p:spPr>
        <p:txBody>
          <a:bodyPr wrap="none" lIns="0" tIns="0" rIns="0" bIns="0" rtlCol="0" anchor="t"/>
          <a:lstStyle/>
          <a:p>
            <a:pPr marL="0" indent="0" algn="l">
              <a:lnSpc>
                <a:spcPts val="1305"/>
              </a:lnSpc>
              <a:buNone/>
            </a:pPr>
            <a:r>
              <a:rPr lang="en-US" sz="900" dirty="0">
                <a:solidFill>
                  <a:srgbClr val="FBA74A"/>
                </a:solidFill>
                <a:latin typeface="Courier New" pitchFamily="34" charset="0"/>
                <a:ea typeface="Courier New" pitchFamily="34" charset="-122"/>
                <a:cs typeface="Courier New" pitchFamily="34" charset="-120"/>
              </a:rPr>
              <a:t>command:</a:t>
            </a:r>
            <a:endParaRPr lang="en-US" sz="900" dirty="0"/>
          </a:p>
        </p:txBody>
      </p:sp>
      <p:sp>
        <p:nvSpPr>
          <p:cNvPr id="43" name="Text 41"/>
          <p:cNvSpPr/>
          <p:nvPr/>
        </p:nvSpPr>
        <p:spPr>
          <a:xfrm>
            <a:off x="900113" y="5561075"/>
            <a:ext cx="735521" cy="91440"/>
          </a:xfrm>
          <a:prstGeom prst="rect">
            <a:avLst/>
          </a:prstGeom>
          <a:noFill/>
          <a:ln/>
        </p:spPr>
        <p:txBody>
          <a:bodyPr wrap="none" lIns="0" tIns="0" rIns="0" bIns="0" rtlCol="0" anchor="t"/>
          <a:lstStyle/>
          <a:p>
            <a:pPr marL="0" indent="0" algn="l">
              <a:lnSpc>
                <a:spcPts val="1305"/>
              </a:lnSpc>
              <a:buNone/>
            </a:pPr>
            <a:r>
              <a:rPr lang="en-US" sz="900" dirty="0">
                <a:solidFill>
                  <a:srgbClr val="FBA74A"/>
                </a:solidFill>
                <a:latin typeface="Courier New" pitchFamily="34" charset="0"/>
                <a:ea typeface="Courier New" pitchFamily="34" charset="-122"/>
                <a:cs typeface="Courier New" pitchFamily="34" charset="-120"/>
              </a:rPr>
              <a:t>register:</a:t>
            </a:r>
            <a:endParaRPr lang="en-US" sz="900" dirty="0"/>
          </a:p>
        </p:txBody>
      </p:sp>
      <p:sp>
        <p:nvSpPr>
          <p:cNvPr id="44" name="Text 42"/>
          <p:cNvSpPr/>
          <p:nvPr/>
        </p:nvSpPr>
        <p:spPr>
          <a:xfrm>
            <a:off x="1464149" y="5561075"/>
            <a:ext cx="872178" cy="91440"/>
          </a:xfrm>
          <a:prstGeom prst="rect">
            <a:avLst/>
          </a:prstGeom>
          <a:noFill/>
          <a:ln/>
        </p:spPr>
        <p:txBody>
          <a:bodyPr wrap="none" lIns="0" tIns="0" rIns="0" bIns="0" rtlCol="0" anchor="t"/>
          <a:lstStyle/>
          <a:p>
            <a:pPr marL="0" indent="0" algn="l">
              <a:lnSpc>
                <a:spcPts val="1305"/>
              </a:lnSpc>
              <a:buNone/>
            </a:pPr>
            <a:r>
              <a:rPr lang="en-US" sz="900" dirty="0">
                <a:solidFill>
                  <a:srgbClr val="93C5FD"/>
                </a:solidFill>
                <a:latin typeface="Courier New" pitchFamily="34" charset="0"/>
                <a:ea typeface="Courier New" pitchFamily="34" charset="-122"/>
                <a:cs typeface="Courier New" pitchFamily="34" charset="-120"/>
              </a:rPr>
              <a:t>nginx_status</a:t>
            </a:r>
            <a:endParaRPr lang="en-US" sz="900" dirty="0"/>
          </a:p>
        </p:txBody>
      </p:sp>
      <p:sp>
        <p:nvSpPr>
          <p:cNvPr id="45" name="Text 43"/>
          <p:cNvSpPr/>
          <p:nvPr/>
        </p:nvSpPr>
        <p:spPr>
          <a:xfrm>
            <a:off x="900113" y="5726720"/>
            <a:ext cx="928688" cy="91440"/>
          </a:xfrm>
          <a:prstGeom prst="rect">
            <a:avLst/>
          </a:prstGeom>
          <a:noFill/>
          <a:ln/>
        </p:spPr>
        <p:txBody>
          <a:bodyPr wrap="none" lIns="0" tIns="0" rIns="0" bIns="0" rtlCol="0" anchor="t"/>
          <a:lstStyle/>
          <a:p>
            <a:pPr marL="0" indent="0" algn="l">
              <a:lnSpc>
                <a:spcPts val="1305"/>
              </a:lnSpc>
              <a:buNone/>
            </a:pPr>
            <a:r>
              <a:rPr lang="en-US" sz="900" dirty="0">
                <a:solidFill>
                  <a:srgbClr val="FBA74A"/>
                </a:solidFill>
                <a:latin typeface="Courier New" pitchFamily="34" charset="0"/>
                <a:ea typeface="Courier New" pitchFamily="34" charset="-122"/>
                <a:cs typeface="Courier New" pitchFamily="34" charset="-120"/>
              </a:rPr>
              <a:t>changed_when:</a:t>
            </a:r>
            <a:endParaRPr lang="en-US" sz="900" dirty="0"/>
          </a:p>
        </p:txBody>
      </p:sp>
      <p:sp>
        <p:nvSpPr>
          <p:cNvPr id="46" name="Text 44"/>
          <p:cNvSpPr/>
          <p:nvPr/>
        </p:nvSpPr>
        <p:spPr>
          <a:xfrm>
            <a:off x="1700213" y="5726720"/>
            <a:ext cx="457200" cy="91440"/>
          </a:xfrm>
          <a:prstGeom prst="rect">
            <a:avLst/>
          </a:prstGeom>
          <a:noFill/>
          <a:ln/>
        </p:spPr>
        <p:txBody>
          <a:bodyPr wrap="none" lIns="0" tIns="0" rIns="0" bIns="0" rtlCol="0" anchor="t"/>
          <a:lstStyle/>
          <a:p>
            <a:pPr marL="0" indent="0" algn="l">
              <a:lnSpc>
                <a:spcPts val="1305"/>
              </a:lnSpc>
              <a:buNone/>
            </a:pPr>
            <a:r>
              <a:rPr lang="en-US" sz="900" dirty="0">
                <a:solidFill>
                  <a:srgbClr val="93C5FD"/>
                </a:solidFill>
                <a:latin typeface="Courier New" pitchFamily="34" charset="0"/>
                <a:ea typeface="Courier New" pitchFamily="34" charset="-122"/>
                <a:cs typeface="Courier New" pitchFamily="34" charset="-120"/>
              </a:rPr>
              <a:t>false</a:t>
            </a:r>
            <a:endParaRPr lang="en-US" sz="900" dirty="0"/>
          </a:p>
        </p:txBody>
      </p:sp>
      <p:sp>
        <p:nvSpPr>
          <p:cNvPr id="47" name="Text 45"/>
          <p:cNvSpPr/>
          <p:nvPr/>
        </p:nvSpPr>
        <p:spPr>
          <a:xfrm>
            <a:off x="2157413" y="5726720"/>
            <a:ext cx="2777490" cy="91440"/>
          </a:xfrm>
          <a:prstGeom prst="rect">
            <a:avLst/>
          </a:prstGeom>
          <a:noFill/>
          <a:ln/>
        </p:spPr>
        <p:txBody>
          <a:bodyPr wrap="none" lIns="0" tIns="0" rIns="0" bIns="0" rtlCol="0" anchor="t"/>
          <a:lstStyle/>
          <a:p>
            <a:pPr marL="0" indent="0" algn="l">
              <a:lnSpc>
                <a:spcPts val="1305"/>
              </a:lnSpc>
              <a:buNone/>
            </a:pPr>
            <a:r>
              <a:rPr lang="en-US" sz="900" i="1" dirty="0">
                <a:solidFill>
                  <a:srgbClr val="94A3B8"/>
                </a:solidFill>
                <a:latin typeface="Courier New" pitchFamily="34" charset="0"/>
                <a:ea typeface="Courier New" pitchFamily="34" charset="-122"/>
                <a:cs typeface="Courier New" pitchFamily="34" charset="-120"/>
              </a:rPr>
              <a:t># read-only command, never "changes" anything</a:t>
            </a:r>
            <a:endParaRPr lang="en-US" sz="900" dirty="0"/>
          </a:p>
        </p:txBody>
      </p:sp>
      <p:sp>
        <p:nvSpPr>
          <p:cNvPr id="48" name="Text 46"/>
          <p:cNvSpPr/>
          <p:nvPr/>
        </p:nvSpPr>
        <p:spPr>
          <a:xfrm>
            <a:off x="900113" y="6058012"/>
            <a:ext cx="457200" cy="91440"/>
          </a:xfrm>
          <a:prstGeom prst="rect">
            <a:avLst/>
          </a:prstGeom>
          <a:noFill/>
          <a:ln/>
        </p:spPr>
        <p:txBody>
          <a:bodyPr wrap="none" lIns="0" tIns="0" rIns="0" bIns="0" rtlCol="0" anchor="t"/>
          <a:lstStyle/>
          <a:p>
            <a:pPr marL="0" indent="0" algn="l">
              <a:lnSpc>
                <a:spcPts val="1305"/>
              </a:lnSpc>
              <a:buNone/>
            </a:pPr>
            <a:r>
              <a:rPr lang="en-US" sz="900" dirty="0">
                <a:solidFill>
                  <a:srgbClr val="FBA74A"/>
                </a:solidFill>
                <a:latin typeface="Courier New" pitchFamily="34" charset="0"/>
                <a:ea typeface="Courier New" pitchFamily="34" charset="-122"/>
                <a:cs typeface="Courier New" pitchFamily="34" charset="-120"/>
              </a:rPr>
              <a:t>name:</a:t>
            </a:r>
            <a:endParaRPr lang="en-US" sz="900" dirty="0"/>
          </a:p>
        </p:txBody>
      </p:sp>
      <p:sp>
        <p:nvSpPr>
          <p:cNvPr id="49" name="Text 47"/>
          <p:cNvSpPr/>
          <p:nvPr/>
        </p:nvSpPr>
        <p:spPr>
          <a:xfrm>
            <a:off x="1243013" y="6058012"/>
            <a:ext cx="1357313" cy="91440"/>
          </a:xfrm>
          <a:prstGeom prst="rect">
            <a:avLst/>
          </a:prstGeom>
          <a:noFill/>
          <a:ln/>
        </p:spPr>
        <p:txBody>
          <a:bodyPr wrap="none" lIns="0" tIns="0" rIns="0" bIns="0" rtlCol="0" anchor="t"/>
          <a:lstStyle/>
          <a:p>
            <a:pPr marL="0" indent="0" algn="l">
              <a:lnSpc>
                <a:spcPts val="1305"/>
              </a:lnSpc>
              <a:buNone/>
            </a:pPr>
            <a:r>
              <a:rPr lang="en-US" sz="900" dirty="0">
                <a:solidFill>
                  <a:srgbClr val="86EFAC"/>
                </a:solidFill>
                <a:latin typeface="Courier New" pitchFamily="34" charset="0"/>
                <a:ea typeface="Courier New" pitchFamily="34" charset="-122"/>
                <a:cs typeface="Courier New" pitchFamily="34" charset="-120"/>
              </a:rPr>
              <a:t>Report nginx status</a:t>
            </a:r>
            <a:endParaRPr lang="en-US" sz="900" dirty="0"/>
          </a:p>
        </p:txBody>
      </p:sp>
      <p:sp>
        <p:nvSpPr>
          <p:cNvPr id="50" name="Text 48"/>
          <p:cNvSpPr/>
          <p:nvPr/>
        </p:nvSpPr>
        <p:spPr>
          <a:xfrm>
            <a:off x="900113" y="6223657"/>
            <a:ext cx="490347" cy="91440"/>
          </a:xfrm>
          <a:prstGeom prst="rect">
            <a:avLst/>
          </a:prstGeom>
          <a:noFill/>
          <a:ln/>
        </p:spPr>
        <p:txBody>
          <a:bodyPr wrap="none" lIns="0" tIns="0" rIns="0" bIns="0" rtlCol="0" anchor="t"/>
          <a:lstStyle/>
          <a:p>
            <a:pPr marL="0" indent="0" algn="l">
              <a:lnSpc>
                <a:spcPts val="1305"/>
              </a:lnSpc>
              <a:buNone/>
            </a:pPr>
            <a:r>
              <a:rPr lang="en-US" sz="900" dirty="0">
                <a:solidFill>
                  <a:srgbClr val="FBA74A"/>
                </a:solidFill>
                <a:latin typeface="Courier New" pitchFamily="34" charset="0"/>
                <a:ea typeface="Courier New" pitchFamily="34" charset="-122"/>
                <a:cs typeface="Courier New" pitchFamily="34" charset="-120"/>
              </a:rPr>
              <a:t>debug:</a:t>
            </a:r>
            <a:endParaRPr lang="en-US" sz="900" dirty="0"/>
          </a:p>
        </p:txBody>
      </p:sp>
      <p:sp>
        <p:nvSpPr>
          <p:cNvPr id="51" name="Text 49"/>
          <p:cNvSpPr/>
          <p:nvPr/>
        </p:nvSpPr>
        <p:spPr>
          <a:xfrm>
            <a:off x="1014413" y="6389303"/>
            <a:ext cx="365760" cy="91440"/>
          </a:xfrm>
          <a:prstGeom prst="rect">
            <a:avLst/>
          </a:prstGeom>
          <a:noFill/>
          <a:ln/>
        </p:spPr>
        <p:txBody>
          <a:bodyPr wrap="none" lIns="0" tIns="0" rIns="0" bIns="0" rtlCol="0" anchor="t"/>
          <a:lstStyle/>
          <a:p>
            <a:pPr marL="0" indent="0" algn="l">
              <a:lnSpc>
                <a:spcPts val="1305"/>
              </a:lnSpc>
              <a:buNone/>
            </a:pPr>
            <a:r>
              <a:rPr lang="en-US" sz="900" dirty="0">
                <a:solidFill>
                  <a:srgbClr val="FBA74A"/>
                </a:solidFill>
                <a:latin typeface="Courier New" pitchFamily="34" charset="0"/>
                <a:ea typeface="Courier New" pitchFamily="34" charset="-122"/>
                <a:cs typeface="Courier New" pitchFamily="34" charset="-120"/>
              </a:rPr>
              <a:t>msg:</a:t>
            </a:r>
            <a:endParaRPr lang="en-US" sz="900" dirty="0"/>
          </a:p>
        </p:txBody>
      </p:sp>
      <p:sp>
        <p:nvSpPr>
          <p:cNvPr id="52" name="Text 50"/>
          <p:cNvSpPr/>
          <p:nvPr/>
        </p:nvSpPr>
        <p:spPr>
          <a:xfrm>
            <a:off x="1300163" y="6389303"/>
            <a:ext cx="2221992" cy="91440"/>
          </a:xfrm>
          <a:prstGeom prst="rect">
            <a:avLst/>
          </a:prstGeom>
          <a:noFill/>
          <a:ln/>
        </p:spPr>
        <p:txBody>
          <a:bodyPr wrap="none" lIns="0" tIns="0" rIns="0" bIns="0" rtlCol="0" anchor="t"/>
          <a:lstStyle/>
          <a:p>
            <a:pPr marL="0" indent="0" algn="l">
              <a:lnSpc>
                <a:spcPts val="1305"/>
              </a:lnSpc>
              <a:buNone/>
            </a:pPr>
            <a:r>
              <a:rPr lang="en-US" sz="900" dirty="0">
                <a:solidFill>
                  <a:srgbClr val="86EFAC"/>
                </a:solidFill>
                <a:latin typeface="Courier New" pitchFamily="34" charset="0"/>
                <a:ea typeface="Courier New" pitchFamily="34" charset="-122"/>
                <a:cs typeface="Courier New" pitchFamily="34" charset="-120"/>
              </a:rPr>
              <a:t>"nginx is {{ nginx_status.stdout }}"</a:t>
            </a:r>
            <a:endParaRPr lang="en-US" sz="900" dirty="0"/>
          </a:p>
        </p:txBody>
      </p:sp>
      <p:sp>
        <p:nvSpPr>
          <p:cNvPr id="53" name="Text 51"/>
          <p:cNvSpPr/>
          <p:nvPr/>
        </p:nvSpPr>
        <p:spPr>
          <a:xfrm>
            <a:off x="403622" y="5042706"/>
            <a:ext cx="8336756" cy="300038"/>
          </a:xfrm>
          <a:prstGeom prst="roundRect">
            <a:avLst>
              <a:gd name="adj" fmla="val 25397"/>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54" name="Text 52"/>
          <p:cNvSpPr/>
          <p:nvPr/>
        </p:nvSpPr>
        <p:spPr>
          <a:xfrm>
            <a:off x="521494" y="5139147"/>
            <a:ext cx="107156" cy="91440"/>
          </a:xfrm>
          <a:prstGeom prst="rect">
            <a:avLst/>
          </a:prstGeom>
          <a:noFill/>
          <a:ln/>
        </p:spPr>
        <p:txBody>
          <a:bodyPr wrap="none" lIns="0" tIns="0" rIns="0" bIns="0" rtlCol="0" anchor="ctr"/>
          <a:lstStyle/>
          <a:p>
            <a:pPr marL="0" indent="0" algn="ctr">
              <a:buNone/>
            </a:pPr>
            <a:r>
              <a:rPr lang="en-US" sz="1055" dirty="0">
                <a:solidFill>
                  <a:srgbClr val="F97316"/>
                </a:solidFill>
                <a:latin typeface="Segoe UI Symbol" pitchFamily="34" charset="0"/>
                <a:ea typeface="Segoe UI Symbol" pitchFamily="34" charset="-122"/>
                <a:cs typeface="Segoe UI Symbol" pitchFamily="34" charset="-120"/>
              </a:rPr>
              <a:t>◆</a:t>
            </a:r>
            <a:endParaRPr lang="en-US" sz="1055" dirty="0"/>
          </a:p>
        </p:txBody>
      </p:sp>
      <p:sp>
        <p:nvSpPr>
          <p:cNvPr id="55" name="Text 53"/>
          <p:cNvSpPr/>
          <p:nvPr/>
        </p:nvSpPr>
        <p:spPr>
          <a:xfrm>
            <a:off x="4248634" y="5124859"/>
            <a:ext cx="953691" cy="135731"/>
          </a:xfrm>
          <a:prstGeom prst="roundRect">
            <a:avLst>
              <a:gd name="adj" fmla="val 28070"/>
            </a:avLst>
          </a:prstGeom>
          <a:solidFill>
            <a:srgbClr val="F1F5F9"/>
          </a:solidFill>
          <a:ln/>
        </p:spPr>
        <p:txBody>
          <a:bodyPr wrap="square" rtlCol="0" anchor="ctr"/>
          <a:lstStyle/>
          <a:p>
            <a:pPr marL="0" indent="0">
              <a:buNone/>
            </a:pPr>
            <a:endParaRPr lang="en-US" dirty="0"/>
          </a:p>
        </p:txBody>
      </p:sp>
      <p:sp>
        <p:nvSpPr>
          <p:cNvPr id="56" name="Text 54"/>
          <p:cNvSpPr/>
          <p:nvPr/>
        </p:nvSpPr>
        <p:spPr>
          <a:xfrm>
            <a:off x="700088" y="5117716"/>
            <a:ext cx="7922419" cy="91440"/>
          </a:xfrm>
          <a:prstGeom prst="rect">
            <a:avLst/>
          </a:prstGeom>
          <a:noFill/>
          <a:ln/>
        </p:spPr>
        <p:txBody>
          <a:bodyPr wrap="square" lIns="0" tIns="0" rIns="0" bIns="0" rtlCol="0" anchor="t"/>
          <a:lstStyle/>
          <a:p>
            <a:pPr marL="0" indent="0" algn="l">
              <a:lnSpc>
                <a:spcPts val="1181"/>
              </a:lnSpc>
              <a:buNone/>
            </a:pPr>
            <a:r>
              <a:rPr lang="en-US" sz="844" b="1" dirty="0">
                <a:solidFill>
                  <a:srgbClr val="C2410C"/>
                </a:solidFill>
                <a:latin typeface="Carlito" pitchFamily="34" charset="0"/>
                <a:ea typeface="Carlito" pitchFamily="34" charset="-122"/>
                <a:cs typeface="Carlito" pitchFamily="34" charset="-120"/>
              </a:rPr>
              <a:t>Loop</a:t>
            </a:r>
            <a:r>
              <a:rPr lang="en-US" sz="844" dirty="0">
                <a:solidFill>
                  <a:srgbClr val="0F172A"/>
                </a:solidFill>
                <a:latin typeface="Carlito" pitchFamily="34" charset="0"/>
                <a:ea typeface="Carlito" pitchFamily="34" charset="-122"/>
                <a:cs typeface="Carlito" pitchFamily="34" charset="-120"/>
              </a:rPr>
              <a:t> iterates a list. </a:t>
            </a:r>
            <a:r>
              <a:rPr lang="en-US" sz="844" b="1" dirty="0">
                <a:solidFill>
                  <a:srgbClr val="C2410C"/>
                </a:solidFill>
                <a:latin typeface="Carlito" pitchFamily="34" charset="0"/>
                <a:ea typeface="Carlito" pitchFamily="34" charset="-122"/>
                <a:cs typeface="Carlito" pitchFamily="34" charset="-120"/>
              </a:rPr>
              <a:t>When</a:t>
            </a:r>
            <a:r>
              <a:rPr lang="en-US" sz="844" dirty="0">
                <a:solidFill>
                  <a:srgbClr val="0F172A"/>
                </a:solidFill>
                <a:latin typeface="Carlito" pitchFamily="34" charset="0"/>
                <a:ea typeface="Carlito" pitchFamily="34" charset="-122"/>
                <a:cs typeface="Carlito" pitchFamily="34" charset="-120"/>
              </a:rPr>
              <a:t> gates a task on a fact. </a:t>
            </a:r>
            <a:r>
              <a:rPr lang="en-US" sz="844" b="1" dirty="0">
                <a:solidFill>
                  <a:srgbClr val="C2410C"/>
                </a:solidFill>
                <a:latin typeface="Carlito" pitchFamily="34" charset="0"/>
                <a:ea typeface="Carlito" pitchFamily="34" charset="-122"/>
                <a:cs typeface="Carlito" pitchFamily="34" charset="-120"/>
              </a:rPr>
              <a:t>Register</a:t>
            </a:r>
            <a:r>
              <a:rPr lang="en-US" sz="844" dirty="0">
                <a:solidFill>
                  <a:srgbClr val="0F172A"/>
                </a:solidFill>
                <a:latin typeface="Carlito" pitchFamily="34" charset="0"/>
                <a:ea typeface="Carlito" pitchFamily="34" charset="-122"/>
                <a:cs typeface="Carlito" pitchFamily="34" charset="-120"/>
              </a:rPr>
              <a:t> captures output. </a:t>
            </a:r>
            <a:r>
              <a:rPr lang="en-US" sz="800" dirty="0">
                <a:solidFill>
                  <a:srgbClr val="0F172A"/>
                </a:solidFill>
                <a:highlight>
                  <a:srgbClr val="F1F5F9"/>
                </a:highlight>
                <a:latin typeface="Courier New" pitchFamily="34" charset="0"/>
                <a:ea typeface="Courier New" pitchFamily="34" charset="-122"/>
                <a:cs typeface="Courier New" pitchFamily="34" charset="-120"/>
              </a:rPr>
              <a:t>changed_when: false</a:t>
            </a:r>
            <a:r>
              <a:rPr lang="en-US" sz="844" dirty="0">
                <a:solidFill>
                  <a:srgbClr val="0F172A"/>
                </a:solidFill>
                <a:latin typeface="Carlito" pitchFamily="34" charset="0"/>
                <a:ea typeface="Carlito" pitchFamily="34" charset="-122"/>
                <a:cs typeface="Carlito" pitchFamily="34" charset="-120"/>
              </a:rPr>
              <a:t> marks a read-only command as never-changed.</a:t>
            </a:r>
            <a:endParaRPr lang="en-US" sz="844"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28625" y="342900"/>
            <a:ext cx="5449487" cy="339471"/>
          </a:xfrm>
          <a:prstGeom prst="rect">
            <a:avLst/>
          </a:prstGeom>
          <a:noFill/>
          <a:ln/>
        </p:spPr>
        <p:txBody>
          <a:bodyPr wrap="square" lIns="0" tIns="0" rIns="0" bIns="0" rtlCol="0" anchor="t"/>
          <a:lstStyle/>
          <a:p>
            <a:pPr marL="0" indent="0" algn="l">
              <a:lnSpc>
                <a:spcPts val="2475"/>
              </a:lnSpc>
              <a:buNone/>
            </a:pPr>
            <a:r>
              <a:rPr lang="en-US" sz="2250" b="1" dirty="0">
                <a:solidFill>
                  <a:srgbClr val="0F172A"/>
                </a:solidFill>
                <a:latin typeface="Carlito" pitchFamily="34" charset="0"/>
                <a:ea typeface="Carlito" pitchFamily="34" charset="-122"/>
                <a:cs typeface="Carlito" pitchFamily="34" charset="-120"/>
              </a:rPr>
              <a:t>Ansible Modules — The Building Blocks</a:t>
            </a:r>
            <a:endParaRPr lang="en-US" sz="2250" dirty="0"/>
          </a:p>
        </p:txBody>
      </p:sp>
      <p:sp>
        <p:nvSpPr>
          <p:cNvPr id="3" name="Text 1"/>
          <p:cNvSpPr/>
          <p:nvPr/>
        </p:nvSpPr>
        <p:spPr>
          <a:xfrm>
            <a:off x="428625" y="728663"/>
            <a:ext cx="571500" cy="42863"/>
          </a:xfrm>
          <a:prstGeom prst="roundRect">
            <a:avLst>
              <a:gd name="adj" fmla="val 66666"/>
            </a:avLst>
          </a:prstGeom>
          <a:solidFill>
            <a:srgbClr val="F97316"/>
          </a:solidFill>
          <a:ln/>
        </p:spPr>
        <p:txBody>
          <a:bodyPr wrap="square" rtlCol="0" anchor="ctr"/>
          <a:lstStyle/>
          <a:p>
            <a:pPr marL="0" indent="0">
              <a:buNone/>
            </a:pPr>
            <a:endParaRPr lang="en-US" dirty="0"/>
          </a:p>
        </p:txBody>
      </p:sp>
      <p:sp>
        <p:nvSpPr>
          <p:cNvPr id="4" name="Text 2"/>
          <p:cNvSpPr/>
          <p:nvPr/>
        </p:nvSpPr>
        <p:spPr>
          <a:xfrm>
            <a:off x="428625" y="814388"/>
            <a:ext cx="4954079" cy="194328"/>
          </a:xfrm>
          <a:prstGeom prst="rect">
            <a:avLst/>
          </a:prstGeom>
          <a:noFill/>
          <a:ln/>
        </p:spPr>
        <p:txBody>
          <a:bodyPr wrap="square" lIns="0" tIns="0" rIns="0" bIns="0" rtlCol="0" anchor="t"/>
          <a:lstStyle/>
          <a:p>
            <a:pPr marL="0" indent="0" algn="l">
              <a:lnSpc>
                <a:spcPts val="1418"/>
              </a:lnSpc>
              <a:buNone/>
            </a:pPr>
            <a:r>
              <a:rPr lang="en-US" sz="1013" dirty="0">
                <a:solidFill>
                  <a:srgbClr val="64748B"/>
                </a:solidFill>
                <a:latin typeface="Carlito" pitchFamily="34" charset="0"/>
                <a:ea typeface="Carlito" pitchFamily="34" charset="-122"/>
                <a:cs typeface="Carlito" pitchFamily="34" charset="-120"/>
              </a:rPr>
              <a:t>5,000+ modules. These are the 6 families you will use 90% of the time.</a:t>
            </a:r>
            <a:endParaRPr lang="en-US" sz="1013" dirty="0"/>
          </a:p>
        </p:txBody>
      </p:sp>
      <p:sp>
        <p:nvSpPr>
          <p:cNvPr id="5" name="Text 3"/>
          <p:cNvSpPr/>
          <p:nvPr/>
        </p:nvSpPr>
        <p:spPr>
          <a:xfrm>
            <a:off x="7513796" y="330098"/>
            <a:ext cx="1224439" cy="331333"/>
          </a:xfrm>
          <a:prstGeom prst="roundRect">
            <a:avLst>
              <a:gd name="adj" fmla="val 2871877"/>
            </a:avLst>
          </a:prstGeom>
          <a:solidFill>
            <a:srgbClr val="0F172A"/>
          </a:solidFill>
          <a:ln/>
        </p:spPr>
        <p:txBody>
          <a:bodyPr wrap="square" rtlCol="0" anchor="ctr"/>
          <a:lstStyle/>
          <a:p>
            <a:pPr marL="0" indent="0">
              <a:buNone/>
            </a:pPr>
            <a:endParaRPr lang="en-US" dirty="0"/>
          </a:p>
        </p:txBody>
      </p:sp>
      <p:sp>
        <p:nvSpPr>
          <p:cNvPr id="6" name="Text 4"/>
          <p:cNvSpPr/>
          <p:nvPr/>
        </p:nvSpPr>
        <p:spPr>
          <a:xfrm>
            <a:off x="7536656" y="342900"/>
            <a:ext cx="1178719" cy="305730"/>
          </a:xfrm>
          <a:prstGeom prst="rect">
            <a:avLst/>
          </a:prstGeom>
          <a:noFill/>
          <a:ln/>
        </p:spPr>
        <p:txBody>
          <a:bodyPr wrap="none" lIns="0" tIns="0" rIns="0" bIns="0" rtlCol="0" anchor="ctr"/>
          <a:lstStyle/>
          <a:p>
            <a:pPr marL="0" indent="0" algn="ctr">
              <a:lnSpc>
                <a:spcPts val="1733"/>
              </a:lnSpc>
              <a:buNone/>
            </a:pPr>
            <a:r>
              <a:rPr lang="en-US" sz="1238" b="1" kern="0" spc="28" dirty="0">
                <a:solidFill>
                  <a:srgbClr val="FFFFFF"/>
                </a:solidFill>
                <a:latin typeface="Liberation Sans Narrow" pitchFamily="34" charset="0"/>
                <a:ea typeface="Liberation Sans Narrow" pitchFamily="34" charset="-122"/>
                <a:cs typeface="Liberation Sans Narrow" pitchFamily="34" charset="-120"/>
              </a:rPr>
              <a:t>02 · Modules</a:t>
            </a:r>
            <a:endParaRPr lang="en-US" sz="1238" dirty="0"/>
          </a:p>
        </p:txBody>
      </p:sp>
      <p:sp>
        <p:nvSpPr>
          <p:cNvPr id="7" name="Text 5"/>
          <p:cNvSpPr/>
          <p:nvPr/>
        </p:nvSpPr>
        <p:spPr>
          <a:xfrm>
            <a:off x="432197" y="1097905"/>
            <a:ext cx="2688394" cy="1563812"/>
          </a:xfrm>
          <a:prstGeom prst="roundRect">
            <a:avLst>
              <a:gd name="adj" fmla="val 8527"/>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8" name="Text 6"/>
          <p:cNvSpPr/>
          <p:nvPr/>
        </p:nvSpPr>
        <p:spPr>
          <a:xfrm>
            <a:off x="564356" y="1215777"/>
            <a:ext cx="560784" cy="162855"/>
          </a:xfrm>
          <a:prstGeom prst="rect">
            <a:avLst/>
          </a:prstGeom>
          <a:noFill/>
          <a:ln/>
        </p:spPr>
        <p:txBody>
          <a:bodyPr wrap="none" lIns="0" tIns="0" rIns="0" bIns="0" rtlCol="0" anchor="ctr"/>
          <a:lstStyle/>
          <a:p>
            <a:pPr marL="0" indent="0" algn="ctr">
              <a:buNone/>
            </a:pPr>
            <a:r>
              <a:rPr lang="en-US" sz="844" dirty="0">
                <a:solidFill>
                  <a:srgbClr val="C2410C"/>
                </a:solidFill>
                <a:latin typeface="Segoe UI Symbol" pitchFamily="34" charset="0"/>
                <a:ea typeface="Segoe UI Symbol" pitchFamily="34" charset="-122"/>
                <a:cs typeface="Segoe UI Symbol" pitchFamily="34" charset="-120"/>
              </a:rPr>
              <a:t>✚</a:t>
            </a:r>
            <a:endParaRPr lang="en-US" sz="844" dirty="0"/>
          </a:p>
        </p:txBody>
      </p:sp>
      <p:sp>
        <p:nvSpPr>
          <p:cNvPr id="9" name="Text 7"/>
          <p:cNvSpPr/>
          <p:nvPr/>
        </p:nvSpPr>
        <p:spPr>
          <a:xfrm>
            <a:off x="564356" y="1435782"/>
            <a:ext cx="200025" cy="200025"/>
          </a:xfrm>
          <a:prstGeom prst="rect">
            <a:avLst/>
          </a:prstGeom>
          <a:noFill/>
          <a:ln/>
        </p:spPr>
        <p:txBody>
          <a:bodyPr wrap="none" lIns="0" tIns="0" rIns="0" bIns="0" rtlCol="0" anchor="ctr"/>
          <a:lstStyle/>
          <a:p>
            <a:pPr marL="0" indent="0" algn="ctr">
              <a:buNone/>
            </a:pPr>
            <a:r>
              <a:rPr lang="en-US" sz="1969" dirty="0">
                <a:solidFill>
                  <a:srgbClr val="0F172A"/>
                </a:solidFill>
                <a:latin typeface="Segoe UI Symbol" pitchFamily="34" charset="0"/>
                <a:ea typeface="Segoe UI Symbol" pitchFamily="34" charset="-122"/>
                <a:cs typeface="Segoe UI Symbol" pitchFamily="34" charset="-120"/>
              </a:rPr>
              <a:t>▣</a:t>
            </a:r>
            <a:endParaRPr lang="en-US" sz="1969" dirty="0"/>
          </a:p>
        </p:txBody>
      </p:sp>
      <p:sp>
        <p:nvSpPr>
          <p:cNvPr id="10" name="Text 8"/>
          <p:cNvSpPr/>
          <p:nvPr/>
        </p:nvSpPr>
        <p:spPr>
          <a:xfrm>
            <a:off x="564356" y="1678670"/>
            <a:ext cx="2424075" cy="225390"/>
          </a:xfrm>
          <a:prstGeom prst="rect">
            <a:avLst/>
          </a:prstGeom>
          <a:noFill/>
          <a:ln/>
        </p:spPr>
        <p:txBody>
          <a:bodyPr wrap="none" lIns="0" tIns="0" rIns="0" bIns="0" rtlCol="0" anchor="t">
            <a:normAutofit/>
          </a:bodyPr>
          <a:lstStyle/>
          <a:p>
            <a:pPr marL="0" indent="0" algn="l">
              <a:lnSpc>
                <a:spcPts val="1654"/>
              </a:lnSpc>
              <a:buNone/>
            </a:pPr>
            <a:r>
              <a:rPr lang="en-US" sz="1181" b="1" dirty="0">
                <a:solidFill>
                  <a:srgbClr val="0F172A"/>
                </a:solidFill>
                <a:latin typeface="Carlito" pitchFamily="34" charset="0"/>
                <a:ea typeface="Carlito" pitchFamily="34" charset="-122"/>
                <a:cs typeface="Carlito" pitchFamily="34" charset="-120"/>
              </a:rPr>
              <a:t>Package Management</a:t>
            </a:r>
            <a:endParaRPr lang="en-US" sz="1181" dirty="0"/>
          </a:p>
        </p:txBody>
      </p:sp>
      <p:sp>
        <p:nvSpPr>
          <p:cNvPr id="11" name="Text 9"/>
          <p:cNvSpPr/>
          <p:nvPr/>
        </p:nvSpPr>
        <p:spPr>
          <a:xfrm>
            <a:off x="564356" y="1938635"/>
            <a:ext cx="1371600" cy="135731"/>
          </a:xfrm>
          <a:prstGeom prst="roundRect">
            <a:avLst>
              <a:gd name="adj" fmla="val 28070"/>
            </a:avLst>
          </a:prstGeom>
          <a:solidFill>
            <a:srgbClr val="F1F5F9"/>
          </a:solidFill>
          <a:ln/>
        </p:spPr>
        <p:txBody>
          <a:bodyPr wrap="square" rtlCol="0" anchor="ctr"/>
          <a:lstStyle/>
          <a:p>
            <a:pPr marL="0" indent="0">
              <a:buNone/>
            </a:pPr>
            <a:endParaRPr lang="en-US" dirty="0"/>
          </a:p>
        </p:txBody>
      </p:sp>
      <p:sp>
        <p:nvSpPr>
          <p:cNvPr id="12" name="Text 10"/>
          <p:cNvSpPr/>
          <p:nvPr/>
        </p:nvSpPr>
        <p:spPr>
          <a:xfrm>
            <a:off x="564356" y="1931491"/>
            <a:ext cx="2424075" cy="486061"/>
          </a:xfrm>
          <a:prstGeom prst="rect">
            <a:avLst/>
          </a:prstGeom>
          <a:noFill/>
          <a:ln/>
        </p:spPr>
        <p:txBody>
          <a:bodyPr wrap="square" lIns="0" tIns="0" rIns="0" bIns="0" rtlCol="0" anchor="t"/>
          <a:lstStyle/>
          <a:p>
            <a:pPr marL="0" indent="0" algn="l">
              <a:lnSpc>
                <a:spcPts val="1181"/>
              </a:lnSpc>
              <a:buNone/>
            </a:pPr>
            <a:r>
              <a:rPr lang="en-US" sz="800" dirty="0">
                <a:solidFill>
                  <a:srgbClr val="0F172A"/>
                </a:solidFill>
                <a:highlight>
                  <a:srgbClr val="F1F5F9"/>
                </a:highlight>
                <a:latin typeface="Courier New" pitchFamily="34" charset="0"/>
                <a:ea typeface="Courier New" pitchFamily="34" charset="-122"/>
                <a:cs typeface="Courier New" pitchFamily="34" charset="-120"/>
              </a:rPr>
              <a:t>apt, yum, dnf, pip, npm, gem</a:t>
            </a:r>
            <a:r>
              <a:rPr lang="en-US" sz="844" dirty="0">
                <a:solidFill>
                  <a:srgbClr val="334155"/>
                </a:solidFill>
                <a:latin typeface="Carlito" pitchFamily="34" charset="0"/>
                <a:ea typeface="Carlito" pitchFamily="34" charset="-122"/>
                <a:cs typeface="Carlito" pitchFamily="34" charset="-120"/>
              </a:rPr>
              <a:t>. Install / remove / upgrade packages. </a:t>
            </a:r>
            <a:r>
              <a:rPr lang="en-US" sz="844" b="1" dirty="0">
                <a:solidFill>
                  <a:srgbClr val="0F172A"/>
                </a:solidFill>
                <a:latin typeface="Carlito" pitchFamily="34" charset="0"/>
                <a:ea typeface="Carlito" pitchFamily="34" charset="-122"/>
                <a:cs typeface="Carlito" pitchFamily="34" charset="-120"/>
              </a:rPr>
              <a:t>Idempotent</a:t>
            </a:r>
            <a:r>
              <a:rPr lang="en-US" sz="844" dirty="0">
                <a:solidFill>
                  <a:srgbClr val="334155"/>
                </a:solidFill>
                <a:latin typeface="Carlito" pitchFamily="34" charset="0"/>
                <a:ea typeface="Carlito" pitchFamily="34" charset="-122"/>
                <a:cs typeface="Carlito" pitchFamily="34" charset="-120"/>
              </a:rPr>
              <a:t> — running twice does nothing.</a:t>
            </a:r>
            <a:endParaRPr lang="en-US" sz="844" dirty="0"/>
          </a:p>
        </p:txBody>
      </p:sp>
      <p:sp>
        <p:nvSpPr>
          <p:cNvPr id="13" name="Text 11"/>
          <p:cNvSpPr/>
          <p:nvPr/>
        </p:nvSpPr>
        <p:spPr>
          <a:xfrm>
            <a:off x="3227747" y="1097905"/>
            <a:ext cx="2688394" cy="1563812"/>
          </a:xfrm>
          <a:prstGeom prst="roundRect">
            <a:avLst>
              <a:gd name="adj" fmla="val 8527"/>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14" name="Text 12"/>
          <p:cNvSpPr/>
          <p:nvPr/>
        </p:nvSpPr>
        <p:spPr>
          <a:xfrm>
            <a:off x="3359907" y="1215777"/>
            <a:ext cx="560784" cy="162855"/>
          </a:xfrm>
          <a:prstGeom prst="rect">
            <a:avLst/>
          </a:prstGeom>
          <a:noFill/>
          <a:ln/>
        </p:spPr>
        <p:txBody>
          <a:bodyPr wrap="none" lIns="0" tIns="0" rIns="0" bIns="0" rtlCol="0" anchor="ctr"/>
          <a:lstStyle/>
          <a:p>
            <a:pPr marL="0" indent="0" algn="ctr">
              <a:buNone/>
            </a:pPr>
            <a:r>
              <a:rPr lang="en-US" sz="844" dirty="0">
                <a:solidFill>
                  <a:srgbClr val="C2410C"/>
                </a:solidFill>
                <a:latin typeface="Segoe UI Symbol" pitchFamily="34" charset="0"/>
                <a:ea typeface="Segoe UI Symbol" pitchFamily="34" charset="-122"/>
                <a:cs typeface="Segoe UI Symbol" pitchFamily="34" charset="-120"/>
              </a:rPr>
              <a:t>✚</a:t>
            </a:r>
            <a:endParaRPr lang="en-US" sz="844" dirty="0"/>
          </a:p>
        </p:txBody>
      </p:sp>
      <p:sp>
        <p:nvSpPr>
          <p:cNvPr id="15" name="Text 13"/>
          <p:cNvSpPr/>
          <p:nvPr/>
        </p:nvSpPr>
        <p:spPr>
          <a:xfrm>
            <a:off x="3359907" y="1435782"/>
            <a:ext cx="200025" cy="200025"/>
          </a:xfrm>
          <a:prstGeom prst="rect">
            <a:avLst/>
          </a:prstGeom>
          <a:noFill/>
          <a:ln/>
        </p:spPr>
        <p:txBody>
          <a:bodyPr wrap="none" lIns="0" tIns="0" rIns="0" bIns="0" rtlCol="0" anchor="ctr"/>
          <a:lstStyle/>
          <a:p>
            <a:pPr marL="0" indent="0" algn="ctr">
              <a:buNone/>
            </a:pPr>
            <a:r>
              <a:rPr lang="en-US" sz="1969" dirty="0">
                <a:solidFill>
                  <a:srgbClr val="0F172A"/>
                </a:solidFill>
                <a:latin typeface="Segoe UI Symbol" pitchFamily="34" charset="0"/>
                <a:ea typeface="Segoe UI Symbol" pitchFamily="34" charset="-122"/>
                <a:cs typeface="Segoe UI Symbol" pitchFamily="34" charset="-120"/>
              </a:rPr>
              <a:t>▣</a:t>
            </a:r>
            <a:endParaRPr lang="en-US" sz="1969" dirty="0"/>
          </a:p>
        </p:txBody>
      </p:sp>
      <p:sp>
        <p:nvSpPr>
          <p:cNvPr id="16" name="Text 14"/>
          <p:cNvSpPr/>
          <p:nvPr/>
        </p:nvSpPr>
        <p:spPr>
          <a:xfrm>
            <a:off x="3359907" y="1678670"/>
            <a:ext cx="2424075" cy="225390"/>
          </a:xfrm>
          <a:prstGeom prst="rect">
            <a:avLst/>
          </a:prstGeom>
          <a:noFill/>
          <a:ln/>
        </p:spPr>
        <p:txBody>
          <a:bodyPr wrap="none" lIns="0" tIns="0" rIns="0" bIns="0" rtlCol="0" anchor="t">
            <a:normAutofit/>
          </a:bodyPr>
          <a:lstStyle/>
          <a:p>
            <a:pPr marL="0" indent="0" algn="l">
              <a:lnSpc>
                <a:spcPts val="1654"/>
              </a:lnSpc>
              <a:buNone/>
            </a:pPr>
            <a:r>
              <a:rPr lang="en-US" sz="1181" b="1" dirty="0">
                <a:solidFill>
                  <a:srgbClr val="0F172A"/>
                </a:solidFill>
                <a:latin typeface="Carlito" pitchFamily="34" charset="0"/>
                <a:ea typeface="Carlito" pitchFamily="34" charset="-122"/>
                <a:cs typeface="Carlito" pitchFamily="34" charset="-120"/>
              </a:rPr>
              <a:t>File Operations</a:t>
            </a:r>
            <a:endParaRPr lang="en-US" sz="1181" dirty="0"/>
          </a:p>
        </p:txBody>
      </p:sp>
      <p:sp>
        <p:nvSpPr>
          <p:cNvPr id="17" name="Text 15"/>
          <p:cNvSpPr/>
          <p:nvPr/>
        </p:nvSpPr>
        <p:spPr>
          <a:xfrm>
            <a:off x="3359907" y="1938635"/>
            <a:ext cx="2171700" cy="285750"/>
          </a:xfrm>
          <a:prstGeom prst="roundRect">
            <a:avLst>
              <a:gd name="adj" fmla="val 13333"/>
            </a:avLst>
          </a:prstGeom>
          <a:solidFill>
            <a:srgbClr val="F1F5F9"/>
          </a:solidFill>
          <a:ln/>
        </p:spPr>
        <p:txBody>
          <a:bodyPr wrap="square" rtlCol="0" anchor="ctr"/>
          <a:lstStyle/>
          <a:p>
            <a:pPr marL="0" indent="0">
              <a:buNone/>
            </a:pPr>
            <a:endParaRPr lang="en-US" dirty="0"/>
          </a:p>
        </p:txBody>
      </p:sp>
      <p:sp>
        <p:nvSpPr>
          <p:cNvPr id="18" name="Text 16"/>
          <p:cNvSpPr/>
          <p:nvPr/>
        </p:nvSpPr>
        <p:spPr>
          <a:xfrm>
            <a:off x="3359907" y="1931491"/>
            <a:ext cx="2424075" cy="486061"/>
          </a:xfrm>
          <a:prstGeom prst="rect">
            <a:avLst/>
          </a:prstGeom>
          <a:noFill/>
          <a:ln/>
        </p:spPr>
        <p:txBody>
          <a:bodyPr wrap="square" lIns="0" tIns="0" rIns="0" bIns="0" rtlCol="0" anchor="t"/>
          <a:lstStyle/>
          <a:p>
            <a:pPr marL="0" indent="0" algn="l">
              <a:lnSpc>
                <a:spcPts val="1181"/>
              </a:lnSpc>
              <a:buNone/>
            </a:pPr>
            <a:r>
              <a:rPr lang="en-US" sz="800" dirty="0">
                <a:solidFill>
                  <a:srgbClr val="0F172A"/>
                </a:solidFill>
                <a:highlight>
                  <a:srgbClr val="F1F5F9"/>
                </a:highlight>
                <a:latin typeface="Courier New" pitchFamily="34" charset="0"/>
                <a:ea typeface="Courier New" pitchFamily="34" charset="-122"/>
                <a:cs typeface="Courier New" pitchFamily="34" charset="-120"/>
              </a:rPr>
              <a:t>copy, template, file, lineinfile, blockinfile, synchronize</a:t>
            </a:r>
            <a:r>
              <a:rPr lang="en-US" sz="844" dirty="0">
                <a:solidFill>
                  <a:srgbClr val="334155"/>
                </a:solidFill>
                <a:latin typeface="Carlito" pitchFamily="34" charset="0"/>
                <a:ea typeface="Carlito" pitchFamily="34" charset="-122"/>
                <a:cs typeface="Carlito" pitchFamily="34" charset="-120"/>
              </a:rPr>
              <a:t>. Copy files, render Jinja2 templates, manage permissions.</a:t>
            </a:r>
            <a:endParaRPr lang="en-US" sz="844" dirty="0"/>
          </a:p>
        </p:txBody>
      </p:sp>
      <p:sp>
        <p:nvSpPr>
          <p:cNvPr id="19" name="Text 17"/>
          <p:cNvSpPr/>
          <p:nvPr/>
        </p:nvSpPr>
        <p:spPr>
          <a:xfrm>
            <a:off x="6023297" y="1097905"/>
            <a:ext cx="2688506" cy="1563812"/>
          </a:xfrm>
          <a:prstGeom prst="roundRect">
            <a:avLst>
              <a:gd name="adj" fmla="val 8527"/>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20" name="Text 18"/>
          <p:cNvSpPr/>
          <p:nvPr/>
        </p:nvSpPr>
        <p:spPr>
          <a:xfrm>
            <a:off x="6155457" y="1215777"/>
            <a:ext cx="560784" cy="162855"/>
          </a:xfrm>
          <a:prstGeom prst="rect">
            <a:avLst/>
          </a:prstGeom>
          <a:noFill/>
          <a:ln/>
        </p:spPr>
        <p:txBody>
          <a:bodyPr wrap="none" lIns="0" tIns="0" rIns="0" bIns="0" rtlCol="0" anchor="ctr"/>
          <a:lstStyle/>
          <a:p>
            <a:pPr marL="0" indent="0" algn="ctr">
              <a:buNone/>
            </a:pPr>
            <a:r>
              <a:rPr lang="en-US" sz="844" dirty="0">
                <a:solidFill>
                  <a:srgbClr val="C2410C"/>
                </a:solidFill>
                <a:latin typeface="Segoe UI Symbol" pitchFamily="34" charset="0"/>
                <a:ea typeface="Segoe UI Symbol" pitchFamily="34" charset="-122"/>
                <a:cs typeface="Segoe UI Symbol" pitchFamily="34" charset="-120"/>
              </a:rPr>
              <a:t>✚</a:t>
            </a:r>
            <a:endParaRPr lang="en-US" sz="844" dirty="0"/>
          </a:p>
        </p:txBody>
      </p:sp>
      <p:sp>
        <p:nvSpPr>
          <p:cNvPr id="21" name="Text 19"/>
          <p:cNvSpPr/>
          <p:nvPr/>
        </p:nvSpPr>
        <p:spPr>
          <a:xfrm>
            <a:off x="6155457" y="1435782"/>
            <a:ext cx="200025" cy="200025"/>
          </a:xfrm>
          <a:prstGeom prst="rect">
            <a:avLst/>
          </a:prstGeom>
          <a:noFill/>
          <a:ln/>
        </p:spPr>
        <p:txBody>
          <a:bodyPr wrap="none" lIns="0" tIns="0" rIns="0" bIns="0" rtlCol="0" anchor="ctr"/>
          <a:lstStyle/>
          <a:p>
            <a:pPr marL="0" indent="0" algn="ctr">
              <a:buNone/>
            </a:pPr>
            <a:r>
              <a:rPr lang="en-US" sz="1969" dirty="0">
                <a:solidFill>
                  <a:srgbClr val="0F172A"/>
                </a:solidFill>
                <a:latin typeface="Segoe UI Symbol" pitchFamily="34" charset="0"/>
                <a:ea typeface="Segoe UI Symbol" pitchFamily="34" charset="-122"/>
                <a:cs typeface="Segoe UI Symbol" pitchFamily="34" charset="-120"/>
              </a:rPr>
              <a:t>⏻</a:t>
            </a:r>
            <a:endParaRPr lang="en-US" sz="1969" dirty="0"/>
          </a:p>
        </p:txBody>
      </p:sp>
      <p:sp>
        <p:nvSpPr>
          <p:cNvPr id="22" name="Text 20"/>
          <p:cNvSpPr/>
          <p:nvPr/>
        </p:nvSpPr>
        <p:spPr>
          <a:xfrm>
            <a:off x="6155457" y="1678670"/>
            <a:ext cx="2424187" cy="225390"/>
          </a:xfrm>
          <a:prstGeom prst="rect">
            <a:avLst/>
          </a:prstGeom>
          <a:noFill/>
          <a:ln/>
        </p:spPr>
        <p:txBody>
          <a:bodyPr wrap="none" lIns="0" tIns="0" rIns="0" bIns="0" rtlCol="0" anchor="t">
            <a:normAutofit/>
          </a:bodyPr>
          <a:lstStyle/>
          <a:p>
            <a:pPr marL="0" indent="0" algn="l">
              <a:lnSpc>
                <a:spcPts val="1654"/>
              </a:lnSpc>
              <a:buNone/>
            </a:pPr>
            <a:r>
              <a:rPr lang="en-US" sz="1181" b="1" dirty="0">
                <a:solidFill>
                  <a:srgbClr val="0F172A"/>
                </a:solidFill>
                <a:latin typeface="Carlito" pitchFamily="34" charset="0"/>
                <a:ea typeface="Carlito" pitchFamily="34" charset="-122"/>
                <a:cs typeface="Carlito" pitchFamily="34" charset="-120"/>
              </a:rPr>
              <a:t>Service Management</a:t>
            </a:r>
            <a:endParaRPr lang="en-US" sz="1181" dirty="0"/>
          </a:p>
        </p:txBody>
      </p:sp>
      <p:sp>
        <p:nvSpPr>
          <p:cNvPr id="23" name="Text 21"/>
          <p:cNvSpPr/>
          <p:nvPr/>
        </p:nvSpPr>
        <p:spPr>
          <a:xfrm>
            <a:off x="6155457" y="1938635"/>
            <a:ext cx="814388" cy="135731"/>
          </a:xfrm>
          <a:prstGeom prst="roundRect">
            <a:avLst>
              <a:gd name="adj" fmla="val 28070"/>
            </a:avLst>
          </a:prstGeom>
          <a:solidFill>
            <a:srgbClr val="F1F5F9"/>
          </a:solidFill>
          <a:ln/>
        </p:spPr>
        <p:txBody>
          <a:bodyPr wrap="square" rtlCol="0" anchor="ctr"/>
          <a:lstStyle/>
          <a:p>
            <a:pPr marL="0" indent="0">
              <a:buNone/>
            </a:pPr>
            <a:endParaRPr lang="en-US" dirty="0"/>
          </a:p>
        </p:txBody>
      </p:sp>
      <p:sp>
        <p:nvSpPr>
          <p:cNvPr id="24" name="Text 22"/>
          <p:cNvSpPr/>
          <p:nvPr/>
        </p:nvSpPr>
        <p:spPr>
          <a:xfrm>
            <a:off x="6155457" y="1931491"/>
            <a:ext cx="2424187" cy="486061"/>
          </a:xfrm>
          <a:prstGeom prst="rect">
            <a:avLst/>
          </a:prstGeom>
          <a:noFill/>
          <a:ln/>
        </p:spPr>
        <p:txBody>
          <a:bodyPr wrap="square" lIns="0" tIns="0" rIns="0" bIns="0" rtlCol="0" anchor="t"/>
          <a:lstStyle/>
          <a:p>
            <a:pPr marL="0" indent="0" algn="l">
              <a:lnSpc>
                <a:spcPts val="1181"/>
              </a:lnSpc>
              <a:buNone/>
            </a:pPr>
            <a:r>
              <a:rPr lang="en-US" sz="800" dirty="0">
                <a:solidFill>
                  <a:srgbClr val="0F172A"/>
                </a:solidFill>
                <a:highlight>
                  <a:srgbClr val="F1F5F9"/>
                </a:highlight>
                <a:latin typeface="Courier New" pitchFamily="34" charset="0"/>
                <a:ea typeface="Courier New" pitchFamily="34" charset="-122"/>
                <a:cs typeface="Courier New" pitchFamily="34" charset="-120"/>
              </a:rPr>
              <a:t>service, systemd</a:t>
            </a:r>
            <a:r>
              <a:rPr lang="en-US" sz="844" dirty="0">
                <a:solidFill>
                  <a:srgbClr val="334155"/>
                </a:solidFill>
                <a:latin typeface="Carlito" pitchFamily="34" charset="0"/>
                <a:ea typeface="Carlito" pitchFamily="34" charset="-122"/>
                <a:cs typeface="Carlito" pitchFamily="34" charset="-120"/>
              </a:rPr>
              <a:t>. Start / stop / restart / enable services. </a:t>
            </a:r>
            <a:r>
              <a:rPr lang="en-US" sz="844" b="1" dirty="0">
                <a:solidFill>
                  <a:srgbClr val="0F172A"/>
                </a:solidFill>
                <a:latin typeface="Carlito" pitchFamily="34" charset="0"/>
                <a:ea typeface="Carlito" pitchFamily="34" charset="-122"/>
                <a:cs typeface="Carlito" pitchFamily="34" charset="-120"/>
              </a:rPr>
              <a:t>Idempotent</a:t>
            </a:r>
            <a:r>
              <a:rPr lang="en-US" sz="844" dirty="0">
                <a:solidFill>
                  <a:srgbClr val="334155"/>
                </a:solidFill>
                <a:latin typeface="Carlito" pitchFamily="34" charset="0"/>
                <a:ea typeface="Carlito" pitchFamily="34" charset="-122"/>
                <a:cs typeface="Carlito" pitchFamily="34" charset="-120"/>
              </a:rPr>
              <a:t> — running on already-running service is a no-op.</a:t>
            </a:r>
            <a:endParaRPr lang="en-US" sz="844" dirty="0"/>
          </a:p>
        </p:txBody>
      </p:sp>
      <p:sp>
        <p:nvSpPr>
          <p:cNvPr id="25" name="Text 23"/>
          <p:cNvSpPr/>
          <p:nvPr/>
        </p:nvSpPr>
        <p:spPr>
          <a:xfrm>
            <a:off x="432197" y="2768873"/>
            <a:ext cx="2688394" cy="1563812"/>
          </a:xfrm>
          <a:prstGeom prst="roundRect">
            <a:avLst>
              <a:gd name="adj" fmla="val 8527"/>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26" name="Text 24"/>
          <p:cNvSpPr/>
          <p:nvPr/>
        </p:nvSpPr>
        <p:spPr>
          <a:xfrm>
            <a:off x="564356" y="2886745"/>
            <a:ext cx="560784" cy="162855"/>
          </a:xfrm>
          <a:prstGeom prst="rect">
            <a:avLst/>
          </a:prstGeom>
          <a:noFill/>
          <a:ln/>
        </p:spPr>
        <p:txBody>
          <a:bodyPr wrap="none" lIns="0" tIns="0" rIns="0" bIns="0" rtlCol="0" anchor="ctr"/>
          <a:lstStyle/>
          <a:p>
            <a:pPr marL="0" indent="0" algn="ctr">
              <a:buNone/>
            </a:pPr>
            <a:r>
              <a:rPr lang="en-US" sz="844" dirty="0">
                <a:solidFill>
                  <a:srgbClr val="C2410C"/>
                </a:solidFill>
                <a:latin typeface="Segoe UI Symbol" pitchFamily="34" charset="0"/>
                <a:ea typeface="Segoe UI Symbol" pitchFamily="34" charset="-122"/>
                <a:cs typeface="Segoe UI Symbol" pitchFamily="34" charset="-120"/>
              </a:rPr>
              <a:t>✚</a:t>
            </a:r>
            <a:endParaRPr lang="en-US" sz="844" dirty="0"/>
          </a:p>
        </p:txBody>
      </p:sp>
      <p:sp>
        <p:nvSpPr>
          <p:cNvPr id="27" name="Text 25"/>
          <p:cNvSpPr/>
          <p:nvPr/>
        </p:nvSpPr>
        <p:spPr>
          <a:xfrm>
            <a:off x="564356" y="3106750"/>
            <a:ext cx="200025" cy="200025"/>
          </a:xfrm>
          <a:prstGeom prst="rect">
            <a:avLst/>
          </a:prstGeom>
          <a:noFill/>
          <a:ln/>
        </p:spPr>
        <p:txBody>
          <a:bodyPr wrap="none" lIns="0" tIns="0" rIns="0" bIns="0" rtlCol="0" anchor="ctr"/>
          <a:lstStyle/>
          <a:p>
            <a:pPr marL="0" indent="0" algn="ctr">
              <a:buNone/>
            </a:pPr>
            <a:r>
              <a:rPr lang="en-US" sz="1969" dirty="0">
                <a:solidFill>
                  <a:srgbClr val="0F172A"/>
                </a:solidFill>
                <a:latin typeface="Segoe UI Symbol" pitchFamily="34" charset="0"/>
                <a:ea typeface="Segoe UI Symbol" pitchFamily="34" charset="-122"/>
                <a:cs typeface="Segoe UI Symbol" pitchFamily="34" charset="-120"/>
              </a:rPr>
              <a:t>♟</a:t>
            </a:r>
            <a:endParaRPr lang="en-US" sz="1969" dirty="0"/>
          </a:p>
        </p:txBody>
      </p:sp>
      <p:sp>
        <p:nvSpPr>
          <p:cNvPr id="28" name="Text 26"/>
          <p:cNvSpPr/>
          <p:nvPr/>
        </p:nvSpPr>
        <p:spPr>
          <a:xfrm>
            <a:off x="564356" y="3349637"/>
            <a:ext cx="2424075" cy="225390"/>
          </a:xfrm>
          <a:prstGeom prst="rect">
            <a:avLst/>
          </a:prstGeom>
          <a:noFill/>
          <a:ln/>
        </p:spPr>
        <p:txBody>
          <a:bodyPr wrap="none" lIns="0" tIns="0" rIns="0" bIns="0" rtlCol="0" anchor="t">
            <a:normAutofit/>
          </a:bodyPr>
          <a:lstStyle/>
          <a:p>
            <a:pPr marL="0" indent="0" algn="l">
              <a:lnSpc>
                <a:spcPts val="1654"/>
              </a:lnSpc>
              <a:buNone/>
            </a:pPr>
            <a:r>
              <a:rPr lang="en-US" sz="1181" b="1" dirty="0">
                <a:solidFill>
                  <a:srgbClr val="0F172A"/>
                </a:solidFill>
                <a:latin typeface="Carlito" pitchFamily="34" charset="0"/>
                <a:ea typeface="Carlito" pitchFamily="34" charset="-122"/>
                <a:cs typeface="Carlito" pitchFamily="34" charset="-120"/>
              </a:rPr>
              <a:t>User + Group</a:t>
            </a:r>
            <a:endParaRPr lang="en-US" sz="1181" dirty="0"/>
          </a:p>
        </p:txBody>
      </p:sp>
      <p:sp>
        <p:nvSpPr>
          <p:cNvPr id="29" name="Text 27"/>
          <p:cNvSpPr/>
          <p:nvPr/>
        </p:nvSpPr>
        <p:spPr>
          <a:xfrm>
            <a:off x="564356" y="3609603"/>
            <a:ext cx="582216" cy="135731"/>
          </a:xfrm>
          <a:prstGeom prst="roundRect">
            <a:avLst>
              <a:gd name="adj" fmla="val 28070"/>
            </a:avLst>
          </a:prstGeom>
          <a:solidFill>
            <a:srgbClr val="F1F5F9"/>
          </a:solidFill>
          <a:ln/>
        </p:spPr>
        <p:txBody>
          <a:bodyPr wrap="square" rtlCol="0" anchor="ctr"/>
          <a:lstStyle/>
          <a:p>
            <a:pPr marL="0" indent="0">
              <a:buNone/>
            </a:pPr>
            <a:endParaRPr lang="en-US" dirty="0"/>
          </a:p>
        </p:txBody>
      </p:sp>
      <p:sp>
        <p:nvSpPr>
          <p:cNvPr id="30" name="Text 28"/>
          <p:cNvSpPr/>
          <p:nvPr/>
        </p:nvSpPr>
        <p:spPr>
          <a:xfrm>
            <a:off x="564356" y="3602459"/>
            <a:ext cx="2424075" cy="324041"/>
          </a:xfrm>
          <a:prstGeom prst="rect">
            <a:avLst/>
          </a:prstGeom>
          <a:noFill/>
          <a:ln/>
        </p:spPr>
        <p:txBody>
          <a:bodyPr wrap="square" lIns="0" tIns="0" rIns="0" bIns="0" rtlCol="0" anchor="t"/>
          <a:lstStyle/>
          <a:p>
            <a:pPr marL="0" indent="0" algn="l">
              <a:lnSpc>
                <a:spcPts val="1181"/>
              </a:lnSpc>
              <a:buNone/>
            </a:pPr>
            <a:r>
              <a:rPr lang="en-US" sz="800" dirty="0">
                <a:solidFill>
                  <a:srgbClr val="0F172A"/>
                </a:solidFill>
                <a:highlight>
                  <a:srgbClr val="F1F5F9"/>
                </a:highlight>
                <a:latin typeface="Courier New" pitchFamily="34" charset="0"/>
                <a:ea typeface="Courier New" pitchFamily="34" charset="-122"/>
                <a:cs typeface="Courier New" pitchFamily="34" charset="-120"/>
              </a:rPr>
              <a:t>user, group</a:t>
            </a:r>
            <a:r>
              <a:rPr lang="en-US" sz="844" dirty="0">
                <a:solidFill>
                  <a:srgbClr val="334155"/>
                </a:solidFill>
                <a:latin typeface="Carlito" pitchFamily="34" charset="0"/>
                <a:ea typeface="Carlito" pitchFamily="34" charset="-122"/>
                <a:cs typeface="Carlito" pitchFamily="34" charset="-120"/>
              </a:rPr>
              <a:t>. Create users, set passwords, manage SSH keys, manage group membership.</a:t>
            </a:r>
            <a:endParaRPr lang="en-US" sz="844" dirty="0"/>
          </a:p>
        </p:txBody>
      </p:sp>
      <p:sp>
        <p:nvSpPr>
          <p:cNvPr id="31" name="Text 29"/>
          <p:cNvSpPr/>
          <p:nvPr/>
        </p:nvSpPr>
        <p:spPr>
          <a:xfrm>
            <a:off x="3227747" y="2768873"/>
            <a:ext cx="2688394" cy="1563812"/>
          </a:xfrm>
          <a:prstGeom prst="roundRect">
            <a:avLst>
              <a:gd name="adj" fmla="val 8527"/>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32" name="Text 30"/>
          <p:cNvSpPr/>
          <p:nvPr/>
        </p:nvSpPr>
        <p:spPr>
          <a:xfrm>
            <a:off x="3359907" y="2886745"/>
            <a:ext cx="560784" cy="162855"/>
          </a:xfrm>
          <a:prstGeom prst="rect">
            <a:avLst/>
          </a:prstGeom>
          <a:noFill/>
          <a:ln/>
        </p:spPr>
        <p:txBody>
          <a:bodyPr wrap="none" lIns="0" tIns="0" rIns="0" bIns="0" rtlCol="0" anchor="ctr"/>
          <a:lstStyle/>
          <a:p>
            <a:pPr marL="0" indent="0" algn="ctr">
              <a:buNone/>
            </a:pPr>
            <a:r>
              <a:rPr lang="en-US" sz="844" dirty="0">
                <a:solidFill>
                  <a:srgbClr val="C2410C"/>
                </a:solidFill>
                <a:latin typeface="Segoe UI Symbol" pitchFamily="34" charset="0"/>
                <a:ea typeface="Segoe UI Symbol" pitchFamily="34" charset="-122"/>
                <a:cs typeface="Segoe UI Symbol" pitchFamily="34" charset="-120"/>
              </a:rPr>
              <a:t>✚</a:t>
            </a:r>
            <a:endParaRPr lang="en-US" sz="844" dirty="0"/>
          </a:p>
        </p:txBody>
      </p:sp>
      <p:sp>
        <p:nvSpPr>
          <p:cNvPr id="33" name="Text 31"/>
          <p:cNvSpPr/>
          <p:nvPr/>
        </p:nvSpPr>
        <p:spPr>
          <a:xfrm>
            <a:off x="3359907" y="3106750"/>
            <a:ext cx="200025" cy="200025"/>
          </a:xfrm>
          <a:prstGeom prst="rect">
            <a:avLst/>
          </a:prstGeom>
          <a:noFill/>
          <a:ln/>
        </p:spPr>
        <p:txBody>
          <a:bodyPr wrap="none" lIns="0" tIns="0" rIns="0" bIns="0" rtlCol="0" anchor="ctr"/>
          <a:lstStyle/>
          <a:p>
            <a:pPr marL="0" indent="0" algn="ctr">
              <a:buNone/>
            </a:pPr>
            <a:r>
              <a:rPr lang="en-US" sz="1969" dirty="0">
                <a:solidFill>
                  <a:srgbClr val="0F172A"/>
                </a:solidFill>
                <a:latin typeface="Segoe UI Symbol" pitchFamily="34" charset="0"/>
                <a:ea typeface="Segoe UI Symbol" pitchFamily="34" charset="-122"/>
                <a:cs typeface="Segoe UI Symbol" pitchFamily="34" charset="-120"/>
              </a:rPr>
              <a:t>☁</a:t>
            </a:r>
            <a:endParaRPr lang="en-US" sz="1969" dirty="0"/>
          </a:p>
        </p:txBody>
      </p:sp>
      <p:sp>
        <p:nvSpPr>
          <p:cNvPr id="34" name="Text 32"/>
          <p:cNvSpPr/>
          <p:nvPr/>
        </p:nvSpPr>
        <p:spPr>
          <a:xfrm>
            <a:off x="3359907" y="3349637"/>
            <a:ext cx="2424075" cy="225390"/>
          </a:xfrm>
          <a:prstGeom prst="rect">
            <a:avLst/>
          </a:prstGeom>
          <a:noFill/>
          <a:ln/>
        </p:spPr>
        <p:txBody>
          <a:bodyPr wrap="none" lIns="0" tIns="0" rIns="0" bIns="0" rtlCol="0" anchor="t">
            <a:normAutofit/>
          </a:bodyPr>
          <a:lstStyle/>
          <a:p>
            <a:pPr marL="0" indent="0" algn="l">
              <a:lnSpc>
                <a:spcPts val="1654"/>
              </a:lnSpc>
              <a:buNone/>
            </a:pPr>
            <a:r>
              <a:rPr lang="en-US" sz="1181" b="1" dirty="0">
                <a:solidFill>
                  <a:srgbClr val="0F172A"/>
                </a:solidFill>
                <a:latin typeface="Carlito" pitchFamily="34" charset="0"/>
                <a:ea typeface="Carlito" pitchFamily="34" charset="-122"/>
                <a:cs typeface="Carlito" pitchFamily="34" charset="-120"/>
              </a:rPr>
              <a:t>Cloud</a:t>
            </a:r>
            <a:endParaRPr lang="en-US" sz="1181" dirty="0"/>
          </a:p>
        </p:txBody>
      </p:sp>
      <p:sp>
        <p:nvSpPr>
          <p:cNvPr id="35" name="Text 33"/>
          <p:cNvSpPr/>
          <p:nvPr/>
        </p:nvSpPr>
        <p:spPr>
          <a:xfrm>
            <a:off x="3359907" y="3609603"/>
            <a:ext cx="1846659" cy="285750"/>
          </a:xfrm>
          <a:prstGeom prst="roundRect">
            <a:avLst>
              <a:gd name="adj" fmla="val 13333"/>
            </a:avLst>
          </a:prstGeom>
          <a:solidFill>
            <a:srgbClr val="F1F5F9"/>
          </a:solidFill>
          <a:ln/>
        </p:spPr>
        <p:txBody>
          <a:bodyPr wrap="square" rtlCol="0" anchor="ctr"/>
          <a:lstStyle/>
          <a:p>
            <a:pPr marL="0" indent="0">
              <a:buNone/>
            </a:pPr>
            <a:endParaRPr lang="en-US" dirty="0"/>
          </a:p>
        </p:txBody>
      </p:sp>
      <p:sp>
        <p:nvSpPr>
          <p:cNvPr id="36" name="Text 34"/>
          <p:cNvSpPr/>
          <p:nvPr/>
        </p:nvSpPr>
        <p:spPr>
          <a:xfrm>
            <a:off x="3359907" y="3602459"/>
            <a:ext cx="2424075" cy="486061"/>
          </a:xfrm>
          <a:prstGeom prst="rect">
            <a:avLst/>
          </a:prstGeom>
          <a:noFill/>
          <a:ln/>
        </p:spPr>
        <p:txBody>
          <a:bodyPr wrap="square" lIns="0" tIns="0" rIns="0" bIns="0" rtlCol="0" anchor="t"/>
          <a:lstStyle/>
          <a:p>
            <a:pPr marL="0" indent="0" algn="l">
              <a:lnSpc>
                <a:spcPts val="1181"/>
              </a:lnSpc>
              <a:buNone/>
            </a:pPr>
            <a:r>
              <a:rPr lang="en-US" sz="800" dirty="0">
                <a:solidFill>
                  <a:srgbClr val="0F172A"/>
                </a:solidFill>
                <a:highlight>
                  <a:srgbClr val="F1F5F9"/>
                </a:highlight>
                <a:latin typeface="Courier New" pitchFamily="34" charset="0"/>
                <a:ea typeface="Courier New" pitchFamily="34" charset="-122"/>
                <a:cs typeface="Courier New" pitchFamily="34" charset="-120"/>
              </a:rPr>
              <a:t>aws_ec2, azure_rm, gcp_compute, docker, kubernetes</a:t>
            </a:r>
            <a:r>
              <a:rPr lang="en-US" sz="844" dirty="0">
                <a:solidFill>
                  <a:srgbClr val="334155"/>
                </a:solidFill>
                <a:latin typeface="Carlito" pitchFamily="34" charset="0"/>
                <a:ea typeface="Carlito" pitchFamily="34" charset="-122"/>
                <a:cs typeface="Carlito" pitchFamily="34" charset="-120"/>
              </a:rPr>
              <a:t>. Provision and manage cloud resources directly from playbooks.</a:t>
            </a:r>
            <a:endParaRPr lang="en-US" sz="844" dirty="0"/>
          </a:p>
        </p:txBody>
      </p:sp>
      <p:sp>
        <p:nvSpPr>
          <p:cNvPr id="37" name="Text 35"/>
          <p:cNvSpPr/>
          <p:nvPr/>
        </p:nvSpPr>
        <p:spPr>
          <a:xfrm>
            <a:off x="6023297" y="2768873"/>
            <a:ext cx="2688506" cy="1563812"/>
          </a:xfrm>
          <a:prstGeom prst="roundRect">
            <a:avLst>
              <a:gd name="adj" fmla="val 8527"/>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38" name="Text 36"/>
          <p:cNvSpPr/>
          <p:nvPr/>
        </p:nvSpPr>
        <p:spPr>
          <a:xfrm>
            <a:off x="6155457" y="2886745"/>
            <a:ext cx="560784" cy="162855"/>
          </a:xfrm>
          <a:prstGeom prst="rect">
            <a:avLst/>
          </a:prstGeom>
          <a:noFill/>
          <a:ln/>
        </p:spPr>
        <p:txBody>
          <a:bodyPr wrap="none" lIns="0" tIns="0" rIns="0" bIns="0" rtlCol="0" anchor="ctr"/>
          <a:lstStyle/>
          <a:p>
            <a:pPr marL="0" indent="0" algn="ctr">
              <a:buNone/>
            </a:pPr>
            <a:r>
              <a:rPr lang="en-US" sz="844" dirty="0">
                <a:solidFill>
                  <a:srgbClr val="C2410C"/>
                </a:solidFill>
                <a:latin typeface="Segoe UI Symbol" pitchFamily="34" charset="0"/>
                <a:ea typeface="Segoe UI Symbol" pitchFamily="34" charset="-122"/>
                <a:cs typeface="Segoe UI Symbol" pitchFamily="34" charset="-120"/>
              </a:rPr>
              <a:t>✚</a:t>
            </a:r>
            <a:endParaRPr lang="en-US" sz="844" dirty="0"/>
          </a:p>
        </p:txBody>
      </p:sp>
      <p:sp>
        <p:nvSpPr>
          <p:cNvPr id="39" name="Text 37"/>
          <p:cNvSpPr/>
          <p:nvPr/>
        </p:nvSpPr>
        <p:spPr>
          <a:xfrm>
            <a:off x="6155457" y="3106750"/>
            <a:ext cx="200025" cy="200025"/>
          </a:xfrm>
          <a:prstGeom prst="rect">
            <a:avLst/>
          </a:prstGeom>
          <a:noFill/>
          <a:ln/>
        </p:spPr>
        <p:txBody>
          <a:bodyPr wrap="none" lIns="0" tIns="0" rIns="0" bIns="0" rtlCol="0" anchor="ctr"/>
          <a:lstStyle/>
          <a:p>
            <a:pPr marL="0" indent="0" algn="ctr">
              <a:buNone/>
            </a:pPr>
            <a:r>
              <a:rPr lang="en-US" sz="1969" dirty="0">
                <a:solidFill>
                  <a:srgbClr val="0F172A"/>
                </a:solidFill>
                <a:latin typeface="Segoe UI Symbol" pitchFamily="34" charset="0"/>
                <a:ea typeface="Segoe UI Symbol" pitchFamily="34" charset="-122"/>
                <a:cs typeface="Segoe UI Symbol" pitchFamily="34" charset="-120"/>
              </a:rPr>
              <a:t>▭</a:t>
            </a:r>
            <a:endParaRPr lang="en-US" sz="1969" dirty="0"/>
          </a:p>
        </p:txBody>
      </p:sp>
      <p:sp>
        <p:nvSpPr>
          <p:cNvPr id="40" name="Text 38"/>
          <p:cNvSpPr/>
          <p:nvPr/>
        </p:nvSpPr>
        <p:spPr>
          <a:xfrm>
            <a:off x="6155457" y="3349637"/>
            <a:ext cx="2424187" cy="225390"/>
          </a:xfrm>
          <a:prstGeom prst="rect">
            <a:avLst/>
          </a:prstGeom>
          <a:noFill/>
          <a:ln/>
        </p:spPr>
        <p:txBody>
          <a:bodyPr wrap="none" lIns="0" tIns="0" rIns="0" bIns="0" rtlCol="0" anchor="t">
            <a:normAutofit/>
          </a:bodyPr>
          <a:lstStyle/>
          <a:p>
            <a:pPr marL="0" indent="0" algn="l">
              <a:lnSpc>
                <a:spcPts val="1654"/>
              </a:lnSpc>
              <a:buNone/>
            </a:pPr>
            <a:r>
              <a:rPr lang="en-US" sz="1181" b="1" dirty="0">
                <a:solidFill>
                  <a:srgbClr val="0F172A"/>
                </a:solidFill>
                <a:latin typeface="Carlito" pitchFamily="34" charset="0"/>
                <a:ea typeface="Carlito" pitchFamily="34" charset="-122"/>
                <a:cs typeface="Carlito" pitchFamily="34" charset="-120"/>
              </a:rPr>
              <a:t>Source Control</a:t>
            </a:r>
            <a:endParaRPr lang="en-US" sz="1181" dirty="0"/>
          </a:p>
        </p:txBody>
      </p:sp>
      <p:sp>
        <p:nvSpPr>
          <p:cNvPr id="41" name="Text 39"/>
          <p:cNvSpPr/>
          <p:nvPr/>
        </p:nvSpPr>
        <p:spPr>
          <a:xfrm>
            <a:off x="6155457" y="3609603"/>
            <a:ext cx="210741" cy="135731"/>
          </a:xfrm>
          <a:prstGeom prst="roundRect">
            <a:avLst>
              <a:gd name="adj" fmla="val 28070"/>
            </a:avLst>
          </a:prstGeom>
          <a:solidFill>
            <a:srgbClr val="F1F5F9"/>
          </a:solidFill>
          <a:ln/>
        </p:spPr>
        <p:txBody>
          <a:bodyPr wrap="square" rtlCol="0" anchor="ctr"/>
          <a:lstStyle/>
          <a:p>
            <a:pPr marL="0" indent="0">
              <a:buNone/>
            </a:pPr>
            <a:endParaRPr lang="en-US" dirty="0"/>
          </a:p>
        </p:txBody>
      </p:sp>
      <p:sp>
        <p:nvSpPr>
          <p:cNvPr id="42" name="Text 40"/>
          <p:cNvSpPr/>
          <p:nvPr/>
        </p:nvSpPr>
        <p:spPr>
          <a:xfrm>
            <a:off x="6155457" y="3602459"/>
            <a:ext cx="2424187" cy="324041"/>
          </a:xfrm>
          <a:prstGeom prst="rect">
            <a:avLst/>
          </a:prstGeom>
          <a:noFill/>
          <a:ln/>
        </p:spPr>
        <p:txBody>
          <a:bodyPr wrap="square" lIns="0" tIns="0" rIns="0" bIns="0" rtlCol="0" anchor="t"/>
          <a:lstStyle/>
          <a:p>
            <a:pPr marL="0" indent="0" algn="l">
              <a:lnSpc>
                <a:spcPts val="1181"/>
              </a:lnSpc>
              <a:buNone/>
            </a:pPr>
            <a:r>
              <a:rPr lang="en-US" sz="800" dirty="0">
                <a:solidFill>
                  <a:srgbClr val="0F172A"/>
                </a:solidFill>
                <a:highlight>
                  <a:srgbClr val="F1F5F9"/>
                </a:highlight>
                <a:latin typeface="Courier New" pitchFamily="34" charset="0"/>
                <a:ea typeface="Courier New" pitchFamily="34" charset="-122"/>
                <a:cs typeface="Courier New" pitchFamily="34" charset="-120"/>
              </a:rPr>
              <a:t>git</a:t>
            </a:r>
            <a:r>
              <a:rPr lang="en-US" sz="844" dirty="0">
                <a:solidFill>
                  <a:srgbClr val="334155"/>
                </a:solidFill>
                <a:latin typeface="Carlito" pitchFamily="34" charset="0"/>
                <a:ea typeface="Carlito" pitchFamily="34" charset="-122"/>
                <a:cs typeface="Carlito" pitchFamily="34" charset="-120"/>
              </a:rPr>
              <a:t>. Clone / pull / checkout repositories. Useful for deploying app code from a Git server.</a:t>
            </a:r>
            <a:endParaRPr lang="en-US" sz="844" dirty="0"/>
          </a:p>
        </p:txBody>
      </p:sp>
      <p:sp>
        <p:nvSpPr>
          <p:cNvPr id="43" name="Text 41"/>
          <p:cNvSpPr/>
          <p:nvPr/>
        </p:nvSpPr>
        <p:spPr>
          <a:xfrm>
            <a:off x="428625" y="4436269"/>
            <a:ext cx="8286750" cy="364331"/>
          </a:xfrm>
          <a:prstGeom prst="roundRect">
            <a:avLst>
              <a:gd name="adj" fmla="val 20915"/>
            </a:avLst>
          </a:prstGeom>
          <a:solidFill>
            <a:srgbClr val="FFF7ED"/>
          </a:solidFill>
          <a:ln/>
        </p:spPr>
        <p:txBody>
          <a:bodyPr wrap="square" rtlCol="0" anchor="ctr"/>
          <a:lstStyle/>
          <a:p>
            <a:pPr marL="0" indent="0">
              <a:buNone/>
            </a:pPr>
            <a:endParaRPr lang="en-US" dirty="0"/>
          </a:p>
        </p:txBody>
      </p:sp>
      <p:sp>
        <p:nvSpPr>
          <p:cNvPr id="44" name="Shape 42"/>
          <p:cNvSpPr/>
          <p:nvPr/>
        </p:nvSpPr>
        <p:spPr>
          <a:xfrm>
            <a:off x="450056" y="4436269"/>
            <a:ext cx="0" cy="364331"/>
          </a:xfrm>
          <a:prstGeom prst="line">
            <a:avLst/>
          </a:prstGeom>
          <a:noFill/>
          <a:ln w="42863">
            <a:solidFill>
              <a:srgbClr val="F97316"/>
            </a:solidFill>
            <a:prstDash val="solid"/>
          </a:ln>
        </p:spPr>
      </p:sp>
      <p:sp>
        <p:nvSpPr>
          <p:cNvPr id="45" name="Text 43"/>
          <p:cNvSpPr/>
          <p:nvPr/>
        </p:nvSpPr>
        <p:spPr>
          <a:xfrm>
            <a:off x="428625" y="4436269"/>
            <a:ext cx="8286750" cy="393478"/>
          </a:xfrm>
          <a:prstGeom prst="rect">
            <a:avLst/>
          </a:prstGeom>
          <a:noFill/>
          <a:ln/>
        </p:spPr>
        <p:txBody>
          <a:bodyPr wrap="square" lIns="157163" tIns="85725" rIns="157163" bIns="85725" rtlCol="0" anchor="t"/>
          <a:lstStyle/>
          <a:p>
            <a:pPr marL="0" indent="0" algn="l">
              <a:lnSpc>
                <a:spcPts val="1418"/>
              </a:lnSpc>
              <a:buNone/>
            </a:pPr>
            <a:r>
              <a:rPr lang="en-US" sz="1013" dirty="0">
                <a:solidFill>
                  <a:srgbClr val="F97316"/>
                </a:solidFill>
                <a:latin typeface="Segoe UI Symbol" pitchFamily="34" charset="0"/>
                <a:ea typeface="Segoe UI Symbol" pitchFamily="34" charset="-122"/>
                <a:cs typeface="Segoe UI Symbol" pitchFamily="34" charset="-120"/>
              </a:rPr>
              <a:t>▤</a:t>
            </a:r>
            <a:r>
              <a:rPr lang="en-US" sz="1013" dirty="0">
                <a:solidFill>
                  <a:srgbClr val="0F172A"/>
                </a:solidFill>
                <a:latin typeface="Carlito" pitchFamily="34" charset="0"/>
                <a:ea typeface="Carlito" pitchFamily="34" charset="-122"/>
                <a:cs typeface="Carlito" pitchFamily="34" charset="-120"/>
              </a:rPr>
              <a:t> Rule: prefer modules over </a:t>
            </a:r>
            <a:r>
              <a:rPr lang="en-US" sz="1013" dirty="0">
                <a:solidFill>
                  <a:srgbClr val="F97316"/>
                </a:solidFill>
                <a:latin typeface="Carlito" pitchFamily="34" charset="0"/>
                <a:ea typeface="Carlito" pitchFamily="34" charset="-122"/>
                <a:cs typeface="Carlito" pitchFamily="34" charset="-120"/>
              </a:rPr>
              <a:t>command/shell</a:t>
            </a:r>
            <a:r>
              <a:rPr lang="en-US" sz="1013" dirty="0">
                <a:solidFill>
                  <a:srgbClr val="0F172A"/>
                </a:solidFill>
                <a:latin typeface="Carlito" pitchFamily="34" charset="0"/>
                <a:ea typeface="Carlito" pitchFamily="34" charset="-122"/>
                <a:cs typeface="Carlito" pitchFamily="34" charset="-120"/>
              </a:rPr>
              <a:t>. Modules are idempotent; </a:t>
            </a:r>
            <a:r>
              <a:rPr lang="en-US" sz="1013" dirty="0">
                <a:solidFill>
                  <a:srgbClr val="F97316"/>
                </a:solidFill>
                <a:latin typeface="Carlito" pitchFamily="34" charset="0"/>
                <a:ea typeface="Carlito" pitchFamily="34" charset="-122"/>
                <a:cs typeface="Carlito" pitchFamily="34" charset="-120"/>
              </a:rPr>
              <a:t>command</a:t>
            </a:r>
            <a:r>
              <a:rPr lang="en-US" sz="1013" dirty="0">
                <a:solidFill>
                  <a:srgbClr val="0F172A"/>
                </a:solidFill>
                <a:latin typeface="Carlito" pitchFamily="34" charset="0"/>
                <a:ea typeface="Carlito" pitchFamily="34" charset="-122"/>
                <a:cs typeface="Carlito" pitchFamily="34" charset="-120"/>
              </a:rPr>
              <a:t> is not.</a:t>
            </a:r>
            <a:endParaRPr lang="en-US" sz="1013"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00050" y="314325"/>
            <a:ext cx="4968545" cy="322473"/>
          </a:xfrm>
          <a:prstGeom prst="rect">
            <a:avLst/>
          </a:prstGeom>
          <a:noFill/>
          <a:ln/>
        </p:spPr>
        <p:txBody>
          <a:bodyPr wrap="square" lIns="0" tIns="0" rIns="0" bIns="0" rtlCol="0" anchor="t"/>
          <a:lstStyle/>
          <a:p>
            <a:pPr marL="0" indent="0" algn="l">
              <a:lnSpc>
                <a:spcPts val="2351"/>
              </a:lnSpc>
              <a:buNone/>
            </a:pPr>
            <a:r>
              <a:rPr lang="en-US" sz="2138" b="1" dirty="0">
                <a:solidFill>
                  <a:srgbClr val="0F172A"/>
                </a:solidFill>
                <a:latin typeface="Carlito" pitchFamily="34" charset="0"/>
                <a:ea typeface="Carlito" pitchFamily="34" charset="-122"/>
                <a:cs typeface="Carlito" pitchFamily="34" charset="-120"/>
              </a:rPr>
              <a:t>Common Modules — Quick Reference</a:t>
            </a:r>
            <a:endParaRPr lang="en-US" sz="2138" dirty="0"/>
          </a:p>
        </p:txBody>
      </p:sp>
      <p:sp>
        <p:nvSpPr>
          <p:cNvPr id="3" name="Text 1"/>
          <p:cNvSpPr/>
          <p:nvPr/>
        </p:nvSpPr>
        <p:spPr>
          <a:xfrm>
            <a:off x="400050" y="684349"/>
            <a:ext cx="571500" cy="42863"/>
          </a:xfrm>
          <a:prstGeom prst="roundRect">
            <a:avLst>
              <a:gd name="adj" fmla="val 66666"/>
            </a:avLst>
          </a:prstGeom>
          <a:solidFill>
            <a:srgbClr val="F97316"/>
          </a:solidFill>
          <a:ln/>
        </p:spPr>
        <p:txBody>
          <a:bodyPr wrap="square" rtlCol="0" anchor="ctr"/>
          <a:lstStyle/>
          <a:p>
            <a:pPr marL="0" indent="0">
              <a:buNone/>
            </a:pPr>
            <a:endParaRPr lang="en-US" dirty="0"/>
          </a:p>
        </p:txBody>
      </p:sp>
      <p:sp>
        <p:nvSpPr>
          <p:cNvPr id="4" name="Text 2"/>
          <p:cNvSpPr/>
          <p:nvPr/>
        </p:nvSpPr>
        <p:spPr>
          <a:xfrm>
            <a:off x="400050" y="770074"/>
            <a:ext cx="4878208" cy="194328"/>
          </a:xfrm>
          <a:prstGeom prst="rect">
            <a:avLst/>
          </a:prstGeom>
          <a:noFill/>
          <a:ln/>
        </p:spPr>
        <p:txBody>
          <a:bodyPr wrap="square" lIns="0" tIns="0" rIns="0" bIns="0" rtlCol="0" anchor="t"/>
          <a:lstStyle/>
          <a:p>
            <a:pPr marL="0" indent="0" algn="l">
              <a:lnSpc>
                <a:spcPts val="1418"/>
              </a:lnSpc>
              <a:buNone/>
            </a:pPr>
            <a:r>
              <a:rPr lang="en-US" sz="1013" dirty="0">
                <a:solidFill>
                  <a:srgbClr val="64748B"/>
                </a:solidFill>
                <a:latin typeface="Carlito" pitchFamily="34" charset="0"/>
                <a:ea typeface="Carlito" pitchFamily="34" charset="-122"/>
                <a:cs typeface="Carlito" pitchFamily="34" charset="-120"/>
              </a:rPr>
              <a:t>The 12 modules you will use in 95% of playbooks.</a:t>
            </a:r>
            <a:endParaRPr lang="en-US" sz="1013" dirty="0"/>
          </a:p>
        </p:txBody>
      </p:sp>
      <p:sp>
        <p:nvSpPr>
          <p:cNvPr id="5" name="Text 3"/>
          <p:cNvSpPr/>
          <p:nvPr/>
        </p:nvSpPr>
        <p:spPr>
          <a:xfrm>
            <a:off x="7428518" y="301523"/>
            <a:ext cx="1338292" cy="331333"/>
          </a:xfrm>
          <a:prstGeom prst="roundRect">
            <a:avLst>
              <a:gd name="adj" fmla="val 2871877"/>
            </a:avLst>
          </a:prstGeom>
          <a:solidFill>
            <a:srgbClr val="0F172A"/>
          </a:solidFill>
          <a:ln/>
        </p:spPr>
        <p:txBody>
          <a:bodyPr wrap="square" rtlCol="0" anchor="ctr"/>
          <a:lstStyle/>
          <a:p>
            <a:pPr marL="0" indent="0">
              <a:buNone/>
            </a:pPr>
            <a:endParaRPr lang="en-US" dirty="0"/>
          </a:p>
        </p:txBody>
      </p:sp>
      <p:sp>
        <p:nvSpPr>
          <p:cNvPr id="6" name="Text 4"/>
          <p:cNvSpPr/>
          <p:nvPr/>
        </p:nvSpPr>
        <p:spPr>
          <a:xfrm>
            <a:off x="7418298" y="314325"/>
            <a:ext cx="1358733" cy="305730"/>
          </a:xfrm>
          <a:prstGeom prst="rect">
            <a:avLst/>
          </a:prstGeom>
          <a:noFill/>
          <a:ln/>
        </p:spPr>
        <p:txBody>
          <a:bodyPr wrap="none" lIns="0" tIns="0" rIns="0" bIns="0" rtlCol="0" anchor="ctr"/>
          <a:lstStyle/>
          <a:p>
            <a:pPr marL="0" indent="0" algn="ctr">
              <a:lnSpc>
                <a:spcPts val="1733"/>
              </a:lnSpc>
              <a:buNone/>
            </a:pPr>
            <a:r>
              <a:rPr lang="en-US" sz="1238" b="1" kern="0" spc="28" dirty="0">
                <a:solidFill>
                  <a:srgbClr val="FFFFFF"/>
                </a:solidFill>
                <a:latin typeface="Liberation Sans Narrow" pitchFamily="34" charset="0"/>
                <a:ea typeface="Liberation Sans Narrow" pitchFamily="34" charset="-122"/>
                <a:cs typeface="Liberation Sans Narrow" pitchFamily="34" charset="-120"/>
              </a:rPr>
              <a:t>02 · Reference</a:t>
            </a:r>
            <a:endParaRPr lang="en-US" sz="1238"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00050" y="1035732"/>
          <a:ext cx="8343900" cy="914400"/>
        </p:xfrm>
        <a:graphic>
          <a:graphicData uri="http://schemas.openxmlformats.org/drawingml/2006/table">
            <a:tbl>
              <a:tblPr/>
              <a:tblGrid>
                <a:gridCol w="1501862">
                  <a:extLst>
                    <a:ext uri="{9D8B030D-6E8A-4147-A177-3AD203B41FA5}">
                      <a16:colId xmlns:a16="http://schemas.microsoft.com/office/drawing/2014/main" val="20000"/>
                    </a:ext>
                  </a:extLst>
                </a:gridCol>
                <a:gridCol w="3504344">
                  <a:extLst>
                    <a:ext uri="{9D8B030D-6E8A-4147-A177-3AD203B41FA5}">
                      <a16:colId xmlns:a16="http://schemas.microsoft.com/office/drawing/2014/main" val="20001"/>
                    </a:ext>
                  </a:extLst>
                </a:gridCol>
                <a:gridCol w="3337694">
                  <a:extLst>
                    <a:ext uri="{9D8B030D-6E8A-4147-A177-3AD203B41FA5}">
                      <a16:colId xmlns:a16="http://schemas.microsoft.com/office/drawing/2014/main" val="20002"/>
                    </a:ext>
                  </a:extLst>
                </a:gridCol>
              </a:tblGrid>
              <a:tr h="0">
                <a:tc>
                  <a:txBody>
                    <a:bodyPr/>
                    <a:lstStyle/>
                    <a:p>
                      <a:pPr marL="0" indent="0" algn="l">
                        <a:buNone/>
                      </a:pPr>
                      <a:r>
                        <a:rPr lang="en-US" sz="1013" b="1" dirty="0">
                          <a:solidFill>
                            <a:srgbClr val="FFFFFF"/>
                          </a:solidFill>
                          <a:latin typeface="Carlito" pitchFamily="34" charset="0"/>
                          <a:ea typeface="Carlito" pitchFamily="34" charset="-122"/>
                          <a:cs typeface="Carlito" pitchFamily="34" charset="-120"/>
                        </a:rPr>
                        <a:t>Module</a:t>
                      </a:r>
                      <a:endParaRPr lang="en-US" sz="1013" dirty="0">
                        <a:latin typeface="Carlito" charset="0"/>
                        <a:ea typeface="Carlito" charset="0"/>
                        <a:cs typeface="Carlito" charset="0"/>
                      </a:endParaRPr>
                    </a:p>
                  </a:txBody>
                  <a:tcPr marL="85725" marR="114300" marT="114300" marB="8572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7316"/>
                    </a:solidFill>
                  </a:tcPr>
                </a:tc>
                <a:tc>
                  <a:txBody>
                    <a:bodyPr/>
                    <a:lstStyle/>
                    <a:p>
                      <a:pPr marL="0" indent="0" algn="l">
                        <a:buNone/>
                      </a:pPr>
                      <a:r>
                        <a:rPr lang="en-US" sz="1013" b="1" dirty="0">
                          <a:solidFill>
                            <a:srgbClr val="FFFFFF"/>
                          </a:solidFill>
                          <a:latin typeface="Carlito" pitchFamily="34" charset="0"/>
                          <a:ea typeface="Carlito" pitchFamily="34" charset="-122"/>
                          <a:cs typeface="Carlito" pitchFamily="34" charset="-120"/>
                        </a:rPr>
                        <a:t>Purpose</a:t>
                      </a:r>
                      <a:endParaRPr lang="en-US" sz="1013" dirty="0">
                        <a:latin typeface="Carlito" charset="0"/>
                        <a:ea typeface="Carlito" charset="0"/>
                        <a:cs typeface="Carlito" charset="0"/>
                      </a:endParaRPr>
                    </a:p>
                  </a:txBody>
                  <a:tcPr marL="85725" marR="114300" marT="114300" marB="8572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7316"/>
                    </a:solidFill>
                  </a:tcPr>
                </a:tc>
                <a:tc>
                  <a:txBody>
                    <a:bodyPr/>
                    <a:lstStyle/>
                    <a:p>
                      <a:pPr marL="0" indent="0" algn="l">
                        <a:buNone/>
                      </a:pPr>
                      <a:r>
                        <a:rPr lang="en-US" sz="1013" b="1" dirty="0">
                          <a:solidFill>
                            <a:srgbClr val="FFFFFF"/>
                          </a:solidFill>
                          <a:latin typeface="Carlito" pitchFamily="34" charset="0"/>
                          <a:ea typeface="Carlito" pitchFamily="34" charset="-122"/>
                          <a:cs typeface="Carlito" pitchFamily="34" charset="-120"/>
                        </a:rPr>
                        <a:t>Common Args</a:t>
                      </a:r>
                      <a:endParaRPr lang="en-US" sz="1013" dirty="0">
                        <a:latin typeface="Carlito" charset="0"/>
                        <a:ea typeface="Carlito" charset="0"/>
                        <a:cs typeface="Carlito" charset="0"/>
                      </a:endParaRPr>
                    </a:p>
                  </a:txBody>
                  <a:tcPr marL="85725" marR="114300" marT="114300" marB="8572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7316"/>
                    </a:solidFill>
                  </a:tcPr>
                </a:tc>
                <a:extLst>
                  <a:ext uri="{0D108BD9-81ED-4DB2-BD59-A6C34878D82A}">
                    <a16:rowId xmlns:a16="http://schemas.microsoft.com/office/drawing/2014/main" val="10000"/>
                  </a:ext>
                </a:extLst>
              </a:tr>
              <a:tr h="0">
                <a:tc>
                  <a:txBody>
                    <a:bodyPr/>
                    <a:lstStyle/>
                    <a:p>
                      <a:pPr marL="0" indent="0" algn="l">
                        <a:buNone/>
                      </a:pPr>
                      <a:r>
                        <a:rPr lang="en-US" sz="956" dirty="0">
                          <a:solidFill>
                            <a:srgbClr val="0F172A"/>
                          </a:solidFill>
                          <a:latin typeface="Carlito" pitchFamily="34" charset="0"/>
                          <a:ea typeface="Carlito" pitchFamily="34" charset="-122"/>
                          <a:cs typeface="Carlito" pitchFamily="34" charset="-120"/>
                        </a:rPr>
                        <a:t>apt</a:t>
                      </a:r>
                      <a:endParaRPr lang="en-US" sz="956" dirty="0">
                        <a:latin typeface="Carlito" charset="0"/>
                        <a:ea typeface="Carlito" charset="0"/>
                        <a:cs typeface="Carlito" charset="0"/>
                      </a:endParaRPr>
                    </a:p>
                  </a:txBody>
                  <a:tcPr marL="57150" marR="114300" marT="114300"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956" dirty="0">
                          <a:solidFill>
                            <a:srgbClr val="0F172A"/>
                          </a:solidFill>
                          <a:latin typeface="Carlito" pitchFamily="34" charset="0"/>
                          <a:ea typeface="Carlito" pitchFamily="34" charset="-122"/>
                          <a:cs typeface="Carlito" pitchFamily="34" charset="-120"/>
                        </a:rPr>
                        <a:t>Install/remove Debian packages</a:t>
                      </a:r>
                      <a:endParaRPr lang="en-US" sz="956" dirty="0">
                        <a:latin typeface="Carlito" charset="0"/>
                        <a:ea typeface="Carlito" charset="0"/>
                        <a:cs typeface="Carlito" charset="0"/>
                      </a:endParaRPr>
                    </a:p>
                  </a:txBody>
                  <a:tcPr marL="57150" marR="114300" marT="114300"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956" dirty="0">
                          <a:solidFill>
                            <a:srgbClr val="0F172A"/>
                          </a:solidFill>
                          <a:latin typeface="Carlito" pitchFamily="34" charset="0"/>
                          <a:ea typeface="Carlito" pitchFamily="34" charset="-122"/>
                          <a:cs typeface="Carlito" pitchFamily="34" charset="-120"/>
                        </a:rPr>
                        <a:t>name, state, update_cache</a:t>
                      </a:r>
                      <a:endParaRPr lang="en-US" sz="956" dirty="0">
                        <a:latin typeface="Carlito" charset="0"/>
                        <a:ea typeface="Carlito" charset="0"/>
                        <a:cs typeface="Carlito" charset="0"/>
                      </a:endParaRPr>
                    </a:p>
                  </a:txBody>
                  <a:tcPr marL="57150" marR="114300" marT="114300"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lgn="l">
                        <a:buNone/>
                      </a:pPr>
                      <a:r>
                        <a:rPr lang="en-US" sz="956" dirty="0">
                          <a:solidFill>
                            <a:srgbClr val="0F172A"/>
                          </a:solidFill>
                          <a:latin typeface="Carlito" pitchFamily="34" charset="0"/>
                          <a:ea typeface="Carlito" pitchFamily="34" charset="-122"/>
                          <a:cs typeface="Carlito" pitchFamily="34" charset="-120"/>
                        </a:rPr>
                        <a:t>yum</a:t>
                      </a:r>
                      <a:endParaRPr lang="en-US" sz="956" dirty="0">
                        <a:latin typeface="Carlito" charset="0"/>
                        <a:ea typeface="Carlito" charset="0"/>
                        <a:cs typeface="Carlito" charset="0"/>
                      </a:endParaRPr>
                    </a:p>
                  </a:txBody>
                  <a:tcPr marL="57150" marR="114300" marT="114300"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956" dirty="0">
                          <a:solidFill>
                            <a:srgbClr val="0F172A"/>
                          </a:solidFill>
                          <a:latin typeface="Carlito" pitchFamily="34" charset="0"/>
                          <a:ea typeface="Carlito" pitchFamily="34" charset="-122"/>
                          <a:cs typeface="Carlito" pitchFamily="34" charset="-120"/>
                        </a:rPr>
                        <a:t>Install/remove RHEL packages</a:t>
                      </a:r>
                      <a:endParaRPr lang="en-US" sz="956" dirty="0">
                        <a:latin typeface="Carlito" charset="0"/>
                        <a:ea typeface="Carlito" charset="0"/>
                        <a:cs typeface="Carlito" charset="0"/>
                      </a:endParaRPr>
                    </a:p>
                  </a:txBody>
                  <a:tcPr marL="57150" marR="114300" marT="114300"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956" dirty="0">
                          <a:solidFill>
                            <a:srgbClr val="0F172A"/>
                          </a:solidFill>
                          <a:latin typeface="Carlito" pitchFamily="34" charset="0"/>
                          <a:ea typeface="Carlito" pitchFamily="34" charset="-122"/>
                          <a:cs typeface="Carlito" pitchFamily="34" charset="-120"/>
                        </a:rPr>
                        <a:t>name, state</a:t>
                      </a:r>
                      <a:endParaRPr lang="en-US" sz="956" dirty="0">
                        <a:latin typeface="Carlito" charset="0"/>
                        <a:ea typeface="Carlito" charset="0"/>
                        <a:cs typeface="Carlito" charset="0"/>
                      </a:endParaRPr>
                    </a:p>
                  </a:txBody>
                  <a:tcPr marL="57150" marR="114300" marT="114300"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lgn="l">
                        <a:buNone/>
                      </a:pPr>
                      <a:r>
                        <a:rPr lang="en-US" sz="956" dirty="0">
                          <a:solidFill>
                            <a:srgbClr val="0F172A"/>
                          </a:solidFill>
                          <a:latin typeface="Carlito" pitchFamily="34" charset="0"/>
                          <a:ea typeface="Carlito" pitchFamily="34" charset="-122"/>
                          <a:cs typeface="Carlito" pitchFamily="34" charset="-120"/>
                        </a:rPr>
                        <a:t>copy</a:t>
                      </a:r>
                      <a:endParaRPr lang="en-US" sz="956" dirty="0">
                        <a:latin typeface="Carlito" charset="0"/>
                        <a:ea typeface="Carlito" charset="0"/>
                        <a:cs typeface="Carlito" charset="0"/>
                      </a:endParaRPr>
                    </a:p>
                  </a:txBody>
                  <a:tcPr marL="57150" marR="114300" marT="114300"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956" dirty="0">
                          <a:solidFill>
                            <a:srgbClr val="0F172A"/>
                          </a:solidFill>
                          <a:latin typeface="Carlito" pitchFamily="34" charset="0"/>
                          <a:ea typeface="Carlito" pitchFamily="34" charset="-122"/>
                          <a:cs typeface="Carlito" pitchFamily="34" charset="-120"/>
                        </a:rPr>
                        <a:t>Copy a file to target</a:t>
                      </a:r>
                      <a:endParaRPr lang="en-US" sz="956" dirty="0">
                        <a:latin typeface="Carlito" charset="0"/>
                        <a:ea typeface="Carlito" charset="0"/>
                        <a:cs typeface="Carlito" charset="0"/>
                      </a:endParaRPr>
                    </a:p>
                  </a:txBody>
                  <a:tcPr marL="57150" marR="114300" marT="114300"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956" dirty="0">
                          <a:solidFill>
                            <a:srgbClr val="0F172A"/>
                          </a:solidFill>
                          <a:latin typeface="Carlito" pitchFamily="34" charset="0"/>
                          <a:ea typeface="Carlito" pitchFamily="34" charset="-122"/>
                          <a:cs typeface="Carlito" pitchFamily="34" charset="-120"/>
                        </a:rPr>
                        <a:t>src, dest, mode, owner</a:t>
                      </a:r>
                      <a:endParaRPr lang="en-US" sz="956" dirty="0">
                        <a:latin typeface="Carlito" charset="0"/>
                        <a:ea typeface="Carlito" charset="0"/>
                        <a:cs typeface="Carlito" charset="0"/>
                      </a:endParaRPr>
                    </a:p>
                  </a:txBody>
                  <a:tcPr marL="57150" marR="114300" marT="114300"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lgn="l">
                        <a:buNone/>
                      </a:pPr>
                      <a:r>
                        <a:rPr lang="en-US" sz="956" dirty="0">
                          <a:solidFill>
                            <a:srgbClr val="0F172A"/>
                          </a:solidFill>
                          <a:latin typeface="Carlito" pitchFamily="34" charset="0"/>
                          <a:ea typeface="Carlito" pitchFamily="34" charset="-122"/>
                          <a:cs typeface="Carlito" pitchFamily="34" charset="-120"/>
                        </a:rPr>
                        <a:t>template</a:t>
                      </a:r>
                      <a:endParaRPr lang="en-US" sz="956" dirty="0">
                        <a:latin typeface="Carlito" charset="0"/>
                        <a:ea typeface="Carlito" charset="0"/>
                        <a:cs typeface="Carlito" charset="0"/>
                      </a:endParaRPr>
                    </a:p>
                  </a:txBody>
                  <a:tcPr marL="57150" marR="114300" marT="114300"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956" dirty="0">
                          <a:solidFill>
                            <a:srgbClr val="0F172A"/>
                          </a:solidFill>
                          <a:latin typeface="Carlito" pitchFamily="34" charset="0"/>
                          <a:ea typeface="Carlito" pitchFamily="34" charset="-122"/>
                          <a:cs typeface="Carlito" pitchFamily="34" charset="-120"/>
                        </a:rPr>
                        <a:t>Render Jinja2 template to target</a:t>
                      </a:r>
                      <a:endParaRPr lang="en-US" sz="956" dirty="0">
                        <a:latin typeface="Carlito" charset="0"/>
                        <a:ea typeface="Carlito" charset="0"/>
                        <a:cs typeface="Carlito" charset="0"/>
                      </a:endParaRPr>
                    </a:p>
                  </a:txBody>
                  <a:tcPr marL="57150" marR="114300" marT="114300"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956" dirty="0">
                          <a:solidFill>
                            <a:srgbClr val="0F172A"/>
                          </a:solidFill>
                          <a:latin typeface="Carlito" pitchFamily="34" charset="0"/>
                          <a:ea typeface="Carlito" pitchFamily="34" charset="-122"/>
                          <a:cs typeface="Carlito" pitchFamily="34" charset="-120"/>
                        </a:rPr>
                        <a:t>src, dest, mode, owner</a:t>
                      </a:r>
                      <a:endParaRPr lang="en-US" sz="956" dirty="0">
                        <a:latin typeface="Carlito" charset="0"/>
                        <a:ea typeface="Carlito" charset="0"/>
                        <a:cs typeface="Carlito" charset="0"/>
                      </a:endParaRPr>
                    </a:p>
                  </a:txBody>
                  <a:tcPr marL="57150" marR="114300" marT="114300"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4"/>
                  </a:ext>
                </a:extLst>
              </a:tr>
              <a:tr h="0">
                <a:tc>
                  <a:txBody>
                    <a:bodyPr/>
                    <a:lstStyle/>
                    <a:p>
                      <a:pPr marL="0" indent="0" algn="l">
                        <a:buNone/>
                      </a:pPr>
                      <a:r>
                        <a:rPr lang="en-US" sz="956" dirty="0">
                          <a:solidFill>
                            <a:srgbClr val="0F172A"/>
                          </a:solidFill>
                          <a:latin typeface="Carlito" pitchFamily="34" charset="0"/>
                          <a:ea typeface="Carlito" pitchFamily="34" charset="-122"/>
                          <a:cs typeface="Carlito" pitchFamily="34" charset="-120"/>
                        </a:rPr>
                        <a:t>file</a:t>
                      </a:r>
                      <a:endParaRPr lang="en-US" sz="956" dirty="0">
                        <a:latin typeface="Carlito" charset="0"/>
                        <a:ea typeface="Carlito" charset="0"/>
                        <a:cs typeface="Carlito" charset="0"/>
                      </a:endParaRPr>
                    </a:p>
                  </a:txBody>
                  <a:tcPr marL="57150" marR="114300" marT="114300"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956" dirty="0">
                          <a:solidFill>
                            <a:srgbClr val="0F172A"/>
                          </a:solidFill>
                          <a:latin typeface="Carlito" pitchFamily="34" charset="0"/>
                          <a:ea typeface="Carlito" pitchFamily="34" charset="-122"/>
                          <a:cs typeface="Carlito" pitchFamily="34" charset="-120"/>
                        </a:rPr>
                        <a:t>Manage file/dir state/permissions</a:t>
                      </a:r>
                      <a:endParaRPr lang="en-US" sz="956" dirty="0">
                        <a:latin typeface="Carlito" charset="0"/>
                        <a:ea typeface="Carlito" charset="0"/>
                        <a:cs typeface="Carlito" charset="0"/>
                      </a:endParaRPr>
                    </a:p>
                  </a:txBody>
                  <a:tcPr marL="57150" marR="114300" marT="114300"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956" dirty="0">
                          <a:solidFill>
                            <a:srgbClr val="0F172A"/>
                          </a:solidFill>
                          <a:latin typeface="Carlito" pitchFamily="34" charset="0"/>
                          <a:ea typeface="Carlito" pitchFamily="34" charset="-122"/>
                          <a:cs typeface="Carlito" pitchFamily="34" charset="-120"/>
                        </a:rPr>
                        <a:t>path, state, mode, owner</a:t>
                      </a:r>
                      <a:endParaRPr lang="en-US" sz="956" dirty="0">
                        <a:latin typeface="Carlito" charset="0"/>
                        <a:ea typeface="Carlito" charset="0"/>
                        <a:cs typeface="Carlito" charset="0"/>
                      </a:endParaRPr>
                    </a:p>
                  </a:txBody>
                  <a:tcPr marL="57150" marR="114300" marT="114300"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5"/>
                  </a:ext>
                </a:extLst>
              </a:tr>
              <a:tr h="0">
                <a:tc>
                  <a:txBody>
                    <a:bodyPr/>
                    <a:lstStyle/>
                    <a:p>
                      <a:pPr marL="0" indent="0" algn="l">
                        <a:buNone/>
                      </a:pPr>
                      <a:r>
                        <a:rPr lang="en-US" sz="956" dirty="0">
                          <a:solidFill>
                            <a:srgbClr val="0F172A"/>
                          </a:solidFill>
                          <a:latin typeface="Carlito" pitchFamily="34" charset="0"/>
                          <a:ea typeface="Carlito" pitchFamily="34" charset="-122"/>
                          <a:cs typeface="Carlito" pitchFamily="34" charset="-120"/>
                        </a:rPr>
                        <a:t>service</a:t>
                      </a:r>
                      <a:endParaRPr lang="en-US" sz="956" dirty="0">
                        <a:latin typeface="Carlito" charset="0"/>
                        <a:ea typeface="Carlito" charset="0"/>
                        <a:cs typeface="Carlito" charset="0"/>
                      </a:endParaRPr>
                    </a:p>
                  </a:txBody>
                  <a:tcPr marL="57150" marR="114300" marT="114300"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956" dirty="0">
                          <a:solidFill>
                            <a:srgbClr val="0F172A"/>
                          </a:solidFill>
                          <a:latin typeface="Carlito" pitchFamily="34" charset="0"/>
                          <a:ea typeface="Carlito" pitchFamily="34" charset="-122"/>
                          <a:cs typeface="Carlito" pitchFamily="34" charset="-120"/>
                        </a:rPr>
                        <a:t>Manage systemd services</a:t>
                      </a:r>
                      <a:endParaRPr lang="en-US" sz="956" dirty="0">
                        <a:latin typeface="Carlito" charset="0"/>
                        <a:ea typeface="Carlito" charset="0"/>
                        <a:cs typeface="Carlito" charset="0"/>
                      </a:endParaRPr>
                    </a:p>
                  </a:txBody>
                  <a:tcPr marL="57150" marR="114300" marT="114300"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956" dirty="0">
                          <a:solidFill>
                            <a:srgbClr val="0F172A"/>
                          </a:solidFill>
                          <a:latin typeface="Carlito" pitchFamily="34" charset="0"/>
                          <a:ea typeface="Carlito" pitchFamily="34" charset="-122"/>
                          <a:cs typeface="Carlito" pitchFamily="34" charset="-120"/>
                        </a:rPr>
                        <a:t>name, state, enabled</a:t>
                      </a:r>
                      <a:endParaRPr lang="en-US" sz="956" dirty="0">
                        <a:latin typeface="Carlito" charset="0"/>
                        <a:ea typeface="Carlito" charset="0"/>
                        <a:cs typeface="Carlito" charset="0"/>
                      </a:endParaRPr>
                    </a:p>
                  </a:txBody>
                  <a:tcPr marL="57150" marR="114300" marT="114300"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6"/>
                  </a:ext>
                </a:extLst>
              </a:tr>
              <a:tr h="0">
                <a:tc>
                  <a:txBody>
                    <a:bodyPr/>
                    <a:lstStyle/>
                    <a:p>
                      <a:pPr marL="0" indent="0" algn="l">
                        <a:buNone/>
                      </a:pPr>
                      <a:r>
                        <a:rPr lang="en-US" sz="956" dirty="0">
                          <a:solidFill>
                            <a:srgbClr val="0F172A"/>
                          </a:solidFill>
                          <a:latin typeface="Carlito" pitchFamily="34" charset="0"/>
                          <a:ea typeface="Carlito" pitchFamily="34" charset="-122"/>
                          <a:cs typeface="Carlito" pitchFamily="34" charset="-120"/>
                        </a:rPr>
                        <a:t>user</a:t>
                      </a:r>
                      <a:endParaRPr lang="en-US" sz="956" dirty="0">
                        <a:latin typeface="Carlito" charset="0"/>
                        <a:ea typeface="Carlito" charset="0"/>
                        <a:cs typeface="Carlito" charset="0"/>
                      </a:endParaRPr>
                    </a:p>
                  </a:txBody>
                  <a:tcPr marL="57150" marR="114300" marT="114300"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956" dirty="0">
                          <a:solidFill>
                            <a:srgbClr val="0F172A"/>
                          </a:solidFill>
                          <a:latin typeface="Carlito" pitchFamily="34" charset="0"/>
                          <a:ea typeface="Carlito" pitchFamily="34" charset="-122"/>
                          <a:cs typeface="Carlito" pitchFamily="34" charset="-120"/>
                        </a:rPr>
                        <a:t>Create/manage users</a:t>
                      </a:r>
                      <a:endParaRPr lang="en-US" sz="956" dirty="0">
                        <a:latin typeface="Carlito" charset="0"/>
                        <a:ea typeface="Carlito" charset="0"/>
                        <a:cs typeface="Carlito" charset="0"/>
                      </a:endParaRPr>
                    </a:p>
                  </a:txBody>
                  <a:tcPr marL="57150" marR="114300" marT="114300"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956" dirty="0">
                          <a:solidFill>
                            <a:srgbClr val="0F172A"/>
                          </a:solidFill>
                          <a:latin typeface="Carlito" pitchFamily="34" charset="0"/>
                          <a:ea typeface="Carlito" pitchFamily="34" charset="-122"/>
                          <a:cs typeface="Carlito" pitchFamily="34" charset="-120"/>
                        </a:rPr>
                        <a:t>name, uid, groups, shell</a:t>
                      </a:r>
                      <a:endParaRPr lang="en-US" sz="956" dirty="0">
                        <a:latin typeface="Carlito" charset="0"/>
                        <a:ea typeface="Carlito" charset="0"/>
                        <a:cs typeface="Carlito" charset="0"/>
                      </a:endParaRPr>
                    </a:p>
                  </a:txBody>
                  <a:tcPr marL="57150" marR="114300" marT="114300"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7"/>
                  </a:ext>
                </a:extLst>
              </a:tr>
              <a:tr h="0">
                <a:tc>
                  <a:txBody>
                    <a:bodyPr/>
                    <a:lstStyle/>
                    <a:p>
                      <a:pPr marL="0" indent="0" algn="l">
                        <a:buNone/>
                      </a:pPr>
                      <a:r>
                        <a:rPr lang="en-US" sz="956" dirty="0">
                          <a:solidFill>
                            <a:srgbClr val="0F172A"/>
                          </a:solidFill>
                          <a:latin typeface="Carlito" pitchFamily="34" charset="0"/>
                          <a:ea typeface="Carlito" pitchFamily="34" charset="-122"/>
                          <a:cs typeface="Carlito" pitchFamily="34" charset="-120"/>
                        </a:rPr>
                        <a:t>group</a:t>
                      </a:r>
                      <a:endParaRPr lang="en-US" sz="956" dirty="0">
                        <a:latin typeface="Carlito" charset="0"/>
                        <a:ea typeface="Carlito" charset="0"/>
                        <a:cs typeface="Carlito" charset="0"/>
                      </a:endParaRPr>
                    </a:p>
                  </a:txBody>
                  <a:tcPr marL="57150" marR="114300" marT="114300"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956" dirty="0">
                          <a:solidFill>
                            <a:srgbClr val="0F172A"/>
                          </a:solidFill>
                          <a:latin typeface="Carlito" pitchFamily="34" charset="0"/>
                          <a:ea typeface="Carlito" pitchFamily="34" charset="-122"/>
                          <a:cs typeface="Carlito" pitchFamily="34" charset="-120"/>
                        </a:rPr>
                        <a:t>Create/manage groups</a:t>
                      </a:r>
                      <a:endParaRPr lang="en-US" sz="956" dirty="0">
                        <a:latin typeface="Carlito" charset="0"/>
                        <a:ea typeface="Carlito" charset="0"/>
                        <a:cs typeface="Carlito" charset="0"/>
                      </a:endParaRPr>
                    </a:p>
                  </a:txBody>
                  <a:tcPr marL="57150" marR="114300" marT="114300"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956" dirty="0">
                          <a:solidFill>
                            <a:srgbClr val="0F172A"/>
                          </a:solidFill>
                          <a:latin typeface="Carlito" pitchFamily="34" charset="0"/>
                          <a:ea typeface="Carlito" pitchFamily="34" charset="-122"/>
                          <a:cs typeface="Carlito" pitchFamily="34" charset="-120"/>
                        </a:rPr>
                        <a:t>name, gid, state</a:t>
                      </a:r>
                      <a:endParaRPr lang="en-US" sz="956" dirty="0">
                        <a:latin typeface="Carlito" charset="0"/>
                        <a:ea typeface="Carlito" charset="0"/>
                        <a:cs typeface="Carlito" charset="0"/>
                      </a:endParaRPr>
                    </a:p>
                  </a:txBody>
                  <a:tcPr marL="57150" marR="114300" marT="114300"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8"/>
                  </a:ext>
                </a:extLst>
              </a:tr>
              <a:tr h="0">
                <a:tc>
                  <a:txBody>
                    <a:bodyPr/>
                    <a:lstStyle/>
                    <a:p>
                      <a:pPr marL="0" indent="0" algn="l">
                        <a:buNone/>
                      </a:pPr>
                      <a:r>
                        <a:rPr lang="en-US" sz="956" dirty="0">
                          <a:solidFill>
                            <a:srgbClr val="0F172A"/>
                          </a:solidFill>
                          <a:latin typeface="Carlito" pitchFamily="34" charset="0"/>
                          <a:ea typeface="Carlito" pitchFamily="34" charset="-122"/>
                          <a:cs typeface="Carlito" pitchFamily="34" charset="-120"/>
                        </a:rPr>
                        <a:t>git</a:t>
                      </a:r>
                      <a:endParaRPr lang="en-US" sz="956" dirty="0">
                        <a:latin typeface="Carlito" charset="0"/>
                        <a:ea typeface="Carlito" charset="0"/>
                        <a:cs typeface="Carlito" charset="0"/>
                      </a:endParaRPr>
                    </a:p>
                  </a:txBody>
                  <a:tcPr marL="57150" marR="114300" marT="114300"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956" dirty="0">
                          <a:solidFill>
                            <a:srgbClr val="0F172A"/>
                          </a:solidFill>
                          <a:latin typeface="Carlito" pitchFamily="34" charset="0"/>
                          <a:ea typeface="Carlito" pitchFamily="34" charset="-122"/>
                          <a:cs typeface="Carlito" pitchFamily="34" charset="-120"/>
                        </a:rPr>
                        <a:t>Clone/pull git repos</a:t>
                      </a:r>
                      <a:endParaRPr lang="en-US" sz="956" dirty="0">
                        <a:latin typeface="Carlito" charset="0"/>
                        <a:ea typeface="Carlito" charset="0"/>
                        <a:cs typeface="Carlito" charset="0"/>
                      </a:endParaRPr>
                    </a:p>
                  </a:txBody>
                  <a:tcPr marL="57150" marR="114300" marT="114300"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956" dirty="0">
                          <a:solidFill>
                            <a:srgbClr val="0F172A"/>
                          </a:solidFill>
                          <a:latin typeface="Carlito" pitchFamily="34" charset="0"/>
                          <a:ea typeface="Carlito" pitchFamily="34" charset="-122"/>
                          <a:cs typeface="Carlito" pitchFamily="34" charset="-120"/>
                        </a:rPr>
                        <a:t>repo, dest, version</a:t>
                      </a:r>
                      <a:endParaRPr lang="en-US" sz="956" dirty="0">
                        <a:latin typeface="Carlito" charset="0"/>
                        <a:ea typeface="Carlito" charset="0"/>
                        <a:cs typeface="Carlito" charset="0"/>
                      </a:endParaRPr>
                    </a:p>
                  </a:txBody>
                  <a:tcPr marL="57150" marR="114300" marT="114300"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9"/>
                  </a:ext>
                </a:extLst>
              </a:tr>
              <a:tr h="0">
                <a:tc>
                  <a:txBody>
                    <a:bodyPr/>
                    <a:lstStyle/>
                    <a:p>
                      <a:pPr marL="0" indent="0" algn="l">
                        <a:buNone/>
                      </a:pPr>
                      <a:r>
                        <a:rPr lang="en-US" sz="956" dirty="0">
                          <a:solidFill>
                            <a:srgbClr val="0F172A"/>
                          </a:solidFill>
                          <a:latin typeface="Carlito" pitchFamily="34" charset="0"/>
                          <a:ea typeface="Carlito" pitchFamily="34" charset="-122"/>
                          <a:cs typeface="Carlito" pitchFamily="34" charset="-120"/>
                        </a:rPr>
                        <a:t>command</a:t>
                      </a:r>
                      <a:endParaRPr lang="en-US" sz="956" dirty="0">
                        <a:latin typeface="Carlito" charset="0"/>
                        <a:ea typeface="Carlito" charset="0"/>
                        <a:cs typeface="Carlito" charset="0"/>
                      </a:endParaRPr>
                    </a:p>
                  </a:txBody>
                  <a:tcPr marL="57150" marR="114300" marT="114300"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EF2F2"/>
                    </a:solidFill>
                  </a:tcPr>
                </a:tc>
                <a:tc>
                  <a:txBody>
                    <a:bodyPr/>
                    <a:lstStyle/>
                    <a:p>
                      <a:pPr marL="0" indent="0" algn="l">
                        <a:buNone/>
                      </a:pPr>
                      <a:r>
                        <a:rPr lang="en-US" sz="956" dirty="0">
                          <a:solidFill>
                            <a:srgbClr val="0F172A"/>
                          </a:solidFill>
                          <a:latin typeface="Carlito" pitchFamily="34" charset="0"/>
                          <a:ea typeface="Carlito" pitchFamily="34" charset="-122"/>
                          <a:cs typeface="Carlito" pitchFamily="34" charset="-120"/>
                        </a:rPr>
                        <a:t>Run shell command (NOT idempotent)</a:t>
                      </a:r>
                      <a:endParaRPr lang="en-US" sz="956" dirty="0">
                        <a:latin typeface="Carlito" charset="0"/>
                        <a:ea typeface="Carlito" charset="0"/>
                        <a:cs typeface="Carlito" charset="0"/>
                      </a:endParaRPr>
                    </a:p>
                  </a:txBody>
                  <a:tcPr marL="57150" marR="114300" marT="114300"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EF2F2"/>
                    </a:solidFill>
                  </a:tcPr>
                </a:tc>
                <a:tc>
                  <a:txBody>
                    <a:bodyPr/>
                    <a:lstStyle/>
                    <a:p>
                      <a:pPr marL="0" indent="0" algn="l">
                        <a:buNone/>
                      </a:pPr>
                      <a:r>
                        <a:rPr lang="en-US" sz="956" dirty="0">
                          <a:solidFill>
                            <a:srgbClr val="0F172A"/>
                          </a:solidFill>
                          <a:latin typeface="Carlito" pitchFamily="34" charset="0"/>
                          <a:ea typeface="Carlito" pitchFamily="34" charset="-122"/>
                          <a:cs typeface="Carlito" pitchFamily="34" charset="-120"/>
                        </a:rPr>
                        <a:t>cmd, chdir</a:t>
                      </a:r>
                      <a:endParaRPr lang="en-US" sz="956" dirty="0">
                        <a:latin typeface="Carlito" charset="0"/>
                        <a:ea typeface="Carlito" charset="0"/>
                        <a:cs typeface="Carlito" charset="0"/>
                      </a:endParaRPr>
                    </a:p>
                  </a:txBody>
                  <a:tcPr marL="57150" marR="114300" marT="114300"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EF2F2"/>
                    </a:solidFill>
                  </a:tcPr>
                </a:tc>
                <a:extLst>
                  <a:ext uri="{0D108BD9-81ED-4DB2-BD59-A6C34878D82A}">
                    <a16:rowId xmlns:a16="http://schemas.microsoft.com/office/drawing/2014/main" val="10010"/>
                  </a:ext>
                </a:extLst>
              </a:tr>
              <a:tr h="0">
                <a:tc>
                  <a:txBody>
                    <a:bodyPr/>
                    <a:lstStyle/>
                    <a:p>
                      <a:pPr marL="0" indent="0" algn="l">
                        <a:buNone/>
                      </a:pPr>
                      <a:r>
                        <a:rPr lang="en-US" sz="956" dirty="0">
                          <a:solidFill>
                            <a:srgbClr val="0F172A"/>
                          </a:solidFill>
                          <a:latin typeface="Carlito" pitchFamily="34" charset="0"/>
                          <a:ea typeface="Carlito" pitchFamily="34" charset="-122"/>
                          <a:cs typeface="Carlito" pitchFamily="34" charset="-120"/>
                        </a:rPr>
                        <a:t>shell</a:t>
                      </a:r>
                      <a:endParaRPr lang="en-US" sz="956" dirty="0">
                        <a:latin typeface="Carlito" charset="0"/>
                        <a:ea typeface="Carlito" charset="0"/>
                        <a:cs typeface="Carlito" charset="0"/>
                      </a:endParaRPr>
                    </a:p>
                  </a:txBody>
                  <a:tcPr marL="57150" marR="114300" marT="114300"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EF2F2"/>
                    </a:solidFill>
                  </a:tcPr>
                </a:tc>
                <a:tc>
                  <a:txBody>
                    <a:bodyPr/>
                    <a:lstStyle/>
                    <a:p>
                      <a:pPr marL="0" indent="0" algn="l">
                        <a:buNone/>
                      </a:pPr>
                      <a:r>
                        <a:rPr lang="en-US" sz="956" dirty="0">
                          <a:solidFill>
                            <a:srgbClr val="0F172A"/>
                          </a:solidFill>
                          <a:latin typeface="Carlito" pitchFamily="34" charset="0"/>
                          <a:ea typeface="Carlito" pitchFamily="34" charset="-122"/>
                          <a:cs typeface="Carlito" pitchFamily="34" charset="-120"/>
                        </a:rPr>
                        <a:t>Run shell with pipes (NOT idempotent)</a:t>
                      </a:r>
                      <a:endParaRPr lang="en-US" sz="956" dirty="0">
                        <a:latin typeface="Carlito" charset="0"/>
                        <a:ea typeface="Carlito" charset="0"/>
                        <a:cs typeface="Carlito" charset="0"/>
                      </a:endParaRPr>
                    </a:p>
                  </a:txBody>
                  <a:tcPr marL="57150" marR="114300" marT="114300"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EF2F2"/>
                    </a:solidFill>
                  </a:tcPr>
                </a:tc>
                <a:tc>
                  <a:txBody>
                    <a:bodyPr/>
                    <a:lstStyle/>
                    <a:p>
                      <a:pPr marL="0" indent="0" algn="l">
                        <a:buNone/>
                      </a:pPr>
                      <a:r>
                        <a:rPr lang="en-US" sz="956" dirty="0">
                          <a:solidFill>
                            <a:srgbClr val="0F172A"/>
                          </a:solidFill>
                          <a:latin typeface="Carlito" pitchFamily="34" charset="0"/>
                          <a:ea typeface="Carlito" pitchFamily="34" charset="-122"/>
                          <a:cs typeface="Carlito" pitchFamily="34" charset="-120"/>
                        </a:rPr>
                        <a:t>cmd, chdir</a:t>
                      </a:r>
                      <a:endParaRPr lang="en-US" sz="956" dirty="0">
                        <a:latin typeface="Carlito" charset="0"/>
                        <a:ea typeface="Carlito" charset="0"/>
                        <a:cs typeface="Carlito" charset="0"/>
                      </a:endParaRPr>
                    </a:p>
                  </a:txBody>
                  <a:tcPr marL="57150" marR="114300" marT="114300"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EF2F2"/>
                    </a:solidFill>
                  </a:tcPr>
                </a:tc>
                <a:extLst>
                  <a:ext uri="{0D108BD9-81ED-4DB2-BD59-A6C34878D82A}">
                    <a16:rowId xmlns:a16="http://schemas.microsoft.com/office/drawing/2014/main" val="10011"/>
                  </a:ext>
                </a:extLst>
              </a:tr>
              <a:tr h="0">
                <a:tc>
                  <a:txBody>
                    <a:bodyPr/>
                    <a:lstStyle/>
                    <a:p>
                      <a:pPr marL="0" indent="0" algn="l">
                        <a:buNone/>
                      </a:pPr>
                      <a:r>
                        <a:rPr lang="en-US" sz="956" dirty="0">
                          <a:solidFill>
                            <a:srgbClr val="0F172A"/>
                          </a:solidFill>
                          <a:latin typeface="Carlito" pitchFamily="34" charset="0"/>
                          <a:ea typeface="Carlito" pitchFamily="34" charset="-122"/>
                          <a:cs typeface="Carlito" pitchFamily="34" charset="-120"/>
                        </a:rPr>
                        <a:t>debug</a:t>
                      </a:r>
                      <a:endParaRPr lang="en-US" sz="956" dirty="0">
                        <a:latin typeface="Carlito" charset="0"/>
                        <a:ea typeface="Carlito" charset="0"/>
                        <a:cs typeface="Carlito" charset="0"/>
                      </a:endParaRPr>
                    </a:p>
                  </a:txBody>
                  <a:tcPr marL="57150" marR="114300" marT="114300"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956" dirty="0">
                          <a:solidFill>
                            <a:srgbClr val="0F172A"/>
                          </a:solidFill>
                          <a:latin typeface="Carlito" pitchFamily="34" charset="0"/>
                          <a:ea typeface="Carlito" pitchFamily="34" charset="-122"/>
                          <a:cs typeface="Carlito" pitchFamily="34" charset="-120"/>
                        </a:rPr>
                        <a:t>Print a message or variable</a:t>
                      </a:r>
                      <a:endParaRPr lang="en-US" sz="956" dirty="0">
                        <a:latin typeface="Carlito" charset="0"/>
                        <a:ea typeface="Carlito" charset="0"/>
                        <a:cs typeface="Carlito" charset="0"/>
                      </a:endParaRPr>
                    </a:p>
                  </a:txBody>
                  <a:tcPr marL="57150" marR="114300" marT="114300"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956" dirty="0">
                          <a:solidFill>
                            <a:srgbClr val="0F172A"/>
                          </a:solidFill>
                          <a:latin typeface="Carlito" pitchFamily="34" charset="0"/>
                          <a:ea typeface="Carlito" pitchFamily="34" charset="-122"/>
                          <a:cs typeface="Carlito" pitchFamily="34" charset="-120"/>
                        </a:rPr>
                        <a:t>msg, var</a:t>
                      </a:r>
                      <a:endParaRPr lang="en-US" sz="956" dirty="0">
                        <a:latin typeface="Carlito" charset="0"/>
                        <a:ea typeface="Carlito" charset="0"/>
                        <a:cs typeface="Carlito" charset="0"/>
                      </a:endParaRPr>
                    </a:p>
                  </a:txBody>
                  <a:tcPr marL="57150" marR="114300" marT="114300" marB="571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12"/>
                  </a:ext>
                </a:extLst>
              </a:tr>
            </a:tbl>
          </a:graphicData>
        </a:graphic>
      </p:graphicFrame>
      <p:sp>
        <p:nvSpPr>
          <p:cNvPr id="8" name="Text 5"/>
          <p:cNvSpPr/>
          <p:nvPr/>
        </p:nvSpPr>
        <p:spPr>
          <a:xfrm>
            <a:off x="400050" y="4896483"/>
            <a:ext cx="8343900" cy="302828"/>
          </a:xfrm>
          <a:prstGeom prst="roundRect">
            <a:avLst>
              <a:gd name="adj" fmla="val 25163"/>
            </a:avLst>
          </a:prstGeom>
          <a:solidFill>
            <a:srgbClr val="FEF2F2"/>
          </a:solidFill>
          <a:ln/>
        </p:spPr>
        <p:txBody>
          <a:bodyPr wrap="square" rtlCol="0" anchor="ctr"/>
          <a:lstStyle/>
          <a:p>
            <a:pPr marL="0" indent="0">
              <a:buNone/>
            </a:pPr>
            <a:endParaRPr lang="en-US" dirty="0"/>
          </a:p>
        </p:txBody>
      </p:sp>
      <p:sp>
        <p:nvSpPr>
          <p:cNvPr id="9" name="Shape 6"/>
          <p:cNvSpPr/>
          <p:nvPr/>
        </p:nvSpPr>
        <p:spPr>
          <a:xfrm>
            <a:off x="421481" y="4896483"/>
            <a:ext cx="0" cy="302828"/>
          </a:xfrm>
          <a:prstGeom prst="line">
            <a:avLst/>
          </a:prstGeom>
          <a:noFill/>
          <a:ln w="42863">
            <a:solidFill>
              <a:srgbClr val="DC2626"/>
            </a:solidFill>
            <a:prstDash val="solid"/>
          </a:ln>
        </p:spPr>
      </p:sp>
      <p:sp>
        <p:nvSpPr>
          <p:cNvPr id="10" name="Text 7"/>
          <p:cNvSpPr/>
          <p:nvPr/>
        </p:nvSpPr>
        <p:spPr>
          <a:xfrm>
            <a:off x="742950" y="4975064"/>
            <a:ext cx="4077295" cy="154305"/>
          </a:xfrm>
          <a:prstGeom prst="rect">
            <a:avLst/>
          </a:prstGeom>
          <a:noFill/>
          <a:ln/>
        </p:spPr>
        <p:txBody>
          <a:bodyPr wrap="square" lIns="114300" tIns="71438" rIns="114300" bIns="71438" rtlCol="0" anchor="t"/>
          <a:lstStyle/>
          <a:p>
            <a:pPr marL="0" indent="0" algn="l">
              <a:lnSpc>
                <a:spcPts val="1260"/>
              </a:lnSpc>
              <a:buNone/>
            </a:pPr>
            <a:r>
              <a:rPr lang="en-US" sz="900" dirty="0">
                <a:solidFill>
                  <a:srgbClr val="0F172A"/>
                </a:solidFill>
                <a:latin typeface="Carlito" pitchFamily="34" charset="0"/>
                <a:ea typeface="Carlito" pitchFamily="34" charset="-122"/>
                <a:cs typeface="Carlito" pitchFamily="34" charset="-120"/>
              </a:rPr>
              <a:t>Avoid and when a real module exists. They break idempotency.</a:t>
            </a:r>
            <a:endParaRPr lang="en-US" sz="900" dirty="0"/>
          </a:p>
        </p:txBody>
      </p:sp>
      <p:sp>
        <p:nvSpPr>
          <p:cNvPr id="11" name="Text 8"/>
          <p:cNvSpPr/>
          <p:nvPr/>
        </p:nvSpPr>
        <p:spPr>
          <a:xfrm>
            <a:off x="557213" y="4990691"/>
            <a:ext cx="114300" cy="114300"/>
          </a:xfrm>
          <a:prstGeom prst="rect">
            <a:avLst/>
          </a:prstGeom>
          <a:noFill/>
          <a:ln/>
        </p:spPr>
        <p:txBody>
          <a:bodyPr wrap="none" lIns="0" tIns="0" rIns="0" bIns="0" rtlCol="0" anchor="ctr"/>
          <a:lstStyle/>
          <a:p>
            <a:pPr marL="0" indent="0" algn="ctr">
              <a:buNone/>
            </a:pPr>
            <a:r>
              <a:rPr lang="en-US" sz="1125" dirty="0">
                <a:solidFill>
                  <a:srgbClr val="DC2626"/>
                </a:solidFill>
                <a:latin typeface="Segoe UI Symbol" pitchFamily="34" charset="0"/>
                <a:ea typeface="Segoe UI Symbol" pitchFamily="34" charset="-122"/>
                <a:cs typeface="Segoe UI Symbol" pitchFamily="34" charset="-120"/>
              </a:rPr>
              <a:t>⚠</a:t>
            </a:r>
            <a:endParaRPr lang="en-US" sz="1125" dirty="0"/>
          </a:p>
        </p:txBody>
      </p:sp>
      <p:sp>
        <p:nvSpPr>
          <p:cNvPr id="12" name="Text 9"/>
          <p:cNvSpPr/>
          <p:nvPr/>
        </p:nvSpPr>
        <p:spPr>
          <a:xfrm>
            <a:off x="1079153" y="4967920"/>
            <a:ext cx="780566" cy="159953"/>
          </a:xfrm>
          <a:prstGeom prst="rect">
            <a:avLst/>
          </a:prstGeom>
          <a:noFill/>
          <a:ln/>
        </p:spPr>
        <p:txBody>
          <a:bodyPr wrap="none" lIns="0" tIns="0" rIns="0" bIns="0" rtlCol="0" anchor="t"/>
          <a:lstStyle/>
          <a:p>
            <a:pPr marL="0" indent="0" algn="l">
              <a:lnSpc>
                <a:spcPts val="1260"/>
              </a:lnSpc>
              <a:buNone/>
            </a:pPr>
            <a:r>
              <a:rPr lang="en-US" sz="900" dirty="0">
                <a:solidFill>
                  <a:srgbClr val="F97316"/>
                </a:solidFill>
                <a:latin typeface="Carlito" pitchFamily="34" charset="0"/>
                <a:ea typeface="Carlito" pitchFamily="34" charset="-122"/>
                <a:cs typeface="Carlito" pitchFamily="34" charset="-120"/>
              </a:rPr>
              <a:t>command</a:t>
            </a:r>
            <a:endParaRPr lang="en-US" sz="900" dirty="0"/>
          </a:p>
        </p:txBody>
      </p:sp>
      <p:sp>
        <p:nvSpPr>
          <p:cNvPr id="13" name="Text 10"/>
          <p:cNvSpPr/>
          <p:nvPr/>
        </p:nvSpPr>
        <p:spPr>
          <a:xfrm>
            <a:off x="1895438" y="4967920"/>
            <a:ext cx="6734212" cy="159953"/>
          </a:xfrm>
          <a:prstGeom prst="rect">
            <a:avLst/>
          </a:prstGeom>
          <a:noFill/>
          <a:ln/>
        </p:spPr>
        <p:txBody>
          <a:bodyPr wrap="none" lIns="0" tIns="0" rIns="0" bIns="0" rtlCol="0" anchor="t"/>
          <a:lstStyle/>
          <a:p>
            <a:pPr marL="0" indent="0" algn="l">
              <a:lnSpc>
                <a:spcPts val="1260"/>
              </a:lnSpc>
              <a:buNone/>
            </a:pPr>
            <a:r>
              <a:rPr lang="en-US" sz="900" dirty="0">
                <a:solidFill>
                  <a:srgbClr val="F97316"/>
                </a:solidFill>
                <a:latin typeface="Carlito" pitchFamily="34" charset="0"/>
                <a:ea typeface="Carlito" pitchFamily="34" charset="-122"/>
                <a:cs typeface="Carlito" pitchFamily="34" charset="-120"/>
              </a:rPr>
              <a:t>shell</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28625" y="342900"/>
            <a:ext cx="2576455" cy="339471"/>
          </a:xfrm>
          <a:prstGeom prst="rect">
            <a:avLst/>
          </a:prstGeom>
          <a:noFill/>
          <a:ln/>
        </p:spPr>
        <p:txBody>
          <a:bodyPr wrap="none" lIns="0" tIns="0" rIns="0" bIns="0" rtlCol="0" anchor="t"/>
          <a:lstStyle/>
          <a:p>
            <a:pPr marL="0" indent="0" algn="l">
              <a:lnSpc>
                <a:spcPts val="2475"/>
              </a:lnSpc>
              <a:buNone/>
            </a:pPr>
            <a:r>
              <a:rPr lang="en-US" sz="2250" b="1" dirty="0">
                <a:solidFill>
                  <a:srgbClr val="0F172A"/>
                </a:solidFill>
                <a:latin typeface="Carlito" pitchFamily="34" charset="0"/>
                <a:ea typeface="Carlito" pitchFamily="34" charset="-122"/>
                <a:cs typeface="Carlito" pitchFamily="34" charset="-120"/>
              </a:rPr>
              <a:t>Variables and Facts</a:t>
            </a:r>
            <a:endParaRPr lang="en-US" sz="2250" dirty="0"/>
          </a:p>
        </p:txBody>
      </p:sp>
      <p:sp>
        <p:nvSpPr>
          <p:cNvPr id="3" name="Text 1"/>
          <p:cNvSpPr/>
          <p:nvPr/>
        </p:nvSpPr>
        <p:spPr>
          <a:xfrm>
            <a:off x="428625" y="742950"/>
            <a:ext cx="571500" cy="42863"/>
          </a:xfrm>
          <a:prstGeom prst="roundRect">
            <a:avLst>
              <a:gd name="adj" fmla="val 66666"/>
            </a:avLst>
          </a:prstGeom>
          <a:solidFill>
            <a:srgbClr val="F97316"/>
          </a:solidFill>
          <a:ln/>
        </p:spPr>
        <p:txBody>
          <a:bodyPr wrap="square" rtlCol="0" anchor="ctr"/>
          <a:lstStyle/>
          <a:p>
            <a:pPr marL="0" indent="0">
              <a:buNone/>
            </a:pPr>
            <a:endParaRPr lang="en-US" dirty="0"/>
          </a:p>
        </p:txBody>
      </p:sp>
      <p:sp>
        <p:nvSpPr>
          <p:cNvPr id="4" name="Text 2"/>
          <p:cNvSpPr/>
          <p:nvPr/>
        </p:nvSpPr>
        <p:spPr>
          <a:xfrm>
            <a:off x="7806913" y="330098"/>
            <a:ext cx="931322" cy="331333"/>
          </a:xfrm>
          <a:prstGeom prst="roundRect">
            <a:avLst>
              <a:gd name="adj" fmla="val 2871877"/>
            </a:avLst>
          </a:prstGeom>
          <a:solidFill>
            <a:srgbClr val="0F172A"/>
          </a:solidFill>
          <a:ln/>
        </p:spPr>
        <p:txBody>
          <a:bodyPr wrap="square" rtlCol="0" anchor="ctr"/>
          <a:lstStyle/>
          <a:p>
            <a:pPr marL="0" indent="0">
              <a:buNone/>
            </a:pPr>
            <a:endParaRPr lang="en-US" dirty="0"/>
          </a:p>
        </p:txBody>
      </p:sp>
      <p:sp>
        <p:nvSpPr>
          <p:cNvPr id="5" name="Text 3"/>
          <p:cNvSpPr/>
          <p:nvPr/>
        </p:nvSpPr>
        <p:spPr>
          <a:xfrm>
            <a:off x="7829773" y="342900"/>
            <a:ext cx="885602" cy="305730"/>
          </a:xfrm>
          <a:prstGeom prst="rect">
            <a:avLst/>
          </a:prstGeom>
          <a:noFill/>
          <a:ln/>
        </p:spPr>
        <p:txBody>
          <a:bodyPr wrap="none" lIns="0" tIns="0" rIns="0" bIns="0" rtlCol="0" anchor="ctr"/>
          <a:lstStyle/>
          <a:p>
            <a:pPr marL="0" indent="0" algn="ctr">
              <a:lnSpc>
                <a:spcPts val="1733"/>
              </a:lnSpc>
              <a:buNone/>
            </a:pPr>
            <a:r>
              <a:rPr lang="en-US" sz="1238" b="1" kern="0" spc="28" dirty="0">
                <a:solidFill>
                  <a:srgbClr val="FFFFFF"/>
                </a:solidFill>
                <a:latin typeface="Liberation Sans Narrow" pitchFamily="34" charset="0"/>
                <a:ea typeface="Liberation Sans Narrow" pitchFamily="34" charset="-122"/>
                <a:cs typeface="Liberation Sans Narrow" pitchFamily="34" charset="-120"/>
              </a:rPr>
              <a:t>02 · Vars</a:t>
            </a:r>
            <a:endParaRPr lang="en-US" sz="1238" dirty="0"/>
          </a:p>
        </p:txBody>
      </p:sp>
      <p:sp>
        <p:nvSpPr>
          <p:cNvPr id="6" name="Text 4"/>
          <p:cNvSpPr/>
          <p:nvPr/>
        </p:nvSpPr>
        <p:spPr>
          <a:xfrm>
            <a:off x="432197" y="903684"/>
            <a:ext cx="4767225" cy="647067"/>
          </a:xfrm>
          <a:prstGeom prst="roundRect">
            <a:avLst>
              <a:gd name="adj" fmla="val 17664"/>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7" name="Text 5"/>
          <p:cNvSpPr/>
          <p:nvPr/>
        </p:nvSpPr>
        <p:spPr>
          <a:xfrm>
            <a:off x="550069" y="992981"/>
            <a:ext cx="342900" cy="194328"/>
          </a:xfrm>
          <a:prstGeom prst="rect">
            <a:avLst/>
          </a:prstGeom>
          <a:noFill/>
          <a:ln/>
        </p:spPr>
        <p:txBody>
          <a:bodyPr wrap="none" lIns="0" tIns="0" rIns="0" bIns="0" rtlCol="0" anchor="t"/>
          <a:lstStyle/>
          <a:p>
            <a:pPr marL="0" indent="0" algn="l">
              <a:lnSpc>
                <a:spcPts val="1418"/>
              </a:lnSpc>
              <a:buNone/>
            </a:pPr>
            <a:r>
              <a:rPr lang="en-US" sz="1013" b="1" dirty="0">
                <a:solidFill>
                  <a:srgbClr val="F97316"/>
                </a:solidFill>
                <a:latin typeface="Liberation Sans Narrow" pitchFamily="34" charset="0"/>
                <a:ea typeface="Liberation Sans Narrow" pitchFamily="34" charset="-122"/>
                <a:cs typeface="Liberation Sans Narrow" pitchFamily="34" charset="-120"/>
              </a:rPr>
              <a:t>01</a:t>
            </a:r>
            <a:endParaRPr lang="en-US" sz="1013" dirty="0"/>
          </a:p>
        </p:txBody>
      </p:sp>
      <p:sp>
        <p:nvSpPr>
          <p:cNvPr id="8" name="Text 6"/>
          <p:cNvSpPr/>
          <p:nvPr/>
        </p:nvSpPr>
        <p:spPr>
          <a:xfrm>
            <a:off x="4235909" y="1188653"/>
            <a:ext cx="671513" cy="128588"/>
          </a:xfrm>
          <a:prstGeom prst="roundRect">
            <a:avLst>
              <a:gd name="adj" fmla="val 29630"/>
            </a:avLst>
          </a:prstGeom>
          <a:solidFill>
            <a:srgbClr val="F1F5F9"/>
          </a:solidFill>
          <a:ln/>
        </p:spPr>
        <p:txBody>
          <a:bodyPr wrap="square" rtlCol="0" anchor="ctr"/>
          <a:lstStyle/>
          <a:p>
            <a:pPr marL="0" indent="0">
              <a:buNone/>
            </a:pPr>
            <a:endParaRPr lang="en-US" dirty="0"/>
          </a:p>
        </p:txBody>
      </p:sp>
      <p:sp>
        <p:nvSpPr>
          <p:cNvPr id="9" name="Text 7"/>
          <p:cNvSpPr/>
          <p:nvPr/>
        </p:nvSpPr>
        <p:spPr>
          <a:xfrm>
            <a:off x="850106" y="1188653"/>
            <a:ext cx="4231444" cy="272802"/>
          </a:xfrm>
          <a:prstGeom prst="rect">
            <a:avLst/>
          </a:prstGeom>
          <a:noFill/>
          <a:ln/>
        </p:spPr>
        <p:txBody>
          <a:bodyPr wrap="square" lIns="0" tIns="0" rIns="0" bIns="0" rtlCol="0" anchor="t"/>
          <a:lstStyle/>
          <a:p>
            <a:pPr marL="0" indent="0" algn="l">
              <a:lnSpc>
                <a:spcPts val="1103"/>
              </a:lnSpc>
              <a:buNone/>
            </a:pPr>
            <a:r>
              <a:rPr lang="en-US" sz="800" dirty="0">
                <a:solidFill>
                  <a:srgbClr val="334155"/>
                </a:solidFill>
                <a:latin typeface="Carlito" pitchFamily="34" charset="0"/>
                <a:ea typeface="Carlito" pitchFamily="34" charset="-122"/>
                <a:cs typeface="Carlito" pitchFamily="34" charset="-120"/>
              </a:rPr>
              <a:t>Defined in playbooks, inventory, or role defaults. set them. Accessed via in Jinja2.</a:t>
            </a:r>
            <a:endParaRPr lang="en-US" sz="800" dirty="0"/>
          </a:p>
        </p:txBody>
      </p:sp>
      <p:sp>
        <p:nvSpPr>
          <p:cNvPr id="10" name="Text 8"/>
          <p:cNvSpPr/>
          <p:nvPr/>
        </p:nvSpPr>
        <p:spPr>
          <a:xfrm>
            <a:off x="850106" y="992981"/>
            <a:ext cx="4231444" cy="168240"/>
          </a:xfrm>
          <a:prstGeom prst="rect">
            <a:avLst/>
          </a:prstGeom>
          <a:noFill/>
          <a:ln/>
        </p:spPr>
        <p:txBody>
          <a:bodyPr wrap="none" lIns="0" tIns="0" rIns="0" bIns="0" rtlCol="0" anchor="t">
            <a:normAutofit/>
          </a:bodyPr>
          <a:lstStyle/>
          <a:p>
            <a:pPr marL="0" indent="0" algn="l">
              <a:lnSpc>
                <a:spcPts val="1260"/>
              </a:lnSpc>
              <a:buNone/>
            </a:pPr>
            <a:r>
              <a:rPr lang="en-US" sz="900" b="1" dirty="0">
                <a:solidFill>
                  <a:srgbClr val="0F172A"/>
                </a:solidFill>
                <a:latin typeface="Carlito" pitchFamily="34" charset="0"/>
                <a:ea typeface="Carlito" pitchFamily="34" charset="-122"/>
                <a:cs typeface="Carlito" pitchFamily="34" charset="-120"/>
              </a:rPr>
              <a:t>Vars (User-Defined)</a:t>
            </a:r>
            <a:endParaRPr lang="en-US" sz="900" dirty="0"/>
          </a:p>
        </p:txBody>
      </p:sp>
      <p:sp>
        <p:nvSpPr>
          <p:cNvPr id="11" name="Text 9"/>
          <p:cNvSpPr/>
          <p:nvPr/>
        </p:nvSpPr>
        <p:spPr>
          <a:xfrm>
            <a:off x="2993231" y="1188653"/>
            <a:ext cx="262176" cy="133241"/>
          </a:xfrm>
          <a:prstGeom prst="rect">
            <a:avLst/>
          </a:prstGeom>
          <a:noFill/>
          <a:ln/>
        </p:spPr>
        <p:txBody>
          <a:bodyPr wrap="none" lIns="0" tIns="0" rIns="0" bIns="0" rtlCol="0" anchor="t"/>
          <a:lstStyle/>
          <a:p>
            <a:pPr marL="0" indent="0" algn="l">
              <a:lnSpc>
                <a:spcPts val="1103"/>
              </a:lnSpc>
              <a:buNone/>
            </a:pPr>
            <a:r>
              <a:rPr lang="en-US" sz="800" i="1" dirty="0">
                <a:solidFill>
                  <a:srgbClr val="334155"/>
                </a:solidFill>
                <a:latin typeface="Carlito" pitchFamily="34" charset="0"/>
                <a:ea typeface="Carlito" pitchFamily="34" charset="-122"/>
                <a:cs typeface="Carlito" pitchFamily="34" charset="-120"/>
              </a:rPr>
              <a:t>You</a:t>
            </a:r>
            <a:endParaRPr lang="en-US" sz="800" dirty="0"/>
          </a:p>
        </p:txBody>
      </p:sp>
      <p:sp>
        <p:nvSpPr>
          <p:cNvPr id="12" name="Text 10"/>
          <p:cNvSpPr/>
          <p:nvPr/>
        </p:nvSpPr>
        <p:spPr>
          <a:xfrm>
            <a:off x="4213049" y="1180938"/>
            <a:ext cx="717233" cy="144018"/>
          </a:xfrm>
          <a:prstGeom prst="roundRect">
            <a:avLst>
              <a:gd name="adj" fmla="val 26455"/>
            </a:avLst>
          </a:prstGeom>
          <a:solidFill>
            <a:srgbClr val="F1F5F9"/>
          </a:solidFill>
          <a:ln/>
        </p:spPr>
        <p:txBody>
          <a:bodyPr wrap="square" rtlCol="0" anchor="ctr"/>
          <a:lstStyle/>
          <a:p>
            <a:pPr marL="0" indent="0">
              <a:buNone/>
            </a:pPr>
            <a:endParaRPr lang="en-US" dirty="0"/>
          </a:p>
        </p:txBody>
      </p:sp>
      <p:sp>
        <p:nvSpPr>
          <p:cNvPr id="13" name="Text 11"/>
          <p:cNvSpPr/>
          <p:nvPr/>
        </p:nvSpPr>
        <p:spPr>
          <a:xfrm>
            <a:off x="4167246" y="1188653"/>
            <a:ext cx="808838" cy="128588"/>
          </a:xfrm>
          <a:prstGeom prst="rect">
            <a:avLst/>
          </a:prstGeom>
          <a:noFill/>
          <a:ln/>
        </p:spPr>
        <p:txBody>
          <a:bodyPr wrap="none" lIns="0" tIns="0" rIns="0" bIns="0" rtlCol="0" anchor="ctr"/>
          <a:lstStyle/>
          <a:p>
            <a:pPr marL="0" indent="0" algn="ctr">
              <a:lnSpc>
                <a:spcPts val="945"/>
              </a:lnSpc>
              <a:buNone/>
            </a:pPr>
            <a:r>
              <a:rPr lang="en-US" sz="800" dirty="0">
                <a:solidFill>
                  <a:srgbClr val="0F172A"/>
                </a:solidFill>
                <a:latin typeface="Courier New" pitchFamily="34" charset="0"/>
                <a:ea typeface="Courier New" pitchFamily="34" charset="-122"/>
                <a:cs typeface="Courier New" pitchFamily="34" charset="-120"/>
              </a:rPr>
              <a:t>{{ var_name }}</a:t>
            </a:r>
            <a:endParaRPr lang="en-US" sz="800" dirty="0"/>
          </a:p>
        </p:txBody>
      </p:sp>
      <p:sp>
        <p:nvSpPr>
          <p:cNvPr id="14" name="Text 12"/>
          <p:cNvSpPr/>
          <p:nvPr/>
        </p:nvSpPr>
        <p:spPr>
          <a:xfrm>
            <a:off x="432197" y="1643621"/>
            <a:ext cx="4767225" cy="647067"/>
          </a:xfrm>
          <a:prstGeom prst="roundRect">
            <a:avLst>
              <a:gd name="adj" fmla="val 17664"/>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15" name="Text 13"/>
          <p:cNvSpPr/>
          <p:nvPr/>
        </p:nvSpPr>
        <p:spPr>
          <a:xfrm>
            <a:off x="550069" y="1732917"/>
            <a:ext cx="342900" cy="194328"/>
          </a:xfrm>
          <a:prstGeom prst="rect">
            <a:avLst/>
          </a:prstGeom>
          <a:noFill/>
          <a:ln/>
        </p:spPr>
        <p:txBody>
          <a:bodyPr wrap="none" lIns="0" tIns="0" rIns="0" bIns="0" rtlCol="0" anchor="t"/>
          <a:lstStyle/>
          <a:p>
            <a:pPr marL="0" indent="0" algn="l">
              <a:lnSpc>
                <a:spcPts val="1418"/>
              </a:lnSpc>
              <a:buNone/>
            </a:pPr>
            <a:r>
              <a:rPr lang="en-US" sz="1013" b="1" dirty="0">
                <a:solidFill>
                  <a:srgbClr val="F97316"/>
                </a:solidFill>
                <a:latin typeface="Liberation Sans Narrow" pitchFamily="34" charset="0"/>
                <a:ea typeface="Liberation Sans Narrow" pitchFamily="34" charset="-122"/>
                <a:cs typeface="Liberation Sans Narrow" pitchFamily="34" charset="-120"/>
              </a:rPr>
              <a:t>02</a:t>
            </a:r>
            <a:endParaRPr lang="en-US" sz="1013" dirty="0"/>
          </a:p>
        </p:txBody>
      </p:sp>
      <p:sp>
        <p:nvSpPr>
          <p:cNvPr id="16" name="Text 14"/>
          <p:cNvSpPr/>
          <p:nvPr/>
        </p:nvSpPr>
        <p:spPr>
          <a:xfrm>
            <a:off x="1403300" y="2068562"/>
            <a:ext cx="1014413" cy="128588"/>
          </a:xfrm>
          <a:prstGeom prst="roundRect">
            <a:avLst>
              <a:gd name="adj" fmla="val 29630"/>
            </a:avLst>
          </a:prstGeom>
          <a:solidFill>
            <a:srgbClr val="F1F5F9"/>
          </a:solidFill>
          <a:ln/>
        </p:spPr>
        <p:txBody>
          <a:bodyPr wrap="square" rtlCol="0" anchor="ctr"/>
          <a:lstStyle/>
          <a:p>
            <a:pPr marL="0" indent="0">
              <a:buNone/>
            </a:pPr>
            <a:endParaRPr lang="en-US" dirty="0"/>
          </a:p>
        </p:txBody>
      </p:sp>
      <p:sp>
        <p:nvSpPr>
          <p:cNvPr id="17" name="Text 15"/>
          <p:cNvSpPr/>
          <p:nvPr/>
        </p:nvSpPr>
        <p:spPr>
          <a:xfrm>
            <a:off x="2477765" y="2068562"/>
            <a:ext cx="1185863" cy="128588"/>
          </a:xfrm>
          <a:prstGeom prst="roundRect">
            <a:avLst>
              <a:gd name="adj" fmla="val 29630"/>
            </a:avLst>
          </a:prstGeom>
          <a:solidFill>
            <a:srgbClr val="F1F5F9"/>
          </a:solidFill>
          <a:ln/>
        </p:spPr>
        <p:txBody>
          <a:bodyPr wrap="square" rtlCol="0" anchor="ctr"/>
          <a:lstStyle/>
          <a:p>
            <a:pPr marL="0" indent="0">
              <a:buNone/>
            </a:pPr>
            <a:endParaRPr lang="en-US" dirty="0"/>
          </a:p>
        </p:txBody>
      </p:sp>
      <p:sp>
        <p:nvSpPr>
          <p:cNvPr id="18" name="Text 16"/>
          <p:cNvSpPr/>
          <p:nvPr/>
        </p:nvSpPr>
        <p:spPr>
          <a:xfrm>
            <a:off x="850106" y="1928589"/>
            <a:ext cx="4231444" cy="272802"/>
          </a:xfrm>
          <a:prstGeom prst="rect">
            <a:avLst/>
          </a:prstGeom>
          <a:noFill/>
          <a:ln/>
        </p:spPr>
        <p:txBody>
          <a:bodyPr wrap="square" lIns="0" tIns="0" rIns="0" bIns="0" rtlCol="0" anchor="t"/>
          <a:lstStyle/>
          <a:p>
            <a:pPr marL="0" indent="0" algn="l">
              <a:lnSpc>
                <a:spcPts val="1103"/>
              </a:lnSpc>
              <a:buNone/>
            </a:pPr>
            <a:r>
              <a:rPr lang="en-US" sz="800" dirty="0">
                <a:solidFill>
                  <a:srgbClr val="334155"/>
                </a:solidFill>
                <a:latin typeface="Carlito" pitchFamily="34" charset="0"/>
                <a:ea typeface="Carlito" pitchFamily="34" charset="-122"/>
                <a:cs typeface="Carlito" pitchFamily="34" charset="-120"/>
              </a:rPr>
              <a:t>Ansible connects to the host and gathers facts: OS, IP, memory, disks, hostname, CPU. Available as , , etc.</a:t>
            </a:r>
            <a:endParaRPr lang="en-US" sz="800" dirty="0"/>
          </a:p>
        </p:txBody>
      </p:sp>
      <p:sp>
        <p:nvSpPr>
          <p:cNvPr id="19" name="Text 17"/>
          <p:cNvSpPr/>
          <p:nvPr/>
        </p:nvSpPr>
        <p:spPr>
          <a:xfrm>
            <a:off x="850106" y="1732917"/>
            <a:ext cx="4341172" cy="172749"/>
          </a:xfrm>
          <a:prstGeom prst="rect">
            <a:avLst/>
          </a:prstGeom>
          <a:noFill/>
          <a:ln/>
        </p:spPr>
        <p:txBody>
          <a:bodyPr wrap="square" lIns="0" tIns="0" rIns="0" bIns="0" rtlCol="0" anchor="t"/>
          <a:lstStyle/>
          <a:p>
            <a:pPr marL="0" indent="0" algn="l">
              <a:lnSpc>
                <a:spcPts val="1260"/>
              </a:lnSpc>
              <a:buNone/>
            </a:pPr>
            <a:r>
              <a:rPr lang="en-US" sz="900" b="1" dirty="0">
                <a:solidFill>
                  <a:srgbClr val="0F172A"/>
                </a:solidFill>
                <a:latin typeface="Carlito" pitchFamily="34" charset="0"/>
                <a:ea typeface="Carlito" pitchFamily="34" charset="-122"/>
                <a:cs typeface="Carlito" pitchFamily="34" charset="-120"/>
              </a:rPr>
              <a:t>Facts (System-Discovered)</a:t>
            </a:r>
            <a:endParaRPr lang="en-US" sz="900" dirty="0"/>
          </a:p>
        </p:txBody>
      </p:sp>
      <p:sp>
        <p:nvSpPr>
          <p:cNvPr id="20" name="Text 18"/>
          <p:cNvSpPr/>
          <p:nvPr/>
        </p:nvSpPr>
        <p:spPr>
          <a:xfrm>
            <a:off x="1403300" y="2060847"/>
            <a:ext cx="1014413" cy="144018"/>
          </a:xfrm>
          <a:prstGeom prst="roundRect">
            <a:avLst>
              <a:gd name="adj" fmla="val 26455"/>
            </a:avLst>
          </a:prstGeom>
          <a:solidFill>
            <a:srgbClr val="F1F5F9"/>
          </a:solidFill>
          <a:ln/>
        </p:spPr>
        <p:txBody>
          <a:bodyPr wrap="square" rtlCol="0" anchor="ctr"/>
          <a:lstStyle/>
          <a:p>
            <a:pPr marL="0" indent="0">
              <a:buNone/>
            </a:pPr>
            <a:endParaRPr lang="en-US" dirty="0"/>
          </a:p>
        </p:txBody>
      </p:sp>
      <p:sp>
        <p:nvSpPr>
          <p:cNvPr id="21" name="Text 19"/>
          <p:cNvSpPr/>
          <p:nvPr/>
        </p:nvSpPr>
        <p:spPr>
          <a:xfrm>
            <a:off x="1403300" y="2068562"/>
            <a:ext cx="1014413" cy="128588"/>
          </a:xfrm>
          <a:prstGeom prst="rect">
            <a:avLst/>
          </a:prstGeom>
          <a:noFill/>
          <a:ln/>
        </p:spPr>
        <p:txBody>
          <a:bodyPr wrap="none" lIns="0" tIns="0" rIns="0" bIns="0" rtlCol="0" anchor="ctr"/>
          <a:lstStyle/>
          <a:p>
            <a:pPr marL="0" indent="0" algn="ctr">
              <a:lnSpc>
                <a:spcPts val="945"/>
              </a:lnSpc>
              <a:buNone/>
            </a:pPr>
            <a:r>
              <a:rPr lang="en-US" sz="800" dirty="0">
                <a:solidFill>
                  <a:srgbClr val="0F172A"/>
                </a:solidFill>
                <a:latin typeface="Courier New" pitchFamily="34" charset="0"/>
                <a:ea typeface="Courier New" pitchFamily="34" charset="-122"/>
                <a:cs typeface="Courier New" pitchFamily="34" charset="-120"/>
              </a:rPr>
              <a:t>{{ ansible_hostname }}</a:t>
            </a:r>
            <a:endParaRPr lang="en-US" sz="800" dirty="0"/>
          </a:p>
        </p:txBody>
      </p:sp>
      <p:sp>
        <p:nvSpPr>
          <p:cNvPr id="22" name="Text 20"/>
          <p:cNvSpPr/>
          <p:nvPr/>
        </p:nvSpPr>
        <p:spPr>
          <a:xfrm>
            <a:off x="2477765" y="2068562"/>
            <a:ext cx="1185863" cy="128588"/>
          </a:xfrm>
          <a:prstGeom prst="roundRect">
            <a:avLst>
              <a:gd name="adj" fmla="val 29630"/>
            </a:avLst>
          </a:prstGeom>
          <a:solidFill>
            <a:srgbClr val="F1F5F9"/>
          </a:solidFill>
          <a:ln/>
        </p:spPr>
        <p:txBody>
          <a:bodyPr wrap="square" rtlCol="0" anchor="ctr"/>
          <a:lstStyle/>
          <a:p>
            <a:pPr marL="0" indent="0">
              <a:buNone/>
            </a:pPr>
            <a:endParaRPr lang="en-US" dirty="0"/>
          </a:p>
        </p:txBody>
      </p:sp>
      <p:sp>
        <p:nvSpPr>
          <p:cNvPr id="23" name="Text 21"/>
          <p:cNvSpPr/>
          <p:nvPr/>
        </p:nvSpPr>
        <p:spPr>
          <a:xfrm>
            <a:off x="2477765" y="2068562"/>
            <a:ext cx="1185863" cy="132829"/>
          </a:xfrm>
          <a:prstGeom prst="rect">
            <a:avLst/>
          </a:prstGeom>
          <a:noFill/>
          <a:ln/>
        </p:spPr>
        <p:txBody>
          <a:bodyPr wrap="square" lIns="35719" tIns="7144" rIns="35719" bIns="7144" rtlCol="0" anchor="t"/>
          <a:lstStyle/>
          <a:p>
            <a:pPr marL="0" indent="0" algn="l">
              <a:lnSpc>
                <a:spcPts val="945"/>
              </a:lnSpc>
              <a:buNone/>
            </a:pPr>
            <a:r>
              <a:rPr lang="en-US" sz="675" dirty="0">
                <a:solidFill>
                  <a:srgbClr val="0F172A"/>
                </a:solidFill>
                <a:latin typeface="Courier New" pitchFamily="34" charset="0"/>
                <a:ea typeface="Courier New" pitchFamily="34" charset="-122"/>
                <a:cs typeface="Courier New" pitchFamily="34" charset="-120"/>
              </a:rPr>
              <a:t>{{ ansible_distribution }}</a:t>
            </a:r>
            <a:endParaRPr lang="en-US" sz="675" dirty="0"/>
          </a:p>
        </p:txBody>
      </p:sp>
      <p:sp>
        <p:nvSpPr>
          <p:cNvPr id="24" name="Text 22"/>
          <p:cNvSpPr/>
          <p:nvPr/>
        </p:nvSpPr>
        <p:spPr>
          <a:xfrm>
            <a:off x="432197" y="2383557"/>
            <a:ext cx="4767225" cy="647067"/>
          </a:xfrm>
          <a:prstGeom prst="roundRect">
            <a:avLst>
              <a:gd name="adj" fmla="val 17664"/>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25" name="Text 23"/>
          <p:cNvSpPr/>
          <p:nvPr/>
        </p:nvSpPr>
        <p:spPr>
          <a:xfrm>
            <a:off x="550069" y="2472854"/>
            <a:ext cx="342900" cy="194328"/>
          </a:xfrm>
          <a:prstGeom prst="rect">
            <a:avLst/>
          </a:prstGeom>
          <a:noFill/>
          <a:ln/>
        </p:spPr>
        <p:txBody>
          <a:bodyPr wrap="none" lIns="0" tIns="0" rIns="0" bIns="0" rtlCol="0" anchor="t"/>
          <a:lstStyle/>
          <a:p>
            <a:pPr marL="0" indent="0" algn="l">
              <a:lnSpc>
                <a:spcPts val="1418"/>
              </a:lnSpc>
              <a:buNone/>
            </a:pPr>
            <a:r>
              <a:rPr lang="en-US" sz="1013" b="1" dirty="0">
                <a:solidFill>
                  <a:srgbClr val="F97316"/>
                </a:solidFill>
                <a:latin typeface="Liberation Sans Narrow" pitchFamily="34" charset="0"/>
                <a:ea typeface="Liberation Sans Narrow" pitchFamily="34" charset="-122"/>
                <a:cs typeface="Liberation Sans Narrow" pitchFamily="34" charset="-120"/>
              </a:rPr>
              <a:t>03</a:t>
            </a:r>
            <a:endParaRPr lang="en-US" sz="1013" dirty="0"/>
          </a:p>
        </p:txBody>
      </p:sp>
      <p:sp>
        <p:nvSpPr>
          <p:cNvPr id="26" name="Text 24"/>
          <p:cNvSpPr/>
          <p:nvPr/>
        </p:nvSpPr>
        <p:spPr>
          <a:xfrm>
            <a:off x="1441363" y="2668525"/>
            <a:ext cx="842963" cy="128588"/>
          </a:xfrm>
          <a:prstGeom prst="roundRect">
            <a:avLst>
              <a:gd name="adj" fmla="val 29630"/>
            </a:avLst>
          </a:prstGeom>
          <a:solidFill>
            <a:srgbClr val="F1F5F9"/>
          </a:solidFill>
          <a:ln/>
        </p:spPr>
        <p:txBody>
          <a:bodyPr wrap="square" rtlCol="0" anchor="ctr"/>
          <a:lstStyle/>
          <a:p>
            <a:pPr marL="0" indent="0">
              <a:buNone/>
            </a:pPr>
            <a:endParaRPr lang="en-US" dirty="0"/>
          </a:p>
        </p:txBody>
      </p:sp>
      <p:sp>
        <p:nvSpPr>
          <p:cNvPr id="27" name="Text 25"/>
          <p:cNvSpPr/>
          <p:nvPr/>
        </p:nvSpPr>
        <p:spPr>
          <a:xfrm>
            <a:off x="3544639" y="2668525"/>
            <a:ext cx="542925" cy="128588"/>
          </a:xfrm>
          <a:prstGeom prst="roundRect">
            <a:avLst>
              <a:gd name="adj" fmla="val 29630"/>
            </a:avLst>
          </a:prstGeom>
          <a:solidFill>
            <a:srgbClr val="F1F5F9"/>
          </a:solidFill>
          <a:ln/>
        </p:spPr>
        <p:txBody>
          <a:bodyPr wrap="square" rtlCol="0" anchor="ctr"/>
          <a:lstStyle/>
          <a:p>
            <a:pPr marL="0" indent="0">
              <a:buNone/>
            </a:pPr>
            <a:endParaRPr lang="en-US" dirty="0"/>
          </a:p>
        </p:txBody>
      </p:sp>
      <p:sp>
        <p:nvSpPr>
          <p:cNvPr id="28" name="Text 26"/>
          <p:cNvSpPr/>
          <p:nvPr/>
        </p:nvSpPr>
        <p:spPr>
          <a:xfrm>
            <a:off x="1017984" y="2808498"/>
            <a:ext cx="414338" cy="128588"/>
          </a:xfrm>
          <a:prstGeom prst="roundRect">
            <a:avLst>
              <a:gd name="adj" fmla="val 29630"/>
            </a:avLst>
          </a:prstGeom>
          <a:solidFill>
            <a:srgbClr val="F1F5F9"/>
          </a:solidFill>
          <a:ln/>
        </p:spPr>
        <p:txBody>
          <a:bodyPr wrap="square" rtlCol="0" anchor="ctr"/>
          <a:lstStyle/>
          <a:p>
            <a:pPr marL="0" indent="0">
              <a:buNone/>
            </a:pPr>
            <a:endParaRPr lang="en-US" dirty="0"/>
          </a:p>
        </p:txBody>
      </p:sp>
      <p:sp>
        <p:nvSpPr>
          <p:cNvPr id="29" name="Text 27"/>
          <p:cNvSpPr/>
          <p:nvPr/>
        </p:nvSpPr>
        <p:spPr>
          <a:xfrm>
            <a:off x="850106" y="2668525"/>
            <a:ext cx="4231444" cy="272802"/>
          </a:xfrm>
          <a:prstGeom prst="rect">
            <a:avLst/>
          </a:prstGeom>
          <a:noFill/>
          <a:ln/>
        </p:spPr>
        <p:txBody>
          <a:bodyPr wrap="square" lIns="0" tIns="0" rIns="0" bIns="0" rtlCol="0" anchor="t"/>
          <a:lstStyle/>
          <a:p>
            <a:pPr marL="0" indent="0" algn="l">
              <a:lnSpc>
                <a:spcPts val="1103"/>
              </a:lnSpc>
              <a:buNone/>
            </a:pPr>
            <a:r>
              <a:rPr lang="en-US" sz="800" dirty="0">
                <a:solidFill>
                  <a:srgbClr val="334155"/>
                </a:solidFill>
                <a:latin typeface="Carlito" pitchFamily="34" charset="0"/>
                <a:ea typeface="Carlito" pitchFamily="34" charset="-122"/>
                <a:cs typeface="Carlito" pitchFamily="34" charset="-120"/>
              </a:rPr>
              <a:t>Special vars: (the name in the inventory), (groups the host is in), (vars of other hosts).</a:t>
            </a:r>
            <a:endParaRPr lang="en-US" sz="800" dirty="0"/>
          </a:p>
        </p:txBody>
      </p:sp>
      <p:sp>
        <p:nvSpPr>
          <p:cNvPr id="30" name="Text 28"/>
          <p:cNvSpPr/>
          <p:nvPr/>
        </p:nvSpPr>
        <p:spPr>
          <a:xfrm>
            <a:off x="850106" y="2472854"/>
            <a:ext cx="4231444" cy="168240"/>
          </a:xfrm>
          <a:prstGeom prst="rect">
            <a:avLst/>
          </a:prstGeom>
          <a:noFill/>
          <a:ln/>
        </p:spPr>
        <p:txBody>
          <a:bodyPr wrap="none" lIns="0" tIns="0" rIns="0" bIns="0" rtlCol="0" anchor="t">
            <a:normAutofit/>
          </a:bodyPr>
          <a:lstStyle/>
          <a:p>
            <a:pPr marL="0" indent="0" algn="l">
              <a:lnSpc>
                <a:spcPts val="1260"/>
              </a:lnSpc>
              <a:buNone/>
            </a:pPr>
            <a:r>
              <a:rPr lang="en-US" sz="900" b="1" dirty="0">
                <a:solidFill>
                  <a:srgbClr val="0F172A"/>
                </a:solidFill>
                <a:latin typeface="Carlito" pitchFamily="34" charset="0"/>
                <a:ea typeface="Carlito" pitchFamily="34" charset="-122"/>
                <a:cs typeface="Carlito" pitchFamily="34" charset="-120"/>
              </a:rPr>
              <a:t>Magic Variables</a:t>
            </a:r>
            <a:endParaRPr lang="en-US" sz="900" dirty="0"/>
          </a:p>
        </p:txBody>
      </p:sp>
      <p:sp>
        <p:nvSpPr>
          <p:cNvPr id="31" name="Text 29"/>
          <p:cNvSpPr/>
          <p:nvPr/>
        </p:nvSpPr>
        <p:spPr>
          <a:xfrm>
            <a:off x="1418503" y="2660810"/>
            <a:ext cx="888683" cy="144018"/>
          </a:xfrm>
          <a:prstGeom prst="roundRect">
            <a:avLst>
              <a:gd name="adj" fmla="val 26455"/>
            </a:avLst>
          </a:prstGeom>
          <a:solidFill>
            <a:srgbClr val="F1F5F9"/>
          </a:solidFill>
          <a:ln/>
        </p:spPr>
        <p:txBody>
          <a:bodyPr wrap="square" rtlCol="0" anchor="ctr"/>
          <a:lstStyle/>
          <a:p>
            <a:pPr marL="0" indent="0">
              <a:buNone/>
            </a:pPr>
            <a:endParaRPr lang="en-US" dirty="0"/>
          </a:p>
        </p:txBody>
      </p:sp>
      <p:sp>
        <p:nvSpPr>
          <p:cNvPr id="32" name="Text 30"/>
          <p:cNvSpPr/>
          <p:nvPr/>
        </p:nvSpPr>
        <p:spPr>
          <a:xfrm>
            <a:off x="1441363" y="2668525"/>
            <a:ext cx="842963" cy="128588"/>
          </a:xfrm>
          <a:prstGeom prst="rect">
            <a:avLst/>
          </a:prstGeom>
          <a:noFill/>
          <a:ln/>
        </p:spPr>
        <p:txBody>
          <a:bodyPr wrap="none" lIns="0" tIns="0" rIns="0" bIns="0" rtlCol="0" anchor="ctr"/>
          <a:lstStyle/>
          <a:p>
            <a:pPr marL="0" indent="0" algn="ctr">
              <a:lnSpc>
                <a:spcPts val="945"/>
              </a:lnSpc>
              <a:buNone/>
            </a:pPr>
            <a:r>
              <a:rPr lang="en-US" sz="800" dirty="0">
                <a:solidFill>
                  <a:srgbClr val="0F172A"/>
                </a:solidFill>
                <a:latin typeface="Courier New" pitchFamily="34" charset="0"/>
                <a:ea typeface="Courier New" pitchFamily="34" charset="-122"/>
                <a:cs typeface="Courier New" pitchFamily="34" charset="-120"/>
              </a:rPr>
              <a:t>inventory_hostname</a:t>
            </a:r>
            <a:endParaRPr lang="en-US" sz="800" dirty="0"/>
          </a:p>
        </p:txBody>
      </p:sp>
      <p:sp>
        <p:nvSpPr>
          <p:cNvPr id="33" name="Text 31"/>
          <p:cNvSpPr/>
          <p:nvPr/>
        </p:nvSpPr>
        <p:spPr>
          <a:xfrm>
            <a:off x="3522922" y="2660810"/>
            <a:ext cx="586359" cy="144018"/>
          </a:xfrm>
          <a:prstGeom prst="roundRect">
            <a:avLst>
              <a:gd name="adj" fmla="val 26455"/>
            </a:avLst>
          </a:prstGeom>
          <a:solidFill>
            <a:srgbClr val="F1F5F9"/>
          </a:solidFill>
          <a:ln/>
        </p:spPr>
        <p:txBody>
          <a:bodyPr wrap="square" rtlCol="0" anchor="ctr"/>
          <a:lstStyle/>
          <a:p>
            <a:pPr marL="0" indent="0">
              <a:buNone/>
            </a:pPr>
            <a:endParaRPr lang="en-US" dirty="0"/>
          </a:p>
        </p:txBody>
      </p:sp>
      <p:sp>
        <p:nvSpPr>
          <p:cNvPr id="34" name="Text 32"/>
          <p:cNvSpPr/>
          <p:nvPr/>
        </p:nvSpPr>
        <p:spPr>
          <a:xfrm>
            <a:off x="3459638" y="2668525"/>
            <a:ext cx="712927" cy="112541"/>
          </a:xfrm>
          <a:prstGeom prst="rect">
            <a:avLst/>
          </a:prstGeom>
          <a:noFill/>
          <a:ln/>
        </p:spPr>
        <p:txBody>
          <a:bodyPr wrap="none" lIns="0" tIns="0" rIns="0" bIns="0" rtlCol="0" anchor="ctr">
            <a:normAutofit fontScale="92500"/>
          </a:bodyPr>
          <a:lstStyle/>
          <a:p>
            <a:pPr marL="0" indent="0" algn="ctr">
              <a:lnSpc>
                <a:spcPts val="945"/>
              </a:lnSpc>
              <a:buNone/>
            </a:pPr>
            <a:r>
              <a:rPr lang="en-US" sz="800" dirty="0">
                <a:solidFill>
                  <a:srgbClr val="0F172A"/>
                </a:solidFill>
                <a:latin typeface="Courier New" pitchFamily="34" charset="0"/>
                <a:ea typeface="Courier New" pitchFamily="34" charset="-122"/>
                <a:cs typeface="Courier New" pitchFamily="34" charset="-120"/>
              </a:rPr>
              <a:t>group_names</a:t>
            </a:r>
            <a:endParaRPr lang="en-US" sz="800" dirty="0"/>
          </a:p>
        </p:txBody>
      </p:sp>
      <p:sp>
        <p:nvSpPr>
          <p:cNvPr id="35" name="Text 33"/>
          <p:cNvSpPr/>
          <p:nvPr/>
        </p:nvSpPr>
        <p:spPr>
          <a:xfrm>
            <a:off x="1001411" y="2800783"/>
            <a:ext cx="447485" cy="144018"/>
          </a:xfrm>
          <a:prstGeom prst="roundRect">
            <a:avLst>
              <a:gd name="adj" fmla="val 26455"/>
            </a:avLst>
          </a:prstGeom>
          <a:solidFill>
            <a:srgbClr val="F1F5F9"/>
          </a:solidFill>
          <a:ln/>
        </p:spPr>
        <p:txBody>
          <a:bodyPr wrap="square" rtlCol="0" anchor="ctr"/>
          <a:lstStyle/>
          <a:p>
            <a:pPr marL="0" indent="0">
              <a:buNone/>
            </a:pPr>
            <a:endParaRPr lang="en-US" dirty="0"/>
          </a:p>
        </p:txBody>
      </p:sp>
      <p:sp>
        <p:nvSpPr>
          <p:cNvPr id="36" name="Text 34"/>
          <p:cNvSpPr/>
          <p:nvPr/>
        </p:nvSpPr>
        <p:spPr>
          <a:xfrm>
            <a:off x="958006" y="2808498"/>
            <a:ext cx="534294" cy="128588"/>
          </a:xfrm>
          <a:prstGeom prst="rect">
            <a:avLst/>
          </a:prstGeom>
          <a:noFill/>
          <a:ln/>
        </p:spPr>
        <p:txBody>
          <a:bodyPr wrap="none" lIns="0" tIns="0" rIns="0" bIns="0" rtlCol="0" anchor="ctr"/>
          <a:lstStyle/>
          <a:p>
            <a:pPr marL="0" indent="0" algn="ctr">
              <a:lnSpc>
                <a:spcPts val="945"/>
              </a:lnSpc>
              <a:buNone/>
            </a:pPr>
            <a:r>
              <a:rPr lang="en-US" sz="800" dirty="0">
                <a:solidFill>
                  <a:srgbClr val="0F172A"/>
                </a:solidFill>
                <a:latin typeface="Courier New" pitchFamily="34" charset="0"/>
                <a:ea typeface="Courier New" pitchFamily="34" charset="-122"/>
                <a:cs typeface="Courier New" pitchFamily="34" charset="-120"/>
              </a:rPr>
              <a:t>hostvars</a:t>
            </a:r>
            <a:endParaRPr lang="en-US" sz="800" dirty="0"/>
          </a:p>
        </p:txBody>
      </p:sp>
      <p:sp>
        <p:nvSpPr>
          <p:cNvPr id="37" name="Text 35"/>
          <p:cNvSpPr/>
          <p:nvPr/>
        </p:nvSpPr>
        <p:spPr>
          <a:xfrm>
            <a:off x="432197" y="3123493"/>
            <a:ext cx="4767225" cy="1024124"/>
          </a:xfrm>
          <a:prstGeom prst="roundRect">
            <a:avLst>
              <a:gd name="adj" fmla="val 11161"/>
            </a:avLst>
          </a:prstGeom>
          <a:solidFill>
            <a:srgbClr val="FFF7ED"/>
          </a:solidFill>
          <a:ln w="7144">
            <a:solidFill>
              <a:srgbClr val="F97316"/>
            </a:solidFill>
            <a:prstDash val="solid"/>
          </a:ln>
        </p:spPr>
        <p:txBody>
          <a:bodyPr wrap="square" rtlCol="0" anchor="ctr"/>
          <a:lstStyle/>
          <a:p>
            <a:pPr marL="0" indent="0">
              <a:buNone/>
            </a:pPr>
            <a:endParaRPr lang="en-US" dirty="0"/>
          </a:p>
        </p:txBody>
      </p:sp>
      <p:sp>
        <p:nvSpPr>
          <p:cNvPr id="38" name="Text 36"/>
          <p:cNvSpPr/>
          <p:nvPr/>
        </p:nvSpPr>
        <p:spPr>
          <a:xfrm>
            <a:off x="550069" y="3212790"/>
            <a:ext cx="342900" cy="194328"/>
          </a:xfrm>
          <a:prstGeom prst="rect">
            <a:avLst/>
          </a:prstGeom>
          <a:noFill/>
          <a:ln/>
        </p:spPr>
        <p:txBody>
          <a:bodyPr wrap="none" lIns="0" tIns="0" rIns="0" bIns="0" rtlCol="0" anchor="t"/>
          <a:lstStyle/>
          <a:p>
            <a:pPr marL="0" indent="0" algn="l">
              <a:lnSpc>
                <a:spcPts val="1418"/>
              </a:lnSpc>
              <a:buNone/>
            </a:pPr>
            <a:r>
              <a:rPr lang="en-US" sz="1013" b="1" dirty="0">
                <a:solidFill>
                  <a:srgbClr val="F97316"/>
                </a:solidFill>
                <a:latin typeface="Liberation Sans Narrow" pitchFamily="34" charset="0"/>
                <a:ea typeface="Liberation Sans Narrow" pitchFamily="34" charset="-122"/>
                <a:cs typeface="Liberation Sans Narrow" pitchFamily="34" charset="-120"/>
              </a:rPr>
              <a:t>04</a:t>
            </a:r>
            <a:endParaRPr lang="en-US" sz="1013" dirty="0"/>
          </a:p>
        </p:txBody>
      </p:sp>
      <p:sp>
        <p:nvSpPr>
          <p:cNvPr id="39" name="Text 37"/>
          <p:cNvSpPr/>
          <p:nvPr/>
        </p:nvSpPr>
        <p:spPr>
          <a:xfrm>
            <a:off x="850106" y="3596990"/>
            <a:ext cx="4231444" cy="286811"/>
          </a:xfrm>
          <a:prstGeom prst="rect">
            <a:avLst/>
          </a:prstGeom>
          <a:noFill/>
          <a:ln/>
        </p:spPr>
        <p:txBody>
          <a:bodyPr wrap="square" lIns="0" tIns="0" rIns="0" bIns="0" rtlCol="0" anchor="t"/>
          <a:lstStyle/>
          <a:p>
            <a:pPr marL="0" indent="0" algn="l">
              <a:lnSpc>
                <a:spcPts val="1103"/>
              </a:lnSpc>
              <a:buNone/>
            </a:pPr>
            <a:r>
              <a:rPr lang="en-US" sz="800" dirty="0">
                <a:solidFill>
                  <a:srgbClr val="334155"/>
                </a:solidFill>
                <a:latin typeface="Carlito" pitchFamily="34" charset="0"/>
                <a:ea typeface="Carlito" pitchFamily="34" charset="-122"/>
                <a:cs typeface="Carlito" pitchFamily="34" charset="-120"/>
              </a:rPr>
              <a:t>Defaults → inventory group → inventory host → playbook vars → playbook vars_prompt → extra-vars (CLI).</a:t>
            </a:r>
            <a:endParaRPr lang="en-US" sz="800" dirty="0"/>
          </a:p>
        </p:txBody>
      </p:sp>
      <p:sp>
        <p:nvSpPr>
          <p:cNvPr id="40" name="Text 38"/>
          <p:cNvSpPr/>
          <p:nvPr/>
        </p:nvSpPr>
        <p:spPr>
          <a:xfrm>
            <a:off x="850106" y="3212790"/>
            <a:ext cx="4231444" cy="161096"/>
          </a:xfrm>
          <a:prstGeom prst="rect">
            <a:avLst/>
          </a:prstGeom>
          <a:noFill/>
          <a:ln/>
        </p:spPr>
        <p:txBody>
          <a:bodyPr wrap="none" lIns="0" tIns="0" rIns="0" bIns="0" rtlCol="0" anchor="t">
            <a:normAutofit/>
          </a:bodyPr>
          <a:lstStyle/>
          <a:p>
            <a:pPr marL="0" indent="0" algn="l">
              <a:lnSpc>
                <a:spcPts val="1260"/>
              </a:lnSpc>
              <a:buNone/>
            </a:pPr>
            <a:r>
              <a:rPr lang="en-US" sz="900" b="1" dirty="0">
                <a:solidFill>
                  <a:srgbClr val="C2410C"/>
                </a:solidFill>
                <a:latin typeface="Carlito" pitchFamily="34" charset="0"/>
                <a:ea typeface="Carlito" pitchFamily="34" charset="-122"/>
                <a:cs typeface="Carlito" pitchFamily="34" charset="-120"/>
              </a:rPr>
              <a:t>Variable Precedence</a:t>
            </a:r>
            <a:endParaRPr lang="en-US" sz="900" dirty="0"/>
          </a:p>
        </p:txBody>
      </p:sp>
      <p:sp>
        <p:nvSpPr>
          <p:cNvPr id="41" name="Text 39"/>
          <p:cNvSpPr/>
          <p:nvPr/>
        </p:nvSpPr>
        <p:spPr>
          <a:xfrm>
            <a:off x="850106" y="3401318"/>
            <a:ext cx="4231444" cy="172749"/>
          </a:xfrm>
          <a:prstGeom prst="rect">
            <a:avLst/>
          </a:prstGeom>
          <a:noFill/>
          <a:ln/>
        </p:spPr>
        <p:txBody>
          <a:bodyPr wrap="none" lIns="0" tIns="0" rIns="0" bIns="0" rtlCol="0" anchor="t"/>
          <a:lstStyle/>
          <a:p>
            <a:pPr marL="0" indent="0" algn="l">
              <a:lnSpc>
                <a:spcPts val="1260"/>
              </a:lnSpc>
              <a:buNone/>
            </a:pPr>
            <a:r>
              <a:rPr lang="en-US" sz="900" b="1" dirty="0">
                <a:solidFill>
                  <a:srgbClr val="0F172A"/>
                </a:solidFill>
                <a:latin typeface="Liberation Sans Narrow" pitchFamily="34" charset="0"/>
                <a:ea typeface="Liberation Sans Narrow" pitchFamily="34" charset="-122"/>
                <a:cs typeface="Liberation Sans Narrow" pitchFamily="34" charset="-120"/>
              </a:rPr>
              <a:t>22 levels!</a:t>
            </a:r>
            <a:endParaRPr lang="en-US" sz="900" dirty="0"/>
          </a:p>
        </p:txBody>
      </p:sp>
      <p:sp>
        <p:nvSpPr>
          <p:cNvPr id="42" name="Text 40"/>
          <p:cNvSpPr/>
          <p:nvPr/>
        </p:nvSpPr>
        <p:spPr>
          <a:xfrm>
            <a:off x="850106" y="3869792"/>
            <a:ext cx="4231444" cy="172749"/>
          </a:xfrm>
          <a:prstGeom prst="rect">
            <a:avLst/>
          </a:prstGeom>
          <a:noFill/>
          <a:ln/>
        </p:spPr>
        <p:txBody>
          <a:bodyPr wrap="none" lIns="0" tIns="0" rIns="0" bIns="0" rtlCol="0" anchor="t"/>
          <a:lstStyle/>
          <a:p>
            <a:pPr marL="0" indent="0" algn="l">
              <a:lnSpc>
                <a:spcPts val="1260"/>
              </a:lnSpc>
              <a:buNone/>
            </a:pPr>
            <a:r>
              <a:rPr lang="en-US" sz="900" b="1" dirty="0">
                <a:solidFill>
                  <a:srgbClr val="0F172A"/>
                </a:solidFill>
                <a:latin typeface="Carlito" pitchFamily="34" charset="0"/>
                <a:ea typeface="Carlito" pitchFamily="34" charset="-122"/>
                <a:cs typeface="Carlito" pitchFamily="34" charset="-120"/>
              </a:rPr>
              <a:t>Extra-vars always wins.</a:t>
            </a:r>
            <a:endParaRPr lang="en-US" sz="900" dirty="0"/>
          </a:p>
        </p:txBody>
      </p:sp>
      <p:sp>
        <p:nvSpPr>
          <p:cNvPr id="43" name="Text 41"/>
          <p:cNvSpPr/>
          <p:nvPr/>
        </p:nvSpPr>
        <p:spPr>
          <a:xfrm>
            <a:off x="5345869" y="900113"/>
            <a:ext cx="3369506" cy="3900488"/>
          </a:xfrm>
          <a:prstGeom prst="roundRect">
            <a:avLst>
              <a:gd name="adj" fmla="val 3958"/>
            </a:avLst>
          </a:prstGeom>
          <a:solidFill>
            <a:srgbClr val="0F172A"/>
          </a:solidFill>
          <a:ln/>
        </p:spPr>
        <p:txBody>
          <a:bodyPr wrap="square" rtlCol="0" anchor="ctr"/>
          <a:lstStyle/>
          <a:p>
            <a:pPr marL="0" indent="0">
              <a:buNone/>
            </a:pPr>
            <a:endParaRPr lang="en-US" dirty="0"/>
          </a:p>
        </p:txBody>
      </p:sp>
      <p:sp>
        <p:nvSpPr>
          <p:cNvPr id="44" name="Text 42"/>
          <p:cNvSpPr/>
          <p:nvPr/>
        </p:nvSpPr>
        <p:spPr>
          <a:xfrm>
            <a:off x="5688769" y="1028700"/>
            <a:ext cx="1562338" cy="143490"/>
          </a:xfrm>
          <a:prstGeom prst="rect">
            <a:avLst/>
          </a:prstGeom>
          <a:noFill/>
          <a:ln/>
        </p:spPr>
        <p:txBody>
          <a:bodyPr wrap="none" lIns="0" tIns="0" rIns="0" bIns="0" rtlCol="0" anchor="t"/>
          <a:lstStyle/>
          <a:p>
            <a:pPr marL="0" indent="0" algn="l">
              <a:lnSpc>
                <a:spcPts val="1024"/>
              </a:lnSpc>
              <a:buNone/>
            </a:pPr>
            <a:r>
              <a:rPr lang="en-US" sz="731" kern="0" spc="56" dirty="0">
                <a:solidFill>
                  <a:srgbClr val="94A3B8"/>
                </a:solidFill>
                <a:latin typeface="Courier New" pitchFamily="34" charset="0"/>
                <a:ea typeface="Courier New" pitchFamily="34" charset="-122"/>
                <a:cs typeface="Courier New" pitchFamily="34" charset="-120"/>
              </a:rPr>
              <a:t>SAMPLE FACTS (SETUP MODULE)</a:t>
            </a:r>
            <a:endParaRPr lang="en-US" sz="731" dirty="0"/>
          </a:p>
        </p:txBody>
      </p:sp>
      <p:sp>
        <p:nvSpPr>
          <p:cNvPr id="45" name="Text 43"/>
          <p:cNvSpPr/>
          <p:nvPr/>
        </p:nvSpPr>
        <p:spPr>
          <a:xfrm>
            <a:off x="5503032" y="1029370"/>
            <a:ext cx="128588" cy="128588"/>
          </a:xfrm>
          <a:prstGeom prst="rect">
            <a:avLst/>
          </a:prstGeom>
          <a:noFill/>
          <a:ln/>
        </p:spPr>
        <p:txBody>
          <a:bodyPr wrap="none" lIns="0" tIns="0" rIns="0" bIns="0" rtlCol="0" anchor="ctr"/>
          <a:lstStyle/>
          <a:p>
            <a:pPr marL="0" indent="0" algn="ctr">
              <a:buNone/>
            </a:pPr>
            <a:r>
              <a:rPr lang="en-US" sz="1266" dirty="0">
                <a:solidFill>
                  <a:srgbClr val="F97316"/>
                </a:solidFill>
                <a:latin typeface="Segoe UI Symbol" pitchFamily="34" charset="0"/>
                <a:ea typeface="Segoe UI Symbol" pitchFamily="34" charset="-122"/>
                <a:cs typeface="Segoe UI Symbol" pitchFamily="34" charset="-120"/>
              </a:rPr>
              <a:t>◆</a:t>
            </a:r>
            <a:endParaRPr lang="en-US" sz="1266" dirty="0"/>
          </a:p>
        </p:txBody>
      </p:sp>
      <p:sp>
        <p:nvSpPr>
          <p:cNvPr id="46" name="Text 44"/>
          <p:cNvSpPr/>
          <p:nvPr/>
        </p:nvSpPr>
        <p:spPr>
          <a:xfrm>
            <a:off x="5503032" y="1251496"/>
            <a:ext cx="1312664" cy="133241"/>
          </a:xfrm>
          <a:prstGeom prst="rect">
            <a:avLst/>
          </a:prstGeom>
          <a:noFill/>
          <a:ln/>
        </p:spPr>
        <p:txBody>
          <a:bodyPr wrap="none" lIns="0" tIns="0" rIns="0" bIns="0" rtlCol="0" anchor="t"/>
          <a:lstStyle/>
          <a:p>
            <a:pPr marL="0" indent="0" algn="l">
              <a:lnSpc>
                <a:spcPts val="1339"/>
              </a:lnSpc>
              <a:buNone/>
            </a:pPr>
            <a:r>
              <a:rPr lang="en-US" sz="800" dirty="0">
                <a:solidFill>
                  <a:srgbClr val="FBA74A"/>
                </a:solidFill>
                <a:latin typeface="Courier New" pitchFamily="34" charset="0"/>
                <a:ea typeface="Courier New" pitchFamily="34" charset="-122"/>
                <a:cs typeface="Courier New" pitchFamily="34" charset="-120"/>
              </a:rPr>
              <a:t>ansible_distribution:</a:t>
            </a:r>
            <a:endParaRPr lang="en-US" sz="800" dirty="0"/>
          </a:p>
        </p:txBody>
      </p:sp>
      <p:sp>
        <p:nvSpPr>
          <p:cNvPr id="47" name="Text 45"/>
          <p:cNvSpPr/>
          <p:nvPr/>
        </p:nvSpPr>
        <p:spPr>
          <a:xfrm>
            <a:off x="6603169" y="1251496"/>
            <a:ext cx="429054" cy="133241"/>
          </a:xfrm>
          <a:prstGeom prst="rect">
            <a:avLst/>
          </a:prstGeom>
          <a:noFill/>
          <a:ln/>
        </p:spPr>
        <p:txBody>
          <a:bodyPr wrap="none" lIns="0" tIns="0" rIns="0" bIns="0" rtlCol="0" anchor="t"/>
          <a:lstStyle/>
          <a:p>
            <a:pPr marL="0" indent="0" algn="l">
              <a:lnSpc>
                <a:spcPts val="1339"/>
              </a:lnSpc>
              <a:buNone/>
            </a:pPr>
            <a:r>
              <a:rPr lang="en-US" sz="800" dirty="0">
                <a:solidFill>
                  <a:srgbClr val="86EFAC"/>
                </a:solidFill>
                <a:latin typeface="Courier New" pitchFamily="34" charset="0"/>
                <a:ea typeface="Courier New" pitchFamily="34" charset="-122"/>
                <a:cs typeface="Courier New" pitchFamily="34" charset="-120"/>
              </a:rPr>
              <a:t>Ubuntu</a:t>
            </a:r>
            <a:endParaRPr lang="en-US" sz="800" dirty="0"/>
          </a:p>
        </p:txBody>
      </p:sp>
      <p:sp>
        <p:nvSpPr>
          <p:cNvPr id="48" name="Text 46"/>
          <p:cNvSpPr/>
          <p:nvPr/>
        </p:nvSpPr>
        <p:spPr>
          <a:xfrm>
            <a:off x="5503032" y="1421495"/>
            <a:ext cx="1566196" cy="133241"/>
          </a:xfrm>
          <a:prstGeom prst="rect">
            <a:avLst/>
          </a:prstGeom>
          <a:noFill/>
          <a:ln/>
        </p:spPr>
        <p:txBody>
          <a:bodyPr wrap="none" lIns="0" tIns="0" rIns="0" bIns="0" rtlCol="0" anchor="t"/>
          <a:lstStyle/>
          <a:p>
            <a:pPr marL="0" indent="0" algn="l">
              <a:lnSpc>
                <a:spcPts val="1339"/>
              </a:lnSpc>
              <a:buNone/>
            </a:pPr>
            <a:r>
              <a:rPr lang="en-US" sz="788" dirty="0">
                <a:solidFill>
                  <a:srgbClr val="FBA74A"/>
                </a:solidFill>
                <a:latin typeface="Courier New" pitchFamily="34" charset="0"/>
                <a:ea typeface="Courier New" pitchFamily="34" charset="-122"/>
                <a:cs typeface="Courier New" pitchFamily="34" charset="-120"/>
              </a:rPr>
              <a:t>ansible_distribution_version:</a:t>
            </a:r>
            <a:endParaRPr lang="en-US" sz="788" dirty="0"/>
          </a:p>
        </p:txBody>
      </p:sp>
      <p:sp>
        <p:nvSpPr>
          <p:cNvPr id="49" name="Text 47"/>
          <p:cNvSpPr/>
          <p:nvPr/>
        </p:nvSpPr>
        <p:spPr>
          <a:xfrm>
            <a:off x="7003219" y="1421495"/>
            <a:ext cx="500563" cy="133241"/>
          </a:xfrm>
          <a:prstGeom prst="rect">
            <a:avLst/>
          </a:prstGeom>
          <a:noFill/>
          <a:ln/>
        </p:spPr>
        <p:txBody>
          <a:bodyPr wrap="none" lIns="0" tIns="0" rIns="0" bIns="0" rtlCol="0" anchor="t"/>
          <a:lstStyle/>
          <a:p>
            <a:pPr marL="0" indent="0" algn="l">
              <a:lnSpc>
                <a:spcPts val="1339"/>
              </a:lnSpc>
              <a:buNone/>
            </a:pPr>
            <a:r>
              <a:rPr lang="en-US" sz="800" dirty="0">
                <a:solidFill>
                  <a:srgbClr val="86EFAC"/>
                </a:solidFill>
                <a:latin typeface="Liberation Sans Narrow" pitchFamily="34" charset="0"/>
                <a:ea typeface="Liberation Sans Narrow" pitchFamily="34" charset="-122"/>
                <a:cs typeface="Liberation Sans Narrow" pitchFamily="34" charset="-120"/>
              </a:rPr>
              <a:t>"22.04"</a:t>
            </a:r>
            <a:endParaRPr lang="en-US" sz="800" dirty="0"/>
          </a:p>
        </p:txBody>
      </p:sp>
      <p:sp>
        <p:nvSpPr>
          <p:cNvPr id="50" name="Text 48"/>
          <p:cNvSpPr/>
          <p:nvPr/>
        </p:nvSpPr>
        <p:spPr>
          <a:xfrm>
            <a:off x="5503032" y="1591494"/>
            <a:ext cx="1062633" cy="133241"/>
          </a:xfrm>
          <a:prstGeom prst="rect">
            <a:avLst/>
          </a:prstGeom>
          <a:noFill/>
          <a:ln/>
        </p:spPr>
        <p:txBody>
          <a:bodyPr wrap="none" lIns="0" tIns="0" rIns="0" bIns="0" rtlCol="0" anchor="t"/>
          <a:lstStyle/>
          <a:p>
            <a:pPr marL="0" indent="0" algn="l">
              <a:lnSpc>
                <a:spcPts val="1339"/>
              </a:lnSpc>
              <a:buNone/>
            </a:pPr>
            <a:r>
              <a:rPr lang="en-US" sz="800" dirty="0">
                <a:solidFill>
                  <a:srgbClr val="FBA74A"/>
                </a:solidFill>
                <a:latin typeface="Courier New" pitchFamily="34" charset="0"/>
                <a:ea typeface="Courier New" pitchFamily="34" charset="-122"/>
                <a:cs typeface="Courier New" pitchFamily="34" charset="-120"/>
              </a:rPr>
              <a:t>ansible_hostname:</a:t>
            </a:r>
            <a:endParaRPr lang="en-US" sz="800" dirty="0"/>
          </a:p>
        </p:txBody>
      </p:sp>
      <p:sp>
        <p:nvSpPr>
          <p:cNvPr id="51" name="Text 49"/>
          <p:cNvSpPr/>
          <p:nvPr/>
        </p:nvSpPr>
        <p:spPr>
          <a:xfrm>
            <a:off x="6403144" y="1591494"/>
            <a:ext cx="400050" cy="133241"/>
          </a:xfrm>
          <a:prstGeom prst="rect">
            <a:avLst/>
          </a:prstGeom>
          <a:noFill/>
          <a:ln/>
        </p:spPr>
        <p:txBody>
          <a:bodyPr wrap="none" lIns="0" tIns="0" rIns="0" bIns="0" rtlCol="0" anchor="t"/>
          <a:lstStyle/>
          <a:p>
            <a:pPr marL="0" indent="0" algn="l">
              <a:lnSpc>
                <a:spcPts val="1339"/>
              </a:lnSpc>
              <a:buNone/>
            </a:pPr>
            <a:r>
              <a:rPr lang="en-US" sz="800" dirty="0">
                <a:solidFill>
                  <a:srgbClr val="86EFAC"/>
                </a:solidFill>
                <a:latin typeface="Liberation Sans Narrow" pitchFamily="34" charset="0"/>
                <a:ea typeface="Liberation Sans Narrow" pitchFamily="34" charset="-122"/>
                <a:cs typeface="Liberation Sans Narrow" pitchFamily="34" charset="-120"/>
              </a:rPr>
              <a:t>web01</a:t>
            </a:r>
            <a:endParaRPr lang="en-US" sz="800" dirty="0"/>
          </a:p>
        </p:txBody>
      </p:sp>
      <p:sp>
        <p:nvSpPr>
          <p:cNvPr id="52" name="Text 50"/>
          <p:cNvSpPr/>
          <p:nvPr/>
        </p:nvSpPr>
        <p:spPr>
          <a:xfrm>
            <a:off x="5503032" y="1761492"/>
            <a:ext cx="1566196" cy="133241"/>
          </a:xfrm>
          <a:prstGeom prst="rect">
            <a:avLst/>
          </a:prstGeom>
          <a:noFill/>
          <a:ln/>
        </p:spPr>
        <p:txBody>
          <a:bodyPr wrap="none" lIns="0" tIns="0" rIns="0" bIns="0" rtlCol="0" anchor="t"/>
          <a:lstStyle/>
          <a:p>
            <a:pPr marL="0" indent="0" algn="l">
              <a:lnSpc>
                <a:spcPts val="1339"/>
              </a:lnSpc>
              <a:buNone/>
            </a:pPr>
            <a:r>
              <a:rPr lang="en-US" sz="788" dirty="0">
                <a:solidFill>
                  <a:srgbClr val="FBA74A"/>
                </a:solidFill>
                <a:latin typeface="Liberation Sans Narrow" pitchFamily="34" charset="0"/>
                <a:ea typeface="Liberation Sans Narrow" pitchFamily="34" charset="-122"/>
                <a:cs typeface="Liberation Sans Narrow" pitchFamily="34" charset="-120"/>
              </a:rPr>
              <a:t>ansible_default_ipv4.address:</a:t>
            </a:r>
            <a:endParaRPr lang="en-US" sz="788" dirty="0"/>
          </a:p>
        </p:txBody>
      </p:sp>
      <p:sp>
        <p:nvSpPr>
          <p:cNvPr id="53" name="Text 51"/>
          <p:cNvSpPr/>
          <p:nvPr/>
        </p:nvSpPr>
        <p:spPr>
          <a:xfrm>
            <a:off x="7003219" y="1761492"/>
            <a:ext cx="604076" cy="133241"/>
          </a:xfrm>
          <a:prstGeom prst="rect">
            <a:avLst/>
          </a:prstGeom>
          <a:noFill/>
          <a:ln/>
        </p:spPr>
        <p:txBody>
          <a:bodyPr wrap="none" lIns="0" tIns="0" rIns="0" bIns="0" rtlCol="0" anchor="t"/>
          <a:lstStyle/>
          <a:p>
            <a:pPr marL="0" indent="0" algn="l">
              <a:lnSpc>
                <a:spcPts val="1339"/>
              </a:lnSpc>
              <a:buNone/>
            </a:pPr>
            <a:r>
              <a:rPr lang="en-US" sz="800" dirty="0">
                <a:solidFill>
                  <a:srgbClr val="93C5FD"/>
                </a:solidFill>
                <a:latin typeface="Liberation Sans Narrow" pitchFamily="34" charset="0"/>
                <a:ea typeface="Liberation Sans Narrow" pitchFamily="34" charset="-122"/>
                <a:cs typeface="Liberation Sans Narrow" pitchFamily="34" charset="-120"/>
              </a:rPr>
              <a:t>10.0.1.5</a:t>
            </a:r>
            <a:endParaRPr lang="en-US" sz="800" dirty="0"/>
          </a:p>
        </p:txBody>
      </p:sp>
      <p:sp>
        <p:nvSpPr>
          <p:cNvPr id="54" name="Text 52"/>
          <p:cNvSpPr/>
          <p:nvPr/>
        </p:nvSpPr>
        <p:spPr>
          <a:xfrm>
            <a:off x="5503032" y="1931491"/>
            <a:ext cx="1566196" cy="133241"/>
          </a:xfrm>
          <a:prstGeom prst="rect">
            <a:avLst/>
          </a:prstGeom>
          <a:noFill/>
          <a:ln/>
        </p:spPr>
        <p:txBody>
          <a:bodyPr wrap="none" lIns="0" tIns="0" rIns="0" bIns="0" rtlCol="0" anchor="t"/>
          <a:lstStyle/>
          <a:p>
            <a:pPr marL="0" indent="0" algn="l">
              <a:lnSpc>
                <a:spcPts val="1339"/>
              </a:lnSpc>
              <a:buNone/>
            </a:pPr>
            <a:r>
              <a:rPr lang="en-US" sz="788" dirty="0">
                <a:solidFill>
                  <a:srgbClr val="FBA74A"/>
                </a:solidFill>
                <a:latin typeface="Courier New" pitchFamily="34" charset="0"/>
                <a:ea typeface="Courier New" pitchFamily="34" charset="-122"/>
                <a:cs typeface="Courier New" pitchFamily="34" charset="-120"/>
              </a:rPr>
              <a:t>ansible_memory_mb.real.total:</a:t>
            </a:r>
            <a:endParaRPr lang="en-US" sz="788" dirty="0"/>
          </a:p>
        </p:txBody>
      </p:sp>
      <p:sp>
        <p:nvSpPr>
          <p:cNvPr id="55" name="Text 53"/>
          <p:cNvSpPr/>
          <p:nvPr/>
        </p:nvSpPr>
        <p:spPr>
          <a:xfrm>
            <a:off x="6996798" y="1931491"/>
            <a:ext cx="332882" cy="133241"/>
          </a:xfrm>
          <a:prstGeom prst="rect">
            <a:avLst/>
          </a:prstGeom>
          <a:noFill/>
          <a:ln/>
        </p:spPr>
        <p:txBody>
          <a:bodyPr wrap="none" lIns="0" tIns="0" rIns="0" bIns="0" rtlCol="0" anchor="t"/>
          <a:lstStyle/>
          <a:p>
            <a:pPr marL="0" indent="0" algn="l">
              <a:lnSpc>
                <a:spcPts val="1339"/>
              </a:lnSpc>
              <a:buNone/>
            </a:pPr>
            <a:r>
              <a:rPr lang="en-US" sz="800" dirty="0">
                <a:solidFill>
                  <a:srgbClr val="93C5FD"/>
                </a:solidFill>
                <a:latin typeface="Liberation Sans Narrow" pitchFamily="34" charset="0"/>
                <a:ea typeface="Liberation Sans Narrow" pitchFamily="34" charset="-122"/>
                <a:cs typeface="Liberation Sans Narrow" pitchFamily="34" charset="-120"/>
              </a:rPr>
              <a:t>4096</a:t>
            </a:r>
            <a:endParaRPr lang="en-US" sz="800" dirty="0"/>
          </a:p>
        </p:txBody>
      </p:sp>
      <p:sp>
        <p:nvSpPr>
          <p:cNvPr id="56" name="Text 54"/>
          <p:cNvSpPr/>
          <p:nvPr/>
        </p:nvSpPr>
        <p:spPr>
          <a:xfrm>
            <a:off x="5503032" y="2101490"/>
            <a:ext cx="1296162" cy="133241"/>
          </a:xfrm>
          <a:prstGeom prst="rect">
            <a:avLst/>
          </a:prstGeom>
          <a:noFill/>
          <a:ln/>
        </p:spPr>
        <p:txBody>
          <a:bodyPr wrap="none" lIns="0" tIns="0" rIns="0" bIns="0" rtlCol="0" anchor="t"/>
          <a:lstStyle/>
          <a:p>
            <a:pPr marL="0" indent="0" algn="l">
              <a:lnSpc>
                <a:spcPts val="1339"/>
              </a:lnSpc>
              <a:buNone/>
            </a:pPr>
            <a:r>
              <a:rPr lang="en-US" sz="788" dirty="0">
                <a:solidFill>
                  <a:srgbClr val="FBA74A"/>
                </a:solidFill>
                <a:latin typeface="Courier New" pitchFamily="34" charset="0"/>
                <a:ea typeface="Courier New" pitchFamily="34" charset="-122"/>
                <a:cs typeface="Courier New" pitchFamily="34" charset="-120"/>
              </a:rPr>
              <a:t>ansible_processor_cores:</a:t>
            </a:r>
            <a:endParaRPr lang="en-US" sz="788" dirty="0"/>
          </a:p>
        </p:txBody>
      </p:sp>
      <p:sp>
        <p:nvSpPr>
          <p:cNvPr id="57" name="Text 55"/>
          <p:cNvSpPr/>
          <p:nvPr/>
        </p:nvSpPr>
        <p:spPr>
          <a:xfrm>
            <a:off x="6753188" y="2101490"/>
            <a:ext cx="91440" cy="133241"/>
          </a:xfrm>
          <a:prstGeom prst="rect">
            <a:avLst/>
          </a:prstGeom>
          <a:noFill/>
          <a:ln/>
        </p:spPr>
        <p:txBody>
          <a:bodyPr wrap="none" lIns="0" tIns="0" rIns="0" bIns="0" rtlCol="0" anchor="t"/>
          <a:lstStyle/>
          <a:p>
            <a:pPr marL="0" indent="0" algn="l">
              <a:lnSpc>
                <a:spcPts val="1339"/>
              </a:lnSpc>
              <a:buNone/>
            </a:pPr>
            <a:r>
              <a:rPr lang="en-US" sz="800" dirty="0">
                <a:solidFill>
                  <a:srgbClr val="93C5FD"/>
                </a:solidFill>
                <a:latin typeface="Liberation Sans Narrow" pitchFamily="34" charset="0"/>
                <a:ea typeface="Liberation Sans Narrow" pitchFamily="34" charset="-122"/>
                <a:cs typeface="Liberation Sans Narrow" pitchFamily="34" charset="-120"/>
              </a:rPr>
              <a:t>2</a:t>
            </a:r>
            <a:endParaRPr lang="en-US" sz="800" dirty="0"/>
          </a:p>
        </p:txBody>
      </p:sp>
      <p:sp>
        <p:nvSpPr>
          <p:cNvPr id="58" name="Text 56"/>
          <p:cNvSpPr/>
          <p:nvPr/>
        </p:nvSpPr>
        <p:spPr>
          <a:xfrm>
            <a:off x="5506603" y="2325067"/>
            <a:ext cx="3048037" cy="251371"/>
          </a:xfrm>
          <a:prstGeom prst="roundRect">
            <a:avLst>
              <a:gd name="adj" fmla="val 30314"/>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59" name="Text 57"/>
          <p:cNvSpPr/>
          <p:nvPr/>
        </p:nvSpPr>
        <p:spPr>
          <a:xfrm>
            <a:off x="5503032" y="2321496"/>
            <a:ext cx="3055181" cy="305445"/>
          </a:xfrm>
          <a:prstGeom prst="rect">
            <a:avLst/>
          </a:prstGeom>
          <a:noFill/>
          <a:ln/>
        </p:spPr>
        <p:txBody>
          <a:bodyPr wrap="square" lIns="100013" tIns="57150" rIns="100013" bIns="57150" rtlCol="0" anchor="t"/>
          <a:lstStyle/>
          <a:p>
            <a:pPr marL="0" indent="0" algn="l">
              <a:lnSpc>
                <a:spcPts val="1024"/>
              </a:lnSpc>
              <a:buNone/>
            </a:pPr>
            <a:r>
              <a:rPr lang="en-US" sz="800" dirty="0">
                <a:solidFill>
                  <a:srgbClr val="334155"/>
                </a:solidFill>
                <a:latin typeface="Carlito" pitchFamily="34" charset="0"/>
                <a:ea typeface="Carlito" pitchFamily="34" charset="-122"/>
                <a:cs typeface="Carlito" pitchFamily="34" charset="-120"/>
              </a:rPr>
              <a:t>Run </a:t>
            </a:r>
            <a:r>
              <a:rPr lang="en-US" sz="800" b="1" dirty="0">
                <a:solidFill>
                  <a:srgbClr val="C2410C"/>
                </a:solidFill>
                <a:latin typeface="Courier New" pitchFamily="34" charset="0"/>
                <a:ea typeface="Courier New" pitchFamily="34" charset="-122"/>
                <a:cs typeface="Courier New" pitchFamily="34" charset="-120"/>
              </a:rPr>
              <a:t>ansible &lt;host&gt; -m setup</a:t>
            </a:r>
            <a:r>
              <a:rPr lang="en-US" sz="800" dirty="0">
                <a:solidFill>
                  <a:srgbClr val="334155"/>
                </a:solidFill>
                <a:latin typeface="Carlito" pitchFamily="34" charset="0"/>
                <a:ea typeface="Carlito" pitchFamily="34" charset="-122"/>
                <a:cs typeface="Carlito" pitchFamily="34" charset="-120"/>
              </a:rPr>
              <a:t> to see all </a:t>
            </a:r>
            <a:r>
              <a:rPr lang="en-US" sz="800" b="1" dirty="0">
                <a:solidFill>
                  <a:srgbClr val="334155"/>
                </a:solidFill>
                <a:latin typeface="Liberation Sans Narrow" pitchFamily="34" charset="0"/>
                <a:ea typeface="Liberation Sans Narrow" pitchFamily="34" charset="-122"/>
                <a:cs typeface="Liberation Sans Narrow" pitchFamily="34" charset="-120"/>
              </a:rPr>
              <a:t>500+</a:t>
            </a:r>
            <a:r>
              <a:rPr lang="en-US" sz="800" dirty="0">
                <a:solidFill>
                  <a:srgbClr val="334155"/>
                </a:solidFill>
                <a:latin typeface="Carlito" pitchFamily="34" charset="0"/>
                <a:ea typeface="Carlito" pitchFamily="34" charset="-122"/>
                <a:cs typeface="Carlito" pitchFamily="34" charset="-120"/>
              </a:rPr>
              <a:t> facts.</a:t>
            </a:r>
            <a:endParaRPr lang="en-US" sz="8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00050" y="257175"/>
            <a:ext cx="5407618" cy="305476"/>
          </a:xfrm>
          <a:prstGeom prst="rect">
            <a:avLst/>
          </a:prstGeom>
          <a:noFill/>
          <a:ln/>
        </p:spPr>
        <p:txBody>
          <a:bodyPr wrap="square" lIns="0" tIns="0" rIns="0" bIns="0" rtlCol="0" anchor="t"/>
          <a:lstStyle/>
          <a:p>
            <a:pPr marL="0" indent="0" algn="l">
              <a:lnSpc>
                <a:spcPts val="2228"/>
              </a:lnSpc>
              <a:buNone/>
            </a:pPr>
            <a:r>
              <a:rPr lang="en-US" sz="2025" b="1" dirty="0">
                <a:solidFill>
                  <a:srgbClr val="0F172A"/>
                </a:solidFill>
                <a:latin typeface="Carlito" pitchFamily="34" charset="0"/>
                <a:ea typeface="Carlito" pitchFamily="34" charset="-122"/>
                <a:cs typeface="Carlito" pitchFamily="34" charset="-120"/>
              </a:rPr>
              <a:t>Code Example — Variables + Facts + Jinja2</a:t>
            </a:r>
            <a:endParaRPr lang="en-US" sz="2025" dirty="0"/>
          </a:p>
        </p:txBody>
      </p:sp>
      <p:sp>
        <p:nvSpPr>
          <p:cNvPr id="3" name="Text 1"/>
          <p:cNvSpPr/>
          <p:nvPr/>
        </p:nvSpPr>
        <p:spPr>
          <a:xfrm>
            <a:off x="400050" y="611460"/>
            <a:ext cx="571500" cy="42863"/>
          </a:xfrm>
          <a:prstGeom prst="roundRect">
            <a:avLst>
              <a:gd name="adj" fmla="val 66666"/>
            </a:avLst>
          </a:prstGeom>
          <a:solidFill>
            <a:srgbClr val="F97316"/>
          </a:solidFill>
          <a:ln/>
        </p:spPr>
        <p:txBody>
          <a:bodyPr wrap="square" rtlCol="0" anchor="ctr"/>
          <a:lstStyle/>
          <a:p>
            <a:pPr marL="0" indent="0">
              <a:buNone/>
            </a:pPr>
            <a:endParaRPr lang="en-US" dirty="0"/>
          </a:p>
        </p:txBody>
      </p:sp>
      <p:sp>
        <p:nvSpPr>
          <p:cNvPr id="4" name="Text 2"/>
          <p:cNvSpPr/>
          <p:nvPr/>
        </p:nvSpPr>
        <p:spPr>
          <a:xfrm>
            <a:off x="400050" y="697185"/>
            <a:ext cx="4916016" cy="183599"/>
          </a:xfrm>
          <a:prstGeom prst="rect">
            <a:avLst/>
          </a:prstGeom>
          <a:noFill/>
          <a:ln/>
        </p:spPr>
        <p:txBody>
          <a:bodyPr wrap="square" lIns="0" tIns="0" rIns="0" bIns="0" rtlCol="0" anchor="t"/>
          <a:lstStyle/>
          <a:p>
            <a:pPr marL="0" indent="0" algn="l">
              <a:lnSpc>
                <a:spcPts val="1339"/>
              </a:lnSpc>
              <a:buNone/>
            </a:pPr>
            <a:r>
              <a:rPr lang="en-US" sz="956" dirty="0">
                <a:solidFill>
                  <a:srgbClr val="64748B"/>
                </a:solidFill>
                <a:latin typeface="Carlito" pitchFamily="34" charset="0"/>
                <a:ea typeface="Carlito" pitchFamily="34" charset="-122"/>
                <a:cs typeface="Carlito" pitchFamily="34" charset="-120"/>
              </a:rPr>
              <a:t>A playbook that uses both user vars and system facts.</a:t>
            </a:r>
            <a:endParaRPr lang="en-US" sz="956" dirty="0"/>
          </a:p>
        </p:txBody>
      </p:sp>
      <p:sp>
        <p:nvSpPr>
          <p:cNvPr id="5" name="Text 3"/>
          <p:cNvSpPr/>
          <p:nvPr/>
        </p:nvSpPr>
        <p:spPr>
          <a:xfrm>
            <a:off x="7893531" y="244373"/>
            <a:ext cx="873279" cy="331333"/>
          </a:xfrm>
          <a:prstGeom prst="roundRect">
            <a:avLst>
              <a:gd name="adj" fmla="val 2871877"/>
            </a:avLst>
          </a:prstGeom>
          <a:solidFill>
            <a:srgbClr val="FED7AA"/>
          </a:solidFill>
          <a:ln/>
        </p:spPr>
        <p:txBody>
          <a:bodyPr wrap="square" rtlCol="0" anchor="ctr"/>
          <a:lstStyle/>
          <a:p>
            <a:pPr marL="0" indent="0">
              <a:buNone/>
            </a:pPr>
            <a:endParaRPr lang="en-US" dirty="0"/>
          </a:p>
        </p:txBody>
      </p:sp>
      <p:sp>
        <p:nvSpPr>
          <p:cNvPr id="6" name="Text 4"/>
          <p:cNvSpPr/>
          <p:nvPr/>
        </p:nvSpPr>
        <p:spPr>
          <a:xfrm>
            <a:off x="7916391" y="257175"/>
            <a:ext cx="827559" cy="330189"/>
          </a:xfrm>
          <a:prstGeom prst="rect">
            <a:avLst/>
          </a:prstGeom>
          <a:noFill/>
          <a:ln/>
        </p:spPr>
        <p:txBody>
          <a:bodyPr wrap="none" lIns="0" tIns="0" rIns="0" bIns="0" rtlCol="0" anchor="t"/>
          <a:lstStyle/>
          <a:p>
            <a:pPr marL="0" indent="0" algn="l">
              <a:lnSpc>
                <a:spcPts val="1733"/>
              </a:lnSpc>
              <a:buNone/>
            </a:pPr>
            <a:r>
              <a:rPr lang="en-US" sz="1238" b="1" kern="0" spc="28" dirty="0">
                <a:solidFill>
                  <a:srgbClr val="C2410C"/>
                </a:solidFill>
                <a:latin typeface="Segoe UI Symbol" pitchFamily="34" charset="0"/>
                <a:ea typeface="Segoe UI Symbol" pitchFamily="34" charset="-122"/>
                <a:cs typeface="Segoe UI Symbol" pitchFamily="34" charset="-120"/>
              </a:rPr>
              <a:t>✦</a:t>
            </a:r>
            <a:r>
              <a:rPr lang="en-US" sz="1238" b="1" kern="0" spc="28" dirty="0">
                <a:solidFill>
                  <a:srgbClr val="C2410C"/>
                </a:solidFill>
                <a:latin typeface="Carlito" pitchFamily="34" charset="0"/>
                <a:ea typeface="Carlito" pitchFamily="34" charset="-122"/>
                <a:cs typeface="Carlito" pitchFamily="34" charset="-120"/>
              </a:rPr>
              <a:t> YAML</a:t>
            </a:r>
            <a:endParaRPr lang="en-US" sz="1238" dirty="0"/>
          </a:p>
        </p:txBody>
      </p:sp>
      <p:sp>
        <p:nvSpPr>
          <p:cNvPr id="7" name="Text 5"/>
          <p:cNvSpPr/>
          <p:nvPr/>
        </p:nvSpPr>
        <p:spPr>
          <a:xfrm>
            <a:off x="557213" y="1088641"/>
            <a:ext cx="274320" cy="138214"/>
          </a:xfrm>
          <a:prstGeom prst="rect">
            <a:avLst/>
          </a:prstGeom>
          <a:noFill/>
          <a:ln/>
        </p:spPr>
        <p:txBody>
          <a:bodyPr wrap="none" lIns="0" tIns="0" rIns="0" bIns="0" rtlCol="0" anchor="t">
            <a:normAutofit fontScale="32500" lnSpcReduction="20000"/>
          </a:bodyPr>
          <a:lstStyle/>
          <a:p>
            <a:pPr marL="0" indent="0" algn="l">
              <a:lnSpc>
                <a:spcPts val="1305"/>
              </a:lnSpc>
              <a:buNone/>
            </a:pPr>
            <a:r>
              <a:rPr lang="en-US" sz="900" i="1" dirty="0">
                <a:solidFill>
                  <a:srgbClr val="94A3B8"/>
                </a:solidFill>
                <a:latin typeface="Courier New" pitchFamily="34" charset="0"/>
                <a:ea typeface="Courier New" pitchFamily="34" charset="-122"/>
                <a:cs typeface="Courier New" pitchFamily="34" charset="-120"/>
              </a:rPr>
              <a:t>---</a:t>
            </a:r>
            <a:endParaRPr lang="en-US" sz="900" dirty="0"/>
          </a:p>
        </p:txBody>
      </p:sp>
      <p:sp>
        <p:nvSpPr>
          <p:cNvPr id="8" name="Text 6"/>
          <p:cNvSpPr/>
          <p:nvPr/>
        </p:nvSpPr>
        <p:spPr>
          <a:xfrm>
            <a:off x="557213" y="1254286"/>
            <a:ext cx="3429000" cy="138214"/>
          </a:xfrm>
          <a:prstGeom prst="rect">
            <a:avLst/>
          </a:prstGeom>
          <a:noFill/>
          <a:ln/>
        </p:spPr>
        <p:txBody>
          <a:bodyPr wrap="none" lIns="0" tIns="0" rIns="0" bIns="0" rtlCol="0" anchor="t">
            <a:normAutofit fontScale="32500" lnSpcReduction="20000"/>
          </a:bodyPr>
          <a:lstStyle/>
          <a:p>
            <a:pPr marL="0" indent="0" algn="l">
              <a:lnSpc>
                <a:spcPts val="1305"/>
              </a:lnSpc>
              <a:buNone/>
            </a:pPr>
            <a:r>
              <a:rPr lang="en-US" sz="900" i="1" dirty="0">
                <a:solidFill>
                  <a:srgbClr val="94A3B8"/>
                </a:solidFill>
                <a:latin typeface="Courier New" pitchFamily="34" charset="0"/>
                <a:ea typeface="Courier New" pitchFamily="34" charset="-122"/>
                <a:cs typeface="Courier New" pitchFamily="34" charset="-120"/>
              </a:rPr>
              <a:t># deploy_app.yml — deploy a Python app with templated config</a:t>
            </a:r>
            <a:endParaRPr lang="en-US" sz="900" dirty="0"/>
          </a:p>
        </p:txBody>
      </p:sp>
      <p:sp>
        <p:nvSpPr>
          <p:cNvPr id="9" name="Text 7"/>
          <p:cNvSpPr/>
          <p:nvPr/>
        </p:nvSpPr>
        <p:spPr>
          <a:xfrm>
            <a:off x="671513" y="1419932"/>
            <a:ext cx="457200" cy="154305"/>
          </a:xfrm>
          <a:prstGeom prst="rect">
            <a:avLst/>
          </a:prstGeom>
          <a:noFill/>
          <a:ln/>
        </p:spPr>
        <p:txBody>
          <a:bodyPr wrap="none" lIns="0" tIns="0" rIns="0" bIns="0" rtlCol="0" anchor="t"/>
          <a:lstStyle/>
          <a:p>
            <a:pPr marL="0" indent="0" algn="l">
              <a:lnSpc>
                <a:spcPts val="1305"/>
              </a:lnSpc>
              <a:buNone/>
            </a:pPr>
            <a:r>
              <a:rPr lang="en-US" sz="900" dirty="0">
                <a:solidFill>
                  <a:srgbClr val="FBA74A"/>
                </a:solidFill>
                <a:latin typeface="Courier New" pitchFamily="34" charset="0"/>
                <a:ea typeface="Courier New" pitchFamily="34" charset="-122"/>
                <a:cs typeface="Courier New" pitchFamily="34" charset="-120"/>
              </a:rPr>
              <a:t>name:</a:t>
            </a:r>
            <a:endParaRPr lang="en-US" sz="900" dirty="0"/>
          </a:p>
        </p:txBody>
      </p:sp>
      <p:sp>
        <p:nvSpPr>
          <p:cNvPr id="10" name="Text 8"/>
          <p:cNvSpPr/>
          <p:nvPr/>
        </p:nvSpPr>
        <p:spPr>
          <a:xfrm>
            <a:off x="1014413" y="1419932"/>
            <a:ext cx="1214438" cy="138214"/>
          </a:xfrm>
          <a:prstGeom prst="rect">
            <a:avLst/>
          </a:prstGeom>
          <a:noFill/>
          <a:ln/>
        </p:spPr>
        <p:txBody>
          <a:bodyPr wrap="none" lIns="0" tIns="0" rIns="0" bIns="0" rtlCol="0" anchor="t">
            <a:normAutofit fontScale="32500" lnSpcReduction="20000"/>
          </a:bodyPr>
          <a:lstStyle/>
          <a:p>
            <a:pPr marL="0" indent="0" algn="l">
              <a:lnSpc>
                <a:spcPts val="1305"/>
              </a:lnSpc>
              <a:buNone/>
            </a:pPr>
            <a:r>
              <a:rPr lang="en-US" sz="900" dirty="0">
                <a:solidFill>
                  <a:srgbClr val="86EFAC"/>
                </a:solidFill>
                <a:latin typeface="Courier New" pitchFamily="34" charset="0"/>
                <a:ea typeface="Courier New" pitchFamily="34" charset="-122"/>
                <a:cs typeface="Courier New" pitchFamily="34" charset="-120"/>
              </a:rPr>
              <a:t>Deploy Python app</a:t>
            </a:r>
            <a:endParaRPr lang="en-US" sz="900" dirty="0"/>
          </a:p>
        </p:txBody>
      </p:sp>
      <p:sp>
        <p:nvSpPr>
          <p:cNvPr id="11" name="Text 9"/>
          <p:cNvSpPr/>
          <p:nvPr/>
        </p:nvSpPr>
        <p:spPr>
          <a:xfrm>
            <a:off x="671513" y="1585578"/>
            <a:ext cx="490347" cy="154305"/>
          </a:xfrm>
          <a:prstGeom prst="rect">
            <a:avLst/>
          </a:prstGeom>
          <a:noFill/>
          <a:ln/>
        </p:spPr>
        <p:txBody>
          <a:bodyPr wrap="none" lIns="0" tIns="0" rIns="0" bIns="0" rtlCol="0" anchor="t"/>
          <a:lstStyle/>
          <a:p>
            <a:pPr marL="0" indent="0" algn="l">
              <a:lnSpc>
                <a:spcPts val="1305"/>
              </a:lnSpc>
              <a:buNone/>
            </a:pPr>
            <a:r>
              <a:rPr lang="en-US" sz="900" dirty="0">
                <a:solidFill>
                  <a:srgbClr val="FBA74A"/>
                </a:solidFill>
                <a:latin typeface="Courier New" pitchFamily="34" charset="0"/>
                <a:ea typeface="Courier New" pitchFamily="34" charset="-122"/>
                <a:cs typeface="Courier New" pitchFamily="34" charset="-120"/>
              </a:rPr>
              <a:t>hosts:</a:t>
            </a:r>
            <a:endParaRPr lang="en-US" sz="900" dirty="0"/>
          </a:p>
        </p:txBody>
      </p:sp>
      <p:sp>
        <p:nvSpPr>
          <p:cNvPr id="12" name="Text 10"/>
          <p:cNvSpPr/>
          <p:nvPr/>
        </p:nvSpPr>
        <p:spPr>
          <a:xfrm>
            <a:off x="1058075" y="1585578"/>
            <a:ext cx="741350" cy="138214"/>
          </a:xfrm>
          <a:prstGeom prst="rect">
            <a:avLst/>
          </a:prstGeom>
          <a:noFill/>
          <a:ln/>
        </p:spPr>
        <p:txBody>
          <a:bodyPr wrap="none" lIns="0" tIns="0" rIns="0" bIns="0" rtlCol="0" anchor="t">
            <a:normAutofit fontScale="32500" lnSpcReduction="20000"/>
          </a:bodyPr>
          <a:lstStyle/>
          <a:p>
            <a:pPr marL="0" indent="0" algn="l">
              <a:lnSpc>
                <a:spcPts val="1305"/>
              </a:lnSpc>
              <a:buNone/>
            </a:pPr>
            <a:r>
              <a:rPr lang="en-US" sz="900" dirty="0">
                <a:solidFill>
                  <a:srgbClr val="86EFAC"/>
                </a:solidFill>
                <a:latin typeface="Courier New" pitchFamily="34" charset="0"/>
                <a:ea typeface="Courier New" pitchFamily="34" charset="-122"/>
                <a:cs typeface="Courier New" pitchFamily="34" charset="-120"/>
              </a:rPr>
              <a:t>webservers</a:t>
            </a:r>
            <a:endParaRPr lang="en-US" sz="900" dirty="0"/>
          </a:p>
        </p:txBody>
      </p:sp>
      <p:sp>
        <p:nvSpPr>
          <p:cNvPr id="13" name="Text 11"/>
          <p:cNvSpPr/>
          <p:nvPr/>
        </p:nvSpPr>
        <p:spPr>
          <a:xfrm>
            <a:off x="671513" y="1751223"/>
            <a:ext cx="572072" cy="154305"/>
          </a:xfrm>
          <a:prstGeom prst="rect">
            <a:avLst/>
          </a:prstGeom>
          <a:noFill/>
          <a:ln/>
        </p:spPr>
        <p:txBody>
          <a:bodyPr wrap="none" lIns="0" tIns="0" rIns="0" bIns="0" rtlCol="0" anchor="t"/>
          <a:lstStyle/>
          <a:p>
            <a:pPr marL="0" indent="0" algn="l">
              <a:lnSpc>
                <a:spcPts val="1305"/>
              </a:lnSpc>
              <a:buNone/>
            </a:pPr>
            <a:r>
              <a:rPr lang="en-US" sz="900" dirty="0">
                <a:solidFill>
                  <a:srgbClr val="FBA74A"/>
                </a:solidFill>
                <a:latin typeface="Courier New" pitchFamily="34" charset="0"/>
                <a:ea typeface="Courier New" pitchFamily="34" charset="-122"/>
                <a:cs typeface="Courier New" pitchFamily="34" charset="-120"/>
              </a:rPr>
              <a:t>become:</a:t>
            </a:r>
            <a:endParaRPr lang="en-US" sz="900" dirty="0"/>
          </a:p>
        </p:txBody>
      </p:sp>
      <p:sp>
        <p:nvSpPr>
          <p:cNvPr id="14" name="Text 12"/>
          <p:cNvSpPr/>
          <p:nvPr/>
        </p:nvSpPr>
        <p:spPr>
          <a:xfrm>
            <a:off x="1128713" y="1751223"/>
            <a:ext cx="274320" cy="154305"/>
          </a:xfrm>
          <a:prstGeom prst="rect">
            <a:avLst/>
          </a:prstGeom>
          <a:noFill/>
          <a:ln/>
        </p:spPr>
        <p:txBody>
          <a:bodyPr wrap="none" lIns="0" tIns="0" rIns="0" bIns="0" rtlCol="0" anchor="t"/>
          <a:lstStyle/>
          <a:p>
            <a:pPr marL="0" indent="0" algn="l">
              <a:lnSpc>
                <a:spcPts val="1305"/>
              </a:lnSpc>
              <a:buNone/>
            </a:pPr>
            <a:r>
              <a:rPr lang="en-US" sz="900" dirty="0">
                <a:solidFill>
                  <a:srgbClr val="93C5FD"/>
                </a:solidFill>
                <a:latin typeface="Courier New" pitchFamily="34" charset="0"/>
                <a:ea typeface="Courier New" pitchFamily="34" charset="-122"/>
                <a:cs typeface="Courier New" pitchFamily="34" charset="-120"/>
              </a:rPr>
              <a:t>yes</a:t>
            </a:r>
            <a:endParaRPr lang="en-US" sz="900" dirty="0"/>
          </a:p>
        </p:txBody>
      </p:sp>
      <p:sp>
        <p:nvSpPr>
          <p:cNvPr id="15" name="Text 13"/>
          <p:cNvSpPr/>
          <p:nvPr/>
        </p:nvSpPr>
        <p:spPr>
          <a:xfrm>
            <a:off x="671513" y="2082515"/>
            <a:ext cx="457200" cy="138214"/>
          </a:xfrm>
          <a:prstGeom prst="rect">
            <a:avLst/>
          </a:prstGeom>
          <a:noFill/>
          <a:ln/>
        </p:spPr>
        <p:txBody>
          <a:bodyPr wrap="none" lIns="0" tIns="0" rIns="0" bIns="0" rtlCol="0" anchor="t">
            <a:normAutofit fontScale="32500" lnSpcReduction="20000"/>
          </a:bodyPr>
          <a:lstStyle/>
          <a:p>
            <a:pPr marL="0" indent="0" algn="l">
              <a:lnSpc>
                <a:spcPts val="1305"/>
              </a:lnSpc>
              <a:buNone/>
            </a:pPr>
            <a:r>
              <a:rPr lang="en-US" sz="900" dirty="0">
                <a:solidFill>
                  <a:srgbClr val="FBA74A"/>
                </a:solidFill>
                <a:latin typeface="Courier New" pitchFamily="34" charset="0"/>
                <a:ea typeface="Courier New" pitchFamily="34" charset="-122"/>
                <a:cs typeface="Courier New" pitchFamily="34" charset="-120"/>
              </a:rPr>
              <a:t>vars:</a:t>
            </a:r>
            <a:endParaRPr lang="en-US" sz="900" dirty="0"/>
          </a:p>
        </p:txBody>
      </p:sp>
      <p:sp>
        <p:nvSpPr>
          <p:cNvPr id="16" name="Text 14"/>
          <p:cNvSpPr/>
          <p:nvPr/>
        </p:nvSpPr>
        <p:spPr>
          <a:xfrm>
            <a:off x="783069" y="2248160"/>
            <a:ext cx="862736" cy="154305"/>
          </a:xfrm>
          <a:prstGeom prst="rect">
            <a:avLst/>
          </a:prstGeom>
          <a:noFill/>
          <a:ln/>
        </p:spPr>
        <p:txBody>
          <a:bodyPr wrap="none" lIns="0" tIns="0" rIns="0" bIns="0" rtlCol="0" anchor="t"/>
          <a:lstStyle/>
          <a:p>
            <a:pPr marL="0" indent="0" algn="l">
              <a:lnSpc>
                <a:spcPts val="1305"/>
              </a:lnSpc>
              <a:buNone/>
            </a:pPr>
            <a:r>
              <a:rPr lang="en-US" sz="900" dirty="0">
                <a:solidFill>
                  <a:srgbClr val="FBA74A"/>
                </a:solidFill>
                <a:latin typeface="Courier New" pitchFamily="34" charset="0"/>
                <a:ea typeface="Courier New" pitchFamily="34" charset="-122"/>
                <a:cs typeface="Courier New" pitchFamily="34" charset="-120"/>
              </a:rPr>
              <a:t>app_version:</a:t>
            </a:r>
            <a:endParaRPr lang="en-US" sz="900" dirty="0"/>
          </a:p>
        </p:txBody>
      </p:sp>
      <p:sp>
        <p:nvSpPr>
          <p:cNvPr id="17" name="Text 15"/>
          <p:cNvSpPr/>
          <p:nvPr/>
        </p:nvSpPr>
        <p:spPr>
          <a:xfrm>
            <a:off x="1528763" y="2248160"/>
            <a:ext cx="572072" cy="138214"/>
          </a:xfrm>
          <a:prstGeom prst="rect">
            <a:avLst/>
          </a:prstGeom>
          <a:noFill/>
          <a:ln/>
        </p:spPr>
        <p:txBody>
          <a:bodyPr wrap="none" lIns="0" tIns="0" rIns="0" bIns="0" rtlCol="0" anchor="t">
            <a:normAutofit fontScale="47500" lnSpcReduction="20000"/>
          </a:bodyPr>
          <a:lstStyle/>
          <a:p>
            <a:pPr marL="0" indent="0" algn="l">
              <a:lnSpc>
                <a:spcPts val="1305"/>
              </a:lnSpc>
              <a:buNone/>
            </a:pPr>
            <a:r>
              <a:rPr lang="en-US" sz="900" dirty="0">
                <a:solidFill>
                  <a:srgbClr val="86EFAC"/>
                </a:solidFill>
                <a:latin typeface="Liberation Sans Narrow" pitchFamily="34" charset="0"/>
                <a:ea typeface="Liberation Sans Narrow" pitchFamily="34" charset="-122"/>
                <a:cs typeface="Liberation Sans Narrow" pitchFamily="34" charset="-120"/>
              </a:rPr>
              <a:t>"1.4.2"</a:t>
            </a:r>
            <a:endParaRPr lang="en-US" sz="900" dirty="0"/>
          </a:p>
        </p:txBody>
      </p:sp>
      <p:sp>
        <p:nvSpPr>
          <p:cNvPr id="18" name="Text 16"/>
          <p:cNvSpPr/>
          <p:nvPr/>
        </p:nvSpPr>
        <p:spPr>
          <a:xfrm>
            <a:off x="785813" y="2413806"/>
            <a:ext cx="735521" cy="154305"/>
          </a:xfrm>
          <a:prstGeom prst="rect">
            <a:avLst/>
          </a:prstGeom>
          <a:noFill/>
          <a:ln/>
        </p:spPr>
        <p:txBody>
          <a:bodyPr wrap="none" lIns="0" tIns="0" rIns="0" bIns="0" rtlCol="0" anchor="t"/>
          <a:lstStyle/>
          <a:p>
            <a:pPr marL="0" indent="0" algn="l">
              <a:lnSpc>
                <a:spcPts val="1305"/>
              </a:lnSpc>
              <a:buNone/>
            </a:pPr>
            <a:r>
              <a:rPr lang="en-US" sz="900" dirty="0">
                <a:solidFill>
                  <a:srgbClr val="FBA74A"/>
                </a:solidFill>
                <a:latin typeface="Courier New" pitchFamily="34" charset="0"/>
                <a:ea typeface="Courier New" pitchFamily="34" charset="-122"/>
                <a:cs typeface="Courier New" pitchFamily="34" charset="-120"/>
              </a:rPr>
              <a:t>app_port:</a:t>
            </a:r>
            <a:endParaRPr lang="en-US" sz="900" dirty="0"/>
          </a:p>
        </p:txBody>
      </p:sp>
      <p:sp>
        <p:nvSpPr>
          <p:cNvPr id="19" name="Text 17"/>
          <p:cNvSpPr/>
          <p:nvPr/>
        </p:nvSpPr>
        <p:spPr>
          <a:xfrm>
            <a:off x="1352946" y="2413806"/>
            <a:ext cx="374493" cy="138214"/>
          </a:xfrm>
          <a:prstGeom prst="rect">
            <a:avLst/>
          </a:prstGeom>
          <a:noFill/>
          <a:ln/>
        </p:spPr>
        <p:txBody>
          <a:bodyPr wrap="none" lIns="0" tIns="0" rIns="0" bIns="0" rtlCol="0" anchor="t">
            <a:normAutofit fontScale="47500" lnSpcReduction="20000"/>
          </a:bodyPr>
          <a:lstStyle/>
          <a:p>
            <a:pPr marL="0" indent="0" algn="l">
              <a:lnSpc>
                <a:spcPts val="1305"/>
              </a:lnSpc>
              <a:buNone/>
            </a:pPr>
            <a:r>
              <a:rPr lang="en-US" sz="900" dirty="0">
                <a:solidFill>
                  <a:srgbClr val="93C5FD"/>
                </a:solidFill>
                <a:latin typeface="Liberation Sans Narrow" pitchFamily="34" charset="0"/>
                <a:ea typeface="Liberation Sans Narrow" pitchFamily="34" charset="-122"/>
                <a:cs typeface="Liberation Sans Narrow" pitchFamily="34" charset="-120"/>
              </a:rPr>
              <a:t>5000</a:t>
            </a:r>
            <a:endParaRPr lang="en-US" sz="900" dirty="0"/>
          </a:p>
        </p:txBody>
      </p:sp>
      <p:sp>
        <p:nvSpPr>
          <p:cNvPr id="20" name="Text 18"/>
          <p:cNvSpPr/>
          <p:nvPr/>
        </p:nvSpPr>
        <p:spPr>
          <a:xfrm>
            <a:off x="785813" y="2579452"/>
            <a:ext cx="735521" cy="154305"/>
          </a:xfrm>
          <a:prstGeom prst="rect">
            <a:avLst/>
          </a:prstGeom>
          <a:noFill/>
          <a:ln/>
        </p:spPr>
        <p:txBody>
          <a:bodyPr wrap="none" lIns="0" tIns="0" rIns="0" bIns="0" rtlCol="0" anchor="t"/>
          <a:lstStyle/>
          <a:p>
            <a:pPr marL="0" indent="0" algn="l">
              <a:lnSpc>
                <a:spcPts val="1305"/>
              </a:lnSpc>
              <a:buNone/>
            </a:pPr>
            <a:r>
              <a:rPr lang="en-US" sz="900" dirty="0">
                <a:solidFill>
                  <a:srgbClr val="FBA74A"/>
                </a:solidFill>
                <a:latin typeface="Courier New" pitchFamily="34" charset="0"/>
                <a:ea typeface="Courier New" pitchFamily="34" charset="-122"/>
                <a:cs typeface="Courier New" pitchFamily="34" charset="-120"/>
              </a:rPr>
              <a:t>app_user:</a:t>
            </a:r>
            <a:endParaRPr lang="en-US" sz="900" dirty="0"/>
          </a:p>
        </p:txBody>
      </p:sp>
      <p:sp>
        <p:nvSpPr>
          <p:cNvPr id="21" name="Text 19"/>
          <p:cNvSpPr/>
          <p:nvPr/>
        </p:nvSpPr>
        <p:spPr>
          <a:xfrm>
            <a:off x="1357313" y="2579452"/>
            <a:ext cx="653796" cy="154305"/>
          </a:xfrm>
          <a:prstGeom prst="rect">
            <a:avLst/>
          </a:prstGeom>
          <a:noFill/>
          <a:ln/>
        </p:spPr>
        <p:txBody>
          <a:bodyPr wrap="none" lIns="0" tIns="0" rIns="0" bIns="0" rtlCol="0" anchor="t"/>
          <a:lstStyle/>
          <a:p>
            <a:pPr marL="0" indent="0" algn="l">
              <a:lnSpc>
                <a:spcPts val="1305"/>
              </a:lnSpc>
              <a:buNone/>
            </a:pPr>
            <a:r>
              <a:rPr lang="en-US" sz="900" dirty="0">
                <a:solidFill>
                  <a:srgbClr val="86EFAC"/>
                </a:solidFill>
                <a:latin typeface="Courier New" pitchFamily="34" charset="0"/>
                <a:ea typeface="Courier New" pitchFamily="34" charset="-122"/>
                <a:cs typeface="Courier New" pitchFamily="34" charset="-120"/>
              </a:rPr>
              <a:t>"appsvc"</a:t>
            </a:r>
            <a:endParaRPr lang="en-US" sz="900" dirty="0"/>
          </a:p>
        </p:txBody>
      </p:sp>
      <p:sp>
        <p:nvSpPr>
          <p:cNvPr id="22" name="Text 20"/>
          <p:cNvSpPr/>
          <p:nvPr/>
        </p:nvSpPr>
        <p:spPr>
          <a:xfrm>
            <a:off x="671513" y="2910743"/>
            <a:ext cx="490347" cy="138214"/>
          </a:xfrm>
          <a:prstGeom prst="rect">
            <a:avLst/>
          </a:prstGeom>
          <a:noFill/>
          <a:ln/>
        </p:spPr>
        <p:txBody>
          <a:bodyPr wrap="none" lIns="0" tIns="0" rIns="0" bIns="0" rtlCol="0" anchor="t">
            <a:normAutofit fontScale="32500" lnSpcReduction="20000"/>
          </a:bodyPr>
          <a:lstStyle/>
          <a:p>
            <a:pPr marL="0" indent="0" algn="l">
              <a:lnSpc>
                <a:spcPts val="1305"/>
              </a:lnSpc>
              <a:buNone/>
            </a:pPr>
            <a:r>
              <a:rPr lang="en-US" sz="900" dirty="0">
                <a:solidFill>
                  <a:srgbClr val="FBA74A"/>
                </a:solidFill>
                <a:latin typeface="Courier New" pitchFamily="34" charset="0"/>
                <a:ea typeface="Courier New" pitchFamily="34" charset="-122"/>
                <a:cs typeface="Courier New" pitchFamily="34" charset="-120"/>
              </a:rPr>
              <a:t>tasks:</a:t>
            </a:r>
            <a:endParaRPr lang="en-US" sz="900" dirty="0"/>
          </a:p>
        </p:txBody>
      </p:sp>
      <p:sp>
        <p:nvSpPr>
          <p:cNvPr id="23" name="Text 21"/>
          <p:cNvSpPr/>
          <p:nvPr/>
        </p:nvSpPr>
        <p:spPr>
          <a:xfrm>
            <a:off x="900113" y="3076389"/>
            <a:ext cx="457200" cy="154305"/>
          </a:xfrm>
          <a:prstGeom prst="rect">
            <a:avLst/>
          </a:prstGeom>
          <a:noFill/>
          <a:ln/>
        </p:spPr>
        <p:txBody>
          <a:bodyPr wrap="none" lIns="0" tIns="0" rIns="0" bIns="0" rtlCol="0" anchor="t"/>
          <a:lstStyle/>
          <a:p>
            <a:pPr marL="0" indent="0" algn="l">
              <a:lnSpc>
                <a:spcPts val="1305"/>
              </a:lnSpc>
              <a:buNone/>
            </a:pPr>
            <a:r>
              <a:rPr lang="en-US" sz="900" dirty="0">
                <a:solidFill>
                  <a:srgbClr val="FBA74A"/>
                </a:solidFill>
                <a:latin typeface="Courier New" pitchFamily="34" charset="0"/>
                <a:ea typeface="Courier New" pitchFamily="34" charset="-122"/>
                <a:cs typeface="Courier New" pitchFamily="34" charset="-120"/>
              </a:rPr>
              <a:t>name:</a:t>
            </a:r>
            <a:endParaRPr lang="en-US" sz="900" dirty="0"/>
          </a:p>
        </p:txBody>
      </p:sp>
      <p:sp>
        <p:nvSpPr>
          <p:cNvPr id="24" name="Text 22"/>
          <p:cNvSpPr/>
          <p:nvPr/>
        </p:nvSpPr>
        <p:spPr>
          <a:xfrm>
            <a:off x="1243013" y="3076389"/>
            <a:ext cx="1071563" cy="138214"/>
          </a:xfrm>
          <a:prstGeom prst="rect">
            <a:avLst/>
          </a:prstGeom>
          <a:noFill/>
          <a:ln/>
        </p:spPr>
        <p:txBody>
          <a:bodyPr wrap="none" lIns="0" tIns="0" rIns="0" bIns="0" rtlCol="0" anchor="t">
            <a:normAutofit fontScale="32500" lnSpcReduction="20000"/>
          </a:bodyPr>
          <a:lstStyle/>
          <a:p>
            <a:pPr marL="0" indent="0" algn="l">
              <a:lnSpc>
                <a:spcPts val="1305"/>
              </a:lnSpc>
              <a:buNone/>
            </a:pPr>
            <a:r>
              <a:rPr lang="en-US" sz="900" dirty="0">
                <a:solidFill>
                  <a:srgbClr val="86EFAC"/>
                </a:solidFill>
                <a:latin typeface="Courier New" pitchFamily="34" charset="0"/>
                <a:ea typeface="Courier New" pitchFamily="34" charset="-122"/>
                <a:cs typeface="Courier New" pitchFamily="34" charset="-120"/>
              </a:rPr>
              <a:t>Create app user</a:t>
            </a:r>
            <a:endParaRPr lang="en-US" sz="900" dirty="0"/>
          </a:p>
        </p:txBody>
      </p:sp>
      <p:sp>
        <p:nvSpPr>
          <p:cNvPr id="25" name="Text 23"/>
          <p:cNvSpPr/>
          <p:nvPr/>
        </p:nvSpPr>
        <p:spPr>
          <a:xfrm>
            <a:off x="900113" y="3242035"/>
            <a:ext cx="457200" cy="138214"/>
          </a:xfrm>
          <a:prstGeom prst="rect">
            <a:avLst/>
          </a:prstGeom>
          <a:noFill/>
          <a:ln/>
        </p:spPr>
        <p:txBody>
          <a:bodyPr wrap="none" lIns="0" tIns="0" rIns="0" bIns="0" rtlCol="0" anchor="t">
            <a:normAutofit fontScale="32500" lnSpcReduction="20000"/>
          </a:bodyPr>
          <a:lstStyle/>
          <a:p>
            <a:pPr marL="0" indent="0" algn="l">
              <a:lnSpc>
                <a:spcPts val="1305"/>
              </a:lnSpc>
              <a:buNone/>
            </a:pPr>
            <a:r>
              <a:rPr lang="en-US" sz="900" dirty="0">
                <a:solidFill>
                  <a:srgbClr val="FBA74A"/>
                </a:solidFill>
                <a:latin typeface="Courier New" pitchFamily="34" charset="0"/>
                <a:ea typeface="Courier New" pitchFamily="34" charset="-122"/>
                <a:cs typeface="Courier New" pitchFamily="34" charset="-120"/>
              </a:rPr>
              <a:t>user:</a:t>
            </a:r>
            <a:endParaRPr lang="en-US" sz="900" dirty="0"/>
          </a:p>
        </p:txBody>
      </p:sp>
      <p:sp>
        <p:nvSpPr>
          <p:cNvPr id="26" name="Text 24"/>
          <p:cNvSpPr/>
          <p:nvPr/>
        </p:nvSpPr>
        <p:spPr>
          <a:xfrm>
            <a:off x="1014413" y="3407680"/>
            <a:ext cx="457200" cy="154305"/>
          </a:xfrm>
          <a:prstGeom prst="rect">
            <a:avLst/>
          </a:prstGeom>
          <a:noFill/>
          <a:ln/>
        </p:spPr>
        <p:txBody>
          <a:bodyPr wrap="none" lIns="0" tIns="0" rIns="0" bIns="0" rtlCol="0" anchor="t"/>
          <a:lstStyle/>
          <a:p>
            <a:pPr marL="0" indent="0" algn="l">
              <a:lnSpc>
                <a:spcPts val="1305"/>
              </a:lnSpc>
              <a:buNone/>
            </a:pPr>
            <a:r>
              <a:rPr lang="en-US" sz="900" dirty="0">
                <a:solidFill>
                  <a:srgbClr val="FBA74A"/>
                </a:solidFill>
                <a:latin typeface="Courier New" pitchFamily="34" charset="0"/>
                <a:ea typeface="Courier New" pitchFamily="34" charset="-122"/>
                <a:cs typeface="Courier New" pitchFamily="34" charset="-120"/>
              </a:rPr>
              <a:t>name:</a:t>
            </a:r>
            <a:endParaRPr lang="en-US" sz="900" dirty="0"/>
          </a:p>
        </p:txBody>
      </p:sp>
      <p:sp>
        <p:nvSpPr>
          <p:cNvPr id="27" name="Text 25"/>
          <p:cNvSpPr/>
          <p:nvPr/>
        </p:nvSpPr>
        <p:spPr>
          <a:xfrm>
            <a:off x="1357313" y="3407680"/>
            <a:ext cx="1143000" cy="138214"/>
          </a:xfrm>
          <a:prstGeom prst="rect">
            <a:avLst/>
          </a:prstGeom>
          <a:noFill/>
          <a:ln/>
        </p:spPr>
        <p:txBody>
          <a:bodyPr wrap="none" lIns="0" tIns="0" rIns="0" bIns="0" rtlCol="0" anchor="t">
            <a:normAutofit fontScale="32500" lnSpcReduction="20000"/>
          </a:bodyPr>
          <a:lstStyle/>
          <a:p>
            <a:pPr marL="0" indent="0" algn="l">
              <a:lnSpc>
                <a:spcPts val="1305"/>
              </a:lnSpc>
              <a:buNone/>
            </a:pPr>
            <a:r>
              <a:rPr lang="en-US" sz="900" dirty="0">
                <a:solidFill>
                  <a:srgbClr val="86EFAC"/>
                </a:solidFill>
                <a:latin typeface="Courier New" pitchFamily="34" charset="0"/>
                <a:ea typeface="Courier New" pitchFamily="34" charset="-122"/>
                <a:cs typeface="Courier New" pitchFamily="34" charset="-120"/>
              </a:rPr>
              <a:t>"{{ app_user }}"</a:t>
            </a:r>
            <a:endParaRPr lang="en-US" sz="900" dirty="0"/>
          </a:p>
        </p:txBody>
      </p:sp>
      <p:sp>
        <p:nvSpPr>
          <p:cNvPr id="28" name="Text 26"/>
          <p:cNvSpPr/>
          <p:nvPr/>
        </p:nvSpPr>
        <p:spPr>
          <a:xfrm>
            <a:off x="1014413" y="3573326"/>
            <a:ext cx="490347" cy="154305"/>
          </a:xfrm>
          <a:prstGeom prst="rect">
            <a:avLst/>
          </a:prstGeom>
          <a:noFill/>
          <a:ln/>
        </p:spPr>
        <p:txBody>
          <a:bodyPr wrap="none" lIns="0" tIns="0" rIns="0" bIns="0" rtlCol="0" anchor="t"/>
          <a:lstStyle/>
          <a:p>
            <a:pPr marL="0" indent="0" algn="l">
              <a:lnSpc>
                <a:spcPts val="1305"/>
              </a:lnSpc>
              <a:buNone/>
            </a:pPr>
            <a:r>
              <a:rPr lang="en-US" sz="900" dirty="0">
                <a:solidFill>
                  <a:srgbClr val="FBA74A"/>
                </a:solidFill>
                <a:latin typeface="Courier New" pitchFamily="34" charset="0"/>
                <a:ea typeface="Courier New" pitchFamily="34" charset="-122"/>
                <a:cs typeface="Courier New" pitchFamily="34" charset="-120"/>
              </a:rPr>
              <a:t>shell:</a:t>
            </a:r>
            <a:endParaRPr lang="en-US" sz="900" dirty="0"/>
          </a:p>
        </p:txBody>
      </p:sp>
      <p:sp>
        <p:nvSpPr>
          <p:cNvPr id="29" name="Text 27"/>
          <p:cNvSpPr/>
          <p:nvPr/>
        </p:nvSpPr>
        <p:spPr>
          <a:xfrm>
            <a:off x="1414463" y="3573326"/>
            <a:ext cx="735521" cy="154305"/>
          </a:xfrm>
          <a:prstGeom prst="rect">
            <a:avLst/>
          </a:prstGeom>
          <a:noFill/>
          <a:ln/>
        </p:spPr>
        <p:txBody>
          <a:bodyPr wrap="none" lIns="0" tIns="0" rIns="0" bIns="0" rtlCol="0" anchor="t"/>
          <a:lstStyle/>
          <a:p>
            <a:pPr marL="0" indent="0" algn="l">
              <a:lnSpc>
                <a:spcPts val="1305"/>
              </a:lnSpc>
              <a:buNone/>
            </a:pPr>
            <a:r>
              <a:rPr lang="en-US" sz="900" dirty="0">
                <a:solidFill>
                  <a:srgbClr val="86EFAC"/>
                </a:solidFill>
                <a:latin typeface="Courier New" pitchFamily="34" charset="0"/>
                <a:ea typeface="Courier New" pitchFamily="34" charset="-122"/>
                <a:cs typeface="Courier New" pitchFamily="34" charset="-120"/>
              </a:rPr>
              <a:t>/bin/bash</a:t>
            </a:r>
            <a:endParaRPr lang="en-US" sz="900" dirty="0"/>
          </a:p>
        </p:txBody>
      </p:sp>
      <p:sp>
        <p:nvSpPr>
          <p:cNvPr id="30" name="Text 28"/>
          <p:cNvSpPr/>
          <p:nvPr/>
        </p:nvSpPr>
        <p:spPr>
          <a:xfrm>
            <a:off x="900113" y="3904617"/>
            <a:ext cx="457200" cy="154305"/>
          </a:xfrm>
          <a:prstGeom prst="rect">
            <a:avLst/>
          </a:prstGeom>
          <a:noFill/>
          <a:ln/>
        </p:spPr>
        <p:txBody>
          <a:bodyPr wrap="none" lIns="0" tIns="0" rIns="0" bIns="0" rtlCol="0" anchor="t"/>
          <a:lstStyle/>
          <a:p>
            <a:pPr marL="0" indent="0" algn="l">
              <a:lnSpc>
                <a:spcPts val="1305"/>
              </a:lnSpc>
              <a:buNone/>
            </a:pPr>
            <a:r>
              <a:rPr lang="en-US" sz="900" dirty="0">
                <a:solidFill>
                  <a:srgbClr val="FBA74A"/>
                </a:solidFill>
                <a:latin typeface="Courier New" pitchFamily="34" charset="0"/>
                <a:ea typeface="Courier New" pitchFamily="34" charset="-122"/>
                <a:cs typeface="Courier New" pitchFamily="34" charset="-120"/>
              </a:rPr>
              <a:t>name:</a:t>
            </a:r>
            <a:endParaRPr lang="en-US" sz="900" dirty="0"/>
          </a:p>
        </p:txBody>
      </p:sp>
      <p:sp>
        <p:nvSpPr>
          <p:cNvPr id="31" name="Text 29"/>
          <p:cNvSpPr/>
          <p:nvPr/>
        </p:nvSpPr>
        <p:spPr>
          <a:xfrm>
            <a:off x="1243013" y="3904617"/>
            <a:ext cx="2345436" cy="138214"/>
          </a:xfrm>
          <a:prstGeom prst="rect">
            <a:avLst/>
          </a:prstGeom>
          <a:noFill/>
          <a:ln/>
        </p:spPr>
        <p:txBody>
          <a:bodyPr wrap="none" lIns="0" tIns="0" rIns="0" bIns="0" rtlCol="0" anchor="t">
            <a:normAutofit fontScale="32500" lnSpcReduction="20000"/>
          </a:bodyPr>
          <a:lstStyle/>
          <a:p>
            <a:pPr marL="0" indent="0" algn="l">
              <a:lnSpc>
                <a:spcPts val="1305"/>
              </a:lnSpc>
              <a:buNone/>
            </a:pPr>
            <a:r>
              <a:rPr lang="en-US" sz="900" dirty="0">
                <a:solidFill>
                  <a:srgbClr val="86EFAC"/>
                </a:solidFill>
                <a:latin typeface="Courier New" pitchFamily="34" charset="0"/>
                <a:ea typeface="Courier New" pitchFamily="34" charset="-122"/>
                <a:cs typeface="Courier New" pitchFamily="34" charset="-120"/>
              </a:rPr>
              <a:t>Render app config from Jinja2 template</a:t>
            </a:r>
            <a:endParaRPr lang="en-US" sz="900" dirty="0"/>
          </a:p>
        </p:txBody>
      </p:sp>
      <p:sp>
        <p:nvSpPr>
          <p:cNvPr id="32" name="Text 30"/>
          <p:cNvSpPr/>
          <p:nvPr/>
        </p:nvSpPr>
        <p:spPr>
          <a:xfrm>
            <a:off x="900113" y="4070263"/>
            <a:ext cx="735521" cy="138214"/>
          </a:xfrm>
          <a:prstGeom prst="rect">
            <a:avLst/>
          </a:prstGeom>
          <a:noFill/>
          <a:ln/>
        </p:spPr>
        <p:txBody>
          <a:bodyPr wrap="none" lIns="0" tIns="0" rIns="0" bIns="0" rtlCol="0" anchor="t">
            <a:normAutofit fontScale="32500" lnSpcReduction="20000"/>
          </a:bodyPr>
          <a:lstStyle/>
          <a:p>
            <a:pPr marL="0" indent="0" algn="l">
              <a:lnSpc>
                <a:spcPts val="1305"/>
              </a:lnSpc>
              <a:buNone/>
            </a:pPr>
            <a:r>
              <a:rPr lang="en-US" sz="900" dirty="0">
                <a:solidFill>
                  <a:srgbClr val="FBA74A"/>
                </a:solidFill>
                <a:latin typeface="Courier New" pitchFamily="34" charset="0"/>
                <a:ea typeface="Courier New" pitchFamily="34" charset="-122"/>
                <a:cs typeface="Courier New" pitchFamily="34" charset="-120"/>
              </a:rPr>
              <a:t>template:</a:t>
            </a:r>
            <a:endParaRPr lang="en-US" sz="900" dirty="0"/>
          </a:p>
        </p:txBody>
      </p:sp>
      <p:sp>
        <p:nvSpPr>
          <p:cNvPr id="33" name="Text 31"/>
          <p:cNvSpPr/>
          <p:nvPr/>
        </p:nvSpPr>
        <p:spPr>
          <a:xfrm>
            <a:off x="1014413" y="4235909"/>
            <a:ext cx="365760" cy="154305"/>
          </a:xfrm>
          <a:prstGeom prst="rect">
            <a:avLst/>
          </a:prstGeom>
          <a:noFill/>
          <a:ln/>
        </p:spPr>
        <p:txBody>
          <a:bodyPr wrap="none" lIns="0" tIns="0" rIns="0" bIns="0" rtlCol="0" anchor="t"/>
          <a:lstStyle/>
          <a:p>
            <a:pPr marL="0" indent="0" algn="l">
              <a:lnSpc>
                <a:spcPts val="1305"/>
              </a:lnSpc>
              <a:buNone/>
            </a:pPr>
            <a:r>
              <a:rPr lang="en-US" sz="900" dirty="0">
                <a:solidFill>
                  <a:srgbClr val="FBA74A"/>
                </a:solidFill>
                <a:latin typeface="Courier New" pitchFamily="34" charset="0"/>
                <a:ea typeface="Courier New" pitchFamily="34" charset="-122"/>
                <a:cs typeface="Courier New" pitchFamily="34" charset="-120"/>
              </a:rPr>
              <a:t>src:</a:t>
            </a:r>
            <a:endParaRPr lang="en-US" sz="900" dirty="0"/>
          </a:p>
        </p:txBody>
      </p:sp>
      <p:sp>
        <p:nvSpPr>
          <p:cNvPr id="34" name="Text 32"/>
          <p:cNvSpPr/>
          <p:nvPr/>
        </p:nvSpPr>
        <p:spPr>
          <a:xfrm>
            <a:off x="1290024" y="4235909"/>
            <a:ext cx="806089" cy="138214"/>
          </a:xfrm>
          <a:prstGeom prst="rect">
            <a:avLst/>
          </a:prstGeom>
          <a:noFill/>
          <a:ln/>
        </p:spPr>
        <p:txBody>
          <a:bodyPr wrap="none" lIns="0" tIns="0" rIns="0" bIns="0" rtlCol="0" anchor="t">
            <a:normAutofit fontScale="47500" lnSpcReduction="20000"/>
          </a:bodyPr>
          <a:lstStyle/>
          <a:p>
            <a:pPr marL="0" indent="0" algn="l">
              <a:lnSpc>
                <a:spcPts val="1305"/>
              </a:lnSpc>
              <a:buNone/>
            </a:pPr>
            <a:r>
              <a:rPr lang="en-US" sz="900" dirty="0">
                <a:solidFill>
                  <a:srgbClr val="86EFAC"/>
                </a:solidFill>
                <a:latin typeface="Liberation Sans Narrow" pitchFamily="34" charset="0"/>
                <a:ea typeface="Liberation Sans Narrow" pitchFamily="34" charset="-122"/>
                <a:cs typeface="Liberation Sans Narrow" pitchFamily="34" charset="-120"/>
              </a:rPr>
              <a:t>app.conf.j2</a:t>
            </a:r>
            <a:endParaRPr lang="en-US" sz="900" dirty="0"/>
          </a:p>
        </p:txBody>
      </p:sp>
      <p:sp>
        <p:nvSpPr>
          <p:cNvPr id="35" name="Text 33"/>
          <p:cNvSpPr/>
          <p:nvPr/>
        </p:nvSpPr>
        <p:spPr>
          <a:xfrm>
            <a:off x="1014413" y="4401555"/>
            <a:ext cx="457200" cy="154305"/>
          </a:xfrm>
          <a:prstGeom prst="rect">
            <a:avLst/>
          </a:prstGeom>
          <a:noFill/>
          <a:ln/>
        </p:spPr>
        <p:txBody>
          <a:bodyPr wrap="none" lIns="0" tIns="0" rIns="0" bIns="0" rtlCol="0" anchor="t"/>
          <a:lstStyle/>
          <a:p>
            <a:pPr marL="0" indent="0" algn="l">
              <a:lnSpc>
                <a:spcPts val="1305"/>
              </a:lnSpc>
              <a:buNone/>
            </a:pPr>
            <a:r>
              <a:rPr lang="en-US" sz="900" dirty="0">
                <a:solidFill>
                  <a:srgbClr val="FBA74A"/>
                </a:solidFill>
                <a:latin typeface="Courier New" pitchFamily="34" charset="0"/>
                <a:ea typeface="Courier New" pitchFamily="34" charset="-122"/>
                <a:cs typeface="Courier New" pitchFamily="34" charset="-120"/>
              </a:rPr>
              <a:t>dest:</a:t>
            </a:r>
            <a:endParaRPr lang="en-US" sz="900" dirty="0"/>
          </a:p>
        </p:txBody>
      </p:sp>
      <p:sp>
        <p:nvSpPr>
          <p:cNvPr id="36" name="Text 34"/>
          <p:cNvSpPr/>
          <p:nvPr/>
        </p:nvSpPr>
        <p:spPr>
          <a:xfrm>
            <a:off x="1357313" y="4401555"/>
            <a:ext cx="1214438" cy="138214"/>
          </a:xfrm>
          <a:prstGeom prst="rect">
            <a:avLst/>
          </a:prstGeom>
          <a:noFill/>
          <a:ln/>
        </p:spPr>
        <p:txBody>
          <a:bodyPr wrap="none" lIns="0" tIns="0" rIns="0" bIns="0" rtlCol="0" anchor="t">
            <a:normAutofit fontScale="32500" lnSpcReduction="20000"/>
          </a:bodyPr>
          <a:lstStyle/>
          <a:p>
            <a:pPr marL="0" indent="0" algn="l">
              <a:lnSpc>
                <a:spcPts val="1305"/>
              </a:lnSpc>
              <a:buNone/>
            </a:pPr>
            <a:r>
              <a:rPr lang="en-US" sz="900" dirty="0">
                <a:solidFill>
                  <a:srgbClr val="86EFAC"/>
                </a:solidFill>
                <a:latin typeface="Courier New" pitchFamily="34" charset="0"/>
                <a:ea typeface="Courier New" pitchFamily="34" charset="-122"/>
                <a:cs typeface="Courier New" pitchFamily="34" charset="-120"/>
              </a:rPr>
              <a:t>/etc/app/app.conf</a:t>
            </a:r>
            <a:endParaRPr lang="en-US" sz="900" dirty="0"/>
          </a:p>
        </p:txBody>
      </p:sp>
      <p:sp>
        <p:nvSpPr>
          <p:cNvPr id="37" name="Text 35"/>
          <p:cNvSpPr/>
          <p:nvPr/>
        </p:nvSpPr>
        <p:spPr>
          <a:xfrm>
            <a:off x="1014413" y="4567200"/>
            <a:ext cx="490347" cy="154305"/>
          </a:xfrm>
          <a:prstGeom prst="rect">
            <a:avLst/>
          </a:prstGeom>
          <a:noFill/>
          <a:ln/>
        </p:spPr>
        <p:txBody>
          <a:bodyPr wrap="none" lIns="0" tIns="0" rIns="0" bIns="0" rtlCol="0" anchor="t"/>
          <a:lstStyle/>
          <a:p>
            <a:pPr marL="0" indent="0" algn="l">
              <a:lnSpc>
                <a:spcPts val="1305"/>
              </a:lnSpc>
              <a:buNone/>
            </a:pPr>
            <a:r>
              <a:rPr lang="en-US" sz="900" dirty="0">
                <a:solidFill>
                  <a:srgbClr val="FBA74A"/>
                </a:solidFill>
                <a:latin typeface="Courier New" pitchFamily="34" charset="0"/>
                <a:ea typeface="Courier New" pitchFamily="34" charset="-122"/>
                <a:cs typeface="Courier New" pitchFamily="34" charset="-120"/>
              </a:rPr>
              <a:t>owner:</a:t>
            </a:r>
            <a:endParaRPr lang="en-US" sz="900" dirty="0"/>
          </a:p>
        </p:txBody>
      </p:sp>
      <p:sp>
        <p:nvSpPr>
          <p:cNvPr id="38" name="Text 36"/>
          <p:cNvSpPr/>
          <p:nvPr/>
        </p:nvSpPr>
        <p:spPr>
          <a:xfrm>
            <a:off x="1414463" y="4567200"/>
            <a:ext cx="1143000" cy="138214"/>
          </a:xfrm>
          <a:prstGeom prst="rect">
            <a:avLst/>
          </a:prstGeom>
          <a:noFill/>
          <a:ln/>
        </p:spPr>
        <p:txBody>
          <a:bodyPr wrap="none" lIns="0" tIns="0" rIns="0" bIns="0" rtlCol="0" anchor="t">
            <a:normAutofit fontScale="32500" lnSpcReduction="20000"/>
          </a:bodyPr>
          <a:lstStyle/>
          <a:p>
            <a:pPr marL="0" indent="0" algn="l">
              <a:lnSpc>
                <a:spcPts val="1305"/>
              </a:lnSpc>
              <a:buNone/>
            </a:pPr>
            <a:r>
              <a:rPr lang="en-US" sz="900" dirty="0">
                <a:solidFill>
                  <a:srgbClr val="86EFAC"/>
                </a:solidFill>
                <a:latin typeface="Courier New" pitchFamily="34" charset="0"/>
                <a:ea typeface="Courier New" pitchFamily="34" charset="-122"/>
                <a:cs typeface="Courier New" pitchFamily="34" charset="-120"/>
              </a:rPr>
              <a:t>"{{ app_user }}"</a:t>
            </a:r>
            <a:endParaRPr lang="en-US" sz="900" dirty="0"/>
          </a:p>
        </p:txBody>
      </p:sp>
      <p:sp>
        <p:nvSpPr>
          <p:cNvPr id="39" name="Text 37"/>
          <p:cNvSpPr/>
          <p:nvPr/>
        </p:nvSpPr>
        <p:spPr>
          <a:xfrm>
            <a:off x="1014413" y="4732846"/>
            <a:ext cx="457200" cy="154305"/>
          </a:xfrm>
          <a:prstGeom prst="rect">
            <a:avLst/>
          </a:prstGeom>
          <a:noFill/>
          <a:ln/>
        </p:spPr>
        <p:txBody>
          <a:bodyPr wrap="none" lIns="0" tIns="0" rIns="0" bIns="0" rtlCol="0" anchor="t"/>
          <a:lstStyle/>
          <a:p>
            <a:pPr marL="0" indent="0" algn="l">
              <a:lnSpc>
                <a:spcPts val="1305"/>
              </a:lnSpc>
              <a:buNone/>
            </a:pPr>
            <a:r>
              <a:rPr lang="en-US" sz="900" dirty="0">
                <a:solidFill>
                  <a:srgbClr val="FBA74A"/>
                </a:solidFill>
                <a:latin typeface="Courier New" pitchFamily="34" charset="0"/>
                <a:ea typeface="Courier New" pitchFamily="34" charset="-122"/>
                <a:cs typeface="Courier New" pitchFamily="34" charset="-120"/>
              </a:rPr>
              <a:t>mode:</a:t>
            </a:r>
            <a:endParaRPr lang="en-US" sz="900" dirty="0"/>
          </a:p>
        </p:txBody>
      </p:sp>
      <p:sp>
        <p:nvSpPr>
          <p:cNvPr id="40" name="Text 38"/>
          <p:cNvSpPr/>
          <p:nvPr/>
        </p:nvSpPr>
        <p:spPr>
          <a:xfrm>
            <a:off x="1354546" y="4732846"/>
            <a:ext cx="495879" cy="138214"/>
          </a:xfrm>
          <a:prstGeom prst="rect">
            <a:avLst/>
          </a:prstGeom>
          <a:noFill/>
          <a:ln/>
        </p:spPr>
        <p:txBody>
          <a:bodyPr wrap="none" lIns="0" tIns="0" rIns="0" bIns="0" rtlCol="0" anchor="t">
            <a:normAutofit fontScale="47500" lnSpcReduction="20000"/>
          </a:bodyPr>
          <a:lstStyle/>
          <a:p>
            <a:pPr marL="0" indent="0" algn="l">
              <a:lnSpc>
                <a:spcPts val="1305"/>
              </a:lnSpc>
              <a:buNone/>
            </a:pPr>
            <a:r>
              <a:rPr lang="en-US" sz="900" dirty="0">
                <a:solidFill>
                  <a:srgbClr val="86EFAC"/>
                </a:solidFill>
                <a:latin typeface="Liberation Sans Narrow" pitchFamily="34" charset="0"/>
                <a:ea typeface="Liberation Sans Narrow" pitchFamily="34" charset="-122"/>
                <a:cs typeface="Liberation Sans Narrow" pitchFamily="34" charset="-120"/>
              </a:rPr>
              <a:t>"0640"</a:t>
            </a:r>
            <a:endParaRPr lang="en-US" sz="900" dirty="0"/>
          </a:p>
        </p:txBody>
      </p:sp>
      <p:sp>
        <p:nvSpPr>
          <p:cNvPr id="41" name="Text 39"/>
          <p:cNvSpPr/>
          <p:nvPr/>
        </p:nvSpPr>
        <p:spPr>
          <a:xfrm>
            <a:off x="900113" y="4898492"/>
            <a:ext cx="457200" cy="91440"/>
          </a:xfrm>
          <a:prstGeom prst="rect">
            <a:avLst/>
          </a:prstGeom>
          <a:noFill/>
          <a:ln/>
        </p:spPr>
        <p:txBody>
          <a:bodyPr wrap="none" lIns="0" tIns="0" rIns="0" bIns="0" rtlCol="0" anchor="t"/>
          <a:lstStyle/>
          <a:p>
            <a:pPr marL="0" indent="0" algn="l">
              <a:lnSpc>
                <a:spcPts val="1305"/>
              </a:lnSpc>
              <a:buNone/>
            </a:pPr>
            <a:r>
              <a:rPr lang="en-US" sz="900" dirty="0">
                <a:solidFill>
                  <a:srgbClr val="FBA74A"/>
                </a:solidFill>
                <a:latin typeface="Courier New" pitchFamily="34" charset="0"/>
                <a:ea typeface="Courier New" pitchFamily="34" charset="-122"/>
                <a:cs typeface="Courier New" pitchFamily="34" charset="-120"/>
              </a:rPr>
              <a:t>vars:</a:t>
            </a:r>
            <a:endParaRPr lang="en-US" sz="900" dirty="0"/>
          </a:p>
        </p:txBody>
      </p:sp>
      <p:sp>
        <p:nvSpPr>
          <p:cNvPr id="42" name="Text 40"/>
          <p:cNvSpPr/>
          <p:nvPr/>
        </p:nvSpPr>
        <p:spPr>
          <a:xfrm>
            <a:off x="1014413" y="5064137"/>
            <a:ext cx="1843088" cy="91440"/>
          </a:xfrm>
          <a:prstGeom prst="rect">
            <a:avLst/>
          </a:prstGeom>
          <a:noFill/>
          <a:ln/>
        </p:spPr>
        <p:txBody>
          <a:bodyPr wrap="none" lIns="0" tIns="0" rIns="0" bIns="0" rtlCol="0" anchor="t"/>
          <a:lstStyle/>
          <a:p>
            <a:pPr marL="0" indent="0" algn="l">
              <a:lnSpc>
                <a:spcPts val="1305"/>
              </a:lnSpc>
              <a:buNone/>
            </a:pPr>
            <a:r>
              <a:rPr lang="en-US" sz="900" i="1" dirty="0">
                <a:solidFill>
                  <a:srgbClr val="94A3B8"/>
                </a:solidFill>
                <a:latin typeface="Courier New" pitchFamily="34" charset="0"/>
                <a:ea typeface="Courier New" pitchFamily="34" charset="-122"/>
                <a:cs typeface="Courier New" pitchFamily="34" charset="-120"/>
              </a:rPr>
              <a:t># vars local to this task</a:t>
            </a:r>
            <a:endParaRPr lang="en-US" sz="900" dirty="0"/>
          </a:p>
        </p:txBody>
      </p:sp>
      <p:sp>
        <p:nvSpPr>
          <p:cNvPr id="43" name="Text 41"/>
          <p:cNvSpPr/>
          <p:nvPr/>
        </p:nvSpPr>
        <p:spPr>
          <a:xfrm>
            <a:off x="1011018" y="5229783"/>
            <a:ext cx="792602" cy="91440"/>
          </a:xfrm>
          <a:prstGeom prst="rect">
            <a:avLst/>
          </a:prstGeom>
          <a:noFill/>
          <a:ln/>
        </p:spPr>
        <p:txBody>
          <a:bodyPr wrap="none" lIns="0" tIns="0" rIns="0" bIns="0" rtlCol="0" anchor="t"/>
          <a:lstStyle/>
          <a:p>
            <a:pPr marL="0" indent="0" algn="l">
              <a:lnSpc>
                <a:spcPts val="1305"/>
              </a:lnSpc>
              <a:buNone/>
            </a:pPr>
            <a:r>
              <a:rPr lang="en-US" sz="900" dirty="0">
                <a:solidFill>
                  <a:srgbClr val="FBA74A"/>
                </a:solidFill>
                <a:latin typeface="Courier New" pitchFamily="34" charset="0"/>
                <a:ea typeface="Courier New" pitchFamily="34" charset="-122"/>
                <a:cs typeface="Courier New" pitchFamily="34" charset="-120"/>
              </a:rPr>
              <a:t>redis_host:</a:t>
            </a:r>
            <a:endParaRPr lang="en-US" sz="900" dirty="0"/>
          </a:p>
        </p:txBody>
      </p:sp>
      <p:sp>
        <p:nvSpPr>
          <p:cNvPr id="44" name="Text 42"/>
          <p:cNvSpPr/>
          <p:nvPr/>
        </p:nvSpPr>
        <p:spPr>
          <a:xfrm>
            <a:off x="1700213" y="5229783"/>
            <a:ext cx="1604772" cy="91440"/>
          </a:xfrm>
          <a:prstGeom prst="rect">
            <a:avLst/>
          </a:prstGeom>
          <a:noFill/>
          <a:ln/>
        </p:spPr>
        <p:txBody>
          <a:bodyPr wrap="none" lIns="0" tIns="0" rIns="0" bIns="0" rtlCol="0" anchor="t"/>
          <a:lstStyle/>
          <a:p>
            <a:pPr marL="0" indent="0" algn="l">
              <a:lnSpc>
                <a:spcPts val="1305"/>
              </a:lnSpc>
              <a:buNone/>
            </a:pPr>
            <a:r>
              <a:rPr lang="en-US" sz="900" dirty="0">
                <a:solidFill>
                  <a:srgbClr val="86EFAC"/>
                </a:solidFill>
                <a:latin typeface="Liberation Sans Narrow" pitchFamily="34" charset="0"/>
                <a:ea typeface="Liberation Sans Narrow" pitchFamily="34" charset="-122"/>
                <a:cs typeface="Liberation Sans Narrow" pitchFamily="34" charset="-120"/>
              </a:rPr>
              <a:t>"{{ groups['cache'][0] }}"</a:t>
            </a:r>
            <a:endParaRPr lang="en-US" sz="900" dirty="0"/>
          </a:p>
        </p:txBody>
      </p:sp>
      <p:sp>
        <p:nvSpPr>
          <p:cNvPr id="45" name="Text 43"/>
          <p:cNvSpPr/>
          <p:nvPr/>
        </p:nvSpPr>
        <p:spPr>
          <a:xfrm>
            <a:off x="1010366" y="5395429"/>
            <a:ext cx="722467" cy="91440"/>
          </a:xfrm>
          <a:prstGeom prst="rect">
            <a:avLst/>
          </a:prstGeom>
          <a:noFill/>
          <a:ln/>
        </p:spPr>
        <p:txBody>
          <a:bodyPr wrap="none" lIns="0" tIns="0" rIns="0" bIns="0" rtlCol="0" anchor="t"/>
          <a:lstStyle/>
          <a:p>
            <a:pPr marL="0" indent="0" algn="l">
              <a:lnSpc>
                <a:spcPts val="1305"/>
              </a:lnSpc>
              <a:buNone/>
            </a:pPr>
            <a:r>
              <a:rPr lang="en-US" sz="900" dirty="0">
                <a:solidFill>
                  <a:srgbClr val="FBA74A"/>
                </a:solidFill>
                <a:latin typeface="Courier New" pitchFamily="34" charset="0"/>
                <a:ea typeface="Courier New" pitchFamily="34" charset="-122"/>
                <a:cs typeface="Courier New" pitchFamily="34" charset="-120"/>
              </a:rPr>
              <a:t>server_id:</a:t>
            </a:r>
            <a:endParaRPr lang="en-US" sz="900" dirty="0"/>
          </a:p>
        </p:txBody>
      </p:sp>
      <p:sp>
        <p:nvSpPr>
          <p:cNvPr id="46" name="Text 44"/>
          <p:cNvSpPr/>
          <p:nvPr/>
        </p:nvSpPr>
        <p:spPr>
          <a:xfrm>
            <a:off x="1643063" y="5395429"/>
            <a:ext cx="2592324" cy="91440"/>
          </a:xfrm>
          <a:prstGeom prst="rect">
            <a:avLst/>
          </a:prstGeom>
          <a:noFill/>
          <a:ln/>
        </p:spPr>
        <p:txBody>
          <a:bodyPr wrap="none" lIns="0" tIns="0" rIns="0" bIns="0" rtlCol="0" anchor="t"/>
          <a:lstStyle/>
          <a:p>
            <a:pPr marL="0" indent="0" algn="l">
              <a:lnSpc>
                <a:spcPts val="1305"/>
              </a:lnSpc>
              <a:buNone/>
            </a:pPr>
            <a:r>
              <a:rPr lang="en-US" sz="900" dirty="0">
                <a:solidFill>
                  <a:srgbClr val="86EFAC"/>
                </a:solidFill>
                <a:latin typeface="Courier New" pitchFamily="34" charset="0"/>
                <a:ea typeface="Courier New" pitchFamily="34" charset="-122"/>
                <a:cs typeface="Courier New" pitchFamily="34" charset="-120"/>
              </a:rPr>
              <a:t>"{{ ansible_hostname }}-{{ app_version }}"</a:t>
            </a:r>
            <a:endParaRPr lang="en-US" sz="900" dirty="0"/>
          </a:p>
        </p:txBody>
      </p:sp>
      <p:sp>
        <p:nvSpPr>
          <p:cNvPr id="47" name="Text 45"/>
          <p:cNvSpPr/>
          <p:nvPr/>
        </p:nvSpPr>
        <p:spPr>
          <a:xfrm>
            <a:off x="900113" y="5726720"/>
            <a:ext cx="457200" cy="91440"/>
          </a:xfrm>
          <a:prstGeom prst="rect">
            <a:avLst/>
          </a:prstGeom>
          <a:noFill/>
          <a:ln/>
        </p:spPr>
        <p:txBody>
          <a:bodyPr wrap="none" lIns="0" tIns="0" rIns="0" bIns="0" rtlCol="0" anchor="t"/>
          <a:lstStyle/>
          <a:p>
            <a:pPr marL="0" indent="0" algn="l">
              <a:lnSpc>
                <a:spcPts val="1305"/>
              </a:lnSpc>
              <a:buNone/>
            </a:pPr>
            <a:r>
              <a:rPr lang="en-US" sz="900" dirty="0">
                <a:solidFill>
                  <a:srgbClr val="FBA74A"/>
                </a:solidFill>
                <a:latin typeface="Courier New" pitchFamily="34" charset="0"/>
                <a:ea typeface="Courier New" pitchFamily="34" charset="-122"/>
                <a:cs typeface="Courier New" pitchFamily="34" charset="-120"/>
              </a:rPr>
              <a:t>name:</a:t>
            </a:r>
            <a:endParaRPr lang="en-US" sz="900" dirty="0"/>
          </a:p>
        </p:txBody>
      </p:sp>
      <p:sp>
        <p:nvSpPr>
          <p:cNvPr id="48" name="Text 46"/>
          <p:cNvSpPr/>
          <p:nvPr/>
        </p:nvSpPr>
        <p:spPr>
          <a:xfrm>
            <a:off x="1243013" y="5726720"/>
            <a:ext cx="1714500" cy="91440"/>
          </a:xfrm>
          <a:prstGeom prst="rect">
            <a:avLst/>
          </a:prstGeom>
          <a:noFill/>
          <a:ln/>
        </p:spPr>
        <p:txBody>
          <a:bodyPr wrap="none" lIns="0" tIns="0" rIns="0" bIns="0" rtlCol="0" anchor="t"/>
          <a:lstStyle/>
          <a:p>
            <a:pPr marL="0" indent="0" algn="l">
              <a:lnSpc>
                <a:spcPts val="1305"/>
              </a:lnSpc>
              <a:buNone/>
            </a:pPr>
            <a:r>
              <a:rPr lang="en-US" sz="900" dirty="0">
                <a:solidFill>
                  <a:srgbClr val="86EFAC"/>
                </a:solidFill>
                <a:latin typeface="Courier New" pitchFamily="34" charset="0"/>
                <a:ea typeface="Courier New" pitchFamily="34" charset="-122"/>
                <a:cs typeface="Courier New" pitchFamily="34" charset="-120"/>
              </a:rPr>
              <a:t>Print deployment summary</a:t>
            </a:r>
            <a:endParaRPr lang="en-US" sz="900" dirty="0"/>
          </a:p>
        </p:txBody>
      </p:sp>
      <p:sp>
        <p:nvSpPr>
          <p:cNvPr id="49" name="Text 47"/>
          <p:cNvSpPr/>
          <p:nvPr/>
        </p:nvSpPr>
        <p:spPr>
          <a:xfrm>
            <a:off x="900113" y="5892366"/>
            <a:ext cx="490347" cy="91440"/>
          </a:xfrm>
          <a:prstGeom prst="rect">
            <a:avLst/>
          </a:prstGeom>
          <a:noFill/>
          <a:ln/>
        </p:spPr>
        <p:txBody>
          <a:bodyPr wrap="none" lIns="0" tIns="0" rIns="0" bIns="0" rtlCol="0" anchor="t"/>
          <a:lstStyle/>
          <a:p>
            <a:pPr marL="0" indent="0" algn="l">
              <a:lnSpc>
                <a:spcPts val="1305"/>
              </a:lnSpc>
              <a:buNone/>
            </a:pPr>
            <a:r>
              <a:rPr lang="en-US" sz="900" dirty="0">
                <a:solidFill>
                  <a:srgbClr val="FBA74A"/>
                </a:solidFill>
                <a:latin typeface="Courier New" pitchFamily="34" charset="0"/>
                <a:ea typeface="Courier New" pitchFamily="34" charset="-122"/>
                <a:cs typeface="Courier New" pitchFamily="34" charset="-120"/>
              </a:rPr>
              <a:t>debug:</a:t>
            </a:r>
            <a:endParaRPr lang="en-US" sz="900" dirty="0"/>
          </a:p>
        </p:txBody>
      </p:sp>
      <p:sp>
        <p:nvSpPr>
          <p:cNvPr id="50" name="Text 48"/>
          <p:cNvSpPr/>
          <p:nvPr/>
        </p:nvSpPr>
        <p:spPr>
          <a:xfrm>
            <a:off x="1014413" y="6058012"/>
            <a:ext cx="365760" cy="91440"/>
          </a:xfrm>
          <a:prstGeom prst="rect">
            <a:avLst/>
          </a:prstGeom>
          <a:noFill/>
          <a:ln/>
        </p:spPr>
        <p:txBody>
          <a:bodyPr wrap="none" lIns="0" tIns="0" rIns="0" bIns="0" rtlCol="0" anchor="t"/>
          <a:lstStyle/>
          <a:p>
            <a:pPr marL="0" indent="0" algn="l">
              <a:lnSpc>
                <a:spcPts val="1305"/>
              </a:lnSpc>
              <a:buNone/>
            </a:pPr>
            <a:r>
              <a:rPr lang="en-US" sz="900" dirty="0">
                <a:solidFill>
                  <a:srgbClr val="FBA74A"/>
                </a:solidFill>
                <a:latin typeface="Courier New" pitchFamily="34" charset="0"/>
                <a:ea typeface="Courier New" pitchFamily="34" charset="-122"/>
                <a:cs typeface="Courier New" pitchFamily="34" charset="-120"/>
              </a:rPr>
              <a:t>msg:</a:t>
            </a:r>
            <a:endParaRPr lang="en-US" sz="900" dirty="0"/>
          </a:p>
        </p:txBody>
      </p:sp>
      <p:sp>
        <p:nvSpPr>
          <p:cNvPr id="51" name="Text 49"/>
          <p:cNvSpPr/>
          <p:nvPr/>
        </p:nvSpPr>
        <p:spPr>
          <a:xfrm>
            <a:off x="1243013" y="6223657"/>
            <a:ext cx="3314700" cy="91440"/>
          </a:xfrm>
          <a:prstGeom prst="rect">
            <a:avLst/>
          </a:prstGeom>
          <a:noFill/>
          <a:ln/>
        </p:spPr>
        <p:txBody>
          <a:bodyPr wrap="none" lIns="0" tIns="0" rIns="0" bIns="0" rtlCol="0" anchor="t"/>
          <a:lstStyle/>
          <a:p>
            <a:pPr marL="0" indent="0" algn="l">
              <a:lnSpc>
                <a:spcPts val="1305"/>
              </a:lnSpc>
              <a:buNone/>
            </a:pPr>
            <a:r>
              <a:rPr lang="en-US" sz="900" dirty="0">
                <a:solidFill>
                  <a:srgbClr val="86EFAC"/>
                </a:solidFill>
                <a:latin typeface="Courier New" pitchFamily="34" charset="0"/>
                <a:ea typeface="Courier New" pitchFamily="34" charset="-122"/>
                <a:cs typeface="Courier New" pitchFamily="34" charset="-120"/>
              </a:rPr>
              <a:t>"Deployed app {{ app_version }} on {{ ansible_hostname }}"</a:t>
            </a:r>
            <a:endParaRPr lang="en-US" sz="900" dirty="0"/>
          </a:p>
        </p:txBody>
      </p:sp>
      <p:sp>
        <p:nvSpPr>
          <p:cNvPr id="52" name="Text 50"/>
          <p:cNvSpPr/>
          <p:nvPr/>
        </p:nvSpPr>
        <p:spPr>
          <a:xfrm>
            <a:off x="1243013" y="6389303"/>
            <a:ext cx="3829050" cy="91440"/>
          </a:xfrm>
          <a:prstGeom prst="rect">
            <a:avLst/>
          </a:prstGeom>
          <a:noFill/>
          <a:ln/>
        </p:spPr>
        <p:txBody>
          <a:bodyPr wrap="none" lIns="0" tIns="0" rIns="0" bIns="0" rtlCol="0" anchor="t"/>
          <a:lstStyle/>
          <a:p>
            <a:pPr marL="0" indent="0" algn="l">
              <a:lnSpc>
                <a:spcPts val="1305"/>
              </a:lnSpc>
              <a:buNone/>
            </a:pPr>
            <a:r>
              <a:rPr lang="en-US" sz="900" dirty="0">
                <a:solidFill>
                  <a:srgbClr val="86EFAC"/>
                </a:solidFill>
                <a:latin typeface="Courier New" pitchFamily="34" charset="0"/>
                <a:ea typeface="Courier New" pitchFamily="34" charset="-122"/>
                <a:cs typeface="Courier New" pitchFamily="34" charset="-120"/>
              </a:rPr>
              <a:t>"OS: {{ ansible_distribution }} {{ ansible_distribution_version }}"</a:t>
            </a:r>
            <a:endParaRPr lang="en-US" sz="900" dirty="0"/>
          </a:p>
        </p:txBody>
      </p:sp>
      <p:sp>
        <p:nvSpPr>
          <p:cNvPr id="53" name="Text 51"/>
          <p:cNvSpPr/>
          <p:nvPr/>
        </p:nvSpPr>
        <p:spPr>
          <a:xfrm>
            <a:off x="1243013" y="6554949"/>
            <a:ext cx="2468880" cy="91440"/>
          </a:xfrm>
          <a:prstGeom prst="rect">
            <a:avLst/>
          </a:prstGeom>
          <a:noFill/>
          <a:ln/>
        </p:spPr>
        <p:txBody>
          <a:bodyPr wrap="none" lIns="0" tIns="0" rIns="0" bIns="0" rtlCol="0" anchor="t"/>
          <a:lstStyle/>
          <a:p>
            <a:pPr marL="0" indent="0" algn="l">
              <a:lnSpc>
                <a:spcPts val="1305"/>
              </a:lnSpc>
              <a:buNone/>
            </a:pPr>
            <a:r>
              <a:rPr lang="en-US" sz="900" dirty="0">
                <a:solidFill>
                  <a:srgbClr val="86EFAC"/>
                </a:solidFill>
                <a:latin typeface="Courier New" pitchFamily="34" charset="0"/>
                <a:ea typeface="Courier New" pitchFamily="34" charset="-122"/>
                <a:cs typeface="Courier New" pitchFamily="34" charset="-120"/>
              </a:rPr>
              <a:t>"IP: {{ ansible_default_ipv4.address }}"</a:t>
            </a:r>
            <a:endParaRPr lang="en-US" sz="900" dirty="0"/>
          </a:p>
        </p:txBody>
      </p:sp>
      <p:sp>
        <p:nvSpPr>
          <p:cNvPr id="54" name="Text 52"/>
          <p:cNvSpPr/>
          <p:nvPr/>
        </p:nvSpPr>
        <p:spPr>
          <a:xfrm>
            <a:off x="1243013" y="6720594"/>
            <a:ext cx="2345436" cy="91440"/>
          </a:xfrm>
          <a:prstGeom prst="rect">
            <a:avLst/>
          </a:prstGeom>
          <a:noFill/>
          <a:ln/>
        </p:spPr>
        <p:txBody>
          <a:bodyPr wrap="none" lIns="0" tIns="0" rIns="0" bIns="0" rtlCol="0" anchor="t"/>
          <a:lstStyle/>
          <a:p>
            <a:pPr marL="0" indent="0" algn="l">
              <a:lnSpc>
                <a:spcPts val="1305"/>
              </a:lnSpc>
              <a:buNone/>
            </a:pPr>
            <a:r>
              <a:rPr lang="en-US" sz="900" dirty="0">
                <a:solidFill>
                  <a:srgbClr val="86EFAC"/>
                </a:solidFill>
                <a:latin typeface="Courier New" pitchFamily="34" charset="0"/>
                <a:ea typeface="Courier New" pitchFamily="34" charset="-122"/>
                <a:cs typeface="Courier New" pitchFamily="34" charset="-120"/>
              </a:rPr>
              <a:t>"Redis host: {{ groups['cache'][0] }}"</a:t>
            </a:r>
            <a:endParaRPr lang="en-US" sz="900" dirty="0"/>
          </a:p>
        </p:txBody>
      </p:sp>
      <p:sp>
        <p:nvSpPr>
          <p:cNvPr id="55" name="Text 53"/>
          <p:cNvSpPr/>
          <p:nvPr/>
        </p:nvSpPr>
        <p:spPr>
          <a:xfrm>
            <a:off x="403622" y="5185581"/>
            <a:ext cx="8336756" cy="300038"/>
          </a:xfrm>
          <a:prstGeom prst="roundRect">
            <a:avLst>
              <a:gd name="adj" fmla="val 25397"/>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56" name="Text 54"/>
          <p:cNvSpPr/>
          <p:nvPr/>
        </p:nvSpPr>
        <p:spPr>
          <a:xfrm>
            <a:off x="521494" y="5282022"/>
            <a:ext cx="107156" cy="91440"/>
          </a:xfrm>
          <a:prstGeom prst="rect">
            <a:avLst/>
          </a:prstGeom>
          <a:noFill/>
          <a:ln/>
        </p:spPr>
        <p:txBody>
          <a:bodyPr wrap="none" lIns="0" tIns="0" rIns="0" bIns="0" rtlCol="0" anchor="ctr"/>
          <a:lstStyle/>
          <a:p>
            <a:pPr marL="0" indent="0" algn="ctr">
              <a:buNone/>
            </a:pPr>
            <a:r>
              <a:rPr lang="en-US" sz="1055" dirty="0">
                <a:solidFill>
                  <a:srgbClr val="F97316"/>
                </a:solidFill>
                <a:latin typeface="Segoe UI Symbol" pitchFamily="34" charset="0"/>
                <a:ea typeface="Segoe UI Symbol" pitchFamily="34" charset="-122"/>
                <a:cs typeface="Segoe UI Symbol" pitchFamily="34" charset="-120"/>
              </a:rPr>
              <a:t>◆</a:t>
            </a:r>
            <a:endParaRPr lang="en-US" sz="1055" dirty="0"/>
          </a:p>
        </p:txBody>
      </p:sp>
      <p:sp>
        <p:nvSpPr>
          <p:cNvPr id="57" name="Text 55"/>
          <p:cNvSpPr/>
          <p:nvPr/>
        </p:nvSpPr>
        <p:spPr>
          <a:xfrm>
            <a:off x="4901394" y="5267734"/>
            <a:ext cx="489347" cy="135731"/>
          </a:xfrm>
          <a:prstGeom prst="roundRect">
            <a:avLst>
              <a:gd name="adj" fmla="val 28070"/>
            </a:avLst>
          </a:prstGeom>
          <a:solidFill>
            <a:srgbClr val="F1F5F9"/>
          </a:solidFill>
          <a:ln/>
        </p:spPr>
        <p:txBody>
          <a:bodyPr wrap="square" rtlCol="0" anchor="ctr"/>
          <a:lstStyle/>
          <a:p>
            <a:pPr marL="0" indent="0">
              <a:buNone/>
            </a:pPr>
            <a:endParaRPr lang="en-US" dirty="0"/>
          </a:p>
        </p:txBody>
      </p:sp>
      <p:sp>
        <p:nvSpPr>
          <p:cNvPr id="58" name="Text 56"/>
          <p:cNvSpPr/>
          <p:nvPr/>
        </p:nvSpPr>
        <p:spPr>
          <a:xfrm>
            <a:off x="6167735" y="5267734"/>
            <a:ext cx="303609" cy="135731"/>
          </a:xfrm>
          <a:prstGeom prst="roundRect">
            <a:avLst>
              <a:gd name="adj" fmla="val 28070"/>
            </a:avLst>
          </a:prstGeom>
          <a:solidFill>
            <a:srgbClr val="F1F5F9"/>
          </a:solidFill>
          <a:ln/>
        </p:spPr>
        <p:txBody>
          <a:bodyPr wrap="square" rtlCol="0" anchor="ctr"/>
          <a:lstStyle/>
          <a:p>
            <a:pPr marL="0" indent="0">
              <a:buNone/>
            </a:pPr>
            <a:endParaRPr lang="en-US" dirty="0"/>
          </a:p>
        </p:txBody>
      </p:sp>
      <p:sp>
        <p:nvSpPr>
          <p:cNvPr id="59" name="Text 57"/>
          <p:cNvSpPr/>
          <p:nvPr/>
        </p:nvSpPr>
        <p:spPr>
          <a:xfrm>
            <a:off x="700088" y="5260591"/>
            <a:ext cx="7922419" cy="91440"/>
          </a:xfrm>
          <a:prstGeom prst="rect">
            <a:avLst/>
          </a:prstGeom>
          <a:noFill/>
          <a:ln/>
        </p:spPr>
        <p:txBody>
          <a:bodyPr wrap="square" lIns="0" tIns="0" rIns="0" bIns="0" rtlCol="0" anchor="t"/>
          <a:lstStyle/>
          <a:p>
            <a:pPr marL="0" indent="0" algn="l">
              <a:lnSpc>
                <a:spcPts val="1181"/>
              </a:lnSpc>
              <a:buNone/>
            </a:pPr>
            <a:r>
              <a:rPr lang="en-US" sz="844" b="1" dirty="0">
                <a:solidFill>
                  <a:srgbClr val="C2410C"/>
                </a:solidFill>
                <a:latin typeface="Carlito" pitchFamily="34" charset="0"/>
                <a:ea typeface="Carlito" pitchFamily="34" charset="-122"/>
                <a:cs typeface="Carlito" pitchFamily="34" charset="-120"/>
              </a:rPr>
              <a:t>vars:</a:t>
            </a:r>
            <a:r>
              <a:rPr lang="en-US" sz="844" dirty="0">
                <a:solidFill>
                  <a:srgbClr val="0F172A"/>
                </a:solidFill>
                <a:latin typeface="Carlito" pitchFamily="34" charset="0"/>
                <a:ea typeface="Carlito" pitchFamily="34" charset="-122"/>
                <a:cs typeface="Carlito" pitchFamily="34" charset="-120"/>
              </a:rPr>
              <a:t> at the play level apply to all tasks. </a:t>
            </a:r>
            <a:r>
              <a:rPr lang="en-US" sz="844" b="1" dirty="0">
                <a:solidFill>
                  <a:srgbClr val="C2410C"/>
                </a:solidFill>
                <a:latin typeface="Carlito" pitchFamily="34" charset="0"/>
                <a:ea typeface="Carlito" pitchFamily="34" charset="-122"/>
                <a:cs typeface="Carlito" pitchFamily="34" charset="-120"/>
              </a:rPr>
              <a:t>vars:</a:t>
            </a:r>
            <a:r>
              <a:rPr lang="en-US" sz="844" dirty="0">
                <a:solidFill>
                  <a:srgbClr val="0F172A"/>
                </a:solidFill>
                <a:latin typeface="Carlito" pitchFamily="34" charset="0"/>
                <a:ea typeface="Carlito" pitchFamily="34" charset="-122"/>
                <a:cs typeface="Carlito" pitchFamily="34" charset="-120"/>
              </a:rPr>
              <a:t> inside a task apply only to that task. Facts (</a:t>
            </a:r>
            <a:r>
              <a:rPr lang="en-US" sz="800" dirty="0">
                <a:solidFill>
                  <a:srgbClr val="0F172A"/>
                </a:solidFill>
                <a:highlight>
                  <a:srgbClr val="F1F5F9"/>
                </a:highlight>
                <a:latin typeface="Courier New" pitchFamily="34" charset="0"/>
                <a:ea typeface="Courier New" pitchFamily="34" charset="-122"/>
                <a:cs typeface="Courier New" pitchFamily="34" charset="-120"/>
              </a:rPr>
              <a:t>ansible_*</a:t>
            </a:r>
            <a:r>
              <a:rPr lang="en-US" sz="844" dirty="0">
                <a:solidFill>
                  <a:srgbClr val="0F172A"/>
                </a:solidFill>
                <a:latin typeface="Carlito" pitchFamily="34" charset="0"/>
                <a:ea typeface="Carlito" pitchFamily="34" charset="-122"/>
                <a:cs typeface="Carlito" pitchFamily="34" charset="-120"/>
              </a:rPr>
              <a:t>) come from the </a:t>
            </a:r>
            <a:r>
              <a:rPr lang="en-US" sz="800" dirty="0">
                <a:solidFill>
                  <a:srgbClr val="0F172A"/>
                </a:solidFill>
                <a:highlight>
                  <a:srgbClr val="F1F5F9"/>
                </a:highlight>
                <a:latin typeface="Courier New" pitchFamily="34" charset="0"/>
                <a:ea typeface="Courier New" pitchFamily="34" charset="-122"/>
                <a:cs typeface="Courier New" pitchFamily="34" charset="-120"/>
              </a:rPr>
              <a:t>setup</a:t>
            </a:r>
            <a:r>
              <a:rPr lang="en-US" sz="844" dirty="0">
                <a:solidFill>
                  <a:srgbClr val="0F172A"/>
                </a:solidFill>
                <a:latin typeface="Carlito" pitchFamily="34" charset="0"/>
                <a:ea typeface="Carlito" pitchFamily="34" charset="-122"/>
                <a:cs typeface="Carlito" pitchFamily="34" charset="-120"/>
              </a:rPr>
              <a:t> module.</a:t>
            </a:r>
            <a:endParaRPr lang="en-US" sz="844"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00050" y="314325"/>
            <a:ext cx="6065245" cy="322473"/>
          </a:xfrm>
          <a:prstGeom prst="rect">
            <a:avLst/>
          </a:prstGeom>
          <a:noFill/>
          <a:ln/>
        </p:spPr>
        <p:txBody>
          <a:bodyPr wrap="square" lIns="0" tIns="0" rIns="0" bIns="0" rtlCol="0" anchor="t"/>
          <a:lstStyle/>
          <a:p>
            <a:pPr marL="0" indent="0" algn="l">
              <a:lnSpc>
                <a:spcPts val="2351"/>
              </a:lnSpc>
              <a:buNone/>
            </a:pPr>
            <a:r>
              <a:rPr lang="en-US" sz="2138" b="1" dirty="0">
                <a:solidFill>
                  <a:srgbClr val="0F172A"/>
                </a:solidFill>
                <a:latin typeface="Carlito" pitchFamily="34" charset="0"/>
                <a:ea typeface="Carlito" pitchFamily="34" charset="-122"/>
                <a:cs typeface="Carlito" pitchFamily="34" charset="-120"/>
              </a:rPr>
              <a:t>Ansible Roles — Concept and Directory Layout</a:t>
            </a:r>
            <a:endParaRPr lang="en-US" sz="2138" dirty="0"/>
          </a:p>
        </p:txBody>
      </p:sp>
      <p:sp>
        <p:nvSpPr>
          <p:cNvPr id="3" name="Text 1"/>
          <p:cNvSpPr/>
          <p:nvPr/>
        </p:nvSpPr>
        <p:spPr>
          <a:xfrm>
            <a:off x="400050" y="684349"/>
            <a:ext cx="571500" cy="42863"/>
          </a:xfrm>
          <a:prstGeom prst="roundRect">
            <a:avLst>
              <a:gd name="adj" fmla="val 66666"/>
            </a:avLst>
          </a:prstGeom>
          <a:solidFill>
            <a:srgbClr val="F97316"/>
          </a:solidFill>
          <a:ln/>
        </p:spPr>
        <p:txBody>
          <a:bodyPr wrap="square" rtlCol="0" anchor="ctr"/>
          <a:lstStyle/>
          <a:p>
            <a:pPr marL="0" indent="0">
              <a:buNone/>
            </a:pPr>
            <a:endParaRPr lang="en-US" dirty="0"/>
          </a:p>
        </p:txBody>
      </p:sp>
      <p:sp>
        <p:nvSpPr>
          <p:cNvPr id="4" name="Text 2"/>
          <p:cNvSpPr/>
          <p:nvPr/>
        </p:nvSpPr>
        <p:spPr>
          <a:xfrm>
            <a:off x="400050" y="770074"/>
            <a:ext cx="5513859" cy="183599"/>
          </a:xfrm>
          <a:prstGeom prst="rect">
            <a:avLst/>
          </a:prstGeom>
          <a:noFill/>
          <a:ln/>
        </p:spPr>
        <p:txBody>
          <a:bodyPr wrap="square" lIns="0" tIns="0" rIns="0" bIns="0" rtlCol="0" anchor="t"/>
          <a:lstStyle/>
          <a:p>
            <a:pPr marL="0" indent="0" algn="l">
              <a:lnSpc>
                <a:spcPts val="1339"/>
              </a:lnSpc>
              <a:buNone/>
            </a:pPr>
            <a:r>
              <a:rPr lang="en-US" sz="956" dirty="0">
                <a:solidFill>
                  <a:srgbClr val="64748B"/>
                </a:solidFill>
                <a:latin typeface="Carlito" pitchFamily="34" charset="0"/>
                <a:ea typeface="Carlito" pitchFamily="34" charset="-122"/>
                <a:cs typeface="Carlito" pitchFamily="34" charset="-120"/>
              </a:rPr>
              <a:t>A role bundles related tasks, handlers, vars, templates, and files into a reusable unit.</a:t>
            </a:r>
            <a:endParaRPr lang="en-US" sz="956" dirty="0"/>
          </a:p>
        </p:txBody>
      </p:sp>
      <p:sp>
        <p:nvSpPr>
          <p:cNvPr id="5" name="Text 3"/>
          <p:cNvSpPr/>
          <p:nvPr/>
        </p:nvSpPr>
        <p:spPr>
          <a:xfrm>
            <a:off x="7750433" y="301523"/>
            <a:ext cx="1016377" cy="331333"/>
          </a:xfrm>
          <a:prstGeom prst="roundRect">
            <a:avLst>
              <a:gd name="adj" fmla="val 2871877"/>
            </a:avLst>
          </a:prstGeom>
          <a:solidFill>
            <a:srgbClr val="0F172A"/>
          </a:solidFill>
          <a:ln/>
        </p:spPr>
        <p:txBody>
          <a:bodyPr wrap="square" rtlCol="0" anchor="ctr"/>
          <a:lstStyle/>
          <a:p>
            <a:pPr marL="0" indent="0">
              <a:buNone/>
            </a:pPr>
            <a:endParaRPr lang="en-US" dirty="0"/>
          </a:p>
        </p:txBody>
      </p:sp>
      <p:sp>
        <p:nvSpPr>
          <p:cNvPr id="6" name="Text 4"/>
          <p:cNvSpPr/>
          <p:nvPr/>
        </p:nvSpPr>
        <p:spPr>
          <a:xfrm>
            <a:off x="7772125" y="314325"/>
            <a:ext cx="972993" cy="305730"/>
          </a:xfrm>
          <a:prstGeom prst="rect">
            <a:avLst/>
          </a:prstGeom>
          <a:noFill/>
          <a:ln/>
        </p:spPr>
        <p:txBody>
          <a:bodyPr wrap="none" lIns="0" tIns="0" rIns="0" bIns="0" rtlCol="0" anchor="ctr"/>
          <a:lstStyle/>
          <a:p>
            <a:pPr marL="0" indent="0" algn="ctr">
              <a:lnSpc>
                <a:spcPts val="1733"/>
              </a:lnSpc>
              <a:buNone/>
            </a:pPr>
            <a:r>
              <a:rPr lang="en-US" sz="1238" b="1" kern="0" spc="28" dirty="0">
                <a:solidFill>
                  <a:srgbClr val="FFFFFF"/>
                </a:solidFill>
                <a:latin typeface="Liberation Sans Narrow" pitchFamily="34" charset="0"/>
                <a:ea typeface="Liberation Sans Narrow" pitchFamily="34" charset="-122"/>
                <a:cs typeface="Liberation Sans Narrow" pitchFamily="34" charset="-120"/>
              </a:rPr>
              <a:t>02 · Roles</a:t>
            </a:r>
            <a:endParaRPr lang="en-US" sz="1238" dirty="0"/>
          </a:p>
        </p:txBody>
      </p:sp>
      <p:sp>
        <p:nvSpPr>
          <p:cNvPr id="7" name="Text 5"/>
          <p:cNvSpPr/>
          <p:nvPr/>
        </p:nvSpPr>
        <p:spPr>
          <a:xfrm>
            <a:off x="403622" y="1043657"/>
            <a:ext cx="4114800" cy="715714"/>
          </a:xfrm>
          <a:prstGeom prst="roundRect">
            <a:avLst>
              <a:gd name="adj" fmla="val 18632"/>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8" name="Text 6"/>
          <p:cNvSpPr/>
          <p:nvPr/>
        </p:nvSpPr>
        <p:spPr>
          <a:xfrm>
            <a:off x="520551" y="1175817"/>
            <a:ext cx="259061" cy="154305"/>
          </a:xfrm>
          <a:prstGeom prst="rect">
            <a:avLst/>
          </a:prstGeom>
          <a:noFill/>
          <a:ln/>
        </p:spPr>
        <p:txBody>
          <a:bodyPr wrap="none" lIns="0" tIns="0" rIns="0" bIns="0" rtlCol="0" anchor="t"/>
          <a:lstStyle/>
          <a:p>
            <a:pPr marL="0" indent="0" algn="l">
              <a:lnSpc>
                <a:spcPts val="1125"/>
              </a:lnSpc>
              <a:buNone/>
            </a:pPr>
            <a:r>
              <a:rPr lang="en-US" sz="1125" b="1" dirty="0">
                <a:solidFill>
                  <a:srgbClr val="F97316"/>
                </a:solidFill>
                <a:latin typeface="Liberation Sans Narrow" pitchFamily="34" charset="0"/>
                <a:ea typeface="Liberation Sans Narrow" pitchFamily="34" charset="-122"/>
                <a:cs typeface="Liberation Sans Narrow" pitchFamily="34" charset="-120"/>
              </a:rPr>
              <a:t>01</a:t>
            </a:r>
            <a:endParaRPr lang="en-US" sz="1125" dirty="0"/>
          </a:p>
        </p:txBody>
      </p:sp>
      <p:sp>
        <p:nvSpPr>
          <p:cNvPr id="9" name="Text 7"/>
          <p:cNvSpPr/>
          <p:nvPr/>
        </p:nvSpPr>
        <p:spPr>
          <a:xfrm>
            <a:off x="750094" y="1147242"/>
            <a:ext cx="3443288" cy="216027"/>
          </a:xfrm>
          <a:prstGeom prst="rect">
            <a:avLst/>
          </a:prstGeom>
          <a:noFill/>
          <a:ln/>
        </p:spPr>
        <p:txBody>
          <a:bodyPr wrap="none" lIns="0" tIns="0" rIns="0" bIns="0" rtlCol="0" anchor="t"/>
          <a:lstStyle/>
          <a:p>
            <a:pPr marL="0" indent="0" algn="l">
              <a:lnSpc>
                <a:spcPts val="1575"/>
              </a:lnSpc>
              <a:buNone/>
            </a:pPr>
            <a:r>
              <a:rPr lang="en-US" sz="1125" b="1" dirty="0">
                <a:solidFill>
                  <a:srgbClr val="0F172A"/>
                </a:solidFill>
                <a:latin typeface="Carlito" pitchFamily="34" charset="0"/>
                <a:ea typeface="Carlito" pitchFamily="34" charset="-122"/>
                <a:cs typeface="Carlito" pitchFamily="34" charset="-120"/>
              </a:rPr>
              <a:t>Why Roles?</a:t>
            </a:r>
            <a:endParaRPr lang="en-US" sz="1125" dirty="0"/>
          </a:p>
        </p:txBody>
      </p:sp>
      <p:sp>
        <p:nvSpPr>
          <p:cNvPr id="10" name="Text 8"/>
          <p:cNvSpPr/>
          <p:nvPr/>
        </p:nvSpPr>
        <p:spPr>
          <a:xfrm>
            <a:off x="4229100" y="1168673"/>
            <a:ext cx="157163" cy="157163"/>
          </a:xfrm>
          <a:prstGeom prst="rect">
            <a:avLst/>
          </a:prstGeom>
          <a:noFill/>
          <a:ln/>
        </p:spPr>
        <p:txBody>
          <a:bodyPr wrap="none" lIns="0" tIns="0" rIns="0" bIns="0" rtlCol="0" anchor="ctr"/>
          <a:lstStyle/>
          <a:p>
            <a:pPr marL="0" indent="0" algn="ctr">
              <a:buNone/>
            </a:pPr>
            <a:r>
              <a:rPr lang="en-US" sz="1547" dirty="0">
                <a:solidFill>
                  <a:srgbClr val="0F172A"/>
                </a:solidFill>
                <a:latin typeface="Segoe UI Symbol" pitchFamily="34" charset="0"/>
                <a:ea typeface="Segoe UI Symbol" pitchFamily="34" charset="-122"/>
                <a:cs typeface="Segoe UI Symbol" pitchFamily="34" charset="-120"/>
              </a:rPr>
              <a:t>?</a:t>
            </a:r>
            <a:endParaRPr lang="en-US" sz="1547" dirty="0"/>
          </a:p>
        </p:txBody>
      </p:sp>
      <p:sp>
        <p:nvSpPr>
          <p:cNvPr id="11" name="Text 9"/>
          <p:cNvSpPr/>
          <p:nvPr/>
        </p:nvSpPr>
        <p:spPr>
          <a:xfrm>
            <a:off x="535781" y="1375842"/>
            <a:ext cx="3850481" cy="279946"/>
          </a:xfrm>
          <a:prstGeom prst="rect">
            <a:avLst/>
          </a:prstGeom>
          <a:noFill/>
          <a:ln/>
        </p:spPr>
        <p:txBody>
          <a:bodyPr wrap="square" lIns="0" tIns="0" rIns="0" bIns="0" rtlCol="0" anchor="t"/>
          <a:lstStyle/>
          <a:p>
            <a:pPr marL="0" indent="0" algn="l">
              <a:lnSpc>
                <a:spcPts val="1103"/>
              </a:lnSpc>
              <a:buNone/>
            </a:pPr>
            <a:r>
              <a:rPr lang="en-US" sz="800" dirty="0">
                <a:solidFill>
                  <a:srgbClr val="334155"/>
                </a:solidFill>
                <a:latin typeface="Carlito" pitchFamily="34" charset="0"/>
                <a:ea typeface="Carlito" pitchFamily="34" charset="-122"/>
                <a:cs typeface="Carlito" pitchFamily="34" charset="-120"/>
              </a:rPr>
              <a:t>A 500-line playbook is unmaintainable. Roles split monolithic playbooks into reusable, shareable units. Install community roles from </a:t>
            </a:r>
            <a:r>
              <a:rPr lang="en-US" sz="800" b="1" dirty="0">
                <a:solidFill>
                  <a:srgbClr val="0F172A"/>
                </a:solidFill>
                <a:latin typeface="Carlito" pitchFamily="34" charset="0"/>
                <a:ea typeface="Carlito" pitchFamily="34" charset="-122"/>
                <a:cs typeface="Carlito" pitchFamily="34" charset="-120"/>
              </a:rPr>
              <a:t>ansible-galaxy</a:t>
            </a:r>
            <a:r>
              <a:rPr lang="en-US" sz="800" dirty="0">
                <a:solidFill>
                  <a:srgbClr val="334155"/>
                </a:solidFill>
                <a:latin typeface="Carlito" pitchFamily="34" charset="0"/>
                <a:ea typeface="Carlito" pitchFamily="34" charset="-122"/>
                <a:cs typeface="Carlito" pitchFamily="34" charset="-120"/>
              </a:rPr>
              <a:t>.</a:t>
            </a:r>
            <a:endParaRPr lang="en-US" sz="800" dirty="0"/>
          </a:p>
        </p:txBody>
      </p:sp>
      <p:sp>
        <p:nvSpPr>
          <p:cNvPr id="12" name="Text 10"/>
          <p:cNvSpPr/>
          <p:nvPr/>
        </p:nvSpPr>
        <p:spPr>
          <a:xfrm>
            <a:off x="4625578" y="1043657"/>
            <a:ext cx="4114800" cy="715714"/>
          </a:xfrm>
          <a:prstGeom prst="roundRect">
            <a:avLst>
              <a:gd name="adj" fmla="val 18632"/>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13" name="Text 11"/>
          <p:cNvSpPr/>
          <p:nvPr/>
        </p:nvSpPr>
        <p:spPr>
          <a:xfrm>
            <a:off x="4742507" y="1175817"/>
            <a:ext cx="259061" cy="154305"/>
          </a:xfrm>
          <a:prstGeom prst="rect">
            <a:avLst/>
          </a:prstGeom>
          <a:noFill/>
          <a:ln/>
        </p:spPr>
        <p:txBody>
          <a:bodyPr wrap="none" lIns="0" tIns="0" rIns="0" bIns="0" rtlCol="0" anchor="t"/>
          <a:lstStyle/>
          <a:p>
            <a:pPr marL="0" indent="0" algn="l">
              <a:lnSpc>
                <a:spcPts val="1125"/>
              </a:lnSpc>
              <a:buNone/>
            </a:pPr>
            <a:r>
              <a:rPr lang="en-US" sz="1125" b="1" dirty="0">
                <a:solidFill>
                  <a:srgbClr val="F97316"/>
                </a:solidFill>
                <a:latin typeface="Liberation Sans Narrow" pitchFamily="34" charset="0"/>
                <a:ea typeface="Liberation Sans Narrow" pitchFamily="34" charset="-122"/>
                <a:cs typeface="Liberation Sans Narrow" pitchFamily="34" charset="-120"/>
              </a:rPr>
              <a:t>02</a:t>
            </a:r>
            <a:endParaRPr lang="en-US" sz="1125" dirty="0"/>
          </a:p>
        </p:txBody>
      </p:sp>
      <p:sp>
        <p:nvSpPr>
          <p:cNvPr id="14" name="Text 12"/>
          <p:cNvSpPr/>
          <p:nvPr/>
        </p:nvSpPr>
        <p:spPr>
          <a:xfrm>
            <a:off x="4972050" y="1147242"/>
            <a:ext cx="3443288" cy="216027"/>
          </a:xfrm>
          <a:prstGeom prst="rect">
            <a:avLst/>
          </a:prstGeom>
          <a:noFill/>
          <a:ln/>
        </p:spPr>
        <p:txBody>
          <a:bodyPr wrap="none" lIns="0" tIns="0" rIns="0" bIns="0" rtlCol="0" anchor="t"/>
          <a:lstStyle/>
          <a:p>
            <a:pPr marL="0" indent="0" algn="l">
              <a:lnSpc>
                <a:spcPts val="1575"/>
              </a:lnSpc>
              <a:buNone/>
            </a:pPr>
            <a:r>
              <a:rPr lang="en-US" sz="1125" b="1" dirty="0">
                <a:solidFill>
                  <a:srgbClr val="0F172A"/>
                </a:solidFill>
                <a:latin typeface="Carlito" pitchFamily="34" charset="0"/>
                <a:ea typeface="Carlito" pitchFamily="34" charset="-122"/>
                <a:cs typeface="Carlito" pitchFamily="34" charset="-120"/>
              </a:rPr>
              <a:t>Standard Layout</a:t>
            </a:r>
            <a:endParaRPr lang="en-US" sz="1125" dirty="0"/>
          </a:p>
        </p:txBody>
      </p:sp>
      <p:sp>
        <p:nvSpPr>
          <p:cNvPr id="15" name="Text 13"/>
          <p:cNvSpPr/>
          <p:nvPr/>
        </p:nvSpPr>
        <p:spPr>
          <a:xfrm>
            <a:off x="8451056" y="1168673"/>
            <a:ext cx="157163" cy="157163"/>
          </a:xfrm>
          <a:prstGeom prst="rect">
            <a:avLst/>
          </a:prstGeom>
          <a:noFill/>
          <a:ln/>
        </p:spPr>
        <p:txBody>
          <a:bodyPr wrap="none" lIns="0" tIns="0" rIns="0" bIns="0" rtlCol="0" anchor="ctr"/>
          <a:lstStyle/>
          <a:p>
            <a:pPr marL="0" indent="0" algn="ctr">
              <a:buNone/>
            </a:pPr>
            <a:r>
              <a:rPr lang="en-US" sz="1547" dirty="0">
                <a:solidFill>
                  <a:srgbClr val="0F172A"/>
                </a:solidFill>
                <a:latin typeface="Segoe UI Symbol" pitchFamily="34" charset="0"/>
                <a:ea typeface="Segoe UI Symbol" pitchFamily="34" charset="-122"/>
                <a:cs typeface="Segoe UI Symbol" pitchFamily="34" charset="-120"/>
              </a:rPr>
              <a:t>▣</a:t>
            </a:r>
            <a:endParaRPr lang="en-US" sz="1547" dirty="0"/>
          </a:p>
        </p:txBody>
      </p:sp>
      <p:sp>
        <p:nvSpPr>
          <p:cNvPr id="16" name="Text 14"/>
          <p:cNvSpPr/>
          <p:nvPr/>
        </p:nvSpPr>
        <p:spPr>
          <a:xfrm>
            <a:off x="4757738" y="1375842"/>
            <a:ext cx="3506019" cy="275704"/>
          </a:xfrm>
          <a:prstGeom prst="roundRect">
            <a:avLst>
              <a:gd name="adj" fmla="val 13819"/>
            </a:avLst>
          </a:prstGeom>
          <a:solidFill>
            <a:srgbClr val="F1F5F9"/>
          </a:solidFill>
          <a:ln/>
        </p:spPr>
        <p:txBody>
          <a:bodyPr wrap="square" rtlCol="0" anchor="ctr"/>
          <a:lstStyle/>
          <a:p>
            <a:pPr marL="0" indent="0">
              <a:buNone/>
            </a:pPr>
            <a:endParaRPr lang="en-US" dirty="0"/>
          </a:p>
        </p:txBody>
      </p:sp>
      <p:sp>
        <p:nvSpPr>
          <p:cNvPr id="17" name="Text 15"/>
          <p:cNvSpPr/>
          <p:nvPr/>
        </p:nvSpPr>
        <p:spPr>
          <a:xfrm>
            <a:off x="4757738" y="1375842"/>
            <a:ext cx="3850481" cy="279946"/>
          </a:xfrm>
          <a:prstGeom prst="rect">
            <a:avLst/>
          </a:prstGeom>
          <a:noFill/>
          <a:ln/>
        </p:spPr>
        <p:txBody>
          <a:bodyPr wrap="square" lIns="0" tIns="0" rIns="0" bIns="0" rtlCol="0" anchor="t"/>
          <a:lstStyle/>
          <a:p>
            <a:pPr marL="0" indent="0" algn="l">
              <a:lnSpc>
                <a:spcPts val="1103"/>
              </a:lnSpc>
              <a:buNone/>
            </a:pPr>
            <a:r>
              <a:rPr lang="en-US" sz="800" dirty="0">
                <a:solidFill>
                  <a:srgbClr val="334155"/>
                </a:solidFill>
                <a:latin typeface="Carlito" pitchFamily="34" charset="0"/>
                <a:ea typeface="Carlito" pitchFamily="34" charset="-122"/>
                <a:cs typeface="Carlito" pitchFamily="34" charset="-120"/>
              </a:rPr>
              <a:t>Every role follows the same directory structure: </a:t>
            </a:r>
            <a:r>
              <a:rPr lang="en-US" sz="800" dirty="0">
                <a:solidFill>
                  <a:srgbClr val="0F172A"/>
                </a:solidFill>
                <a:highlight>
                  <a:srgbClr val="F1F5F9"/>
                </a:highlight>
                <a:latin typeface="Courier New" pitchFamily="34" charset="0"/>
                <a:ea typeface="Courier New" pitchFamily="34" charset="-122"/>
                <a:cs typeface="Courier New" pitchFamily="34" charset="-120"/>
              </a:rPr>
              <a:t>tasks/, handlers/, templates/, files/, vars/, defaults/, meta/</a:t>
            </a:r>
            <a:r>
              <a:rPr lang="en-US" sz="800" dirty="0">
                <a:solidFill>
                  <a:srgbClr val="334155"/>
                </a:solidFill>
                <a:latin typeface="Carlito" pitchFamily="34" charset="0"/>
                <a:ea typeface="Carlito" pitchFamily="34" charset="-122"/>
                <a:cs typeface="Carlito" pitchFamily="34" charset="-120"/>
              </a:rPr>
              <a:t>. </a:t>
            </a:r>
            <a:r>
              <a:rPr lang="en-US" sz="800" b="1" dirty="0">
                <a:solidFill>
                  <a:srgbClr val="0F172A"/>
                </a:solidFill>
                <a:latin typeface="Carlito" pitchFamily="34" charset="0"/>
                <a:ea typeface="Carlito" pitchFamily="34" charset="-122"/>
                <a:cs typeface="Carlito" pitchFamily="34" charset="-120"/>
              </a:rPr>
              <a:t>Convention over configuration.</a:t>
            </a:r>
            <a:endParaRPr lang="en-US" sz="800" dirty="0"/>
          </a:p>
        </p:txBody>
      </p:sp>
      <p:sp>
        <p:nvSpPr>
          <p:cNvPr id="18" name="Text 16"/>
          <p:cNvSpPr/>
          <p:nvPr/>
        </p:nvSpPr>
        <p:spPr>
          <a:xfrm>
            <a:off x="403622" y="1866528"/>
            <a:ext cx="4114800" cy="715714"/>
          </a:xfrm>
          <a:prstGeom prst="roundRect">
            <a:avLst>
              <a:gd name="adj" fmla="val 18632"/>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19" name="Text 17"/>
          <p:cNvSpPr/>
          <p:nvPr/>
        </p:nvSpPr>
        <p:spPr>
          <a:xfrm>
            <a:off x="520551" y="1998687"/>
            <a:ext cx="259061" cy="154305"/>
          </a:xfrm>
          <a:prstGeom prst="rect">
            <a:avLst/>
          </a:prstGeom>
          <a:noFill/>
          <a:ln/>
        </p:spPr>
        <p:txBody>
          <a:bodyPr wrap="none" lIns="0" tIns="0" rIns="0" bIns="0" rtlCol="0" anchor="t"/>
          <a:lstStyle/>
          <a:p>
            <a:pPr marL="0" indent="0" algn="l">
              <a:lnSpc>
                <a:spcPts val="1125"/>
              </a:lnSpc>
              <a:buNone/>
            </a:pPr>
            <a:r>
              <a:rPr lang="en-US" sz="1125" b="1" dirty="0">
                <a:solidFill>
                  <a:srgbClr val="F97316"/>
                </a:solidFill>
                <a:latin typeface="Liberation Sans Narrow" pitchFamily="34" charset="0"/>
                <a:ea typeface="Liberation Sans Narrow" pitchFamily="34" charset="-122"/>
                <a:cs typeface="Liberation Sans Narrow" pitchFamily="34" charset="-120"/>
              </a:rPr>
              <a:t>03</a:t>
            </a:r>
            <a:endParaRPr lang="en-US" sz="1125" dirty="0"/>
          </a:p>
        </p:txBody>
      </p:sp>
      <p:sp>
        <p:nvSpPr>
          <p:cNvPr id="20" name="Text 18"/>
          <p:cNvSpPr/>
          <p:nvPr/>
        </p:nvSpPr>
        <p:spPr>
          <a:xfrm>
            <a:off x="750094" y="1970112"/>
            <a:ext cx="3443288" cy="216027"/>
          </a:xfrm>
          <a:prstGeom prst="rect">
            <a:avLst/>
          </a:prstGeom>
          <a:noFill/>
          <a:ln/>
        </p:spPr>
        <p:txBody>
          <a:bodyPr wrap="none" lIns="0" tIns="0" rIns="0" bIns="0" rtlCol="0" anchor="t"/>
          <a:lstStyle/>
          <a:p>
            <a:pPr marL="0" indent="0" algn="l">
              <a:lnSpc>
                <a:spcPts val="1575"/>
              </a:lnSpc>
              <a:buNone/>
            </a:pPr>
            <a:r>
              <a:rPr lang="en-US" sz="1125" b="1" dirty="0">
                <a:solidFill>
                  <a:srgbClr val="0F172A"/>
                </a:solidFill>
                <a:latin typeface="Carlito" pitchFamily="34" charset="0"/>
                <a:ea typeface="Carlito" pitchFamily="34" charset="-122"/>
                <a:cs typeface="Carlito" pitchFamily="34" charset="-120"/>
              </a:rPr>
              <a:t>Reusability</a:t>
            </a:r>
            <a:endParaRPr lang="en-US" sz="1125" dirty="0"/>
          </a:p>
        </p:txBody>
      </p:sp>
      <p:sp>
        <p:nvSpPr>
          <p:cNvPr id="21" name="Text 19"/>
          <p:cNvSpPr/>
          <p:nvPr/>
        </p:nvSpPr>
        <p:spPr>
          <a:xfrm>
            <a:off x="4229100" y="1991544"/>
            <a:ext cx="157163" cy="157163"/>
          </a:xfrm>
          <a:prstGeom prst="rect">
            <a:avLst/>
          </a:prstGeom>
          <a:noFill/>
          <a:ln/>
        </p:spPr>
        <p:txBody>
          <a:bodyPr wrap="none" lIns="0" tIns="0" rIns="0" bIns="0" rtlCol="0" anchor="ctr"/>
          <a:lstStyle/>
          <a:p>
            <a:pPr marL="0" indent="0" algn="ctr">
              <a:buNone/>
            </a:pPr>
            <a:r>
              <a:rPr lang="en-US" sz="1547" dirty="0">
                <a:solidFill>
                  <a:srgbClr val="0F172A"/>
                </a:solidFill>
                <a:latin typeface="Segoe UI Symbol" pitchFamily="34" charset="0"/>
                <a:ea typeface="Segoe UI Symbol" pitchFamily="34" charset="-122"/>
                <a:cs typeface="Segoe UI Symbol" pitchFamily="34" charset="-120"/>
              </a:rPr>
              <a:t>▭</a:t>
            </a:r>
            <a:endParaRPr lang="en-US" sz="1547" dirty="0"/>
          </a:p>
        </p:txBody>
      </p:sp>
      <p:sp>
        <p:nvSpPr>
          <p:cNvPr id="22" name="Text 20"/>
          <p:cNvSpPr/>
          <p:nvPr/>
        </p:nvSpPr>
        <p:spPr>
          <a:xfrm>
            <a:off x="997223" y="2198712"/>
            <a:ext cx="303609" cy="135731"/>
          </a:xfrm>
          <a:prstGeom prst="roundRect">
            <a:avLst>
              <a:gd name="adj" fmla="val 28070"/>
            </a:avLst>
          </a:prstGeom>
          <a:solidFill>
            <a:srgbClr val="F1F5F9"/>
          </a:solidFill>
          <a:ln/>
        </p:spPr>
        <p:txBody>
          <a:bodyPr wrap="square" rtlCol="0" anchor="ctr"/>
          <a:lstStyle/>
          <a:p>
            <a:pPr marL="0" indent="0">
              <a:buNone/>
            </a:pPr>
            <a:endParaRPr lang="en-US" dirty="0"/>
          </a:p>
        </p:txBody>
      </p:sp>
      <p:sp>
        <p:nvSpPr>
          <p:cNvPr id="23" name="Text 21"/>
          <p:cNvSpPr/>
          <p:nvPr/>
        </p:nvSpPr>
        <p:spPr>
          <a:xfrm>
            <a:off x="535781" y="2198712"/>
            <a:ext cx="3850481" cy="279946"/>
          </a:xfrm>
          <a:prstGeom prst="rect">
            <a:avLst/>
          </a:prstGeom>
          <a:noFill/>
          <a:ln/>
        </p:spPr>
        <p:txBody>
          <a:bodyPr wrap="square" lIns="0" tIns="0" rIns="0" bIns="0" rtlCol="0" anchor="t"/>
          <a:lstStyle/>
          <a:p>
            <a:pPr marL="0" indent="0" algn="l">
              <a:lnSpc>
                <a:spcPts val="1103"/>
              </a:lnSpc>
              <a:buNone/>
            </a:pPr>
            <a:r>
              <a:rPr lang="en-US" sz="800" dirty="0">
                <a:solidFill>
                  <a:srgbClr val="334155"/>
                </a:solidFill>
                <a:latin typeface="Carlito" pitchFamily="34" charset="0"/>
                <a:ea typeface="Carlito" pitchFamily="34" charset="-122"/>
                <a:cs typeface="Carlito" pitchFamily="34" charset="-120"/>
              </a:rPr>
              <a:t>A role like </a:t>
            </a:r>
            <a:r>
              <a:rPr lang="en-US" sz="800" dirty="0">
                <a:solidFill>
                  <a:srgbClr val="0F172A"/>
                </a:solidFill>
                <a:highlight>
                  <a:srgbClr val="F1F5F9"/>
                </a:highlight>
                <a:latin typeface="Courier New" pitchFamily="34" charset="0"/>
                <a:ea typeface="Courier New" pitchFamily="34" charset="-122"/>
                <a:cs typeface="Courier New" pitchFamily="34" charset="-120"/>
              </a:rPr>
              <a:t>nginx</a:t>
            </a:r>
            <a:r>
              <a:rPr lang="en-US" sz="800" dirty="0">
                <a:solidFill>
                  <a:srgbClr val="334155"/>
                </a:solidFill>
                <a:latin typeface="Carlito" pitchFamily="34" charset="0"/>
                <a:ea typeface="Carlito" pitchFamily="34" charset="-122"/>
                <a:cs typeface="Carlito" pitchFamily="34" charset="-120"/>
              </a:rPr>
              <a:t> can be applied to web tier, proxy tier, load-balancer tier — each with different variables. Share via </a:t>
            </a:r>
            <a:r>
              <a:rPr lang="en-US" sz="800" b="1" dirty="0">
                <a:solidFill>
                  <a:srgbClr val="0F172A"/>
                </a:solidFill>
                <a:latin typeface="Carlito" pitchFamily="34" charset="0"/>
                <a:ea typeface="Carlito" pitchFamily="34" charset="-122"/>
                <a:cs typeface="Carlito" pitchFamily="34" charset="-120"/>
              </a:rPr>
              <a:t>ansible-galaxy or Git</a:t>
            </a:r>
            <a:r>
              <a:rPr lang="en-US" sz="800" dirty="0">
                <a:solidFill>
                  <a:srgbClr val="334155"/>
                </a:solidFill>
                <a:latin typeface="Carlito" pitchFamily="34" charset="0"/>
                <a:ea typeface="Carlito" pitchFamily="34" charset="-122"/>
                <a:cs typeface="Carlito" pitchFamily="34" charset="-120"/>
              </a:rPr>
              <a:t>.</a:t>
            </a:r>
            <a:endParaRPr lang="en-US" sz="800" dirty="0"/>
          </a:p>
        </p:txBody>
      </p:sp>
      <p:sp>
        <p:nvSpPr>
          <p:cNvPr id="24" name="Text 22"/>
          <p:cNvSpPr/>
          <p:nvPr/>
        </p:nvSpPr>
        <p:spPr>
          <a:xfrm>
            <a:off x="4625578" y="1866528"/>
            <a:ext cx="4114800" cy="715714"/>
          </a:xfrm>
          <a:prstGeom prst="roundRect">
            <a:avLst>
              <a:gd name="adj" fmla="val 18632"/>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25" name="Text 23"/>
          <p:cNvSpPr/>
          <p:nvPr/>
        </p:nvSpPr>
        <p:spPr>
          <a:xfrm>
            <a:off x="4742507" y="1998687"/>
            <a:ext cx="259061" cy="154305"/>
          </a:xfrm>
          <a:prstGeom prst="rect">
            <a:avLst/>
          </a:prstGeom>
          <a:noFill/>
          <a:ln/>
        </p:spPr>
        <p:txBody>
          <a:bodyPr wrap="none" lIns="0" tIns="0" rIns="0" bIns="0" rtlCol="0" anchor="t"/>
          <a:lstStyle/>
          <a:p>
            <a:pPr marL="0" indent="0" algn="l">
              <a:lnSpc>
                <a:spcPts val="1125"/>
              </a:lnSpc>
              <a:buNone/>
            </a:pPr>
            <a:r>
              <a:rPr lang="en-US" sz="1125" b="1" dirty="0">
                <a:solidFill>
                  <a:srgbClr val="F97316"/>
                </a:solidFill>
                <a:latin typeface="Liberation Sans Narrow" pitchFamily="34" charset="0"/>
                <a:ea typeface="Liberation Sans Narrow" pitchFamily="34" charset="-122"/>
                <a:cs typeface="Liberation Sans Narrow" pitchFamily="34" charset="-120"/>
              </a:rPr>
              <a:t>04</a:t>
            </a:r>
            <a:endParaRPr lang="en-US" sz="1125" dirty="0"/>
          </a:p>
        </p:txBody>
      </p:sp>
      <p:sp>
        <p:nvSpPr>
          <p:cNvPr id="26" name="Text 24"/>
          <p:cNvSpPr/>
          <p:nvPr/>
        </p:nvSpPr>
        <p:spPr>
          <a:xfrm>
            <a:off x="4972050" y="1970112"/>
            <a:ext cx="3443288" cy="216027"/>
          </a:xfrm>
          <a:prstGeom prst="rect">
            <a:avLst/>
          </a:prstGeom>
          <a:noFill/>
          <a:ln/>
        </p:spPr>
        <p:txBody>
          <a:bodyPr wrap="none" lIns="0" tIns="0" rIns="0" bIns="0" rtlCol="0" anchor="t"/>
          <a:lstStyle/>
          <a:p>
            <a:pPr marL="0" indent="0" algn="l">
              <a:lnSpc>
                <a:spcPts val="1575"/>
              </a:lnSpc>
              <a:buNone/>
            </a:pPr>
            <a:r>
              <a:rPr lang="en-US" sz="1125" b="1" dirty="0">
                <a:solidFill>
                  <a:srgbClr val="0F172A"/>
                </a:solidFill>
                <a:latin typeface="Carlito" pitchFamily="34" charset="0"/>
                <a:ea typeface="Carlito" pitchFamily="34" charset="-122"/>
                <a:cs typeface="Carlito" pitchFamily="34" charset="-120"/>
              </a:rPr>
              <a:t>Composition</a:t>
            </a:r>
            <a:endParaRPr lang="en-US" sz="1125" dirty="0"/>
          </a:p>
        </p:txBody>
      </p:sp>
      <p:sp>
        <p:nvSpPr>
          <p:cNvPr id="27" name="Text 25"/>
          <p:cNvSpPr/>
          <p:nvPr/>
        </p:nvSpPr>
        <p:spPr>
          <a:xfrm>
            <a:off x="8451056" y="1991544"/>
            <a:ext cx="157163" cy="157163"/>
          </a:xfrm>
          <a:prstGeom prst="rect">
            <a:avLst/>
          </a:prstGeom>
          <a:noFill/>
          <a:ln/>
        </p:spPr>
        <p:txBody>
          <a:bodyPr wrap="none" lIns="0" tIns="0" rIns="0" bIns="0" rtlCol="0" anchor="ctr"/>
          <a:lstStyle/>
          <a:p>
            <a:pPr marL="0" indent="0" algn="ctr">
              <a:buNone/>
            </a:pPr>
            <a:r>
              <a:rPr lang="en-US" sz="1547" dirty="0">
                <a:solidFill>
                  <a:srgbClr val="0F172A"/>
                </a:solidFill>
                <a:latin typeface="Segoe UI Symbol" pitchFamily="34" charset="0"/>
                <a:ea typeface="Segoe UI Symbol" pitchFamily="34" charset="-122"/>
                <a:cs typeface="Segoe UI Symbol" pitchFamily="34" charset="-120"/>
              </a:rPr>
              <a:t>✿</a:t>
            </a:r>
            <a:endParaRPr lang="en-US" sz="1547" dirty="0"/>
          </a:p>
        </p:txBody>
      </p:sp>
      <p:sp>
        <p:nvSpPr>
          <p:cNvPr id="28" name="Text 26"/>
          <p:cNvSpPr/>
          <p:nvPr/>
        </p:nvSpPr>
        <p:spPr>
          <a:xfrm>
            <a:off x="4843686" y="2198712"/>
            <a:ext cx="442913" cy="135731"/>
          </a:xfrm>
          <a:prstGeom prst="roundRect">
            <a:avLst>
              <a:gd name="adj" fmla="val 28070"/>
            </a:avLst>
          </a:prstGeom>
          <a:solidFill>
            <a:srgbClr val="F1F5F9"/>
          </a:solidFill>
          <a:ln/>
        </p:spPr>
        <p:txBody>
          <a:bodyPr wrap="square" rtlCol="0" anchor="ctr"/>
          <a:lstStyle/>
          <a:p>
            <a:pPr marL="0" indent="0">
              <a:buNone/>
            </a:pPr>
            <a:endParaRPr lang="en-US" dirty="0"/>
          </a:p>
        </p:txBody>
      </p:sp>
      <p:sp>
        <p:nvSpPr>
          <p:cNvPr id="29" name="Text 27"/>
          <p:cNvSpPr/>
          <p:nvPr/>
        </p:nvSpPr>
        <p:spPr>
          <a:xfrm>
            <a:off x="4757738" y="2198712"/>
            <a:ext cx="3850481" cy="279946"/>
          </a:xfrm>
          <a:prstGeom prst="rect">
            <a:avLst/>
          </a:prstGeom>
          <a:noFill/>
          <a:ln/>
        </p:spPr>
        <p:txBody>
          <a:bodyPr wrap="square" lIns="0" tIns="0" rIns="0" bIns="0" rtlCol="0" anchor="t"/>
          <a:lstStyle/>
          <a:p>
            <a:pPr marL="0" indent="0" algn="l">
              <a:lnSpc>
                <a:spcPts val="1103"/>
              </a:lnSpc>
              <a:buNone/>
            </a:pPr>
            <a:r>
              <a:rPr lang="en-US" sz="800" dirty="0">
                <a:solidFill>
                  <a:srgbClr val="334155"/>
                </a:solidFill>
                <a:latin typeface="Carlito" pitchFamily="34" charset="0"/>
                <a:ea typeface="Carlito" pitchFamily="34" charset="-122"/>
                <a:cs typeface="Carlito" pitchFamily="34" charset="-120"/>
              </a:rPr>
              <a:t>A </a:t>
            </a:r>
            <a:r>
              <a:rPr lang="en-US" sz="800" dirty="0">
                <a:solidFill>
                  <a:srgbClr val="0F172A"/>
                </a:solidFill>
                <a:highlight>
                  <a:srgbClr val="F1F5F9"/>
                </a:highlight>
                <a:latin typeface="Courier New" pitchFamily="34" charset="0"/>
                <a:ea typeface="Courier New" pitchFamily="34" charset="-122"/>
                <a:cs typeface="Courier New" pitchFamily="34" charset="-120"/>
              </a:rPr>
              <a:t>site.yml</a:t>
            </a:r>
            <a:r>
              <a:rPr lang="en-US" sz="800" dirty="0">
                <a:solidFill>
                  <a:srgbClr val="334155"/>
                </a:solidFill>
                <a:latin typeface="Carlito" pitchFamily="34" charset="0"/>
                <a:ea typeface="Carlito" pitchFamily="34" charset="-122"/>
                <a:cs typeface="Carlito" pitchFamily="34" charset="-120"/>
              </a:rPr>
              <a:t> playbook lists roles to apply to each host group. Roles compose cleanly — </a:t>
            </a:r>
            <a:r>
              <a:rPr lang="en-US" sz="800" b="1" dirty="0">
                <a:solidFill>
                  <a:srgbClr val="0F172A"/>
                </a:solidFill>
                <a:latin typeface="Carlito" pitchFamily="34" charset="0"/>
                <a:ea typeface="Carlito" pitchFamily="34" charset="-122"/>
                <a:cs typeface="Carlito" pitchFamily="34" charset="-120"/>
              </a:rPr>
              <a:t>they do not step on each other</a:t>
            </a:r>
            <a:r>
              <a:rPr lang="en-US" sz="800" dirty="0">
                <a:solidFill>
                  <a:srgbClr val="334155"/>
                </a:solidFill>
                <a:latin typeface="Carlito" pitchFamily="34" charset="0"/>
                <a:ea typeface="Carlito" pitchFamily="34" charset="-122"/>
                <a:cs typeface="Carlito" pitchFamily="34" charset="-120"/>
              </a:rPr>
              <a:t>.</a:t>
            </a:r>
            <a:endParaRPr lang="en-US" sz="800" dirty="0"/>
          </a:p>
        </p:txBody>
      </p:sp>
      <p:sp>
        <p:nvSpPr>
          <p:cNvPr id="30" name="Text 28"/>
          <p:cNvSpPr/>
          <p:nvPr/>
        </p:nvSpPr>
        <p:spPr>
          <a:xfrm>
            <a:off x="400050" y="2671539"/>
            <a:ext cx="8343900" cy="1453753"/>
          </a:xfrm>
          <a:prstGeom prst="roundRect">
            <a:avLst>
              <a:gd name="adj" fmla="val 9173"/>
            </a:avLst>
          </a:prstGeom>
          <a:solidFill>
            <a:srgbClr val="0F172A"/>
          </a:solidFill>
          <a:ln/>
        </p:spPr>
        <p:txBody>
          <a:bodyPr wrap="square" rtlCol="0" anchor="ctr"/>
          <a:lstStyle/>
          <a:p>
            <a:pPr marL="0" indent="0">
              <a:buNone/>
            </a:pPr>
            <a:endParaRPr lang="en-US" dirty="0"/>
          </a:p>
        </p:txBody>
      </p:sp>
      <p:sp>
        <p:nvSpPr>
          <p:cNvPr id="31" name="Text 29"/>
          <p:cNvSpPr/>
          <p:nvPr/>
        </p:nvSpPr>
        <p:spPr>
          <a:xfrm>
            <a:off x="709719" y="3333452"/>
            <a:ext cx="886765" cy="143490"/>
          </a:xfrm>
          <a:prstGeom prst="rect">
            <a:avLst/>
          </a:prstGeom>
          <a:noFill/>
          <a:ln/>
        </p:spPr>
        <p:txBody>
          <a:bodyPr wrap="none" lIns="0" tIns="0" rIns="0" bIns="0" rtlCol="0" anchor="t"/>
          <a:lstStyle/>
          <a:p>
            <a:pPr marL="0" indent="0" algn="l">
              <a:lnSpc>
                <a:spcPts val="1024"/>
              </a:lnSpc>
              <a:buNone/>
            </a:pPr>
            <a:r>
              <a:rPr lang="en-US" sz="800" kern="0" spc="56" dirty="0">
                <a:solidFill>
                  <a:srgbClr val="94A3B8"/>
                </a:solidFill>
                <a:latin typeface="Courier New" pitchFamily="34" charset="0"/>
                <a:ea typeface="Courier New" pitchFamily="34" charset="-122"/>
                <a:cs typeface="Courier New" pitchFamily="34" charset="-120"/>
              </a:rPr>
              <a:t>ROLES/NGINX/</a:t>
            </a:r>
            <a:endParaRPr lang="en-US" sz="800" dirty="0"/>
          </a:p>
        </p:txBody>
      </p:sp>
      <p:sp>
        <p:nvSpPr>
          <p:cNvPr id="32" name="Text 30"/>
          <p:cNvSpPr/>
          <p:nvPr/>
        </p:nvSpPr>
        <p:spPr>
          <a:xfrm>
            <a:off x="542925" y="3334122"/>
            <a:ext cx="128588" cy="128588"/>
          </a:xfrm>
          <a:prstGeom prst="rect">
            <a:avLst/>
          </a:prstGeom>
          <a:noFill/>
          <a:ln/>
        </p:spPr>
        <p:txBody>
          <a:bodyPr wrap="none" lIns="0" tIns="0" rIns="0" bIns="0" rtlCol="0" anchor="ctr"/>
          <a:lstStyle/>
          <a:p>
            <a:pPr marL="0" indent="0" algn="ctr">
              <a:buNone/>
            </a:pPr>
            <a:r>
              <a:rPr lang="en-US" sz="1266" dirty="0">
                <a:solidFill>
                  <a:srgbClr val="F97316"/>
                </a:solidFill>
                <a:latin typeface="Segoe UI Symbol" pitchFamily="34" charset="0"/>
                <a:ea typeface="Segoe UI Symbol" pitchFamily="34" charset="-122"/>
                <a:cs typeface="Segoe UI Symbol" pitchFamily="34" charset="-120"/>
              </a:rPr>
              <a:t>▤</a:t>
            </a:r>
            <a:endParaRPr lang="en-US" sz="1266" dirty="0"/>
          </a:p>
        </p:txBody>
      </p:sp>
      <p:sp>
        <p:nvSpPr>
          <p:cNvPr id="33" name="Text 31"/>
          <p:cNvSpPr/>
          <p:nvPr/>
        </p:nvSpPr>
        <p:spPr>
          <a:xfrm>
            <a:off x="1498782" y="2778696"/>
            <a:ext cx="401218" cy="111871"/>
          </a:xfrm>
          <a:prstGeom prst="rect">
            <a:avLst/>
          </a:prstGeom>
          <a:noFill/>
          <a:ln/>
        </p:spPr>
        <p:txBody>
          <a:bodyPr wrap="none" lIns="0" tIns="0" rIns="0" bIns="0" rtlCol="0" anchor="t">
            <a:normAutofit fontScale="25000" lnSpcReduction="20000"/>
          </a:bodyPr>
          <a:lstStyle/>
          <a:p>
            <a:pPr marL="0" indent="0" algn="l">
              <a:lnSpc>
                <a:spcPts val="1097"/>
              </a:lnSpc>
              <a:buNone/>
            </a:pPr>
            <a:r>
              <a:rPr lang="en-US" sz="800" dirty="0">
                <a:solidFill>
                  <a:srgbClr val="FBA74A"/>
                </a:solidFill>
                <a:latin typeface="Courier New" pitchFamily="34" charset="0"/>
                <a:ea typeface="Courier New" pitchFamily="34" charset="-122"/>
                <a:cs typeface="Courier New" pitchFamily="34" charset="-120"/>
              </a:rPr>
              <a:t>roles/</a:t>
            </a:r>
            <a:endParaRPr lang="en-US" sz="800" dirty="0"/>
          </a:p>
        </p:txBody>
      </p:sp>
      <p:sp>
        <p:nvSpPr>
          <p:cNvPr id="34" name="Text 32"/>
          <p:cNvSpPr/>
          <p:nvPr/>
        </p:nvSpPr>
        <p:spPr>
          <a:xfrm>
            <a:off x="1591651" y="2917999"/>
            <a:ext cx="401218" cy="111871"/>
          </a:xfrm>
          <a:prstGeom prst="rect">
            <a:avLst/>
          </a:prstGeom>
          <a:noFill/>
          <a:ln/>
        </p:spPr>
        <p:txBody>
          <a:bodyPr wrap="none" lIns="0" tIns="0" rIns="0" bIns="0" rtlCol="0" anchor="t">
            <a:normAutofit fontScale="25000" lnSpcReduction="20000"/>
          </a:bodyPr>
          <a:lstStyle/>
          <a:p>
            <a:pPr marL="0" indent="0" algn="l">
              <a:lnSpc>
                <a:spcPts val="1097"/>
              </a:lnSpc>
              <a:buNone/>
            </a:pPr>
            <a:r>
              <a:rPr lang="en-US" sz="800" dirty="0">
                <a:solidFill>
                  <a:srgbClr val="FBA74A"/>
                </a:solidFill>
                <a:latin typeface="Courier New" pitchFamily="34" charset="0"/>
                <a:ea typeface="Courier New" pitchFamily="34" charset="-122"/>
                <a:cs typeface="Courier New" pitchFamily="34" charset="-120"/>
              </a:rPr>
              <a:t>nginx/</a:t>
            </a:r>
            <a:endParaRPr lang="en-US" sz="800" dirty="0"/>
          </a:p>
        </p:txBody>
      </p:sp>
      <p:sp>
        <p:nvSpPr>
          <p:cNvPr id="35" name="Text 33"/>
          <p:cNvSpPr/>
          <p:nvPr/>
        </p:nvSpPr>
        <p:spPr>
          <a:xfrm>
            <a:off x="1685925" y="3057302"/>
            <a:ext cx="812602" cy="143490"/>
          </a:xfrm>
          <a:prstGeom prst="rect">
            <a:avLst/>
          </a:prstGeom>
          <a:noFill/>
          <a:ln/>
        </p:spPr>
        <p:txBody>
          <a:bodyPr wrap="none" lIns="0" tIns="0" rIns="0" bIns="0" rtlCol="0" anchor="t"/>
          <a:lstStyle/>
          <a:p>
            <a:pPr marL="0" indent="0" algn="l">
              <a:lnSpc>
                <a:spcPts val="1097"/>
              </a:lnSpc>
              <a:buNone/>
            </a:pPr>
            <a:r>
              <a:rPr lang="en-US" sz="800" dirty="0">
                <a:solidFill>
                  <a:srgbClr val="86EFAC"/>
                </a:solidFill>
                <a:latin typeface="Courier New" pitchFamily="34" charset="0"/>
                <a:ea typeface="Courier New" pitchFamily="34" charset="-122"/>
                <a:cs typeface="Courier New" pitchFamily="34" charset="-120"/>
              </a:rPr>
              <a:t>tasks/main.yml</a:t>
            </a:r>
            <a:endParaRPr lang="en-US" sz="800" dirty="0"/>
          </a:p>
        </p:txBody>
      </p:sp>
      <p:sp>
        <p:nvSpPr>
          <p:cNvPr id="36" name="Text 34"/>
          <p:cNvSpPr/>
          <p:nvPr/>
        </p:nvSpPr>
        <p:spPr>
          <a:xfrm>
            <a:off x="2661047" y="3057302"/>
            <a:ext cx="928688" cy="111871"/>
          </a:xfrm>
          <a:prstGeom prst="rect">
            <a:avLst/>
          </a:prstGeom>
          <a:noFill/>
          <a:ln/>
        </p:spPr>
        <p:txBody>
          <a:bodyPr wrap="none" lIns="0" tIns="0" rIns="0" bIns="0" rtlCol="0" anchor="t">
            <a:normAutofit fontScale="25000" lnSpcReduction="20000"/>
          </a:bodyPr>
          <a:lstStyle/>
          <a:p>
            <a:pPr marL="0" indent="0" algn="l">
              <a:lnSpc>
                <a:spcPts val="1097"/>
              </a:lnSpc>
              <a:buNone/>
            </a:pPr>
            <a:r>
              <a:rPr lang="en-US" sz="800" dirty="0">
                <a:solidFill>
                  <a:srgbClr val="94A3B8"/>
                </a:solidFill>
                <a:latin typeface="Courier New" pitchFamily="34" charset="0"/>
                <a:ea typeface="Courier New" pitchFamily="34" charset="-122"/>
                <a:cs typeface="Courier New" pitchFamily="34" charset="-120"/>
              </a:rPr>
              <a:t># main task list</a:t>
            </a:r>
            <a:endParaRPr lang="en-US" sz="800" dirty="0"/>
          </a:p>
        </p:txBody>
      </p:sp>
      <p:sp>
        <p:nvSpPr>
          <p:cNvPr id="37" name="Text 35"/>
          <p:cNvSpPr/>
          <p:nvPr/>
        </p:nvSpPr>
        <p:spPr>
          <a:xfrm>
            <a:off x="1685925" y="3196605"/>
            <a:ext cx="986730" cy="143490"/>
          </a:xfrm>
          <a:prstGeom prst="rect">
            <a:avLst/>
          </a:prstGeom>
          <a:noFill/>
          <a:ln/>
        </p:spPr>
        <p:txBody>
          <a:bodyPr wrap="none" lIns="0" tIns="0" rIns="0" bIns="0" rtlCol="0" anchor="t"/>
          <a:lstStyle/>
          <a:p>
            <a:pPr marL="0" indent="0" algn="l">
              <a:lnSpc>
                <a:spcPts val="1097"/>
              </a:lnSpc>
              <a:buNone/>
            </a:pPr>
            <a:r>
              <a:rPr lang="en-US" sz="731" dirty="0">
                <a:solidFill>
                  <a:srgbClr val="86EFAC"/>
                </a:solidFill>
                <a:latin typeface="Courier New" pitchFamily="34" charset="0"/>
                <a:ea typeface="Courier New" pitchFamily="34" charset="-122"/>
                <a:cs typeface="Courier New" pitchFamily="34" charset="-120"/>
              </a:rPr>
              <a:t>handlers/main.yml</a:t>
            </a:r>
            <a:endParaRPr lang="en-US" sz="731" dirty="0"/>
          </a:p>
        </p:txBody>
      </p:sp>
      <p:sp>
        <p:nvSpPr>
          <p:cNvPr id="38" name="Text 36"/>
          <p:cNvSpPr/>
          <p:nvPr/>
        </p:nvSpPr>
        <p:spPr>
          <a:xfrm>
            <a:off x="2661047" y="3196605"/>
            <a:ext cx="1554623" cy="111871"/>
          </a:xfrm>
          <a:prstGeom prst="rect">
            <a:avLst/>
          </a:prstGeom>
          <a:noFill/>
          <a:ln/>
        </p:spPr>
        <p:txBody>
          <a:bodyPr wrap="none" lIns="0" tIns="0" rIns="0" bIns="0" rtlCol="0" anchor="t">
            <a:normAutofit fontScale="25000" lnSpcReduction="20000"/>
          </a:bodyPr>
          <a:lstStyle/>
          <a:p>
            <a:pPr marL="0" indent="0" algn="l">
              <a:lnSpc>
                <a:spcPts val="1097"/>
              </a:lnSpc>
              <a:buNone/>
            </a:pPr>
            <a:r>
              <a:rPr lang="en-US" sz="731" dirty="0">
                <a:solidFill>
                  <a:srgbClr val="94A3B8"/>
                </a:solidFill>
                <a:latin typeface="Courier New" pitchFamily="34" charset="0"/>
                <a:ea typeface="Courier New" pitchFamily="34" charset="-122"/>
                <a:cs typeface="Courier New" pitchFamily="34" charset="-120"/>
              </a:rPr>
              <a:t># handlers (restart nginx etc.)</a:t>
            </a:r>
            <a:endParaRPr lang="en-US" sz="731" dirty="0"/>
          </a:p>
        </p:txBody>
      </p:sp>
      <p:sp>
        <p:nvSpPr>
          <p:cNvPr id="39" name="Text 37"/>
          <p:cNvSpPr/>
          <p:nvPr/>
        </p:nvSpPr>
        <p:spPr>
          <a:xfrm>
            <a:off x="1685925" y="3335908"/>
            <a:ext cx="1153430" cy="143490"/>
          </a:xfrm>
          <a:prstGeom prst="rect">
            <a:avLst/>
          </a:prstGeom>
          <a:noFill/>
          <a:ln/>
        </p:spPr>
        <p:txBody>
          <a:bodyPr wrap="none" lIns="0" tIns="0" rIns="0" bIns="0" rtlCol="0" anchor="t"/>
          <a:lstStyle/>
          <a:p>
            <a:pPr marL="0" indent="0" algn="l">
              <a:lnSpc>
                <a:spcPts val="1097"/>
              </a:lnSpc>
              <a:buNone/>
            </a:pPr>
            <a:r>
              <a:rPr lang="en-US" sz="731" dirty="0">
                <a:solidFill>
                  <a:srgbClr val="86EFAC"/>
                </a:solidFill>
                <a:latin typeface="Liberation Sans Narrow" pitchFamily="34" charset="0"/>
                <a:ea typeface="Liberation Sans Narrow" pitchFamily="34" charset="-122"/>
                <a:cs typeface="Liberation Sans Narrow" pitchFamily="34" charset="-120"/>
              </a:rPr>
              <a:t>templates/nginx.conf.j2</a:t>
            </a:r>
            <a:endParaRPr lang="en-US" sz="731" dirty="0"/>
          </a:p>
        </p:txBody>
      </p:sp>
      <p:sp>
        <p:nvSpPr>
          <p:cNvPr id="40" name="Text 38"/>
          <p:cNvSpPr/>
          <p:nvPr/>
        </p:nvSpPr>
        <p:spPr>
          <a:xfrm>
            <a:off x="2846784" y="3335908"/>
            <a:ext cx="1044773" cy="111871"/>
          </a:xfrm>
          <a:prstGeom prst="rect">
            <a:avLst/>
          </a:prstGeom>
          <a:noFill/>
          <a:ln/>
        </p:spPr>
        <p:txBody>
          <a:bodyPr wrap="none" lIns="0" tIns="0" rIns="0" bIns="0" rtlCol="0" anchor="t">
            <a:normAutofit fontScale="25000" lnSpcReduction="20000"/>
          </a:bodyPr>
          <a:lstStyle/>
          <a:p>
            <a:pPr marL="0" indent="0" algn="l">
              <a:lnSpc>
                <a:spcPts val="1097"/>
              </a:lnSpc>
              <a:buNone/>
            </a:pPr>
            <a:r>
              <a:rPr lang="en-US" sz="800" dirty="0">
                <a:solidFill>
                  <a:srgbClr val="94A3B8"/>
                </a:solidFill>
                <a:latin typeface="Liberation Sans Narrow" pitchFamily="34" charset="0"/>
                <a:ea typeface="Liberation Sans Narrow" pitchFamily="34" charset="-122"/>
                <a:cs typeface="Liberation Sans Narrow" pitchFamily="34" charset="-120"/>
              </a:rPr>
              <a:t># Jinja2 templates</a:t>
            </a:r>
            <a:endParaRPr lang="en-US" sz="800" dirty="0"/>
          </a:p>
        </p:txBody>
      </p:sp>
      <p:sp>
        <p:nvSpPr>
          <p:cNvPr id="41" name="Text 39"/>
          <p:cNvSpPr/>
          <p:nvPr/>
        </p:nvSpPr>
        <p:spPr>
          <a:xfrm>
            <a:off x="1685925" y="3475211"/>
            <a:ext cx="928688" cy="143490"/>
          </a:xfrm>
          <a:prstGeom prst="rect">
            <a:avLst/>
          </a:prstGeom>
          <a:noFill/>
          <a:ln/>
        </p:spPr>
        <p:txBody>
          <a:bodyPr wrap="none" lIns="0" tIns="0" rIns="0" bIns="0" rtlCol="0" anchor="t"/>
          <a:lstStyle/>
          <a:p>
            <a:pPr marL="0" indent="0" algn="l">
              <a:lnSpc>
                <a:spcPts val="1097"/>
              </a:lnSpc>
              <a:buNone/>
            </a:pPr>
            <a:r>
              <a:rPr lang="en-US" sz="731" dirty="0">
                <a:solidFill>
                  <a:srgbClr val="86EFAC"/>
                </a:solidFill>
                <a:latin typeface="Courier New" pitchFamily="34" charset="0"/>
                <a:ea typeface="Courier New" pitchFamily="34" charset="-122"/>
                <a:cs typeface="Courier New" pitchFamily="34" charset="-120"/>
              </a:rPr>
              <a:t>files/index.html</a:t>
            </a:r>
            <a:endParaRPr lang="en-US" sz="731" dirty="0"/>
          </a:p>
        </p:txBody>
      </p:sp>
      <p:sp>
        <p:nvSpPr>
          <p:cNvPr id="42" name="Text 40"/>
          <p:cNvSpPr/>
          <p:nvPr/>
        </p:nvSpPr>
        <p:spPr>
          <a:xfrm>
            <a:off x="2646145" y="3475211"/>
            <a:ext cx="842406" cy="111871"/>
          </a:xfrm>
          <a:prstGeom prst="rect">
            <a:avLst/>
          </a:prstGeom>
          <a:noFill/>
          <a:ln/>
        </p:spPr>
        <p:txBody>
          <a:bodyPr wrap="none" lIns="0" tIns="0" rIns="0" bIns="0" rtlCol="0" anchor="t">
            <a:normAutofit fontScale="25000" lnSpcReduction="20000"/>
          </a:bodyPr>
          <a:lstStyle/>
          <a:p>
            <a:pPr marL="0" indent="0" algn="l">
              <a:lnSpc>
                <a:spcPts val="1097"/>
              </a:lnSpc>
              <a:buNone/>
            </a:pPr>
            <a:r>
              <a:rPr lang="en-US" sz="800" dirty="0">
                <a:solidFill>
                  <a:srgbClr val="94A3B8"/>
                </a:solidFill>
                <a:latin typeface="Courier New" pitchFamily="34" charset="0"/>
                <a:ea typeface="Courier New" pitchFamily="34" charset="-122"/>
                <a:cs typeface="Courier New" pitchFamily="34" charset="-120"/>
              </a:rPr>
              <a:t># static files</a:t>
            </a:r>
            <a:endParaRPr lang="en-US" sz="800" dirty="0"/>
          </a:p>
        </p:txBody>
      </p:sp>
      <p:sp>
        <p:nvSpPr>
          <p:cNvPr id="43" name="Text 41"/>
          <p:cNvSpPr/>
          <p:nvPr/>
        </p:nvSpPr>
        <p:spPr>
          <a:xfrm>
            <a:off x="1685925" y="3614514"/>
            <a:ext cx="754559" cy="143490"/>
          </a:xfrm>
          <a:prstGeom prst="rect">
            <a:avLst/>
          </a:prstGeom>
          <a:noFill/>
          <a:ln/>
        </p:spPr>
        <p:txBody>
          <a:bodyPr wrap="none" lIns="0" tIns="0" rIns="0" bIns="0" rtlCol="0" anchor="t"/>
          <a:lstStyle/>
          <a:p>
            <a:pPr marL="0" indent="0" algn="l">
              <a:lnSpc>
                <a:spcPts val="1097"/>
              </a:lnSpc>
              <a:buNone/>
            </a:pPr>
            <a:r>
              <a:rPr lang="en-US" sz="800" dirty="0">
                <a:solidFill>
                  <a:srgbClr val="86EFAC"/>
                </a:solidFill>
                <a:latin typeface="Courier New" pitchFamily="34" charset="0"/>
                <a:ea typeface="Courier New" pitchFamily="34" charset="-122"/>
                <a:cs typeface="Courier New" pitchFamily="34" charset="-120"/>
              </a:rPr>
              <a:t>vars/main.yml</a:t>
            </a:r>
            <a:endParaRPr lang="en-US" sz="800" dirty="0"/>
          </a:p>
        </p:txBody>
      </p:sp>
      <p:sp>
        <p:nvSpPr>
          <p:cNvPr id="44" name="Text 42"/>
          <p:cNvSpPr/>
          <p:nvPr/>
        </p:nvSpPr>
        <p:spPr>
          <a:xfrm>
            <a:off x="2661047" y="3614514"/>
            <a:ext cx="1276945" cy="111871"/>
          </a:xfrm>
          <a:prstGeom prst="rect">
            <a:avLst/>
          </a:prstGeom>
          <a:noFill/>
          <a:ln/>
        </p:spPr>
        <p:txBody>
          <a:bodyPr wrap="none" lIns="0" tIns="0" rIns="0" bIns="0" rtlCol="0" anchor="t">
            <a:normAutofit fontScale="25000" lnSpcReduction="20000"/>
          </a:bodyPr>
          <a:lstStyle/>
          <a:p>
            <a:pPr marL="0" indent="0" algn="l">
              <a:lnSpc>
                <a:spcPts val="1097"/>
              </a:lnSpc>
              <a:buNone/>
            </a:pPr>
            <a:r>
              <a:rPr lang="en-US" sz="800" dirty="0">
                <a:solidFill>
                  <a:srgbClr val="94A3B8"/>
                </a:solidFill>
                <a:latin typeface="Courier New" pitchFamily="34" charset="0"/>
                <a:ea typeface="Courier New" pitchFamily="34" charset="-122"/>
                <a:cs typeface="Courier New" pitchFamily="34" charset="-120"/>
              </a:rPr>
              <a:t># high-precedence vars</a:t>
            </a:r>
            <a:endParaRPr lang="en-US" sz="800" dirty="0"/>
          </a:p>
        </p:txBody>
      </p:sp>
      <p:sp>
        <p:nvSpPr>
          <p:cNvPr id="45" name="Text 43"/>
          <p:cNvSpPr/>
          <p:nvPr/>
        </p:nvSpPr>
        <p:spPr>
          <a:xfrm>
            <a:off x="1685925" y="3753817"/>
            <a:ext cx="986730" cy="143490"/>
          </a:xfrm>
          <a:prstGeom prst="rect">
            <a:avLst/>
          </a:prstGeom>
          <a:noFill/>
          <a:ln/>
        </p:spPr>
        <p:txBody>
          <a:bodyPr wrap="none" lIns="0" tIns="0" rIns="0" bIns="0" rtlCol="0" anchor="t"/>
          <a:lstStyle/>
          <a:p>
            <a:pPr marL="0" indent="0" algn="l">
              <a:lnSpc>
                <a:spcPts val="1097"/>
              </a:lnSpc>
              <a:buNone/>
            </a:pPr>
            <a:r>
              <a:rPr lang="en-US" sz="731" dirty="0">
                <a:solidFill>
                  <a:srgbClr val="86EFAC"/>
                </a:solidFill>
                <a:latin typeface="Courier New" pitchFamily="34" charset="0"/>
                <a:ea typeface="Courier New" pitchFamily="34" charset="-122"/>
                <a:cs typeface="Courier New" pitchFamily="34" charset="-120"/>
              </a:rPr>
              <a:t>defaults/main.yml</a:t>
            </a:r>
            <a:endParaRPr lang="en-US" sz="731" dirty="0"/>
          </a:p>
        </p:txBody>
      </p:sp>
      <p:sp>
        <p:nvSpPr>
          <p:cNvPr id="46" name="Text 44"/>
          <p:cNvSpPr/>
          <p:nvPr/>
        </p:nvSpPr>
        <p:spPr>
          <a:xfrm>
            <a:off x="2661047" y="3753817"/>
            <a:ext cx="1218902" cy="111871"/>
          </a:xfrm>
          <a:prstGeom prst="rect">
            <a:avLst/>
          </a:prstGeom>
          <a:noFill/>
          <a:ln/>
        </p:spPr>
        <p:txBody>
          <a:bodyPr wrap="none" lIns="0" tIns="0" rIns="0" bIns="0" rtlCol="0" anchor="t">
            <a:normAutofit fontScale="25000" lnSpcReduction="20000"/>
          </a:bodyPr>
          <a:lstStyle/>
          <a:p>
            <a:pPr marL="0" indent="0" algn="l">
              <a:lnSpc>
                <a:spcPts val="1097"/>
              </a:lnSpc>
              <a:buNone/>
            </a:pPr>
            <a:r>
              <a:rPr lang="en-US" sz="800" dirty="0">
                <a:solidFill>
                  <a:srgbClr val="94A3B8"/>
                </a:solidFill>
                <a:latin typeface="Courier New" pitchFamily="34" charset="0"/>
                <a:ea typeface="Courier New" pitchFamily="34" charset="-122"/>
                <a:cs typeface="Courier New" pitchFamily="34" charset="-120"/>
              </a:rPr>
              <a:t># low-precedence vars</a:t>
            </a:r>
            <a:endParaRPr lang="en-US" sz="800" dirty="0"/>
          </a:p>
        </p:txBody>
      </p:sp>
      <p:sp>
        <p:nvSpPr>
          <p:cNvPr id="47" name="Text 45"/>
          <p:cNvSpPr/>
          <p:nvPr/>
        </p:nvSpPr>
        <p:spPr>
          <a:xfrm>
            <a:off x="1685925" y="3893121"/>
            <a:ext cx="754559" cy="132159"/>
          </a:xfrm>
          <a:prstGeom prst="rect">
            <a:avLst/>
          </a:prstGeom>
          <a:noFill/>
          <a:ln/>
        </p:spPr>
        <p:txBody>
          <a:bodyPr wrap="none" lIns="0" tIns="0" rIns="0" bIns="0" rtlCol="0" anchor="t"/>
          <a:lstStyle/>
          <a:p>
            <a:pPr marL="0" indent="0" algn="l">
              <a:lnSpc>
                <a:spcPts val="1097"/>
              </a:lnSpc>
              <a:buNone/>
            </a:pPr>
            <a:r>
              <a:rPr lang="en-US" sz="800" dirty="0">
                <a:solidFill>
                  <a:srgbClr val="86EFAC"/>
                </a:solidFill>
                <a:latin typeface="Courier New" pitchFamily="34" charset="0"/>
                <a:ea typeface="Courier New" pitchFamily="34" charset="-122"/>
                <a:cs typeface="Courier New" pitchFamily="34" charset="-120"/>
              </a:rPr>
              <a:t>meta/main.yml</a:t>
            </a:r>
            <a:endParaRPr lang="en-US" sz="800" dirty="0"/>
          </a:p>
        </p:txBody>
      </p:sp>
      <p:sp>
        <p:nvSpPr>
          <p:cNvPr id="48" name="Text 46"/>
          <p:cNvSpPr/>
          <p:nvPr/>
        </p:nvSpPr>
        <p:spPr>
          <a:xfrm>
            <a:off x="2661047" y="3893121"/>
            <a:ext cx="1276945" cy="132159"/>
          </a:xfrm>
          <a:prstGeom prst="rect">
            <a:avLst/>
          </a:prstGeom>
          <a:noFill/>
          <a:ln/>
        </p:spPr>
        <p:txBody>
          <a:bodyPr wrap="none" lIns="0" tIns="0" rIns="0" bIns="0" rtlCol="0" anchor="t"/>
          <a:lstStyle/>
          <a:p>
            <a:pPr marL="0" indent="0" algn="l">
              <a:lnSpc>
                <a:spcPts val="1097"/>
              </a:lnSpc>
              <a:buNone/>
            </a:pPr>
            <a:r>
              <a:rPr lang="en-US" sz="800" dirty="0">
                <a:solidFill>
                  <a:srgbClr val="94A3B8"/>
                </a:solidFill>
                <a:latin typeface="Courier New" pitchFamily="34" charset="0"/>
                <a:ea typeface="Courier New" pitchFamily="34" charset="-122"/>
                <a:cs typeface="Courier New" pitchFamily="34" charset="-120"/>
              </a:rPr>
              <a:t># role metadata + deps</a:t>
            </a:r>
            <a:endParaRPr lang="en-US" sz="8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00050" y="228600"/>
            <a:ext cx="5118586" cy="305476"/>
          </a:xfrm>
          <a:prstGeom prst="rect">
            <a:avLst/>
          </a:prstGeom>
          <a:noFill/>
          <a:ln/>
        </p:spPr>
        <p:txBody>
          <a:bodyPr wrap="square" lIns="0" tIns="0" rIns="0" bIns="0" rtlCol="0" anchor="t"/>
          <a:lstStyle/>
          <a:p>
            <a:pPr marL="0" indent="0" algn="l">
              <a:lnSpc>
                <a:spcPts val="2228"/>
              </a:lnSpc>
              <a:buNone/>
            </a:pPr>
            <a:r>
              <a:rPr lang="en-US" sz="2025" b="1" dirty="0">
                <a:solidFill>
                  <a:srgbClr val="0F172A"/>
                </a:solidFill>
                <a:latin typeface="Carlito" pitchFamily="34" charset="0"/>
                <a:ea typeface="Carlito" pitchFamily="34" charset="-122"/>
                <a:cs typeface="Carlito" pitchFamily="34" charset="-120"/>
              </a:rPr>
              <a:t>Code Example — Role Structure in Action</a:t>
            </a:r>
            <a:endParaRPr lang="en-US" sz="2025" dirty="0"/>
          </a:p>
        </p:txBody>
      </p:sp>
      <p:sp>
        <p:nvSpPr>
          <p:cNvPr id="3" name="Text 1"/>
          <p:cNvSpPr/>
          <p:nvPr/>
        </p:nvSpPr>
        <p:spPr>
          <a:xfrm>
            <a:off x="400050" y="568598"/>
            <a:ext cx="571500" cy="42863"/>
          </a:xfrm>
          <a:prstGeom prst="roundRect">
            <a:avLst>
              <a:gd name="adj" fmla="val 66666"/>
            </a:avLst>
          </a:prstGeom>
          <a:solidFill>
            <a:srgbClr val="F97316"/>
          </a:solidFill>
          <a:ln/>
        </p:spPr>
        <p:txBody>
          <a:bodyPr wrap="square" rtlCol="0" anchor="ctr"/>
          <a:lstStyle/>
          <a:p>
            <a:pPr marL="0" indent="0">
              <a:buNone/>
            </a:pPr>
            <a:endParaRPr lang="en-US" dirty="0"/>
          </a:p>
        </p:txBody>
      </p:sp>
      <p:sp>
        <p:nvSpPr>
          <p:cNvPr id="4" name="Text 2"/>
          <p:cNvSpPr/>
          <p:nvPr/>
        </p:nvSpPr>
        <p:spPr>
          <a:xfrm>
            <a:off x="400050" y="640035"/>
            <a:ext cx="4653260" cy="172749"/>
          </a:xfrm>
          <a:prstGeom prst="rect">
            <a:avLst/>
          </a:prstGeom>
          <a:noFill/>
          <a:ln/>
        </p:spPr>
        <p:txBody>
          <a:bodyPr wrap="square" lIns="0" tIns="0" rIns="0" bIns="0" rtlCol="0" anchor="t"/>
          <a:lstStyle/>
          <a:p>
            <a:pPr marL="0" indent="0" algn="l">
              <a:lnSpc>
                <a:spcPts val="1260"/>
              </a:lnSpc>
              <a:buNone/>
            </a:pPr>
            <a:r>
              <a:rPr lang="en-US" sz="900" dirty="0">
                <a:solidFill>
                  <a:srgbClr val="64748B"/>
                </a:solidFill>
                <a:latin typeface="Carlito" pitchFamily="34" charset="0"/>
                <a:ea typeface="Carlito" pitchFamily="34" charset="-122"/>
                <a:cs typeface="Carlito" pitchFamily="34" charset="-120"/>
              </a:rPr>
              <a:t>Three small files that compose into a reusable nginx role.</a:t>
            </a:r>
            <a:endParaRPr lang="en-US" sz="900" dirty="0"/>
          </a:p>
        </p:txBody>
      </p:sp>
      <p:sp>
        <p:nvSpPr>
          <p:cNvPr id="5" name="Text 3"/>
          <p:cNvSpPr/>
          <p:nvPr/>
        </p:nvSpPr>
        <p:spPr>
          <a:xfrm>
            <a:off x="7744629" y="215798"/>
            <a:ext cx="1022181" cy="331333"/>
          </a:xfrm>
          <a:prstGeom prst="roundRect">
            <a:avLst>
              <a:gd name="adj" fmla="val 2871877"/>
            </a:avLst>
          </a:prstGeom>
          <a:solidFill>
            <a:srgbClr val="FED7AA"/>
          </a:solidFill>
          <a:ln/>
        </p:spPr>
        <p:txBody>
          <a:bodyPr wrap="square" rtlCol="0" anchor="ctr"/>
          <a:lstStyle/>
          <a:p>
            <a:pPr marL="0" indent="0">
              <a:buNone/>
            </a:pPr>
            <a:endParaRPr lang="en-US" dirty="0"/>
          </a:p>
        </p:txBody>
      </p:sp>
      <p:sp>
        <p:nvSpPr>
          <p:cNvPr id="6" name="Text 4"/>
          <p:cNvSpPr/>
          <p:nvPr/>
        </p:nvSpPr>
        <p:spPr>
          <a:xfrm>
            <a:off x="7767489" y="228600"/>
            <a:ext cx="976461" cy="330189"/>
          </a:xfrm>
          <a:prstGeom prst="rect">
            <a:avLst/>
          </a:prstGeom>
          <a:noFill/>
          <a:ln/>
        </p:spPr>
        <p:txBody>
          <a:bodyPr wrap="none" lIns="0" tIns="0" rIns="0" bIns="0" rtlCol="0" anchor="t"/>
          <a:lstStyle/>
          <a:p>
            <a:pPr marL="0" indent="0" algn="l">
              <a:lnSpc>
                <a:spcPts val="1733"/>
              </a:lnSpc>
              <a:buNone/>
            </a:pPr>
            <a:r>
              <a:rPr lang="en-US" sz="1238" b="1" kern="0" spc="28" dirty="0">
                <a:solidFill>
                  <a:srgbClr val="C2410C"/>
                </a:solidFill>
                <a:latin typeface="Segoe UI Symbol" pitchFamily="34" charset="0"/>
                <a:ea typeface="Segoe UI Symbol" pitchFamily="34" charset="-122"/>
                <a:cs typeface="Segoe UI Symbol" pitchFamily="34" charset="-120"/>
              </a:rPr>
              <a:t>✦</a:t>
            </a:r>
            <a:r>
              <a:rPr lang="en-US" sz="1238" b="1" kern="0" spc="28" dirty="0">
                <a:solidFill>
                  <a:srgbClr val="C2410C"/>
                </a:solidFill>
                <a:latin typeface="Liberation Sans Narrow" pitchFamily="34" charset="0"/>
                <a:ea typeface="Liberation Sans Narrow" pitchFamily="34" charset="-122"/>
                <a:cs typeface="Liberation Sans Narrow" pitchFamily="34" charset="-120"/>
              </a:rPr>
              <a:t> 3 FILES</a:t>
            </a:r>
            <a:endParaRPr lang="en-US" sz="1238" dirty="0"/>
          </a:p>
        </p:txBody>
      </p:sp>
      <p:sp>
        <p:nvSpPr>
          <p:cNvPr id="7" name="Text 5"/>
          <p:cNvSpPr/>
          <p:nvPr/>
        </p:nvSpPr>
        <p:spPr>
          <a:xfrm>
            <a:off x="557213" y="1007157"/>
            <a:ext cx="1512189" cy="112541"/>
          </a:xfrm>
          <a:prstGeom prst="rect">
            <a:avLst/>
          </a:prstGeom>
          <a:noFill/>
          <a:ln/>
        </p:spPr>
        <p:txBody>
          <a:bodyPr wrap="none" lIns="0" tIns="0" rIns="0" bIns="0" rtlCol="0" anchor="t">
            <a:normAutofit fontScale="25000" lnSpcReduction="20000"/>
          </a:bodyPr>
          <a:lstStyle/>
          <a:p>
            <a:pPr marL="0" indent="0" algn="l">
              <a:lnSpc>
                <a:spcPts val="1103"/>
              </a:lnSpc>
              <a:buNone/>
            </a:pPr>
            <a:r>
              <a:rPr lang="en-US" sz="788" b="1" dirty="0">
                <a:solidFill>
                  <a:srgbClr val="F97316"/>
                </a:solidFill>
                <a:latin typeface="Courier New" pitchFamily="34" charset="0"/>
                <a:ea typeface="Courier New" pitchFamily="34" charset="-122"/>
                <a:cs typeface="Courier New" pitchFamily="34" charset="-120"/>
              </a:rPr>
              <a:t># roles/nginx/tasks/main.yml</a:t>
            </a:r>
            <a:endParaRPr lang="en-US" sz="788" dirty="0"/>
          </a:p>
        </p:txBody>
      </p:sp>
      <p:sp>
        <p:nvSpPr>
          <p:cNvPr id="8" name="Text 6"/>
          <p:cNvSpPr/>
          <p:nvPr/>
        </p:nvSpPr>
        <p:spPr>
          <a:xfrm>
            <a:off x="557213" y="1147130"/>
            <a:ext cx="240030" cy="112541"/>
          </a:xfrm>
          <a:prstGeom prst="rect">
            <a:avLst/>
          </a:prstGeom>
          <a:noFill/>
          <a:ln/>
        </p:spPr>
        <p:txBody>
          <a:bodyPr wrap="none" lIns="0" tIns="0" rIns="0" bIns="0" rtlCol="0" anchor="t">
            <a:normAutofit fontScale="25000" lnSpcReduction="20000"/>
          </a:bodyPr>
          <a:lstStyle/>
          <a:p>
            <a:pPr marL="0" indent="0" algn="l">
              <a:lnSpc>
                <a:spcPts val="1103"/>
              </a:lnSpc>
              <a:buNone/>
            </a:pPr>
            <a:r>
              <a:rPr lang="en-US" sz="800" i="1" dirty="0">
                <a:solidFill>
                  <a:srgbClr val="94A3B8"/>
                </a:solidFill>
                <a:latin typeface="Courier New" pitchFamily="34" charset="0"/>
                <a:ea typeface="Courier New" pitchFamily="34" charset="-122"/>
                <a:cs typeface="Courier New" pitchFamily="34" charset="-120"/>
              </a:rPr>
              <a:t>---</a:t>
            </a:r>
            <a:endParaRPr lang="en-US" sz="800" dirty="0"/>
          </a:p>
        </p:txBody>
      </p:sp>
      <p:sp>
        <p:nvSpPr>
          <p:cNvPr id="9" name="Text 7"/>
          <p:cNvSpPr/>
          <p:nvPr/>
        </p:nvSpPr>
        <p:spPr>
          <a:xfrm>
            <a:off x="657225" y="1287103"/>
            <a:ext cx="400050" cy="133241"/>
          </a:xfrm>
          <a:prstGeom prst="rect">
            <a:avLst/>
          </a:prstGeom>
          <a:noFill/>
          <a:ln/>
        </p:spPr>
        <p:txBody>
          <a:bodyPr wrap="none" lIns="0" tIns="0" rIns="0" bIns="0" rtlCol="0" anchor="t"/>
          <a:lstStyle/>
          <a:p>
            <a:pPr marL="0" indent="0" algn="l">
              <a:lnSpc>
                <a:spcPts val="1103"/>
              </a:lnSpc>
              <a:buNone/>
            </a:pPr>
            <a:r>
              <a:rPr lang="en-US" sz="800" dirty="0">
                <a:solidFill>
                  <a:srgbClr val="FBA74A"/>
                </a:solidFill>
                <a:latin typeface="Courier New" pitchFamily="34" charset="0"/>
                <a:ea typeface="Courier New" pitchFamily="34" charset="-122"/>
                <a:cs typeface="Courier New" pitchFamily="34" charset="-120"/>
              </a:rPr>
              <a:t>name:</a:t>
            </a:r>
            <a:endParaRPr lang="en-US" sz="800" dirty="0"/>
          </a:p>
        </p:txBody>
      </p:sp>
      <p:sp>
        <p:nvSpPr>
          <p:cNvPr id="10" name="Text 8"/>
          <p:cNvSpPr/>
          <p:nvPr/>
        </p:nvSpPr>
        <p:spPr>
          <a:xfrm>
            <a:off x="948954" y="1287103"/>
            <a:ext cx="829219" cy="112541"/>
          </a:xfrm>
          <a:prstGeom prst="rect">
            <a:avLst/>
          </a:prstGeom>
          <a:noFill/>
          <a:ln/>
        </p:spPr>
        <p:txBody>
          <a:bodyPr wrap="none" lIns="0" tIns="0" rIns="0" bIns="0" rtlCol="0" anchor="t">
            <a:normAutofit fontScale="25000" lnSpcReduction="20000"/>
          </a:bodyPr>
          <a:lstStyle/>
          <a:p>
            <a:pPr marL="0" indent="0" algn="l">
              <a:lnSpc>
                <a:spcPts val="1103"/>
              </a:lnSpc>
              <a:buNone/>
            </a:pPr>
            <a:r>
              <a:rPr lang="en-US" sz="800" dirty="0">
                <a:solidFill>
                  <a:srgbClr val="86EFAC"/>
                </a:solidFill>
                <a:latin typeface="Courier New" pitchFamily="34" charset="0"/>
                <a:ea typeface="Courier New" pitchFamily="34" charset="-122"/>
                <a:cs typeface="Courier New" pitchFamily="34" charset="-120"/>
              </a:rPr>
              <a:t>Install nginx</a:t>
            </a:r>
            <a:endParaRPr lang="en-US" sz="800" dirty="0"/>
          </a:p>
        </p:txBody>
      </p:sp>
      <p:sp>
        <p:nvSpPr>
          <p:cNvPr id="11" name="Text 9"/>
          <p:cNvSpPr/>
          <p:nvPr/>
        </p:nvSpPr>
        <p:spPr>
          <a:xfrm>
            <a:off x="657225" y="1427076"/>
            <a:ext cx="320040" cy="112541"/>
          </a:xfrm>
          <a:prstGeom prst="rect">
            <a:avLst/>
          </a:prstGeom>
          <a:noFill/>
          <a:ln/>
        </p:spPr>
        <p:txBody>
          <a:bodyPr wrap="none" lIns="0" tIns="0" rIns="0" bIns="0" rtlCol="0" anchor="t">
            <a:normAutofit fontScale="25000" lnSpcReduction="20000"/>
          </a:bodyPr>
          <a:lstStyle/>
          <a:p>
            <a:pPr marL="0" indent="0" algn="l">
              <a:lnSpc>
                <a:spcPts val="1103"/>
              </a:lnSpc>
              <a:buNone/>
            </a:pPr>
            <a:r>
              <a:rPr lang="en-US" sz="800" dirty="0">
                <a:solidFill>
                  <a:srgbClr val="FBA74A"/>
                </a:solidFill>
                <a:latin typeface="Courier New" pitchFamily="34" charset="0"/>
                <a:ea typeface="Courier New" pitchFamily="34" charset="-122"/>
                <a:cs typeface="Courier New" pitchFamily="34" charset="-120"/>
              </a:rPr>
              <a:t>apt:</a:t>
            </a:r>
            <a:endParaRPr lang="en-US" sz="800" dirty="0"/>
          </a:p>
        </p:txBody>
      </p:sp>
      <p:sp>
        <p:nvSpPr>
          <p:cNvPr id="12" name="Text 10"/>
          <p:cNvSpPr/>
          <p:nvPr/>
        </p:nvSpPr>
        <p:spPr>
          <a:xfrm>
            <a:off x="757238" y="1567049"/>
            <a:ext cx="400050" cy="133241"/>
          </a:xfrm>
          <a:prstGeom prst="rect">
            <a:avLst/>
          </a:prstGeom>
          <a:noFill/>
          <a:ln/>
        </p:spPr>
        <p:txBody>
          <a:bodyPr wrap="none" lIns="0" tIns="0" rIns="0" bIns="0" rtlCol="0" anchor="t"/>
          <a:lstStyle/>
          <a:p>
            <a:pPr marL="0" indent="0" algn="l">
              <a:lnSpc>
                <a:spcPts val="1103"/>
              </a:lnSpc>
              <a:buNone/>
            </a:pPr>
            <a:r>
              <a:rPr lang="en-US" sz="800" dirty="0">
                <a:solidFill>
                  <a:srgbClr val="FBA74A"/>
                </a:solidFill>
                <a:latin typeface="Courier New" pitchFamily="34" charset="0"/>
                <a:ea typeface="Courier New" pitchFamily="34" charset="-122"/>
                <a:cs typeface="Courier New" pitchFamily="34" charset="-120"/>
              </a:rPr>
              <a:t>name:</a:t>
            </a:r>
            <a:endParaRPr lang="en-US" sz="800" dirty="0"/>
          </a:p>
        </p:txBody>
      </p:sp>
      <p:sp>
        <p:nvSpPr>
          <p:cNvPr id="13" name="Text 11"/>
          <p:cNvSpPr/>
          <p:nvPr/>
        </p:nvSpPr>
        <p:spPr>
          <a:xfrm>
            <a:off x="1057275" y="1567049"/>
            <a:ext cx="400050" cy="112541"/>
          </a:xfrm>
          <a:prstGeom prst="rect">
            <a:avLst/>
          </a:prstGeom>
          <a:noFill/>
          <a:ln/>
        </p:spPr>
        <p:txBody>
          <a:bodyPr wrap="none" lIns="0" tIns="0" rIns="0" bIns="0" rtlCol="0" anchor="t">
            <a:normAutofit fontScale="25000" lnSpcReduction="20000"/>
          </a:bodyPr>
          <a:lstStyle/>
          <a:p>
            <a:pPr marL="0" indent="0" algn="l">
              <a:lnSpc>
                <a:spcPts val="1103"/>
              </a:lnSpc>
              <a:buNone/>
            </a:pPr>
            <a:r>
              <a:rPr lang="en-US" sz="800" dirty="0">
                <a:solidFill>
                  <a:srgbClr val="86EFAC"/>
                </a:solidFill>
                <a:latin typeface="Courier New" pitchFamily="34" charset="0"/>
                <a:ea typeface="Courier New" pitchFamily="34" charset="-122"/>
                <a:cs typeface="Courier New" pitchFamily="34" charset="-120"/>
              </a:rPr>
              <a:t>nginx</a:t>
            </a:r>
            <a:endParaRPr lang="en-US" sz="800" dirty="0"/>
          </a:p>
        </p:txBody>
      </p:sp>
      <p:sp>
        <p:nvSpPr>
          <p:cNvPr id="14" name="Text 12"/>
          <p:cNvSpPr/>
          <p:nvPr/>
        </p:nvSpPr>
        <p:spPr>
          <a:xfrm>
            <a:off x="757238" y="1707021"/>
            <a:ext cx="429054" cy="133241"/>
          </a:xfrm>
          <a:prstGeom prst="rect">
            <a:avLst/>
          </a:prstGeom>
          <a:noFill/>
          <a:ln/>
        </p:spPr>
        <p:txBody>
          <a:bodyPr wrap="none" lIns="0" tIns="0" rIns="0" bIns="0" rtlCol="0" anchor="t"/>
          <a:lstStyle/>
          <a:p>
            <a:pPr marL="0" indent="0" algn="l">
              <a:lnSpc>
                <a:spcPts val="1103"/>
              </a:lnSpc>
              <a:buNone/>
            </a:pPr>
            <a:r>
              <a:rPr lang="en-US" sz="800" dirty="0">
                <a:solidFill>
                  <a:srgbClr val="FBA74A"/>
                </a:solidFill>
                <a:latin typeface="Courier New" pitchFamily="34" charset="0"/>
                <a:ea typeface="Courier New" pitchFamily="34" charset="-122"/>
                <a:cs typeface="Courier New" pitchFamily="34" charset="-120"/>
              </a:rPr>
              <a:t>state:</a:t>
            </a:r>
            <a:endParaRPr lang="en-US" sz="800" dirty="0"/>
          </a:p>
        </p:txBody>
      </p:sp>
      <p:sp>
        <p:nvSpPr>
          <p:cNvPr id="15" name="Text 13"/>
          <p:cNvSpPr/>
          <p:nvPr/>
        </p:nvSpPr>
        <p:spPr>
          <a:xfrm>
            <a:off x="1107281" y="1707021"/>
            <a:ext cx="500563" cy="112541"/>
          </a:xfrm>
          <a:prstGeom prst="rect">
            <a:avLst/>
          </a:prstGeom>
          <a:noFill/>
          <a:ln/>
        </p:spPr>
        <p:txBody>
          <a:bodyPr wrap="none" lIns="0" tIns="0" rIns="0" bIns="0" rtlCol="0" anchor="t">
            <a:normAutofit fontScale="25000" lnSpcReduction="20000"/>
          </a:bodyPr>
          <a:lstStyle/>
          <a:p>
            <a:pPr marL="0" indent="0" algn="l">
              <a:lnSpc>
                <a:spcPts val="1103"/>
              </a:lnSpc>
              <a:buNone/>
            </a:pPr>
            <a:r>
              <a:rPr lang="en-US" sz="800" dirty="0">
                <a:solidFill>
                  <a:srgbClr val="86EFAC"/>
                </a:solidFill>
                <a:latin typeface="Courier New" pitchFamily="34" charset="0"/>
                <a:ea typeface="Courier New" pitchFamily="34" charset="-122"/>
                <a:cs typeface="Courier New" pitchFamily="34" charset="-120"/>
              </a:rPr>
              <a:t>present</a:t>
            </a:r>
            <a:endParaRPr lang="en-US" sz="800" dirty="0"/>
          </a:p>
        </p:txBody>
      </p:sp>
      <p:sp>
        <p:nvSpPr>
          <p:cNvPr id="16" name="Text 14"/>
          <p:cNvSpPr/>
          <p:nvPr/>
        </p:nvSpPr>
        <p:spPr>
          <a:xfrm>
            <a:off x="757238" y="1846994"/>
            <a:ext cx="812602" cy="133241"/>
          </a:xfrm>
          <a:prstGeom prst="rect">
            <a:avLst/>
          </a:prstGeom>
          <a:noFill/>
          <a:ln/>
        </p:spPr>
        <p:txBody>
          <a:bodyPr wrap="none" lIns="0" tIns="0" rIns="0" bIns="0" rtlCol="0" anchor="t"/>
          <a:lstStyle/>
          <a:p>
            <a:pPr marL="0" indent="0" algn="l">
              <a:lnSpc>
                <a:spcPts val="1103"/>
              </a:lnSpc>
              <a:buNone/>
            </a:pPr>
            <a:r>
              <a:rPr lang="en-US" sz="800" dirty="0">
                <a:solidFill>
                  <a:srgbClr val="FBA74A"/>
                </a:solidFill>
                <a:latin typeface="Courier New" pitchFamily="34" charset="0"/>
                <a:ea typeface="Courier New" pitchFamily="34" charset="-122"/>
                <a:cs typeface="Courier New" pitchFamily="34" charset="-120"/>
              </a:rPr>
              <a:t>update_cache:</a:t>
            </a:r>
            <a:endParaRPr lang="en-US" sz="800" dirty="0"/>
          </a:p>
        </p:txBody>
      </p:sp>
      <p:sp>
        <p:nvSpPr>
          <p:cNvPr id="17" name="Text 15"/>
          <p:cNvSpPr/>
          <p:nvPr/>
        </p:nvSpPr>
        <p:spPr>
          <a:xfrm>
            <a:off x="1457325" y="1846994"/>
            <a:ext cx="240030" cy="133241"/>
          </a:xfrm>
          <a:prstGeom prst="rect">
            <a:avLst/>
          </a:prstGeom>
          <a:noFill/>
          <a:ln/>
        </p:spPr>
        <p:txBody>
          <a:bodyPr wrap="none" lIns="0" tIns="0" rIns="0" bIns="0" rtlCol="0" anchor="t"/>
          <a:lstStyle/>
          <a:p>
            <a:pPr marL="0" indent="0" algn="l">
              <a:lnSpc>
                <a:spcPts val="1103"/>
              </a:lnSpc>
              <a:buNone/>
            </a:pPr>
            <a:r>
              <a:rPr lang="en-US" sz="800" dirty="0">
                <a:solidFill>
                  <a:srgbClr val="93C5FD"/>
                </a:solidFill>
                <a:latin typeface="Courier New" pitchFamily="34" charset="0"/>
                <a:ea typeface="Courier New" pitchFamily="34" charset="-122"/>
                <a:cs typeface="Courier New" pitchFamily="34" charset="-120"/>
              </a:rPr>
              <a:t>yes</a:t>
            </a:r>
            <a:endParaRPr lang="en-US" sz="800" dirty="0"/>
          </a:p>
        </p:txBody>
      </p:sp>
      <p:sp>
        <p:nvSpPr>
          <p:cNvPr id="18" name="Text 16"/>
          <p:cNvSpPr/>
          <p:nvPr/>
        </p:nvSpPr>
        <p:spPr>
          <a:xfrm>
            <a:off x="657225" y="2126940"/>
            <a:ext cx="400050" cy="133241"/>
          </a:xfrm>
          <a:prstGeom prst="rect">
            <a:avLst/>
          </a:prstGeom>
          <a:noFill/>
          <a:ln/>
        </p:spPr>
        <p:txBody>
          <a:bodyPr wrap="none" lIns="0" tIns="0" rIns="0" bIns="0" rtlCol="0" anchor="t"/>
          <a:lstStyle/>
          <a:p>
            <a:pPr marL="0" indent="0" algn="l">
              <a:lnSpc>
                <a:spcPts val="1103"/>
              </a:lnSpc>
              <a:buNone/>
            </a:pPr>
            <a:r>
              <a:rPr lang="en-US" sz="800" dirty="0">
                <a:solidFill>
                  <a:srgbClr val="FBA74A"/>
                </a:solidFill>
                <a:latin typeface="Courier New" pitchFamily="34" charset="0"/>
                <a:ea typeface="Courier New" pitchFamily="34" charset="-122"/>
                <a:cs typeface="Courier New" pitchFamily="34" charset="-120"/>
              </a:rPr>
              <a:t>name:</a:t>
            </a:r>
            <a:endParaRPr lang="en-US" sz="800" dirty="0"/>
          </a:p>
        </p:txBody>
      </p:sp>
      <p:sp>
        <p:nvSpPr>
          <p:cNvPr id="19" name="Text 17"/>
          <p:cNvSpPr/>
          <p:nvPr/>
        </p:nvSpPr>
        <p:spPr>
          <a:xfrm>
            <a:off x="957263" y="2126940"/>
            <a:ext cx="1187648" cy="112541"/>
          </a:xfrm>
          <a:prstGeom prst="rect">
            <a:avLst/>
          </a:prstGeom>
          <a:noFill/>
          <a:ln/>
        </p:spPr>
        <p:txBody>
          <a:bodyPr wrap="none" lIns="0" tIns="0" rIns="0" bIns="0" rtlCol="0" anchor="t">
            <a:normAutofit fontScale="25000" lnSpcReduction="20000"/>
          </a:bodyPr>
          <a:lstStyle/>
          <a:p>
            <a:pPr marL="0" indent="0" algn="l">
              <a:lnSpc>
                <a:spcPts val="1103"/>
              </a:lnSpc>
              <a:buNone/>
            </a:pPr>
            <a:r>
              <a:rPr lang="en-US" sz="800" dirty="0">
                <a:solidFill>
                  <a:srgbClr val="86EFAC"/>
                </a:solidFill>
                <a:latin typeface="Courier New" pitchFamily="34" charset="0"/>
                <a:ea typeface="Courier New" pitchFamily="34" charset="-122"/>
                <a:cs typeface="Courier New" pitchFamily="34" charset="-120"/>
              </a:rPr>
              <a:t>Deploy nginx config</a:t>
            </a:r>
            <a:endParaRPr lang="en-US" sz="800" dirty="0"/>
          </a:p>
        </p:txBody>
      </p:sp>
      <p:sp>
        <p:nvSpPr>
          <p:cNvPr id="20" name="Text 18"/>
          <p:cNvSpPr/>
          <p:nvPr/>
        </p:nvSpPr>
        <p:spPr>
          <a:xfrm>
            <a:off x="657225" y="2266913"/>
            <a:ext cx="643580" cy="112541"/>
          </a:xfrm>
          <a:prstGeom prst="rect">
            <a:avLst/>
          </a:prstGeom>
          <a:noFill/>
          <a:ln/>
        </p:spPr>
        <p:txBody>
          <a:bodyPr wrap="none" lIns="0" tIns="0" rIns="0" bIns="0" rtlCol="0" anchor="t">
            <a:normAutofit fontScale="25000" lnSpcReduction="20000"/>
          </a:bodyPr>
          <a:lstStyle/>
          <a:p>
            <a:pPr marL="0" indent="0" algn="l">
              <a:lnSpc>
                <a:spcPts val="1103"/>
              </a:lnSpc>
              <a:buNone/>
            </a:pPr>
            <a:r>
              <a:rPr lang="en-US" sz="800" dirty="0">
                <a:solidFill>
                  <a:srgbClr val="FBA74A"/>
                </a:solidFill>
                <a:latin typeface="Courier New" pitchFamily="34" charset="0"/>
                <a:ea typeface="Courier New" pitchFamily="34" charset="-122"/>
                <a:cs typeface="Courier New" pitchFamily="34" charset="-120"/>
              </a:rPr>
              <a:t>template:</a:t>
            </a:r>
            <a:endParaRPr lang="en-US" sz="800" dirty="0"/>
          </a:p>
        </p:txBody>
      </p:sp>
      <p:sp>
        <p:nvSpPr>
          <p:cNvPr id="21" name="Text 19"/>
          <p:cNvSpPr/>
          <p:nvPr/>
        </p:nvSpPr>
        <p:spPr>
          <a:xfrm>
            <a:off x="757238" y="2406886"/>
            <a:ext cx="320040" cy="133241"/>
          </a:xfrm>
          <a:prstGeom prst="rect">
            <a:avLst/>
          </a:prstGeom>
          <a:noFill/>
          <a:ln/>
        </p:spPr>
        <p:txBody>
          <a:bodyPr wrap="none" lIns="0" tIns="0" rIns="0" bIns="0" rtlCol="0" anchor="t"/>
          <a:lstStyle/>
          <a:p>
            <a:pPr marL="0" indent="0" algn="l">
              <a:lnSpc>
                <a:spcPts val="1103"/>
              </a:lnSpc>
              <a:buNone/>
            </a:pPr>
            <a:r>
              <a:rPr lang="en-US" sz="800" dirty="0">
                <a:solidFill>
                  <a:srgbClr val="FBA74A"/>
                </a:solidFill>
                <a:latin typeface="Courier New" pitchFamily="34" charset="0"/>
                <a:ea typeface="Courier New" pitchFamily="34" charset="-122"/>
                <a:cs typeface="Courier New" pitchFamily="34" charset="-120"/>
              </a:rPr>
              <a:t>src:</a:t>
            </a:r>
            <a:endParaRPr lang="en-US" sz="800" dirty="0"/>
          </a:p>
        </p:txBody>
      </p:sp>
      <p:sp>
        <p:nvSpPr>
          <p:cNvPr id="22" name="Text 20"/>
          <p:cNvSpPr/>
          <p:nvPr/>
        </p:nvSpPr>
        <p:spPr>
          <a:xfrm>
            <a:off x="1007269" y="2406886"/>
            <a:ext cx="812602" cy="112541"/>
          </a:xfrm>
          <a:prstGeom prst="rect">
            <a:avLst/>
          </a:prstGeom>
          <a:noFill/>
          <a:ln/>
        </p:spPr>
        <p:txBody>
          <a:bodyPr wrap="none" lIns="0" tIns="0" rIns="0" bIns="0" rtlCol="0" anchor="t">
            <a:normAutofit fontScale="25000" lnSpcReduction="20000"/>
          </a:bodyPr>
          <a:lstStyle/>
          <a:p>
            <a:pPr marL="0" indent="0" algn="l">
              <a:lnSpc>
                <a:spcPts val="1103"/>
              </a:lnSpc>
              <a:buNone/>
            </a:pPr>
            <a:r>
              <a:rPr lang="en-US" sz="800" dirty="0">
                <a:solidFill>
                  <a:srgbClr val="86EFAC"/>
                </a:solidFill>
                <a:latin typeface="Liberation Sans Narrow" pitchFamily="34" charset="0"/>
                <a:ea typeface="Liberation Sans Narrow" pitchFamily="34" charset="-122"/>
                <a:cs typeface="Liberation Sans Narrow" pitchFamily="34" charset="-120"/>
              </a:rPr>
              <a:t>nginx.conf.j2</a:t>
            </a:r>
            <a:endParaRPr lang="en-US" sz="800" dirty="0"/>
          </a:p>
        </p:txBody>
      </p:sp>
      <p:sp>
        <p:nvSpPr>
          <p:cNvPr id="23" name="Text 21"/>
          <p:cNvSpPr/>
          <p:nvPr/>
        </p:nvSpPr>
        <p:spPr>
          <a:xfrm>
            <a:off x="757238" y="2546858"/>
            <a:ext cx="400050" cy="133241"/>
          </a:xfrm>
          <a:prstGeom prst="rect">
            <a:avLst/>
          </a:prstGeom>
          <a:noFill/>
          <a:ln/>
        </p:spPr>
        <p:txBody>
          <a:bodyPr wrap="none" lIns="0" tIns="0" rIns="0" bIns="0" rtlCol="0" anchor="t"/>
          <a:lstStyle/>
          <a:p>
            <a:pPr marL="0" indent="0" algn="l">
              <a:lnSpc>
                <a:spcPts val="1103"/>
              </a:lnSpc>
              <a:buNone/>
            </a:pPr>
            <a:r>
              <a:rPr lang="en-US" sz="800" dirty="0">
                <a:solidFill>
                  <a:srgbClr val="FBA74A"/>
                </a:solidFill>
                <a:latin typeface="Courier New" pitchFamily="34" charset="0"/>
                <a:ea typeface="Courier New" pitchFamily="34" charset="-122"/>
                <a:cs typeface="Courier New" pitchFamily="34" charset="-120"/>
              </a:rPr>
              <a:t>dest:</a:t>
            </a:r>
            <a:endParaRPr lang="en-US" sz="800" dirty="0"/>
          </a:p>
        </p:txBody>
      </p:sp>
      <p:sp>
        <p:nvSpPr>
          <p:cNvPr id="24" name="Text 22"/>
          <p:cNvSpPr/>
          <p:nvPr/>
        </p:nvSpPr>
        <p:spPr>
          <a:xfrm>
            <a:off x="1057275" y="2546858"/>
            <a:ext cx="1312664" cy="112541"/>
          </a:xfrm>
          <a:prstGeom prst="rect">
            <a:avLst/>
          </a:prstGeom>
          <a:noFill/>
          <a:ln/>
        </p:spPr>
        <p:txBody>
          <a:bodyPr wrap="none" lIns="0" tIns="0" rIns="0" bIns="0" rtlCol="0" anchor="t">
            <a:normAutofit fontScale="25000" lnSpcReduction="20000"/>
          </a:bodyPr>
          <a:lstStyle/>
          <a:p>
            <a:pPr marL="0" indent="0" algn="l">
              <a:lnSpc>
                <a:spcPts val="1103"/>
              </a:lnSpc>
              <a:buNone/>
            </a:pPr>
            <a:r>
              <a:rPr lang="en-US" sz="800" dirty="0">
                <a:solidFill>
                  <a:srgbClr val="86EFAC"/>
                </a:solidFill>
                <a:latin typeface="Courier New" pitchFamily="34" charset="0"/>
                <a:ea typeface="Courier New" pitchFamily="34" charset="-122"/>
                <a:cs typeface="Courier New" pitchFamily="34" charset="-120"/>
              </a:rPr>
              <a:t>/etc/nginx/nginx.conf</a:t>
            </a:r>
            <a:endParaRPr lang="en-US" sz="800" dirty="0"/>
          </a:p>
        </p:txBody>
      </p:sp>
      <p:sp>
        <p:nvSpPr>
          <p:cNvPr id="25" name="Text 23"/>
          <p:cNvSpPr/>
          <p:nvPr/>
        </p:nvSpPr>
        <p:spPr>
          <a:xfrm>
            <a:off x="757238" y="2686831"/>
            <a:ext cx="400050" cy="133241"/>
          </a:xfrm>
          <a:prstGeom prst="rect">
            <a:avLst/>
          </a:prstGeom>
          <a:noFill/>
          <a:ln/>
        </p:spPr>
        <p:txBody>
          <a:bodyPr wrap="none" lIns="0" tIns="0" rIns="0" bIns="0" rtlCol="0" anchor="t"/>
          <a:lstStyle/>
          <a:p>
            <a:pPr marL="0" indent="0" algn="l">
              <a:lnSpc>
                <a:spcPts val="1103"/>
              </a:lnSpc>
              <a:buNone/>
            </a:pPr>
            <a:r>
              <a:rPr lang="en-US" sz="800" dirty="0">
                <a:solidFill>
                  <a:srgbClr val="FBA74A"/>
                </a:solidFill>
                <a:latin typeface="Courier New" pitchFamily="34" charset="0"/>
                <a:ea typeface="Courier New" pitchFamily="34" charset="-122"/>
                <a:cs typeface="Courier New" pitchFamily="34" charset="-120"/>
              </a:rPr>
              <a:t>mode:</a:t>
            </a:r>
            <a:endParaRPr lang="en-US" sz="800" dirty="0"/>
          </a:p>
        </p:txBody>
      </p:sp>
      <p:sp>
        <p:nvSpPr>
          <p:cNvPr id="26" name="Text 24"/>
          <p:cNvSpPr/>
          <p:nvPr/>
        </p:nvSpPr>
        <p:spPr>
          <a:xfrm>
            <a:off x="1051411" y="2686831"/>
            <a:ext cx="440781" cy="112541"/>
          </a:xfrm>
          <a:prstGeom prst="rect">
            <a:avLst/>
          </a:prstGeom>
          <a:noFill/>
          <a:ln/>
        </p:spPr>
        <p:txBody>
          <a:bodyPr wrap="none" lIns="0" tIns="0" rIns="0" bIns="0" rtlCol="0" anchor="t">
            <a:normAutofit fontScale="25000" lnSpcReduction="20000"/>
          </a:bodyPr>
          <a:lstStyle/>
          <a:p>
            <a:pPr marL="0" indent="0" algn="l">
              <a:lnSpc>
                <a:spcPts val="1103"/>
              </a:lnSpc>
              <a:buNone/>
            </a:pPr>
            <a:r>
              <a:rPr lang="en-US" sz="800" dirty="0">
                <a:solidFill>
                  <a:srgbClr val="86EFAC"/>
                </a:solidFill>
                <a:latin typeface="Liberation Sans Narrow" pitchFamily="34" charset="0"/>
                <a:ea typeface="Liberation Sans Narrow" pitchFamily="34" charset="-122"/>
                <a:cs typeface="Liberation Sans Narrow" pitchFamily="34" charset="-120"/>
              </a:rPr>
              <a:t>"0644"</a:t>
            </a:r>
            <a:endParaRPr lang="en-US" sz="800" dirty="0"/>
          </a:p>
        </p:txBody>
      </p:sp>
      <p:sp>
        <p:nvSpPr>
          <p:cNvPr id="27" name="Text 25"/>
          <p:cNvSpPr/>
          <p:nvPr/>
        </p:nvSpPr>
        <p:spPr>
          <a:xfrm>
            <a:off x="657225" y="2826804"/>
            <a:ext cx="500563" cy="133241"/>
          </a:xfrm>
          <a:prstGeom prst="rect">
            <a:avLst/>
          </a:prstGeom>
          <a:noFill/>
          <a:ln/>
        </p:spPr>
        <p:txBody>
          <a:bodyPr wrap="none" lIns="0" tIns="0" rIns="0" bIns="0" rtlCol="0" anchor="t"/>
          <a:lstStyle/>
          <a:p>
            <a:pPr marL="0" indent="0" algn="l">
              <a:lnSpc>
                <a:spcPts val="1103"/>
              </a:lnSpc>
              <a:buNone/>
            </a:pPr>
            <a:r>
              <a:rPr lang="en-US" sz="800" dirty="0">
                <a:solidFill>
                  <a:srgbClr val="FBA74A"/>
                </a:solidFill>
                <a:latin typeface="Courier New" pitchFamily="34" charset="0"/>
                <a:ea typeface="Courier New" pitchFamily="34" charset="-122"/>
                <a:cs typeface="Courier New" pitchFamily="34" charset="-120"/>
              </a:rPr>
              <a:t>notify:</a:t>
            </a:r>
            <a:endParaRPr lang="en-US" sz="800" dirty="0"/>
          </a:p>
        </p:txBody>
      </p:sp>
      <p:sp>
        <p:nvSpPr>
          <p:cNvPr id="28" name="Text 26"/>
          <p:cNvSpPr/>
          <p:nvPr/>
        </p:nvSpPr>
        <p:spPr>
          <a:xfrm>
            <a:off x="1054961" y="2826804"/>
            <a:ext cx="817230" cy="133241"/>
          </a:xfrm>
          <a:prstGeom prst="rect">
            <a:avLst/>
          </a:prstGeom>
          <a:noFill/>
          <a:ln/>
        </p:spPr>
        <p:txBody>
          <a:bodyPr wrap="none" lIns="0" tIns="0" rIns="0" bIns="0" rtlCol="0" anchor="t"/>
          <a:lstStyle/>
          <a:p>
            <a:pPr marL="0" indent="0" algn="l">
              <a:lnSpc>
                <a:spcPts val="1103"/>
              </a:lnSpc>
              <a:buNone/>
            </a:pPr>
            <a:r>
              <a:rPr lang="en-US" sz="800" dirty="0">
                <a:solidFill>
                  <a:srgbClr val="86EFAC"/>
                </a:solidFill>
                <a:latin typeface="Courier New" pitchFamily="34" charset="0"/>
                <a:ea typeface="Courier New" pitchFamily="34" charset="-122"/>
                <a:cs typeface="Courier New" pitchFamily="34" charset="-120"/>
              </a:rPr>
              <a:t>restart nginx</a:t>
            </a:r>
            <a:endParaRPr lang="en-US" sz="800" dirty="0"/>
          </a:p>
        </p:txBody>
      </p:sp>
      <p:sp>
        <p:nvSpPr>
          <p:cNvPr id="29" name="Text 27"/>
          <p:cNvSpPr/>
          <p:nvPr/>
        </p:nvSpPr>
        <p:spPr>
          <a:xfrm>
            <a:off x="657225" y="3106750"/>
            <a:ext cx="400050" cy="133241"/>
          </a:xfrm>
          <a:prstGeom prst="rect">
            <a:avLst/>
          </a:prstGeom>
          <a:noFill/>
          <a:ln/>
        </p:spPr>
        <p:txBody>
          <a:bodyPr wrap="none" lIns="0" tIns="0" rIns="0" bIns="0" rtlCol="0" anchor="t"/>
          <a:lstStyle/>
          <a:p>
            <a:pPr marL="0" indent="0" algn="l">
              <a:lnSpc>
                <a:spcPts val="1103"/>
              </a:lnSpc>
              <a:buNone/>
            </a:pPr>
            <a:r>
              <a:rPr lang="en-US" sz="800" dirty="0">
                <a:solidFill>
                  <a:srgbClr val="FBA74A"/>
                </a:solidFill>
                <a:latin typeface="Courier New" pitchFamily="34" charset="0"/>
                <a:ea typeface="Courier New" pitchFamily="34" charset="-122"/>
                <a:cs typeface="Courier New" pitchFamily="34" charset="-120"/>
              </a:rPr>
              <a:t>name:</a:t>
            </a:r>
            <a:endParaRPr lang="en-US" sz="800" dirty="0"/>
          </a:p>
        </p:txBody>
      </p:sp>
      <p:sp>
        <p:nvSpPr>
          <p:cNvPr id="30" name="Text 28"/>
          <p:cNvSpPr/>
          <p:nvPr/>
        </p:nvSpPr>
        <p:spPr>
          <a:xfrm>
            <a:off x="957263" y="3106750"/>
            <a:ext cx="1562695" cy="112541"/>
          </a:xfrm>
          <a:prstGeom prst="rect">
            <a:avLst/>
          </a:prstGeom>
          <a:noFill/>
          <a:ln/>
        </p:spPr>
        <p:txBody>
          <a:bodyPr wrap="none" lIns="0" tIns="0" rIns="0" bIns="0" rtlCol="0" anchor="t">
            <a:normAutofit fontScale="25000" lnSpcReduction="20000"/>
          </a:bodyPr>
          <a:lstStyle/>
          <a:p>
            <a:pPr marL="0" indent="0" algn="l">
              <a:lnSpc>
                <a:spcPts val="1103"/>
              </a:lnSpc>
              <a:buNone/>
            </a:pPr>
            <a:r>
              <a:rPr lang="en-US" sz="800" dirty="0">
                <a:solidFill>
                  <a:srgbClr val="86EFAC"/>
                </a:solidFill>
                <a:latin typeface="Courier New" pitchFamily="34" charset="0"/>
                <a:ea typeface="Courier New" pitchFamily="34" charset="-122"/>
                <a:cs typeface="Courier New" pitchFamily="34" charset="-120"/>
              </a:rPr>
              <a:t>Deploy default index page</a:t>
            </a:r>
            <a:endParaRPr lang="en-US" sz="800" dirty="0"/>
          </a:p>
        </p:txBody>
      </p:sp>
      <p:sp>
        <p:nvSpPr>
          <p:cNvPr id="31" name="Text 29"/>
          <p:cNvSpPr/>
          <p:nvPr/>
        </p:nvSpPr>
        <p:spPr>
          <a:xfrm>
            <a:off x="657225" y="3246723"/>
            <a:ext cx="643580" cy="112541"/>
          </a:xfrm>
          <a:prstGeom prst="rect">
            <a:avLst/>
          </a:prstGeom>
          <a:noFill/>
          <a:ln/>
        </p:spPr>
        <p:txBody>
          <a:bodyPr wrap="none" lIns="0" tIns="0" rIns="0" bIns="0" rtlCol="0" anchor="t">
            <a:normAutofit fontScale="25000" lnSpcReduction="20000"/>
          </a:bodyPr>
          <a:lstStyle/>
          <a:p>
            <a:pPr marL="0" indent="0" algn="l">
              <a:lnSpc>
                <a:spcPts val="1103"/>
              </a:lnSpc>
              <a:buNone/>
            </a:pPr>
            <a:r>
              <a:rPr lang="en-US" sz="800" dirty="0">
                <a:solidFill>
                  <a:srgbClr val="FBA74A"/>
                </a:solidFill>
                <a:latin typeface="Courier New" pitchFamily="34" charset="0"/>
                <a:ea typeface="Courier New" pitchFamily="34" charset="-122"/>
                <a:cs typeface="Courier New" pitchFamily="34" charset="-120"/>
              </a:rPr>
              <a:t>template:</a:t>
            </a:r>
            <a:endParaRPr lang="en-US" sz="800" dirty="0"/>
          </a:p>
        </p:txBody>
      </p:sp>
      <p:sp>
        <p:nvSpPr>
          <p:cNvPr id="32" name="Text 30"/>
          <p:cNvSpPr/>
          <p:nvPr/>
        </p:nvSpPr>
        <p:spPr>
          <a:xfrm>
            <a:off x="757238" y="3386696"/>
            <a:ext cx="320040" cy="133241"/>
          </a:xfrm>
          <a:prstGeom prst="rect">
            <a:avLst/>
          </a:prstGeom>
          <a:noFill/>
          <a:ln/>
        </p:spPr>
        <p:txBody>
          <a:bodyPr wrap="none" lIns="0" tIns="0" rIns="0" bIns="0" rtlCol="0" anchor="t"/>
          <a:lstStyle/>
          <a:p>
            <a:pPr marL="0" indent="0" algn="l">
              <a:lnSpc>
                <a:spcPts val="1103"/>
              </a:lnSpc>
              <a:buNone/>
            </a:pPr>
            <a:r>
              <a:rPr lang="en-US" sz="800" dirty="0">
                <a:solidFill>
                  <a:srgbClr val="FBA74A"/>
                </a:solidFill>
                <a:latin typeface="Courier New" pitchFamily="34" charset="0"/>
                <a:ea typeface="Courier New" pitchFamily="34" charset="-122"/>
                <a:cs typeface="Courier New" pitchFamily="34" charset="-120"/>
              </a:rPr>
              <a:t>src:</a:t>
            </a:r>
            <a:endParaRPr lang="en-US" sz="800" dirty="0"/>
          </a:p>
        </p:txBody>
      </p:sp>
      <p:sp>
        <p:nvSpPr>
          <p:cNvPr id="33" name="Text 31"/>
          <p:cNvSpPr/>
          <p:nvPr/>
        </p:nvSpPr>
        <p:spPr>
          <a:xfrm>
            <a:off x="1007269" y="3386696"/>
            <a:ext cx="812602" cy="112541"/>
          </a:xfrm>
          <a:prstGeom prst="rect">
            <a:avLst/>
          </a:prstGeom>
          <a:noFill/>
          <a:ln/>
        </p:spPr>
        <p:txBody>
          <a:bodyPr wrap="none" lIns="0" tIns="0" rIns="0" bIns="0" rtlCol="0" anchor="t">
            <a:normAutofit fontScale="25000" lnSpcReduction="20000"/>
          </a:bodyPr>
          <a:lstStyle/>
          <a:p>
            <a:pPr marL="0" indent="0" algn="l">
              <a:lnSpc>
                <a:spcPts val="1103"/>
              </a:lnSpc>
              <a:buNone/>
            </a:pPr>
            <a:r>
              <a:rPr lang="en-US" sz="800" dirty="0">
                <a:solidFill>
                  <a:srgbClr val="86EFAC"/>
                </a:solidFill>
                <a:latin typeface="Liberation Sans Narrow" pitchFamily="34" charset="0"/>
                <a:ea typeface="Liberation Sans Narrow" pitchFamily="34" charset="-122"/>
                <a:cs typeface="Liberation Sans Narrow" pitchFamily="34" charset="-120"/>
              </a:rPr>
              <a:t>index.html.j2</a:t>
            </a:r>
            <a:endParaRPr lang="en-US" sz="800" dirty="0"/>
          </a:p>
        </p:txBody>
      </p:sp>
      <p:sp>
        <p:nvSpPr>
          <p:cNvPr id="34" name="Text 32"/>
          <p:cNvSpPr/>
          <p:nvPr/>
        </p:nvSpPr>
        <p:spPr>
          <a:xfrm>
            <a:off x="757238" y="3526668"/>
            <a:ext cx="400050" cy="133241"/>
          </a:xfrm>
          <a:prstGeom prst="rect">
            <a:avLst/>
          </a:prstGeom>
          <a:noFill/>
          <a:ln/>
        </p:spPr>
        <p:txBody>
          <a:bodyPr wrap="none" lIns="0" tIns="0" rIns="0" bIns="0" rtlCol="0" anchor="t"/>
          <a:lstStyle/>
          <a:p>
            <a:pPr marL="0" indent="0" algn="l">
              <a:lnSpc>
                <a:spcPts val="1103"/>
              </a:lnSpc>
              <a:buNone/>
            </a:pPr>
            <a:r>
              <a:rPr lang="en-US" sz="800" dirty="0">
                <a:solidFill>
                  <a:srgbClr val="FBA74A"/>
                </a:solidFill>
                <a:latin typeface="Courier New" pitchFamily="34" charset="0"/>
                <a:ea typeface="Courier New" pitchFamily="34" charset="-122"/>
                <a:cs typeface="Courier New" pitchFamily="34" charset="-120"/>
              </a:rPr>
              <a:t>dest:</a:t>
            </a:r>
            <a:endParaRPr lang="en-US" sz="800" dirty="0"/>
          </a:p>
        </p:txBody>
      </p:sp>
      <p:sp>
        <p:nvSpPr>
          <p:cNvPr id="35" name="Text 33"/>
          <p:cNvSpPr/>
          <p:nvPr/>
        </p:nvSpPr>
        <p:spPr>
          <a:xfrm>
            <a:off x="1057275" y="3526668"/>
            <a:ext cx="1296162" cy="112541"/>
          </a:xfrm>
          <a:prstGeom prst="rect">
            <a:avLst/>
          </a:prstGeom>
          <a:noFill/>
          <a:ln/>
        </p:spPr>
        <p:txBody>
          <a:bodyPr wrap="none" lIns="0" tIns="0" rIns="0" bIns="0" rtlCol="0" anchor="t">
            <a:normAutofit fontScale="25000" lnSpcReduction="20000"/>
          </a:bodyPr>
          <a:lstStyle/>
          <a:p>
            <a:pPr marL="0" indent="0" algn="l">
              <a:lnSpc>
                <a:spcPts val="1103"/>
              </a:lnSpc>
              <a:buNone/>
            </a:pPr>
            <a:r>
              <a:rPr lang="en-US" sz="788" dirty="0">
                <a:solidFill>
                  <a:srgbClr val="86EFAC"/>
                </a:solidFill>
                <a:latin typeface="Courier New" pitchFamily="34" charset="0"/>
                <a:ea typeface="Courier New" pitchFamily="34" charset="-122"/>
                <a:cs typeface="Courier New" pitchFamily="34" charset="-120"/>
              </a:rPr>
              <a:t>/var/www/html/index.html</a:t>
            </a:r>
            <a:endParaRPr lang="en-US" sz="788" dirty="0"/>
          </a:p>
        </p:txBody>
      </p:sp>
      <p:sp>
        <p:nvSpPr>
          <p:cNvPr id="36" name="Text 34"/>
          <p:cNvSpPr/>
          <p:nvPr/>
        </p:nvSpPr>
        <p:spPr>
          <a:xfrm>
            <a:off x="757238" y="3666641"/>
            <a:ext cx="400050" cy="133241"/>
          </a:xfrm>
          <a:prstGeom prst="rect">
            <a:avLst/>
          </a:prstGeom>
          <a:noFill/>
          <a:ln/>
        </p:spPr>
        <p:txBody>
          <a:bodyPr wrap="none" lIns="0" tIns="0" rIns="0" bIns="0" rtlCol="0" anchor="t"/>
          <a:lstStyle/>
          <a:p>
            <a:pPr marL="0" indent="0" algn="l">
              <a:lnSpc>
                <a:spcPts val="1103"/>
              </a:lnSpc>
              <a:buNone/>
            </a:pPr>
            <a:r>
              <a:rPr lang="en-US" sz="800" dirty="0">
                <a:solidFill>
                  <a:srgbClr val="FBA74A"/>
                </a:solidFill>
                <a:latin typeface="Courier New" pitchFamily="34" charset="0"/>
                <a:ea typeface="Courier New" pitchFamily="34" charset="-122"/>
                <a:cs typeface="Courier New" pitchFamily="34" charset="-120"/>
              </a:rPr>
              <a:t>mode:</a:t>
            </a:r>
            <a:endParaRPr lang="en-US" sz="800" dirty="0"/>
          </a:p>
        </p:txBody>
      </p:sp>
      <p:sp>
        <p:nvSpPr>
          <p:cNvPr id="37" name="Text 35"/>
          <p:cNvSpPr/>
          <p:nvPr/>
        </p:nvSpPr>
        <p:spPr>
          <a:xfrm>
            <a:off x="1051411" y="3666641"/>
            <a:ext cx="440781" cy="133241"/>
          </a:xfrm>
          <a:prstGeom prst="rect">
            <a:avLst/>
          </a:prstGeom>
          <a:noFill/>
          <a:ln/>
        </p:spPr>
        <p:txBody>
          <a:bodyPr wrap="none" lIns="0" tIns="0" rIns="0" bIns="0" rtlCol="0" anchor="t"/>
          <a:lstStyle/>
          <a:p>
            <a:pPr marL="0" indent="0" algn="l">
              <a:lnSpc>
                <a:spcPts val="1103"/>
              </a:lnSpc>
              <a:buNone/>
            </a:pPr>
            <a:r>
              <a:rPr lang="en-US" sz="800" dirty="0">
                <a:solidFill>
                  <a:srgbClr val="86EFAC"/>
                </a:solidFill>
                <a:latin typeface="Liberation Sans Narrow" pitchFamily="34" charset="0"/>
                <a:ea typeface="Liberation Sans Narrow" pitchFamily="34" charset="-122"/>
                <a:cs typeface="Liberation Sans Narrow" pitchFamily="34" charset="-120"/>
              </a:rPr>
              <a:t>"0644"</a:t>
            </a:r>
            <a:endParaRPr lang="en-US" sz="800" dirty="0"/>
          </a:p>
        </p:txBody>
      </p:sp>
      <p:sp>
        <p:nvSpPr>
          <p:cNvPr id="38" name="Text 36"/>
          <p:cNvSpPr/>
          <p:nvPr/>
        </p:nvSpPr>
        <p:spPr>
          <a:xfrm>
            <a:off x="657225" y="3946587"/>
            <a:ext cx="400050" cy="133241"/>
          </a:xfrm>
          <a:prstGeom prst="rect">
            <a:avLst/>
          </a:prstGeom>
          <a:noFill/>
          <a:ln/>
        </p:spPr>
        <p:txBody>
          <a:bodyPr wrap="none" lIns="0" tIns="0" rIns="0" bIns="0" rtlCol="0" anchor="t"/>
          <a:lstStyle/>
          <a:p>
            <a:pPr marL="0" indent="0" algn="l">
              <a:lnSpc>
                <a:spcPts val="1103"/>
              </a:lnSpc>
              <a:buNone/>
            </a:pPr>
            <a:r>
              <a:rPr lang="en-US" sz="800" dirty="0">
                <a:solidFill>
                  <a:srgbClr val="FBA74A"/>
                </a:solidFill>
                <a:latin typeface="Courier New" pitchFamily="34" charset="0"/>
                <a:ea typeface="Courier New" pitchFamily="34" charset="-122"/>
                <a:cs typeface="Courier New" pitchFamily="34" charset="-120"/>
              </a:rPr>
              <a:t>name:</a:t>
            </a:r>
            <a:endParaRPr lang="en-US" sz="800" dirty="0"/>
          </a:p>
        </p:txBody>
      </p:sp>
      <p:sp>
        <p:nvSpPr>
          <p:cNvPr id="39" name="Text 37"/>
          <p:cNvSpPr/>
          <p:nvPr/>
        </p:nvSpPr>
        <p:spPr>
          <a:xfrm>
            <a:off x="957263" y="3946587"/>
            <a:ext cx="1437680" cy="112541"/>
          </a:xfrm>
          <a:prstGeom prst="rect">
            <a:avLst/>
          </a:prstGeom>
          <a:noFill/>
          <a:ln/>
        </p:spPr>
        <p:txBody>
          <a:bodyPr wrap="none" lIns="0" tIns="0" rIns="0" bIns="0" rtlCol="0" anchor="t">
            <a:normAutofit fontScale="25000" lnSpcReduction="20000"/>
          </a:bodyPr>
          <a:lstStyle/>
          <a:p>
            <a:pPr marL="0" indent="0" algn="l">
              <a:lnSpc>
                <a:spcPts val="1103"/>
              </a:lnSpc>
              <a:buNone/>
            </a:pPr>
            <a:r>
              <a:rPr lang="en-US" sz="800" dirty="0">
                <a:solidFill>
                  <a:srgbClr val="86EFAC"/>
                </a:solidFill>
                <a:latin typeface="Courier New" pitchFamily="34" charset="0"/>
                <a:ea typeface="Courier New" pitchFamily="34" charset="-122"/>
                <a:cs typeface="Courier New" pitchFamily="34" charset="-120"/>
              </a:rPr>
              <a:t>Ensure nginx is running</a:t>
            </a:r>
            <a:endParaRPr lang="en-US" sz="800" dirty="0"/>
          </a:p>
        </p:txBody>
      </p:sp>
      <p:sp>
        <p:nvSpPr>
          <p:cNvPr id="40" name="Text 38"/>
          <p:cNvSpPr/>
          <p:nvPr/>
        </p:nvSpPr>
        <p:spPr>
          <a:xfrm>
            <a:off x="657225" y="4086560"/>
            <a:ext cx="572072" cy="112541"/>
          </a:xfrm>
          <a:prstGeom prst="rect">
            <a:avLst/>
          </a:prstGeom>
          <a:noFill/>
          <a:ln/>
        </p:spPr>
        <p:txBody>
          <a:bodyPr wrap="none" lIns="0" tIns="0" rIns="0" bIns="0" rtlCol="0" anchor="t">
            <a:normAutofit fontScale="25000" lnSpcReduction="20000"/>
          </a:bodyPr>
          <a:lstStyle/>
          <a:p>
            <a:pPr marL="0" indent="0" algn="l">
              <a:lnSpc>
                <a:spcPts val="1103"/>
              </a:lnSpc>
              <a:buNone/>
            </a:pPr>
            <a:r>
              <a:rPr lang="en-US" sz="800" dirty="0">
                <a:solidFill>
                  <a:srgbClr val="FBA74A"/>
                </a:solidFill>
                <a:latin typeface="Courier New" pitchFamily="34" charset="0"/>
                <a:ea typeface="Courier New" pitchFamily="34" charset="-122"/>
                <a:cs typeface="Courier New" pitchFamily="34" charset="-120"/>
              </a:rPr>
              <a:t>service:</a:t>
            </a:r>
            <a:endParaRPr lang="en-US" sz="800" dirty="0"/>
          </a:p>
        </p:txBody>
      </p:sp>
      <p:sp>
        <p:nvSpPr>
          <p:cNvPr id="41" name="Text 39"/>
          <p:cNvSpPr/>
          <p:nvPr/>
        </p:nvSpPr>
        <p:spPr>
          <a:xfrm>
            <a:off x="757238" y="4226533"/>
            <a:ext cx="400050" cy="133241"/>
          </a:xfrm>
          <a:prstGeom prst="rect">
            <a:avLst/>
          </a:prstGeom>
          <a:noFill/>
          <a:ln/>
        </p:spPr>
        <p:txBody>
          <a:bodyPr wrap="none" lIns="0" tIns="0" rIns="0" bIns="0" rtlCol="0" anchor="t"/>
          <a:lstStyle/>
          <a:p>
            <a:pPr marL="0" indent="0" algn="l">
              <a:lnSpc>
                <a:spcPts val="1103"/>
              </a:lnSpc>
              <a:buNone/>
            </a:pPr>
            <a:r>
              <a:rPr lang="en-US" sz="800" dirty="0">
                <a:solidFill>
                  <a:srgbClr val="FBA74A"/>
                </a:solidFill>
                <a:latin typeface="Courier New" pitchFamily="34" charset="0"/>
                <a:ea typeface="Courier New" pitchFamily="34" charset="-122"/>
                <a:cs typeface="Courier New" pitchFamily="34" charset="-120"/>
              </a:rPr>
              <a:t>name:</a:t>
            </a:r>
            <a:endParaRPr lang="en-US" sz="800" dirty="0"/>
          </a:p>
        </p:txBody>
      </p:sp>
      <p:sp>
        <p:nvSpPr>
          <p:cNvPr id="42" name="Text 40"/>
          <p:cNvSpPr/>
          <p:nvPr/>
        </p:nvSpPr>
        <p:spPr>
          <a:xfrm>
            <a:off x="1057275" y="4226533"/>
            <a:ext cx="400050" cy="112541"/>
          </a:xfrm>
          <a:prstGeom prst="rect">
            <a:avLst/>
          </a:prstGeom>
          <a:noFill/>
          <a:ln/>
        </p:spPr>
        <p:txBody>
          <a:bodyPr wrap="none" lIns="0" tIns="0" rIns="0" bIns="0" rtlCol="0" anchor="t">
            <a:normAutofit fontScale="25000" lnSpcReduction="20000"/>
          </a:bodyPr>
          <a:lstStyle/>
          <a:p>
            <a:pPr marL="0" indent="0" algn="l">
              <a:lnSpc>
                <a:spcPts val="1103"/>
              </a:lnSpc>
              <a:buNone/>
            </a:pPr>
            <a:r>
              <a:rPr lang="en-US" sz="800" dirty="0">
                <a:solidFill>
                  <a:srgbClr val="86EFAC"/>
                </a:solidFill>
                <a:latin typeface="Courier New" pitchFamily="34" charset="0"/>
                <a:ea typeface="Courier New" pitchFamily="34" charset="-122"/>
                <a:cs typeface="Courier New" pitchFamily="34" charset="-120"/>
              </a:rPr>
              <a:t>nginx</a:t>
            </a:r>
            <a:endParaRPr lang="en-US" sz="800" dirty="0"/>
          </a:p>
        </p:txBody>
      </p:sp>
      <p:sp>
        <p:nvSpPr>
          <p:cNvPr id="43" name="Text 41"/>
          <p:cNvSpPr/>
          <p:nvPr/>
        </p:nvSpPr>
        <p:spPr>
          <a:xfrm>
            <a:off x="757238" y="4366506"/>
            <a:ext cx="429054" cy="133241"/>
          </a:xfrm>
          <a:prstGeom prst="rect">
            <a:avLst/>
          </a:prstGeom>
          <a:noFill/>
          <a:ln/>
        </p:spPr>
        <p:txBody>
          <a:bodyPr wrap="none" lIns="0" tIns="0" rIns="0" bIns="0" rtlCol="0" anchor="t"/>
          <a:lstStyle/>
          <a:p>
            <a:pPr marL="0" indent="0" algn="l">
              <a:lnSpc>
                <a:spcPts val="1103"/>
              </a:lnSpc>
              <a:buNone/>
            </a:pPr>
            <a:r>
              <a:rPr lang="en-US" sz="800" dirty="0">
                <a:solidFill>
                  <a:srgbClr val="FBA74A"/>
                </a:solidFill>
                <a:latin typeface="Courier New" pitchFamily="34" charset="0"/>
                <a:ea typeface="Courier New" pitchFamily="34" charset="-122"/>
                <a:cs typeface="Courier New" pitchFamily="34" charset="-120"/>
              </a:rPr>
              <a:t>state:</a:t>
            </a:r>
            <a:endParaRPr lang="en-US" sz="800" dirty="0"/>
          </a:p>
        </p:txBody>
      </p:sp>
      <p:sp>
        <p:nvSpPr>
          <p:cNvPr id="44" name="Text 42"/>
          <p:cNvSpPr/>
          <p:nvPr/>
        </p:nvSpPr>
        <p:spPr>
          <a:xfrm>
            <a:off x="1107281" y="4366506"/>
            <a:ext cx="500563" cy="112541"/>
          </a:xfrm>
          <a:prstGeom prst="rect">
            <a:avLst/>
          </a:prstGeom>
          <a:noFill/>
          <a:ln/>
        </p:spPr>
        <p:txBody>
          <a:bodyPr wrap="none" lIns="0" tIns="0" rIns="0" bIns="0" rtlCol="0" anchor="t">
            <a:normAutofit fontScale="25000" lnSpcReduction="20000"/>
          </a:bodyPr>
          <a:lstStyle/>
          <a:p>
            <a:pPr marL="0" indent="0" algn="l">
              <a:lnSpc>
                <a:spcPts val="1103"/>
              </a:lnSpc>
              <a:buNone/>
            </a:pPr>
            <a:r>
              <a:rPr lang="en-US" sz="800" dirty="0">
                <a:solidFill>
                  <a:srgbClr val="86EFAC"/>
                </a:solidFill>
                <a:latin typeface="Courier New" pitchFamily="34" charset="0"/>
                <a:ea typeface="Courier New" pitchFamily="34" charset="-122"/>
                <a:cs typeface="Courier New" pitchFamily="34" charset="-120"/>
              </a:rPr>
              <a:t>started</a:t>
            </a:r>
            <a:endParaRPr lang="en-US" sz="800" dirty="0"/>
          </a:p>
        </p:txBody>
      </p:sp>
      <p:sp>
        <p:nvSpPr>
          <p:cNvPr id="45" name="Text 43"/>
          <p:cNvSpPr/>
          <p:nvPr/>
        </p:nvSpPr>
        <p:spPr>
          <a:xfrm>
            <a:off x="757238" y="4506478"/>
            <a:ext cx="572072" cy="133241"/>
          </a:xfrm>
          <a:prstGeom prst="rect">
            <a:avLst/>
          </a:prstGeom>
          <a:noFill/>
          <a:ln/>
        </p:spPr>
        <p:txBody>
          <a:bodyPr wrap="none" lIns="0" tIns="0" rIns="0" bIns="0" rtlCol="0" anchor="t"/>
          <a:lstStyle/>
          <a:p>
            <a:pPr marL="0" indent="0" algn="l">
              <a:lnSpc>
                <a:spcPts val="1103"/>
              </a:lnSpc>
              <a:buNone/>
            </a:pPr>
            <a:r>
              <a:rPr lang="en-US" sz="800" dirty="0">
                <a:solidFill>
                  <a:srgbClr val="FBA74A"/>
                </a:solidFill>
                <a:latin typeface="Courier New" pitchFamily="34" charset="0"/>
                <a:ea typeface="Courier New" pitchFamily="34" charset="-122"/>
                <a:cs typeface="Courier New" pitchFamily="34" charset="-120"/>
              </a:rPr>
              <a:t>enabled:</a:t>
            </a:r>
            <a:endParaRPr lang="en-US" sz="800" dirty="0"/>
          </a:p>
        </p:txBody>
      </p:sp>
      <p:sp>
        <p:nvSpPr>
          <p:cNvPr id="46" name="Text 44"/>
          <p:cNvSpPr/>
          <p:nvPr/>
        </p:nvSpPr>
        <p:spPr>
          <a:xfrm>
            <a:off x="1207294" y="4506478"/>
            <a:ext cx="240030" cy="133241"/>
          </a:xfrm>
          <a:prstGeom prst="rect">
            <a:avLst/>
          </a:prstGeom>
          <a:noFill/>
          <a:ln/>
        </p:spPr>
        <p:txBody>
          <a:bodyPr wrap="none" lIns="0" tIns="0" rIns="0" bIns="0" rtlCol="0" anchor="t"/>
          <a:lstStyle/>
          <a:p>
            <a:pPr marL="0" indent="0" algn="l">
              <a:lnSpc>
                <a:spcPts val="1103"/>
              </a:lnSpc>
              <a:buNone/>
            </a:pPr>
            <a:r>
              <a:rPr lang="en-US" sz="800" dirty="0">
                <a:solidFill>
                  <a:srgbClr val="93C5FD"/>
                </a:solidFill>
                <a:latin typeface="Courier New" pitchFamily="34" charset="0"/>
                <a:ea typeface="Courier New" pitchFamily="34" charset="-122"/>
                <a:cs typeface="Courier New" pitchFamily="34" charset="-120"/>
              </a:rPr>
              <a:t>yes</a:t>
            </a:r>
            <a:endParaRPr lang="en-US" sz="800" dirty="0"/>
          </a:p>
        </p:txBody>
      </p:sp>
      <p:sp>
        <p:nvSpPr>
          <p:cNvPr id="47" name="Text 45"/>
          <p:cNvSpPr/>
          <p:nvPr/>
        </p:nvSpPr>
        <p:spPr>
          <a:xfrm>
            <a:off x="557213" y="4786424"/>
            <a:ext cx="1674209" cy="112541"/>
          </a:xfrm>
          <a:prstGeom prst="rect">
            <a:avLst/>
          </a:prstGeom>
          <a:noFill/>
          <a:ln/>
        </p:spPr>
        <p:txBody>
          <a:bodyPr wrap="none" lIns="0" tIns="0" rIns="0" bIns="0" rtlCol="0" anchor="t">
            <a:normAutofit fontScale="25000" lnSpcReduction="20000"/>
          </a:bodyPr>
          <a:lstStyle/>
          <a:p>
            <a:pPr marL="0" indent="0" algn="l">
              <a:lnSpc>
                <a:spcPts val="1103"/>
              </a:lnSpc>
              <a:buNone/>
            </a:pPr>
            <a:r>
              <a:rPr lang="en-US" sz="788" b="1" dirty="0">
                <a:solidFill>
                  <a:srgbClr val="F97316"/>
                </a:solidFill>
                <a:latin typeface="Courier New" pitchFamily="34" charset="0"/>
                <a:ea typeface="Courier New" pitchFamily="34" charset="-122"/>
                <a:cs typeface="Courier New" pitchFamily="34" charset="-120"/>
              </a:rPr>
              <a:t># roles/nginx/handlers/main.yml</a:t>
            </a:r>
            <a:endParaRPr lang="en-US" sz="788" dirty="0"/>
          </a:p>
        </p:txBody>
      </p:sp>
      <p:sp>
        <p:nvSpPr>
          <p:cNvPr id="48" name="Text 46"/>
          <p:cNvSpPr/>
          <p:nvPr/>
        </p:nvSpPr>
        <p:spPr>
          <a:xfrm>
            <a:off x="557213" y="4926397"/>
            <a:ext cx="240030" cy="91440"/>
          </a:xfrm>
          <a:prstGeom prst="rect">
            <a:avLst/>
          </a:prstGeom>
          <a:noFill/>
          <a:ln/>
        </p:spPr>
        <p:txBody>
          <a:bodyPr wrap="none" lIns="0" tIns="0" rIns="0" bIns="0" rtlCol="0" anchor="t"/>
          <a:lstStyle/>
          <a:p>
            <a:pPr marL="0" indent="0" algn="l">
              <a:lnSpc>
                <a:spcPts val="1103"/>
              </a:lnSpc>
              <a:buNone/>
            </a:pPr>
            <a:r>
              <a:rPr lang="en-US" sz="800" i="1" dirty="0">
                <a:solidFill>
                  <a:srgbClr val="94A3B8"/>
                </a:solidFill>
                <a:latin typeface="Courier New" pitchFamily="34" charset="0"/>
                <a:ea typeface="Courier New" pitchFamily="34" charset="-122"/>
                <a:cs typeface="Courier New" pitchFamily="34" charset="-120"/>
              </a:rPr>
              <a:t>---</a:t>
            </a:r>
            <a:endParaRPr lang="en-US" sz="800" dirty="0"/>
          </a:p>
        </p:txBody>
      </p:sp>
      <p:sp>
        <p:nvSpPr>
          <p:cNvPr id="49" name="Text 47"/>
          <p:cNvSpPr/>
          <p:nvPr/>
        </p:nvSpPr>
        <p:spPr>
          <a:xfrm>
            <a:off x="657225" y="5066370"/>
            <a:ext cx="400050" cy="91440"/>
          </a:xfrm>
          <a:prstGeom prst="rect">
            <a:avLst/>
          </a:prstGeom>
          <a:noFill/>
          <a:ln/>
        </p:spPr>
        <p:txBody>
          <a:bodyPr wrap="none" lIns="0" tIns="0" rIns="0" bIns="0" rtlCol="0" anchor="t"/>
          <a:lstStyle/>
          <a:p>
            <a:pPr marL="0" indent="0" algn="l">
              <a:lnSpc>
                <a:spcPts val="1103"/>
              </a:lnSpc>
              <a:buNone/>
            </a:pPr>
            <a:r>
              <a:rPr lang="en-US" sz="800" dirty="0">
                <a:solidFill>
                  <a:srgbClr val="FBA74A"/>
                </a:solidFill>
                <a:latin typeface="Courier New" pitchFamily="34" charset="0"/>
                <a:ea typeface="Courier New" pitchFamily="34" charset="-122"/>
                <a:cs typeface="Courier New" pitchFamily="34" charset="-120"/>
              </a:rPr>
              <a:t>name:</a:t>
            </a:r>
            <a:endParaRPr lang="en-US" sz="800" dirty="0"/>
          </a:p>
        </p:txBody>
      </p:sp>
      <p:sp>
        <p:nvSpPr>
          <p:cNvPr id="50" name="Text 48"/>
          <p:cNvSpPr/>
          <p:nvPr/>
        </p:nvSpPr>
        <p:spPr>
          <a:xfrm>
            <a:off x="954948" y="5066370"/>
            <a:ext cx="817230" cy="91440"/>
          </a:xfrm>
          <a:prstGeom prst="rect">
            <a:avLst/>
          </a:prstGeom>
          <a:noFill/>
          <a:ln/>
        </p:spPr>
        <p:txBody>
          <a:bodyPr wrap="none" lIns="0" tIns="0" rIns="0" bIns="0" rtlCol="0" anchor="t"/>
          <a:lstStyle/>
          <a:p>
            <a:pPr marL="0" indent="0" algn="l">
              <a:lnSpc>
                <a:spcPts val="1103"/>
              </a:lnSpc>
              <a:buNone/>
            </a:pPr>
            <a:r>
              <a:rPr lang="en-US" sz="800" dirty="0">
                <a:solidFill>
                  <a:srgbClr val="86EFAC"/>
                </a:solidFill>
                <a:latin typeface="Courier New" pitchFamily="34" charset="0"/>
                <a:ea typeface="Courier New" pitchFamily="34" charset="-122"/>
                <a:cs typeface="Courier New" pitchFamily="34" charset="-120"/>
              </a:rPr>
              <a:t>restart nginx</a:t>
            </a:r>
            <a:endParaRPr lang="en-US" sz="800" dirty="0"/>
          </a:p>
        </p:txBody>
      </p:sp>
      <p:sp>
        <p:nvSpPr>
          <p:cNvPr id="51" name="Text 49"/>
          <p:cNvSpPr/>
          <p:nvPr/>
        </p:nvSpPr>
        <p:spPr>
          <a:xfrm>
            <a:off x="657225" y="5206343"/>
            <a:ext cx="572072" cy="91440"/>
          </a:xfrm>
          <a:prstGeom prst="rect">
            <a:avLst/>
          </a:prstGeom>
          <a:noFill/>
          <a:ln/>
        </p:spPr>
        <p:txBody>
          <a:bodyPr wrap="none" lIns="0" tIns="0" rIns="0" bIns="0" rtlCol="0" anchor="t"/>
          <a:lstStyle/>
          <a:p>
            <a:pPr marL="0" indent="0" algn="l">
              <a:lnSpc>
                <a:spcPts val="1103"/>
              </a:lnSpc>
              <a:buNone/>
            </a:pPr>
            <a:r>
              <a:rPr lang="en-US" sz="800" dirty="0">
                <a:solidFill>
                  <a:srgbClr val="FBA74A"/>
                </a:solidFill>
                <a:latin typeface="Courier New" pitchFamily="34" charset="0"/>
                <a:ea typeface="Courier New" pitchFamily="34" charset="-122"/>
                <a:cs typeface="Courier New" pitchFamily="34" charset="-120"/>
              </a:rPr>
              <a:t>service:</a:t>
            </a:r>
            <a:endParaRPr lang="en-US" sz="800" dirty="0"/>
          </a:p>
        </p:txBody>
      </p:sp>
      <p:sp>
        <p:nvSpPr>
          <p:cNvPr id="52" name="Text 50"/>
          <p:cNvSpPr/>
          <p:nvPr/>
        </p:nvSpPr>
        <p:spPr>
          <a:xfrm>
            <a:off x="757238" y="5346316"/>
            <a:ext cx="400050" cy="91440"/>
          </a:xfrm>
          <a:prstGeom prst="rect">
            <a:avLst/>
          </a:prstGeom>
          <a:noFill/>
          <a:ln/>
        </p:spPr>
        <p:txBody>
          <a:bodyPr wrap="none" lIns="0" tIns="0" rIns="0" bIns="0" rtlCol="0" anchor="t"/>
          <a:lstStyle/>
          <a:p>
            <a:pPr marL="0" indent="0" algn="l">
              <a:lnSpc>
                <a:spcPts val="1103"/>
              </a:lnSpc>
              <a:buNone/>
            </a:pPr>
            <a:r>
              <a:rPr lang="en-US" sz="800" dirty="0">
                <a:solidFill>
                  <a:srgbClr val="FBA74A"/>
                </a:solidFill>
                <a:latin typeface="Courier New" pitchFamily="34" charset="0"/>
                <a:ea typeface="Courier New" pitchFamily="34" charset="-122"/>
                <a:cs typeface="Courier New" pitchFamily="34" charset="-120"/>
              </a:rPr>
              <a:t>name:</a:t>
            </a:r>
            <a:endParaRPr lang="en-US" sz="800" dirty="0"/>
          </a:p>
        </p:txBody>
      </p:sp>
      <p:sp>
        <p:nvSpPr>
          <p:cNvPr id="53" name="Text 51"/>
          <p:cNvSpPr/>
          <p:nvPr/>
        </p:nvSpPr>
        <p:spPr>
          <a:xfrm>
            <a:off x="1057275" y="5346316"/>
            <a:ext cx="400050" cy="91440"/>
          </a:xfrm>
          <a:prstGeom prst="rect">
            <a:avLst/>
          </a:prstGeom>
          <a:noFill/>
          <a:ln/>
        </p:spPr>
        <p:txBody>
          <a:bodyPr wrap="none" lIns="0" tIns="0" rIns="0" bIns="0" rtlCol="0" anchor="t"/>
          <a:lstStyle/>
          <a:p>
            <a:pPr marL="0" indent="0" algn="l">
              <a:lnSpc>
                <a:spcPts val="1103"/>
              </a:lnSpc>
              <a:buNone/>
            </a:pPr>
            <a:r>
              <a:rPr lang="en-US" sz="800" dirty="0">
                <a:solidFill>
                  <a:srgbClr val="86EFAC"/>
                </a:solidFill>
                <a:latin typeface="Courier New" pitchFamily="34" charset="0"/>
                <a:ea typeface="Courier New" pitchFamily="34" charset="-122"/>
                <a:cs typeface="Courier New" pitchFamily="34" charset="-120"/>
              </a:rPr>
              <a:t>nginx</a:t>
            </a:r>
            <a:endParaRPr lang="en-US" sz="800" dirty="0"/>
          </a:p>
        </p:txBody>
      </p:sp>
      <p:sp>
        <p:nvSpPr>
          <p:cNvPr id="54" name="Text 52"/>
          <p:cNvSpPr/>
          <p:nvPr/>
        </p:nvSpPr>
        <p:spPr>
          <a:xfrm>
            <a:off x="757238" y="5486288"/>
            <a:ext cx="429054" cy="91440"/>
          </a:xfrm>
          <a:prstGeom prst="rect">
            <a:avLst/>
          </a:prstGeom>
          <a:noFill/>
          <a:ln/>
        </p:spPr>
        <p:txBody>
          <a:bodyPr wrap="none" lIns="0" tIns="0" rIns="0" bIns="0" rtlCol="0" anchor="t"/>
          <a:lstStyle/>
          <a:p>
            <a:pPr marL="0" indent="0" algn="l">
              <a:lnSpc>
                <a:spcPts val="1103"/>
              </a:lnSpc>
              <a:buNone/>
            </a:pPr>
            <a:r>
              <a:rPr lang="en-US" sz="800" dirty="0">
                <a:solidFill>
                  <a:srgbClr val="FBA74A"/>
                </a:solidFill>
                <a:latin typeface="Courier New" pitchFamily="34" charset="0"/>
                <a:ea typeface="Courier New" pitchFamily="34" charset="-122"/>
                <a:cs typeface="Courier New" pitchFamily="34" charset="-120"/>
              </a:rPr>
              <a:t>state:</a:t>
            </a:r>
            <a:endParaRPr lang="en-US" sz="800" dirty="0"/>
          </a:p>
        </p:txBody>
      </p:sp>
      <p:sp>
        <p:nvSpPr>
          <p:cNvPr id="55" name="Text 53"/>
          <p:cNvSpPr/>
          <p:nvPr/>
        </p:nvSpPr>
        <p:spPr>
          <a:xfrm>
            <a:off x="1107281" y="5486288"/>
            <a:ext cx="643580" cy="91440"/>
          </a:xfrm>
          <a:prstGeom prst="rect">
            <a:avLst/>
          </a:prstGeom>
          <a:noFill/>
          <a:ln/>
        </p:spPr>
        <p:txBody>
          <a:bodyPr wrap="none" lIns="0" tIns="0" rIns="0" bIns="0" rtlCol="0" anchor="t"/>
          <a:lstStyle/>
          <a:p>
            <a:pPr marL="0" indent="0" algn="l">
              <a:lnSpc>
                <a:spcPts val="1103"/>
              </a:lnSpc>
              <a:buNone/>
            </a:pPr>
            <a:r>
              <a:rPr lang="en-US" sz="800" dirty="0">
                <a:solidFill>
                  <a:srgbClr val="86EFAC"/>
                </a:solidFill>
                <a:latin typeface="Courier New" pitchFamily="34" charset="0"/>
                <a:ea typeface="Courier New" pitchFamily="34" charset="-122"/>
                <a:cs typeface="Courier New" pitchFamily="34" charset="-120"/>
              </a:rPr>
              <a:t>restarted</a:t>
            </a:r>
            <a:endParaRPr lang="en-US" sz="800" dirty="0"/>
          </a:p>
        </p:txBody>
      </p:sp>
      <p:sp>
        <p:nvSpPr>
          <p:cNvPr id="56" name="Text 54"/>
          <p:cNvSpPr/>
          <p:nvPr/>
        </p:nvSpPr>
        <p:spPr>
          <a:xfrm>
            <a:off x="557213" y="5766234"/>
            <a:ext cx="2900363" cy="91440"/>
          </a:xfrm>
          <a:prstGeom prst="rect">
            <a:avLst/>
          </a:prstGeom>
          <a:noFill/>
          <a:ln/>
        </p:spPr>
        <p:txBody>
          <a:bodyPr wrap="none" lIns="0" tIns="0" rIns="0" bIns="0" rtlCol="0" anchor="t"/>
          <a:lstStyle/>
          <a:p>
            <a:pPr marL="0" indent="0" algn="l">
              <a:lnSpc>
                <a:spcPts val="1103"/>
              </a:lnSpc>
              <a:buNone/>
            </a:pPr>
            <a:r>
              <a:rPr lang="en-US" sz="788" b="1" dirty="0">
                <a:solidFill>
                  <a:srgbClr val="F97316"/>
                </a:solidFill>
                <a:latin typeface="Courier New" pitchFamily="34" charset="0"/>
                <a:ea typeface="Courier New" pitchFamily="34" charset="-122"/>
                <a:cs typeface="Courier New" pitchFamily="34" charset="-120"/>
              </a:rPr>
              <a:t># site.yml — compose the role against the webservers group</a:t>
            </a:r>
            <a:endParaRPr lang="en-US" sz="788" dirty="0"/>
          </a:p>
        </p:txBody>
      </p:sp>
      <p:sp>
        <p:nvSpPr>
          <p:cNvPr id="57" name="Text 55"/>
          <p:cNvSpPr/>
          <p:nvPr/>
        </p:nvSpPr>
        <p:spPr>
          <a:xfrm>
            <a:off x="557213" y="5906207"/>
            <a:ext cx="240030" cy="91440"/>
          </a:xfrm>
          <a:prstGeom prst="rect">
            <a:avLst/>
          </a:prstGeom>
          <a:noFill/>
          <a:ln/>
        </p:spPr>
        <p:txBody>
          <a:bodyPr wrap="none" lIns="0" tIns="0" rIns="0" bIns="0" rtlCol="0" anchor="t"/>
          <a:lstStyle/>
          <a:p>
            <a:pPr marL="0" indent="0" algn="l">
              <a:lnSpc>
                <a:spcPts val="1103"/>
              </a:lnSpc>
              <a:buNone/>
            </a:pPr>
            <a:r>
              <a:rPr lang="en-US" sz="800" i="1" dirty="0">
                <a:solidFill>
                  <a:srgbClr val="94A3B8"/>
                </a:solidFill>
                <a:latin typeface="Courier New" pitchFamily="34" charset="0"/>
                <a:ea typeface="Courier New" pitchFamily="34" charset="-122"/>
                <a:cs typeface="Courier New" pitchFamily="34" charset="-120"/>
              </a:rPr>
              <a:t>---</a:t>
            </a:r>
            <a:endParaRPr lang="en-US" sz="800" dirty="0"/>
          </a:p>
        </p:txBody>
      </p:sp>
      <p:sp>
        <p:nvSpPr>
          <p:cNvPr id="58" name="Text 56"/>
          <p:cNvSpPr/>
          <p:nvPr/>
        </p:nvSpPr>
        <p:spPr>
          <a:xfrm>
            <a:off x="657225" y="6046180"/>
            <a:ext cx="400050" cy="91440"/>
          </a:xfrm>
          <a:prstGeom prst="rect">
            <a:avLst/>
          </a:prstGeom>
          <a:noFill/>
          <a:ln/>
        </p:spPr>
        <p:txBody>
          <a:bodyPr wrap="none" lIns="0" tIns="0" rIns="0" bIns="0" rtlCol="0" anchor="t"/>
          <a:lstStyle/>
          <a:p>
            <a:pPr marL="0" indent="0" algn="l">
              <a:lnSpc>
                <a:spcPts val="1103"/>
              </a:lnSpc>
              <a:buNone/>
            </a:pPr>
            <a:r>
              <a:rPr lang="en-US" sz="800" dirty="0">
                <a:solidFill>
                  <a:srgbClr val="FBA74A"/>
                </a:solidFill>
                <a:latin typeface="Courier New" pitchFamily="34" charset="0"/>
                <a:ea typeface="Courier New" pitchFamily="34" charset="-122"/>
                <a:cs typeface="Courier New" pitchFamily="34" charset="-120"/>
              </a:rPr>
              <a:t>name:</a:t>
            </a:r>
            <a:endParaRPr lang="en-US" sz="800" dirty="0"/>
          </a:p>
        </p:txBody>
      </p:sp>
      <p:sp>
        <p:nvSpPr>
          <p:cNvPr id="59" name="Text 57"/>
          <p:cNvSpPr/>
          <p:nvPr/>
        </p:nvSpPr>
        <p:spPr>
          <a:xfrm>
            <a:off x="957263" y="6046180"/>
            <a:ext cx="1620203" cy="91440"/>
          </a:xfrm>
          <a:prstGeom prst="rect">
            <a:avLst/>
          </a:prstGeom>
          <a:noFill/>
          <a:ln/>
        </p:spPr>
        <p:txBody>
          <a:bodyPr wrap="none" lIns="0" tIns="0" rIns="0" bIns="0" rtlCol="0" anchor="t"/>
          <a:lstStyle/>
          <a:p>
            <a:pPr marL="0" indent="0" algn="l">
              <a:lnSpc>
                <a:spcPts val="1103"/>
              </a:lnSpc>
              <a:buNone/>
            </a:pPr>
            <a:r>
              <a:rPr lang="en-US" sz="788" dirty="0">
                <a:solidFill>
                  <a:srgbClr val="86EFAC"/>
                </a:solidFill>
                <a:latin typeface="Courier New" pitchFamily="34" charset="0"/>
                <a:ea typeface="Courier New" pitchFamily="34" charset="-122"/>
                <a:cs typeface="Courier New" pitchFamily="34" charset="-120"/>
              </a:rPr>
              <a:t>Apply nginx role to webservers</a:t>
            </a:r>
            <a:endParaRPr lang="en-US" sz="788" dirty="0"/>
          </a:p>
        </p:txBody>
      </p:sp>
      <p:sp>
        <p:nvSpPr>
          <p:cNvPr id="60" name="Text 58"/>
          <p:cNvSpPr/>
          <p:nvPr/>
        </p:nvSpPr>
        <p:spPr>
          <a:xfrm>
            <a:off x="657225" y="6186153"/>
            <a:ext cx="429054" cy="91440"/>
          </a:xfrm>
          <a:prstGeom prst="rect">
            <a:avLst/>
          </a:prstGeom>
          <a:noFill/>
          <a:ln/>
        </p:spPr>
        <p:txBody>
          <a:bodyPr wrap="none" lIns="0" tIns="0" rIns="0" bIns="0" rtlCol="0" anchor="t"/>
          <a:lstStyle/>
          <a:p>
            <a:pPr marL="0" indent="0" algn="l">
              <a:lnSpc>
                <a:spcPts val="1103"/>
              </a:lnSpc>
              <a:buNone/>
            </a:pPr>
            <a:r>
              <a:rPr lang="en-US" sz="800" dirty="0">
                <a:solidFill>
                  <a:srgbClr val="FBA74A"/>
                </a:solidFill>
                <a:latin typeface="Courier New" pitchFamily="34" charset="0"/>
                <a:ea typeface="Courier New" pitchFamily="34" charset="-122"/>
                <a:cs typeface="Courier New" pitchFamily="34" charset="-120"/>
              </a:rPr>
              <a:t>hosts:</a:t>
            </a:r>
            <a:endParaRPr lang="en-US" sz="800" dirty="0"/>
          </a:p>
        </p:txBody>
      </p:sp>
      <p:sp>
        <p:nvSpPr>
          <p:cNvPr id="61" name="Text 59"/>
          <p:cNvSpPr/>
          <p:nvPr/>
        </p:nvSpPr>
        <p:spPr>
          <a:xfrm>
            <a:off x="990319" y="6186153"/>
            <a:ext cx="658978" cy="91440"/>
          </a:xfrm>
          <a:prstGeom prst="rect">
            <a:avLst/>
          </a:prstGeom>
          <a:noFill/>
          <a:ln/>
        </p:spPr>
        <p:txBody>
          <a:bodyPr wrap="none" lIns="0" tIns="0" rIns="0" bIns="0" rtlCol="0" anchor="t"/>
          <a:lstStyle/>
          <a:p>
            <a:pPr marL="0" indent="0" algn="l">
              <a:lnSpc>
                <a:spcPts val="1103"/>
              </a:lnSpc>
              <a:buNone/>
            </a:pPr>
            <a:r>
              <a:rPr lang="en-US" sz="800" dirty="0">
                <a:solidFill>
                  <a:srgbClr val="86EFAC"/>
                </a:solidFill>
                <a:latin typeface="Courier New" pitchFamily="34" charset="0"/>
                <a:ea typeface="Courier New" pitchFamily="34" charset="-122"/>
                <a:cs typeface="Courier New" pitchFamily="34" charset="-120"/>
              </a:rPr>
              <a:t>webservers</a:t>
            </a:r>
            <a:endParaRPr lang="en-US" sz="800" dirty="0"/>
          </a:p>
        </p:txBody>
      </p:sp>
      <p:sp>
        <p:nvSpPr>
          <p:cNvPr id="62" name="Text 60"/>
          <p:cNvSpPr/>
          <p:nvPr/>
        </p:nvSpPr>
        <p:spPr>
          <a:xfrm>
            <a:off x="657225" y="6326125"/>
            <a:ext cx="500563" cy="91440"/>
          </a:xfrm>
          <a:prstGeom prst="rect">
            <a:avLst/>
          </a:prstGeom>
          <a:noFill/>
          <a:ln/>
        </p:spPr>
        <p:txBody>
          <a:bodyPr wrap="none" lIns="0" tIns="0" rIns="0" bIns="0" rtlCol="0" anchor="t"/>
          <a:lstStyle/>
          <a:p>
            <a:pPr marL="0" indent="0" algn="l">
              <a:lnSpc>
                <a:spcPts val="1103"/>
              </a:lnSpc>
              <a:buNone/>
            </a:pPr>
            <a:r>
              <a:rPr lang="en-US" sz="800" dirty="0">
                <a:solidFill>
                  <a:srgbClr val="FBA74A"/>
                </a:solidFill>
                <a:latin typeface="Courier New" pitchFamily="34" charset="0"/>
                <a:ea typeface="Courier New" pitchFamily="34" charset="-122"/>
                <a:cs typeface="Courier New" pitchFamily="34" charset="-120"/>
              </a:rPr>
              <a:t>become:</a:t>
            </a:r>
            <a:endParaRPr lang="en-US" sz="800" dirty="0"/>
          </a:p>
        </p:txBody>
      </p:sp>
      <p:sp>
        <p:nvSpPr>
          <p:cNvPr id="63" name="Text 61"/>
          <p:cNvSpPr/>
          <p:nvPr/>
        </p:nvSpPr>
        <p:spPr>
          <a:xfrm>
            <a:off x="1057275" y="6326125"/>
            <a:ext cx="240030" cy="91440"/>
          </a:xfrm>
          <a:prstGeom prst="rect">
            <a:avLst/>
          </a:prstGeom>
          <a:noFill/>
          <a:ln/>
        </p:spPr>
        <p:txBody>
          <a:bodyPr wrap="none" lIns="0" tIns="0" rIns="0" bIns="0" rtlCol="0" anchor="t"/>
          <a:lstStyle/>
          <a:p>
            <a:pPr marL="0" indent="0" algn="l">
              <a:lnSpc>
                <a:spcPts val="1103"/>
              </a:lnSpc>
              <a:buNone/>
            </a:pPr>
            <a:r>
              <a:rPr lang="en-US" sz="800" dirty="0">
                <a:solidFill>
                  <a:srgbClr val="93C5FD"/>
                </a:solidFill>
                <a:latin typeface="Courier New" pitchFamily="34" charset="0"/>
                <a:ea typeface="Courier New" pitchFamily="34" charset="-122"/>
                <a:cs typeface="Courier New" pitchFamily="34" charset="-120"/>
              </a:rPr>
              <a:t>yes</a:t>
            </a:r>
            <a:endParaRPr lang="en-US" sz="800" dirty="0"/>
          </a:p>
        </p:txBody>
      </p:sp>
      <p:sp>
        <p:nvSpPr>
          <p:cNvPr id="64" name="Text 62"/>
          <p:cNvSpPr/>
          <p:nvPr/>
        </p:nvSpPr>
        <p:spPr>
          <a:xfrm>
            <a:off x="657225" y="6466098"/>
            <a:ext cx="429054" cy="91440"/>
          </a:xfrm>
          <a:prstGeom prst="rect">
            <a:avLst/>
          </a:prstGeom>
          <a:noFill/>
          <a:ln/>
        </p:spPr>
        <p:txBody>
          <a:bodyPr wrap="none" lIns="0" tIns="0" rIns="0" bIns="0" rtlCol="0" anchor="t"/>
          <a:lstStyle/>
          <a:p>
            <a:pPr marL="0" indent="0" algn="l">
              <a:lnSpc>
                <a:spcPts val="1103"/>
              </a:lnSpc>
              <a:buNone/>
            </a:pPr>
            <a:r>
              <a:rPr lang="en-US" sz="800" dirty="0">
                <a:solidFill>
                  <a:srgbClr val="FBA74A"/>
                </a:solidFill>
                <a:latin typeface="Courier New" pitchFamily="34" charset="0"/>
                <a:ea typeface="Courier New" pitchFamily="34" charset="-122"/>
                <a:cs typeface="Courier New" pitchFamily="34" charset="-120"/>
              </a:rPr>
              <a:t>roles:</a:t>
            </a:r>
            <a:endParaRPr lang="en-US" sz="800" dirty="0"/>
          </a:p>
        </p:txBody>
      </p:sp>
      <p:sp>
        <p:nvSpPr>
          <p:cNvPr id="65" name="Text 63"/>
          <p:cNvSpPr/>
          <p:nvPr/>
        </p:nvSpPr>
        <p:spPr>
          <a:xfrm>
            <a:off x="857250" y="6606071"/>
            <a:ext cx="400050" cy="91440"/>
          </a:xfrm>
          <a:prstGeom prst="rect">
            <a:avLst/>
          </a:prstGeom>
          <a:noFill/>
          <a:ln/>
        </p:spPr>
        <p:txBody>
          <a:bodyPr wrap="none" lIns="0" tIns="0" rIns="0" bIns="0" rtlCol="0" anchor="t"/>
          <a:lstStyle/>
          <a:p>
            <a:pPr marL="0" indent="0" algn="l">
              <a:lnSpc>
                <a:spcPts val="1103"/>
              </a:lnSpc>
              <a:buNone/>
            </a:pPr>
            <a:r>
              <a:rPr lang="en-US" sz="800" dirty="0">
                <a:solidFill>
                  <a:srgbClr val="FBA74A"/>
                </a:solidFill>
                <a:latin typeface="Courier New" pitchFamily="34" charset="0"/>
                <a:ea typeface="Courier New" pitchFamily="34" charset="-122"/>
                <a:cs typeface="Courier New" pitchFamily="34" charset="-120"/>
              </a:rPr>
              <a:t>role:</a:t>
            </a:r>
            <a:endParaRPr lang="en-US" sz="800" dirty="0"/>
          </a:p>
        </p:txBody>
      </p:sp>
      <p:sp>
        <p:nvSpPr>
          <p:cNvPr id="66" name="Text 64"/>
          <p:cNvSpPr/>
          <p:nvPr/>
        </p:nvSpPr>
        <p:spPr>
          <a:xfrm>
            <a:off x="1157288" y="6606071"/>
            <a:ext cx="400050" cy="91440"/>
          </a:xfrm>
          <a:prstGeom prst="rect">
            <a:avLst/>
          </a:prstGeom>
          <a:noFill/>
          <a:ln/>
        </p:spPr>
        <p:txBody>
          <a:bodyPr wrap="none" lIns="0" tIns="0" rIns="0" bIns="0" rtlCol="0" anchor="t"/>
          <a:lstStyle/>
          <a:p>
            <a:pPr marL="0" indent="0" algn="l">
              <a:lnSpc>
                <a:spcPts val="1103"/>
              </a:lnSpc>
              <a:buNone/>
            </a:pPr>
            <a:r>
              <a:rPr lang="en-US" sz="800" dirty="0">
                <a:solidFill>
                  <a:srgbClr val="86EFAC"/>
                </a:solidFill>
                <a:latin typeface="Courier New" pitchFamily="34" charset="0"/>
                <a:ea typeface="Courier New" pitchFamily="34" charset="-122"/>
                <a:cs typeface="Courier New" pitchFamily="34" charset="-120"/>
              </a:rPr>
              <a:t>nginx</a:t>
            </a:r>
            <a:endParaRPr lang="en-US" sz="800" dirty="0"/>
          </a:p>
        </p:txBody>
      </p:sp>
      <p:sp>
        <p:nvSpPr>
          <p:cNvPr id="67" name="Text 65"/>
          <p:cNvSpPr/>
          <p:nvPr/>
        </p:nvSpPr>
        <p:spPr>
          <a:xfrm>
            <a:off x="857250" y="6746044"/>
            <a:ext cx="400050" cy="91440"/>
          </a:xfrm>
          <a:prstGeom prst="rect">
            <a:avLst/>
          </a:prstGeom>
          <a:noFill/>
          <a:ln/>
        </p:spPr>
        <p:txBody>
          <a:bodyPr wrap="none" lIns="0" tIns="0" rIns="0" bIns="0" rtlCol="0" anchor="t"/>
          <a:lstStyle/>
          <a:p>
            <a:pPr marL="0" indent="0" algn="l">
              <a:lnSpc>
                <a:spcPts val="1103"/>
              </a:lnSpc>
              <a:buNone/>
            </a:pPr>
            <a:r>
              <a:rPr lang="en-US" sz="800" dirty="0">
                <a:solidFill>
                  <a:srgbClr val="FBA74A"/>
                </a:solidFill>
                <a:latin typeface="Courier New" pitchFamily="34" charset="0"/>
                <a:ea typeface="Courier New" pitchFamily="34" charset="-122"/>
                <a:cs typeface="Courier New" pitchFamily="34" charset="-120"/>
              </a:rPr>
              <a:t>vars:</a:t>
            </a:r>
            <a:endParaRPr lang="en-US" sz="800" dirty="0"/>
          </a:p>
        </p:txBody>
      </p:sp>
      <p:sp>
        <p:nvSpPr>
          <p:cNvPr id="68" name="Text 66"/>
          <p:cNvSpPr/>
          <p:nvPr/>
        </p:nvSpPr>
        <p:spPr>
          <a:xfrm>
            <a:off x="948788" y="6886017"/>
            <a:ext cx="704535" cy="91440"/>
          </a:xfrm>
          <a:prstGeom prst="rect">
            <a:avLst/>
          </a:prstGeom>
          <a:noFill/>
          <a:ln/>
        </p:spPr>
        <p:txBody>
          <a:bodyPr wrap="none" lIns="0" tIns="0" rIns="0" bIns="0" rtlCol="0" anchor="t"/>
          <a:lstStyle/>
          <a:p>
            <a:pPr marL="0" indent="0" algn="l">
              <a:lnSpc>
                <a:spcPts val="1103"/>
              </a:lnSpc>
              <a:buNone/>
            </a:pPr>
            <a:r>
              <a:rPr lang="en-US" sz="800" dirty="0">
                <a:solidFill>
                  <a:srgbClr val="FBA74A"/>
                </a:solidFill>
                <a:latin typeface="Courier New" pitchFamily="34" charset="0"/>
                <a:ea typeface="Courier New" pitchFamily="34" charset="-122"/>
                <a:cs typeface="Courier New" pitchFamily="34" charset="-120"/>
              </a:rPr>
              <a:t>nginx_port:</a:t>
            </a:r>
            <a:endParaRPr lang="en-US" sz="800" dirty="0"/>
          </a:p>
        </p:txBody>
      </p:sp>
      <p:sp>
        <p:nvSpPr>
          <p:cNvPr id="69" name="Text 67"/>
          <p:cNvSpPr/>
          <p:nvPr/>
        </p:nvSpPr>
        <p:spPr>
          <a:xfrm>
            <a:off x="1550916" y="6886017"/>
            <a:ext cx="332882" cy="91440"/>
          </a:xfrm>
          <a:prstGeom prst="rect">
            <a:avLst/>
          </a:prstGeom>
          <a:noFill/>
          <a:ln/>
        </p:spPr>
        <p:txBody>
          <a:bodyPr wrap="none" lIns="0" tIns="0" rIns="0" bIns="0" rtlCol="0" anchor="t"/>
          <a:lstStyle/>
          <a:p>
            <a:pPr marL="0" indent="0" algn="l">
              <a:lnSpc>
                <a:spcPts val="1103"/>
              </a:lnSpc>
              <a:buNone/>
            </a:pPr>
            <a:r>
              <a:rPr lang="en-US" sz="800" dirty="0">
                <a:solidFill>
                  <a:srgbClr val="93C5FD"/>
                </a:solidFill>
                <a:latin typeface="Liberation Sans Narrow" pitchFamily="34" charset="0"/>
                <a:ea typeface="Liberation Sans Narrow" pitchFamily="34" charset="-122"/>
                <a:cs typeface="Liberation Sans Narrow" pitchFamily="34" charset="-120"/>
              </a:rPr>
              <a:t>8080</a:t>
            </a:r>
            <a:endParaRPr lang="en-US" sz="800" dirty="0"/>
          </a:p>
        </p:txBody>
      </p:sp>
      <p:sp>
        <p:nvSpPr>
          <p:cNvPr id="70" name="Text 68"/>
          <p:cNvSpPr/>
          <p:nvPr/>
        </p:nvSpPr>
        <p:spPr>
          <a:xfrm>
            <a:off x="957263" y="7025990"/>
            <a:ext cx="1242155" cy="91440"/>
          </a:xfrm>
          <a:prstGeom prst="rect">
            <a:avLst/>
          </a:prstGeom>
          <a:noFill/>
          <a:ln/>
        </p:spPr>
        <p:txBody>
          <a:bodyPr wrap="none" lIns="0" tIns="0" rIns="0" bIns="0" rtlCol="0" anchor="t"/>
          <a:lstStyle/>
          <a:p>
            <a:pPr marL="0" indent="0" algn="l">
              <a:lnSpc>
                <a:spcPts val="1103"/>
              </a:lnSpc>
              <a:buNone/>
            </a:pPr>
            <a:r>
              <a:rPr lang="en-US" sz="788" dirty="0">
                <a:solidFill>
                  <a:srgbClr val="FBA74A"/>
                </a:solidFill>
                <a:latin typeface="Courier New" pitchFamily="34" charset="0"/>
                <a:ea typeface="Courier New" pitchFamily="34" charset="-122"/>
                <a:cs typeface="Courier New" pitchFamily="34" charset="-120"/>
              </a:rPr>
              <a:t>nginx_worker_processes:</a:t>
            </a:r>
            <a:endParaRPr lang="en-US" sz="788" dirty="0"/>
          </a:p>
        </p:txBody>
      </p:sp>
      <p:sp>
        <p:nvSpPr>
          <p:cNvPr id="71" name="Text 69"/>
          <p:cNvSpPr/>
          <p:nvPr/>
        </p:nvSpPr>
        <p:spPr>
          <a:xfrm>
            <a:off x="2157413" y="7025990"/>
            <a:ext cx="91440" cy="91440"/>
          </a:xfrm>
          <a:prstGeom prst="rect">
            <a:avLst/>
          </a:prstGeom>
          <a:noFill/>
          <a:ln/>
        </p:spPr>
        <p:txBody>
          <a:bodyPr wrap="none" lIns="0" tIns="0" rIns="0" bIns="0" rtlCol="0" anchor="t"/>
          <a:lstStyle/>
          <a:p>
            <a:pPr marL="0" indent="0" algn="l">
              <a:lnSpc>
                <a:spcPts val="1103"/>
              </a:lnSpc>
              <a:buNone/>
            </a:pPr>
            <a:r>
              <a:rPr lang="en-US" sz="800" dirty="0">
                <a:solidFill>
                  <a:srgbClr val="93C5FD"/>
                </a:solidFill>
                <a:latin typeface="Liberation Sans Narrow" pitchFamily="34" charset="0"/>
                <a:ea typeface="Liberation Sans Narrow" pitchFamily="34" charset="-122"/>
                <a:cs typeface="Liberation Sans Narrow" pitchFamily="34" charset="-120"/>
              </a:rPr>
              <a:t>4</a:t>
            </a:r>
            <a:endParaRPr lang="en-US" sz="800" dirty="0"/>
          </a:p>
        </p:txBody>
      </p:sp>
      <p:sp>
        <p:nvSpPr>
          <p:cNvPr id="72" name="Text 70"/>
          <p:cNvSpPr/>
          <p:nvPr/>
        </p:nvSpPr>
        <p:spPr>
          <a:xfrm>
            <a:off x="403622" y="5189823"/>
            <a:ext cx="8336756" cy="294233"/>
          </a:xfrm>
          <a:prstGeom prst="roundRect">
            <a:avLst>
              <a:gd name="adj" fmla="val 25898"/>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73" name="Text 71"/>
          <p:cNvSpPr/>
          <p:nvPr/>
        </p:nvSpPr>
        <p:spPr>
          <a:xfrm>
            <a:off x="1169901" y="5250545"/>
            <a:ext cx="2343150" cy="172789"/>
          </a:xfrm>
          <a:prstGeom prst="roundRect">
            <a:avLst>
              <a:gd name="adj" fmla="val 22050"/>
            </a:avLst>
          </a:prstGeom>
          <a:solidFill>
            <a:srgbClr val="0F172A"/>
          </a:solidFill>
          <a:ln/>
        </p:spPr>
        <p:txBody>
          <a:bodyPr wrap="square" rtlCol="0" anchor="ctr"/>
          <a:lstStyle/>
          <a:p>
            <a:pPr marL="0" indent="0">
              <a:buNone/>
            </a:pPr>
            <a:endParaRPr lang="en-US" dirty="0"/>
          </a:p>
        </p:txBody>
      </p:sp>
      <p:sp>
        <p:nvSpPr>
          <p:cNvPr id="74" name="Text 72"/>
          <p:cNvSpPr/>
          <p:nvPr/>
        </p:nvSpPr>
        <p:spPr>
          <a:xfrm>
            <a:off x="614438" y="5274097"/>
            <a:ext cx="562530" cy="91440"/>
          </a:xfrm>
          <a:prstGeom prst="rect">
            <a:avLst/>
          </a:prstGeom>
          <a:noFill/>
          <a:ln/>
        </p:spPr>
        <p:txBody>
          <a:bodyPr wrap="none" lIns="0" tIns="0" rIns="0" bIns="0" rtlCol="0" anchor="t"/>
          <a:lstStyle/>
          <a:p>
            <a:pPr marL="0" indent="0" algn="l">
              <a:lnSpc>
                <a:spcPts val="1103"/>
              </a:lnSpc>
              <a:buNone/>
            </a:pPr>
            <a:r>
              <a:rPr lang="en-US" sz="788" dirty="0">
                <a:solidFill>
                  <a:srgbClr val="0F172A"/>
                </a:solidFill>
                <a:latin typeface="Carlito" pitchFamily="34" charset="0"/>
                <a:ea typeface="Carlito" pitchFamily="34" charset="-122"/>
                <a:cs typeface="Carlito" pitchFamily="34" charset="-120"/>
              </a:rPr>
              <a:t>Run with:</a:t>
            </a:r>
            <a:endParaRPr lang="en-US" sz="788" dirty="0"/>
          </a:p>
        </p:txBody>
      </p:sp>
      <p:sp>
        <p:nvSpPr>
          <p:cNvPr id="75" name="Text 73"/>
          <p:cNvSpPr/>
          <p:nvPr/>
        </p:nvSpPr>
        <p:spPr>
          <a:xfrm>
            <a:off x="521494" y="5286933"/>
            <a:ext cx="100013" cy="91440"/>
          </a:xfrm>
          <a:prstGeom prst="rect">
            <a:avLst/>
          </a:prstGeom>
          <a:noFill/>
          <a:ln/>
        </p:spPr>
        <p:txBody>
          <a:bodyPr wrap="none" lIns="0" tIns="0" rIns="0" bIns="0" rtlCol="0" anchor="ctr"/>
          <a:lstStyle/>
          <a:p>
            <a:pPr marL="0" indent="0" algn="ctr">
              <a:buNone/>
            </a:pPr>
            <a:r>
              <a:rPr lang="en-US" sz="984" dirty="0">
                <a:solidFill>
                  <a:srgbClr val="F97316"/>
                </a:solidFill>
                <a:latin typeface="Segoe UI Symbol" pitchFamily="34" charset="0"/>
                <a:ea typeface="Segoe UI Symbol" pitchFamily="34" charset="-122"/>
                <a:cs typeface="Segoe UI Symbol" pitchFamily="34" charset="-120"/>
              </a:rPr>
              <a:t>✦</a:t>
            </a:r>
            <a:endParaRPr lang="en-US" sz="984" dirty="0"/>
          </a:p>
        </p:txBody>
      </p:sp>
      <p:sp>
        <p:nvSpPr>
          <p:cNvPr id="76" name="Text 74"/>
          <p:cNvSpPr/>
          <p:nvPr/>
        </p:nvSpPr>
        <p:spPr>
          <a:xfrm>
            <a:off x="1169901" y="5250545"/>
            <a:ext cx="2343150" cy="172789"/>
          </a:xfrm>
          <a:prstGeom prst="roundRect">
            <a:avLst>
              <a:gd name="adj" fmla="val 22050"/>
            </a:avLst>
          </a:prstGeom>
          <a:solidFill>
            <a:srgbClr val="0F172A"/>
          </a:solidFill>
          <a:ln/>
        </p:spPr>
        <p:txBody>
          <a:bodyPr wrap="square" rtlCol="0" anchor="ctr"/>
          <a:lstStyle/>
          <a:p>
            <a:pPr marL="0" indent="0">
              <a:buNone/>
            </a:pPr>
            <a:endParaRPr lang="en-US" dirty="0"/>
          </a:p>
        </p:txBody>
      </p:sp>
      <p:sp>
        <p:nvSpPr>
          <p:cNvPr id="77" name="Text 75"/>
          <p:cNvSpPr/>
          <p:nvPr/>
        </p:nvSpPr>
        <p:spPr>
          <a:xfrm>
            <a:off x="1169901" y="5250545"/>
            <a:ext cx="7452606" cy="91440"/>
          </a:xfrm>
          <a:prstGeom prst="rect">
            <a:avLst/>
          </a:prstGeom>
          <a:noFill/>
          <a:ln/>
        </p:spPr>
        <p:txBody>
          <a:bodyPr wrap="square" lIns="57150" tIns="21431" rIns="57150" bIns="21431" rtlCol="0" anchor="t"/>
          <a:lstStyle/>
          <a:p>
            <a:pPr marL="0" indent="0" algn="l">
              <a:lnSpc>
                <a:spcPts val="1024"/>
              </a:lnSpc>
              <a:buNone/>
            </a:pPr>
            <a:r>
              <a:rPr lang="en-US" sz="800" dirty="0">
                <a:solidFill>
                  <a:srgbClr val="FBA74A"/>
                </a:solidFill>
                <a:latin typeface="Courier New" pitchFamily="34" charset="0"/>
                <a:ea typeface="Courier New" pitchFamily="34" charset="-122"/>
                <a:cs typeface="Courier New" pitchFamily="34" charset="-120"/>
              </a:rPr>
              <a:t>ansible-playbook -i inventory/hosts.ini site.yml</a:t>
            </a:r>
            <a:endParaRPr lang="en-US" sz="8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28625" y="342900"/>
            <a:ext cx="4285134" cy="356348"/>
          </a:xfrm>
          <a:prstGeom prst="rect">
            <a:avLst/>
          </a:prstGeom>
          <a:noFill/>
          <a:ln/>
        </p:spPr>
        <p:txBody>
          <a:bodyPr wrap="square" lIns="0" tIns="0" rIns="0" bIns="0" rtlCol="0" anchor="t"/>
          <a:lstStyle/>
          <a:p>
            <a:pPr marL="0" indent="0" algn="l">
              <a:lnSpc>
                <a:spcPts val="2599"/>
              </a:lnSpc>
              <a:buNone/>
            </a:pPr>
            <a:r>
              <a:rPr lang="en-US" sz="2363" b="1" dirty="0">
                <a:solidFill>
                  <a:srgbClr val="0F172A"/>
                </a:solidFill>
                <a:latin typeface="Carlito" pitchFamily="34" charset="0"/>
                <a:ea typeface="Carlito" pitchFamily="34" charset="-122"/>
                <a:cs typeface="Carlito" pitchFamily="34" charset="-120"/>
              </a:rPr>
              <a:t>Handlers — Triggered Actions</a:t>
            </a:r>
            <a:endParaRPr lang="en-US" sz="2363" dirty="0"/>
          </a:p>
        </p:txBody>
      </p:sp>
      <p:sp>
        <p:nvSpPr>
          <p:cNvPr id="3" name="Text 1"/>
          <p:cNvSpPr/>
          <p:nvPr/>
        </p:nvSpPr>
        <p:spPr>
          <a:xfrm>
            <a:off x="428625" y="758577"/>
            <a:ext cx="571500" cy="42863"/>
          </a:xfrm>
          <a:prstGeom prst="roundRect">
            <a:avLst>
              <a:gd name="adj" fmla="val 66666"/>
            </a:avLst>
          </a:prstGeom>
          <a:solidFill>
            <a:srgbClr val="F97316"/>
          </a:solidFill>
          <a:ln/>
        </p:spPr>
        <p:txBody>
          <a:bodyPr wrap="square" rtlCol="0" anchor="ctr"/>
          <a:lstStyle/>
          <a:p>
            <a:pPr marL="0" indent="0">
              <a:buNone/>
            </a:pPr>
            <a:endParaRPr lang="en-US" dirty="0"/>
          </a:p>
        </p:txBody>
      </p:sp>
      <p:sp>
        <p:nvSpPr>
          <p:cNvPr id="4" name="Text 2"/>
          <p:cNvSpPr/>
          <p:nvPr/>
        </p:nvSpPr>
        <p:spPr>
          <a:xfrm>
            <a:off x="7485221" y="330098"/>
            <a:ext cx="1253014" cy="331333"/>
          </a:xfrm>
          <a:prstGeom prst="roundRect">
            <a:avLst>
              <a:gd name="adj" fmla="val 2871877"/>
            </a:avLst>
          </a:prstGeom>
          <a:solidFill>
            <a:srgbClr val="0F172A"/>
          </a:solidFill>
          <a:ln/>
        </p:spPr>
        <p:txBody>
          <a:bodyPr wrap="square" rtlCol="0" anchor="ctr"/>
          <a:lstStyle/>
          <a:p>
            <a:pPr marL="0" indent="0">
              <a:buNone/>
            </a:pPr>
            <a:endParaRPr lang="en-US" dirty="0"/>
          </a:p>
        </p:txBody>
      </p:sp>
      <p:sp>
        <p:nvSpPr>
          <p:cNvPr id="5" name="Text 3"/>
          <p:cNvSpPr/>
          <p:nvPr/>
        </p:nvSpPr>
        <p:spPr>
          <a:xfrm>
            <a:off x="7480579" y="342900"/>
            <a:ext cx="1262298" cy="305730"/>
          </a:xfrm>
          <a:prstGeom prst="rect">
            <a:avLst/>
          </a:prstGeom>
          <a:noFill/>
          <a:ln/>
        </p:spPr>
        <p:txBody>
          <a:bodyPr wrap="none" lIns="0" tIns="0" rIns="0" bIns="0" rtlCol="0" anchor="ctr"/>
          <a:lstStyle/>
          <a:p>
            <a:pPr marL="0" indent="0" algn="ctr">
              <a:lnSpc>
                <a:spcPts val="1733"/>
              </a:lnSpc>
              <a:buNone/>
            </a:pPr>
            <a:r>
              <a:rPr lang="en-US" sz="1238" b="1" kern="0" spc="28" dirty="0">
                <a:solidFill>
                  <a:srgbClr val="FFFFFF"/>
                </a:solidFill>
                <a:latin typeface="Liberation Sans Narrow" pitchFamily="34" charset="0"/>
                <a:ea typeface="Liberation Sans Narrow" pitchFamily="34" charset="-122"/>
                <a:cs typeface="Liberation Sans Narrow" pitchFamily="34" charset="-120"/>
              </a:rPr>
              <a:t>02 · Handlers</a:t>
            </a:r>
            <a:endParaRPr lang="en-US" sz="1238" dirty="0"/>
          </a:p>
        </p:txBody>
      </p:sp>
      <p:sp>
        <p:nvSpPr>
          <p:cNvPr id="6" name="Text 4"/>
          <p:cNvSpPr/>
          <p:nvPr/>
        </p:nvSpPr>
        <p:spPr>
          <a:xfrm>
            <a:off x="642938" y="944314"/>
            <a:ext cx="7858125" cy="532571"/>
          </a:xfrm>
          <a:prstGeom prst="rect">
            <a:avLst/>
          </a:prstGeom>
          <a:noFill/>
          <a:ln/>
        </p:spPr>
        <p:txBody>
          <a:bodyPr wrap="square" lIns="0" tIns="0" rIns="0" bIns="0" rtlCol="0" anchor="t">
            <a:normAutofit/>
          </a:bodyPr>
          <a:lstStyle/>
          <a:p>
            <a:pPr marL="0" indent="0" algn="ctr">
              <a:lnSpc>
                <a:spcPts val="2047"/>
              </a:lnSpc>
              <a:buNone/>
            </a:pPr>
            <a:r>
              <a:rPr lang="en-US" sz="1575" b="1" kern="0" spc="-17" dirty="0">
                <a:solidFill>
                  <a:srgbClr val="F97316"/>
                </a:solidFill>
                <a:latin typeface="Segoe UI Symbol" pitchFamily="34" charset="0"/>
                <a:ea typeface="Segoe UI Symbol" pitchFamily="34" charset="-122"/>
                <a:cs typeface="Segoe UI Symbol" pitchFamily="34" charset="-120"/>
              </a:rPr>
              <a:t>◔</a:t>
            </a:r>
            <a:r>
              <a:rPr lang="en-US" sz="1575" b="1" kern="0" spc="-17" dirty="0">
                <a:solidFill>
                  <a:srgbClr val="0F172A"/>
                </a:solidFill>
                <a:latin typeface="Carlito" pitchFamily="34" charset="0"/>
                <a:ea typeface="Carlito" pitchFamily="34" charset="-122"/>
                <a:cs typeface="Carlito" pitchFamily="34" charset="-120"/>
              </a:rPr>
              <a:t> Handlers are tasks that run </a:t>
            </a:r>
            <a:r>
              <a:rPr lang="en-US" sz="1575" b="1" kern="0" spc="-17" dirty="0">
                <a:solidFill>
                  <a:srgbClr val="F97316"/>
                </a:solidFill>
                <a:latin typeface="Carlito" pitchFamily="34" charset="0"/>
                <a:ea typeface="Carlito" pitchFamily="34" charset="-122"/>
                <a:cs typeface="Carlito" pitchFamily="34" charset="-120"/>
              </a:rPr>
              <a:t>ONLY when notified</a:t>
            </a:r>
            <a:r>
              <a:rPr lang="en-US" sz="1575" b="1" kern="0" spc="-17" dirty="0">
                <a:solidFill>
                  <a:srgbClr val="0F172A"/>
                </a:solidFill>
                <a:latin typeface="Carlito" pitchFamily="34" charset="0"/>
                <a:ea typeface="Carlito" pitchFamily="34" charset="-122"/>
                <a:cs typeface="Carlito" pitchFamily="34" charset="-120"/>
              </a:rPr>
              <a:t> by another task — and only at the </a:t>
            </a:r>
            <a:r>
              <a:rPr lang="en-US" sz="1575" b="1" kern="0" spc="-17" dirty="0">
                <a:solidFill>
                  <a:srgbClr val="F97316"/>
                </a:solidFill>
                <a:latin typeface="Carlito" pitchFamily="34" charset="0"/>
                <a:ea typeface="Carlito" pitchFamily="34" charset="-122"/>
                <a:cs typeface="Carlito" pitchFamily="34" charset="-120"/>
              </a:rPr>
              <a:t>END of a play</a:t>
            </a:r>
            <a:r>
              <a:rPr lang="en-US" sz="1575" b="1" kern="0" spc="-17" dirty="0">
                <a:solidFill>
                  <a:srgbClr val="0F172A"/>
                </a:solidFill>
                <a:latin typeface="Carlito" pitchFamily="34" charset="0"/>
                <a:ea typeface="Carlito" pitchFamily="34" charset="-122"/>
                <a:cs typeface="Carlito" pitchFamily="34" charset="-120"/>
              </a:rPr>
              <a:t>.</a:t>
            </a:r>
            <a:endParaRPr lang="en-US" sz="1575" dirty="0"/>
          </a:p>
        </p:txBody>
      </p:sp>
      <p:sp>
        <p:nvSpPr>
          <p:cNvPr id="7" name="Text 5"/>
          <p:cNvSpPr/>
          <p:nvPr/>
        </p:nvSpPr>
        <p:spPr>
          <a:xfrm>
            <a:off x="2436019" y="1493689"/>
            <a:ext cx="842963" cy="198400"/>
          </a:xfrm>
          <a:prstGeom prst="roundRect">
            <a:avLst>
              <a:gd name="adj" fmla="val 28805"/>
            </a:avLst>
          </a:prstGeom>
          <a:solidFill>
            <a:srgbClr val="F1F5F9"/>
          </a:solidFill>
          <a:ln/>
        </p:spPr>
        <p:txBody>
          <a:bodyPr wrap="square" rtlCol="0" anchor="ctr"/>
          <a:lstStyle/>
          <a:p>
            <a:pPr marL="0" indent="0">
              <a:buNone/>
            </a:pPr>
            <a:endParaRPr lang="en-US" dirty="0"/>
          </a:p>
        </p:txBody>
      </p:sp>
      <p:sp>
        <p:nvSpPr>
          <p:cNvPr id="8" name="Text 6"/>
          <p:cNvSpPr/>
          <p:nvPr/>
        </p:nvSpPr>
        <p:spPr>
          <a:xfrm>
            <a:off x="2436019" y="1504317"/>
            <a:ext cx="842963" cy="177143"/>
          </a:xfrm>
          <a:prstGeom prst="rect">
            <a:avLst/>
          </a:prstGeom>
          <a:noFill/>
          <a:ln/>
        </p:spPr>
        <p:txBody>
          <a:bodyPr wrap="none" lIns="0" tIns="0" rIns="0" bIns="0" rtlCol="0" anchor="ctr"/>
          <a:lstStyle/>
          <a:p>
            <a:pPr marL="0" indent="0" algn="ctr">
              <a:lnSpc>
                <a:spcPts val="945"/>
              </a:lnSpc>
              <a:buNone/>
            </a:pPr>
            <a:r>
              <a:rPr lang="en-US" sz="800" dirty="0">
                <a:solidFill>
                  <a:srgbClr val="0F172A"/>
                </a:solidFill>
                <a:latin typeface="Courier New" pitchFamily="34" charset="0"/>
                <a:ea typeface="Courier New" pitchFamily="34" charset="-122"/>
                <a:cs typeface="Courier New" pitchFamily="34" charset="-120"/>
              </a:rPr>
              <a:t>Task changes file</a:t>
            </a:r>
            <a:endParaRPr lang="en-US" sz="800" dirty="0"/>
          </a:p>
        </p:txBody>
      </p:sp>
      <p:sp>
        <p:nvSpPr>
          <p:cNvPr id="9" name="Text 7"/>
          <p:cNvSpPr/>
          <p:nvPr/>
        </p:nvSpPr>
        <p:spPr>
          <a:xfrm>
            <a:off x="3321844" y="1542827"/>
            <a:ext cx="100013" cy="100013"/>
          </a:xfrm>
          <a:prstGeom prst="rect">
            <a:avLst/>
          </a:prstGeom>
          <a:noFill/>
          <a:ln/>
        </p:spPr>
        <p:txBody>
          <a:bodyPr wrap="none" lIns="0" tIns="0" rIns="0" bIns="0" rtlCol="0" anchor="ctr"/>
          <a:lstStyle/>
          <a:p>
            <a:pPr marL="0" indent="0" algn="ctr">
              <a:buNone/>
            </a:pPr>
            <a:r>
              <a:rPr lang="en-US" sz="984" dirty="0">
                <a:solidFill>
                  <a:srgbClr val="F97316"/>
                </a:solidFill>
                <a:latin typeface="Segoe UI Symbol" pitchFamily="34" charset="0"/>
                <a:ea typeface="Segoe UI Symbol" pitchFamily="34" charset="-122"/>
                <a:cs typeface="Segoe UI Symbol" pitchFamily="34" charset="-120"/>
              </a:rPr>
              <a:t>→</a:t>
            </a:r>
            <a:endParaRPr lang="en-US" sz="984" dirty="0"/>
          </a:p>
        </p:txBody>
      </p:sp>
      <p:sp>
        <p:nvSpPr>
          <p:cNvPr id="10" name="Text 8"/>
          <p:cNvSpPr/>
          <p:nvPr/>
        </p:nvSpPr>
        <p:spPr>
          <a:xfrm>
            <a:off x="3464719" y="1493689"/>
            <a:ext cx="1014413" cy="198400"/>
          </a:xfrm>
          <a:prstGeom prst="roundRect">
            <a:avLst>
              <a:gd name="adj" fmla="val 28805"/>
            </a:avLst>
          </a:prstGeom>
          <a:solidFill>
            <a:srgbClr val="F1F5F9"/>
          </a:solidFill>
          <a:ln/>
        </p:spPr>
        <p:txBody>
          <a:bodyPr wrap="square" rtlCol="0" anchor="ctr"/>
          <a:lstStyle/>
          <a:p>
            <a:pPr marL="0" indent="0">
              <a:buNone/>
            </a:pPr>
            <a:endParaRPr lang="en-US" dirty="0"/>
          </a:p>
        </p:txBody>
      </p:sp>
      <p:sp>
        <p:nvSpPr>
          <p:cNvPr id="11" name="Text 9"/>
          <p:cNvSpPr/>
          <p:nvPr/>
        </p:nvSpPr>
        <p:spPr>
          <a:xfrm>
            <a:off x="3464719" y="1504317"/>
            <a:ext cx="1014413" cy="177143"/>
          </a:xfrm>
          <a:prstGeom prst="rect">
            <a:avLst/>
          </a:prstGeom>
          <a:noFill/>
          <a:ln/>
        </p:spPr>
        <p:txBody>
          <a:bodyPr wrap="none" lIns="0" tIns="0" rIns="0" bIns="0" rtlCol="0" anchor="ctr"/>
          <a:lstStyle/>
          <a:p>
            <a:pPr marL="0" indent="0" algn="ctr">
              <a:lnSpc>
                <a:spcPts val="945"/>
              </a:lnSpc>
              <a:buNone/>
            </a:pPr>
            <a:r>
              <a:rPr lang="en-US" sz="800" dirty="0">
                <a:solidFill>
                  <a:srgbClr val="0F172A"/>
                </a:solidFill>
                <a:latin typeface="Courier New" pitchFamily="34" charset="0"/>
                <a:ea typeface="Courier New" pitchFamily="34" charset="-122"/>
                <a:cs typeface="Courier New" pitchFamily="34" charset="-120"/>
              </a:rPr>
              <a:t>notify: restart nginx</a:t>
            </a:r>
            <a:endParaRPr lang="en-US" sz="800" dirty="0"/>
          </a:p>
        </p:txBody>
      </p:sp>
      <p:sp>
        <p:nvSpPr>
          <p:cNvPr id="12" name="Text 10"/>
          <p:cNvSpPr/>
          <p:nvPr/>
        </p:nvSpPr>
        <p:spPr>
          <a:xfrm>
            <a:off x="4521994" y="1542827"/>
            <a:ext cx="100013" cy="100013"/>
          </a:xfrm>
          <a:prstGeom prst="rect">
            <a:avLst/>
          </a:prstGeom>
          <a:noFill/>
          <a:ln/>
        </p:spPr>
        <p:txBody>
          <a:bodyPr wrap="none" lIns="0" tIns="0" rIns="0" bIns="0" rtlCol="0" anchor="ctr"/>
          <a:lstStyle/>
          <a:p>
            <a:pPr marL="0" indent="0" algn="ctr">
              <a:buNone/>
            </a:pPr>
            <a:r>
              <a:rPr lang="en-US" sz="984" dirty="0">
                <a:solidFill>
                  <a:srgbClr val="F97316"/>
                </a:solidFill>
                <a:latin typeface="Segoe UI Symbol" pitchFamily="34" charset="0"/>
                <a:ea typeface="Segoe UI Symbol" pitchFamily="34" charset="-122"/>
                <a:cs typeface="Segoe UI Symbol" pitchFamily="34" charset="-120"/>
              </a:rPr>
              <a:t>→</a:t>
            </a:r>
            <a:endParaRPr lang="en-US" sz="984" dirty="0"/>
          </a:p>
        </p:txBody>
      </p:sp>
      <p:sp>
        <p:nvSpPr>
          <p:cNvPr id="13" name="Text 11"/>
          <p:cNvSpPr/>
          <p:nvPr/>
        </p:nvSpPr>
        <p:spPr>
          <a:xfrm>
            <a:off x="4664869" y="1493689"/>
            <a:ext cx="714375" cy="198400"/>
          </a:xfrm>
          <a:prstGeom prst="roundRect">
            <a:avLst>
              <a:gd name="adj" fmla="val 28805"/>
            </a:avLst>
          </a:prstGeom>
          <a:solidFill>
            <a:srgbClr val="F1F5F9"/>
          </a:solidFill>
          <a:ln/>
        </p:spPr>
        <p:txBody>
          <a:bodyPr wrap="square" rtlCol="0" anchor="ctr"/>
          <a:lstStyle/>
          <a:p>
            <a:pPr marL="0" indent="0">
              <a:buNone/>
            </a:pPr>
            <a:endParaRPr lang="en-US" dirty="0"/>
          </a:p>
        </p:txBody>
      </p:sp>
      <p:sp>
        <p:nvSpPr>
          <p:cNvPr id="14" name="Text 12"/>
          <p:cNvSpPr/>
          <p:nvPr/>
        </p:nvSpPr>
        <p:spPr>
          <a:xfrm>
            <a:off x="4664869" y="1504317"/>
            <a:ext cx="714375" cy="177143"/>
          </a:xfrm>
          <a:prstGeom prst="rect">
            <a:avLst/>
          </a:prstGeom>
          <a:noFill/>
          <a:ln/>
        </p:spPr>
        <p:txBody>
          <a:bodyPr wrap="none" lIns="0" tIns="0" rIns="0" bIns="0" rtlCol="0" anchor="ctr"/>
          <a:lstStyle/>
          <a:p>
            <a:pPr marL="0" indent="0" algn="ctr">
              <a:lnSpc>
                <a:spcPts val="945"/>
              </a:lnSpc>
              <a:buNone/>
            </a:pPr>
            <a:r>
              <a:rPr lang="en-US" sz="800" dirty="0">
                <a:solidFill>
                  <a:srgbClr val="0F172A"/>
                </a:solidFill>
                <a:latin typeface="Courier New" pitchFamily="34" charset="0"/>
                <a:ea typeface="Courier New" pitchFamily="34" charset="-122"/>
                <a:cs typeface="Courier New" pitchFamily="34" charset="-120"/>
              </a:rPr>
              <a:t>Handler queued</a:t>
            </a:r>
            <a:endParaRPr lang="en-US" sz="800" dirty="0"/>
          </a:p>
        </p:txBody>
      </p:sp>
      <p:sp>
        <p:nvSpPr>
          <p:cNvPr id="15" name="Text 13"/>
          <p:cNvSpPr/>
          <p:nvPr/>
        </p:nvSpPr>
        <p:spPr>
          <a:xfrm>
            <a:off x="5422106" y="1542827"/>
            <a:ext cx="100013" cy="100013"/>
          </a:xfrm>
          <a:prstGeom prst="rect">
            <a:avLst/>
          </a:prstGeom>
          <a:noFill/>
          <a:ln/>
        </p:spPr>
        <p:txBody>
          <a:bodyPr wrap="none" lIns="0" tIns="0" rIns="0" bIns="0" rtlCol="0" anchor="ctr"/>
          <a:lstStyle/>
          <a:p>
            <a:pPr marL="0" indent="0" algn="ctr">
              <a:buNone/>
            </a:pPr>
            <a:r>
              <a:rPr lang="en-US" sz="984" dirty="0">
                <a:solidFill>
                  <a:srgbClr val="F97316"/>
                </a:solidFill>
                <a:latin typeface="Segoe UI Symbol" pitchFamily="34" charset="0"/>
                <a:ea typeface="Segoe UI Symbol" pitchFamily="34" charset="-122"/>
                <a:cs typeface="Segoe UI Symbol" pitchFamily="34" charset="-120"/>
              </a:rPr>
              <a:t>→</a:t>
            </a:r>
            <a:endParaRPr lang="en-US" sz="984" dirty="0"/>
          </a:p>
        </p:txBody>
      </p:sp>
      <p:sp>
        <p:nvSpPr>
          <p:cNvPr id="16" name="Text 14"/>
          <p:cNvSpPr/>
          <p:nvPr/>
        </p:nvSpPr>
        <p:spPr>
          <a:xfrm>
            <a:off x="5564981" y="1493689"/>
            <a:ext cx="1143000" cy="198400"/>
          </a:xfrm>
          <a:prstGeom prst="roundRect">
            <a:avLst>
              <a:gd name="adj" fmla="val 28805"/>
            </a:avLst>
          </a:prstGeom>
          <a:solidFill>
            <a:srgbClr val="F97316"/>
          </a:solidFill>
          <a:ln/>
        </p:spPr>
        <p:txBody>
          <a:bodyPr wrap="square" rtlCol="0" anchor="ctr"/>
          <a:lstStyle/>
          <a:p>
            <a:pPr marL="0" indent="0">
              <a:buNone/>
            </a:pPr>
            <a:endParaRPr lang="en-US" dirty="0"/>
          </a:p>
        </p:txBody>
      </p:sp>
      <p:sp>
        <p:nvSpPr>
          <p:cNvPr id="17" name="Text 15"/>
          <p:cNvSpPr/>
          <p:nvPr/>
        </p:nvSpPr>
        <p:spPr>
          <a:xfrm>
            <a:off x="5564981" y="1504317"/>
            <a:ext cx="1143000" cy="177143"/>
          </a:xfrm>
          <a:prstGeom prst="rect">
            <a:avLst/>
          </a:prstGeom>
          <a:noFill/>
          <a:ln/>
        </p:spPr>
        <p:txBody>
          <a:bodyPr wrap="none" lIns="0" tIns="0" rIns="0" bIns="0" rtlCol="0" anchor="ctr"/>
          <a:lstStyle/>
          <a:p>
            <a:pPr marL="0" indent="0" algn="ctr">
              <a:lnSpc>
                <a:spcPts val="945"/>
              </a:lnSpc>
              <a:buNone/>
            </a:pPr>
            <a:r>
              <a:rPr lang="en-US" sz="800" dirty="0">
                <a:solidFill>
                  <a:srgbClr val="FFFFFF"/>
                </a:solidFill>
                <a:latin typeface="Courier New" pitchFamily="34" charset="0"/>
                <a:ea typeface="Courier New" pitchFamily="34" charset="-122"/>
                <a:cs typeface="Courier New" pitchFamily="34" charset="-120"/>
              </a:rPr>
              <a:t>End of play → runs ONCE</a:t>
            </a:r>
            <a:endParaRPr lang="en-US" sz="800" dirty="0"/>
          </a:p>
        </p:txBody>
      </p:sp>
      <p:sp>
        <p:nvSpPr>
          <p:cNvPr id="18" name="Text 16"/>
          <p:cNvSpPr/>
          <p:nvPr/>
        </p:nvSpPr>
        <p:spPr>
          <a:xfrm>
            <a:off x="432197" y="1799332"/>
            <a:ext cx="2678906" cy="1114425"/>
          </a:xfrm>
          <a:prstGeom prst="roundRect">
            <a:avLst>
              <a:gd name="adj" fmla="val 11966"/>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19" name="Text 17"/>
          <p:cNvSpPr/>
          <p:nvPr/>
        </p:nvSpPr>
        <p:spPr>
          <a:xfrm>
            <a:off x="817364" y="1924348"/>
            <a:ext cx="1171146" cy="192881"/>
          </a:xfrm>
          <a:prstGeom prst="rect">
            <a:avLst/>
          </a:prstGeom>
          <a:noFill/>
          <a:ln/>
        </p:spPr>
        <p:txBody>
          <a:bodyPr wrap="none" lIns="0" tIns="0" rIns="0" bIns="0" rtlCol="0" anchor="t"/>
          <a:lstStyle/>
          <a:p>
            <a:pPr marL="0" indent="0" algn="l">
              <a:lnSpc>
                <a:spcPts val="1575"/>
              </a:lnSpc>
              <a:buNone/>
            </a:pPr>
            <a:r>
              <a:rPr lang="en-US" sz="1125" b="1" dirty="0">
                <a:solidFill>
                  <a:srgbClr val="0F172A"/>
                </a:solidFill>
                <a:latin typeface="Carlito" pitchFamily="34" charset="0"/>
                <a:ea typeface="Carlito" pitchFamily="34" charset="-122"/>
                <a:cs typeface="Carlito" pitchFamily="34" charset="-120"/>
              </a:rPr>
              <a:t>Why Handlers?</a:t>
            </a:r>
            <a:endParaRPr lang="en-US" sz="1125" dirty="0"/>
          </a:p>
        </p:txBody>
      </p:sp>
      <p:sp>
        <p:nvSpPr>
          <p:cNvPr id="20" name="Text 18"/>
          <p:cNvSpPr/>
          <p:nvPr/>
        </p:nvSpPr>
        <p:spPr>
          <a:xfrm>
            <a:off x="578644" y="1931491"/>
            <a:ext cx="171450" cy="171450"/>
          </a:xfrm>
          <a:prstGeom prst="rect">
            <a:avLst/>
          </a:prstGeom>
          <a:noFill/>
          <a:ln/>
        </p:spPr>
        <p:txBody>
          <a:bodyPr wrap="none" lIns="0" tIns="0" rIns="0" bIns="0" rtlCol="0" anchor="ctr"/>
          <a:lstStyle/>
          <a:p>
            <a:pPr marL="0" indent="0" algn="ctr">
              <a:buNone/>
            </a:pPr>
            <a:r>
              <a:rPr lang="en-US" sz="1688" dirty="0">
                <a:solidFill>
                  <a:srgbClr val="F97316"/>
                </a:solidFill>
                <a:latin typeface="Segoe UI Symbol" pitchFamily="34" charset="0"/>
                <a:ea typeface="Segoe UI Symbol" pitchFamily="34" charset="-122"/>
                <a:cs typeface="Segoe UI Symbol" pitchFamily="34" charset="-120"/>
              </a:rPr>
              <a:t>?</a:t>
            </a:r>
            <a:endParaRPr lang="en-US" sz="1688" dirty="0"/>
          </a:p>
        </p:txBody>
      </p:sp>
      <p:sp>
        <p:nvSpPr>
          <p:cNvPr id="21" name="Text 19"/>
          <p:cNvSpPr/>
          <p:nvPr/>
        </p:nvSpPr>
        <p:spPr>
          <a:xfrm>
            <a:off x="578644" y="2174379"/>
            <a:ext cx="2386013" cy="621506"/>
          </a:xfrm>
          <a:prstGeom prst="rect">
            <a:avLst/>
          </a:prstGeom>
          <a:noFill/>
          <a:ln/>
        </p:spPr>
        <p:txBody>
          <a:bodyPr wrap="square" lIns="0" tIns="0" rIns="0" bIns="0" rtlCol="0" anchor="t"/>
          <a:lstStyle/>
          <a:p>
            <a:pPr marL="0" indent="0" algn="l">
              <a:lnSpc>
                <a:spcPts val="1223"/>
              </a:lnSpc>
              <a:buNone/>
            </a:pPr>
            <a:r>
              <a:rPr lang="en-US" sz="844" dirty="0">
                <a:solidFill>
                  <a:srgbClr val="334155"/>
                </a:solidFill>
                <a:latin typeface="Carlito" pitchFamily="34" charset="0"/>
                <a:ea typeface="Carlito" pitchFamily="34" charset="-122"/>
                <a:cs typeface="Carlito" pitchFamily="34" charset="-120"/>
              </a:rPr>
              <a:t>Config file changes should restart the service. But restarting 10 times in one play (one per config file) is wasteful. </a:t>
            </a:r>
            <a:r>
              <a:rPr lang="en-US" sz="844" b="1" dirty="0">
                <a:solidFill>
                  <a:srgbClr val="0F172A"/>
                </a:solidFill>
                <a:latin typeface="Carlito" pitchFamily="34" charset="0"/>
                <a:ea typeface="Carlito" pitchFamily="34" charset="-122"/>
                <a:cs typeface="Carlito" pitchFamily="34" charset="-120"/>
              </a:rPr>
              <a:t>Handlers batch: restart once, at the end.</a:t>
            </a:r>
            <a:endParaRPr lang="en-US" sz="844" dirty="0"/>
          </a:p>
        </p:txBody>
      </p:sp>
      <p:sp>
        <p:nvSpPr>
          <p:cNvPr id="22" name="Text 20"/>
          <p:cNvSpPr/>
          <p:nvPr/>
        </p:nvSpPr>
        <p:spPr>
          <a:xfrm>
            <a:off x="3232547" y="1799332"/>
            <a:ext cx="2678906" cy="1114425"/>
          </a:xfrm>
          <a:prstGeom prst="roundRect">
            <a:avLst>
              <a:gd name="adj" fmla="val 11966"/>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23" name="Text 21"/>
          <p:cNvSpPr/>
          <p:nvPr/>
        </p:nvSpPr>
        <p:spPr>
          <a:xfrm>
            <a:off x="3621881" y="1924348"/>
            <a:ext cx="1184579" cy="192881"/>
          </a:xfrm>
          <a:prstGeom prst="rect">
            <a:avLst/>
          </a:prstGeom>
          <a:noFill/>
          <a:ln/>
        </p:spPr>
        <p:txBody>
          <a:bodyPr wrap="none" lIns="0" tIns="0" rIns="0" bIns="0" rtlCol="0" anchor="t"/>
          <a:lstStyle/>
          <a:p>
            <a:pPr marL="0" indent="0" algn="l">
              <a:lnSpc>
                <a:spcPts val="1575"/>
              </a:lnSpc>
              <a:buNone/>
            </a:pPr>
            <a:r>
              <a:rPr lang="en-US" sz="1125" b="1" dirty="0">
                <a:solidFill>
                  <a:srgbClr val="0F172A"/>
                </a:solidFill>
                <a:latin typeface="Carlito" pitchFamily="34" charset="0"/>
                <a:ea typeface="Carlito" pitchFamily="34" charset="-122"/>
                <a:cs typeface="Carlito" pitchFamily="34" charset="-120"/>
              </a:rPr>
              <a:t>How They Work</a:t>
            </a:r>
            <a:endParaRPr lang="en-US" sz="1125" dirty="0"/>
          </a:p>
        </p:txBody>
      </p:sp>
      <p:sp>
        <p:nvSpPr>
          <p:cNvPr id="24" name="Text 22"/>
          <p:cNvSpPr/>
          <p:nvPr/>
        </p:nvSpPr>
        <p:spPr>
          <a:xfrm>
            <a:off x="3378994" y="1931491"/>
            <a:ext cx="171450" cy="171450"/>
          </a:xfrm>
          <a:prstGeom prst="rect">
            <a:avLst/>
          </a:prstGeom>
          <a:noFill/>
          <a:ln/>
        </p:spPr>
        <p:txBody>
          <a:bodyPr wrap="none" lIns="0" tIns="0" rIns="0" bIns="0" rtlCol="0" anchor="ctr"/>
          <a:lstStyle/>
          <a:p>
            <a:pPr marL="0" indent="0" algn="ctr">
              <a:buNone/>
            </a:pPr>
            <a:r>
              <a:rPr lang="en-US" sz="1688" dirty="0">
                <a:solidFill>
                  <a:srgbClr val="F97316"/>
                </a:solidFill>
                <a:latin typeface="Segoe UI Symbol" pitchFamily="34" charset="0"/>
                <a:ea typeface="Segoe UI Symbol" pitchFamily="34" charset="-122"/>
                <a:cs typeface="Segoe UI Symbol" pitchFamily="34" charset="-120"/>
              </a:rPr>
              <a:t>▶</a:t>
            </a:r>
            <a:endParaRPr lang="en-US" sz="1688" dirty="0"/>
          </a:p>
        </p:txBody>
      </p:sp>
      <p:sp>
        <p:nvSpPr>
          <p:cNvPr id="25" name="Text 23"/>
          <p:cNvSpPr/>
          <p:nvPr/>
        </p:nvSpPr>
        <p:spPr>
          <a:xfrm>
            <a:off x="4147617" y="2181523"/>
            <a:ext cx="535781" cy="135731"/>
          </a:xfrm>
          <a:prstGeom prst="roundRect">
            <a:avLst>
              <a:gd name="adj" fmla="val 28070"/>
            </a:avLst>
          </a:prstGeom>
          <a:solidFill>
            <a:srgbClr val="F1F5F9"/>
          </a:solidFill>
          <a:ln/>
        </p:spPr>
        <p:txBody>
          <a:bodyPr wrap="square" rtlCol="0" anchor="ctr"/>
          <a:lstStyle/>
          <a:p>
            <a:pPr marL="0" indent="0">
              <a:buNone/>
            </a:pPr>
            <a:endParaRPr lang="en-US" dirty="0"/>
          </a:p>
        </p:txBody>
      </p:sp>
      <p:sp>
        <p:nvSpPr>
          <p:cNvPr id="26" name="Text 24"/>
          <p:cNvSpPr/>
          <p:nvPr/>
        </p:nvSpPr>
        <p:spPr>
          <a:xfrm>
            <a:off x="3378994" y="2181523"/>
            <a:ext cx="2150938" cy="291108"/>
          </a:xfrm>
          <a:prstGeom prst="roundRect">
            <a:avLst>
              <a:gd name="adj" fmla="val 13088"/>
            </a:avLst>
          </a:prstGeom>
          <a:solidFill>
            <a:srgbClr val="F1F5F9"/>
          </a:solidFill>
          <a:ln/>
        </p:spPr>
        <p:txBody>
          <a:bodyPr wrap="square" rtlCol="0" anchor="ctr"/>
          <a:lstStyle/>
          <a:p>
            <a:pPr marL="0" indent="0">
              <a:buNone/>
            </a:pPr>
            <a:endParaRPr lang="en-US" dirty="0"/>
          </a:p>
        </p:txBody>
      </p:sp>
      <p:sp>
        <p:nvSpPr>
          <p:cNvPr id="27" name="Text 25"/>
          <p:cNvSpPr/>
          <p:nvPr/>
        </p:nvSpPr>
        <p:spPr>
          <a:xfrm>
            <a:off x="3378994" y="2174379"/>
            <a:ext cx="2386013" cy="621506"/>
          </a:xfrm>
          <a:prstGeom prst="rect">
            <a:avLst/>
          </a:prstGeom>
          <a:noFill/>
          <a:ln/>
        </p:spPr>
        <p:txBody>
          <a:bodyPr wrap="square" lIns="0" tIns="0" rIns="0" bIns="0" rtlCol="0" anchor="t"/>
          <a:lstStyle/>
          <a:p>
            <a:pPr marL="0" indent="0" algn="l">
              <a:lnSpc>
                <a:spcPts val="1223"/>
              </a:lnSpc>
              <a:buNone/>
            </a:pPr>
            <a:r>
              <a:rPr lang="en-US" sz="844" dirty="0">
                <a:solidFill>
                  <a:srgbClr val="334155"/>
                </a:solidFill>
                <a:latin typeface="Carlito" pitchFamily="34" charset="0"/>
                <a:ea typeface="Carlito" pitchFamily="34" charset="-122"/>
                <a:cs typeface="Carlito" pitchFamily="34" charset="-120"/>
              </a:rPr>
              <a:t>Task A changes </a:t>
            </a:r>
            <a:r>
              <a:rPr lang="en-US" sz="800" dirty="0">
                <a:solidFill>
                  <a:srgbClr val="0F172A"/>
                </a:solidFill>
                <a:highlight>
                  <a:srgbClr val="F1F5F9"/>
                </a:highlight>
                <a:latin typeface="Courier New" pitchFamily="34" charset="0"/>
                <a:ea typeface="Courier New" pitchFamily="34" charset="-122"/>
                <a:cs typeface="Courier New" pitchFamily="34" charset="-120"/>
              </a:rPr>
              <a:t>nginx.conf</a:t>
            </a:r>
            <a:r>
              <a:rPr lang="en-US" sz="844" dirty="0">
                <a:solidFill>
                  <a:srgbClr val="334155"/>
                </a:solidFill>
                <a:latin typeface="Carlito" pitchFamily="34" charset="0"/>
                <a:ea typeface="Carlito" pitchFamily="34" charset="-122"/>
                <a:cs typeface="Carlito" pitchFamily="34" charset="-120"/>
              </a:rPr>
              <a:t> and calls </a:t>
            </a:r>
            <a:r>
              <a:rPr lang="en-US" sz="800" dirty="0">
                <a:solidFill>
                  <a:srgbClr val="0F172A"/>
                </a:solidFill>
                <a:highlight>
                  <a:srgbClr val="F1F5F9"/>
                </a:highlight>
                <a:latin typeface="Courier New" pitchFamily="34" charset="0"/>
                <a:ea typeface="Courier New" pitchFamily="34" charset="-122"/>
                <a:cs typeface="Courier New" pitchFamily="34" charset="-120"/>
              </a:rPr>
              <a:t>notify: restart nginx</a:t>
            </a:r>
            <a:r>
              <a:rPr lang="en-US" sz="844" dirty="0">
                <a:solidFill>
                  <a:srgbClr val="334155"/>
                </a:solidFill>
                <a:latin typeface="Carlito" pitchFamily="34" charset="0"/>
                <a:ea typeface="Carlito" pitchFamily="34" charset="-122"/>
                <a:cs typeface="Carlito" pitchFamily="34" charset="-120"/>
              </a:rPr>
              <a:t>. Handler </a:t>
            </a:r>
            <a:r>
              <a:rPr lang="en-US" sz="844" i="1" dirty="0">
                <a:solidFill>
                  <a:srgbClr val="334155"/>
                </a:solidFill>
                <a:latin typeface="Carlito" pitchFamily="34" charset="0"/>
                <a:ea typeface="Carlito" pitchFamily="34" charset="-122"/>
                <a:cs typeface="Carlito" pitchFamily="34" charset="-120"/>
              </a:rPr>
              <a:t>restart nginx</a:t>
            </a:r>
            <a:r>
              <a:rPr lang="en-US" sz="844" dirty="0">
                <a:solidFill>
                  <a:srgbClr val="334155"/>
                </a:solidFill>
                <a:latin typeface="Carlito" pitchFamily="34" charset="0"/>
                <a:ea typeface="Carlito" pitchFamily="34" charset="-122"/>
                <a:cs typeface="Carlito" pitchFamily="34" charset="-120"/>
              </a:rPr>
              <a:t> is queued. At end of play, queued handlers run — </a:t>
            </a:r>
            <a:r>
              <a:rPr lang="en-US" sz="844" b="1" dirty="0">
                <a:solidFill>
                  <a:srgbClr val="0F172A"/>
                </a:solidFill>
                <a:latin typeface="Carlito" pitchFamily="34" charset="0"/>
                <a:ea typeface="Carlito" pitchFamily="34" charset="-122"/>
                <a:cs typeface="Carlito" pitchFamily="34" charset="-120"/>
              </a:rPr>
              <a:t>once each, no matter how many times notified</a:t>
            </a:r>
            <a:r>
              <a:rPr lang="en-US" sz="844" dirty="0">
                <a:solidFill>
                  <a:srgbClr val="334155"/>
                </a:solidFill>
                <a:latin typeface="Carlito" pitchFamily="34" charset="0"/>
                <a:ea typeface="Carlito" pitchFamily="34" charset="-122"/>
                <a:cs typeface="Carlito" pitchFamily="34" charset="-120"/>
              </a:rPr>
              <a:t>.</a:t>
            </a:r>
            <a:endParaRPr lang="en-US" sz="844" dirty="0"/>
          </a:p>
        </p:txBody>
      </p:sp>
      <p:sp>
        <p:nvSpPr>
          <p:cNvPr id="28" name="Text 26"/>
          <p:cNvSpPr/>
          <p:nvPr/>
        </p:nvSpPr>
        <p:spPr>
          <a:xfrm>
            <a:off x="6029325" y="1795760"/>
            <a:ext cx="2686050" cy="1121569"/>
          </a:xfrm>
          <a:prstGeom prst="roundRect">
            <a:avLst>
              <a:gd name="adj" fmla="val 11890"/>
            </a:avLst>
          </a:prstGeom>
          <a:solidFill>
            <a:srgbClr val="0F172A"/>
          </a:solidFill>
          <a:ln/>
        </p:spPr>
        <p:txBody>
          <a:bodyPr wrap="square" rtlCol="0" anchor="ctr"/>
          <a:lstStyle/>
          <a:p>
            <a:pPr marL="0" indent="0">
              <a:buNone/>
            </a:pPr>
            <a:endParaRPr lang="en-US" dirty="0"/>
          </a:p>
        </p:txBody>
      </p:sp>
      <p:sp>
        <p:nvSpPr>
          <p:cNvPr id="29" name="Text 27"/>
          <p:cNvSpPr/>
          <p:nvPr/>
        </p:nvSpPr>
        <p:spPr>
          <a:xfrm>
            <a:off x="6415088" y="1917204"/>
            <a:ext cx="1362754" cy="192881"/>
          </a:xfrm>
          <a:prstGeom prst="rect">
            <a:avLst/>
          </a:prstGeom>
          <a:noFill/>
          <a:ln/>
        </p:spPr>
        <p:txBody>
          <a:bodyPr wrap="none" lIns="0" tIns="0" rIns="0" bIns="0" rtlCol="0" anchor="t"/>
          <a:lstStyle/>
          <a:p>
            <a:pPr marL="0" indent="0" algn="l">
              <a:lnSpc>
                <a:spcPts val="1575"/>
              </a:lnSpc>
              <a:buNone/>
            </a:pPr>
            <a:r>
              <a:rPr lang="en-US" sz="1125" b="1" dirty="0">
                <a:solidFill>
                  <a:srgbClr val="FFFFFF"/>
                </a:solidFill>
                <a:latin typeface="Carlito" pitchFamily="34" charset="0"/>
                <a:ea typeface="Carlito" pitchFamily="34" charset="-122"/>
                <a:cs typeface="Carlito" pitchFamily="34" charset="-120"/>
              </a:rPr>
              <a:t>When NO Change</a:t>
            </a:r>
            <a:endParaRPr lang="en-US" sz="1125" dirty="0"/>
          </a:p>
        </p:txBody>
      </p:sp>
      <p:sp>
        <p:nvSpPr>
          <p:cNvPr id="30" name="Text 28"/>
          <p:cNvSpPr/>
          <p:nvPr/>
        </p:nvSpPr>
        <p:spPr>
          <a:xfrm>
            <a:off x="6172200" y="1924348"/>
            <a:ext cx="171450" cy="171450"/>
          </a:xfrm>
          <a:prstGeom prst="rect">
            <a:avLst/>
          </a:prstGeom>
          <a:noFill/>
          <a:ln/>
        </p:spPr>
        <p:txBody>
          <a:bodyPr wrap="none" lIns="0" tIns="0" rIns="0" bIns="0" rtlCol="0" anchor="ctr"/>
          <a:lstStyle/>
          <a:p>
            <a:pPr marL="0" indent="0" algn="ctr">
              <a:buNone/>
            </a:pPr>
            <a:r>
              <a:rPr lang="en-US" sz="1688" dirty="0">
                <a:solidFill>
                  <a:srgbClr val="F97316"/>
                </a:solidFill>
                <a:latin typeface="Segoe UI Symbol" pitchFamily="34" charset="0"/>
                <a:ea typeface="Segoe UI Symbol" pitchFamily="34" charset="-122"/>
                <a:cs typeface="Segoe UI Symbol" pitchFamily="34" charset="-120"/>
              </a:rPr>
              <a:t>✦</a:t>
            </a:r>
            <a:endParaRPr lang="en-US" sz="1688" dirty="0"/>
          </a:p>
        </p:txBody>
      </p:sp>
      <p:sp>
        <p:nvSpPr>
          <p:cNvPr id="31" name="Text 29"/>
          <p:cNvSpPr/>
          <p:nvPr/>
        </p:nvSpPr>
        <p:spPr>
          <a:xfrm>
            <a:off x="6172200" y="2167235"/>
            <a:ext cx="2400300" cy="503420"/>
          </a:xfrm>
          <a:prstGeom prst="rect">
            <a:avLst/>
          </a:prstGeom>
          <a:noFill/>
          <a:ln/>
        </p:spPr>
        <p:txBody>
          <a:bodyPr wrap="square" lIns="0" tIns="0" rIns="0" bIns="0" rtlCol="0" anchor="t"/>
          <a:lstStyle/>
          <a:p>
            <a:pPr marL="0" indent="0" algn="l">
              <a:lnSpc>
                <a:spcPts val="1223"/>
              </a:lnSpc>
              <a:buNone/>
            </a:pPr>
            <a:r>
              <a:rPr lang="en-US" sz="844" dirty="0">
                <a:solidFill>
                  <a:srgbClr val="E2E8F0"/>
                </a:solidFill>
                <a:latin typeface="Carlito" pitchFamily="34" charset="0"/>
                <a:ea typeface="Carlito" pitchFamily="34" charset="-122"/>
                <a:cs typeface="Carlito" pitchFamily="34" charset="-120"/>
              </a:rPr>
              <a:t>If task A does NOT change the file (config is already correct), the handler is NOT queued. </a:t>
            </a:r>
            <a:r>
              <a:rPr lang="en-US" sz="844" b="1" dirty="0">
                <a:solidFill>
                  <a:srgbClr val="0F172A"/>
                </a:solidFill>
                <a:latin typeface="Carlito" pitchFamily="34" charset="0"/>
                <a:ea typeface="Carlito" pitchFamily="34" charset="-122"/>
                <a:cs typeface="Carlito" pitchFamily="34" charset="-120"/>
              </a:rPr>
              <a:t>No restart.</a:t>
            </a:r>
            <a:r>
              <a:rPr lang="en-US" sz="844" dirty="0">
                <a:solidFill>
                  <a:srgbClr val="E2E8F0"/>
                </a:solidFill>
                <a:latin typeface="Carlito" pitchFamily="34" charset="0"/>
                <a:ea typeface="Carlito" pitchFamily="34" charset="-122"/>
                <a:cs typeface="Carlito" pitchFamily="34" charset="-120"/>
              </a:rPr>
              <a:t> This is the idempotency payoff.</a:t>
            </a:r>
            <a:endParaRPr lang="en-US" sz="844" dirty="0"/>
          </a:p>
        </p:txBody>
      </p:sp>
      <p:sp>
        <p:nvSpPr>
          <p:cNvPr id="32" name="Text 30"/>
          <p:cNvSpPr/>
          <p:nvPr/>
        </p:nvSpPr>
        <p:spPr>
          <a:xfrm>
            <a:off x="428625" y="3031629"/>
            <a:ext cx="8286750" cy="357188"/>
          </a:xfrm>
          <a:prstGeom prst="roundRect">
            <a:avLst>
              <a:gd name="adj" fmla="val 21333"/>
            </a:avLst>
          </a:prstGeom>
          <a:solidFill>
            <a:srgbClr val="FFF7ED"/>
          </a:solidFill>
          <a:ln/>
        </p:spPr>
        <p:txBody>
          <a:bodyPr wrap="square" rtlCol="0" anchor="ctr"/>
          <a:lstStyle/>
          <a:p>
            <a:pPr marL="0" indent="0">
              <a:buNone/>
            </a:pPr>
            <a:endParaRPr lang="en-US" dirty="0"/>
          </a:p>
        </p:txBody>
      </p:sp>
      <p:sp>
        <p:nvSpPr>
          <p:cNvPr id="33" name="Shape 31"/>
          <p:cNvSpPr/>
          <p:nvPr/>
        </p:nvSpPr>
        <p:spPr>
          <a:xfrm>
            <a:off x="450056" y="3031629"/>
            <a:ext cx="0" cy="357188"/>
          </a:xfrm>
          <a:prstGeom prst="line">
            <a:avLst/>
          </a:prstGeom>
          <a:noFill/>
          <a:ln w="42863">
            <a:solidFill>
              <a:srgbClr val="F97316"/>
            </a:solidFill>
            <a:prstDash val="solid"/>
          </a:ln>
        </p:spPr>
      </p:sp>
      <p:sp>
        <p:nvSpPr>
          <p:cNvPr id="34" name="Text 32"/>
          <p:cNvSpPr/>
          <p:nvPr/>
        </p:nvSpPr>
        <p:spPr>
          <a:xfrm>
            <a:off x="428625" y="3031629"/>
            <a:ext cx="8286750" cy="385763"/>
          </a:xfrm>
          <a:prstGeom prst="rect">
            <a:avLst/>
          </a:prstGeom>
          <a:noFill/>
          <a:ln/>
        </p:spPr>
        <p:txBody>
          <a:bodyPr wrap="square" lIns="157163" tIns="85725" rIns="157163" bIns="85725" rtlCol="0" anchor="t"/>
          <a:lstStyle/>
          <a:p>
            <a:pPr marL="0" indent="0" algn="l">
              <a:lnSpc>
                <a:spcPts val="1339"/>
              </a:lnSpc>
              <a:buNone/>
            </a:pPr>
            <a:r>
              <a:rPr lang="en-US" sz="956" dirty="0">
                <a:solidFill>
                  <a:srgbClr val="F97316"/>
                </a:solidFill>
                <a:latin typeface="Segoe UI Symbol" pitchFamily="34" charset="0"/>
                <a:ea typeface="Segoe UI Symbol" pitchFamily="34" charset="-122"/>
                <a:cs typeface="Segoe UI Symbol" pitchFamily="34" charset="-120"/>
              </a:rPr>
              <a:t>★</a:t>
            </a:r>
            <a:r>
              <a:rPr lang="en-US" sz="956" dirty="0">
                <a:solidFill>
                  <a:srgbClr val="0F172A"/>
                </a:solidFill>
                <a:latin typeface="Carlito" pitchFamily="34" charset="0"/>
                <a:ea typeface="Carlito" pitchFamily="34" charset="-122"/>
                <a:cs typeface="Carlito" pitchFamily="34" charset="-120"/>
              </a:rPr>
              <a:t> Handlers are the Ansible way to say </a:t>
            </a:r>
            <a:r>
              <a:rPr lang="en-US" sz="956" dirty="0">
                <a:solidFill>
                  <a:srgbClr val="F97316"/>
                </a:solidFill>
                <a:latin typeface="Carlito" pitchFamily="34" charset="0"/>
                <a:ea typeface="Carlito" pitchFamily="34" charset="-122"/>
                <a:cs typeface="Carlito" pitchFamily="34" charset="-120"/>
              </a:rPr>
              <a:t>"if anything changed, restart the service — but only once"</a:t>
            </a:r>
            <a:r>
              <a:rPr lang="en-US" sz="956" dirty="0">
                <a:solidFill>
                  <a:srgbClr val="0F172A"/>
                </a:solidFill>
                <a:latin typeface="Carlito" pitchFamily="34" charset="0"/>
                <a:ea typeface="Carlito" pitchFamily="34" charset="-122"/>
                <a:cs typeface="Carlito" pitchFamily="34" charset="-120"/>
              </a:rPr>
              <a:t>.</a:t>
            </a:r>
            <a:endParaRPr lang="en-US" sz="956"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00050" y="257175"/>
            <a:ext cx="5706840" cy="305476"/>
          </a:xfrm>
          <a:prstGeom prst="rect">
            <a:avLst/>
          </a:prstGeom>
          <a:noFill/>
          <a:ln/>
        </p:spPr>
        <p:txBody>
          <a:bodyPr wrap="square" lIns="0" tIns="0" rIns="0" bIns="0" rtlCol="0" anchor="t"/>
          <a:lstStyle/>
          <a:p>
            <a:pPr marL="0" indent="0" algn="l">
              <a:lnSpc>
                <a:spcPts val="2228"/>
              </a:lnSpc>
              <a:buNone/>
            </a:pPr>
            <a:r>
              <a:rPr lang="en-US" sz="2025" b="1" dirty="0">
                <a:solidFill>
                  <a:srgbClr val="0F172A"/>
                </a:solidFill>
                <a:latin typeface="Carlito" pitchFamily="34" charset="0"/>
                <a:ea typeface="Carlito" pitchFamily="34" charset="-122"/>
                <a:cs typeface="Carlito" pitchFamily="34" charset="-120"/>
              </a:rPr>
              <a:t>Code Example — Multiple Tasks, One Handler</a:t>
            </a:r>
            <a:endParaRPr lang="en-US" sz="2025" dirty="0"/>
          </a:p>
        </p:txBody>
      </p:sp>
      <p:sp>
        <p:nvSpPr>
          <p:cNvPr id="3" name="Text 1"/>
          <p:cNvSpPr/>
          <p:nvPr/>
        </p:nvSpPr>
        <p:spPr>
          <a:xfrm>
            <a:off x="400050" y="597173"/>
            <a:ext cx="571500" cy="42863"/>
          </a:xfrm>
          <a:prstGeom prst="roundRect">
            <a:avLst>
              <a:gd name="adj" fmla="val 66666"/>
            </a:avLst>
          </a:prstGeom>
          <a:solidFill>
            <a:srgbClr val="F97316"/>
          </a:solidFill>
          <a:ln/>
        </p:spPr>
        <p:txBody>
          <a:bodyPr wrap="square" rtlCol="0" anchor="ctr"/>
          <a:lstStyle/>
          <a:p>
            <a:pPr marL="0" indent="0">
              <a:buNone/>
            </a:pPr>
            <a:endParaRPr lang="en-US" dirty="0"/>
          </a:p>
        </p:txBody>
      </p:sp>
      <p:sp>
        <p:nvSpPr>
          <p:cNvPr id="4" name="Text 2"/>
          <p:cNvSpPr/>
          <p:nvPr/>
        </p:nvSpPr>
        <p:spPr>
          <a:xfrm>
            <a:off x="400050" y="682898"/>
            <a:ext cx="5603080" cy="183599"/>
          </a:xfrm>
          <a:prstGeom prst="rect">
            <a:avLst/>
          </a:prstGeom>
          <a:noFill/>
          <a:ln/>
        </p:spPr>
        <p:txBody>
          <a:bodyPr wrap="square" lIns="0" tIns="0" rIns="0" bIns="0" rtlCol="0" anchor="t"/>
          <a:lstStyle/>
          <a:p>
            <a:pPr marL="0" indent="0" algn="l">
              <a:lnSpc>
                <a:spcPts val="1339"/>
              </a:lnSpc>
              <a:buNone/>
            </a:pPr>
            <a:r>
              <a:rPr lang="en-US" sz="956" dirty="0">
                <a:solidFill>
                  <a:srgbClr val="64748B"/>
                </a:solidFill>
                <a:latin typeface="Carlito" pitchFamily="34" charset="0"/>
                <a:ea typeface="Carlito" pitchFamily="34" charset="-122"/>
                <a:cs typeface="Carlito" pitchFamily="34" charset="-120"/>
              </a:rPr>
              <a:t>Three config files change → nginx restarts ONCE.</a:t>
            </a:r>
            <a:endParaRPr lang="en-US" sz="956" dirty="0"/>
          </a:p>
        </p:txBody>
      </p:sp>
      <p:sp>
        <p:nvSpPr>
          <p:cNvPr id="5" name="Text 3"/>
          <p:cNvSpPr/>
          <p:nvPr/>
        </p:nvSpPr>
        <p:spPr>
          <a:xfrm>
            <a:off x="7893531" y="244373"/>
            <a:ext cx="873279" cy="331333"/>
          </a:xfrm>
          <a:prstGeom prst="roundRect">
            <a:avLst>
              <a:gd name="adj" fmla="val 2871877"/>
            </a:avLst>
          </a:prstGeom>
          <a:solidFill>
            <a:srgbClr val="FED7AA"/>
          </a:solidFill>
          <a:ln/>
        </p:spPr>
        <p:txBody>
          <a:bodyPr wrap="square" rtlCol="0" anchor="ctr"/>
          <a:lstStyle/>
          <a:p>
            <a:pPr marL="0" indent="0">
              <a:buNone/>
            </a:pPr>
            <a:endParaRPr lang="en-US" dirty="0"/>
          </a:p>
        </p:txBody>
      </p:sp>
      <p:sp>
        <p:nvSpPr>
          <p:cNvPr id="6" name="Text 4"/>
          <p:cNvSpPr/>
          <p:nvPr/>
        </p:nvSpPr>
        <p:spPr>
          <a:xfrm>
            <a:off x="7916391" y="257175"/>
            <a:ext cx="827559" cy="330189"/>
          </a:xfrm>
          <a:prstGeom prst="rect">
            <a:avLst/>
          </a:prstGeom>
          <a:noFill/>
          <a:ln/>
        </p:spPr>
        <p:txBody>
          <a:bodyPr wrap="none" lIns="0" tIns="0" rIns="0" bIns="0" rtlCol="0" anchor="t"/>
          <a:lstStyle/>
          <a:p>
            <a:pPr marL="0" indent="0" algn="l">
              <a:lnSpc>
                <a:spcPts val="1733"/>
              </a:lnSpc>
              <a:buNone/>
            </a:pPr>
            <a:r>
              <a:rPr lang="en-US" sz="1238" b="1" kern="0" spc="28" dirty="0">
                <a:solidFill>
                  <a:srgbClr val="C2410C"/>
                </a:solidFill>
                <a:latin typeface="Segoe UI Symbol" pitchFamily="34" charset="0"/>
                <a:ea typeface="Segoe UI Symbol" pitchFamily="34" charset="-122"/>
                <a:cs typeface="Segoe UI Symbol" pitchFamily="34" charset="-120"/>
              </a:rPr>
              <a:t>✦</a:t>
            </a:r>
            <a:r>
              <a:rPr lang="en-US" sz="1238" b="1" kern="0" spc="28" dirty="0">
                <a:solidFill>
                  <a:srgbClr val="C2410C"/>
                </a:solidFill>
                <a:latin typeface="Carlito" pitchFamily="34" charset="0"/>
                <a:ea typeface="Carlito" pitchFamily="34" charset="-122"/>
                <a:cs typeface="Carlito" pitchFamily="34" charset="-120"/>
              </a:rPr>
              <a:t> YAML</a:t>
            </a:r>
            <a:endParaRPr lang="en-US" sz="1238" dirty="0"/>
          </a:p>
        </p:txBody>
      </p:sp>
      <p:sp>
        <p:nvSpPr>
          <p:cNvPr id="7" name="Text 5"/>
          <p:cNvSpPr/>
          <p:nvPr/>
        </p:nvSpPr>
        <p:spPr>
          <a:xfrm>
            <a:off x="557213" y="1081497"/>
            <a:ext cx="274320" cy="144018"/>
          </a:xfrm>
          <a:prstGeom prst="rect">
            <a:avLst/>
          </a:prstGeom>
          <a:noFill/>
          <a:ln/>
        </p:spPr>
        <p:txBody>
          <a:bodyPr wrap="none" lIns="0" tIns="0" rIns="0" bIns="0" rtlCol="0" anchor="t">
            <a:normAutofit fontScale="25000" lnSpcReduction="20000"/>
          </a:bodyPr>
          <a:lstStyle/>
          <a:p>
            <a:pPr marL="0" indent="0" algn="l">
              <a:lnSpc>
                <a:spcPts val="1350"/>
              </a:lnSpc>
              <a:buNone/>
            </a:pPr>
            <a:r>
              <a:rPr lang="en-US" sz="900" i="1" dirty="0">
                <a:solidFill>
                  <a:srgbClr val="94A3B8"/>
                </a:solidFill>
                <a:latin typeface="Courier New" pitchFamily="34" charset="0"/>
                <a:ea typeface="Courier New" pitchFamily="34" charset="-122"/>
                <a:cs typeface="Courier New" pitchFamily="34" charset="-120"/>
              </a:rPr>
              <a:t>---</a:t>
            </a:r>
            <a:endParaRPr lang="en-US" sz="900" dirty="0"/>
          </a:p>
        </p:txBody>
      </p:sp>
      <p:sp>
        <p:nvSpPr>
          <p:cNvPr id="8" name="Text 6"/>
          <p:cNvSpPr/>
          <p:nvPr/>
        </p:nvSpPr>
        <p:spPr>
          <a:xfrm>
            <a:off x="671513" y="1252947"/>
            <a:ext cx="457200" cy="154305"/>
          </a:xfrm>
          <a:prstGeom prst="rect">
            <a:avLst/>
          </a:prstGeom>
          <a:noFill/>
          <a:ln/>
        </p:spPr>
        <p:txBody>
          <a:bodyPr wrap="none" lIns="0" tIns="0" rIns="0" bIns="0" rtlCol="0" anchor="t"/>
          <a:lstStyle/>
          <a:p>
            <a:pPr marL="0" indent="0" algn="l">
              <a:lnSpc>
                <a:spcPts val="1350"/>
              </a:lnSpc>
              <a:buNone/>
            </a:pPr>
            <a:r>
              <a:rPr lang="en-US" sz="900" dirty="0">
                <a:solidFill>
                  <a:srgbClr val="FBA74A"/>
                </a:solidFill>
                <a:latin typeface="Courier New" pitchFamily="34" charset="0"/>
                <a:ea typeface="Courier New" pitchFamily="34" charset="-122"/>
                <a:cs typeface="Courier New" pitchFamily="34" charset="-120"/>
              </a:rPr>
              <a:t>name:</a:t>
            </a:r>
            <a:endParaRPr lang="en-US" sz="900" dirty="0"/>
          </a:p>
        </p:txBody>
      </p:sp>
      <p:sp>
        <p:nvSpPr>
          <p:cNvPr id="9" name="Text 7"/>
          <p:cNvSpPr/>
          <p:nvPr/>
        </p:nvSpPr>
        <p:spPr>
          <a:xfrm>
            <a:off x="1014413" y="1252947"/>
            <a:ext cx="1785938" cy="144018"/>
          </a:xfrm>
          <a:prstGeom prst="rect">
            <a:avLst/>
          </a:prstGeom>
          <a:noFill/>
          <a:ln/>
        </p:spPr>
        <p:txBody>
          <a:bodyPr wrap="none" lIns="0" tIns="0" rIns="0" bIns="0" rtlCol="0" anchor="t">
            <a:normAutofit fontScale="25000" lnSpcReduction="20000"/>
          </a:bodyPr>
          <a:lstStyle/>
          <a:p>
            <a:pPr marL="0" indent="0" algn="l">
              <a:lnSpc>
                <a:spcPts val="1350"/>
              </a:lnSpc>
              <a:buNone/>
            </a:pPr>
            <a:r>
              <a:rPr lang="en-US" sz="900" dirty="0">
                <a:solidFill>
                  <a:srgbClr val="86EFAC"/>
                </a:solidFill>
                <a:latin typeface="Courier New" pitchFamily="34" charset="0"/>
                <a:ea typeface="Courier New" pitchFamily="34" charset="-122"/>
                <a:cs typeface="Courier New" pitchFamily="34" charset="-120"/>
              </a:rPr>
              <a:t>Update nginx config files</a:t>
            </a:r>
            <a:endParaRPr lang="en-US" sz="900" dirty="0"/>
          </a:p>
        </p:txBody>
      </p:sp>
      <p:sp>
        <p:nvSpPr>
          <p:cNvPr id="10" name="Text 8"/>
          <p:cNvSpPr/>
          <p:nvPr/>
        </p:nvSpPr>
        <p:spPr>
          <a:xfrm>
            <a:off x="671513" y="1424397"/>
            <a:ext cx="490347" cy="154305"/>
          </a:xfrm>
          <a:prstGeom prst="rect">
            <a:avLst/>
          </a:prstGeom>
          <a:noFill/>
          <a:ln/>
        </p:spPr>
        <p:txBody>
          <a:bodyPr wrap="none" lIns="0" tIns="0" rIns="0" bIns="0" rtlCol="0" anchor="t"/>
          <a:lstStyle/>
          <a:p>
            <a:pPr marL="0" indent="0" algn="l">
              <a:lnSpc>
                <a:spcPts val="1350"/>
              </a:lnSpc>
              <a:buNone/>
            </a:pPr>
            <a:r>
              <a:rPr lang="en-US" sz="900" dirty="0">
                <a:solidFill>
                  <a:srgbClr val="FBA74A"/>
                </a:solidFill>
                <a:latin typeface="Courier New" pitchFamily="34" charset="0"/>
                <a:ea typeface="Courier New" pitchFamily="34" charset="-122"/>
                <a:cs typeface="Courier New" pitchFamily="34" charset="-120"/>
              </a:rPr>
              <a:t>hosts:</a:t>
            </a:r>
            <a:endParaRPr lang="en-US" sz="900" dirty="0"/>
          </a:p>
        </p:txBody>
      </p:sp>
      <p:sp>
        <p:nvSpPr>
          <p:cNvPr id="11" name="Text 9"/>
          <p:cNvSpPr/>
          <p:nvPr/>
        </p:nvSpPr>
        <p:spPr>
          <a:xfrm>
            <a:off x="1058075" y="1424397"/>
            <a:ext cx="741350" cy="144018"/>
          </a:xfrm>
          <a:prstGeom prst="rect">
            <a:avLst/>
          </a:prstGeom>
          <a:noFill/>
          <a:ln/>
        </p:spPr>
        <p:txBody>
          <a:bodyPr wrap="none" lIns="0" tIns="0" rIns="0" bIns="0" rtlCol="0" anchor="t">
            <a:normAutofit fontScale="25000" lnSpcReduction="20000"/>
          </a:bodyPr>
          <a:lstStyle/>
          <a:p>
            <a:pPr marL="0" indent="0" algn="l">
              <a:lnSpc>
                <a:spcPts val="1350"/>
              </a:lnSpc>
              <a:buNone/>
            </a:pPr>
            <a:r>
              <a:rPr lang="en-US" sz="900" dirty="0">
                <a:solidFill>
                  <a:srgbClr val="86EFAC"/>
                </a:solidFill>
                <a:latin typeface="Courier New" pitchFamily="34" charset="0"/>
                <a:ea typeface="Courier New" pitchFamily="34" charset="-122"/>
                <a:cs typeface="Courier New" pitchFamily="34" charset="-120"/>
              </a:rPr>
              <a:t>webservers</a:t>
            </a:r>
            <a:endParaRPr lang="en-US" sz="900" dirty="0"/>
          </a:p>
        </p:txBody>
      </p:sp>
      <p:sp>
        <p:nvSpPr>
          <p:cNvPr id="12" name="Text 10"/>
          <p:cNvSpPr/>
          <p:nvPr/>
        </p:nvSpPr>
        <p:spPr>
          <a:xfrm>
            <a:off x="671513" y="1595847"/>
            <a:ext cx="572072" cy="154305"/>
          </a:xfrm>
          <a:prstGeom prst="rect">
            <a:avLst/>
          </a:prstGeom>
          <a:noFill/>
          <a:ln/>
        </p:spPr>
        <p:txBody>
          <a:bodyPr wrap="none" lIns="0" tIns="0" rIns="0" bIns="0" rtlCol="0" anchor="t"/>
          <a:lstStyle/>
          <a:p>
            <a:pPr marL="0" indent="0" algn="l">
              <a:lnSpc>
                <a:spcPts val="1350"/>
              </a:lnSpc>
              <a:buNone/>
            </a:pPr>
            <a:r>
              <a:rPr lang="en-US" sz="900" dirty="0">
                <a:solidFill>
                  <a:srgbClr val="FBA74A"/>
                </a:solidFill>
                <a:latin typeface="Courier New" pitchFamily="34" charset="0"/>
                <a:ea typeface="Courier New" pitchFamily="34" charset="-122"/>
                <a:cs typeface="Courier New" pitchFamily="34" charset="-120"/>
              </a:rPr>
              <a:t>become:</a:t>
            </a:r>
            <a:endParaRPr lang="en-US" sz="900" dirty="0"/>
          </a:p>
        </p:txBody>
      </p:sp>
      <p:sp>
        <p:nvSpPr>
          <p:cNvPr id="13" name="Text 11"/>
          <p:cNvSpPr/>
          <p:nvPr/>
        </p:nvSpPr>
        <p:spPr>
          <a:xfrm>
            <a:off x="1128713" y="1595847"/>
            <a:ext cx="274320" cy="154305"/>
          </a:xfrm>
          <a:prstGeom prst="rect">
            <a:avLst/>
          </a:prstGeom>
          <a:noFill/>
          <a:ln/>
        </p:spPr>
        <p:txBody>
          <a:bodyPr wrap="none" lIns="0" tIns="0" rIns="0" bIns="0" rtlCol="0" anchor="t"/>
          <a:lstStyle/>
          <a:p>
            <a:pPr marL="0" indent="0" algn="l">
              <a:lnSpc>
                <a:spcPts val="1350"/>
              </a:lnSpc>
              <a:buNone/>
            </a:pPr>
            <a:r>
              <a:rPr lang="en-US" sz="900" dirty="0">
                <a:solidFill>
                  <a:srgbClr val="93C5FD"/>
                </a:solidFill>
                <a:latin typeface="Courier New" pitchFamily="34" charset="0"/>
                <a:ea typeface="Courier New" pitchFamily="34" charset="-122"/>
                <a:cs typeface="Courier New" pitchFamily="34" charset="-120"/>
              </a:rPr>
              <a:t>yes</a:t>
            </a:r>
            <a:endParaRPr lang="en-US" sz="900" dirty="0"/>
          </a:p>
        </p:txBody>
      </p:sp>
      <p:sp>
        <p:nvSpPr>
          <p:cNvPr id="14" name="Text 12"/>
          <p:cNvSpPr/>
          <p:nvPr/>
        </p:nvSpPr>
        <p:spPr>
          <a:xfrm>
            <a:off x="671513" y="1938747"/>
            <a:ext cx="490347" cy="144018"/>
          </a:xfrm>
          <a:prstGeom prst="rect">
            <a:avLst/>
          </a:prstGeom>
          <a:noFill/>
          <a:ln/>
        </p:spPr>
        <p:txBody>
          <a:bodyPr wrap="none" lIns="0" tIns="0" rIns="0" bIns="0" rtlCol="0" anchor="t">
            <a:normAutofit fontScale="25000" lnSpcReduction="20000"/>
          </a:bodyPr>
          <a:lstStyle/>
          <a:p>
            <a:pPr marL="0" indent="0" algn="l">
              <a:lnSpc>
                <a:spcPts val="1350"/>
              </a:lnSpc>
              <a:buNone/>
            </a:pPr>
            <a:r>
              <a:rPr lang="en-US" sz="900" dirty="0">
                <a:solidFill>
                  <a:srgbClr val="FBA74A"/>
                </a:solidFill>
                <a:latin typeface="Courier New" pitchFamily="34" charset="0"/>
                <a:ea typeface="Courier New" pitchFamily="34" charset="-122"/>
                <a:cs typeface="Courier New" pitchFamily="34" charset="-120"/>
              </a:rPr>
              <a:t>tasks:</a:t>
            </a:r>
            <a:endParaRPr lang="en-US" sz="900" dirty="0"/>
          </a:p>
        </p:txBody>
      </p:sp>
      <p:sp>
        <p:nvSpPr>
          <p:cNvPr id="15" name="Text 13"/>
          <p:cNvSpPr/>
          <p:nvPr/>
        </p:nvSpPr>
        <p:spPr>
          <a:xfrm>
            <a:off x="900113" y="2110197"/>
            <a:ext cx="457200" cy="154305"/>
          </a:xfrm>
          <a:prstGeom prst="rect">
            <a:avLst/>
          </a:prstGeom>
          <a:noFill/>
          <a:ln/>
        </p:spPr>
        <p:txBody>
          <a:bodyPr wrap="none" lIns="0" tIns="0" rIns="0" bIns="0" rtlCol="0" anchor="t"/>
          <a:lstStyle/>
          <a:p>
            <a:pPr marL="0" indent="0" algn="l">
              <a:lnSpc>
                <a:spcPts val="1350"/>
              </a:lnSpc>
              <a:buNone/>
            </a:pPr>
            <a:r>
              <a:rPr lang="en-US" sz="900" dirty="0">
                <a:solidFill>
                  <a:srgbClr val="FBA74A"/>
                </a:solidFill>
                <a:latin typeface="Courier New" pitchFamily="34" charset="0"/>
                <a:ea typeface="Courier New" pitchFamily="34" charset="-122"/>
                <a:cs typeface="Courier New" pitchFamily="34" charset="-120"/>
              </a:rPr>
              <a:t>name:</a:t>
            </a:r>
            <a:endParaRPr lang="en-US" sz="900" dirty="0"/>
          </a:p>
        </p:txBody>
      </p:sp>
      <p:sp>
        <p:nvSpPr>
          <p:cNvPr id="16" name="Text 14"/>
          <p:cNvSpPr/>
          <p:nvPr/>
        </p:nvSpPr>
        <p:spPr>
          <a:xfrm>
            <a:off x="1243013" y="2110197"/>
            <a:ext cx="1571625" cy="144018"/>
          </a:xfrm>
          <a:prstGeom prst="rect">
            <a:avLst/>
          </a:prstGeom>
          <a:noFill/>
          <a:ln/>
        </p:spPr>
        <p:txBody>
          <a:bodyPr wrap="none" lIns="0" tIns="0" rIns="0" bIns="0" rtlCol="0" anchor="t">
            <a:normAutofit fontScale="25000" lnSpcReduction="20000"/>
          </a:bodyPr>
          <a:lstStyle/>
          <a:p>
            <a:pPr marL="0" indent="0" algn="l">
              <a:lnSpc>
                <a:spcPts val="1350"/>
              </a:lnSpc>
              <a:buNone/>
            </a:pPr>
            <a:r>
              <a:rPr lang="en-US" sz="900" dirty="0">
                <a:solidFill>
                  <a:srgbClr val="86EFAC"/>
                </a:solidFill>
                <a:latin typeface="Courier New" pitchFamily="34" charset="0"/>
                <a:ea typeface="Courier New" pitchFamily="34" charset="-122"/>
                <a:cs typeface="Courier New" pitchFamily="34" charset="-120"/>
              </a:rPr>
              <a:t>Deploy main nginx.conf</a:t>
            </a:r>
            <a:endParaRPr lang="en-US" sz="900" dirty="0"/>
          </a:p>
        </p:txBody>
      </p:sp>
      <p:sp>
        <p:nvSpPr>
          <p:cNvPr id="17" name="Text 15"/>
          <p:cNvSpPr/>
          <p:nvPr/>
        </p:nvSpPr>
        <p:spPr>
          <a:xfrm>
            <a:off x="900113" y="2281647"/>
            <a:ext cx="735521" cy="144018"/>
          </a:xfrm>
          <a:prstGeom prst="rect">
            <a:avLst/>
          </a:prstGeom>
          <a:noFill/>
          <a:ln/>
        </p:spPr>
        <p:txBody>
          <a:bodyPr wrap="none" lIns="0" tIns="0" rIns="0" bIns="0" rtlCol="0" anchor="t">
            <a:normAutofit fontScale="25000" lnSpcReduction="20000"/>
          </a:bodyPr>
          <a:lstStyle/>
          <a:p>
            <a:pPr marL="0" indent="0" algn="l">
              <a:lnSpc>
                <a:spcPts val="1350"/>
              </a:lnSpc>
              <a:buNone/>
            </a:pPr>
            <a:r>
              <a:rPr lang="en-US" sz="900" dirty="0">
                <a:solidFill>
                  <a:srgbClr val="FBA74A"/>
                </a:solidFill>
                <a:latin typeface="Courier New" pitchFamily="34" charset="0"/>
                <a:ea typeface="Courier New" pitchFamily="34" charset="-122"/>
                <a:cs typeface="Courier New" pitchFamily="34" charset="-120"/>
              </a:rPr>
              <a:t>template:</a:t>
            </a:r>
            <a:endParaRPr lang="en-US" sz="900" dirty="0"/>
          </a:p>
        </p:txBody>
      </p:sp>
      <p:sp>
        <p:nvSpPr>
          <p:cNvPr id="18" name="Text 16"/>
          <p:cNvSpPr/>
          <p:nvPr/>
        </p:nvSpPr>
        <p:spPr>
          <a:xfrm>
            <a:off x="1014413" y="2453097"/>
            <a:ext cx="365760" cy="154305"/>
          </a:xfrm>
          <a:prstGeom prst="rect">
            <a:avLst/>
          </a:prstGeom>
          <a:noFill/>
          <a:ln/>
        </p:spPr>
        <p:txBody>
          <a:bodyPr wrap="none" lIns="0" tIns="0" rIns="0" bIns="0" rtlCol="0" anchor="t"/>
          <a:lstStyle/>
          <a:p>
            <a:pPr marL="0" indent="0" algn="l">
              <a:lnSpc>
                <a:spcPts val="1350"/>
              </a:lnSpc>
              <a:buNone/>
            </a:pPr>
            <a:r>
              <a:rPr lang="en-US" sz="900" dirty="0">
                <a:solidFill>
                  <a:srgbClr val="FBA74A"/>
                </a:solidFill>
                <a:latin typeface="Courier New" pitchFamily="34" charset="0"/>
                <a:ea typeface="Courier New" pitchFamily="34" charset="-122"/>
                <a:cs typeface="Courier New" pitchFamily="34" charset="-120"/>
              </a:rPr>
              <a:t>src:</a:t>
            </a:r>
            <a:endParaRPr lang="en-US" sz="900" dirty="0"/>
          </a:p>
        </p:txBody>
      </p:sp>
      <p:sp>
        <p:nvSpPr>
          <p:cNvPr id="19" name="Text 17"/>
          <p:cNvSpPr/>
          <p:nvPr/>
        </p:nvSpPr>
        <p:spPr>
          <a:xfrm>
            <a:off x="1300163" y="2453097"/>
            <a:ext cx="928688" cy="144018"/>
          </a:xfrm>
          <a:prstGeom prst="rect">
            <a:avLst/>
          </a:prstGeom>
          <a:noFill/>
          <a:ln/>
        </p:spPr>
        <p:txBody>
          <a:bodyPr wrap="none" lIns="0" tIns="0" rIns="0" bIns="0" rtlCol="0" anchor="t">
            <a:normAutofit fontScale="32500" lnSpcReduction="20000"/>
          </a:bodyPr>
          <a:lstStyle/>
          <a:p>
            <a:pPr marL="0" indent="0" algn="l">
              <a:lnSpc>
                <a:spcPts val="1350"/>
              </a:lnSpc>
              <a:buNone/>
            </a:pPr>
            <a:r>
              <a:rPr lang="en-US" sz="900" dirty="0">
                <a:solidFill>
                  <a:srgbClr val="86EFAC"/>
                </a:solidFill>
                <a:latin typeface="Liberation Sans Narrow" pitchFamily="34" charset="0"/>
                <a:ea typeface="Liberation Sans Narrow" pitchFamily="34" charset="-122"/>
                <a:cs typeface="Liberation Sans Narrow" pitchFamily="34" charset="-120"/>
              </a:rPr>
              <a:t>nginx.conf.j2</a:t>
            </a:r>
            <a:endParaRPr lang="en-US" sz="900" dirty="0"/>
          </a:p>
        </p:txBody>
      </p:sp>
      <p:sp>
        <p:nvSpPr>
          <p:cNvPr id="20" name="Text 18"/>
          <p:cNvSpPr/>
          <p:nvPr/>
        </p:nvSpPr>
        <p:spPr>
          <a:xfrm>
            <a:off x="1014413" y="2624547"/>
            <a:ext cx="457200" cy="154305"/>
          </a:xfrm>
          <a:prstGeom prst="rect">
            <a:avLst/>
          </a:prstGeom>
          <a:noFill/>
          <a:ln/>
        </p:spPr>
        <p:txBody>
          <a:bodyPr wrap="none" lIns="0" tIns="0" rIns="0" bIns="0" rtlCol="0" anchor="t"/>
          <a:lstStyle/>
          <a:p>
            <a:pPr marL="0" indent="0" algn="l">
              <a:lnSpc>
                <a:spcPts val="1350"/>
              </a:lnSpc>
              <a:buNone/>
            </a:pPr>
            <a:r>
              <a:rPr lang="en-US" sz="900" dirty="0">
                <a:solidFill>
                  <a:srgbClr val="FBA74A"/>
                </a:solidFill>
                <a:latin typeface="Courier New" pitchFamily="34" charset="0"/>
                <a:ea typeface="Courier New" pitchFamily="34" charset="-122"/>
                <a:cs typeface="Courier New" pitchFamily="34" charset="-120"/>
              </a:rPr>
              <a:t>dest:</a:t>
            </a:r>
            <a:endParaRPr lang="en-US" sz="900" dirty="0"/>
          </a:p>
        </p:txBody>
      </p:sp>
      <p:sp>
        <p:nvSpPr>
          <p:cNvPr id="21" name="Text 19"/>
          <p:cNvSpPr/>
          <p:nvPr/>
        </p:nvSpPr>
        <p:spPr>
          <a:xfrm>
            <a:off x="1357313" y="2624547"/>
            <a:ext cx="1500188" cy="144018"/>
          </a:xfrm>
          <a:prstGeom prst="rect">
            <a:avLst/>
          </a:prstGeom>
          <a:noFill/>
          <a:ln/>
        </p:spPr>
        <p:txBody>
          <a:bodyPr wrap="none" lIns="0" tIns="0" rIns="0" bIns="0" rtlCol="0" anchor="t">
            <a:normAutofit fontScale="25000" lnSpcReduction="20000"/>
          </a:bodyPr>
          <a:lstStyle/>
          <a:p>
            <a:pPr marL="0" indent="0" algn="l">
              <a:lnSpc>
                <a:spcPts val="1350"/>
              </a:lnSpc>
              <a:buNone/>
            </a:pPr>
            <a:r>
              <a:rPr lang="en-US" sz="900" dirty="0">
                <a:solidFill>
                  <a:srgbClr val="86EFAC"/>
                </a:solidFill>
                <a:latin typeface="Courier New" pitchFamily="34" charset="0"/>
                <a:ea typeface="Courier New" pitchFamily="34" charset="-122"/>
                <a:cs typeface="Courier New" pitchFamily="34" charset="-120"/>
              </a:rPr>
              <a:t>/etc/nginx/nginx.conf</a:t>
            </a:r>
            <a:endParaRPr lang="en-US" sz="900" dirty="0"/>
          </a:p>
        </p:txBody>
      </p:sp>
      <p:sp>
        <p:nvSpPr>
          <p:cNvPr id="22" name="Text 20"/>
          <p:cNvSpPr/>
          <p:nvPr/>
        </p:nvSpPr>
        <p:spPr>
          <a:xfrm>
            <a:off x="900113" y="2795997"/>
            <a:ext cx="572072" cy="154305"/>
          </a:xfrm>
          <a:prstGeom prst="rect">
            <a:avLst/>
          </a:prstGeom>
          <a:noFill/>
          <a:ln/>
        </p:spPr>
        <p:txBody>
          <a:bodyPr wrap="none" lIns="0" tIns="0" rIns="0" bIns="0" rtlCol="0" anchor="t"/>
          <a:lstStyle/>
          <a:p>
            <a:pPr marL="0" indent="0" algn="l">
              <a:lnSpc>
                <a:spcPts val="1350"/>
              </a:lnSpc>
              <a:buNone/>
            </a:pPr>
            <a:r>
              <a:rPr lang="en-US" sz="900" dirty="0">
                <a:solidFill>
                  <a:srgbClr val="FBA74A"/>
                </a:solidFill>
                <a:latin typeface="Courier New" pitchFamily="34" charset="0"/>
                <a:ea typeface="Courier New" pitchFamily="34" charset="-122"/>
                <a:cs typeface="Courier New" pitchFamily="34" charset="-120"/>
              </a:rPr>
              <a:t>notify:</a:t>
            </a:r>
            <a:endParaRPr lang="en-US" sz="900" dirty="0"/>
          </a:p>
        </p:txBody>
      </p:sp>
      <p:sp>
        <p:nvSpPr>
          <p:cNvPr id="23" name="Text 21"/>
          <p:cNvSpPr/>
          <p:nvPr/>
        </p:nvSpPr>
        <p:spPr>
          <a:xfrm>
            <a:off x="1357313" y="2795997"/>
            <a:ext cx="928688" cy="154305"/>
          </a:xfrm>
          <a:prstGeom prst="rect">
            <a:avLst/>
          </a:prstGeom>
          <a:noFill/>
          <a:ln/>
        </p:spPr>
        <p:txBody>
          <a:bodyPr wrap="none" lIns="0" tIns="0" rIns="0" bIns="0" rtlCol="0" anchor="t"/>
          <a:lstStyle/>
          <a:p>
            <a:pPr marL="0" indent="0" algn="l">
              <a:lnSpc>
                <a:spcPts val="1350"/>
              </a:lnSpc>
              <a:buNone/>
            </a:pPr>
            <a:r>
              <a:rPr lang="en-US" sz="900" dirty="0">
                <a:solidFill>
                  <a:srgbClr val="86EFAC"/>
                </a:solidFill>
                <a:latin typeface="Courier New" pitchFamily="34" charset="0"/>
                <a:ea typeface="Courier New" pitchFamily="34" charset="-122"/>
                <a:cs typeface="Courier New" pitchFamily="34" charset="-120"/>
              </a:rPr>
              <a:t>restart nginx</a:t>
            </a:r>
            <a:endParaRPr lang="en-US" sz="900" dirty="0"/>
          </a:p>
        </p:txBody>
      </p:sp>
      <p:sp>
        <p:nvSpPr>
          <p:cNvPr id="24" name="Text 22"/>
          <p:cNvSpPr/>
          <p:nvPr/>
        </p:nvSpPr>
        <p:spPr>
          <a:xfrm>
            <a:off x="2271713" y="2795997"/>
            <a:ext cx="1179576" cy="154305"/>
          </a:xfrm>
          <a:prstGeom prst="rect">
            <a:avLst/>
          </a:prstGeom>
          <a:noFill/>
          <a:ln/>
        </p:spPr>
        <p:txBody>
          <a:bodyPr wrap="none" lIns="0" tIns="0" rIns="0" bIns="0" rtlCol="0" anchor="t"/>
          <a:lstStyle/>
          <a:p>
            <a:pPr marL="0" indent="0" algn="l">
              <a:lnSpc>
                <a:spcPts val="1350"/>
              </a:lnSpc>
              <a:buNone/>
            </a:pPr>
            <a:r>
              <a:rPr lang="en-US" sz="900" i="1" dirty="0">
                <a:solidFill>
                  <a:srgbClr val="94A3B8"/>
                </a:solidFill>
                <a:latin typeface="Courier New" pitchFamily="34" charset="0"/>
                <a:ea typeface="Courier New" pitchFamily="34" charset="-122"/>
                <a:cs typeface="Courier New" pitchFamily="34" charset="-120"/>
              </a:rPr>
              <a:t># notify handler</a:t>
            </a:r>
            <a:endParaRPr lang="en-US" sz="900" dirty="0"/>
          </a:p>
        </p:txBody>
      </p:sp>
      <p:sp>
        <p:nvSpPr>
          <p:cNvPr id="25" name="Text 23"/>
          <p:cNvSpPr/>
          <p:nvPr/>
        </p:nvSpPr>
        <p:spPr>
          <a:xfrm>
            <a:off x="900113" y="3138897"/>
            <a:ext cx="457200" cy="154305"/>
          </a:xfrm>
          <a:prstGeom prst="rect">
            <a:avLst/>
          </a:prstGeom>
          <a:noFill/>
          <a:ln/>
        </p:spPr>
        <p:txBody>
          <a:bodyPr wrap="none" lIns="0" tIns="0" rIns="0" bIns="0" rtlCol="0" anchor="t"/>
          <a:lstStyle/>
          <a:p>
            <a:pPr marL="0" indent="0" algn="l">
              <a:lnSpc>
                <a:spcPts val="1350"/>
              </a:lnSpc>
              <a:buNone/>
            </a:pPr>
            <a:r>
              <a:rPr lang="en-US" sz="900" dirty="0">
                <a:solidFill>
                  <a:srgbClr val="FBA74A"/>
                </a:solidFill>
                <a:latin typeface="Courier New" pitchFamily="34" charset="0"/>
                <a:ea typeface="Courier New" pitchFamily="34" charset="-122"/>
                <a:cs typeface="Courier New" pitchFamily="34" charset="-120"/>
              </a:rPr>
              <a:t>name:</a:t>
            </a:r>
            <a:endParaRPr lang="en-US" sz="900" dirty="0"/>
          </a:p>
        </p:txBody>
      </p:sp>
      <p:sp>
        <p:nvSpPr>
          <p:cNvPr id="26" name="Text 24"/>
          <p:cNvSpPr/>
          <p:nvPr/>
        </p:nvSpPr>
        <p:spPr>
          <a:xfrm>
            <a:off x="1243013" y="3138897"/>
            <a:ext cx="1604772" cy="144018"/>
          </a:xfrm>
          <a:prstGeom prst="rect">
            <a:avLst/>
          </a:prstGeom>
          <a:noFill/>
          <a:ln/>
        </p:spPr>
        <p:txBody>
          <a:bodyPr wrap="none" lIns="0" tIns="0" rIns="0" bIns="0" rtlCol="0" anchor="t">
            <a:normAutofit fontScale="25000" lnSpcReduction="20000"/>
          </a:bodyPr>
          <a:lstStyle/>
          <a:p>
            <a:pPr marL="0" indent="0" algn="l">
              <a:lnSpc>
                <a:spcPts val="1350"/>
              </a:lnSpc>
              <a:buNone/>
            </a:pPr>
            <a:r>
              <a:rPr lang="en-US" sz="900" dirty="0">
                <a:solidFill>
                  <a:srgbClr val="86EFAC"/>
                </a:solidFill>
                <a:latin typeface="Courier New" pitchFamily="34" charset="0"/>
                <a:ea typeface="Courier New" pitchFamily="34" charset="-122"/>
                <a:cs typeface="Courier New" pitchFamily="34" charset="-120"/>
              </a:rPr>
              <a:t>Deploy default site config</a:t>
            </a:r>
            <a:endParaRPr lang="en-US" sz="900" dirty="0"/>
          </a:p>
        </p:txBody>
      </p:sp>
      <p:sp>
        <p:nvSpPr>
          <p:cNvPr id="27" name="Text 25"/>
          <p:cNvSpPr/>
          <p:nvPr/>
        </p:nvSpPr>
        <p:spPr>
          <a:xfrm>
            <a:off x="900113" y="3310347"/>
            <a:ext cx="735521" cy="144018"/>
          </a:xfrm>
          <a:prstGeom prst="rect">
            <a:avLst/>
          </a:prstGeom>
          <a:noFill/>
          <a:ln/>
        </p:spPr>
        <p:txBody>
          <a:bodyPr wrap="none" lIns="0" tIns="0" rIns="0" bIns="0" rtlCol="0" anchor="t">
            <a:normAutofit fontScale="25000" lnSpcReduction="20000"/>
          </a:bodyPr>
          <a:lstStyle/>
          <a:p>
            <a:pPr marL="0" indent="0" algn="l">
              <a:lnSpc>
                <a:spcPts val="1350"/>
              </a:lnSpc>
              <a:buNone/>
            </a:pPr>
            <a:r>
              <a:rPr lang="en-US" sz="900" dirty="0">
                <a:solidFill>
                  <a:srgbClr val="FBA74A"/>
                </a:solidFill>
                <a:latin typeface="Courier New" pitchFamily="34" charset="0"/>
                <a:ea typeface="Courier New" pitchFamily="34" charset="-122"/>
                <a:cs typeface="Courier New" pitchFamily="34" charset="-120"/>
              </a:rPr>
              <a:t>template:</a:t>
            </a:r>
            <a:endParaRPr lang="en-US" sz="900" dirty="0"/>
          </a:p>
        </p:txBody>
      </p:sp>
      <p:sp>
        <p:nvSpPr>
          <p:cNvPr id="28" name="Text 26"/>
          <p:cNvSpPr/>
          <p:nvPr/>
        </p:nvSpPr>
        <p:spPr>
          <a:xfrm>
            <a:off x="1014413" y="3481797"/>
            <a:ext cx="365760" cy="154305"/>
          </a:xfrm>
          <a:prstGeom prst="rect">
            <a:avLst/>
          </a:prstGeom>
          <a:noFill/>
          <a:ln/>
        </p:spPr>
        <p:txBody>
          <a:bodyPr wrap="none" lIns="0" tIns="0" rIns="0" bIns="0" rtlCol="0" anchor="t"/>
          <a:lstStyle/>
          <a:p>
            <a:pPr marL="0" indent="0" algn="l">
              <a:lnSpc>
                <a:spcPts val="1350"/>
              </a:lnSpc>
              <a:buNone/>
            </a:pPr>
            <a:r>
              <a:rPr lang="en-US" sz="900" dirty="0">
                <a:solidFill>
                  <a:srgbClr val="FBA74A"/>
                </a:solidFill>
                <a:latin typeface="Courier New" pitchFamily="34" charset="0"/>
                <a:ea typeface="Courier New" pitchFamily="34" charset="-122"/>
                <a:cs typeface="Courier New" pitchFamily="34" charset="-120"/>
              </a:rPr>
              <a:t>src:</a:t>
            </a:r>
            <a:endParaRPr lang="en-US" sz="900" dirty="0"/>
          </a:p>
        </p:txBody>
      </p:sp>
      <p:sp>
        <p:nvSpPr>
          <p:cNvPr id="29" name="Text 27"/>
          <p:cNvSpPr/>
          <p:nvPr/>
        </p:nvSpPr>
        <p:spPr>
          <a:xfrm>
            <a:off x="1300163" y="3481797"/>
            <a:ext cx="1071563" cy="144018"/>
          </a:xfrm>
          <a:prstGeom prst="rect">
            <a:avLst/>
          </a:prstGeom>
          <a:noFill/>
          <a:ln/>
        </p:spPr>
        <p:txBody>
          <a:bodyPr wrap="none" lIns="0" tIns="0" rIns="0" bIns="0" rtlCol="0" anchor="t">
            <a:normAutofit fontScale="32500" lnSpcReduction="20000"/>
          </a:bodyPr>
          <a:lstStyle/>
          <a:p>
            <a:pPr marL="0" indent="0" algn="l">
              <a:lnSpc>
                <a:spcPts val="1350"/>
              </a:lnSpc>
              <a:buNone/>
            </a:pPr>
            <a:r>
              <a:rPr lang="en-US" sz="900" dirty="0">
                <a:solidFill>
                  <a:srgbClr val="86EFAC"/>
                </a:solidFill>
                <a:latin typeface="Liberation Sans Narrow" pitchFamily="34" charset="0"/>
                <a:ea typeface="Liberation Sans Narrow" pitchFamily="34" charset="-122"/>
                <a:cs typeface="Liberation Sans Narrow" pitchFamily="34" charset="-120"/>
              </a:rPr>
              <a:t>default.site.j2</a:t>
            </a:r>
            <a:endParaRPr lang="en-US" sz="900" dirty="0"/>
          </a:p>
        </p:txBody>
      </p:sp>
      <p:sp>
        <p:nvSpPr>
          <p:cNvPr id="30" name="Text 28"/>
          <p:cNvSpPr/>
          <p:nvPr/>
        </p:nvSpPr>
        <p:spPr>
          <a:xfrm>
            <a:off x="1014413" y="3653247"/>
            <a:ext cx="457200" cy="154305"/>
          </a:xfrm>
          <a:prstGeom prst="rect">
            <a:avLst/>
          </a:prstGeom>
          <a:noFill/>
          <a:ln/>
        </p:spPr>
        <p:txBody>
          <a:bodyPr wrap="none" lIns="0" tIns="0" rIns="0" bIns="0" rtlCol="0" anchor="t"/>
          <a:lstStyle/>
          <a:p>
            <a:pPr marL="0" indent="0" algn="l">
              <a:lnSpc>
                <a:spcPts val="1350"/>
              </a:lnSpc>
              <a:buNone/>
            </a:pPr>
            <a:r>
              <a:rPr lang="en-US" sz="900" dirty="0">
                <a:solidFill>
                  <a:srgbClr val="FBA74A"/>
                </a:solidFill>
                <a:latin typeface="Courier New" pitchFamily="34" charset="0"/>
                <a:ea typeface="Courier New" pitchFamily="34" charset="-122"/>
                <a:cs typeface="Courier New" pitchFamily="34" charset="-120"/>
              </a:rPr>
              <a:t>dest:</a:t>
            </a:r>
            <a:endParaRPr lang="en-US" sz="900" dirty="0"/>
          </a:p>
        </p:txBody>
      </p:sp>
      <p:sp>
        <p:nvSpPr>
          <p:cNvPr id="31" name="Text 29"/>
          <p:cNvSpPr/>
          <p:nvPr/>
        </p:nvSpPr>
        <p:spPr>
          <a:xfrm>
            <a:off x="1357313" y="3653247"/>
            <a:ext cx="2098548" cy="144018"/>
          </a:xfrm>
          <a:prstGeom prst="rect">
            <a:avLst/>
          </a:prstGeom>
          <a:noFill/>
          <a:ln/>
        </p:spPr>
        <p:txBody>
          <a:bodyPr wrap="none" lIns="0" tIns="0" rIns="0" bIns="0" rtlCol="0" anchor="t">
            <a:normAutofit fontScale="25000" lnSpcReduction="20000"/>
          </a:bodyPr>
          <a:lstStyle/>
          <a:p>
            <a:pPr marL="0" indent="0" algn="l">
              <a:lnSpc>
                <a:spcPts val="1350"/>
              </a:lnSpc>
              <a:buNone/>
            </a:pPr>
            <a:r>
              <a:rPr lang="en-US" sz="900" dirty="0">
                <a:solidFill>
                  <a:srgbClr val="86EFAC"/>
                </a:solidFill>
                <a:latin typeface="Courier New" pitchFamily="34" charset="0"/>
                <a:ea typeface="Courier New" pitchFamily="34" charset="-122"/>
                <a:cs typeface="Courier New" pitchFamily="34" charset="-120"/>
              </a:rPr>
              <a:t>/etc/nginx/sites-available/default</a:t>
            </a:r>
            <a:endParaRPr lang="en-US" sz="900" dirty="0"/>
          </a:p>
        </p:txBody>
      </p:sp>
      <p:sp>
        <p:nvSpPr>
          <p:cNvPr id="32" name="Text 30"/>
          <p:cNvSpPr/>
          <p:nvPr/>
        </p:nvSpPr>
        <p:spPr>
          <a:xfrm>
            <a:off x="900113" y="3824697"/>
            <a:ext cx="572072" cy="154305"/>
          </a:xfrm>
          <a:prstGeom prst="rect">
            <a:avLst/>
          </a:prstGeom>
          <a:noFill/>
          <a:ln/>
        </p:spPr>
        <p:txBody>
          <a:bodyPr wrap="none" lIns="0" tIns="0" rIns="0" bIns="0" rtlCol="0" anchor="t"/>
          <a:lstStyle/>
          <a:p>
            <a:pPr marL="0" indent="0" algn="l">
              <a:lnSpc>
                <a:spcPts val="1350"/>
              </a:lnSpc>
              <a:buNone/>
            </a:pPr>
            <a:r>
              <a:rPr lang="en-US" sz="900" dirty="0">
                <a:solidFill>
                  <a:srgbClr val="FBA74A"/>
                </a:solidFill>
                <a:latin typeface="Courier New" pitchFamily="34" charset="0"/>
                <a:ea typeface="Courier New" pitchFamily="34" charset="-122"/>
                <a:cs typeface="Courier New" pitchFamily="34" charset="-120"/>
              </a:rPr>
              <a:t>notify:</a:t>
            </a:r>
            <a:endParaRPr lang="en-US" sz="900" dirty="0"/>
          </a:p>
        </p:txBody>
      </p:sp>
      <p:sp>
        <p:nvSpPr>
          <p:cNvPr id="33" name="Text 31"/>
          <p:cNvSpPr/>
          <p:nvPr/>
        </p:nvSpPr>
        <p:spPr>
          <a:xfrm>
            <a:off x="1357313" y="3824697"/>
            <a:ext cx="928688" cy="154305"/>
          </a:xfrm>
          <a:prstGeom prst="rect">
            <a:avLst/>
          </a:prstGeom>
          <a:noFill/>
          <a:ln/>
        </p:spPr>
        <p:txBody>
          <a:bodyPr wrap="none" lIns="0" tIns="0" rIns="0" bIns="0" rtlCol="0" anchor="t"/>
          <a:lstStyle/>
          <a:p>
            <a:pPr marL="0" indent="0" algn="l">
              <a:lnSpc>
                <a:spcPts val="1350"/>
              </a:lnSpc>
              <a:buNone/>
            </a:pPr>
            <a:r>
              <a:rPr lang="en-US" sz="900" dirty="0">
                <a:solidFill>
                  <a:srgbClr val="86EFAC"/>
                </a:solidFill>
                <a:latin typeface="Courier New" pitchFamily="34" charset="0"/>
                <a:ea typeface="Courier New" pitchFamily="34" charset="-122"/>
                <a:cs typeface="Courier New" pitchFamily="34" charset="-120"/>
              </a:rPr>
              <a:t>restart nginx</a:t>
            </a:r>
            <a:endParaRPr lang="en-US" sz="900" dirty="0"/>
          </a:p>
        </p:txBody>
      </p:sp>
      <p:sp>
        <p:nvSpPr>
          <p:cNvPr id="34" name="Text 32"/>
          <p:cNvSpPr/>
          <p:nvPr/>
        </p:nvSpPr>
        <p:spPr>
          <a:xfrm>
            <a:off x="2271713" y="3824697"/>
            <a:ext cx="1032129" cy="154305"/>
          </a:xfrm>
          <a:prstGeom prst="rect">
            <a:avLst/>
          </a:prstGeom>
          <a:noFill/>
          <a:ln/>
        </p:spPr>
        <p:txBody>
          <a:bodyPr wrap="none" lIns="0" tIns="0" rIns="0" bIns="0" rtlCol="0" anchor="t"/>
          <a:lstStyle/>
          <a:p>
            <a:pPr marL="0" indent="0" algn="l">
              <a:lnSpc>
                <a:spcPts val="1350"/>
              </a:lnSpc>
              <a:buNone/>
            </a:pPr>
            <a:r>
              <a:rPr lang="en-US" sz="900" i="1" dirty="0">
                <a:solidFill>
                  <a:srgbClr val="94A3B8"/>
                </a:solidFill>
                <a:latin typeface="Courier New" pitchFamily="34" charset="0"/>
                <a:ea typeface="Courier New" pitchFamily="34" charset="-122"/>
                <a:cs typeface="Courier New" pitchFamily="34" charset="-120"/>
              </a:rPr>
              <a:t># same handler</a:t>
            </a:r>
            <a:endParaRPr lang="en-US" sz="900" dirty="0"/>
          </a:p>
        </p:txBody>
      </p:sp>
      <p:sp>
        <p:nvSpPr>
          <p:cNvPr id="35" name="Text 33"/>
          <p:cNvSpPr/>
          <p:nvPr/>
        </p:nvSpPr>
        <p:spPr>
          <a:xfrm>
            <a:off x="900113" y="4167597"/>
            <a:ext cx="457200" cy="154305"/>
          </a:xfrm>
          <a:prstGeom prst="rect">
            <a:avLst/>
          </a:prstGeom>
          <a:noFill/>
          <a:ln/>
        </p:spPr>
        <p:txBody>
          <a:bodyPr wrap="none" lIns="0" tIns="0" rIns="0" bIns="0" rtlCol="0" anchor="t"/>
          <a:lstStyle/>
          <a:p>
            <a:pPr marL="0" indent="0" algn="l">
              <a:lnSpc>
                <a:spcPts val="1350"/>
              </a:lnSpc>
              <a:buNone/>
            </a:pPr>
            <a:r>
              <a:rPr lang="en-US" sz="900" dirty="0">
                <a:solidFill>
                  <a:srgbClr val="FBA74A"/>
                </a:solidFill>
                <a:latin typeface="Courier New" pitchFamily="34" charset="0"/>
                <a:ea typeface="Courier New" pitchFamily="34" charset="-122"/>
                <a:cs typeface="Courier New" pitchFamily="34" charset="-120"/>
              </a:rPr>
              <a:t>name:</a:t>
            </a:r>
            <a:endParaRPr lang="en-US" sz="900" dirty="0"/>
          </a:p>
        </p:txBody>
      </p:sp>
      <p:sp>
        <p:nvSpPr>
          <p:cNvPr id="36" name="Text 34"/>
          <p:cNvSpPr/>
          <p:nvPr/>
        </p:nvSpPr>
        <p:spPr>
          <a:xfrm>
            <a:off x="1243013" y="4167597"/>
            <a:ext cx="1214438" cy="144018"/>
          </a:xfrm>
          <a:prstGeom prst="rect">
            <a:avLst/>
          </a:prstGeom>
          <a:noFill/>
          <a:ln/>
        </p:spPr>
        <p:txBody>
          <a:bodyPr wrap="none" lIns="0" tIns="0" rIns="0" bIns="0" rtlCol="0" anchor="t">
            <a:normAutofit fontScale="25000" lnSpcReduction="20000"/>
          </a:bodyPr>
          <a:lstStyle/>
          <a:p>
            <a:pPr marL="0" indent="0" algn="l">
              <a:lnSpc>
                <a:spcPts val="1350"/>
              </a:lnSpc>
              <a:buNone/>
            </a:pPr>
            <a:r>
              <a:rPr lang="en-US" sz="900" dirty="0">
                <a:solidFill>
                  <a:srgbClr val="86EFAC"/>
                </a:solidFill>
                <a:latin typeface="Courier New" pitchFamily="34" charset="0"/>
                <a:ea typeface="Courier New" pitchFamily="34" charset="-122"/>
                <a:cs typeface="Courier New" pitchFamily="34" charset="-120"/>
              </a:rPr>
              <a:t>Deploy SSL config</a:t>
            </a:r>
            <a:endParaRPr lang="en-US" sz="900" dirty="0"/>
          </a:p>
        </p:txBody>
      </p:sp>
      <p:sp>
        <p:nvSpPr>
          <p:cNvPr id="37" name="Text 35"/>
          <p:cNvSpPr/>
          <p:nvPr/>
        </p:nvSpPr>
        <p:spPr>
          <a:xfrm>
            <a:off x="900113" y="4339047"/>
            <a:ext cx="457200" cy="144018"/>
          </a:xfrm>
          <a:prstGeom prst="rect">
            <a:avLst/>
          </a:prstGeom>
          <a:noFill/>
          <a:ln/>
        </p:spPr>
        <p:txBody>
          <a:bodyPr wrap="none" lIns="0" tIns="0" rIns="0" bIns="0" rtlCol="0" anchor="t">
            <a:normAutofit fontScale="25000" lnSpcReduction="20000"/>
          </a:bodyPr>
          <a:lstStyle/>
          <a:p>
            <a:pPr marL="0" indent="0" algn="l">
              <a:lnSpc>
                <a:spcPts val="1350"/>
              </a:lnSpc>
              <a:buNone/>
            </a:pPr>
            <a:r>
              <a:rPr lang="en-US" sz="900" dirty="0">
                <a:solidFill>
                  <a:srgbClr val="FBA74A"/>
                </a:solidFill>
                <a:latin typeface="Courier New" pitchFamily="34" charset="0"/>
                <a:ea typeface="Courier New" pitchFamily="34" charset="-122"/>
                <a:cs typeface="Courier New" pitchFamily="34" charset="-120"/>
              </a:rPr>
              <a:t>copy:</a:t>
            </a:r>
            <a:endParaRPr lang="en-US" sz="900" dirty="0"/>
          </a:p>
        </p:txBody>
      </p:sp>
      <p:sp>
        <p:nvSpPr>
          <p:cNvPr id="38" name="Text 36"/>
          <p:cNvSpPr/>
          <p:nvPr/>
        </p:nvSpPr>
        <p:spPr>
          <a:xfrm>
            <a:off x="1014413" y="4510497"/>
            <a:ext cx="365760" cy="154305"/>
          </a:xfrm>
          <a:prstGeom prst="rect">
            <a:avLst/>
          </a:prstGeom>
          <a:noFill/>
          <a:ln/>
        </p:spPr>
        <p:txBody>
          <a:bodyPr wrap="none" lIns="0" tIns="0" rIns="0" bIns="0" rtlCol="0" anchor="t"/>
          <a:lstStyle/>
          <a:p>
            <a:pPr marL="0" indent="0" algn="l">
              <a:lnSpc>
                <a:spcPts val="1350"/>
              </a:lnSpc>
              <a:buNone/>
            </a:pPr>
            <a:r>
              <a:rPr lang="en-US" sz="900" dirty="0">
                <a:solidFill>
                  <a:srgbClr val="FBA74A"/>
                </a:solidFill>
                <a:latin typeface="Courier New" pitchFamily="34" charset="0"/>
                <a:ea typeface="Courier New" pitchFamily="34" charset="-122"/>
                <a:cs typeface="Courier New" pitchFamily="34" charset="-120"/>
              </a:rPr>
              <a:t>src:</a:t>
            </a:r>
            <a:endParaRPr lang="en-US" sz="900" dirty="0"/>
          </a:p>
        </p:txBody>
      </p:sp>
      <p:sp>
        <p:nvSpPr>
          <p:cNvPr id="39" name="Text 37"/>
          <p:cNvSpPr/>
          <p:nvPr/>
        </p:nvSpPr>
        <p:spPr>
          <a:xfrm>
            <a:off x="1300163" y="4510497"/>
            <a:ext cx="653796" cy="144018"/>
          </a:xfrm>
          <a:prstGeom prst="rect">
            <a:avLst/>
          </a:prstGeom>
          <a:noFill/>
          <a:ln/>
        </p:spPr>
        <p:txBody>
          <a:bodyPr wrap="none" lIns="0" tIns="0" rIns="0" bIns="0" rtlCol="0" anchor="t">
            <a:normAutofit fontScale="25000" lnSpcReduction="20000"/>
          </a:bodyPr>
          <a:lstStyle/>
          <a:p>
            <a:pPr marL="0" indent="0" algn="l">
              <a:lnSpc>
                <a:spcPts val="1350"/>
              </a:lnSpc>
              <a:buNone/>
            </a:pPr>
            <a:r>
              <a:rPr lang="en-US" sz="900" dirty="0">
                <a:solidFill>
                  <a:srgbClr val="86EFAC"/>
                </a:solidFill>
                <a:latin typeface="Courier New" pitchFamily="34" charset="0"/>
                <a:ea typeface="Courier New" pitchFamily="34" charset="-122"/>
                <a:cs typeface="Courier New" pitchFamily="34" charset="-120"/>
              </a:rPr>
              <a:t>ssl.conf</a:t>
            </a:r>
            <a:endParaRPr lang="en-US" sz="900" dirty="0"/>
          </a:p>
        </p:txBody>
      </p:sp>
      <p:sp>
        <p:nvSpPr>
          <p:cNvPr id="40" name="Text 38"/>
          <p:cNvSpPr/>
          <p:nvPr/>
        </p:nvSpPr>
        <p:spPr>
          <a:xfrm>
            <a:off x="1014413" y="4681947"/>
            <a:ext cx="457200" cy="154305"/>
          </a:xfrm>
          <a:prstGeom prst="rect">
            <a:avLst/>
          </a:prstGeom>
          <a:noFill/>
          <a:ln/>
        </p:spPr>
        <p:txBody>
          <a:bodyPr wrap="none" lIns="0" tIns="0" rIns="0" bIns="0" rtlCol="0" anchor="t"/>
          <a:lstStyle/>
          <a:p>
            <a:pPr marL="0" indent="0" algn="l">
              <a:lnSpc>
                <a:spcPts val="1350"/>
              </a:lnSpc>
              <a:buNone/>
            </a:pPr>
            <a:r>
              <a:rPr lang="en-US" sz="900" dirty="0">
                <a:solidFill>
                  <a:srgbClr val="FBA74A"/>
                </a:solidFill>
                <a:latin typeface="Courier New" pitchFamily="34" charset="0"/>
                <a:ea typeface="Courier New" pitchFamily="34" charset="-122"/>
                <a:cs typeface="Courier New" pitchFamily="34" charset="-120"/>
              </a:rPr>
              <a:t>dest:</a:t>
            </a:r>
            <a:endParaRPr lang="en-US" sz="900" dirty="0"/>
          </a:p>
        </p:txBody>
      </p:sp>
      <p:sp>
        <p:nvSpPr>
          <p:cNvPr id="41" name="Text 39"/>
          <p:cNvSpPr/>
          <p:nvPr/>
        </p:nvSpPr>
        <p:spPr>
          <a:xfrm>
            <a:off x="1357313" y="4681947"/>
            <a:ext cx="1604772" cy="144018"/>
          </a:xfrm>
          <a:prstGeom prst="rect">
            <a:avLst/>
          </a:prstGeom>
          <a:noFill/>
          <a:ln/>
        </p:spPr>
        <p:txBody>
          <a:bodyPr wrap="none" lIns="0" tIns="0" rIns="0" bIns="0" rtlCol="0" anchor="t">
            <a:normAutofit fontScale="25000" lnSpcReduction="20000"/>
          </a:bodyPr>
          <a:lstStyle/>
          <a:p>
            <a:pPr marL="0" indent="0" algn="l">
              <a:lnSpc>
                <a:spcPts val="1350"/>
              </a:lnSpc>
              <a:buNone/>
            </a:pPr>
            <a:r>
              <a:rPr lang="en-US" sz="900" dirty="0">
                <a:solidFill>
                  <a:srgbClr val="86EFAC"/>
                </a:solidFill>
                <a:latin typeface="Courier New" pitchFamily="34" charset="0"/>
                <a:ea typeface="Courier New" pitchFamily="34" charset="-122"/>
                <a:cs typeface="Courier New" pitchFamily="34" charset="-120"/>
              </a:rPr>
              <a:t>/etc/nginx/conf.d/ssl.conf</a:t>
            </a:r>
            <a:endParaRPr lang="en-US" sz="900" dirty="0"/>
          </a:p>
        </p:txBody>
      </p:sp>
      <p:sp>
        <p:nvSpPr>
          <p:cNvPr id="42" name="Text 40"/>
          <p:cNvSpPr/>
          <p:nvPr/>
        </p:nvSpPr>
        <p:spPr>
          <a:xfrm>
            <a:off x="900113" y="4853397"/>
            <a:ext cx="572072" cy="154305"/>
          </a:xfrm>
          <a:prstGeom prst="rect">
            <a:avLst/>
          </a:prstGeom>
          <a:noFill/>
          <a:ln/>
        </p:spPr>
        <p:txBody>
          <a:bodyPr wrap="none" lIns="0" tIns="0" rIns="0" bIns="0" rtlCol="0" anchor="t"/>
          <a:lstStyle/>
          <a:p>
            <a:pPr marL="0" indent="0" algn="l">
              <a:lnSpc>
                <a:spcPts val="1350"/>
              </a:lnSpc>
              <a:buNone/>
            </a:pPr>
            <a:r>
              <a:rPr lang="en-US" sz="900" dirty="0">
                <a:solidFill>
                  <a:srgbClr val="FBA74A"/>
                </a:solidFill>
                <a:latin typeface="Courier New" pitchFamily="34" charset="0"/>
                <a:ea typeface="Courier New" pitchFamily="34" charset="-122"/>
                <a:cs typeface="Courier New" pitchFamily="34" charset="-120"/>
              </a:rPr>
              <a:t>notify:</a:t>
            </a:r>
            <a:endParaRPr lang="en-US" sz="900" dirty="0"/>
          </a:p>
        </p:txBody>
      </p:sp>
      <p:sp>
        <p:nvSpPr>
          <p:cNvPr id="43" name="Text 41"/>
          <p:cNvSpPr/>
          <p:nvPr/>
        </p:nvSpPr>
        <p:spPr>
          <a:xfrm>
            <a:off x="1357313" y="4853397"/>
            <a:ext cx="928688" cy="154305"/>
          </a:xfrm>
          <a:prstGeom prst="rect">
            <a:avLst/>
          </a:prstGeom>
          <a:noFill/>
          <a:ln/>
        </p:spPr>
        <p:txBody>
          <a:bodyPr wrap="none" lIns="0" tIns="0" rIns="0" bIns="0" rtlCol="0" anchor="t"/>
          <a:lstStyle/>
          <a:p>
            <a:pPr marL="0" indent="0" algn="l">
              <a:lnSpc>
                <a:spcPts val="1350"/>
              </a:lnSpc>
              <a:buNone/>
            </a:pPr>
            <a:r>
              <a:rPr lang="en-US" sz="900" dirty="0">
                <a:solidFill>
                  <a:srgbClr val="86EFAC"/>
                </a:solidFill>
                <a:latin typeface="Courier New" pitchFamily="34" charset="0"/>
                <a:ea typeface="Courier New" pitchFamily="34" charset="-122"/>
                <a:cs typeface="Courier New" pitchFamily="34" charset="-120"/>
              </a:rPr>
              <a:t>restart nginx</a:t>
            </a:r>
            <a:endParaRPr lang="en-US" sz="900" dirty="0"/>
          </a:p>
        </p:txBody>
      </p:sp>
      <p:sp>
        <p:nvSpPr>
          <p:cNvPr id="44" name="Text 42"/>
          <p:cNvSpPr/>
          <p:nvPr/>
        </p:nvSpPr>
        <p:spPr>
          <a:xfrm>
            <a:off x="2271713" y="4853397"/>
            <a:ext cx="1032129" cy="154305"/>
          </a:xfrm>
          <a:prstGeom prst="rect">
            <a:avLst/>
          </a:prstGeom>
          <a:noFill/>
          <a:ln/>
        </p:spPr>
        <p:txBody>
          <a:bodyPr wrap="none" lIns="0" tIns="0" rIns="0" bIns="0" rtlCol="0" anchor="t"/>
          <a:lstStyle/>
          <a:p>
            <a:pPr marL="0" indent="0" algn="l">
              <a:lnSpc>
                <a:spcPts val="1350"/>
              </a:lnSpc>
              <a:buNone/>
            </a:pPr>
            <a:r>
              <a:rPr lang="en-US" sz="900" i="1" dirty="0">
                <a:solidFill>
                  <a:srgbClr val="94A3B8"/>
                </a:solidFill>
                <a:latin typeface="Courier New" pitchFamily="34" charset="0"/>
                <a:ea typeface="Courier New" pitchFamily="34" charset="-122"/>
                <a:cs typeface="Courier New" pitchFamily="34" charset="-120"/>
              </a:rPr>
              <a:t># same handler</a:t>
            </a:r>
            <a:endParaRPr lang="en-US" sz="900" dirty="0"/>
          </a:p>
        </p:txBody>
      </p:sp>
      <p:sp>
        <p:nvSpPr>
          <p:cNvPr id="45" name="Text 43"/>
          <p:cNvSpPr/>
          <p:nvPr/>
        </p:nvSpPr>
        <p:spPr>
          <a:xfrm>
            <a:off x="900113" y="5196297"/>
            <a:ext cx="457200" cy="91440"/>
          </a:xfrm>
          <a:prstGeom prst="rect">
            <a:avLst/>
          </a:prstGeom>
          <a:noFill/>
          <a:ln/>
        </p:spPr>
        <p:txBody>
          <a:bodyPr wrap="none" lIns="0" tIns="0" rIns="0" bIns="0" rtlCol="0" anchor="t"/>
          <a:lstStyle/>
          <a:p>
            <a:pPr marL="0" indent="0" algn="l">
              <a:lnSpc>
                <a:spcPts val="1350"/>
              </a:lnSpc>
              <a:buNone/>
            </a:pPr>
            <a:r>
              <a:rPr lang="en-US" sz="900" dirty="0">
                <a:solidFill>
                  <a:srgbClr val="FBA74A"/>
                </a:solidFill>
                <a:latin typeface="Courier New" pitchFamily="34" charset="0"/>
                <a:ea typeface="Courier New" pitchFamily="34" charset="-122"/>
                <a:cs typeface="Courier New" pitchFamily="34" charset="-120"/>
              </a:rPr>
              <a:t>name:</a:t>
            </a:r>
            <a:endParaRPr lang="en-US" sz="900" dirty="0"/>
          </a:p>
        </p:txBody>
      </p:sp>
      <p:sp>
        <p:nvSpPr>
          <p:cNvPr id="46" name="Text 44"/>
          <p:cNvSpPr/>
          <p:nvPr/>
        </p:nvSpPr>
        <p:spPr>
          <a:xfrm>
            <a:off x="1243013" y="5196297"/>
            <a:ext cx="1714500" cy="91440"/>
          </a:xfrm>
          <a:prstGeom prst="rect">
            <a:avLst/>
          </a:prstGeom>
          <a:noFill/>
          <a:ln/>
        </p:spPr>
        <p:txBody>
          <a:bodyPr wrap="none" lIns="0" tIns="0" rIns="0" bIns="0" rtlCol="0" anchor="t"/>
          <a:lstStyle/>
          <a:p>
            <a:pPr marL="0" indent="0" algn="l">
              <a:lnSpc>
                <a:spcPts val="1350"/>
              </a:lnSpc>
              <a:buNone/>
            </a:pPr>
            <a:r>
              <a:rPr lang="en-US" sz="900" dirty="0">
                <a:solidFill>
                  <a:srgbClr val="86EFAC"/>
                </a:solidFill>
                <a:latin typeface="Courier New" pitchFamily="34" charset="0"/>
                <a:ea typeface="Courier New" pitchFamily="34" charset="-122"/>
                <a:cs typeface="Courier New" pitchFamily="34" charset="-120"/>
              </a:rPr>
              <a:t>Print completion message</a:t>
            </a:r>
            <a:endParaRPr lang="en-US" sz="900" dirty="0"/>
          </a:p>
        </p:txBody>
      </p:sp>
      <p:sp>
        <p:nvSpPr>
          <p:cNvPr id="47" name="Text 45"/>
          <p:cNvSpPr/>
          <p:nvPr/>
        </p:nvSpPr>
        <p:spPr>
          <a:xfrm>
            <a:off x="900113" y="5367747"/>
            <a:ext cx="490347" cy="91440"/>
          </a:xfrm>
          <a:prstGeom prst="rect">
            <a:avLst/>
          </a:prstGeom>
          <a:noFill/>
          <a:ln/>
        </p:spPr>
        <p:txBody>
          <a:bodyPr wrap="none" lIns="0" tIns="0" rIns="0" bIns="0" rtlCol="0" anchor="t"/>
          <a:lstStyle/>
          <a:p>
            <a:pPr marL="0" indent="0" algn="l">
              <a:lnSpc>
                <a:spcPts val="1350"/>
              </a:lnSpc>
              <a:buNone/>
            </a:pPr>
            <a:r>
              <a:rPr lang="en-US" sz="900" dirty="0">
                <a:solidFill>
                  <a:srgbClr val="FBA74A"/>
                </a:solidFill>
                <a:latin typeface="Courier New" pitchFamily="34" charset="0"/>
                <a:ea typeface="Courier New" pitchFamily="34" charset="-122"/>
                <a:cs typeface="Courier New" pitchFamily="34" charset="-120"/>
              </a:rPr>
              <a:t>debug:</a:t>
            </a:r>
            <a:endParaRPr lang="en-US" sz="900" dirty="0"/>
          </a:p>
        </p:txBody>
      </p:sp>
      <p:sp>
        <p:nvSpPr>
          <p:cNvPr id="48" name="Text 46"/>
          <p:cNvSpPr/>
          <p:nvPr/>
        </p:nvSpPr>
        <p:spPr>
          <a:xfrm>
            <a:off x="1014413" y="5539197"/>
            <a:ext cx="365760" cy="91440"/>
          </a:xfrm>
          <a:prstGeom prst="rect">
            <a:avLst/>
          </a:prstGeom>
          <a:noFill/>
          <a:ln/>
        </p:spPr>
        <p:txBody>
          <a:bodyPr wrap="none" lIns="0" tIns="0" rIns="0" bIns="0" rtlCol="0" anchor="t"/>
          <a:lstStyle/>
          <a:p>
            <a:pPr marL="0" indent="0" algn="l">
              <a:lnSpc>
                <a:spcPts val="1350"/>
              </a:lnSpc>
              <a:buNone/>
            </a:pPr>
            <a:r>
              <a:rPr lang="en-US" sz="900" dirty="0">
                <a:solidFill>
                  <a:srgbClr val="FBA74A"/>
                </a:solidFill>
                <a:latin typeface="Courier New" pitchFamily="34" charset="0"/>
                <a:ea typeface="Courier New" pitchFamily="34" charset="-122"/>
                <a:cs typeface="Courier New" pitchFamily="34" charset="-120"/>
              </a:rPr>
              <a:t>msg:</a:t>
            </a:r>
            <a:endParaRPr lang="en-US" sz="900" dirty="0"/>
          </a:p>
        </p:txBody>
      </p:sp>
      <p:sp>
        <p:nvSpPr>
          <p:cNvPr id="49" name="Text 47"/>
          <p:cNvSpPr/>
          <p:nvPr/>
        </p:nvSpPr>
        <p:spPr>
          <a:xfrm>
            <a:off x="1300163" y="5539197"/>
            <a:ext cx="3429000" cy="91440"/>
          </a:xfrm>
          <a:prstGeom prst="rect">
            <a:avLst/>
          </a:prstGeom>
          <a:noFill/>
          <a:ln/>
        </p:spPr>
        <p:txBody>
          <a:bodyPr wrap="none" lIns="0" tIns="0" rIns="0" bIns="0" rtlCol="0" anchor="t"/>
          <a:lstStyle/>
          <a:p>
            <a:pPr marL="0" indent="0" algn="l">
              <a:lnSpc>
                <a:spcPts val="1350"/>
              </a:lnSpc>
              <a:buNone/>
            </a:pPr>
            <a:r>
              <a:rPr lang="en-US" sz="900" dirty="0">
                <a:solidFill>
                  <a:srgbClr val="86EFAC"/>
                </a:solidFill>
                <a:latin typeface="Courier New" pitchFamily="34" charset="0"/>
                <a:ea typeface="Courier New" pitchFamily="34" charset="-122"/>
                <a:cs typeface="Courier New" pitchFamily="34" charset="-120"/>
              </a:rPr>
              <a:t>"Config files deployed. nginx will restart once at the end."</a:t>
            </a:r>
            <a:endParaRPr lang="en-US" sz="900" dirty="0"/>
          </a:p>
        </p:txBody>
      </p:sp>
      <p:sp>
        <p:nvSpPr>
          <p:cNvPr id="50" name="Text 48"/>
          <p:cNvSpPr/>
          <p:nvPr/>
        </p:nvSpPr>
        <p:spPr>
          <a:xfrm>
            <a:off x="671513" y="5882097"/>
            <a:ext cx="735521" cy="91440"/>
          </a:xfrm>
          <a:prstGeom prst="rect">
            <a:avLst/>
          </a:prstGeom>
          <a:noFill/>
          <a:ln/>
        </p:spPr>
        <p:txBody>
          <a:bodyPr wrap="none" lIns="0" tIns="0" rIns="0" bIns="0" rtlCol="0" anchor="t"/>
          <a:lstStyle/>
          <a:p>
            <a:pPr marL="0" indent="0" algn="l">
              <a:lnSpc>
                <a:spcPts val="1350"/>
              </a:lnSpc>
              <a:buNone/>
            </a:pPr>
            <a:r>
              <a:rPr lang="en-US" sz="900" dirty="0">
                <a:solidFill>
                  <a:srgbClr val="FBA74A"/>
                </a:solidFill>
                <a:latin typeface="Courier New" pitchFamily="34" charset="0"/>
                <a:ea typeface="Courier New" pitchFamily="34" charset="-122"/>
                <a:cs typeface="Courier New" pitchFamily="34" charset="-120"/>
              </a:rPr>
              <a:t>handlers:</a:t>
            </a:r>
            <a:endParaRPr lang="en-US" sz="900" dirty="0"/>
          </a:p>
        </p:txBody>
      </p:sp>
      <p:sp>
        <p:nvSpPr>
          <p:cNvPr id="51" name="Text 49"/>
          <p:cNvSpPr/>
          <p:nvPr/>
        </p:nvSpPr>
        <p:spPr>
          <a:xfrm>
            <a:off x="900113" y="6053547"/>
            <a:ext cx="457200" cy="91440"/>
          </a:xfrm>
          <a:prstGeom prst="rect">
            <a:avLst/>
          </a:prstGeom>
          <a:noFill/>
          <a:ln/>
        </p:spPr>
        <p:txBody>
          <a:bodyPr wrap="none" lIns="0" tIns="0" rIns="0" bIns="0" rtlCol="0" anchor="t"/>
          <a:lstStyle/>
          <a:p>
            <a:pPr marL="0" indent="0" algn="l">
              <a:lnSpc>
                <a:spcPts val="1350"/>
              </a:lnSpc>
              <a:buNone/>
            </a:pPr>
            <a:r>
              <a:rPr lang="en-US" sz="900" dirty="0">
                <a:solidFill>
                  <a:srgbClr val="FBA74A"/>
                </a:solidFill>
                <a:latin typeface="Courier New" pitchFamily="34" charset="0"/>
                <a:ea typeface="Courier New" pitchFamily="34" charset="-122"/>
                <a:cs typeface="Courier New" pitchFamily="34" charset="-120"/>
              </a:rPr>
              <a:t>name:</a:t>
            </a:r>
            <a:endParaRPr lang="en-US" sz="900" dirty="0"/>
          </a:p>
        </p:txBody>
      </p:sp>
      <p:sp>
        <p:nvSpPr>
          <p:cNvPr id="52" name="Text 50"/>
          <p:cNvSpPr/>
          <p:nvPr/>
        </p:nvSpPr>
        <p:spPr>
          <a:xfrm>
            <a:off x="1243013" y="6053547"/>
            <a:ext cx="928688" cy="91440"/>
          </a:xfrm>
          <a:prstGeom prst="rect">
            <a:avLst/>
          </a:prstGeom>
          <a:noFill/>
          <a:ln/>
        </p:spPr>
        <p:txBody>
          <a:bodyPr wrap="none" lIns="0" tIns="0" rIns="0" bIns="0" rtlCol="0" anchor="t"/>
          <a:lstStyle/>
          <a:p>
            <a:pPr marL="0" indent="0" algn="l">
              <a:lnSpc>
                <a:spcPts val="1350"/>
              </a:lnSpc>
              <a:buNone/>
            </a:pPr>
            <a:r>
              <a:rPr lang="en-US" sz="900" dirty="0">
                <a:solidFill>
                  <a:srgbClr val="86EFAC"/>
                </a:solidFill>
                <a:latin typeface="Courier New" pitchFamily="34" charset="0"/>
                <a:ea typeface="Courier New" pitchFamily="34" charset="-122"/>
                <a:cs typeface="Courier New" pitchFamily="34" charset="-120"/>
              </a:rPr>
              <a:t>restart nginx</a:t>
            </a:r>
            <a:endParaRPr lang="en-US" sz="900" dirty="0"/>
          </a:p>
        </p:txBody>
      </p:sp>
      <p:sp>
        <p:nvSpPr>
          <p:cNvPr id="53" name="Text 51"/>
          <p:cNvSpPr/>
          <p:nvPr/>
        </p:nvSpPr>
        <p:spPr>
          <a:xfrm>
            <a:off x="900113" y="6224997"/>
            <a:ext cx="653796" cy="91440"/>
          </a:xfrm>
          <a:prstGeom prst="rect">
            <a:avLst/>
          </a:prstGeom>
          <a:noFill/>
          <a:ln/>
        </p:spPr>
        <p:txBody>
          <a:bodyPr wrap="none" lIns="0" tIns="0" rIns="0" bIns="0" rtlCol="0" anchor="t"/>
          <a:lstStyle/>
          <a:p>
            <a:pPr marL="0" indent="0" algn="l">
              <a:lnSpc>
                <a:spcPts val="1350"/>
              </a:lnSpc>
              <a:buNone/>
            </a:pPr>
            <a:r>
              <a:rPr lang="en-US" sz="900" dirty="0">
                <a:solidFill>
                  <a:srgbClr val="FBA74A"/>
                </a:solidFill>
                <a:latin typeface="Courier New" pitchFamily="34" charset="0"/>
                <a:ea typeface="Courier New" pitchFamily="34" charset="-122"/>
                <a:cs typeface="Courier New" pitchFamily="34" charset="-120"/>
              </a:rPr>
              <a:t>service:</a:t>
            </a:r>
            <a:endParaRPr lang="en-US" sz="900" dirty="0"/>
          </a:p>
        </p:txBody>
      </p:sp>
      <p:sp>
        <p:nvSpPr>
          <p:cNvPr id="54" name="Text 52"/>
          <p:cNvSpPr/>
          <p:nvPr/>
        </p:nvSpPr>
        <p:spPr>
          <a:xfrm>
            <a:off x="1014413" y="6396447"/>
            <a:ext cx="457200" cy="91440"/>
          </a:xfrm>
          <a:prstGeom prst="rect">
            <a:avLst/>
          </a:prstGeom>
          <a:noFill/>
          <a:ln/>
        </p:spPr>
        <p:txBody>
          <a:bodyPr wrap="none" lIns="0" tIns="0" rIns="0" bIns="0" rtlCol="0" anchor="t"/>
          <a:lstStyle/>
          <a:p>
            <a:pPr marL="0" indent="0" algn="l">
              <a:lnSpc>
                <a:spcPts val="1350"/>
              </a:lnSpc>
              <a:buNone/>
            </a:pPr>
            <a:r>
              <a:rPr lang="en-US" sz="900" dirty="0">
                <a:solidFill>
                  <a:srgbClr val="FBA74A"/>
                </a:solidFill>
                <a:latin typeface="Courier New" pitchFamily="34" charset="0"/>
                <a:ea typeface="Courier New" pitchFamily="34" charset="-122"/>
                <a:cs typeface="Courier New" pitchFamily="34" charset="-120"/>
              </a:rPr>
              <a:t>name:</a:t>
            </a:r>
            <a:endParaRPr lang="en-US" sz="900" dirty="0"/>
          </a:p>
        </p:txBody>
      </p:sp>
      <p:sp>
        <p:nvSpPr>
          <p:cNvPr id="55" name="Text 53"/>
          <p:cNvSpPr/>
          <p:nvPr/>
        </p:nvSpPr>
        <p:spPr>
          <a:xfrm>
            <a:off x="1357313" y="6396447"/>
            <a:ext cx="457200" cy="91440"/>
          </a:xfrm>
          <a:prstGeom prst="rect">
            <a:avLst/>
          </a:prstGeom>
          <a:noFill/>
          <a:ln/>
        </p:spPr>
        <p:txBody>
          <a:bodyPr wrap="none" lIns="0" tIns="0" rIns="0" bIns="0" rtlCol="0" anchor="t"/>
          <a:lstStyle/>
          <a:p>
            <a:pPr marL="0" indent="0" algn="l">
              <a:lnSpc>
                <a:spcPts val="1350"/>
              </a:lnSpc>
              <a:buNone/>
            </a:pPr>
            <a:r>
              <a:rPr lang="en-US" sz="900" dirty="0">
                <a:solidFill>
                  <a:srgbClr val="86EFAC"/>
                </a:solidFill>
                <a:latin typeface="Courier New" pitchFamily="34" charset="0"/>
                <a:ea typeface="Courier New" pitchFamily="34" charset="-122"/>
                <a:cs typeface="Courier New" pitchFamily="34" charset="-120"/>
              </a:rPr>
              <a:t>nginx</a:t>
            </a:r>
            <a:endParaRPr lang="en-US" sz="900" dirty="0"/>
          </a:p>
        </p:txBody>
      </p:sp>
      <p:sp>
        <p:nvSpPr>
          <p:cNvPr id="56" name="Text 54"/>
          <p:cNvSpPr/>
          <p:nvPr/>
        </p:nvSpPr>
        <p:spPr>
          <a:xfrm>
            <a:off x="1014413" y="6567897"/>
            <a:ext cx="490347" cy="91440"/>
          </a:xfrm>
          <a:prstGeom prst="rect">
            <a:avLst/>
          </a:prstGeom>
          <a:noFill/>
          <a:ln/>
        </p:spPr>
        <p:txBody>
          <a:bodyPr wrap="none" lIns="0" tIns="0" rIns="0" bIns="0" rtlCol="0" anchor="t"/>
          <a:lstStyle/>
          <a:p>
            <a:pPr marL="0" indent="0" algn="l">
              <a:lnSpc>
                <a:spcPts val="1350"/>
              </a:lnSpc>
              <a:buNone/>
            </a:pPr>
            <a:r>
              <a:rPr lang="en-US" sz="900" dirty="0">
                <a:solidFill>
                  <a:srgbClr val="FBA74A"/>
                </a:solidFill>
                <a:latin typeface="Courier New" pitchFamily="34" charset="0"/>
                <a:ea typeface="Courier New" pitchFamily="34" charset="-122"/>
                <a:cs typeface="Courier New" pitchFamily="34" charset="-120"/>
              </a:rPr>
              <a:t>state:</a:t>
            </a:r>
            <a:endParaRPr lang="en-US" sz="900" dirty="0"/>
          </a:p>
        </p:txBody>
      </p:sp>
      <p:sp>
        <p:nvSpPr>
          <p:cNvPr id="57" name="Text 55"/>
          <p:cNvSpPr/>
          <p:nvPr/>
        </p:nvSpPr>
        <p:spPr>
          <a:xfrm>
            <a:off x="1414463" y="6567897"/>
            <a:ext cx="735521" cy="91440"/>
          </a:xfrm>
          <a:prstGeom prst="rect">
            <a:avLst/>
          </a:prstGeom>
          <a:noFill/>
          <a:ln/>
        </p:spPr>
        <p:txBody>
          <a:bodyPr wrap="none" lIns="0" tIns="0" rIns="0" bIns="0" rtlCol="0" anchor="t"/>
          <a:lstStyle/>
          <a:p>
            <a:pPr marL="0" indent="0" algn="l">
              <a:lnSpc>
                <a:spcPts val="1350"/>
              </a:lnSpc>
              <a:buNone/>
            </a:pPr>
            <a:r>
              <a:rPr lang="en-US" sz="900" dirty="0">
                <a:solidFill>
                  <a:srgbClr val="86EFAC"/>
                </a:solidFill>
                <a:latin typeface="Courier New" pitchFamily="34" charset="0"/>
                <a:ea typeface="Courier New" pitchFamily="34" charset="-122"/>
                <a:cs typeface="Courier New" pitchFamily="34" charset="-120"/>
              </a:rPr>
              <a:t>restarted</a:t>
            </a:r>
            <a:endParaRPr lang="en-US" sz="900" dirty="0"/>
          </a:p>
        </p:txBody>
      </p:sp>
      <p:sp>
        <p:nvSpPr>
          <p:cNvPr id="58" name="Text 56"/>
          <p:cNvSpPr/>
          <p:nvPr/>
        </p:nvSpPr>
        <p:spPr>
          <a:xfrm>
            <a:off x="900113" y="6739347"/>
            <a:ext cx="572072" cy="91440"/>
          </a:xfrm>
          <a:prstGeom prst="rect">
            <a:avLst/>
          </a:prstGeom>
          <a:noFill/>
          <a:ln/>
        </p:spPr>
        <p:txBody>
          <a:bodyPr wrap="none" lIns="0" tIns="0" rIns="0" bIns="0" rtlCol="0" anchor="t"/>
          <a:lstStyle/>
          <a:p>
            <a:pPr marL="0" indent="0" algn="l">
              <a:lnSpc>
                <a:spcPts val="1350"/>
              </a:lnSpc>
              <a:buNone/>
            </a:pPr>
            <a:r>
              <a:rPr lang="en-US" sz="900" dirty="0">
                <a:solidFill>
                  <a:srgbClr val="FBA74A"/>
                </a:solidFill>
                <a:latin typeface="Courier New" pitchFamily="34" charset="0"/>
                <a:ea typeface="Courier New" pitchFamily="34" charset="-122"/>
                <a:cs typeface="Courier New" pitchFamily="34" charset="-120"/>
              </a:rPr>
              <a:t>listen:</a:t>
            </a:r>
            <a:endParaRPr lang="en-US" sz="900" dirty="0"/>
          </a:p>
        </p:txBody>
      </p:sp>
      <p:sp>
        <p:nvSpPr>
          <p:cNvPr id="59" name="Text 57"/>
          <p:cNvSpPr/>
          <p:nvPr/>
        </p:nvSpPr>
        <p:spPr>
          <a:xfrm>
            <a:off x="1357313" y="6739347"/>
            <a:ext cx="928688" cy="91440"/>
          </a:xfrm>
          <a:prstGeom prst="rect">
            <a:avLst/>
          </a:prstGeom>
          <a:noFill/>
          <a:ln/>
        </p:spPr>
        <p:txBody>
          <a:bodyPr wrap="none" lIns="0" tIns="0" rIns="0" bIns="0" rtlCol="0" anchor="t"/>
          <a:lstStyle/>
          <a:p>
            <a:pPr marL="0" indent="0" algn="l">
              <a:lnSpc>
                <a:spcPts val="1350"/>
              </a:lnSpc>
              <a:buNone/>
            </a:pPr>
            <a:r>
              <a:rPr lang="en-US" sz="900" dirty="0">
                <a:solidFill>
                  <a:srgbClr val="86EFAC"/>
                </a:solidFill>
                <a:latin typeface="Courier New" pitchFamily="34" charset="0"/>
                <a:ea typeface="Courier New" pitchFamily="34" charset="-122"/>
                <a:cs typeface="Courier New" pitchFamily="34" charset="-120"/>
              </a:rPr>
              <a:t>restart nginx</a:t>
            </a:r>
            <a:endParaRPr lang="en-US" sz="900" dirty="0"/>
          </a:p>
        </p:txBody>
      </p:sp>
      <p:sp>
        <p:nvSpPr>
          <p:cNvPr id="60" name="Text 58"/>
          <p:cNvSpPr/>
          <p:nvPr/>
        </p:nvSpPr>
        <p:spPr>
          <a:xfrm>
            <a:off x="2271713" y="6739347"/>
            <a:ext cx="2407158" cy="91440"/>
          </a:xfrm>
          <a:prstGeom prst="rect">
            <a:avLst/>
          </a:prstGeom>
          <a:noFill/>
          <a:ln/>
        </p:spPr>
        <p:txBody>
          <a:bodyPr wrap="none" lIns="0" tIns="0" rIns="0" bIns="0" rtlCol="0" anchor="t"/>
          <a:lstStyle/>
          <a:p>
            <a:pPr marL="0" indent="0" algn="l">
              <a:lnSpc>
                <a:spcPts val="1350"/>
              </a:lnSpc>
              <a:buNone/>
            </a:pPr>
            <a:r>
              <a:rPr lang="en-US" sz="900" i="1" dirty="0">
                <a:solidFill>
                  <a:srgbClr val="94A3B8"/>
                </a:solidFill>
                <a:latin typeface="Courier New" pitchFamily="34" charset="0"/>
                <a:ea typeface="Courier New" pitchFamily="34" charset="-122"/>
                <a:cs typeface="Courier New" pitchFamily="34" charset="-120"/>
              </a:rPr>
              <a:t># 'listen' groups multiple notify names</a:t>
            </a:r>
            <a:endParaRPr lang="en-US" sz="900" dirty="0"/>
          </a:p>
        </p:txBody>
      </p:sp>
      <p:sp>
        <p:nvSpPr>
          <p:cNvPr id="61" name="Text 59"/>
          <p:cNvSpPr/>
          <p:nvPr/>
        </p:nvSpPr>
        <p:spPr>
          <a:xfrm>
            <a:off x="403622" y="5242731"/>
            <a:ext cx="8336756" cy="300038"/>
          </a:xfrm>
          <a:prstGeom prst="roundRect">
            <a:avLst>
              <a:gd name="adj" fmla="val 25397"/>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62" name="Text 60"/>
          <p:cNvSpPr/>
          <p:nvPr/>
        </p:nvSpPr>
        <p:spPr>
          <a:xfrm>
            <a:off x="700088" y="5324884"/>
            <a:ext cx="3902720" cy="91440"/>
          </a:xfrm>
          <a:prstGeom prst="rect">
            <a:avLst/>
          </a:prstGeom>
          <a:noFill/>
          <a:ln/>
        </p:spPr>
        <p:txBody>
          <a:bodyPr wrap="square" lIns="114300" tIns="71438" rIns="114300" bIns="71438" rtlCol="0" anchor="t"/>
          <a:lstStyle/>
          <a:p>
            <a:pPr marL="0" indent="0" algn="l">
              <a:lnSpc>
                <a:spcPts val="1181"/>
              </a:lnSpc>
              <a:buNone/>
            </a:pPr>
            <a:r>
              <a:rPr lang="en-US" sz="844" dirty="0">
                <a:solidFill>
                  <a:srgbClr val="0F172A"/>
                </a:solidFill>
                <a:latin typeface="Carlito" pitchFamily="34" charset="0"/>
                <a:ea typeface="Carlito" pitchFamily="34" charset="-122"/>
                <a:cs typeface="Carlito" pitchFamily="34" charset="-120"/>
              </a:rPr>
              <a:t>Even if all change their files, nginx restarts at the end of the play.</a:t>
            </a:r>
            <a:endParaRPr lang="en-US" sz="844" dirty="0"/>
          </a:p>
        </p:txBody>
      </p:sp>
      <p:sp>
        <p:nvSpPr>
          <p:cNvPr id="63" name="Text 61"/>
          <p:cNvSpPr/>
          <p:nvPr/>
        </p:nvSpPr>
        <p:spPr>
          <a:xfrm>
            <a:off x="521494" y="5339172"/>
            <a:ext cx="107156" cy="91440"/>
          </a:xfrm>
          <a:prstGeom prst="rect">
            <a:avLst/>
          </a:prstGeom>
          <a:noFill/>
          <a:ln/>
        </p:spPr>
        <p:txBody>
          <a:bodyPr wrap="none" lIns="0" tIns="0" rIns="0" bIns="0" rtlCol="0" anchor="ctr"/>
          <a:lstStyle/>
          <a:p>
            <a:pPr marL="0" indent="0" algn="ctr">
              <a:buNone/>
            </a:pPr>
            <a:r>
              <a:rPr lang="en-US" sz="1055" dirty="0">
                <a:solidFill>
                  <a:srgbClr val="F97316"/>
                </a:solidFill>
                <a:latin typeface="Segoe UI Symbol" pitchFamily="34" charset="0"/>
                <a:ea typeface="Segoe UI Symbol" pitchFamily="34" charset="-122"/>
                <a:cs typeface="Segoe UI Symbol" pitchFamily="34" charset="-120"/>
              </a:rPr>
              <a:t>▶</a:t>
            </a:r>
            <a:endParaRPr lang="en-US" sz="1055" dirty="0"/>
          </a:p>
        </p:txBody>
      </p:sp>
      <p:sp>
        <p:nvSpPr>
          <p:cNvPr id="64" name="Text 62"/>
          <p:cNvSpPr/>
          <p:nvPr/>
        </p:nvSpPr>
        <p:spPr>
          <a:xfrm>
            <a:off x="1225265" y="5317741"/>
            <a:ext cx="1969108" cy="91440"/>
          </a:xfrm>
          <a:prstGeom prst="rect">
            <a:avLst/>
          </a:prstGeom>
          <a:noFill/>
          <a:ln/>
        </p:spPr>
        <p:txBody>
          <a:bodyPr wrap="none" lIns="0" tIns="0" rIns="0" bIns="0" rtlCol="0" anchor="t"/>
          <a:lstStyle/>
          <a:p>
            <a:pPr marL="0" indent="0" algn="l">
              <a:lnSpc>
                <a:spcPts val="1181"/>
              </a:lnSpc>
              <a:buNone/>
            </a:pPr>
            <a:r>
              <a:rPr lang="en-US" sz="844" b="1" dirty="0">
                <a:solidFill>
                  <a:srgbClr val="C2410C"/>
                </a:solidFill>
                <a:latin typeface="Liberation Sans Narrow" pitchFamily="34" charset="0"/>
                <a:ea typeface="Liberation Sans Narrow" pitchFamily="34" charset="-122"/>
                <a:cs typeface="Liberation Sans Narrow" pitchFamily="34" charset="-120"/>
              </a:rPr>
              <a:t>3 tasks</a:t>
            </a:r>
            <a:endParaRPr lang="en-US" sz="844" dirty="0"/>
          </a:p>
        </p:txBody>
      </p:sp>
      <p:sp>
        <p:nvSpPr>
          <p:cNvPr id="65" name="Text 63"/>
          <p:cNvSpPr/>
          <p:nvPr/>
        </p:nvSpPr>
        <p:spPr>
          <a:xfrm>
            <a:off x="3230091" y="5317741"/>
            <a:ext cx="5392415" cy="91440"/>
          </a:xfrm>
          <a:prstGeom prst="rect">
            <a:avLst/>
          </a:prstGeom>
          <a:noFill/>
          <a:ln/>
        </p:spPr>
        <p:txBody>
          <a:bodyPr wrap="none" lIns="0" tIns="0" rIns="0" bIns="0" rtlCol="0" anchor="t"/>
          <a:lstStyle/>
          <a:p>
            <a:pPr marL="0" indent="0" algn="l">
              <a:lnSpc>
                <a:spcPts val="1181"/>
              </a:lnSpc>
              <a:buNone/>
            </a:pPr>
            <a:r>
              <a:rPr lang="en-US" sz="844" dirty="0">
                <a:solidFill>
                  <a:srgbClr val="F97316"/>
                </a:solidFill>
                <a:latin typeface="Carlito" pitchFamily="34" charset="0"/>
                <a:ea typeface="Carlito" pitchFamily="34" charset="-122"/>
                <a:cs typeface="Carlito" pitchFamily="34" charset="-120"/>
              </a:rPr>
              <a:t>ONCE</a:t>
            </a:r>
            <a:endParaRPr lang="en-US" sz="844"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71475"/>
            <a:ext cx="5531874" cy="373346"/>
          </a:xfrm>
          <a:prstGeom prst="rect">
            <a:avLst/>
          </a:prstGeom>
          <a:noFill/>
          <a:ln/>
        </p:spPr>
        <p:txBody>
          <a:bodyPr wrap="square" lIns="0" tIns="0" rIns="0" bIns="0" rtlCol="0" anchor="t"/>
          <a:lstStyle/>
          <a:p>
            <a:pPr marL="0" indent="0" algn="l">
              <a:lnSpc>
                <a:spcPts val="2723"/>
              </a:lnSpc>
              <a:buNone/>
            </a:pPr>
            <a:r>
              <a:rPr lang="en-US" sz="2475" b="1" dirty="0">
                <a:solidFill>
                  <a:srgbClr val="0F172A"/>
                </a:solidFill>
                <a:latin typeface="Carlito" pitchFamily="34" charset="0"/>
                <a:ea typeface="Carlito" pitchFamily="34" charset="-122"/>
                <a:cs typeface="Carlito" pitchFamily="34" charset="-120"/>
              </a:rPr>
              <a:t>Idempotency — The Heart of Ansible</a:t>
            </a:r>
            <a:endParaRPr lang="en-US" sz="2475" dirty="0"/>
          </a:p>
        </p:txBody>
      </p:sp>
      <p:sp>
        <p:nvSpPr>
          <p:cNvPr id="3" name="Text 1"/>
          <p:cNvSpPr/>
          <p:nvPr/>
        </p:nvSpPr>
        <p:spPr>
          <a:xfrm>
            <a:off x="457200" y="817178"/>
            <a:ext cx="571500" cy="42863"/>
          </a:xfrm>
          <a:prstGeom prst="roundRect">
            <a:avLst>
              <a:gd name="adj" fmla="val 66666"/>
            </a:avLst>
          </a:prstGeom>
          <a:solidFill>
            <a:srgbClr val="F97316"/>
          </a:solidFill>
          <a:ln/>
        </p:spPr>
        <p:txBody>
          <a:bodyPr wrap="square" rtlCol="0" anchor="ctr"/>
          <a:lstStyle/>
          <a:p>
            <a:pPr marL="0" indent="0">
              <a:buNone/>
            </a:pPr>
            <a:endParaRPr lang="en-US" dirty="0"/>
          </a:p>
        </p:txBody>
      </p:sp>
      <p:sp>
        <p:nvSpPr>
          <p:cNvPr id="4" name="Text 2"/>
          <p:cNvSpPr/>
          <p:nvPr/>
        </p:nvSpPr>
        <p:spPr>
          <a:xfrm>
            <a:off x="7188421" y="358673"/>
            <a:ext cx="1521239" cy="331333"/>
          </a:xfrm>
          <a:prstGeom prst="roundRect">
            <a:avLst>
              <a:gd name="adj" fmla="val 2871877"/>
            </a:avLst>
          </a:prstGeom>
          <a:solidFill>
            <a:srgbClr val="0F172A"/>
          </a:solidFill>
          <a:ln/>
        </p:spPr>
        <p:txBody>
          <a:bodyPr wrap="square" rtlCol="0" anchor="ctr"/>
          <a:lstStyle/>
          <a:p>
            <a:pPr marL="0" indent="0">
              <a:buNone/>
            </a:pPr>
            <a:endParaRPr lang="en-US" dirty="0"/>
          </a:p>
        </p:txBody>
      </p:sp>
      <p:sp>
        <p:nvSpPr>
          <p:cNvPr id="5" name="Text 3"/>
          <p:cNvSpPr/>
          <p:nvPr/>
        </p:nvSpPr>
        <p:spPr>
          <a:xfrm>
            <a:off x="7211281" y="371475"/>
            <a:ext cx="1475519" cy="305730"/>
          </a:xfrm>
          <a:prstGeom prst="rect">
            <a:avLst/>
          </a:prstGeom>
          <a:noFill/>
          <a:ln/>
        </p:spPr>
        <p:txBody>
          <a:bodyPr wrap="none" lIns="0" tIns="0" rIns="0" bIns="0" rtlCol="0" anchor="ctr"/>
          <a:lstStyle/>
          <a:p>
            <a:pPr marL="0" indent="0" algn="ctr">
              <a:lnSpc>
                <a:spcPts val="1733"/>
              </a:lnSpc>
              <a:buNone/>
            </a:pPr>
            <a:r>
              <a:rPr lang="en-US" sz="1238" b="1" kern="0" spc="28" dirty="0">
                <a:solidFill>
                  <a:srgbClr val="FFFFFF"/>
                </a:solidFill>
                <a:latin typeface="Liberation Sans Narrow" pitchFamily="34" charset="0"/>
                <a:ea typeface="Liberation Sans Narrow" pitchFamily="34" charset="-122"/>
                <a:cs typeface="Liberation Sans Narrow" pitchFamily="34" charset="-120"/>
              </a:rPr>
              <a:t>02 · Idempotency</a:t>
            </a:r>
            <a:endParaRPr lang="en-US" sz="1238" dirty="0"/>
          </a:p>
        </p:txBody>
      </p:sp>
      <p:sp>
        <p:nvSpPr>
          <p:cNvPr id="6" name="Text 4"/>
          <p:cNvSpPr/>
          <p:nvPr/>
        </p:nvSpPr>
        <p:spPr>
          <a:xfrm>
            <a:off x="642938" y="1002916"/>
            <a:ext cx="7858125" cy="672656"/>
          </a:xfrm>
          <a:prstGeom prst="rect">
            <a:avLst/>
          </a:prstGeom>
          <a:noFill/>
          <a:ln/>
        </p:spPr>
        <p:txBody>
          <a:bodyPr wrap="square" lIns="0" tIns="0" rIns="0" bIns="0" rtlCol="0" anchor="t">
            <a:normAutofit/>
          </a:bodyPr>
          <a:lstStyle/>
          <a:p>
            <a:pPr marL="0" indent="0" algn="ctr">
              <a:lnSpc>
                <a:spcPts val="2531"/>
              </a:lnSpc>
              <a:buNone/>
            </a:pPr>
            <a:r>
              <a:rPr lang="en-US" sz="2025" b="1" kern="0" spc="-28" dirty="0">
                <a:solidFill>
                  <a:srgbClr val="F97316"/>
                </a:solidFill>
                <a:latin typeface="Segoe UI Symbol" pitchFamily="34" charset="0"/>
                <a:ea typeface="Segoe UI Symbol" pitchFamily="34" charset="-122"/>
                <a:cs typeface="Segoe UI Symbol" pitchFamily="34" charset="-120"/>
              </a:rPr>
              <a:t>✦</a:t>
            </a:r>
            <a:r>
              <a:rPr lang="en-US" sz="2025" b="1" kern="0" spc="-28" dirty="0">
                <a:solidFill>
                  <a:srgbClr val="0F172A"/>
                </a:solidFill>
                <a:latin typeface="Carlito" pitchFamily="34" charset="0"/>
                <a:ea typeface="Carlito" pitchFamily="34" charset="-122"/>
                <a:cs typeface="Carlito" pitchFamily="34" charset="-120"/>
              </a:rPr>
              <a:t> Running a playbook </a:t>
            </a:r>
            <a:r>
              <a:rPr lang="en-US" sz="2025" b="1" kern="0" spc="-28" dirty="0">
                <a:solidFill>
                  <a:srgbClr val="F97316"/>
                </a:solidFill>
                <a:latin typeface="Liberation Sans Narrow" pitchFamily="34" charset="0"/>
                <a:ea typeface="Liberation Sans Narrow" pitchFamily="34" charset="-122"/>
                <a:cs typeface="Liberation Sans Narrow" pitchFamily="34" charset="-120"/>
              </a:rPr>
              <a:t>100 times</a:t>
            </a:r>
            <a:r>
              <a:rPr lang="en-US" sz="2025" b="1" kern="0" spc="-28" dirty="0">
                <a:solidFill>
                  <a:srgbClr val="0F172A"/>
                </a:solidFill>
                <a:latin typeface="Carlito" pitchFamily="34" charset="0"/>
                <a:ea typeface="Carlito" pitchFamily="34" charset="-122"/>
                <a:cs typeface="Carlito" pitchFamily="34" charset="-120"/>
              </a:rPr>
              <a:t> should produce the same result as running it </a:t>
            </a:r>
            <a:r>
              <a:rPr lang="en-US" sz="2025" b="1" kern="0" spc="-28" dirty="0">
                <a:solidFill>
                  <a:srgbClr val="F97316"/>
                </a:solidFill>
                <a:latin typeface="Carlito" pitchFamily="34" charset="0"/>
                <a:ea typeface="Carlito" pitchFamily="34" charset="-122"/>
                <a:cs typeface="Carlito" pitchFamily="34" charset="-120"/>
              </a:rPr>
              <a:t>once</a:t>
            </a:r>
            <a:r>
              <a:rPr lang="en-US" sz="2025" b="1" kern="0" spc="-28" dirty="0">
                <a:solidFill>
                  <a:srgbClr val="0F172A"/>
                </a:solidFill>
                <a:latin typeface="Carlito" pitchFamily="34" charset="0"/>
                <a:ea typeface="Carlito" pitchFamily="34" charset="-122"/>
                <a:cs typeface="Carlito" pitchFamily="34" charset="-120"/>
              </a:rPr>
              <a:t>.</a:t>
            </a:r>
            <a:endParaRPr lang="en-US" sz="2025" dirty="0"/>
          </a:p>
        </p:txBody>
      </p:sp>
      <p:sp>
        <p:nvSpPr>
          <p:cNvPr id="7" name="Text 5"/>
          <p:cNvSpPr/>
          <p:nvPr/>
        </p:nvSpPr>
        <p:spPr>
          <a:xfrm>
            <a:off x="2643188" y="1703003"/>
            <a:ext cx="3857625" cy="479971"/>
          </a:xfrm>
          <a:prstGeom prst="roundRect">
            <a:avLst>
              <a:gd name="adj" fmla="val 23814"/>
            </a:avLst>
          </a:prstGeom>
          <a:solidFill>
            <a:srgbClr val="0F172A"/>
          </a:solidFill>
          <a:ln/>
        </p:spPr>
        <p:txBody>
          <a:bodyPr wrap="square" rtlCol="0" anchor="ctr"/>
          <a:lstStyle/>
          <a:p>
            <a:pPr marL="0" indent="0">
              <a:buNone/>
            </a:pPr>
            <a:endParaRPr lang="en-US" dirty="0"/>
          </a:p>
        </p:txBody>
      </p:sp>
      <p:sp>
        <p:nvSpPr>
          <p:cNvPr id="8" name="Text 6"/>
          <p:cNvSpPr/>
          <p:nvPr/>
        </p:nvSpPr>
        <p:spPr>
          <a:xfrm>
            <a:off x="2643188" y="1703003"/>
            <a:ext cx="3857625" cy="518368"/>
          </a:xfrm>
          <a:prstGeom prst="rect">
            <a:avLst/>
          </a:prstGeom>
          <a:noFill/>
          <a:ln/>
        </p:spPr>
        <p:txBody>
          <a:bodyPr wrap="none" lIns="200025" tIns="100013" rIns="200025" bIns="100013" rtlCol="0" anchor="t"/>
          <a:lstStyle/>
          <a:p>
            <a:pPr marL="0" indent="0" algn="ctr">
              <a:lnSpc>
                <a:spcPts val="2205"/>
              </a:lnSpc>
              <a:buNone/>
            </a:pPr>
            <a:r>
              <a:rPr lang="en-US" sz="1575" b="1" dirty="0">
                <a:solidFill>
                  <a:srgbClr val="86EFAC"/>
                </a:solidFill>
                <a:latin typeface="Courier New" pitchFamily="34" charset="0"/>
                <a:ea typeface="Courier New" pitchFamily="34" charset="-122"/>
                <a:cs typeface="Courier New" pitchFamily="34" charset="-120"/>
              </a:rPr>
              <a:t>f</a:t>
            </a:r>
            <a:r>
              <a:rPr lang="en-US" sz="1575" b="1" dirty="0">
                <a:solidFill>
                  <a:srgbClr val="FBA74A"/>
                </a:solidFill>
                <a:latin typeface="Courier New" pitchFamily="34" charset="0"/>
                <a:ea typeface="Courier New" pitchFamily="34" charset="-122"/>
                <a:cs typeface="Courier New" pitchFamily="34" charset="-120"/>
              </a:rPr>
              <a:t>(</a:t>
            </a:r>
            <a:r>
              <a:rPr lang="en-US" sz="1575" b="1" dirty="0">
                <a:solidFill>
                  <a:srgbClr val="86EFAC"/>
                </a:solidFill>
                <a:latin typeface="Courier New" pitchFamily="34" charset="0"/>
                <a:ea typeface="Courier New" pitchFamily="34" charset="-122"/>
                <a:cs typeface="Courier New" pitchFamily="34" charset="-120"/>
              </a:rPr>
              <a:t>f</a:t>
            </a:r>
            <a:r>
              <a:rPr lang="en-US" sz="1575" b="1" dirty="0">
                <a:solidFill>
                  <a:srgbClr val="FBA74A"/>
                </a:solidFill>
                <a:latin typeface="Courier New" pitchFamily="34" charset="0"/>
                <a:ea typeface="Courier New" pitchFamily="34" charset="-122"/>
                <a:cs typeface="Courier New" pitchFamily="34" charset="-120"/>
              </a:rPr>
              <a:t>(</a:t>
            </a:r>
            <a:r>
              <a:rPr lang="en-US" sz="1575" b="1" dirty="0">
                <a:solidFill>
                  <a:srgbClr val="86EFAC"/>
                </a:solidFill>
                <a:latin typeface="Courier New" pitchFamily="34" charset="0"/>
                <a:ea typeface="Courier New" pitchFamily="34" charset="-122"/>
                <a:cs typeface="Courier New" pitchFamily="34" charset="-120"/>
              </a:rPr>
              <a:t>x</a:t>
            </a:r>
            <a:r>
              <a:rPr lang="en-US" sz="1575" b="1" dirty="0">
                <a:solidFill>
                  <a:srgbClr val="FBA74A"/>
                </a:solidFill>
                <a:latin typeface="Courier New" pitchFamily="34" charset="0"/>
                <a:ea typeface="Courier New" pitchFamily="34" charset="-122"/>
                <a:cs typeface="Courier New" pitchFamily="34" charset="-120"/>
              </a:rPr>
              <a:t>)) = </a:t>
            </a:r>
            <a:r>
              <a:rPr lang="en-US" sz="1575" b="1" dirty="0">
                <a:solidFill>
                  <a:srgbClr val="86EFAC"/>
                </a:solidFill>
                <a:latin typeface="Courier New" pitchFamily="34" charset="0"/>
                <a:ea typeface="Courier New" pitchFamily="34" charset="-122"/>
                <a:cs typeface="Courier New" pitchFamily="34" charset="-120"/>
              </a:rPr>
              <a:t>f</a:t>
            </a:r>
            <a:r>
              <a:rPr lang="en-US" sz="1575" b="1" dirty="0">
                <a:solidFill>
                  <a:srgbClr val="FBA74A"/>
                </a:solidFill>
                <a:latin typeface="Courier New" pitchFamily="34" charset="0"/>
                <a:ea typeface="Courier New" pitchFamily="34" charset="-122"/>
                <a:cs typeface="Courier New" pitchFamily="34" charset="-120"/>
              </a:rPr>
              <a:t>(</a:t>
            </a:r>
            <a:r>
              <a:rPr lang="en-US" sz="1575" b="1" dirty="0">
                <a:solidFill>
                  <a:srgbClr val="86EFAC"/>
                </a:solidFill>
                <a:latin typeface="Courier New" pitchFamily="34" charset="0"/>
                <a:ea typeface="Courier New" pitchFamily="34" charset="-122"/>
                <a:cs typeface="Courier New" pitchFamily="34" charset="-120"/>
              </a:rPr>
              <a:t>x</a:t>
            </a:r>
            <a:r>
              <a:rPr lang="en-US" sz="1575" b="1" dirty="0">
                <a:solidFill>
                  <a:srgbClr val="FBA74A"/>
                </a:solidFill>
                <a:latin typeface="Courier New" pitchFamily="34" charset="0"/>
                <a:ea typeface="Courier New" pitchFamily="34" charset="-122"/>
                <a:cs typeface="Courier New" pitchFamily="34" charset="-120"/>
              </a:rPr>
              <a:t>)</a:t>
            </a:r>
            <a:endParaRPr lang="en-US" sz="1575" dirty="0"/>
          </a:p>
        </p:txBody>
      </p:sp>
      <p:sp>
        <p:nvSpPr>
          <p:cNvPr id="9" name="Text 7"/>
          <p:cNvSpPr/>
          <p:nvPr/>
        </p:nvSpPr>
        <p:spPr>
          <a:xfrm>
            <a:off x="460772" y="2357996"/>
            <a:ext cx="2659819" cy="934715"/>
          </a:xfrm>
          <a:prstGeom prst="roundRect">
            <a:avLst>
              <a:gd name="adj" fmla="val 14266"/>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10" name="Text 8"/>
          <p:cNvSpPr/>
          <p:nvPr/>
        </p:nvSpPr>
        <p:spPr>
          <a:xfrm>
            <a:off x="835819" y="2483011"/>
            <a:ext cx="1761660" cy="185166"/>
          </a:xfrm>
          <a:prstGeom prst="rect">
            <a:avLst/>
          </a:prstGeom>
          <a:noFill/>
          <a:ln/>
        </p:spPr>
        <p:txBody>
          <a:bodyPr wrap="none" lIns="0" tIns="0" rIns="0" bIns="0" rtlCol="0" anchor="t"/>
          <a:lstStyle/>
          <a:p>
            <a:pPr marL="0" indent="0" algn="l">
              <a:lnSpc>
                <a:spcPts val="1496"/>
              </a:lnSpc>
              <a:buNone/>
            </a:pPr>
            <a:r>
              <a:rPr lang="en-US" sz="1069" b="1" dirty="0">
                <a:solidFill>
                  <a:srgbClr val="0F172A"/>
                </a:solidFill>
                <a:latin typeface="Carlito" pitchFamily="34" charset="0"/>
                <a:ea typeface="Carlito" pitchFamily="34" charset="-122"/>
                <a:cs typeface="Carlito" pitchFamily="34" charset="-120"/>
              </a:rPr>
              <a:t>Mathematical Definition</a:t>
            </a:r>
            <a:endParaRPr lang="en-US" sz="1069" dirty="0"/>
          </a:p>
        </p:txBody>
      </p:sp>
      <p:sp>
        <p:nvSpPr>
          <p:cNvPr id="11" name="Text 9"/>
          <p:cNvSpPr/>
          <p:nvPr/>
        </p:nvSpPr>
        <p:spPr>
          <a:xfrm>
            <a:off x="607219" y="2492276"/>
            <a:ext cx="157163" cy="157163"/>
          </a:xfrm>
          <a:prstGeom prst="rect">
            <a:avLst/>
          </a:prstGeom>
          <a:noFill/>
          <a:ln/>
        </p:spPr>
        <p:txBody>
          <a:bodyPr wrap="none" lIns="0" tIns="0" rIns="0" bIns="0" rtlCol="0" anchor="ctr"/>
          <a:lstStyle/>
          <a:p>
            <a:pPr marL="0" indent="0" algn="ctr">
              <a:buNone/>
            </a:pPr>
            <a:r>
              <a:rPr lang="en-US" sz="1547" dirty="0">
                <a:solidFill>
                  <a:srgbClr val="F97316"/>
                </a:solidFill>
                <a:latin typeface="Segoe UI Symbol" pitchFamily="34" charset="0"/>
                <a:ea typeface="Segoe UI Symbol" pitchFamily="34" charset="-122"/>
                <a:cs typeface="Segoe UI Symbol" pitchFamily="34" charset="-120"/>
              </a:rPr>
              <a:t>✦</a:t>
            </a:r>
            <a:endParaRPr lang="en-US" sz="1547" dirty="0"/>
          </a:p>
        </p:txBody>
      </p:sp>
      <p:sp>
        <p:nvSpPr>
          <p:cNvPr id="12" name="Text 10"/>
          <p:cNvSpPr/>
          <p:nvPr/>
        </p:nvSpPr>
        <p:spPr>
          <a:xfrm>
            <a:off x="1229953" y="2715853"/>
            <a:ext cx="117872" cy="135731"/>
          </a:xfrm>
          <a:prstGeom prst="roundRect">
            <a:avLst>
              <a:gd name="adj" fmla="val 32323"/>
            </a:avLst>
          </a:prstGeom>
          <a:solidFill>
            <a:srgbClr val="F1F5F9"/>
          </a:solidFill>
          <a:ln/>
        </p:spPr>
        <p:txBody>
          <a:bodyPr wrap="square" rtlCol="0" anchor="ctr"/>
          <a:lstStyle/>
          <a:p>
            <a:pPr marL="0" indent="0">
              <a:buNone/>
            </a:pPr>
            <a:endParaRPr lang="en-US" dirty="0"/>
          </a:p>
        </p:txBody>
      </p:sp>
      <p:sp>
        <p:nvSpPr>
          <p:cNvPr id="13" name="Text 11"/>
          <p:cNvSpPr/>
          <p:nvPr/>
        </p:nvSpPr>
        <p:spPr>
          <a:xfrm>
            <a:off x="2143906" y="2715853"/>
            <a:ext cx="721519" cy="135731"/>
          </a:xfrm>
          <a:prstGeom prst="roundRect">
            <a:avLst>
              <a:gd name="adj" fmla="val 28070"/>
            </a:avLst>
          </a:prstGeom>
          <a:solidFill>
            <a:srgbClr val="F1F5F9"/>
          </a:solidFill>
          <a:ln/>
        </p:spPr>
        <p:txBody>
          <a:bodyPr wrap="square" rtlCol="0" anchor="ctr"/>
          <a:lstStyle/>
          <a:p>
            <a:pPr marL="0" indent="0">
              <a:buNone/>
            </a:pPr>
            <a:endParaRPr lang="en-US" dirty="0"/>
          </a:p>
        </p:txBody>
      </p:sp>
      <p:sp>
        <p:nvSpPr>
          <p:cNvPr id="14" name="Text 12"/>
          <p:cNvSpPr/>
          <p:nvPr/>
        </p:nvSpPr>
        <p:spPr>
          <a:xfrm>
            <a:off x="607219" y="2708709"/>
            <a:ext cx="2366925" cy="335613"/>
          </a:xfrm>
          <a:prstGeom prst="rect">
            <a:avLst/>
          </a:prstGeom>
          <a:noFill/>
          <a:ln/>
        </p:spPr>
        <p:txBody>
          <a:bodyPr wrap="square" lIns="0" tIns="0" rIns="0" bIns="0" rtlCol="0" anchor="t"/>
          <a:lstStyle/>
          <a:p>
            <a:pPr marL="0" indent="0" algn="l">
              <a:lnSpc>
                <a:spcPts val="1223"/>
              </a:lnSpc>
              <a:buNone/>
            </a:pPr>
            <a:r>
              <a:rPr lang="en-US" sz="844" dirty="0">
                <a:solidFill>
                  <a:srgbClr val="334155"/>
                </a:solidFill>
                <a:latin typeface="Carlito" pitchFamily="34" charset="0"/>
                <a:ea typeface="Carlito" pitchFamily="34" charset="-122"/>
                <a:cs typeface="Carlito" pitchFamily="34" charset="-120"/>
              </a:rPr>
              <a:t>An operation </a:t>
            </a:r>
            <a:r>
              <a:rPr lang="en-US" sz="800" dirty="0">
                <a:solidFill>
                  <a:srgbClr val="0F172A"/>
                </a:solidFill>
                <a:highlight>
                  <a:srgbClr val="F1F5F9"/>
                </a:highlight>
                <a:latin typeface="Courier New" pitchFamily="34" charset="0"/>
                <a:ea typeface="Courier New" pitchFamily="34" charset="-122"/>
                <a:cs typeface="Courier New" pitchFamily="34" charset="-120"/>
              </a:rPr>
              <a:t>f</a:t>
            </a:r>
            <a:r>
              <a:rPr lang="en-US" sz="844" dirty="0">
                <a:solidFill>
                  <a:srgbClr val="334155"/>
                </a:solidFill>
                <a:latin typeface="Carlito" pitchFamily="34" charset="0"/>
                <a:ea typeface="Carlito" pitchFamily="34" charset="-122"/>
                <a:cs typeface="Carlito" pitchFamily="34" charset="-120"/>
              </a:rPr>
              <a:t> is idempotent if </a:t>
            </a:r>
            <a:r>
              <a:rPr lang="en-US" sz="800" dirty="0">
                <a:solidFill>
                  <a:srgbClr val="0F172A"/>
                </a:solidFill>
                <a:highlight>
                  <a:srgbClr val="F1F5F9"/>
                </a:highlight>
                <a:latin typeface="Courier New" pitchFamily="34" charset="0"/>
                <a:ea typeface="Courier New" pitchFamily="34" charset="-122"/>
                <a:cs typeface="Courier New" pitchFamily="34" charset="-120"/>
              </a:rPr>
              <a:t>f(f(x)) = f(x)</a:t>
            </a:r>
            <a:r>
              <a:rPr lang="en-US" sz="844" dirty="0">
                <a:solidFill>
                  <a:srgbClr val="334155"/>
                </a:solidFill>
                <a:latin typeface="Carlito" pitchFamily="34" charset="0"/>
                <a:ea typeface="Carlito" pitchFamily="34" charset="-122"/>
                <a:cs typeface="Carlito" pitchFamily="34" charset="-120"/>
              </a:rPr>
              <a:t>. </a:t>
            </a:r>
            <a:r>
              <a:rPr lang="en-US" sz="844" b="1" dirty="0">
                <a:solidFill>
                  <a:srgbClr val="0F172A"/>
                </a:solidFill>
                <a:latin typeface="Carlito" pitchFamily="34" charset="0"/>
                <a:ea typeface="Carlito" pitchFamily="34" charset="-122"/>
                <a:cs typeface="Carlito" pitchFamily="34" charset="-120"/>
              </a:rPr>
              <a:t>Running it twice is the same as running it once.</a:t>
            </a:r>
            <a:endParaRPr lang="en-US" sz="844" dirty="0"/>
          </a:p>
        </p:txBody>
      </p:sp>
      <p:sp>
        <p:nvSpPr>
          <p:cNvPr id="15" name="Text 13"/>
          <p:cNvSpPr/>
          <p:nvPr/>
        </p:nvSpPr>
        <p:spPr>
          <a:xfrm>
            <a:off x="3242035" y="2357996"/>
            <a:ext cx="2659819" cy="934715"/>
          </a:xfrm>
          <a:prstGeom prst="roundRect">
            <a:avLst>
              <a:gd name="adj" fmla="val 14266"/>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16" name="Text 14"/>
          <p:cNvSpPr/>
          <p:nvPr/>
        </p:nvSpPr>
        <p:spPr>
          <a:xfrm>
            <a:off x="3542668" y="2483011"/>
            <a:ext cx="873946" cy="185166"/>
          </a:xfrm>
          <a:prstGeom prst="rect">
            <a:avLst/>
          </a:prstGeom>
          <a:noFill/>
          <a:ln/>
        </p:spPr>
        <p:txBody>
          <a:bodyPr wrap="none" lIns="0" tIns="0" rIns="0" bIns="0" rtlCol="0" anchor="t"/>
          <a:lstStyle/>
          <a:p>
            <a:pPr marL="0" indent="0" algn="l">
              <a:lnSpc>
                <a:spcPts val="1496"/>
              </a:lnSpc>
              <a:buNone/>
            </a:pPr>
            <a:r>
              <a:rPr lang="en-US" sz="1069" b="1" dirty="0">
                <a:solidFill>
                  <a:srgbClr val="0F172A"/>
                </a:solidFill>
                <a:latin typeface="Carlito" pitchFamily="34" charset="0"/>
                <a:ea typeface="Carlito" pitchFamily="34" charset="-122"/>
                <a:cs typeface="Carlito" pitchFamily="34" charset="-120"/>
              </a:rPr>
              <a:t>In Ansible</a:t>
            </a:r>
            <a:endParaRPr lang="en-US" sz="1069" dirty="0"/>
          </a:p>
        </p:txBody>
      </p:sp>
      <p:sp>
        <p:nvSpPr>
          <p:cNvPr id="17" name="Text 15"/>
          <p:cNvSpPr/>
          <p:nvPr/>
        </p:nvSpPr>
        <p:spPr>
          <a:xfrm>
            <a:off x="3388482" y="2492276"/>
            <a:ext cx="157163" cy="157163"/>
          </a:xfrm>
          <a:prstGeom prst="rect">
            <a:avLst/>
          </a:prstGeom>
          <a:noFill/>
          <a:ln/>
        </p:spPr>
        <p:txBody>
          <a:bodyPr wrap="none" lIns="0" tIns="0" rIns="0" bIns="0" rtlCol="0" anchor="ctr"/>
          <a:lstStyle/>
          <a:p>
            <a:pPr marL="0" indent="0" algn="ctr">
              <a:buNone/>
            </a:pPr>
            <a:r>
              <a:rPr lang="en-US" sz="1547" dirty="0">
                <a:solidFill>
                  <a:srgbClr val="F97316"/>
                </a:solidFill>
                <a:latin typeface="Segoe UI Symbol" pitchFamily="34" charset="0"/>
                <a:ea typeface="Segoe UI Symbol" pitchFamily="34" charset="-122"/>
                <a:cs typeface="Segoe UI Symbol" pitchFamily="34" charset="-120"/>
              </a:rPr>
              <a:t>✓</a:t>
            </a:r>
            <a:endParaRPr lang="en-US" sz="1547" dirty="0"/>
          </a:p>
        </p:txBody>
      </p:sp>
      <p:sp>
        <p:nvSpPr>
          <p:cNvPr id="18" name="Text 16"/>
          <p:cNvSpPr/>
          <p:nvPr/>
        </p:nvSpPr>
        <p:spPr>
          <a:xfrm>
            <a:off x="5462067" y="2715853"/>
            <a:ext cx="210741" cy="135731"/>
          </a:xfrm>
          <a:prstGeom prst="roundRect">
            <a:avLst>
              <a:gd name="adj" fmla="val 28070"/>
            </a:avLst>
          </a:prstGeom>
          <a:solidFill>
            <a:srgbClr val="F1F5F9"/>
          </a:solidFill>
          <a:ln/>
        </p:spPr>
        <p:txBody>
          <a:bodyPr wrap="square" rtlCol="0" anchor="ctr"/>
          <a:lstStyle/>
          <a:p>
            <a:pPr marL="0" indent="0">
              <a:buNone/>
            </a:pPr>
            <a:endParaRPr lang="en-US" dirty="0"/>
          </a:p>
        </p:txBody>
      </p:sp>
      <p:sp>
        <p:nvSpPr>
          <p:cNvPr id="19" name="Text 17"/>
          <p:cNvSpPr/>
          <p:nvPr/>
        </p:nvSpPr>
        <p:spPr>
          <a:xfrm>
            <a:off x="3593976" y="2871229"/>
            <a:ext cx="396478" cy="135731"/>
          </a:xfrm>
          <a:prstGeom prst="roundRect">
            <a:avLst>
              <a:gd name="adj" fmla="val 28070"/>
            </a:avLst>
          </a:prstGeom>
          <a:solidFill>
            <a:srgbClr val="F1F5F9"/>
          </a:solidFill>
          <a:ln/>
        </p:spPr>
        <p:txBody>
          <a:bodyPr wrap="square" rtlCol="0" anchor="ctr"/>
          <a:lstStyle/>
          <a:p>
            <a:pPr marL="0" indent="0">
              <a:buNone/>
            </a:pPr>
            <a:endParaRPr lang="en-US" dirty="0"/>
          </a:p>
        </p:txBody>
      </p:sp>
      <p:sp>
        <p:nvSpPr>
          <p:cNvPr id="20" name="Text 18"/>
          <p:cNvSpPr/>
          <p:nvPr/>
        </p:nvSpPr>
        <p:spPr>
          <a:xfrm>
            <a:off x="3388482" y="2708709"/>
            <a:ext cx="2366925" cy="466130"/>
          </a:xfrm>
          <a:prstGeom prst="rect">
            <a:avLst/>
          </a:prstGeom>
          <a:noFill/>
          <a:ln/>
        </p:spPr>
        <p:txBody>
          <a:bodyPr wrap="square" lIns="0" tIns="0" rIns="0" bIns="0" rtlCol="0" anchor="t"/>
          <a:lstStyle/>
          <a:p>
            <a:pPr marL="0" indent="0" algn="l">
              <a:lnSpc>
                <a:spcPts val="1223"/>
              </a:lnSpc>
              <a:buNone/>
            </a:pPr>
            <a:r>
              <a:rPr lang="en-US" sz="844" dirty="0">
                <a:solidFill>
                  <a:srgbClr val="334155"/>
                </a:solidFill>
                <a:latin typeface="Carlito" pitchFamily="34" charset="0"/>
                <a:ea typeface="Carlito" pitchFamily="34" charset="-122"/>
                <a:cs typeface="Carlito" pitchFamily="34" charset="-120"/>
              </a:rPr>
              <a:t>If nginx is already installed and running, the </a:t>
            </a:r>
            <a:r>
              <a:rPr lang="en-US" sz="800" dirty="0">
                <a:solidFill>
                  <a:srgbClr val="0F172A"/>
                </a:solidFill>
                <a:highlight>
                  <a:srgbClr val="F1F5F9"/>
                </a:highlight>
                <a:latin typeface="Courier New" pitchFamily="34" charset="0"/>
                <a:ea typeface="Courier New" pitchFamily="34" charset="-122"/>
                <a:cs typeface="Courier New" pitchFamily="34" charset="-120"/>
              </a:rPr>
              <a:t>apt</a:t>
            </a:r>
            <a:r>
              <a:rPr lang="en-US" sz="844" dirty="0">
                <a:solidFill>
                  <a:srgbClr val="334155"/>
                </a:solidFill>
                <a:latin typeface="Carlito" pitchFamily="34" charset="0"/>
                <a:ea typeface="Carlito" pitchFamily="34" charset="-122"/>
                <a:cs typeface="Carlito" pitchFamily="34" charset="-120"/>
              </a:rPr>
              <a:t> and </a:t>
            </a:r>
            <a:r>
              <a:rPr lang="en-US" sz="800" dirty="0">
                <a:solidFill>
                  <a:srgbClr val="0F172A"/>
                </a:solidFill>
                <a:highlight>
                  <a:srgbClr val="F1F5F9"/>
                </a:highlight>
                <a:latin typeface="Courier New" pitchFamily="34" charset="0"/>
                <a:ea typeface="Courier New" pitchFamily="34" charset="-122"/>
                <a:cs typeface="Courier New" pitchFamily="34" charset="-120"/>
              </a:rPr>
              <a:t>service</a:t>
            </a:r>
            <a:r>
              <a:rPr lang="en-US" sz="844" dirty="0">
                <a:solidFill>
                  <a:srgbClr val="334155"/>
                </a:solidFill>
                <a:latin typeface="Carlito" pitchFamily="34" charset="0"/>
                <a:ea typeface="Carlito" pitchFamily="34" charset="-122"/>
                <a:cs typeface="Carlito" pitchFamily="34" charset="-120"/>
              </a:rPr>
              <a:t> modules report </a:t>
            </a:r>
            <a:r>
              <a:rPr lang="en-US" sz="844" b="1" dirty="0">
                <a:solidFill>
                  <a:srgbClr val="0F172A"/>
                </a:solidFill>
                <a:latin typeface="Carlito" pitchFamily="34" charset="0"/>
                <a:ea typeface="Carlito" pitchFamily="34" charset="-122"/>
                <a:cs typeface="Carlito" pitchFamily="34" charset="-120"/>
              </a:rPr>
              <a:t>OK (unchanged)</a:t>
            </a:r>
            <a:r>
              <a:rPr lang="en-US" sz="844" dirty="0">
                <a:solidFill>
                  <a:srgbClr val="334155"/>
                </a:solidFill>
                <a:latin typeface="Carlito" pitchFamily="34" charset="0"/>
                <a:ea typeface="Carlito" pitchFamily="34" charset="-122"/>
                <a:cs typeface="Carlito" pitchFamily="34" charset="-120"/>
              </a:rPr>
              <a:t> — they do nothing. No side effects.</a:t>
            </a:r>
            <a:endParaRPr lang="en-US" sz="844" dirty="0"/>
          </a:p>
        </p:txBody>
      </p:sp>
      <p:sp>
        <p:nvSpPr>
          <p:cNvPr id="21" name="Text 19"/>
          <p:cNvSpPr/>
          <p:nvPr/>
        </p:nvSpPr>
        <p:spPr>
          <a:xfrm>
            <a:off x="6023297" y="2357996"/>
            <a:ext cx="2659931" cy="934715"/>
          </a:xfrm>
          <a:prstGeom prst="roundRect">
            <a:avLst>
              <a:gd name="adj" fmla="val 14266"/>
            </a:avLst>
          </a:prstGeom>
          <a:solidFill>
            <a:srgbClr val="FFF7ED"/>
          </a:solidFill>
          <a:ln w="7144">
            <a:solidFill>
              <a:srgbClr val="F97316"/>
            </a:solidFill>
            <a:prstDash val="solid"/>
          </a:ln>
        </p:spPr>
        <p:txBody>
          <a:bodyPr wrap="square" rtlCol="0" anchor="ctr"/>
          <a:lstStyle/>
          <a:p>
            <a:pPr marL="0" indent="0">
              <a:buNone/>
            </a:pPr>
            <a:endParaRPr lang="en-US" dirty="0"/>
          </a:p>
        </p:txBody>
      </p:sp>
      <p:sp>
        <p:nvSpPr>
          <p:cNvPr id="22" name="Text 20"/>
          <p:cNvSpPr/>
          <p:nvPr/>
        </p:nvSpPr>
        <p:spPr>
          <a:xfrm>
            <a:off x="6343190" y="2483011"/>
            <a:ext cx="1184662" cy="185166"/>
          </a:xfrm>
          <a:prstGeom prst="rect">
            <a:avLst/>
          </a:prstGeom>
          <a:noFill/>
          <a:ln/>
        </p:spPr>
        <p:txBody>
          <a:bodyPr wrap="none" lIns="0" tIns="0" rIns="0" bIns="0" rtlCol="0" anchor="t"/>
          <a:lstStyle/>
          <a:p>
            <a:pPr marL="0" indent="0" algn="l">
              <a:lnSpc>
                <a:spcPts val="1496"/>
              </a:lnSpc>
              <a:buNone/>
            </a:pPr>
            <a:r>
              <a:rPr lang="en-US" sz="1069" b="1" dirty="0">
                <a:solidFill>
                  <a:srgbClr val="0F172A"/>
                </a:solidFill>
                <a:latin typeface="Carlito" pitchFamily="34" charset="0"/>
                <a:ea typeface="Carlito" pitchFamily="34" charset="-122"/>
                <a:cs typeface="Carlito" pitchFamily="34" charset="-120"/>
              </a:rPr>
              <a:t>Why It Matters</a:t>
            </a:r>
            <a:endParaRPr lang="en-US" sz="1069" dirty="0"/>
          </a:p>
        </p:txBody>
      </p:sp>
      <p:sp>
        <p:nvSpPr>
          <p:cNvPr id="23" name="Text 21"/>
          <p:cNvSpPr/>
          <p:nvPr/>
        </p:nvSpPr>
        <p:spPr>
          <a:xfrm>
            <a:off x="6169744" y="2492276"/>
            <a:ext cx="157163" cy="157163"/>
          </a:xfrm>
          <a:prstGeom prst="rect">
            <a:avLst/>
          </a:prstGeom>
          <a:noFill/>
          <a:ln/>
        </p:spPr>
        <p:txBody>
          <a:bodyPr wrap="none" lIns="0" tIns="0" rIns="0" bIns="0" rtlCol="0" anchor="ctr"/>
          <a:lstStyle/>
          <a:p>
            <a:pPr marL="0" indent="0" algn="ctr">
              <a:buNone/>
            </a:pPr>
            <a:r>
              <a:rPr lang="en-US" sz="1547" dirty="0">
                <a:solidFill>
                  <a:srgbClr val="F97316"/>
                </a:solidFill>
                <a:latin typeface="Segoe UI Symbol" pitchFamily="34" charset="0"/>
                <a:ea typeface="Segoe UI Symbol" pitchFamily="34" charset="-122"/>
                <a:cs typeface="Segoe UI Symbol" pitchFamily="34" charset="-120"/>
              </a:rPr>
              <a:t>✓</a:t>
            </a:r>
            <a:endParaRPr lang="en-US" sz="1547" dirty="0"/>
          </a:p>
        </p:txBody>
      </p:sp>
      <p:sp>
        <p:nvSpPr>
          <p:cNvPr id="24" name="Text 22"/>
          <p:cNvSpPr/>
          <p:nvPr/>
        </p:nvSpPr>
        <p:spPr>
          <a:xfrm>
            <a:off x="6169744" y="2708709"/>
            <a:ext cx="2367037" cy="466130"/>
          </a:xfrm>
          <a:prstGeom prst="rect">
            <a:avLst/>
          </a:prstGeom>
          <a:noFill/>
          <a:ln/>
        </p:spPr>
        <p:txBody>
          <a:bodyPr wrap="square" lIns="0" tIns="0" rIns="0" bIns="0" rtlCol="0" anchor="t"/>
          <a:lstStyle/>
          <a:p>
            <a:pPr marL="0" indent="0" algn="l">
              <a:lnSpc>
                <a:spcPts val="1223"/>
              </a:lnSpc>
              <a:buNone/>
            </a:pPr>
            <a:r>
              <a:rPr lang="en-US" sz="844" dirty="0">
                <a:solidFill>
                  <a:srgbClr val="334155"/>
                </a:solidFill>
                <a:latin typeface="Carlito" pitchFamily="34" charset="0"/>
                <a:ea typeface="Carlito" pitchFamily="34" charset="-122"/>
                <a:cs typeface="Carlito" pitchFamily="34" charset="-120"/>
              </a:rPr>
              <a:t>Idempotency means you can </a:t>
            </a:r>
            <a:r>
              <a:rPr lang="en-US" sz="844" b="1" dirty="0">
                <a:solidFill>
                  <a:srgbClr val="0F172A"/>
                </a:solidFill>
                <a:latin typeface="Carlito" pitchFamily="34" charset="0"/>
                <a:ea typeface="Carlito" pitchFamily="34" charset="-122"/>
                <a:cs typeface="Carlito" pitchFamily="34" charset="-120"/>
              </a:rPr>
              <a:t>safely re-run</a:t>
            </a:r>
            <a:r>
              <a:rPr lang="en-US" sz="844" dirty="0">
                <a:solidFill>
                  <a:srgbClr val="334155"/>
                </a:solidFill>
                <a:latin typeface="Carlito" pitchFamily="34" charset="0"/>
                <a:ea typeface="Carlito" pitchFamily="34" charset="-122"/>
                <a:cs typeface="Carlito" pitchFamily="34" charset="-120"/>
              </a:rPr>
              <a:t> a playbook to fix drift. No fear of "what if I run it twice?". </a:t>
            </a:r>
            <a:r>
              <a:rPr lang="en-US" sz="844" b="1" dirty="0">
                <a:solidFill>
                  <a:srgbClr val="0F172A"/>
                </a:solidFill>
                <a:latin typeface="Carlito" pitchFamily="34" charset="0"/>
                <a:ea typeface="Carlito" pitchFamily="34" charset="-122"/>
                <a:cs typeface="Carlito" pitchFamily="34" charset="-120"/>
              </a:rPr>
              <a:t>Drift auto-corrects.</a:t>
            </a:r>
            <a:endParaRPr lang="en-US" sz="844" dirty="0"/>
          </a:p>
        </p:txBody>
      </p:sp>
      <p:sp>
        <p:nvSpPr>
          <p:cNvPr id="25" name="Text 23"/>
          <p:cNvSpPr/>
          <p:nvPr/>
        </p:nvSpPr>
        <p:spPr>
          <a:xfrm>
            <a:off x="457200" y="3410583"/>
            <a:ext cx="8229600" cy="357188"/>
          </a:xfrm>
          <a:prstGeom prst="roundRect">
            <a:avLst>
              <a:gd name="adj" fmla="val 21333"/>
            </a:avLst>
          </a:prstGeom>
          <a:solidFill>
            <a:srgbClr val="FFF7ED"/>
          </a:solidFill>
          <a:ln/>
        </p:spPr>
        <p:txBody>
          <a:bodyPr wrap="square" rtlCol="0" anchor="ctr"/>
          <a:lstStyle/>
          <a:p>
            <a:pPr marL="0" indent="0">
              <a:buNone/>
            </a:pPr>
            <a:endParaRPr lang="en-US" dirty="0"/>
          </a:p>
        </p:txBody>
      </p:sp>
      <p:sp>
        <p:nvSpPr>
          <p:cNvPr id="26" name="Shape 24"/>
          <p:cNvSpPr/>
          <p:nvPr/>
        </p:nvSpPr>
        <p:spPr>
          <a:xfrm>
            <a:off x="478631" y="3410583"/>
            <a:ext cx="0" cy="357188"/>
          </a:xfrm>
          <a:prstGeom prst="line">
            <a:avLst/>
          </a:prstGeom>
          <a:noFill/>
          <a:ln w="42863">
            <a:solidFill>
              <a:srgbClr val="F97316"/>
            </a:solidFill>
            <a:prstDash val="solid"/>
          </a:ln>
        </p:spPr>
      </p:sp>
      <p:sp>
        <p:nvSpPr>
          <p:cNvPr id="27" name="Text 25"/>
          <p:cNvSpPr/>
          <p:nvPr/>
        </p:nvSpPr>
        <p:spPr>
          <a:xfrm>
            <a:off x="457200" y="3410583"/>
            <a:ext cx="8229600" cy="385763"/>
          </a:xfrm>
          <a:prstGeom prst="rect">
            <a:avLst/>
          </a:prstGeom>
          <a:noFill/>
          <a:ln/>
        </p:spPr>
        <p:txBody>
          <a:bodyPr wrap="square" lIns="157163" tIns="85725" rIns="157163" bIns="85725" rtlCol="0" anchor="t"/>
          <a:lstStyle/>
          <a:p>
            <a:pPr marL="0" indent="0" algn="l">
              <a:lnSpc>
                <a:spcPts val="1339"/>
              </a:lnSpc>
              <a:buNone/>
            </a:pPr>
            <a:r>
              <a:rPr lang="en-US" sz="956" dirty="0">
                <a:solidFill>
                  <a:srgbClr val="F97316"/>
                </a:solidFill>
                <a:latin typeface="Segoe UI Symbol" pitchFamily="34" charset="0"/>
                <a:ea typeface="Segoe UI Symbol" pitchFamily="34" charset="-122"/>
                <a:cs typeface="Segoe UI Symbol" pitchFamily="34" charset="-120"/>
              </a:rPr>
              <a:t>⇄</a:t>
            </a:r>
            <a:r>
              <a:rPr lang="en-US" sz="956" dirty="0">
                <a:solidFill>
                  <a:srgbClr val="0F172A"/>
                </a:solidFill>
                <a:latin typeface="Carlito" pitchFamily="34" charset="0"/>
                <a:ea typeface="Carlito" pitchFamily="34" charset="-122"/>
                <a:cs typeface="Carlito" pitchFamily="34" charset="-120"/>
              </a:rPr>
              <a:t> Idempotency is the difference between configuration </a:t>
            </a:r>
            <a:r>
              <a:rPr lang="en-US" sz="956" dirty="0">
                <a:solidFill>
                  <a:srgbClr val="F97316"/>
                </a:solidFill>
                <a:latin typeface="Carlito" pitchFamily="34" charset="0"/>
                <a:ea typeface="Carlito" pitchFamily="34" charset="-122"/>
                <a:cs typeface="Carlito" pitchFamily="34" charset="-120"/>
              </a:rPr>
              <a:t>MANAGEMENT</a:t>
            </a:r>
            <a:r>
              <a:rPr lang="en-US" sz="956" dirty="0">
                <a:solidFill>
                  <a:srgbClr val="0F172A"/>
                </a:solidFill>
                <a:latin typeface="Carlito" pitchFamily="34" charset="0"/>
                <a:ea typeface="Carlito" pitchFamily="34" charset="-122"/>
                <a:cs typeface="Carlito" pitchFamily="34" charset="-120"/>
              </a:rPr>
              <a:t> (Ansible) and configuration </a:t>
            </a:r>
            <a:r>
              <a:rPr lang="en-US" sz="956" dirty="0">
                <a:solidFill>
                  <a:srgbClr val="F97316"/>
                </a:solidFill>
                <a:latin typeface="Carlito" pitchFamily="34" charset="0"/>
                <a:ea typeface="Carlito" pitchFamily="34" charset="-122"/>
                <a:cs typeface="Carlito" pitchFamily="34" charset="-120"/>
              </a:rPr>
              <a:t>SCRIPTING</a:t>
            </a:r>
            <a:r>
              <a:rPr lang="en-US" sz="956" dirty="0">
                <a:solidFill>
                  <a:srgbClr val="0F172A"/>
                </a:solidFill>
                <a:latin typeface="Carlito" pitchFamily="34" charset="0"/>
                <a:ea typeface="Carlito" pitchFamily="34" charset="-122"/>
                <a:cs typeface="Carlito" pitchFamily="34" charset="-120"/>
              </a:rPr>
              <a:t> (bash).</a:t>
            </a:r>
            <a:endParaRPr lang="en-US" sz="956"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28625" y="342900"/>
            <a:ext cx="5191274" cy="339471"/>
          </a:xfrm>
          <a:prstGeom prst="rect">
            <a:avLst/>
          </a:prstGeom>
          <a:noFill/>
          <a:ln/>
        </p:spPr>
        <p:txBody>
          <a:bodyPr wrap="square" lIns="0" tIns="0" rIns="0" bIns="0" rtlCol="0" anchor="t"/>
          <a:lstStyle/>
          <a:p>
            <a:pPr marL="0" indent="0" algn="l">
              <a:lnSpc>
                <a:spcPts val="2475"/>
              </a:lnSpc>
              <a:buNone/>
            </a:pPr>
            <a:r>
              <a:rPr lang="en-US" sz="2250" b="1" dirty="0">
                <a:solidFill>
                  <a:srgbClr val="0F172A"/>
                </a:solidFill>
                <a:latin typeface="Carlito" pitchFamily="34" charset="0"/>
                <a:ea typeface="Carlito" pitchFamily="34" charset="-122"/>
                <a:cs typeface="Carlito" pitchFamily="34" charset="-120"/>
              </a:rPr>
              <a:t>How Ansible Guarantees Idempotency</a:t>
            </a:r>
            <a:endParaRPr lang="en-US" sz="2250" dirty="0"/>
          </a:p>
        </p:txBody>
      </p:sp>
      <p:sp>
        <p:nvSpPr>
          <p:cNvPr id="3" name="Text 1"/>
          <p:cNvSpPr/>
          <p:nvPr/>
        </p:nvSpPr>
        <p:spPr>
          <a:xfrm>
            <a:off x="428625" y="728663"/>
            <a:ext cx="571500" cy="42863"/>
          </a:xfrm>
          <a:prstGeom prst="roundRect">
            <a:avLst>
              <a:gd name="adj" fmla="val 66666"/>
            </a:avLst>
          </a:prstGeom>
          <a:solidFill>
            <a:srgbClr val="F97316"/>
          </a:solidFill>
          <a:ln/>
        </p:spPr>
        <p:txBody>
          <a:bodyPr wrap="square" rtlCol="0" anchor="ctr"/>
          <a:lstStyle/>
          <a:p>
            <a:pPr marL="0" indent="0">
              <a:buNone/>
            </a:pPr>
            <a:endParaRPr lang="en-US" dirty="0"/>
          </a:p>
        </p:txBody>
      </p:sp>
      <p:sp>
        <p:nvSpPr>
          <p:cNvPr id="4" name="Text 2"/>
          <p:cNvSpPr/>
          <p:nvPr/>
        </p:nvSpPr>
        <p:spPr>
          <a:xfrm>
            <a:off x="428625" y="814388"/>
            <a:ext cx="4719340" cy="194328"/>
          </a:xfrm>
          <a:prstGeom prst="rect">
            <a:avLst/>
          </a:prstGeom>
          <a:noFill/>
          <a:ln/>
        </p:spPr>
        <p:txBody>
          <a:bodyPr wrap="square" lIns="0" tIns="0" rIns="0" bIns="0" rtlCol="0" anchor="t"/>
          <a:lstStyle/>
          <a:p>
            <a:pPr marL="0" indent="0" algn="l">
              <a:lnSpc>
                <a:spcPts val="1418"/>
              </a:lnSpc>
              <a:buNone/>
            </a:pPr>
            <a:r>
              <a:rPr lang="en-US" sz="1013" dirty="0">
                <a:solidFill>
                  <a:srgbClr val="64748B"/>
                </a:solidFill>
                <a:latin typeface="Carlito" pitchFamily="34" charset="0"/>
                <a:ea typeface="Carlito" pitchFamily="34" charset="-122"/>
                <a:cs typeface="Carlito" pitchFamily="34" charset="-120"/>
              </a:rPr>
              <a:t>Module-level checks. Each module decides whether action is needed.</a:t>
            </a:r>
            <a:endParaRPr lang="en-US" sz="1013" dirty="0"/>
          </a:p>
        </p:txBody>
      </p:sp>
      <p:sp>
        <p:nvSpPr>
          <p:cNvPr id="5" name="Text 3"/>
          <p:cNvSpPr/>
          <p:nvPr/>
        </p:nvSpPr>
        <p:spPr>
          <a:xfrm>
            <a:off x="7381302" y="330098"/>
            <a:ext cx="1356933" cy="331333"/>
          </a:xfrm>
          <a:prstGeom prst="roundRect">
            <a:avLst>
              <a:gd name="adj" fmla="val 2871877"/>
            </a:avLst>
          </a:prstGeom>
          <a:solidFill>
            <a:srgbClr val="0F172A"/>
          </a:solidFill>
          <a:ln/>
        </p:spPr>
        <p:txBody>
          <a:bodyPr wrap="square" rtlCol="0" anchor="ctr"/>
          <a:lstStyle/>
          <a:p>
            <a:pPr marL="0" indent="0">
              <a:buNone/>
            </a:pPr>
            <a:endParaRPr lang="en-US" dirty="0"/>
          </a:p>
        </p:txBody>
      </p:sp>
      <p:sp>
        <p:nvSpPr>
          <p:cNvPr id="6" name="Text 4"/>
          <p:cNvSpPr/>
          <p:nvPr/>
        </p:nvSpPr>
        <p:spPr>
          <a:xfrm>
            <a:off x="7380402" y="342900"/>
            <a:ext cx="1358733" cy="305730"/>
          </a:xfrm>
          <a:prstGeom prst="rect">
            <a:avLst/>
          </a:prstGeom>
          <a:noFill/>
          <a:ln/>
        </p:spPr>
        <p:txBody>
          <a:bodyPr wrap="none" lIns="0" tIns="0" rIns="0" bIns="0" rtlCol="0" anchor="ctr"/>
          <a:lstStyle/>
          <a:p>
            <a:pPr marL="0" indent="0" algn="ctr">
              <a:lnSpc>
                <a:spcPts val="1733"/>
              </a:lnSpc>
              <a:buNone/>
            </a:pPr>
            <a:r>
              <a:rPr lang="en-US" sz="1238" b="1" kern="0" spc="28" dirty="0">
                <a:solidFill>
                  <a:srgbClr val="FFFFFF"/>
                </a:solidFill>
                <a:latin typeface="Liberation Sans Narrow" pitchFamily="34" charset="0"/>
                <a:ea typeface="Liberation Sans Narrow" pitchFamily="34" charset="-122"/>
                <a:cs typeface="Liberation Sans Narrow" pitchFamily="34" charset="-120"/>
              </a:rPr>
              <a:t>02 · Guarantee</a:t>
            </a:r>
            <a:endParaRPr lang="en-US" sz="1238" dirty="0"/>
          </a:p>
        </p:txBody>
      </p:sp>
      <p:sp>
        <p:nvSpPr>
          <p:cNvPr id="7" name="Text 5"/>
          <p:cNvSpPr/>
          <p:nvPr/>
        </p:nvSpPr>
        <p:spPr>
          <a:xfrm>
            <a:off x="432197" y="1097905"/>
            <a:ext cx="4086225" cy="1567383"/>
          </a:xfrm>
          <a:prstGeom prst="roundRect">
            <a:avLst>
              <a:gd name="adj" fmla="val 8508"/>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8" name="Text 6"/>
          <p:cNvSpPr/>
          <p:nvPr/>
        </p:nvSpPr>
        <p:spPr>
          <a:xfrm>
            <a:off x="564356" y="1222921"/>
            <a:ext cx="3600450" cy="185166"/>
          </a:xfrm>
          <a:prstGeom prst="rect">
            <a:avLst/>
          </a:prstGeom>
          <a:noFill/>
          <a:ln/>
        </p:spPr>
        <p:txBody>
          <a:bodyPr wrap="none" lIns="0" tIns="0" rIns="0" bIns="0" rtlCol="0" anchor="t"/>
          <a:lstStyle/>
          <a:p>
            <a:pPr marL="0" indent="0" algn="l">
              <a:lnSpc>
                <a:spcPts val="1350"/>
              </a:lnSpc>
              <a:buNone/>
            </a:pPr>
            <a:r>
              <a:rPr lang="en-US" sz="1350" b="1" dirty="0">
                <a:solidFill>
                  <a:srgbClr val="F97316"/>
                </a:solidFill>
                <a:latin typeface="Liberation Sans Narrow" pitchFamily="34" charset="0"/>
                <a:ea typeface="Liberation Sans Narrow" pitchFamily="34" charset="-122"/>
                <a:cs typeface="Liberation Sans Narrow" pitchFamily="34" charset="-120"/>
              </a:rPr>
              <a:t>01</a:t>
            </a:r>
            <a:endParaRPr lang="en-US" sz="1350" dirty="0"/>
          </a:p>
        </p:txBody>
      </p:sp>
      <p:sp>
        <p:nvSpPr>
          <p:cNvPr id="9" name="Text 7"/>
          <p:cNvSpPr/>
          <p:nvPr/>
        </p:nvSpPr>
        <p:spPr>
          <a:xfrm>
            <a:off x="4200525" y="1215777"/>
            <a:ext cx="185738" cy="185738"/>
          </a:xfrm>
          <a:prstGeom prst="rect">
            <a:avLst/>
          </a:prstGeom>
          <a:noFill/>
          <a:ln/>
        </p:spPr>
        <p:txBody>
          <a:bodyPr wrap="none" lIns="0" tIns="0" rIns="0" bIns="0" rtlCol="0" anchor="ctr"/>
          <a:lstStyle/>
          <a:p>
            <a:pPr marL="0" indent="0" algn="ctr">
              <a:buNone/>
            </a:pPr>
            <a:r>
              <a:rPr lang="en-US" sz="1828" dirty="0">
                <a:solidFill>
                  <a:srgbClr val="0F172A"/>
                </a:solidFill>
                <a:latin typeface="Segoe UI Symbol" pitchFamily="34" charset="0"/>
                <a:ea typeface="Segoe UI Symbol" pitchFamily="34" charset="-122"/>
                <a:cs typeface="Segoe UI Symbol" pitchFamily="34" charset="-120"/>
              </a:rPr>
              <a:t>⌕</a:t>
            </a:r>
            <a:endParaRPr lang="en-US" sz="1828" dirty="0"/>
          </a:p>
        </p:txBody>
      </p:sp>
      <p:sp>
        <p:nvSpPr>
          <p:cNvPr id="10" name="Text 8"/>
          <p:cNvSpPr/>
          <p:nvPr/>
        </p:nvSpPr>
        <p:spPr>
          <a:xfrm>
            <a:off x="564356" y="1458664"/>
            <a:ext cx="3821906" cy="225390"/>
          </a:xfrm>
          <a:prstGeom prst="rect">
            <a:avLst/>
          </a:prstGeom>
          <a:noFill/>
          <a:ln/>
        </p:spPr>
        <p:txBody>
          <a:bodyPr wrap="none" lIns="0" tIns="0" rIns="0" bIns="0" rtlCol="0" anchor="t">
            <a:normAutofit/>
          </a:bodyPr>
          <a:lstStyle/>
          <a:p>
            <a:pPr marL="0" indent="0" algn="l">
              <a:lnSpc>
                <a:spcPts val="1654"/>
              </a:lnSpc>
              <a:buNone/>
            </a:pPr>
            <a:r>
              <a:rPr lang="en-US" sz="1181" b="1" dirty="0">
                <a:solidFill>
                  <a:srgbClr val="0F172A"/>
                </a:solidFill>
                <a:latin typeface="Carlito" pitchFamily="34" charset="0"/>
                <a:ea typeface="Carlito" pitchFamily="34" charset="-122"/>
                <a:cs typeface="Carlito" pitchFamily="34" charset="-120"/>
              </a:rPr>
              <a:t>Check Before Act</a:t>
            </a:r>
            <a:endParaRPr lang="en-US" sz="1181" dirty="0"/>
          </a:p>
        </p:txBody>
      </p:sp>
      <p:sp>
        <p:nvSpPr>
          <p:cNvPr id="11" name="Text 9"/>
          <p:cNvSpPr/>
          <p:nvPr/>
        </p:nvSpPr>
        <p:spPr>
          <a:xfrm>
            <a:off x="2481895" y="1718630"/>
            <a:ext cx="200025" cy="128588"/>
          </a:xfrm>
          <a:prstGeom prst="roundRect">
            <a:avLst>
              <a:gd name="adj" fmla="val 29630"/>
            </a:avLst>
          </a:prstGeom>
          <a:solidFill>
            <a:srgbClr val="F1F5F9"/>
          </a:solidFill>
          <a:ln/>
        </p:spPr>
        <p:txBody>
          <a:bodyPr wrap="square" rtlCol="0" anchor="ctr"/>
          <a:lstStyle/>
          <a:p>
            <a:pPr marL="0" indent="0">
              <a:buNone/>
            </a:pPr>
            <a:endParaRPr lang="en-US" dirty="0"/>
          </a:p>
        </p:txBody>
      </p:sp>
      <p:sp>
        <p:nvSpPr>
          <p:cNvPr id="12" name="Text 10"/>
          <p:cNvSpPr/>
          <p:nvPr/>
        </p:nvSpPr>
        <p:spPr>
          <a:xfrm>
            <a:off x="564356" y="1863626"/>
            <a:ext cx="371475" cy="128588"/>
          </a:xfrm>
          <a:prstGeom prst="roundRect">
            <a:avLst>
              <a:gd name="adj" fmla="val 29630"/>
            </a:avLst>
          </a:prstGeom>
          <a:solidFill>
            <a:srgbClr val="F1F5F9"/>
          </a:solidFill>
          <a:ln/>
        </p:spPr>
        <p:txBody>
          <a:bodyPr wrap="square" rtlCol="0" anchor="ctr"/>
          <a:lstStyle/>
          <a:p>
            <a:pPr marL="0" indent="0">
              <a:buNone/>
            </a:pPr>
            <a:endParaRPr lang="en-US" dirty="0"/>
          </a:p>
        </p:txBody>
      </p:sp>
      <p:sp>
        <p:nvSpPr>
          <p:cNvPr id="13" name="Text 11"/>
          <p:cNvSpPr/>
          <p:nvPr/>
        </p:nvSpPr>
        <p:spPr>
          <a:xfrm>
            <a:off x="2471961" y="1863626"/>
            <a:ext cx="242888" cy="128588"/>
          </a:xfrm>
          <a:prstGeom prst="roundRect">
            <a:avLst>
              <a:gd name="adj" fmla="val 29630"/>
            </a:avLst>
          </a:prstGeom>
          <a:solidFill>
            <a:srgbClr val="F1F5F9"/>
          </a:solidFill>
          <a:ln/>
        </p:spPr>
        <p:txBody>
          <a:bodyPr wrap="square" rtlCol="0" anchor="ctr"/>
          <a:lstStyle/>
          <a:p>
            <a:pPr marL="0" indent="0">
              <a:buNone/>
            </a:pPr>
            <a:endParaRPr lang="en-US" dirty="0"/>
          </a:p>
        </p:txBody>
      </p:sp>
      <p:sp>
        <p:nvSpPr>
          <p:cNvPr id="14" name="Text 12"/>
          <p:cNvSpPr/>
          <p:nvPr/>
        </p:nvSpPr>
        <p:spPr>
          <a:xfrm>
            <a:off x="564356" y="1711486"/>
            <a:ext cx="3821906" cy="477243"/>
          </a:xfrm>
          <a:prstGeom prst="rect">
            <a:avLst/>
          </a:prstGeom>
          <a:noFill/>
          <a:ln/>
        </p:spPr>
        <p:txBody>
          <a:bodyPr wrap="square" lIns="0" tIns="0" rIns="0" bIns="0" rtlCol="0" anchor="t"/>
          <a:lstStyle/>
          <a:p>
            <a:pPr marL="0" indent="0" algn="l">
              <a:lnSpc>
                <a:spcPts val="1142"/>
              </a:lnSpc>
              <a:buNone/>
            </a:pPr>
            <a:r>
              <a:rPr lang="en-US" sz="800" dirty="0">
                <a:solidFill>
                  <a:srgbClr val="334155"/>
                </a:solidFill>
                <a:latin typeface="Carlito" pitchFamily="34" charset="0"/>
                <a:ea typeface="Carlito" pitchFamily="34" charset="-122"/>
                <a:cs typeface="Carlito" pitchFamily="34" charset="-120"/>
              </a:rPr>
              <a:t>Each module first checks the current state. </a:t>
            </a:r>
            <a:r>
              <a:rPr lang="en-US" sz="800" dirty="0">
                <a:solidFill>
                  <a:srgbClr val="0F172A"/>
                </a:solidFill>
                <a:highlight>
                  <a:srgbClr val="F1F5F9"/>
                </a:highlight>
                <a:latin typeface="Courier New" pitchFamily="34" charset="0"/>
                <a:ea typeface="Courier New" pitchFamily="34" charset="-122"/>
                <a:cs typeface="Courier New" pitchFamily="34" charset="-120"/>
              </a:rPr>
              <a:t>apt</a:t>
            </a:r>
            <a:r>
              <a:rPr lang="en-US" sz="800" dirty="0">
                <a:solidFill>
                  <a:srgbClr val="334155"/>
                </a:solidFill>
                <a:latin typeface="Carlito" pitchFamily="34" charset="0"/>
                <a:ea typeface="Carlito" pitchFamily="34" charset="-122"/>
                <a:cs typeface="Carlito" pitchFamily="34" charset="-120"/>
              </a:rPr>
              <a:t> checks if nginx is already installed. </a:t>
            </a:r>
            <a:r>
              <a:rPr lang="en-US" sz="800" dirty="0">
                <a:solidFill>
                  <a:srgbClr val="0F172A"/>
                </a:solidFill>
                <a:highlight>
                  <a:srgbClr val="F1F5F9"/>
                </a:highlight>
                <a:latin typeface="Courier New" pitchFamily="34" charset="0"/>
                <a:ea typeface="Courier New" pitchFamily="34" charset="-122"/>
                <a:cs typeface="Courier New" pitchFamily="34" charset="-120"/>
              </a:rPr>
              <a:t>service</a:t>
            </a:r>
            <a:r>
              <a:rPr lang="en-US" sz="800" dirty="0">
                <a:solidFill>
                  <a:srgbClr val="334155"/>
                </a:solidFill>
                <a:latin typeface="Carlito" pitchFamily="34" charset="0"/>
                <a:ea typeface="Carlito" pitchFamily="34" charset="-122"/>
                <a:cs typeface="Carlito" pitchFamily="34" charset="-120"/>
              </a:rPr>
              <a:t> checks if nginx is already running. </a:t>
            </a:r>
            <a:r>
              <a:rPr lang="en-US" sz="800" dirty="0">
                <a:solidFill>
                  <a:srgbClr val="0F172A"/>
                </a:solidFill>
                <a:highlight>
                  <a:srgbClr val="F1F5F9"/>
                </a:highlight>
                <a:latin typeface="Courier New" pitchFamily="34" charset="0"/>
                <a:ea typeface="Courier New" pitchFamily="34" charset="-122"/>
                <a:cs typeface="Courier New" pitchFamily="34" charset="-120"/>
              </a:rPr>
              <a:t>file</a:t>
            </a:r>
            <a:r>
              <a:rPr lang="en-US" sz="800" dirty="0">
                <a:solidFill>
                  <a:srgbClr val="334155"/>
                </a:solidFill>
                <a:latin typeface="Carlito" pitchFamily="34" charset="0"/>
                <a:ea typeface="Carlito" pitchFamily="34" charset="-122"/>
                <a:cs typeface="Carlito" pitchFamily="34" charset="-120"/>
              </a:rPr>
              <a:t> checks if the file already exists with the right permissions.</a:t>
            </a:r>
            <a:endParaRPr lang="en-US" sz="800" dirty="0"/>
          </a:p>
        </p:txBody>
      </p:sp>
      <p:sp>
        <p:nvSpPr>
          <p:cNvPr id="15" name="Text 13"/>
          <p:cNvSpPr/>
          <p:nvPr/>
        </p:nvSpPr>
        <p:spPr>
          <a:xfrm>
            <a:off x="4625578" y="1097905"/>
            <a:ext cx="4086225" cy="1567383"/>
          </a:xfrm>
          <a:prstGeom prst="roundRect">
            <a:avLst>
              <a:gd name="adj" fmla="val 8508"/>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16" name="Text 14"/>
          <p:cNvSpPr/>
          <p:nvPr/>
        </p:nvSpPr>
        <p:spPr>
          <a:xfrm>
            <a:off x="4757738" y="1222921"/>
            <a:ext cx="3600450" cy="185166"/>
          </a:xfrm>
          <a:prstGeom prst="rect">
            <a:avLst/>
          </a:prstGeom>
          <a:noFill/>
          <a:ln/>
        </p:spPr>
        <p:txBody>
          <a:bodyPr wrap="none" lIns="0" tIns="0" rIns="0" bIns="0" rtlCol="0" anchor="t"/>
          <a:lstStyle/>
          <a:p>
            <a:pPr marL="0" indent="0" algn="l">
              <a:lnSpc>
                <a:spcPts val="1350"/>
              </a:lnSpc>
              <a:buNone/>
            </a:pPr>
            <a:r>
              <a:rPr lang="en-US" sz="1350" b="1" dirty="0">
                <a:solidFill>
                  <a:srgbClr val="F97316"/>
                </a:solidFill>
                <a:latin typeface="Liberation Sans Narrow" pitchFamily="34" charset="0"/>
                <a:ea typeface="Liberation Sans Narrow" pitchFamily="34" charset="-122"/>
                <a:cs typeface="Liberation Sans Narrow" pitchFamily="34" charset="-120"/>
              </a:rPr>
              <a:t>02</a:t>
            </a:r>
            <a:endParaRPr lang="en-US" sz="1350" dirty="0"/>
          </a:p>
        </p:txBody>
      </p:sp>
      <p:sp>
        <p:nvSpPr>
          <p:cNvPr id="17" name="Text 15"/>
          <p:cNvSpPr/>
          <p:nvPr/>
        </p:nvSpPr>
        <p:spPr>
          <a:xfrm>
            <a:off x="8393906" y="1215777"/>
            <a:ext cx="185738" cy="185738"/>
          </a:xfrm>
          <a:prstGeom prst="rect">
            <a:avLst/>
          </a:prstGeom>
          <a:noFill/>
          <a:ln/>
        </p:spPr>
        <p:txBody>
          <a:bodyPr wrap="none" lIns="0" tIns="0" rIns="0" bIns="0" rtlCol="0" anchor="ctr"/>
          <a:lstStyle/>
          <a:p>
            <a:pPr marL="0" indent="0" algn="ctr">
              <a:buNone/>
            </a:pPr>
            <a:r>
              <a:rPr lang="en-US" sz="1828" dirty="0">
                <a:solidFill>
                  <a:srgbClr val="0F172A"/>
                </a:solidFill>
                <a:latin typeface="Segoe UI Symbol" pitchFamily="34" charset="0"/>
                <a:ea typeface="Segoe UI Symbol" pitchFamily="34" charset="-122"/>
                <a:cs typeface="Segoe UI Symbol" pitchFamily="34" charset="-120"/>
              </a:rPr>
              <a:t>⚖</a:t>
            </a:r>
            <a:endParaRPr lang="en-US" sz="1828" dirty="0"/>
          </a:p>
        </p:txBody>
      </p:sp>
      <p:sp>
        <p:nvSpPr>
          <p:cNvPr id="18" name="Text 16"/>
          <p:cNvSpPr/>
          <p:nvPr/>
        </p:nvSpPr>
        <p:spPr>
          <a:xfrm>
            <a:off x="4757738" y="1458664"/>
            <a:ext cx="3821906" cy="225390"/>
          </a:xfrm>
          <a:prstGeom prst="rect">
            <a:avLst/>
          </a:prstGeom>
          <a:noFill/>
          <a:ln/>
        </p:spPr>
        <p:txBody>
          <a:bodyPr wrap="none" lIns="0" tIns="0" rIns="0" bIns="0" rtlCol="0" anchor="t">
            <a:normAutofit/>
          </a:bodyPr>
          <a:lstStyle/>
          <a:p>
            <a:pPr marL="0" indent="0" algn="l">
              <a:lnSpc>
                <a:spcPts val="1654"/>
              </a:lnSpc>
              <a:buNone/>
            </a:pPr>
            <a:r>
              <a:rPr lang="en-US" sz="1181" b="1" dirty="0">
                <a:solidFill>
                  <a:srgbClr val="0F172A"/>
                </a:solidFill>
                <a:latin typeface="Carlito" pitchFamily="34" charset="0"/>
                <a:ea typeface="Carlito" pitchFamily="34" charset="-122"/>
                <a:cs typeface="Carlito" pitchFamily="34" charset="-120"/>
              </a:rPr>
              <a:t>State Comparison</a:t>
            </a:r>
            <a:endParaRPr lang="en-US" sz="1181" dirty="0"/>
          </a:p>
        </p:txBody>
      </p:sp>
      <p:sp>
        <p:nvSpPr>
          <p:cNvPr id="19" name="Text 17"/>
          <p:cNvSpPr/>
          <p:nvPr/>
        </p:nvSpPr>
        <p:spPr>
          <a:xfrm>
            <a:off x="6920843" y="1718630"/>
            <a:ext cx="628650" cy="128588"/>
          </a:xfrm>
          <a:prstGeom prst="roundRect">
            <a:avLst>
              <a:gd name="adj" fmla="val 29630"/>
            </a:avLst>
          </a:prstGeom>
          <a:solidFill>
            <a:srgbClr val="F1F5F9"/>
          </a:solidFill>
          <a:ln/>
        </p:spPr>
        <p:txBody>
          <a:bodyPr wrap="square" rtlCol="0" anchor="ctr"/>
          <a:lstStyle/>
          <a:p>
            <a:pPr marL="0" indent="0">
              <a:buNone/>
            </a:pPr>
            <a:endParaRPr lang="en-US" dirty="0"/>
          </a:p>
        </p:txBody>
      </p:sp>
      <p:sp>
        <p:nvSpPr>
          <p:cNvPr id="20" name="Text 18"/>
          <p:cNvSpPr/>
          <p:nvPr/>
        </p:nvSpPr>
        <p:spPr>
          <a:xfrm>
            <a:off x="7609545" y="1718630"/>
            <a:ext cx="628650" cy="128588"/>
          </a:xfrm>
          <a:prstGeom prst="roundRect">
            <a:avLst>
              <a:gd name="adj" fmla="val 29630"/>
            </a:avLst>
          </a:prstGeom>
          <a:solidFill>
            <a:srgbClr val="F1F5F9"/>
          </a:solidFill>
          <a:ln/>
        </p:spPr>
        <p:txBody>
          <a:bodyPr wrap="square" rtlCol="0" anchor="ctr"/>
          <a:lstStyle/>
          <a:p>
            <a:pPr marL="0" indent="0">
              <a:buNone/>
            </a:pPr>
            <a:endParaRPr lang="en-US" dirty="0"/>
          </a:p>
        </p:txBody>
      </p:sp>
      <p:sp>
        <p:nvSpPr>
          <p:cNvPr id="21" name="Text 19"/>
          <p:cNvSpPr/>
          <p:nvPr/>
        </p:nvSpPr>
        <p:spPr>
          <a:xfrm>
            <a:off x="4757738" y="1863626"/>
            <a:ext cx="457200" cy="128588"/>
          </a:xfrm>
          <a:prstGeom prst="roundRect">
            <a:avLst>
              <a:gd name="adj" fmla="val 29630"/>
            </a:avLst>
          </a:prstGeom>
          <a:solidFill>
            <a:srgbClr val="F1F5F9"/>
          </a:solidFill>
          <a:ln/>
        </p:spPr>
        <p:txBody>
          <a:bodyPr wrap="square" rtlCol="0" anchor="ctr"/>
          <a:lstStyle/>
          <a:p>
            <a:pPr marL="0" indent="0">
              <a:buNone/>
            </a:pPr>
            <a:endParaRPr lang="en-US" dirty="0"/>
          </a:p>
        </p:txBody>
      </p:sp>
      <p:sp>
        <p:nvSpPr>
          <p:cNvPr id="22" name="Text 20"/>
          <p:cNvSpPr/>
          <p:nvPr/>
        </p:nvSpPr>
        <p:spPr>
          <a:xfrm>
            <a:off x="4757738" y="1711486"/>
            <a:ext cx="3821906" cy="477243"/>
          </a:xfrm>
          <a:prstGeom prst="rect">
            <a:avLst/>
          </a:prstGeom>
          <a:noFill/>
          <a:ln/>
        </p:spPr>
        <p:txBody>
          <a:bodyPr wrap="square" lIns="0" tIns="0" rIns="0" bIns="0" rtlCol="0" anchor="t"/>
          <a:lstStyle/>
          <a:p>
            <a:pPr marL="0" indent="0" algn="l">
              <a:lnSpc>
                <a:spcPts val="1142"/>
              </a:lnSpc>
              <a:buNone/>
            </a:pPr>
            <a:r>
              <a:rPr lang="en-US" sz="800" dirty="0">
                <a:solidFill>
                  <a:srgbClr val="334155"/>
                </a:solidFill>
                <a:latin typeface="Carlito" pitchFamily="34" charset="0"/>
                <a:ea typeface="Carlito" pitchFamily="34" charset="-122"/>
                <a:cs typeface="Carlito" pitchFamily="34" charset="-120"/>
              </a:rPr>
              <a:t>Module compares current state vs desired state (</a:t>
            </a:r>
            <a:r>
              <a:rPr lang="en-US" sz="800" dirty="0">
                <a:solidFill>
                  <a:srgbClr val="0F172A"/>
                </a:solidFill>
                <a:highlight>
                  <a:srgbClr val="F1F5F9"/>
                </a:highlight>
                <a:latin typeface="Courier New" pitchFamily="34" charset="0"/>
                <a:ea typeface="Courier New" pitchFamily="34" charset="-122"/>
                <a:cs typeface="Courier New" pitchFamily="34" charset="-120"/>
              </a:rPr>
              <a:t>state=present</a:t>
            </a:r>
            <a:r>
              <a:rPr lang="en-US" sz="800" dirty="0">
                <a:solidFill>
                  <a:srgbClr val="334155"/>
                </a:solidFill>
                <a:latin typeface="Carlito" pitchFamily="34" charset="0"/>
                <a:ea typeface="Carlito" pitchFamily="34" charset="-122"/>
                <a:cs typeface="Carlito" pitchFamily="34" charset="-120"/>
              </a:rPr>
              <a:t>, </a:t>
            </a:r>
            <a:r>
              <a:rPr lang="en-US" sz="800" dirty="0">
                <a:solidFill>
                  <a:srgbClr val="0F172A"/>
                </a:solidFill>
                <a:highlight>
                  <a:srgbClr val="F1F5F9"/>
                </a:highlight>
                <a:latin typeface="Courier New" pitchFamily="34" charset="0"/>
                <a:ea typeface="Courier New" pitchFamily="34" charset="-122"/>
                <a:cs typeface="Courier New" pitchFamily="34" charset="-120"/>
              </a:rPr>
              <a:t>state=started</a:t>
            </a:r>
            <a:r>
              <a:rPr lang="en-US" sz="800" dirty="0">
                <a:solidFill>
                  <a:srgbClr val="334155"/>
                </a:solidFill>
                <a:latin typeface="Carlito" pitchFamily="34" charset="0"/>
                <a:ea typeface="Carlito" pitchFamily="34" charset="-122"/>
                <a:cs typeface="Carlito" pitchFamily="34" charset="-120"/>
              </a:rPr>
              <a:t>, </a:t>
            </a:r>
            <a:r>
              <a:rPr lang="en-US" sz="800" dirty="0">
                <a:solidFill>
                  <a:srgbClr val="0F172A"/>
                </a:solidFill>
                <a:highlight>
                  <a:srgbClr val="F1F5F9"/>
                </a:highlight>
                <a:latin typeface="Liberation Sans Narrow" pitchFamily="34" charset="0"/>
                <a:ea typeface="Liberation Sans Narrow" pitchFamily="34" charset="-122"/>
                <a:cs typeface="Liberation Sans Narrow" pitchFamily="34" charset="-120"/>
              </a:rPr>
              <a:t>mode=0644</a:t>
            </a:r>
            <a:r>
              <a:rPr lang="en-US" sz="800" dirty="0">
                <a:solidFill>
                  <a:srgbClr val="334155"/>
                </a:solidFill>
                <a:latin typeface="Carlito" pitchFamily="34" charset="0"/>
                <a:ea typeface="Carlito" pitchFamily="34" charset="-122"/>
                <a:cs typeface="Carlito" pitchFamily="34" charset="-120"/>
              </a:rPr>
              <a:t>). If they match — return </a:t>
            </a:r>
            <a:r>
              <a:rPr lang="en-US" sz="800" b="1" dirty="0">
                <a:solidFill>
                  <a:srgbClr val="0F172A"/>
                </a:solidFill>
                <a:latin typeface="Carlito" pitchFamily="34" charset="0"/>
                <a:ea typeface="Carlito" pitchFamily="34" charset="-122"/>
                <a:cs typeface="Carlito" pitchFamily="34" charset="-120"/>
              </a:rPr>
              <a:t>ok</a:t>
            </a:r>
            <a:r>
              <a:rPr lang="en-US" sz="800" dirty="0">
                <a:solidFill>
                  <a:srgbClr val="334155"/>
                </a:solidFill>
                <a:latin typeface="Carlito" pitchFamily="34" charset="0"/>
                <a:ea typeface="Carlito" pitchFamily="34" charset="-122"/>
                <a:cs typeface="Carlito" pitchFamily="34" charset="-120"/>
              </a:rPr>
              <a:t>. If they differ — apply the change and return </a:t>
            </a:r>
            <a:r>
              <a:rPr lang="en-US" sz="800" b="1" dirty="0">
                <a:solidFill>
                  <a:srgbClr val="0F172A"/>
                </a:solidFill>
                <a:latin typeface="Carlito" pitchFamily="34" charset="0"/>
                <a:ea typeface="Carlito" pitchFamily="34" charset="-122"/>
                <a:cs typeface="Carlito" pitchFamily="34" charset="-120"/>
              </a:rPr>
              <a:t>changed</a:t>
            </a:r>
            <a:r>
              <a:rPr lang="en-US" sz="800" dirty="0">
                <a:solidFill>
                  <a:srgbClr val="334155"/>
                </a:solidFill>
                <a:latin typeface="Carlito" pitchFamily="34" charset="0"/>
                <a:ea typeface="Carlito" pitchFamily="34" charset="-122"/>
                <a:cs typeface="Carlito" pitchFamily="34" charset="-120"/>
              </a:rPr>
              <a:t>.</a:t>
            </a:r>
            <a:endParaRPr lang="en-US" sz="800" dirty="0"/>
          </a:p>
        </p:txBody>
      </p:sp>
      <p:sp>
        <p:nvSpPr>
          <p:cNvPr id="23" name="Text 21"/>
          <p:cNvSpPr/>
          <p:nvPr/>
        </p:nvSpPr>
        <p:spPr>
          <a:xfrm>
            <a:off x="432197" y="2772445"/>
            <a:ext cx="4086225" cy="1567383"/>
          </a:xfrm>
          <a:prstGeom prst="roundRect">
            <a:avLst>
              <a:gd name="adj" fmla="val 8508"/>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24" name="Text 22"/>
          <p:cNvSpPr/>
          <p:nvPr/>
        </p:nvSpPr>
        <p:spPr>
          <a:xfrm>
            <a:off x="564356" y="2897460"/>
            <a:ext cx="3600450" cy="185166"/>
          </a:xfrm>
          <a:prstGeom prst="rect">
            <a:avLst/>
          </a:prstGeom>
          <a:noFill/>
          <a:ln/>
        </p:spPr>
        <p:txBody>
          <a:bodyPr wrap="none" lIns="0" tIns="0" rIns="0" bIns="0" rtlCol="0" anchor="t"/>
          <a:lstStyle/>
          <a:p>
            <a:pPr marL="0" indent="0" algn="l">
              <a:lnSpc>
                <a:spcPts val="1350"/>
              </a:lnSpc>
              <a:buNone/>
            </a:pPr>
            <a:r>
              <a:rPr lang="en-US" sz="1350" b="1" dirty="0">
                <a:solidFill>
                  <a:srgbClr val="F97316"/>
                </a:solidFill>
                <a:latin typeface="Liberation Sans Narrow" pitchFamily="34" charset="0"/>
                <a:ea typeface="Liberation Sans Narrow" pitchFamily="34" charset="-122"/>
                <a:cs typeface="Liberation Sans Narrow" pitchFamily="34" charset="-120"/>
              </a:rPr>
              <a:t>03</a:t>
            </a:r>
            <a:endParaRPr lang="en-US" sz="1350" dirty="0"/>
          </a:p>
        </p:txBody>
      </p:sp>
      <p:sp>
        <p:nvSpPr>
          <p:cNvPr id="25" name="Text 23"/>
          <p:cNvSpPr/>
          <p:nvPr/>
        </p:nvSpPr>
        <p:spPr>
          <a:xfrm>
            <a:off x="4200525" y="2890317"/>
            <a:ext cx="185738" cy="185738"/>
          </a:xfrm>
          <a:prstGeom prst="rect">
            <a:avLst/>
          </a:prstGeom>
          <a:noFill/>
          <a:ln/>
        </p:spPr>
        <p:txBody>
          <a:bodyPr wrap="none" lIns="0" tIns="0" rIns="0" bIns="0" rtlCol="0" anchor="ctr"/>
          <a:lstStyle/>
          <a:p>
            <a:pPr marL="0" indent="0" algn="ctr">
              <a:buNone/>
            </a:pPr>
            <a:r>
              <a:rPr lang="en-US" sz="1828" dirty="0">
                <a:solidFill>
                  <a:srgbClr val="0F172A"/>
                </a:solidFill>
                <a:latin typeface="Segoe UI Symbol" pitchFamily="34" charset="0"/>
                <a:ea typeface="Segoe UI Symbol" pitchFamily="34" charset="-122"/>
                <a:cs typeface="Segoe UI Symbol" pitchFamily="34" charset="-120"/>
              </a:rPr>
              <a:t>▭</a:t>
            </a:r>
            <a:endParaRPr lang="en-US" sz="1828" dirty="0"/>
          </a:p>
        </p:txBody>
      </p:sp>
      <p:sp>
        <p:nvSpPr>
          <p:cNvPr id="26" name="Text 24"/>
          <p:cNvSpPr/>
          <p:nvPr/>
        </p:nvSpPr>
        <p:spPr>
          <a:xfrm>
            <a:off x="564356" y="3133204"/>
            <a:ext cx="3931634" cy="225390"/>
          </a:xfrm>
          <a:prstGeom prst="rect">
            <a:avLst/>
          </a:prstGeom>
          <a:noFill/>
          <a:ln/>
        </p:spPr>
        <p:txBody>
          <a:bodyPr wrap="square" lIns="0" tIns="0" rIns="0" bIns="0" rtlCol="0" anchor="t">
            <a:normAutofit/>
          </a:bodyPr>
          <a:lstStyle/>
          <a:p>
            <a:pPr marL="0" indent="0" algn="l">
              <a:lnSpc>
                <a:spcPts val="1654"/>
              </a:lnSpc>
              <a:buNone/>
            </a:pPr>
            <a:r>
              <a:rPr lang="en-US" sz="1181" b="1" dirty="0">
                <a:solidFill>
                  <a:srgbClr val="0F172A"/>
                </a:solidFill>
                <a:latin typeface="Carlito" pitchFamily="34" charset="0"/>
                <a:ea typeface="Carlito" pitchFamily="34" charset="-122"/>
                <a:cs typeface="Carlito" pitchFamily="34" charset="-120"/>
              </a:rPr>
              <a:t>Per-Module Implementation</a:t>
            </a:r>
            <a:endParaRPr lang="en-US" sz="1181" dirty="0"/>
          </a:p>
        </p:txBody>
      </p:sp>
      <p:sp>
        <p:nvSpPr>
          <p:cNvPr id="27" name="Text 25"/>
          <p:cNvSpPr/>
          <p:nvPr/>
        </p:nvSpPr>
        <p:spPr>
          <a:xfrm>
            <a:off x="2294148" y="3393170"/>
            <a:ext cx="200025" cy="128588"/>
          </a:xfrm>
          <a:prstGeom prst="roundRect">
            <a:avLst>
              <a:gd name="adj" fmla="val 29630"/>
            </a:avLst>
          </a:prstGeom>
          <a:solidFill>
            <a:srgbClr val="F1F5F9"/>
          </a:solidFill>
          <a:ln/>
        </p:spPr>
        <p:txBody>
          <a:bodyPr wrap="square" rtlCol="0" anchor="ctr"/>
          <a:lstStyle/>
          <a:p>
            <a:pPr marL="0" indent="0">
              <a:buNone/>
            </a:pPr>
            <a:endParaRPr lang="en-US" dirty="0"/>
          </a:p>
        </p:txBody>
      </p:sp>
      <p:sp>
        <p:nvSpPr>
          <p:cNvPr id="28" name="Text 26"/>
          <p:cNvSpPr/>
          <p:nvPr/>
        </p:nvSpPr>
        <p:spPr>
          <a:xfrm>
            <a:off x="3183322" y="3393170"/>
            <a:ext cx="371475" cy="128588"/>
          </a:xfrm>
          <a:prstGeom prst="roundRect">
            <a:avLst>
              <a:gd name="adj" fmla="val 29630"/>
            </a:avLst>
          </a:prstGeom>
          <a:solidFill>
            <a:srgbClr val="F1F5F9"/>
          </a:solidFill>
          <a:ln/>
        </p:spPr>
        <p:txBody>
          <a:bodyPr wrap="square" rtlCol="0" anchor="ctr"/>
          <a:lstStyle/>
          <a:p>
            <a:pPr marL="0" indent="0">
              <a:buNone/>
            </a:pPr>
            <a:endParaRPr lang="en-US" dirty="0"/>
          </a:p>
        </p:txBody>
      </p:sp>
      <p:sp>
        <p:nvSpPr>
          <p:cNvPr id="29" name="Text 27"/>
          <p:cNvSpPr/>
          <p:nvPr/>
        </p:nvSpPr>
        <p:spPr>
          <a:xfrm>
            <a:off x="564356" y="3386026"/>
            <a:ext cx="3821906" cy="318162"/>
          </a:xfrm>
          <a:prstGeom prst="rect">
            <a:avLst/>
          </a:prstGeom>
          <a:noFill/>
          <a:ln/>
        </p:spPr>
        <p:txBody>
          <a:bodyPr wrap="square" lIns="0" tIns="0" rIns="0" bIns="0" rtlCol="0" anchor="t"/>
          <a:lstStyle/>
          <a:p>
            <a:pPr marL="0" indent="0" algn="l">
              <a:lnSpc>
                <a:spcPts val="1142"/>
              </a:lnSpc>
              <a:buNone/>
            </a:pPr>
            <a:r>
              <a:rPr lang="en-US" sz="800" dirty="0">
                <a:solidFill>
                  <a:srgbClr val="334155"/>
                </a:solidFill>
                <a:latin typeface="Carlito" pitchFamily="34" charset="0"/>
                <a:ea typeface="Carlito" pitchFamily="34" charset="-122"/>
                <a:cs typeface="Carlito" pitchFamily="34" charset="-120"/>
              </a:rPr>
              <a:t>Idempotency is </a:t>
            </a:r>
            <a:r>
              <a:rPr lang="en-US" sz="800" b="1" dirty="0">
                <a:solidFill>
                  <a:srgbClr val="0F172A"/>
                </a:solidFill>
                <a:latin typeface="Carlito" pitchFamily="34" charset="0"/>
                <a:ea typeface="Carlito" pitchFamily="34" charset="-122"/>
                <a:cs typeface="Carlito" pitchFamily="34" charset="-120"/>
              </a:rPr>
              <a:t>per-module, not global</a:t>
            </a:r>
            <a:r>
              <a:rPr lang="en-US" sz="800" dirty="0">
                <a:solidFill>
                  <a:srgbClr val="334155"/>
                </a:solidFill>
                <a:latin typeface="Carlito" pitchFamily="34" charset="0"/>
                <a:ea typeface="Carlito" pitchFamily="34" charset="-122"/>
                <a:cs typeface="Carlito" pitchFamily="34" charset="-120"/>
              </a:rPr>
              <a:t>. </a:t>
            </a:r>
            <a:r>
              <a:rPr lang="en-US" sz="800" dirty="0">
                <a:solidFill>
                  <a:srgbClr val="0F172A"/>
                </a:solidFill>
                <a:highlight>
                  <a:srgbClr val="F1F5F9"/>
                </a:highlight>
                <a:latin typeface="Courier New" pitchFamily="34" charset="0"/>
                <a:ea typeface="Courier New" pitchFamily="34" charset="-122"/>
                <a:cs typeface="Courier New" pitchFamily="34" charset="-120"/>
              </a:rPr>
              <a:t>apt</a:t>
            </a:r>
            <a:r>
              <a:rPr lang="en-US" sz="800" dirty="0">
                <a:solidFill>
                  <a:srgbClr val="334155"/>
                </a:solidFill>
                <a:latin typeface="Carlito" pitchFamily="34" charset="0"/>
                <a:ea typeface="Carlito" pitchFamily="34" charset="-122"/>
                <a:cs typeface="Carlito" pitchFamily="34" charset="-120"/>
              </a:rPr>
              <a:t> is idempotent. </a:t>
            </a:r>
            <a:r>
              <a:rPr lang="en-US" sz="800" dirty="0">
                <a:solidFill>
                  <a:srgbClr val="0F172A"/>
                </a:solidFill>
                <a:highlight>
                  <a:srgbClr val="F1F5F9"/>
                </a:highlight>
                <a:latin typeface="Courier New" pitchFamily="34" charset="0"/>
                <a:ea typeface="Courier New" pitchFamily="34" charset="-122"/>
                <a:cs typeface="Courier New" pitchFamily="34" charset="-120"/>
              </a:rPr>
              <a:t>command</a:t>
            </a:r>
            <a:r>
              <a:rPr lang="en-US" sz="800" dirty="0">
                <a:solidFill>
                  <a:srgbClr val="334155"/>
                </a:solidFill>
                <a:latin typeface="Carlito" pitchFamily="34" charset="0"/>
                <a:ea typeface="Carlito" pitchFamily="34" charset="-122"/>
                <a:cs typeface="Carlito" pitchFamily="34" charset="-120"/>
              </a:rPr>
              <a:t> is NOT. The module author is responsible for implementing idempotency checks.</a:t>
            </a:r>
            <a:endParaRPr lang="en-US" sz="800" dirty="0"/>
          </a:p>
        </p:txBody>
      </p:sp>
      <p:sp>
        <p:nvSpPr>
          <p:cNvPr id="30" name="Text 28"/>
          <p:cNvSpPr/>
          <p:nvPr/>
        </p:nvSpPr>
        <p:spPr>
          <a:xfrm>
            <a:off x="564356" y="3724856"/>
            <a:ext cx="350044" cy="155144"/>
          </a:xfrm>
          <a:prstGeom prst="roundRect">
            <a:avLst>
              <a:gd name="adj" fmla="val 24558"/>
            </a:avLst>
          </a:prstGeom>
          <a:solidFill>
            <a:srgbClr val="DCFCE7"/>
          </a:solidFill>
          <a:ln/>
        </p:spPr>
        <p:txBody>
          <a:bodyPr wrap="square" rtlCol="0" anchor="ctr"/>
          <a:lstStyle/>
          <a:p>
            <a:pPr marL="0" indent="0">
              <a:buNone/>
            </a:pPr>
            <a:endParaRPr lang="en-US" dirty="0"/>
          </a:p>
        </p:txBody>
      </p:sp>
      <p:sp>
        <p:nvSpPr>
          <p:cNvPr id="31" name="Text 29"/>
          <p:cNvSpPr/>
          <p:nvPr/>
        </p:nvSpPr>
        <p:spPr>
          <a:xfrm>
            <a:off x="564356" y="3733167"/>
            <a:ext cx="350044" cy="138522"/>
          </a:xfrm>
          <a:prstGeom prst="rect">
            <a:avLst/>
          </a:prstGeom>
          <a:noFill/>
          <a:ln/>
        </p:spPr>
        <p:txBody>
          <a:bodyPr wrap="none" lIns="0" tIns="0" rIns="0" bIns="0" rtlCol="0" anchor="ctr"/>
          <a:lstStyle/>
          <a:p>
            <a:pPr marL="0" indent="0" algn="ctr">
              <a:lnSpc>
                <a:spcPts val="866"/>
              </a:lnSpc>
              <a:buNone/>
            </a:pPr>
            <a:r>
              <a:rPr lang="en-US" sz="800" dirty="0">
                <a:solidFill>
                  <a:srgbClr val="15803D"/>
                </a:solidFill>
                <a:latin typeface="Courier New" pitchFamily="34" charset="0"/>
                <a:ea typeface="Courier New" pitchFamily="34" charset="-122"/>
                <a:cs typeface="Courier New" pitchFamily="34" charset="-120"/>
              </a:rPr>
              <a:t>apt ✓</a:t>
            </a:r>
            <a:endParaRPr lang="en-US" sz="800" dirty="0"/>
          </a:p>
        </p:txBody>
      </p:sp>
      <p:sp>
        <p:nvSpPr>
          <p:cNvPr id="32" name="Text 30"/>
          <p:cNvSpPr/>
          <p:nvPr/>
        </p:nvSpPr>
        <p:spPr>
          <a:xfrm>
            <a:off x="942975" y="3724856"/>
            <a:ext cx="507206" cy="155144"/>
          </a:xfrm>
          <a:prstGeom prst="roundRect">
            <a:avLst>
              <a:gd name="adj" fmla="val 24558"/>
            </a:avLst>
          </a:prstGeom>
          <a:solidFill>
            <a:srgbClr val="DCFCE7"/>
          </a:solidFill>
          <a:ln/>
        </p:spPr>
        <p:txBody>
          <a:bodyPr wrap="square" rtlCol="0" anchor="ctr"/>
          <a:lstStyle/>
          <a:p>
            <a:pPr marL="0" indent="0">
              <a:buNone/>
            </a:pPr>
            <a:endParaRPr lang="en-US" dirty="0"/>
          </a:p>
        </p:txBody>
      </p:sp>
      <p:sp>
        <p:nvSpPr>
          <p:cNvPr id="33" name="Text 31"/>
          <p:cNvSpPr/>
          <p:nvPr/>
        </p:nvSpPr>
        <p:spPr>
          <a:xfrm>
            <a:off x="916843" y="3733167"/>
            <a:ext cx="559471" cy="138522"/>
          </a:xfrm>
          <a:prstGeom prst="rect">
            <a:avLst/>
          </a:prstGeom>
          <a:noFill/>
          <a:ln/>
        </p:spPr>
        <p:txBody>
          <a:bodyPr wrap="none" lIns="0" tIns="0" rIns="0" bIns="0" rtlCol="0" anchor="ctr"/>
          <a:lstStyle/>
          <a:p>
            <a:pPr marL="0" indent="0" algn="ctr">
              <a:lnSpc>
                <a:spcPts val="866"/>
              </a:lnSpc>
              <a:buNone/>
            </a:pPr>
            <a:r>
              <a:rPr lang="en-US" sz="800" dirty="0">
                <a:solidFill>
                  <a:srgbClr val="15803D"/>
                </a:solidFill>
                <a:latin typeface="Courier New" pitchFamily="34" charset="0"/>
                <a:ea typeface="Courier New" pitchFamily="34" charset="-122"/>
                <a:cs typeface="Courier New" pitchFamily="34" charset="-120"/>
              </a:rPr>
              <a:t>service ✓</a:t>
            </a:r>
            <a:endParaRPr lang="en-US" sz="800" dirty="0"/>
          </a:p>
        </p:txBody>
      </p:sp>
      <p:sp>
        <p:nvSpPr>
          <p:cNvPr id="34" name="Text 32"/>
          <p:cNvSpPr/>
          <p:nvPr/>
        </p:nvSpPr>
        <p:spPr>
          <a:xfrm>
            <a:off x="1478756" y="3724856"/>
            <a:ext cx="389334" cy="155144"/>
          </a:xfrm>
          <a:prstGeom prst="roundRect">
            <a:avLst>
              <a:gd name="adj" fmla="val 24558"/>
            </a:avLst>
          </a:prstGeom>
          <a:solidFill>
            <a:srgbClr val="DCFCE7"/>
          </a:solidFill>
          <a:ln/>
        </p:spPr>
        <p:txBody>
          <a:bodyPr wrap="square" rtlCol="0" anchor="ctr"/>
          <a:lstStyle/>
          <a:p>
            <a:pPr marL="0" indent="0">
              <a:buNone/>
            </a:pPr>
            <a:endParaRPr lang="en-US" dirty="0"/>
          </a:p>
        </p:txBody>
      </p:sp>
      <p:sp>
        <p:nvSpPr>
          <p:cNvPr id="35" name="Text 33"/>
          <p:cNvSpPr/>
          <p:nvPr/>
        </p:nvSpPr>
        <p:spPr>
          <a:xfrm>
            <a:off x="1478756" y="3733167"/>
            <a:ext cx="389334" cy="138522"/>
          </a:xfrm>
          <a:prstGeom prst="rect">
            <a:avLst/>
          </a:prstGeom>
          <a:noFill/>
          <a:ln/>
        </p:spPr>
        <p:txBody>
          <a:bodyPr wrap="none" lIns="0" tIns="0" rIns="0" bIns="0" rtlCol="0" anchor="ctr"/>
          <a:lstStyle/>
          <a:p>
            <a:pPr marL="0" indent="0" algn="ctr">
              <a:lnSpc>
                <a:spcPts val="866"/>
              </a:lnSpc>
              <a:buNone/>
            </a:pPr>
            <a:r>
              <a:rPr lang="en-US" sz="800" dirty="0">
                <a:solidFill>
                  <a:srgbClr val="15803D"/>
                </a:solidFill>
                <a:latin typeface="Courier New" pitchFamily="34" charset="0"/>
                <a:ea typeface="Courier New" pitchFamily="34" charset="-122"/>
                <a:cs typeface="Courier New" pitchFamily="34" charset="-120"/>
              </a:rPr>
              <a:t>file ✓</a:t>
            </a:r>
            <a:endParaRPr lang="en-US" sz="800" dirty="0"/>
          </a:p>
        </p:txBody>
      </p:sp>
      <p:sp>
        <p:nvSpPr>
          <p:cNvPr id="36" name="Text 34"/>
          <p:cNvSpPr/>
          <p:nvPr/>
        </p:nvSpPr>
        <p:spPr>
          <a:xfrm>
            <a:off x="1896666" y="3724856"/>
            <a:ext cx="471488" cy="155144"/>
          </a:xfrm>
          <a:prstGeom prst="roundRect">
            <a:avLst>
              <a:gd name="adj" fmla="val 24558"/>
            </a:avLst>
          </a:prstGeom>
          <a:solidFill>
            <a:srgbClr val="FEE2E2"/>
          </a:solidFill>
          <a:ln/>
        </p:spPr>
        <p:txBody>
          <a:bodyPr wrap="square" rtlCol="0" anchor="ctr"/>
          <a:lstStyle/>
          <a:p>
            <a:pPr marL="0" indent="0">
              <a:buNone/>
            </a:pPr>
            <a:endParaRPr lang="en-US" dirty="0"/>
          </a:p>
        </p:txBody>
      </p:sp>
      <p:sp>
        <p:nvSpPr>
          <p:cNvPr id="37" name="Text 35"/>
          <p:cNvSpPr/>
          <p:nvPr/>
        </p:nvSpPr>
        <p:spPr>
          <a:xfrm>
            <a:off x="1852674" y="3733167"/>
            <a:ext cx="559471" cy="138522"/>
          </a:xfrm>
          <a:prstGeom prst="rect">
            <a:avLst/>
          </a:prstGeom>
          <a:noFill/>
          <a:ln/>
        </p:spPr>
        <p:txBody>
          <a:bodyPr wrap="none" lIns="0" tIns="0" rIns="0" bIns="0" rtlCol="0" anchor="ctr"/>
          <a:lstStyle/>
          <a:p>
            <a:pPr marL="0" indent="0" algn="ctr">
              <a:lnSpc>
                <a:spcPts val="866"/>
              </a:lnSpc>
              <a:buNone/>
            </a:pPr>
            <a:r>
              <a:rPr lang="en-US" sz="800" dirty="0">
                <a:solidFill>
                  <a:srgbClr val="B91C1C"/>
                </a:solidFill>
                <a:latin typeface="Courier New" pitchFamily="34" charset="0"/>
                <a:ea typeface="Courier New" pitchFamily="34" charset="-122"/>
                <a:cs typeface="Courier New" pitchFamily="34" charset="-120"/>
              </a:rPr>
              <a:t>command ✗</a:t>
            </a:r>
            <a:endParaRPr lang="en-US" sz="800" dirty="0"/>
          </a:p>
        </p:txBody>
      </p:sp>
      <p:sp>
        <p:nvSpPr>
          <p:cNvPr id="38" name="Text 36"/>
          <p:cNvSpPr/>
          <p:nvPr/>
        </p:nvSpPr>
        <p:spPr>
          <a:xfrm>
            <a:off x="2396728" y="3724856"/>
            <a:ext cx="392906" cy="155144"/>
          </a:xfrm>
          <a:prstGeom prst="roundRect">
            <a:avLst>
              <a:gd name="adj" fmla="val 24558"/>
            </a:avLst>
          </a:prstGeom>
          <a:solidFill>
            <a:srgbClr val="FEE2E2"/>
          </a:solidFill>
          <a:ln/>
        </p:spPr>
        <p:txBody>
          <a:bodyPr wrap="square" rtlCol="0" anchor="ctr"/>
          <a:lstStyle/>
          <a:p>
            <a:pPr marL="0" indent="0">
              <a:buNone/>
            </a:pPr>
            <a:endParaRPr lang="en-US" dirty="0"/>
          </a:p>
        </p:txBody>
      </p:sp>
      <p:sp>
        <p:nvSpPr>
          <p:cNvPr id="39" name="Text 37"/>
          <p:cNvSpPr/>
          <p:nvPr/>
        </p:nvSpPr>
        <p:spPr>
          <a:xfrm>
            <a:off x="2375788" y="3733167"/>
            <a:ext cx="434787" cy="138522"/>
          </a:xfrm>
          <a:prstGeom prst="rect">
            <a:avLst/>
          </a:prstGeom>
          <a:noFill/>
          <a:ln/>
        </p:spPr>
        <p:txBody>
          <a:bodyPr wrap="none" lIns="0" tIns="0" rIns="0" bIns="0" rtlCol="0" anchor="ctr"/>
          <a:lstStyle/>
          <a:p>
            <a:pPr marL="0" indent="0" algn="ctr">
              <a:lnSpc>
                <a:spcPts val="866"/>
              </a:lnSpc>
              <a:buNone/>
            </a:pPr>
            <a:r>
              <a:rPr lang="en-US" sz="800" dirty="0">
                <a:solidFill>
                  <a:srgbClr val="B91C1C"/>
                </a:solidFill>
                <a:latin typeface="Courier New" pitchFamily="34" charset="0"/>
                <a:ea typeface="Courier New" pitchFamily="34" charset="-122"/>
                <a:cs typeface="Courier New" pitchFamily="34" charset="-120"/>
              </a:rPr>
              <a:t>shell ✗</a:t>
            </a:r>
            <a:endParaRPr lang="en-US" sz="800" dirty="0"/>
          </a:p>
        </p:txBody>
      </p:sp>
      <p:sp>
        <p:nvSpPr>
          <p:cNvPr id="40" name="Text 38"/>
          <p:cNvSpPr/>
          <p:nvPr/>
        </p:nvSpPr>
        <p:spPr>
          <a:xfrm>
            <a:off x="4625578" y="2772445"/>
            <a:ext cx="4086225" cy="1567383"/>
          </a:xfrm>
          <a:prstGeom prst="roundRect">
            <a:avLst>
              <a:gd name="adj" fmla="val 8508"/>
            </a:avLst>
          </a:prstGeom>
          <a:solidFill>
            <a:srgbClr val="FEF2F2"/>
          </a:solidFill>
          <a:ln w="7144">
            <a:solidFill>
              <a:srgbClr val="DC2626"/>
            </a:solidFill>
            <a:prstDash val="solid"/>
          </a:ln>
        </p:spPr>
        <p:txBody>
          <a:bodyPr wrap="square" rtlCol="0" anchor="ctr"/>
          <a:lstStyle/>
          <a:p>
            <a:pPr marL="0" indent="0">
              <a:buNone/>
            </a:pPr>
            <a:endParaRPr lang="en-US" dirty="0"/>
          </a:p>
        </p:txBody>
      </p:sp>
      <p:sp>
        <p:nvSpPr>
          <p:cNvPr id="41" name="Text 39"/>
          <p:cNvSpPr/>
          <p:nvPr/>
        </p:nvSpPr>
        <p:spPr>
          <a:xfrm>
            <a:off x="4757738" y="2897460"/>
            <a:ext cx="3600450" cy="185166"/>
          </a:xfrm>
          <a:prstGeom prst="rect">
            <a:avLst/>
          </a:prstGeom>
          <a:noFill/>
          <a:ln/>
        </p:spPr>
        <p:txBody>
          <a:bodyPr wrap="none" lIns="0" tIns="0" rIns="0" bIns="0" rtlCol="0" anchor="t"/>
          <a:lstStyle/>
          <a:p>
            <a:pPr marL="0" indent="0" algn="l">
              <a:lnSpc>
                <a:spcPts val="1350"/>
              </a:lnSpc>
              <a:buNone/>
            </a:pPr>
            <a:r>
              <a:rPr lang="en-US" sz="1350" b="1" dirty="0">
                <a:solidFill>
                  <a:srgbClr val="DC2626"/>
                </a:solidFill>
                <a:latin typeface="Liberation Sans Narrow" pitchFamily="34" charset="0"/>
                <a:ea typeface="Liberation Sans Narrow" pitchFamily="34" charset="-122"/>
                <a:cs typeface="Liberation Sans Narrow" pitchFamily="34" charset="-120"/>
              </a:rPr>
              <a:t>04</a:t>
            </a:r>
            <a:endParaRPr lang="en-US" sz="1350" dirty="0"/>
          </a:p>
        </p:txBody>
      </p:sp>
      <p:sp>
        <p:nvSpPr>
          <p:cNvPr id="42" name="Text 40"/>
          <p:cNvSpPr/>
          <p:nvPr/>
        </p:nvSpPr>
        <p:spPr>
          <a:xfrm>
            <a:off x="8393906" y="2890317"/>
            <a:ext cx="185738" cy="185738"/>
          </a:xfrm>
          <a:prstGeom prst="rect">
            <a:avLst/>
          </a:prstGeom>
          <a:noFill/>
          <a:ln/>
        </p:spPr>
        <p:txBody>
          <a:bodyPr wrap="none" lIns="0" tIns="0" rIns="0" bIns="0" rtlCol="0" anchor="ctr"/>
          <a:lstStyle/>
          <a:p>
            <a:pPr marL="0" indent="0" algn="ctr">
              <a:buNone/>
            </a:pPr>
            <a:r>
              <a:rPr lang="en-US" sz="1828" dirty="0">
                <a:solidFill>
                  <a:srgbClr val="DC2626"/>
                </a:solidFill>
                <a:latin typeface="Segoe UI Symbol" pitchFamily="34" charset="0"/>
                <a:ea typeface="Segoe UI Symbol" pitchFamily="34" charset="-122"/>
                <a:cs typeface="Segoe UI Symbol" pitchFamily="34" charset="-120"/>
              </a:rPr>
              <a:t>⚠</a:t>
            </a:r>
            <a:endParaRPr lang="en-US" sz="1828" dirty="0"/>
          </a:p>
        </p:txBody>
      </p:sp>
      <p:sp>
        <p:nvSpPr>
          <p:cNvPr id="43" name="Text 41"/>
          <p:cNvSpPr/>
          <p:nvPr/>
        </p:nvSpPr>
        <p:spPr>
          <a:xfrm>
            <a:off x="4757738" y="3133204"/>
            <a:ext cx="3931634" cy="225390"/>
          </a:xfrm>
          <a:prstGeom prst="rect">
            <a:avLst/>
          </a:prstGeom>
          <a:noFill/>
          <a:ln/>
        </p:spPr>
        <p:txBody>
          <a:bodyPr wrap="square" lIns="0" tIns="0" rIns="0" bIns="0" rtlCol="0" anchor="t">
            <a:normAutofit/>
          </a:bodyPr>
          <a:lstStyle/>
          <a:p>
            <a:pPr marL="0" indent="0" algn="l">
              <a:lnSpc>
                <a:spcPts val="1654"/>
              </a:lnSpc>
              <a:buNone/>
            </a:pPr>
            <a:r>
              <a:rPr lang="en-US" sz="1181" b="1" dirty="0">
                <a:solidFill>
                  <a:srgbClr val="0F172A"/>
                </a:solidFill>
                <a:latin typeface="Carlito" pitchFamily="34" charset="0"/>
                <a:ea typeface="Carlito" pitchFamily="34" charset="-122"/>
                <a:cs typeface="Carlito" pitchFamily="34" charset="-120"/>
              </a:rPr>
              <a:t>Idempotency Anti-Patterns</a:t>
            </a:r>
            <a:endParaRPr lang="en-US" sz="1181" dirty="0"/>
          </a:p>
        </p:txBody>
      </p:sp>
      <p:sp>
        <p:nvSpPr>
          <p:cNvPr id="44" name="Text 42"/>
          <p:cNvSpPr/>
          <p:nvPr/>
        </p:nvSpPr>
        <p:spPr>
          <a:xfrm>
            <a:off x="5019489" y="3393170"/>
            <a:ext cx="371475" cy="128588"/>
          </a:xfrm>
          <a:prstGeom prst="roundRect">
            <a:avLst>
              <a:gd name="adj" fmla="val 29630"/>
            </a:avLst>
          </a:prstGeom>
          <a:solidFill>
            <a:srgbClr val="F1F5F9"/>
          </a:solidFill>
          <a:ln/>
        </p:spPr>
        <p:txBody>
          <a:bodyPr wrap="square" rtlCol="0" anchor="ctr"/>
          <a:lstStyle/>
          <a:p>
            <a:pPr marL="0" indent="0">
              <a:buNone/>
            </a:pPr>
            <a:endParaRPr lang="en-US" dirty="0"/>
          </a:p>
        </p:txBody>
      </p:sp>
      <p:sp>
        <p:nvSpPr>
          <p:cNvPr id="45" name="Text 43"/>
          <p:cNvSpPr/>
          <p:nvPr/>
        </p:nvSpPr>
        <p:spPr>
          <a:xfrm>
            <a:off x="5442979" y="3393170"/>
            <a:ext cx="285750" cy="128588"/>
          </a:xfrm>
          <a:prstGeom prst="roundRect">
            <a:avLst>
              <a:gd name="adj" fmla="val 29630"/>
            </a:avLst>
          </a:prstGeom>
          <a:solidFill>
            <a:srgbClr val="F1F5F9"/>
          </a:solidFill>
          <a:ln/>
        </p:spPr>
        <p:txBody>
          <a:bodyPr wrap="square" rtlCol="0" anchor="ctr"/>
          <a:lstStyle/>
          <a:p>
            <a:pPr marL="0" indent="0">
              <a:buNone/>
            </a:pPr>
            <a:endParaRPr lang="en-US" dirty="0"/>
          </a:p>
        </p:txBody>
      </p:sp>
      <p:sp>
        <p:nvSpPr>
          <p:cNvPr id="46" name="Text 44"/>
          <p:cNvSpPr/>
          <p:nvPr/>
        </p:nvSpPr>
        <p:spPr>
          <a:xfrm>
            <a:off x="7298792" y="3393170"/>
            <a:ext cx="628650" cy="128588"/>
          </a:xfrm>
          <a:prstGeom prst="roundRect">
            <a:avLst>
              <a:gd name="adj" fmla="val 29630"/>
            </a:avLst>
          </a:prstGeom>
          <a:solidFill>
            <a:srgbClr val="F1F5F9"/>
          </a:solidFill>
          <a:ln/>
        </p:spPr>
        <p:txBody>
          <a:bodyPr wrap="square" rtlCol="0" anchor="ctr"/>
          <a:lstStyle/>
          <a:p>
            <a:pPr marL="0" indent="0">
              <a:buNone/>
            </a:pPr>
            <a:endParaRPr lang="en-US" dirty="0"/>
          </a:p>
        </p:txBody>
      </p:sp>
      <p:sp>
        <p:nvSpPr>
          <p:cNvPr id="47" name="Text 45"/>
          <p:cNvSpPr/>
          <p:nvPr/>
        </p:nvSpPr>
        <p:spPr>
          <a:xfrm>
            <a:off x="4757738" y="3386026"/>
            <a:ext cx="3821906" cy="318162"/>
          </a:xfrm>
          <a:prstGeom prst="rect">
            <a:avLst/>
          </a:prstGeom>
          <a:noFill/>
          <a:ln/>
        </p:spPr>
        <p:txBody>
          <a:bodyPr wrap="square" lIns="0" tIns="0" rIns="0" bIns="0" rtlCol="0" anchor="t"/>
          <a:lstStyle/>
          <a:p>
            <a:pPr marL="0" indent="0" algn="l">
              <a:lnSpc>
                <a:spcPts val="1142"/>
              </a:lnSpc>
              <a:buNone/>
            </a:pPr>
            <a:r>
              <a:rPr lang="en-US" sz="800" b="1" dirty="0">
                <a:solidFill>
                  <a:srgbClr val="0F172A"/>
                </a:solidFill>
                <a:latin typeface="Carlito" pitchFamily="34" charset="0"/>
                <a:ea typeface="Carlito" pitchFamily="34" charset="-122"/>
                <a:cs typeface="Carlito" pitchFamily="34" charset="-120"/>
              </a:rPr>
              <a:t>Avoid </a:t>
            </a:r>
            <a:r>
              <a:rPr lang="en-US" sz="800" b="1" dirty="0">
                <a:solidFill>
                  <a:srgbClr val="0F172A"/>
                </a:solidFill>
                <a:highlight>
                  <a:srgbClr val="F1F5F9"/>
                </a:highlight>
                <a:latin typeface="Courier New" pitchFamily="34" charset="0"/>
                <a:ea typeface="Courier New" pitchFamily="34" charset="-122"/>
                <a:cs typeface="Courier New" pitchFamily="34" charset="-120"/>
              </a:rPr>
              <a:t>command</a:t>
            </a:r>
            <a:r>
              <a:rPr lang="en-US" sz="800" b="1" dirty="0">
                <a:solidFill>
                  <a:srgbClr val="0F172A"/>
                </a:solidFill>
                <a:latin typeface="Carlito" pitchFamily="34" charset="0"/>
                <a:ea typeface="Carlito" pitchFamily="34" charset="-122"/>
                <a:cs typeface="Carlito" pitchFamily="34" charset="-120"/>
              </a:rPr>
              <a:t>/</a:t>
            </a:r>
            <a:r>
              <a:rPr lang="en-US" sz="800" b="1" dirty="0">
                <a:solidFill>
                  <a:srgbClr val="0F172A"/>
                </a:solidFill>
                <a:highlight>
                  <a:srgbClr val="F1F5F9"/>
                </a:highlight>
                <a:latin typeface="Courier New" pitchFamily="34" charset="0"/>
                <a:ea typeface="Courier New" pitchFamily="34" charset="-122"/>
                <a:cs typeface="Courier New" pitchFamily="34" charset="-120"/>
              </a:rPr>
              <a:t>shell</a:t>
            </a:r>
            <a:r>
              <a:rPr lang="en-US" sz="800" b="1" dirty="0">
                <a:solidFill>
                  <a:srgbClr val="0F172A"/>
                </a:solidFill>
                <a:latin typeface="Carlito" pitchFamily="34" charset="0"/>
                <a:ea typeface="Carlito" pitchFamily="34" charset="-122"/>
                <a:cs typeface="Carlito" pitchFamily="34" charset="-120"/>
              </a:rPr>
              <a:t> for state-changing operations.</a:t>
            </a:r>
            <a:r>
              <a:rPr lang="en-US" sz="800" dirty="0">
                <a:solidFill>
                  <a:srgbClr val="334155"/>
                </a:solidFill>
                <a:latin typeface="Carlito" pitchFamily="34" charset="0"/>
                <a:ea typeface="Carlito" pitchFamily="34" charset="-122"/>
                <a:cs typeface="Carlito" pitchFamily="34" charset="-120"/>
              </a:rPr>
              <a:t> Use </a:t>
            </a:r>
            <a:r>
              <a:rPr lang="en-US" sz="800" dirty="0">
                <a:solidFill>
                  <a:srgbClr val="0F172A"/>
                </a:solidFill>
                <a:highlight>
                  <a:srgbClr val="F1F5F9"/>
                </a:highlight>
                <a:latin typeface="Courier New" pitchFamily="34" charset="0"/>
                <a:ea typeface="Courier New" pitchFamily="34" charset="-122"/>
                <a:cs typeface="Courier New" pitchFamily="34" charset="-120"/>
              </a:rPr>
              <a:t>changed_when:</a:t>
            </a:r>
            <a:r>
              <a:rPr lang="en-US" sz="800" dirty="0">
                <a:solidFill>
                  <a:srgbClr val="334155"/>
                </a:solidFill>
                <a:latin typeface="Carlito" pitchFamily="34" charset="0"/>
                <a:ea typeface="Carlito" pitchFamily="34" charset="-122"/>
                <a:cs typeface="Carlito" pitchFamily="34" charset="-120"/>
              </a:rPr>
              <a:t> to mark commands as idempotent if you must use them.</a:t>
            </a:r>
            <a:endParaRPr lang="en-US" sz="800" dirty="0"/>
          </a:p>
        </p:txBody>
      </p:sp>
      <p:sp>
        <p:nvSpPr>
          <p:cNvPr id="48" name="Text 46"/>
          <p:cNvSpPr/>
          <p:nvPr/>
        </p:nvSpPr>
        <p:spPr>
          <a:xfrm>
            <a:off x="428625" y="4443413"/>
            <a:ext cx="8286750" cy="357188"/>
          </a:xfrm>
          <a:prstGeom prst="roundRect">
            <a:avLst>
              <a:gd name="adj" fmla="val 21333"/>
            </a:avLst>
          </a:prstGeom>
          <a:solidFill>
            <a:srgbClr val="FFF7ED"/>
          </a:solidFill>
          <a:ln/>
        </p:spPr>
        <p:txBody>
          <a:bodyPr wrap="square" rtlCol="0" anchor="ctr"/>
          <a:lstStyle/>
          <a:p>
            <a:pPr marL="0" indent="0">
              <a:buNone/>
            </a:pPr>
            <a:endParaRPr lang="en-US" dirty="0"/>
          </a:p>
        </p:txBody>
      </p:sp>
      <p:sp>
        <p:nvSpPr>
          <p:cNvPr id="49" name="Shape 47"/>
          <p:cNvSpPr/>
          <p:nvPr/>
        </p:nvSpPr>
        <p:spPr>
          <a:xfrm>
            <a:off x="450056" y="4443413"/>
            <a:ext cx="0" cy="357188"/>
          </a:xfrm>
          <a:prstGeom prst="line">
            <a:avLst/>
          </a:prstGeom>
          <a:noFill/>
          <a:ln w="42863">
            <a:solidFill>
              <a:srgbClr val="F97316"/>
            </a:solidFill>
            <a:prstDash val="solid"/>
          </a:ln>
        </p:spPr>
      </p:sp>
      <p:sp>
        <p:nvSpPr>
          <p:cNvPr id="50" name="Text 48"/>
          <p:cNvSpPr/>
          <p:nvPr/>
        </p:nvSpPr>
        <p:spPr>
          <a:xfrm>
            <a:off x="428625" y="4443413"/>
            <a:ext cx="8286750" cy="385763"/>
          </a:xfrm>
          <a:prstGeom prst="rect">
            <a:avLst/>
          </a:prstGeom>
          <a:noFill/>
          <a:ln/>
        </p:spPr>
        <p:txBody>
          <a:bodyPr wrap="square" lIns="157163" tIns="85725" rIns="157163" bIns="85725" rtlCol="0" anchor="t"/>
          <a:lstStyle/>
          <a:p>
            <a:pPr marL="0" indent="0" algn="l">
              <a:lnSpc>
                <a:spcPts val="1339"/>
              </a:lnSpc>
              <a:buNone/>
            </a:pPr>
            <a:r>
              <a:rPr lang="en-US" sz="956" dirty="0">
                <a:solidFill>
                  <a:srgbClr val="F97316"/>
                </a:solidFill>
                <a:latin typeface="Segoe UI Symbol" pitchFamily="34" charset="0"/>
                <a:ea typeface="Segoe UI Symbol" pitchFamily="34" charset="-122"/>
                <a:cs typeface="Segoe UI Symbol" pitchFamily="34" charset="-120"/>
              </a:rPr>
              <a:t>◆</a:t>
            </a:r>
            <a:r>
              <a:rPr lang="en-US" sz="956" dirty="0">
                <a:solidFill>
                  <a:srgbClr val="0F172A"/>
                </a:solidFill>
                <a:latin typeface="Carlito" pitchFamily="34" charset="0"/>
                <a:ea typeface="Carlito" pitchFamily="34" charset="-122"/>
                <a:cs typeface="Carlito" pitchFamily="34" charset="-120"/>
              </a:rPr>
              <a:t> Rule of thumb: if a module exists for what you want to do, </a:t>
            </a:r>
            <a:r>
              <a:rPr lang="en-US" sz="956" dirty="0">
                <a:solidFill>
                  <a:srgbClr val="F97316"/>
                </a:solidFill>
                <a:latin typeface="Carlito" pitchFamily="34" charset="0"/>
                <a:ea typeface="Carlito" pitchFamily="34" charset="-122"/>
                <a:cs typeface="Carlito" pitchFamily="34" charset="-120"/>
              </a:rPr>
              <a:t>use it</a:t>
            </a:r>
            <a:r>
              <a:rPr lang="en-US" sz="956" dirty="0">
                <a:solidFill>
                  <a:srgbClr val="0F172A"/>
                </a:solidFill>
                <a:latin typeface="Carlito" pitchFamily="34" charset="0"/>
                <a:ea typeface="Carlito" pitchFamily="34" charset="-122"/>
                <a:cs typeface="Carlito" pitchFamily="34" charset="-120"/>
              </a:rPr>
              <a:t>. Modules are idempotent. </a:t>
            </a:r>
            <a:r>
              <a:rPr lang="en-US" sz="956" dirty="0">
                <a:solidFill>
                  <a:srgbClr val="F97316"/>
                </a:solidFill>
                <a:latin typeface="Carlito" pitchFamily="34" charset="0"/>
                <a:ea typeface="Carlito" pitchFamily="34" charset="-122"/>
                <a:cs typeface="Carlito" pitchFamily="34" charset="-120"/>
              </a:rPr>
              <a:t>command</a:t>
            </a:r>
            <a:r>
              <a:rPr lang="en-US" sz="956" dirty="0">
                <a:solidFill>
                  <a:srgbClr val="0F172A"/>
                </a:solidFill>
                <a:latin typeface="Carlito" pitchFamily="34" charset="0"/>
                <a:ea typeface="Carlito" pitchFamily="34" charset="-122"/>
                <a:cs typeface="Carlito" pitchFamily="34" charset="-120"/>
              </a:rPr>
              <a:t> is not.</a:t>
            </a:r>
            <a:endParaRPr lang="en-US" sz="956"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57188" y="200025"/>
            <a:ext cx="4349718" cy="271480"/>
          </a:xfrm>
          <a:prstGeom prst="rect">
            <a:avLst/>
          </a:prstGeom>
          <a:noFill/>
          <a:ln/>
        </p:spPr>
        <p:txBody>
          <a:bodyPr wrap="square" lIns="0" tIns="0" rIns="0" bIns="0" rtlCol="0" anchor="t"/>
          <a:lstStyle/>
          <a:p>
            <a:pPr marL="0" indent="0" algn="l">
              <a:lnSpc>
                <a:spcPts val="1980"/>
              </a:lnSpc>
              <a:buNone/>
            </a:pPr>
            <a:r>
              <a:rPr lang="en-US" sz="1800" b="1" dirty="0">
                <a:solidFill>
                  <a:srgbClr val="0F172A"/>
                </a:solidFill>
                <a:latin typeface="Carlito" pitchFamily="34" charset="0"/>
                <a:ea typeface="Carlito" pitchFamily="34" charset="-122"/>
                <a:cs typeface="Carlito" pitchFamily="34" charset="-120"/>
              </a:rPr>
              <a:t>Code Example — Verifying Idempotency</a:t>
            </a:r>
            <a:endParaRPr lang="en-US" sz="1800" dirty="0"/>
          </a:p>
        </p:txBody>
      </p:sp>
      <p:sp>
        <p:nvSpPr>
          <p:cNvPr id="3" name="Text 1"/>
          <p:cNvSpPr/>
          <p:nvPr/>
        </p:nvSpPr>
        <p:spPr>
          <a:xfrm>
            <a:off x="357188" y="494258"/>
            <a:ext cx="571500" cy="42863"/>
          </a:xfrm>
          <a:prstGeom prst="roundRect">
            <a:avLst>
              <a:gd name="adj" fmla="val 66666"/>
            </a:avLst>
          </a:prstGeom>
          <a:solidFill>
            <a:srgbClr val="F97316"/>
          </a:solidFill>
          <a:ln/>
        </p:spPr>
        <p:txBody>
          <a:bodyPr wrap="square" rtlCol="0" anchor="ctr"/>
          <a:lstStyle/>
          <a:p>
            <a:pPr marL="0" indent="0">
              <a:buNone/>
            </a:pPr>
            <a:endParaRPr lang="en-US" dirty="0"/>
          </a:p>
        </p:txBody>
      </p:sp>
      <p:sp>
        <p:nvSpPr>
          <p:cNvPr id="4" name="Text 2"/>
          <p:cNvSpPr/>
          <p:nvPr/>
        </p:nvSpPr>
        <p:spPr>
          <a:xfrm>
            <a:off x="357188" y="565696"/>
            <a:ext cx="3954289" cy="162020"/>
          </a:xfrm>
          <a:prstGeom prst="rect">
            <a:avLst/>
          </a:prstGeom>
          <a:noFill/>
          <a:ln/>
        </p:spPr>
        <p:txBody>
          <a:bodyPr wrap="square" lIns="0" tIns="0" rIns="0" bIns="0" rtlCol="0" anchor="t"/>
          <a:lstStyle/>
          <a:p>
            <a:pPr marL="0" indent="0" algn="l">
              <a:lnSpc>
                <a:spcPts val="1181"/>
              </a:lnSpc>
              <a:buNone/>
            </a:pPr>
            <a:r>
              <a:rPr lang="en-US" sz="844" dirty="0">
                <a:solidFill>
                  <a:srgbClr val="64748B"/>
                </a:solidFill>
                <a:latin typeface="Carlito" pitchFamily="34" charset="0"/>
                <a:ea typeface="Carlito" pitchFamily="34" charset="-122"/>
                <a:cs typeface="Carlito" pitchFamily="34" charset="-120"/>
              </a:rPr>
              <a:t>Run the playbook twice. Second run should report 0 changes.</a:t>
            </a:r>
            <a:endParaRPr lang="en-US" sz="844" dirty="0"/>
          </a:p>
        </p:txBody>
      </p:sp>
      <p:sp>
        <p:nvSpPr>
          <p:cNvPr id="5" name="Text 3"/>
          <p:cNvSpPr/>
          <p:nvPr/>
        </p:nvSpPr>
        <p:spPr>
          <a:xfrm>
            <a:off x="7762711" y="187223"/>
            <a:ext cx="1046961" cy="331333"/>
          </a:xfrm>
          <a:prstGeom prst="roundRect">
            <a:avLst>
              <a:gd name="adj" fmla="val 2871877"/>
            </a:avLst>
          </a:prstGeom>
          <a:solidFill>
            <a:srgbClr val="FED7AA"/>
          </a:solidFill>
          <a:ln/>
        </p:spPr>
        <p:txBody>
          <a:bodyPr wrap="square" rtlCol="0" anchor="ctr"/>
          <a:lstStyle/>
          <a:p>
            <a:pPr marL="0" indent="0">
              <a:buNone/>
            </a:pPr>
            <a:endParaRPr lang="en-US" dirty="0"/>
          </a:p>
        </p:txBody>
      </p:sp>
      <p:sp>
        <p:nvSpPr>
          <p:cNvPr id="6" name="Text 4"/>
          <p:cNvSpPr/>
          <p:nvPr/>
        </p:nvSpPr>
        <p:spPr>
          <a:xfrm>
            <a:off x="7785571" y="200025"/>
            <a:ext cx="1001241" cy="330189"/>
          </a:xfrm>
          <a:prstGeom prst="rect">
            <a:avLst/>
          </a:prstGeom>
          <a:noFill/>
          <a:ln/>
        </p:spPr>
        <p:txBody>
          <a:bodyPr wrap="none" lIns="0" tIns="0" rIns="0" bIns="0" rtlCol="0" anchor="t"/>
          <a:lstStyle/>
          <a:p>
            <a:pPr marL="0" indent="0" algn="l">
              <a:lnSpc>
                <a:spcPts val="1733"/>
              </a:lnSpc>
              <a:buNone/>
            </a:pPr>
            <a:r>
              <a:rPr lang="en-US" sz="1238" b="1" kern="0" spc="28" dirty="0">
                <a:solidFill>
                  <a:srgbClr val="C2410C"/>
                </a:solidFill>
                <a:latin typeface="Segoe UI Symbol" pitchFamily="34" charset="0"/>
                <a:ea typeface="Segoe UI Symbol" pitchFamily="34" charset="-122"/>
                <a:cs typeface="Segoe UI Symbol" pitchFamily="34" charset="-120"/>
              </a:rPr>
              <a:t>✦</a:t>
            </a:r>
            <a:r>
              <a:rPr lang="en-US" sz="1238" b="1" kern="0" spc="28" dirty="0">
                <a:solidFill>
                  <a:srgbClr val="C2410C"/>
                </a:solidFill>
                <a:latin typeface="Carlito" pitchFamily="34" charset="0"/>
                <a:ea typeface="Carlito" pitchFamily="34" charset="-122"/>
                <a:cs typeface="Carlito" pitchFamily="34" charset="-120"/>
              </a:rPr>
              <a:t> OUTPUT</a:t>
            </a:r>
            <a:endParaRPr lang="en-US" sz="1238" dirty="0"/>
          </a:p>
        </p:txBody>
      </p:sp>
      <p:sp>
        <p:nvSpPr>
          <p:cNvPr id="7" name="Text 5"/>
          <p:cNvSpPr/>
          <p:nvPr/>
        </p:nvSpPr>
        <p:spPr>
          <a:xfrm>
            <a:off x="485775" y="872877"/>
            <a:ext cx="1567160" cy="143490"/>
          </a:xfrm>
          <a:prstGeom prst="rect">
            <a:avLst/>
          </a:prstGeom>
          <a:noFill/>
          <a:ln/>
        </p:spPr>
        <p:txBody>
          <a:bodyPr wrap="none" lIns="0" tIns="0" rIns="0" bIns="0" rtlCol="0" anchor="t"/>
          <a:lstStyle/>
          <a:p>
            <a:pPr marL="0" indent="0" algn="l">
              <a:lnSpc>
                <a:spcPts val="1024"/>
              </a:lnSpc>
              <a:buNone/>
            </a:pPr>
            <a:r>
              <a:rPr lang="en-US" sz="800" b="1" dirty="0">
                <a:solidFill>
                  <a:srgbClr val="F97316"/>
                </a:solidFill>
                <a:latin typeface="Liberation Sans Narrow" pitchFamily="34" charset="0"/>
                <a:ea typeface="Liberation Sans Narrow" pitchFamily="34" charset="-122"/>
                <a:cs typeface="Liberation Sans Narrow" pitchFamily="34" charset="-120"/>
              </a:rPr>
              <a:t># Run 1 — first application</a:t>
            </a:r>
            <a:endParaRPr lang="en-US" sz="800" dirty="0"/>
          </a:p>
        </p:txBody>
      </p:sp>
      <p:sp>
        <p:nvSpPr>
          <p:cNvPr id="8" name="Text 6"/>
          <p:cNvSpPr/>
          <p:nvPr/>
        </p:nvSpPr>
        <p:spPr>
          <a:xfrm>
            <a:off x="482203" y="1522512"/>
            <a:ext cx="471952" cy="102495"/>
          </a:xfrm>
          <a:prstGeom prst="rect">
            <a:avLst/>
          </a:prstGeom>
          <a:noFill/>
          <a:ln/>
        </p:spPr>
        <p:txBody>
          <a:bodyPr wrap="none" lIns="0" tIns="0" rIns="0" bIns="0" rtlCol="0" anchor="t">
            <a:normAutofit fontScale="25000" lnSpcReduction="20000"/>
          </a:bodyPr>
          <a:lstStyle/>
          <a:p>
            <a:pPr marL="0" indent="0" algn="l">
              <a:lnSpc>
                <a:spcPts val="1024"/>
              </a:lnSpc>
              <a:buNone/>
            </a:pPr>
            <a:r>
              <a:rPr lang="en-US" sz="800" dirty="0">
                <a:solidFill>
                  <a:srgbClr val="86EFAC"/>
                </a:solidFill>
                <a:latin typeface="Courier New" pitchFamily="34" charset="0"/>
                <a:ea typeface="Courier New" pitchFamily="34" charset="-122"/>
                <a:cs typeface="Courier New" pitchFamily="34" charset="-120"/>
              </a:rPr>
              <a:t>changed</a:t>
            </a:r>
            <a:endParaRPr lang="en-US" sz="800" dirty="0"/>
          </a:p>
        </p:txBody>
      </p:sp>
      <p:sp>
        <p:nvSpPr>
          <p:cNvPr id="9" name="Text 7"/>
          <p:cNvSpPr/>
          <p:nvPr/>
        </p:nvSpPr>
        <p:spPr>
          <a:xfrm>
            <a:off x="482203" y="1652439"/>
            <a:ext cx="471952" cy="143490"/>
          </a:xfrm>
          <a:prstGeom prst="rect">
            <a:avLst/>
          </a:prstGeom>
          <a:noFill/>
          <a:ln/>
        </p:spPr>
        <p:txBody>
          <a:bodyPr wrap="none" lIns="0" tIns="0" rIns="0" bIns="0" rtlCol="0" anchor="t"/>
          <a:lstStyle/>
          <a:p>
            <a:pPr marL="0" indent="0" algn="l">
              <a:lnSpc>
                <a:spcPts val="1024"/>
              </a:lnSpc>
              <a:buNone/>
            </a:pPr>
            <a:r>
              <a:rPr lang="en-US" sz="800" dirty="0">
                <a:solidFill>
                  <a:srgbClr val="86EFAC"/>
                </a:solidFill>
                <a:latin typeface="Courier New" pitchFamily="34" charset="0"/>
                <a:ea typeface="Courier New" pitchFamily="34" charset="-122"/>
                <a:cs typeface="Courier New" pitchFamily="34" charset="-120"/>
              </a:rPr>
              <a:t>changed</a:t>
            </a:r>
            <a:endParaRPr lang="en-US" sz="800" dirty="0"/>
          </a:p>
        </p:txBody>
      </p:sp>
      <p:sp>
        <p:nvSpPr>
          <p:cNvPr id="10" name="Text 8"/>
          <p:cNvSpPr/>
          <p:nvPr/>
        </p:nvSpPr>
        <p:spPr>
          <a:xfrm>
            <a:off x="482203" y="1912293"/>
            <a:ext cx="471952" cy="102495"/>
          </a:xfrm>
          <a:prstGeom prst="rect">
            <a:avLst/>
          </a:prstGeom>
          <a:noFill/>
          <a:ln/>
        </p:spPr>
        <p:txBody>
          <a:bodyPr wrap="none" lIns="0" tIns="0" rIns="0" bIns="0" rtlCol="0" anchor="t">
            <a:normAutofit fontScale="25000" lnSpcReduction="20000"/>
          </a:bodyPr>
          <a:lstStyle/>
          <a:p>
            <a:pPr marL="0" indent="0" algn="l">
              <a:lnSpc>
                <a:spcPts val="1024"/>
              </a:lnSpc>
              <a:buNone/>
            </a:pPr>
            <a:r>
              <a:rPr lang="en-US" sz="800" dirty="0">
                <a:solidFill>
                  <a:srgbClr val="86EFAC"/>
                </a:solidFill>
                <a:latin typeface="Courier New" pitchFamily="34" charset="0"/>
                <a:ea typeface="Courier New" pitchFamily="34" charset="-122"/>
                <a:cs typeface="Courier New" pitchFamily="34" charset="-120"/>
              </a:rPr>
              <a:t>changed</a:t>
            </a:r>
            <a:endParaRPr lang="en-US" sz="800" dirty="0"/>
          </a:p>
        </p:txBody>
      </p:sp>
      <p:sp>
        <p:nvSpPr>
          <p:cNvPr id="11" name="Text 9"/>
          <p:cNvSpPr/>
          <p:nvPr/>
        </p:nvSpPr>
        <p:spPr>
          <a:xfrm>
            <a:off x="482203" y="2042220"/>
            <a:ext cx="471952" cy="143490"/>
          </a:xfrm>
          <a:prstGeom prst="rect">
            <a:avLst/>
          </a:prstGeom>
          <a:noFill/>
          <a:ln/>
        </p:spPr>
        <p:txBody>
          <a:bodyPr wrap="none" lIns="0" tIns="0" rIns="0" bIns="0" rtlCol="0" anchor="t"/>
          <a:lstStyle/>
          <a:p>
            <a:pPr marL="0" indent="0" algn="l">
              <a:lnSpc>
                <a:spcPts val="1024"/>
              </a:lnSpc>
              <a:buNone/>
            </a:pPr>
            <a:r>
              <a:rPr lang="en-US" sz="800" dirty="0">
                <a:solidFill>
                  <a:srgbClr val="86EFAC"/>
                </a:solidFill>
                <a:latin typeface="Courier New" pitchFamily="34" charset="0"/>
                <a:ea typeface="Courier New" pitchFamily="34" charset="-122"/>
                <a:cs typeface="Courier New" pitchFamily="34" charset="-120"/>
              </a:rPr>
              <a:t>changed</a:t>
            </a:r>
            <a:endParaRPr lang="en-US" sz="800" dirty="0"/>
          </a:p>
        </p:txBody>
      </p:sp>
      <p:sp>
        <p:nvSpPr>
          <p:cNvPr id="12" name="Text 10"/>
          <p:cNvSpPr/>
          <p:nvPr/>
        </p:nvSpPr>
        <p:spPr>
          <a:xfrm>
            <a:off x="482203" y="2302073"/>
            <a:ext cx="471952" cy="102495"/>
          </a:xfrm>
          <a:prstGeom prst="rect">
            <a:avLst/>
          </a:prstGeom>
          <a:noFill/>
          <a:ln/>
        </p:spPr>
        <p:txBody>
          <a:bodyPr wrap="none" lIns="0" tIns="0" rIns="0" bIns="0" rtlCol="0" anchor="t">
            <a:normAutofit fontScale="25000" lnSpcReduction="20000"/>
          </a:bodyPr>
          <a:lstStyle/>
          <a:p>
            <a:pPr marL="0" indent="0" algn="l">
              <a:lnSpc>
                <a:spcPts val="1024"/>
              </a:lnSpc>
              <a:buNone/>
            </a:pPr>
            <a:r>
              <a:rPr lang="en-US" sz="800" dirty="0">
                <a:solidFill>
                  <a:srgbClr val="86EFAC"/>
                </a:solidFill>
                <a:latin typeface="Courier New" pitchFamily="34" charset="0"/>
                <a:ea typeface="Courier New" pitchFamily="34" charset="-122"/>
                <a:cs typeface="Courier New" pitchFamily="34" charset="-120"/>
              </a:rPr>
              <a:t>changed</a:t>
            </a:r>
            <a:endParaRPr lang="en-US" sz="800" dirty="0"/>
          </a:p>
        </p:txBody>
      </p:sp>
      <p:sp>
        <p:nvSpPr>
          <p:cNvPr id="13" name="Text 11"/>
          <p:cNvSpPr/>
          <p:nvPr/>
        </p:nvSpPr>
        <p:spPr>
          <a:xfrm>
            <a:off x="482203" y="2432000"/>
            <a:ext cx="471952" cy="143490"/>
          </a:xfrm>
          <a:prstGeom prst="rect">
            <a:avLst/>
          </a:prstGeom>
          <a:noFill/>
          <a:ln/>
        </p:spPr>
        <p:txBody>
          <a:bodyPr wrap="none" lIns="0" tIns="0" rIns="0" bIns="0" rtlCol="0" anchor="t"/>
          <a:lstStyle/>
          <a:p>
            <a:pPr marL="0" indent="0" algn="l">
              <a:lnSpc>
                <a:spcPts val="1024"/>
              </a:lnSpc>
              <a:buNone/>
            </a:pPr>
            <a:r>
              <a:rPr lang="en-US" sz="800" dirty="0">
                <a:solidFill>
                  <a:srgbClr val="86EFAC"/>
                </a:solidFill>
                <a:latin typeface="Courier New" pitchFamily="34" charset="0"/>
                <a:ea typeface="Courier New" pitchFamily="34" charset="-122"/>
                <a:cs typeface="Courier New" pitchFamily="34" charset="-120"/>
              </a:rPr>
              <a:t>changed</a:t>
            </a:r>
            <a:endParaRPr lang="en-US" sz="800" dirty="0"/>
          </a:p>
        </p:txBody>
      </p:sp>
      <p:sp>
        <p:nvSpPr>
          <p:cNvPr id="14" name="Text 12"/>
          <p:cNvSpPr/>
          <p:nvPr/>
        </p:nvSpPr>
        <p:spPr>
          <a:xfrm>
            <a:off x="1600200" y="2691854"/>
            <a:ext cx="91440" cy="143490"/>
          </a:xfrm>
          <a:prstGeom prst="rect">
            <a:avLst/>
          </a:prstGeom>
          <a:noFill/>
          <a:ln/>
        </p:spPr>
        <p:txBody>
          <a:bodyPr wrap="none" lIns="0" tIns="0" rIns="0" bIns="0" rtlCol="0" anchor="t"/>
          <a:lstStyle/>
          <a:p>
            <a:pPr marL="0" indent="0" algn="l">
              <a:lnSpc>
                <a:spcPts val="1024"/>
              </a:lnSpc>
              <a:buNone/>
            </a:pPr>
            <a:r>
              <a:rPr lang="en-US" sz="800" dirty="0">
                <a:solidFill>
                  <a:srgbClr val="93C5FD"/>
                </a:solidFill>
                <a:latin typeface="Liberation Sans Narrow" pitchFamily="34" charset="0"/>
                <a:ea typeface="Liberation Sans Narrow" pitchFamily="34" charset="-122"/>
                <a:cs typeface="Liberation Sans Narrow" pitchFamily="34" charset="-120"/>
              </a:rPr>
              <a:t>3</a:t>
            </a:r>
            <a:endParaRPr lang="en-US" sz="800" dirty="0"/>
          </a:p>
        </p:txBody>
      </p:sp>
      <p:sp>
        <p:nvSpPr>
          <p:cNvPr id="15" name="Text 13"/>
          <p:cNvSpPr/>
          <p:nvPr/>
        </p:nvSpPr>
        <p:spPr>
          <a:xfrm>
            <a:off x="2110978" y="2691854"/>
            <a:ext cx="91440" cy="143490"/>
          </a:xfrm>
          <a:prstGeom prst="rect">
            <a:avLst/>
          </a:prstGeom>
          <a:noFill/>
          <a:ln/>
        </p:spPr>
        <p:txBody>
          <a:bodyPr wrap="none" lIns="0" tIns="0" rIns="0" bIns="0" rtlCol="0" anchor="t"/>
          <a:lstStyle/>
          <a:p>
            <a:pPr marL="0" indent="0" algn="l">
              <a:lnSpc>
                <a:spcPts val="1024"/>
              </a:lnSpc>
              <a:buNone/>
            </a:pPr>
            <a:r>
              <a:rPr lang="en-US" sz="800" dirty="0">
                <a:solidFill>
                  <a:srgbClr val="93C5FD"/>
                </a:solidFill>
                <a:latin typeface="Liberation Sans Narrow" pitchFamily="34" charset="0"/>
                <a:ea typeface="Liberation Sans Narrow" pitchFamily="34" charset="-122"/>
                <a:cs typeface="Liberation Sans Narrow" pitchFamily="34" charset="-120"/>
              </a:rPr>
              <a:t>3</a:t>
            </a:r>
            <a:endParaRPr lang="en-US" sz="800" dirty="0"/>
          </a:p>
        </p:txBody>
      </p:sp>
      <p:sp>
        <p:nvSpPr>
          <p:cNvPr id="16" name="Text 14"/>
          <p:cNvSpPr/>
          <p:nvPr/>
        </p:nvSpPr>
        <p:spPr>
          <a:xfrm>
            <a:off x="2807494" y="2691854"/>
            <a:ext cx="91440" cy="143490"/>
          </a:xfrm>
          <a:prstGeom prst="rect">
            <a:avLst/>
          </a:prstGeom>
          <a:noFill/>
          <a:ln/>
        </p:spPr>
        <p:txBody>
          <a:bodyPr wrap="none" lIns="0" tIns="0" rIns="0" bIns="0" rtlCol="0" anchor="t"/>
          <a:lstStyle/>
          <a:p>
            <a:pPr marL="0" indent="0" algn="l">
              <a:lnSpc>
                <a:spcPts val="1024"/>
              </a:lnSpc>
              <a:buNone/>
            </a:pPr>
            <a:r>
              <a:rPr lang="en-US" sz="800" dirty="0">
                <a:solidFill>
                  <a:srgbClr val="93C5FD"/>
                </a:solidFill>
                <a:latin typeface="Liberation Sans Narrow" pitchFamily="34" charset="0"/>
                <a:ea typeface="Liberation Sans Narrow" pitchFamily="34" charset="-122"/>
                <a:cs typeface="Liberation Sans Narrow" pitchFamily="34" charset="-120"/>
              </a:rPr>
              <a:t>0</a:t>
            </a:r>
            <a:endParaRPr lang="en-US" sz="800" dirty="0"/>
          </a:p>
        </p:txBody>
      </p:sp>
      <p:sp>
        <p:nvSpPr>
          <p:cNvPr id="17" name="Text 15"/>
          <p:cNvSpPr/>
          <p:nvPr/>
        </p:nvSpPr>
        <p:spPr>
          <a:xfrm>
            <a:off x="3271838" y="2691854"/>
            <a:ext cx="91440" cy="102495"/>
          </a:xfrm>
          <a:prstGeom prst="rect">
            <a:avLst/>
          </a:prstGeom>
          <a:noFill/>
          <a:ln/>
        </p:spPr>
        <p:txBody>
          <a:bodyPr wrap="none" lIns="0" tIns="0" rIns="0" bIns="0" rtlCol="0" anchor="t">
            <a:normAutofit fontScale="25000" lnSpcReduction="20000"/>
          </a:bodyPr>
          <a:lstStyle/>
          <a:p>
            <a:pPr marL="0" indent="0" algn="l">
              <a:lnSpc>
                <a:spcPts val="1024"/>
              </a:lnSpc>
              <a:buNone/>
            </a:pPr>
            <a:r>
              <a:rPr lang="en-US" sz="800" dirty="0">
                <a:solidFill>
                  <a:srgbClr val="93C5FD"/>
                </a:solidFill>
                <a:latin typeface="Liberation Sans Narrow" pitchFamily="34" charset="0"/>
                <a:ea typeface="Liberation Sans Narrow" pitchFamily="34" charset="-122"/>
                <a:cs typeface="Liberation Sans Narrow" pitchFamily="34" charset="-120"/>
              </a:rPr>
              <a:t>0</a:t>
            </a:r>
            <a:endParaRPr lang="en-US" sz="800" dirty="0"/>
          </a:p>
        </p:txBody>
      </p:sp>
      <p:sp>
        <p:nvSpPr>
          <p:cNvPr id="18" name="Text 16"/>
          <p:cNvSpPr/>
          <p:nvPr/>
        </p:nvSpPr>
        <p:spPr>
          <a:xfrm>
            <a:off x="1600200" y="2821781"/>
            <a:ext cx="91440" cy="143490"/>
          </a:xfrm>
          <a:prstGeom prst="rect">
            <a:avLst/>
          </a:prstGeom>
          <a:noFill/>
          <a:ln/>
        </p:spPr>
        <p:txBody>
          <a:bodyPr wrap="none" lIns="0" tIns="0" rIns="0" bIns="0" rtlCol="0" anchor="t"/>
          <a:lstStyle/>
          <a:p>
            <a:pPr marL="0" indent="0" algn="l">
              <a:lnSpc>
                <a:spcPts val="1024"/>
              </a:lnSpc>
              <a:buNone/>
            </a:pPr>
            <a:r>
              <a:rPr lang="en-US" sz="800" dirty="0">
                <a:solidFill>
                  <a:srgbClr val="93C5FD"/>
                </a:solidFill>
                <a:latin typeface="Liberation Sans Narrow" pitchFamily="34" charset="0"/>
                <a:ea typeface="Liberation Sans Narrow" pitchFamily="34" charset="-122"/>
                <a:cs typeface="Liberation Sans Narrow" pitchFamily="34" charset="-120"/>
              </a:rPr>
              <a:t>3</a:t>
            </a:r>
            <a:endParaRPr lang="en-US" sz="800" dirty="0"/>
          </a:p>
        </p:txBody>
      </p:sp>
      <p:sp>
        <p:nvSpPr>
          <p:cNvPr id="19" name="Text 17"/>
          <p:cNvSpPr/>
          <p:nvPr/>
        </p:nvSpPr>
        <p:spPr>
          <a:xfrm>
            <a:off x="2110978" y="2821781"/>
            <a:ext cx="91440" cy="143490"/>
          </a:xfrm>
          <a:prstGeom prst="rect">
            <a:avLst/>
          </a:prstGeom>
          <a:noFill/>
          <a:ln/>
        </p:spPr>
        <p:txBody>
          <a:bodyPr wrap="none" lIns="0" tIns="0" rIns="0" bIns="0" rtlCol="0" anchor="t"/>
          <a:lstStyle/>
          <a:p>
            <a:pPr marL="0" indent="0" algn="l">
              <a:lnSpc>
                <a:spcPts val="1024"/>
              </a:lnSpc>
              <a:buNone/>
            </a:pPr>
            <a:r>
              <a:rPr lang="en-US" sz="800" dirty="0">
                <a:solidFill>
                  <a:srgbClr val="93C5FD"/>
                </a:solidFill>
                <a:latin typeface="Liberation Sans Narrow" pitchFamily="34" charset="0"/>
                <a:ea typeface="Liberation Sans Narrow" pitchFamily="34" charset="-122"/>
                <a:cs typeface="Liberation Sans Narrow" pitchFamily="34" charset="-120"/>
              </a:rPr>
              <a:t>3</a:t>
            </a:r>
            <a:endParaRPr lang="en-US" sz="800" dirty="0"/>
          </a:p>
        </p:txBody>
      </p:sp>
      <p:sp>
        <p:nvSpPr>
          <p:cNvPr id="20" name="Text 18"/>
          <p:cNvSpPr/>
          <p:nvPr/>
        </p:nvSpPr>
        <p:spPr>
          <a:xfrm>
            <a:off x="2807494" y="2821781"/>
            <a:ext cx="91440" cy="143490"/>
          </a:xfrm>
          <a:prstGeom prst="rect">
            <a:avLst/>
          </a:prstGeom>
          <a:noFill/>
          <a:ln/>
        </p:spPr>
        <p:txBody>
          <a:bodyPr wrap="none" lIns="0" tIns="0" rIns="0" bIns="0" rtlCol="0" anchor="t"/>
          <a:lstStyle/>
          <a:p>
            <a:pPr marL="0" indent="0" algn="l">
              <a:lnSpc>
                <a:spcPts val="1024"/>
              </a:lnSpc>
              <a:buNone/>
            </a:pPr>
            <a:r>
              <a:rPr lang="en-US" sz="800" dirty="0">
                <a:solidFill>
                  <a:srgbClr val="93C5FD"/>
                </a:solidFill>
                <a:latin typeface="Liberation Sans Narrow" pitchFamily="34" charset="0"/>
                <a:ea typeface="Liberation Sans Narrow" pitchFamily="34" charset="-122"/>
                <a:cs typeface="Liberation Sans Narrow" pitchFamily="34" charset="-120"/>
              </a:rPr>
              <a:t>0</a:t>
            </a:r>
            <a:endParaRPr lang="en-US" sz="800" dirty="0"/>
          </a:p>
        </p:txBody>
      </p:sp>
      <p:sp>
        <p:nvSpPr>
          <p:cNvPr id="21" name="Text 19"/>
          <p:cNvSpPr/>
          <p:nvPr/>
        </p:nvSpPr>
        <p:spPr>
          <a:xfrm>
            <a:off x="3271838" y="2821781"/>
            <a:ext cx="91440" cy="143490"/>
          </a:xfrm>
          <a:prstGeom prst="rect">
            <a:avLst/>
          </a:prstGeom>
          <a:noFill/>
          <a:ln/>
        </p:spPr>
        <p:txBody>
          <a:bodyPr wrap="none" lIns="0" tIns="0" rIns="0" bIns="0" rtlCol="0" anchor="t"/>
          <a:lstStyle/>
          <a:p>
            <a:pPr marL="0" indent="0" algn="l">
              <a:lnSpc>
                <a:spcPts val="1024"/>
              </a:lnSpc>
              <a:buNone/>
            </a:pPr>
            <a:r>
              <a:rPr lang="en-US" sz="800" dirty="0">
                <a:solidFill>
                  <a:srgbClr val="93C5FD"/>
                </a:solidFill>
                <a:latin typeface="Liberation Sans Narrow" pitchFamily="34" charset="0"/>
                <a:ea typeface="Liberation Sans Narrow" pitchFamily="34" charset="-122"/>
                <a:cs typeface="Liberation Sans Narrow" pitchFamily="34" charset="-120"/>
              </a:rPr>
              <a:t>0</a:t>
            </a:r>
            <a:endParaRPr lang="en-US" sz="800" dirty="0"/>
          </a:p>
        </p:txBody>
      </p:sp>
      <p:sp>
        <p:nvSpPr>
          <p:cNvPr id="22" name="Text 20"/>
          <p:cNvSpPr/>
          <p:nvPr/>
        </p:nvSpPr>
        <p:spPr>
          <a:xfrm>
            <a:off x="485775" y="3081635"/>
            <a:ext cx="2693194" cy="143490"/>
          </a:xfrm>
          <a:prstGeom prst="rect">
            <a:avLst/>
          </a:prstGeom>
          <a:noFill/>
          <a:ln/>
        </p:spPr>
        <p:txBody>
          <a:bodyPr wrap="none" lIns="0" tIns="0" rIns="0" bIns="0" rtlCol="0" anchor="t"/>
          <a:lstStyle/>
          <a:p>
            <a:pPr marL="0" indent="0" algn="l">
              <a:lnSpc>
                <a:spcPts val="1024"/>
              </a:lnSpc>
              <a:buNone/>
            </a:pPr>
            <a:r>
              <a:rPr lang="en-US" sz="731" b="1" dirty="0">
                <a:solidFill>
                  <a:srgbClr val="F97316"/>
                </a:solidFill>
                <a:latin typeface="Courier New" pitchFamily="34" charset="0"/>
                <a:ea typeface="Courier New" pitchFamily="34" charset="-122"/>
                <a:cs typeface="Courier New" pitchFamily="34" charset="-120"/>
              </a:rPr>
              <a:t># Run 2 — second run on the SAME hosts (idempotency check)</a:t>
            </a:r>
            <a:endParaRPr lang="en-US" sz="731" dirty="0"/>
          </a:p>
        </p:txBody>
      </p:sp>
      <p:sp>
        <p:nvSpPr>
          <p:cNvPr id="23" name="Text 21"/>
          <p:cNvSpPr/>
          <p:nvPr/>
        </p:nvSpPr>
        <p:spPr>
          <a:xfrm>
            <a:off x="485775" y="3731270"/>
            <a:ext cx="148590" cy="143490"/>
          </a:xfrm>
          <a:prstGeom prst="rect">
            <a:avLst/>
          </a:prstGeom>
          <a:noFill/>
          <a:ln/>
        </p:spPr>
        <p:txBody>
          <a:bodyPr wrap="none" lIns="0" tIns="0" rIns="0" bIns="0" rtlCol="0" anchor="t"/>
          <a:lstStyle/>
          <a:p>
            <a:pPr marL="0" indent="0" algn="l">
              <a:lnSpc>
                <a:spcPts val="1024"/>
              </a:lnSpc>
              <a:buNone/>
            </a:pPr>
            <a:r>
              <a:rPr lang="en-US" sz="800" dirty="0">
                <a:solidFill>
                  <a:srgbClr val="FBA74A"/>
                </a:solidFill>
                <a:latin typeface="Courier New" pitchFamily="34" charset="0"/>
                <a:ea typeface="Courier New" pitchFamily="34" charset="-122"/>
                <a:cs typeface="Courier New" pitchFamily="34" charset="-120"/>
              </a:rPr>
              <a:t>ok</a:t>
            </a:r>
            <a:endParaRPr lang="en-US" sz="800" dirty="0"/>
          </a:p>
        </p:txBody>
      </p:sp>
      <p:sp>
        <p:nvSpPr>
          <p:cNvPr id="24" name="Text 22"/>
          <p:cNvSpPr/>
          <p:nvPr/>
        </p:nvSpPr>
        <p:spPr>
          <a:xfrm>
            <a:off x="1878806" y="3731270"/>
            <a:ext cx="1705070" cy="102495"/>
          </a:xfrm>
          <a:prstGeom prst="rect">
            <a:avLst/>
          </a:prstGeom>
          <a:noFill/>
          <a:ln/>
        </p:spPr>
        <p:txBody>
          <a:bodyPr wrap="none" lIns="0" tIns="0" rIns="0" bIns="0" rtlCol="0" anchor="t">
            <a:normAutofit fontScale="25000" lnSpcReduction="20000"/>
          </a:bodyPr>
          <a:lstStyle/>
          <a:p>
            <a:pPr marL="0" indent="0" algn="l">
              <a:lnSpc>
                <a:spcPts val="1024"/>
              </a:lnSpc>
              <a:buNone/>
            </a:pPr>
            <a:r>
              <a:rPr lang="en-US" sz="731" i="1" dirty="0">
                <a:solidFill>
                  <a:srgbClr val="94A3B8"/>
                </a:solidFill>
                <a:latin typeface="Courier New" pitchFamily="34" charset="0"/>
                <a:ea typeface="Courier New" pitchFamily="34" charset="-122"/>
                <a:cs typeface="Courier New" pitchFamily="34" charset="-120"/>
              </a:rPr>
              <a:t># &lt;-- already installed, no change</a:t>
            </a:r>
            <a:endParaRPr lang="en-US" sz="731" dirty="0"/>
          </a:p>
        </p:txBody>
      </p:sp>
      <p:sp>
        <p:nvSpPr>
          <p:cNvPr id="25" name="Text 23"/>
          <p:cNvSpPr/>
          <p:nvPr/>
        </p:nvSpPr>
        <p:spPr>
          <a:xfrm>
            <a:off x="485775" y="3861197"/>
            <a:ext cx="148590" cy="143490"/>
          </a:xfrm>
          <a:prstGeom prst="rect">
            <a:avLst/>
          </a:prstGeom>
          <a:noFill/>
          <a:ln/>
        </p:spPr>
        <p:txBody>
          <a:bodyPr wrap="none" lIns="0" tIns="0" rIns="0" bIns="0" rtlCol="0" anchor="t"/>
          <a:lstStyle/>
          <a:p>
            <a:pPr marL="0" indent="0" algn="l">
              <a:lnSpc>
                <a:spcPts val="1024"/>
              </a:lnSpc>
              <a:buNone/>
            </a:pPr>
            <a:r>
              <a:rPr lang="en-US" sz="800" dirty="0">
                <a:solidFill>
                  <a:srgbClr val="FBA74A"/>
                </a:solidFill>
                <a:latin typeface="Courier New" pitchFamily="34" charset="0"/>
                <a:ea typeface="Courier New" pitchFamily="34" charset="-122"/>
                <a:cs typeface="Courier New" pitchFamily="34" charset="-120"/>
              </a:rPr>
              <a:t>ok</a:t>
            </a:r>
            <a:endParaRPr lang="en-US" sz="800" dirty="0"/>
          </a:p>
        </p:txBody>
      </p:sp>
      <p:sp>
        <p:nvSpPr>
          <p:cNvPr id="26" name="Text 24"/>
          <p:cNvSpPr/>
          <p:nvPr/>
        </p:nvSpPr>
        <p:spPr>
          <a:xfrm>
            <a:off x="485775" y="4121051"/>
            <a:ext cx="148590" cy="143490"/>
          </a:xfrm>
          <a:prstGeom prst="rect">
            <a:avLst/>
          </a:prstGeom>
          <a:noFill/>
          <a:ln/>
        </p:spPr>
        <p:txBody>
          <a:bodyPr wrap="none" lIns="0" tIns="0" rIns="0" bIns="0" rtlCol="0" anchor="t"/>
          <a:lstStyle/>
          <a:p>
            <a:pPr marL="0" indent="0" algn="l">
              <a:lnSpc>
                <a:spcPts val="1024"/>
              </a:lnSpc>
              <a:buNone/>
            </a:pPr>
            <a:r>
              <a:rPr lang="en-US" sz="800" dirty="0">
                <a:solidFill>
                  <a:srgbClr val="FBA74A"/>
                </a:solidFill>
                <a:latin typeface="Courier New" pitchFamily="34" charset="0"/>
                <a:ea typeface="Courier New" pitchFamily="34" charset="-122"/>
                <a:cs typeface="Courier New" pitchFamily="34" charset="-120"/>
              </a:rPr>
              <a:t>ok</a:t>
            </a:r>
            <a:endParaRPr lang="en-US" sz="800" dirty="0"/>
          </a:p>
        </p:txBody>
      </p:sp>
      <p:sp>
        <p:nvSpPr>
          <p:cNvPr id="27" name="Text 25"/>
          <p:cNvSpPr/>
          <p:nvPr/>
        </p:nvSpPr>
        <p:spPr>
          <a:xfrm>
            <a:off x="1878806" y="4121051"/>
            <a:ext cx="1557409" cy="102495"/>
          </a:xfrm>
          <a:prstGeom prst="rect">
            <a:avLst/>
          </a:prstGeom>
          <a:noFill/>
          <a:ln/>
        </p:spPr>
        <p:txBody>
          <a:bodyPr wrap="none" lIns="0" tIns="0" rIns="0" bIns="0" rtlCol="0" anchor="t">
            <a:normAutofit fontScale="25000" lnSpcReduction="20000"/>
          </a:bodyPr>
          <a:lstStyle/>
          <a:p>
            <a:pPr marL="0" indent="0" algn="l">
              <a:lnSpc>
                <a:spcPts val="1024"/>
              </a:lnSpc>
              <a:buNone/>
            </a:pPr>
            <a:r>
              <a:rPr lang="en-US" sz="800" i="1" dirty="0">
                <a:solidFill>
                  <a:srgbClr val="94A3B8"/>
                </a:solidFill>
                <a:latin typeface="Courier New" pitchFamily="34" charset="0"/>
                <a:ea typeface="Courier New" pitchFamily="34" charset="-122"/>
                <a:cs typeface="Courier New" pitchFamily="34" charset="-120"/>
              </a:rPr>
              <a:t># &lt;-- file already correct</a:t>
            </a:r>
            <a:endParaRPr lang="en-US" sz="800" dirty="0"/>
          </a:p>
        </p:txBody>
      </p:sp>
      <p:sp>
        <p:nvSpPr>
          <p:cNvPr id="28" name="Text 26"/>
          <p:cNvSpPr/>
          <p:nvPr/>
        </p:nvSpPr>
        <p:spPr>
          <a:xfrm>
            <a:off x="485775" y="4250978"/>
            <a:ext cx="148590" cy="143490"/>
          </a:xfrm>
          <a:prstGeom prst="rect">
            <a:avLst/>
          </a:prstGeom>
          <a:noFill/>
          <a:ln/>
        </p:spPr>
        <p:txBody>
          <a:bodyPr wrap="none" lIns="0" tIns="0" rIns="0" bIns="0" rtlCol="0" anchor="t"/>
          <a:lstStyle/>
          <a:p>
            <a:pPr marL="0" indent="0" algn="l">
              <a:lnSpc>
                <a:spcPts val="1024"/>
              </a:lnSpc>
              <a:buNone/>
            </a:pPr>
            <a:r>
              <a:rPr lang="en-US" sz="800" dirty="0">
                <a:solidFill>
                  <a:srgbClr val="FBA74A"/>
                </a:solidFill>
                <a:latin typeface="Courier New" pitchFamily="34" charset="0"/>
                <a:ea typeface="Courier New" pitchFamily="34" charset="-122"/>
                <a:cs typeface="Courier New" pitchFamily="34" charset="-120"/>
              </a:rPr>
              <a:t>ok</a:t>
            </a:r>
            <a:endParaRPr lang="en-US" sz="800" dirty="0"/>
          </a:p>
        </p:txBody>
      </p:sp>
      <p:sp>
        <p:nvSpPr>
          <p:cNvPr id="29" name="Text 27"/>
          <p:cNvSpPr/>
          <p:nvPr/>
        </p:nvSpPr>
        <p:spPr>
          <a:xfrm>
            <a:off x="485775" y="4510832"/>
            <a:ext cx="148590" cy="143490"/>
          </a:xfrm>
          <a:prstGeom prst="rect">
            <a:avLst/>
          </a:prstGeom>
          <a:noFill/>
          <a:ln/>
        </p:spPr>
        <p:txBody>
          <a:bodyPr wrap="none" lIns="0" tIns="0" rIns="0" bIns="0" rtlCol="0" anchor="t"/>
          <a:lstStyle/>
          <a:p>
            <a:pPr marL="0" indent="0" algn="l">
              <a:lnSpc>
                <a:spcPts val="1024"/>
              </a:lnSpc>
              <a:buNone/>
            </a:pPr>
            <a:r>
              <a:rPr lang="en-US" sz="800" dirty="0">
                <a:solidFill>
                  <a:srgbClr val="FBA74A"/>
                </a:solidFill>
                <a:latin typeface="Courier New" pitchFamily="34" charset="0"/>
                <a:ea typeface="Courier New" pitchFamily="34" charset="-122"/>
                <a:cs typeface="Courier New" pitchFamily="34" charset="-120"/>
              </a:rPr>
              <a:t>ok</a:t>
            </a:r>
            <a:endParaRPr lang="en-US" sz="800" dirty="0"/>
          </a:p>
        </p:txBody>
      </p:sp>
      <p:sp>
        <p:nvSpPr>
          <p:cNvPr id="30" name="Text 28"/>
          <p:cNvSpPr/>
          <p:nvPr/>
        </p:nvSpPr>
        <p:spPr>
          <a:xfrm>
            <a:off x="1878806" y="4510832"/>
            <a:ext cx="1257907" cy="102495"/>
          </a:xfrm>
          <a:prstGeom prst="rect">
            <a:avLst/>
          </a:prstGeom>
          <a:noFill/>
          <a:ln/>
        </p:spPr>
        <p:txBody>
          <a:bodyPr wrap="none" lIns="0" tIns="0" rIns="0" bIns="0" rtlCol="0" anchor="t">
            <a:normAutofit fontScale="25000" lnSpcReduction="20000"/>
          </a:bodyPr>
          <a:lstStyle/>
          <a:p>
            <a:pPr marL="0" indent="0" algn="l">
              <a:lnSpc>
                <a:spcPts val="1024"/>
              </a:lnSpc>
              <a:buNone/>
            </a:pPr>
            <a:r>
              <a:rPr lang="en-US" sz="800" i="1" dirty="0">
                <a:solidFill>
                  <a:srgbClr val="94A3B8"/>
                </a:solidFill>
                <a:latin typeface="Courier New" pitchFamily="34" charset="0"/>
                <a:ea typeface="Courier New" pitchFamily="34" charset="-122"/>
                <a:cs typeface="Courier New" pitchFamily="34" charset="-120"/>
              </a:rPr>
              <a:t># &lt;-- already running</a:t>
            </a:r>
            <a:endParaRPr lang="en-US" sz="800" dirty="0"/>
          </a:p>
        </p:txBody>
      </p:sp>
      <p:sp>
        <p:nvSpPr>
          <p:cNvPr id="31" name="Text 29"/>
          <p:cNvSpPr/>
          <p:nvPr/>
        </p:nvSpPr>
        <p:spPr>
          <a:xfrm>
            <a:off x="485775" y="4640759"/>
            <a:ext cx="148590" cy="143490"/>
          </a:xfrm>
          <a:prstGeom prst="rect">
            <a:avLst/>
          </a:prstGeom>
          <a:noFill/>
          <a:ln/>
        </p:spPr>
        <p:txBody>
          <a:bodyPr wrap="none" lIns="0" tIns="0" rIns="0" bIns="0" rtlCol="0" anchor="t"/>
          <a:lstStyle/>
          <a:p>
            <a:pPr marL="0" indent="0" algn="l">
              <a:lnSpc>
                <a:spcPts val="1024"/>
              </a:lnSpc>
              <a:buNone/>
            </a:pPr>
            <a:r>
              <a:rPr lang="en-US" sz="800" dirty="0">
                <a:solidFill>
                  <a:srgbClr val="FBA74A"/>
                </a:solidFill>
                <a:latin typeface="Courier New" pitchFamily="34" charset="0"/>
                <a:ea typeface="Courier New" pitchFamily="34" charset="-122"/>
                <a:cs typeface="Courier New" pitchFamily="34" charset="-120"/>
              </a:rPr>
              <a:t>ok</a:t>
            </a:r>
            <a:endParaRPr lang="en-US" sz="800" dirty="0"/>
          </a:p>
        </p:txBody>
      </p:sp>
      <p:sp>
        <p:nvSpPr>
          <p:cNvPr id="32" name="Text 30"/>
          <p:cNvSpPr/>
          <p:nvPr/>
        </p:nvSpPr>
        <p:spPr>
          <a:xfrm>
            <a:off x="1600200" y="4900613"/>
            <a:ext cx="91440" cy="143490"/>
          </a:xfrm>
          <a:prstGeom prst="rect">
            <a:avLst/>
          </a:prstGeom>
          <a:noFill/>
          <a:ln/>
        </p:spPr>
        <p:txBody>
          <a:bodyPr wrap="none" lIns="0" tIns="0" rIns="0" bIns="0" rtlCol="0" anchor="t"/>
          <a:lstStyle/>
          <a:p>
            <a:pPr marL="0" indent="0" algn="l">
              <a:lnSpc>
                <a:spcPts val="1024"/>
              </a:lnSpc>
              <a:buNone/>
            </a:pPr>
            <a:r>
              <a:rPr lang="en-US" sz="800" dirty="0">
                <a:solidFill>
                  <a:srgbClr val="93C5FD"/>
                </a:solidFill>
                <a:latin typeface="Liberation Sans Narrow" pitchFamily="34" charset="0"/>
                <a:ea typeface="Liberation Sans Narrow" pitchFamily="34" charset="-122"/>
                <a:cs typeface="Liberation Sans Narrow" pitchFamily="34" charset="-120"/>
              </a:rPr>
              <a:t>3</a:t>
            </a:r>
            <a:endParaRPr lang="en-US" sz="800" dirty="0"/>
          </a:p>
        </p:txBody>
      </p:sp>
      <p:sp>
        <p:nvSpPr>
          <p:cNvPr id="33" name="Text 31"/>
          <p:cNvSpPr/>
          <p:nvPr/>
        </p:nvSpPr>
        <p:spPr>
          <a:xfrm>
            <a:off x="2110978" y="4900613"/>
            <a:ext cx="91440" cy="143490"/>
          </a:xfrm>
          <a:prstGeom prst="rect">
            <a:avLst/>
          </a:prstGeom>
          <a:noFill/>
          <a:ln/>
        </p:spPr>
        <p:txBody>
          <a:bodyPr wrap="none" lIns="0" tIns="0" rIns="0" bIns="0" rtlCol="0" anchor="t"/>
          <a:lstStyle/>
          <a:p>
            <a:pPr marL="0" indent="0" algn="l">
              <a:lnSpc>
                <a:spcPts val="1024"/>
              </a:lnSpc>
              <a:buNone/>
            </a:pPr>
            <a:r>
              <a:rPr lang="en-US" sz="800" dirty="0">
                <a:solidFill>
                  <a:srgbClr val="93C5FD"/>
                </a:solidFill>
                <a:latin typeface="Liberation Sans Narrow" pitchFamily="34" charset="0"/>
                <a:ea typeface="Liberation Sans Narrow" pitchFamily="34" charset="-122"/>
                <a:cs typeface="Liberation Sans Narrow" pitchFamily="34" charset="-120"/>
              </a:rPr>
              <a:t>0</a:t>
            </a:r>
            <a:endParaRPr lang="en-US" sz="800" dirty="0"/>
          </a:p>
        </p:txBody>
      </p:sp>
      <p:sp>
        <p:nvSpPr>
          <p:cNvPr id="34" name="Text 32"/>
          <p:cNvSpPr/>
          <p:nvPr/>
        </p:nvSpPr>
        <p:spPr>
          <a:xfrm>
            <a:off x="2807494" y="4900613"/>
            <a:ext cx="91440" cy="143490"/>
          </a:xfrm>
          <a:prstGeom prst="rect">
            <a:avLst/>
          </a:prstGeom>
          <a:noFill/>
          <a:ln/>
        </p:spPr>
        <p:txBody>
          <a:bodyPr wrap="none" lIns="0" tIns="0" rIns="0" bIns="0" rtlCol="0" anchor="t"/>
          <a:lstStyle/>
          <a:p>
            <a:pPr marL="0" indent="0" algn="l">
              <a:lnSpc>
                <a:spcPts val="1024"/>
              </a:lnSpc>
              <a:buNone/>
            </a:pPr>
            <a:r>
              <a:rPr lang="en-US" sz="800" dirty="0">
                <a:solidFill>
                  <a:srgbClr val="93C5FD"/>
                </a:solidFill>
                <a:latin typeface="Liberation Sans Narrow" pitchFamily="34" charset="0"/>
                <a:ea typeface="Liberation Sans Narrow" pitchFamily="34" charset="-122"/>
                <a:cs typeface="Liberation Sans Narrow" pitchFamily="34" charset="-120"/>
              </a:rPr>
              <a:t>0</a:t>
            </a:r>
            <a:endParaRPr lang="en-US" sz="800" dirty="0"/>
          </a:p>
        </p:txBody>
      </p:sp>
      <p:sp>
        <p:nvSpPr>
          <p:cNvPr id="35" name="Text 33"/>
          <p:cNvSpPr/>
          <p:nvPr/>
        </p:nvSpPr>
        <p:spPr>
          <a:xfrm>
            <a:off x="3271838" y="4900613"/>
            <a:ext cx="91440" cy="102495"/>
          </a:xfrm>
          <a:prstGeom prst="rect">
            <a:avLst/>
          </a:prstGeom>
          <a:noFill/>
          <a:ln/>
        </p:spPr>
        <p:txBody>
          <a:bodyPr wrap="none" lIns="0" tIns="0" rIns="0" bIns="0" rtlCol="0" anchor="t">
            <a:normAutofit fontScale="25000" lnSpcReduction="20000"/>
          </a:bodyPr>
          <a:lstStyle/>
          <a:p>
            <a:pPr marL="0" indent="0" algn="l">
              <a:lnSpc>
                <a:spcPts val="1024"/>
              </a:lnSpc>
              <a:buNone/>
            </a:pPr>
            <a:r>
              <a:rPr lang="en-US" sz="800" dirty="0">
                <a:solidFill>
                  <a:srgbClr val="93C5FD"/>
                </a:solidFill>
                <a:latin typeface="Liberation Sans Narrow" pitchFamily="34" charset="0"/>
                <a:ea typeface="Liberation Sans Narrow" pitchFamily="34" charset="-122"/>
                <a:cs typeface="Liberation Sans Narrow" pitchFamily="34" charset="-120"/>
              </a:rPr>
              <a:t>0</a:t>
            </a:r>
            <a:endParaRPr lang="en-US" sz="800" dirty="0"/>
          </a:p>
        </p:txBody>
      </p:sp>
      <p:sp>
        <p:nvSpPr>
          <p:cNvPr id="36" name="Text 34"/>
          <p:cNvSpPr/>
          <p:nvPr/>
        </p:nvSpPr>
        <p:spPr>
          <a:xfrm>
            <a:off x="1600200" y="5030539"/>
            <a:ext cx="91440" cy="91440"/>
          </a:xfrm>
          <a:prstGeom prst="rect">
            <a:avLst/>
          </a:prstGeom>
          <a:noFill/>
          <a:ln/>
        </p:spPr>
        <p:txBody>
          <a:bodyPr wrap="none" lIns="0" tIns="0" rIns="0" bIns="0" rtlCol="0" anchor="t"/>
          <a:lstStyle/>
          <a:p>
            <a:pPr marL="0" indent="0" algn="l">
              <a:lnSpc>
                <a:spcPts val="1024"/>
              </a:lnSpc>
              <a:buNone/>
            </a:pPr>
            <a:r>
              <a:rPr lang="en-US" sz="800" dirty="0">
                <a:solidFill>
                  <a:srgbClr val="93C5FD"/>
                </a:solidFill>
                <a:latin typeface="Liberation Sans Narrow" pitchFamily="34" charset="0"/>
                <a:ea typeface="Liberation Sans Narrow" pitchFamily="34" charset="-122"/>
                <a:cs typeface="Liberation Sans Narrow" pitchFamily="34" charset="-120"/>
              </a:rPr>
              <a:t>3</a:t>
            </a:r>
            <a:endParaRPr lang="en-US" sz="800" dirty="0"/>
          </a:p>
        </p:txBody>
      </p:sp>
      <p:sp>
        <p:nvSpPr>
          <p:cNvPr id="37" name="Text 35"/>
          <p:cNvSpPr/>
          <p:nvPr/>
        </p:nvSpPr>
        <p:spPr>
          <a:xfrm>
            <a:off x="2110978" y="5030539"/>
            <a:ext cx="91440" cy="91440"/>
          </a:xfrm>
          <a:prstGeom prst="rect">
            <a:avLst/>
          </a:prstGeom>
          <a:noFill/>
          <a:ln/>
        </p:spPr>
        <p:txBody>
          <a:bodyPr wrap="none" lIns="0" tIns="0" rIns="0" bIns="0" rtlCol="0" anchor="t"/>
          <a:lstStyle/>
          <a:p>
            <a:pPr marL="0" indent="0" algn="l">
              <a:lnSpc>
                <a:spcPts val="1024"/>
              </a:lnSpc>
              <a:buNone/>
            </a:pPr>
            <a:r>
              <a:rPr lang="en-US" sz="800" dirty="0">
                <a:solidFill>
                  <a:srgbClr val="93C5FD"/>
                </a:solidFill>
                <a:latin typeface="Liberation Sans Narrow" pitchFamily="34" charset="0"/>
                <a:ea typeface="Liberation Sans Narrow" pitchFamily="34" charset="-122"/>
                <a:cs typeface="Liberation Sans Narrow" pitchFamily="34" charset="-120"/>
              </a:rPr>
              <a:t>0</a:t>
            </a:r>
            <a:endParaRPr lang="en-US" sz="800" dirty="0"/>
          </a:p>
        </p:txBody>
      </p:sp>
      <p:sp>
        <p:nvSpPr>
          <p:cNvPr id="38" name="Text 36"/>
          <p:cNvSpPr/>
          <p:nvPr/>
        </p:nvSpPr>
        <p:spPr>
          <a:xfrm>
            <a:off x="2807494" y="5030539"/>
            <a:ext cx="91440" cy="91440"/>
          </a:xfrm>
          <a:prstGeom prst="rect">
            <a:avLst/>
          </a:prstGeom>
          <a:noFill/>
          <a:ln/>
        </p:spPr>
        <p:txBody>
          <a:bodyPr wrap="none" lIns="0" tIns="0" rIns="0" bIns="0" rtlCol="0" anchor="t"/>
          <a:lstStyle/>
          <a:p>
            <a:pPr marL="0" indent="0" algn="l">
              <a:lnSpc>
                <a:spcPts val="1024"/>
              </a:lnSpc>
              <a:buNone/>
            </a:pPr>
            <a:r>
              <a:rPr lang="en-US" sz="800" dirty="0">
                <a:solidFill>
                  <a:srgbClr val="93C5FD"/>
                </a:solidFill>
                <a:latin typeface="Liberation Sans Narrow" pitchFamily="34" charset="0"/>
                <a:ea typeface="Liberation Sans Narrow" pitchFamily="34" charset="-122"/>
                <a:cs typeface="Liberation Sans Narrow" pitchFamily="34" charset="-120"/>
              </a:rPr>
              <a:t>0</a:t>
            </a:r>
            <a:endParaRPr lang="en-US" sz="800" dirty="0"/>
          </a:p>
        </p:txBody>
      </p:sp>
      <p:sp>
        <p:nvSpPr>
          <p:cNvPr id="39" name="Text 37"/>
          <p:cNvSpPr/>
          <p:nvPr/>
        </p:nvSpPr>
        <p:spPr>
          <a:xfrm>
            <a:off x="3271838" y="5030539"/>
            <a:ext cx="91440" cy="91440"/>
          </a:xfrm>
          <a:prstGeom prst="rect">
            <a:avLst/>
          </a:prstGeom>
          <a:noFill/>
          <a:ln/>
        </p:spPr>
        <p:txBody>
          <a:bodyPr wrap="none" lIns="0" tIns="0" rIns="0" bIns="0" rtlCol="0" anchor="t"/>
          <a:lstStyle/>
          <a:p>
            <a:pPr marL="0" indent="0" algn="l">
              <a:lnSpc>
                <a:spcPts val="1024"/>
              </a:lnSpc>
              <a:buNone/>
            </a:pPr>
            <a:r>
              <a:rPr lang="en-US" sz="800" dirty="0">
                <a:solidFill>
                  <a:srgbClr val="93C5FD"/>
                </a:solidFill>
                <a:latin typeface="Liberation Sans Narrow" pitchFamily="34" charset="0"/>
                <a:ea typeface="Liberation Sans Narrow" pitchFamily="34" charset="-122"/>
                <a:cs typeface="Liberation Sans Narrow" pitchFamily="34" charset="-120"/>
              </a:rPr>
              <a:t>0</a:t>
            </a:r>
            <a:endParaRPr lang="en-US" sz="800" dirty="0"/>
          </a:p>
        </p:txBody>
      </p:sp>
      <p:sp>
        <p:nvSpPr>
          <p:cNvPr id="40" name="Text 38"/>
          <p:cNvSpPr/>
          <p:nvPr/>
        </p:nvSpPr>
        <p:spPr>
          <a:xfrm>
            <a:off x="1878806" y="5160466"/>
            <a:ext cx="870645" cy="91440"/>
          </a:xfrm>
          <a:prstGeom prst="rect">
            <a:avLst/>
          </a:prstGeom>
          <a:noFill/>
          <a:ln/>
        </p:spPr>
        <p:txBody>
          <a:bodyPr wrap="none" lIns="0" tIns="0" rIns="0" bIns="0" rtlCol="0" anchor="t"/>
          <a:lstStyle/>
          <a:p>
            <a:pPr marL="0" indent="0" algn="l">
              <a:lnSpc>
                <a:spcPts val="1024"/>
              </a:lnSpc>
              <a:buNone/>
            </a:pPr>
            <a:r>
              <a:rPr lang="en-US" sz="800" dirty="0">
                <a:solidFill>
                  <a:srgbClr val="86EFAC"/>
                </a:solidFill>
                <a:latin typeface="Courier New" pitchFamily="34" charset="0"/>
                <a:ea typeface="Courier New" pitchFamily="34" charset="-122"/>
                <a:cs typeface="Courier New" pitchFamily="34" charset="-120"/>
              </a:rPr>
              <a:t>^^^^^^^^^^^^^^^</a:t>
            </a:r>
            <a:endParaRPr lang="en-US" sz="800" dirty="0"/>
          </a:p>
        </p:txBody>
      </p:sp>
      <p:sp>
        <p:nvSpPr>
          <p:cNvPr id="41" name="Text 39"/>
          <p:cNvSpPr/>
          <p:nvPr/>
        </p:nvSpPr>
        <p:spPr>
          <a:xfrm>
            <a:off x="1878806" y="5290393"/>
            <a:ext cx="1805369" cy="91440"/>
          </a:xfrm>
          <a:prstGeom prst="rect">
            <a:avLst/>
          </a:prstGeom>
          <a:noFill/>
          <a:ln/>
        </p:spPr>
        <p:txBody>
          <a:bodyPr wrap="none" lIns="0" tIns="0" rIns="0" bIns="0" rtlCol="0" anchor="t"/>
          <a:lstStyle/>
          <a:p>
            <a:pPr marL="0" indent="0" algn="l">
              <a:lnSpc>
                <a:spcPts val="1024"/>
              </a:lnSpc>
              <a:buNone/>
            </a:pPr>
            <a:r>
              <a:rPr lang="en-US" sz="731" dirty="0">
                <a:solidFill>
                  <a:srgbClr val="86EFAC"/>
                </a:solidFill>
                <a:latin typeface="Liberation Sans Narrow" pitchFamily="34" charset="0"/>
                <a:ea typeface="Liberation Sans Narrow" pitchFamily="34" charset="-122"/>
                <a:cs typeface="Liberation Sans Narrow" pitchFamily="34" charset="-120"/>
              </a:rPr>
              <a:t>IDEMPOTENT — 0 changes on second run</a:t>
            </a:r>
            <a:endParaRPr lang="en-US" sz="731" dirty="0"/>
          </a:p>
        </p:txBody>
      </p:sp>
      <p:sp>
        <p:nvSpPr>
          <p:cNvPr id="42" name="Text 40"/>
          <p:cNvSpPr/>
          <p:nvPr/>
        </p:nvSpPr>
        <p:spPr>
          <a:xfrm>
            <a:off x="357188" y="5259139"/>
            <a:ext cx="8429625" cy="301377"/>
          </a:xfrm>
          <a:prstGeom prst="roundRect">
            <a:avLst>
              <a:gd name="adj" fmla="val 25284"/>
            </a:avLst>
          </a:prstGeom>
          <a:solidFill>
            <a:srgbClr val="FEF2F2"/>
          </a:solidFill>
          <a:ln/>
        </p:spPr>
        <p:txBody>
          <a:bodyPr wrap="square" rtlCol="0" anchor="ctr"/>
          <a:lstStyle/>
          <a:p>
            <a:pPr marL="0" indent="0">
              <a:buNone/>
            </a:pPr>
            <a:endParaRPr lang="en-US" dirty="0"/>
          </a:p>
        </p:txBody>
      </p:sp>
      <p:sp>
        <p:nvSpPr>
          <p:cNvPr id="43" name="Shape 41"/>
          <p:cNvSpPr/>
          <p:nvPr/>
        </p:nvSpPr>
        <p:spPr>
          <a:xfrm>
            <a:off x="378619" y="5259139"/>
            <a:ext cx="0" cy="301377"/>
          </a:xfrm>
          <a:prstGeom prst="line">
            <a:avLst/>
          </a:prstGeom>
          <a:noFill/>
          <a:ln w="42863">
            <a:solidFill>
              <a:srgbClr val="DC2626"/>
            </a:solidFill>
            <a:prstDash val="solid"/>
          </a:ln>
        </p:spPr>
      </p:sp>
      <p:sp>
        <p:nvSpPr>
          <p:cNvPr id="44" name="Text 42"/>
          <p:cNvSpPr/>
          <p:nvPr/>
        </p:nvSpPr>
        <p:spPr>
          <a:xfrm>
            <a:off x="1879811" y="5330577"/>
            <a:ext cx="596503" cy="158502"/>
          </a:xfrm>
          <a:prstGeom prst="roundRect">
            <a:avLst>
              <a:gd name="adj" fmla="val 24038"/>
            </a:avLst>
          </a:prstGeom>
          <a:solidFill>
            <a:srgbClr val="0F172A"/>
          </a:solidFill>
          <a:ln/>
        </p:spPr>
        <p:txBody>
          <a:bodyPr wrap="square" rtlCol="0" anchor="ctr"/>
          <a:lstStyle/>
          <a:p>
            <a:pPr marL="0" indent="0">
              <a:buNone/>
            </a:pPr>
            <a:endParaRPr lang="en-US" dirty="0"/>
          </a:p>
        </p:txBody>
      </p:sp>
      <p:sp>
        <p:nvSpPr>
          <p:cNvPr id="45" name="Text 43"/>
          <p:cNvSpPr/>
          <p:nvPr/>
        </p:nvSpPr>
        <p:spPr>
          <a:xfrm>
            <a:off x="685800" y="5346985"/>
            <a:ext cx="3651796" cy="91440"/>
          </a:xfrm>
          <a:prstGeom prst="rect">
            <a:avLst/>
          </a:prstGeom>
          <a:noFill/>
          <a:ln/>
        </p:spPr>
        <p:txBody>
          <a:bodyPr wrap="square" lIns="114300" tIns="71438" rIns="114300" bIns="71438" rtlCol="0" anchor="t"/>
          <a:lstStyle/>
          <a:p>
            <a:pPr marL="0" indent="0" algn="l">
              <a:lnSpc>
                <a:spcPts val="1103"/>
              </a:lnSpc>
              <a:buNone/>
            </a:pPr>
            <a:r>
              <a:rPr lang="en-US" sz="788" dirty="0">
                <a:solidFill>
                  <a:srgbClr val="0F172A"/>
                </a:solidFill>
                <a:latin typeface="Carlito" pitchFamily="34" charset="0"/>
                <a:ea typeface="Carlito" pitchFamily="34" charset="-122"/>
                <a:cs typeface="Carlito" pitchFamily="34" charset="-120"/>
              </a:rPr>
              <a:t>If your second run reports , your playbook is NOT idempotent. Fix it.</a:t>
            </a:r>
            <a:endParaRPr lang="en-US" sz="788" dirty="0"/>
          </a:p>
        </p:txBody>
      </p:sp>
      <p:sp>
        <p:nvSpPr>
          <p:cNvPr id="46" name="Text 44"/>
          <p:cNvSpPr/>
          <p:nvPr/>
        </p:nvSpPr>
        <p:spPr>
          <a:xfrm>
            <a:off x="514350" y="5359822"/>
            <a:ext cx="100013" cy="91440"/>
          </a:xfrm>
          <a:prstGeom prst="rect">
            <a:avLst/>
          </a:prstGeom>
          <a:noFill/>
          <a:ln/>
        </p:spPr>
        <p:txBody>
          <a:bodyPr wrap="none" lIns="0" tIns="0" rIns="0" bIns="0" rtlCol="0" anchor="ctr"/>
          <a:lstStyle/>
          <a:p>
            <a:pPr marL="0" indent="0" algn="ctr">
              <a:buNone/>
            </a:pPr>
            <a:r>
              <a:rPr lang="en-US" sz="984" dirty="0">
                <a:solidFill>
                  <a:srgbClr val="DC2626"/>
                </a:solidFill>
                <a:latin typeface="Segoe UI Symbol" pitchFamily="34" charset="0"/>
                <a:ea typeface="Segoe UI Symbol" pitchFamily="34" charset="-122"/>
                <a:cs typeface="Segoe UI Symbol" pitchFamily="34" charset="-120"/>
              </a:rPr>
              <a:t>✦</a:t>
            </a:r>
            <a:endParaRPr lang="en-US" sz="984" dirty="0"/>
          </a:p>
        </p:txBody>
      </p:sp>
      <p:sp>
        <p:nvSpPr>
          <p:cNvPr id="47" name="Text 45"/>
          <p:cNvSpPr/>
          <p:nvPr/>
        </p:nvSpPr>
        <p:spPr>
          <a:xfrm>
            <a:off x="1856951" y="5321067"/>
            <a:ext cx="642223" cy="177522"/>
          </a:xfrm>
          <a:prstGeom prst="roundRect">
            <a:avLst>
              <a:gd name="adj" fmla="val 21462"/>
            </a:avLst>
          </a:prstGeom>
          <a:solidFill>
            <a:srgbClr val="0F172A"/>
          </a:solidFill>
          <a:ln/>
        </p:spPr>
        <p:txBody>
          <a:bodyPr wrap="square" rtlCol="0" anchor="ctr"/>
          <a:lstStyle/>
          <a:p>
            <a:pPr marL="0" indent="0">
              <a:buNone/>
            </a:pPr>
            <a:endParaRPr lang="en-US" dirty="0"/>
          </a:p>
        </p:txBody>
      </p:sp>
      <p:sp>
        <p:nvSpPr>
          <p:cNvPr id="48" name="Text 46"/>
          <p:cNvSpPr/>
          <p:nvPr/>
        </p:nvSpPr>
        <p:spPr>
          <a:xfrm>
            <a:off x="1844378" y="5330577"/>
            <a:ext cx="667370" cy="91440"/>
          </a:xfrm>
          <a:prstGeom prst="rect">
            <a:avLst/>
          </a:prstGeom>
          <a:noFill/>
          <a:ln/>
        </p:spPr>
        <p:txBody>
          <a:bodyPr wrap="none" lIns="0" tIns="0" rIns="0" bIns="0" rtlCol="0" anchor="ctr"/>
          <a:lstStyle/>
          <a:p>
            <a:pPr marL="0" indent="0" algn="ctr">
              <a:lnSpc>
                <a:spcPts val="1024"/>
              </a:lnSpc>
              <a:buNone/>
            </a:pPr>
            <a:r>
              <a:rPr lang="en-US" sz="800" dirty="0">
                <a:solidFill>
                  <a:srgbClr val="FBA74A"/>
                </a:solidFill>
                <a:latin typeface="Liberation Sans Narrow" pitchFamily="34" charset="0"/>
                <a:ea typeface="Liberation Sans Narrow" pitchFamily="34" charset="-122"/>
                <a:cs typeface="Liberation Sans Narrow" pitchFamily="34" charset="-120"/>
              </a:rPr>
              <a:t>changed &gt; 0</a:t>
            </a:r>
            <a:endParaRPr lang="en-US" sz="8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00050" y="342900"/>
            <a:ext cx="6594195" cy="305476"/>
          </a:xfrm>
          <a:prstGeom prst="rect">
            <a:avLst/>
          </a:prstGeom>
          <a:noFill/>
          <a:ln/>
        </p:spPr>
        <p:txBody>
          <a:bodyPr wrap="square" lIns="0" tIns="0" rIns="0" bIns="0" rtlCol="0" anchor="t"/>
          <a:lstStyle/>
          <a:p>
            <a:pPr marL="0" indent="0" algn="l">
              <a:lnSpc>
                <a:spcPts val="2228"/>
              </a:lnSpc>
              <a:buNone/>
            </a:pPr>
            <a:r>
              <a:rPr lang="en-US" sz="2025" b="1" dirty="0">
                <a:solidFill>
                  <a:srgbClr val="0F172A"/>
                </a:solidFill>
                <a:latin typeface="Carlito" pitchFamily="34" charset="0"/>
                <a:ea typeface="Carlito" pitchFamily="34" charset="-122"/>
                <a:cs typeface="Carlito" pitchFamily="34" charset="-120"/>
              </a:rPr>
              <a:t>Case Study — Ansible at Scale (Red Hat, IBM, Cisco)</a:t>
            </a:r>
            <a:endParaRPr lang="en-US" sz="2025" dirty="0"/>
          </a:p>
        </p:txBody>
      </p:sp>
      <p:sp>
        <p:nvSpPr>
          <p:cNvPr id="3" name="Text 1"/>
          <p:cNvSpPr/>
          <p:nvPr/>
        </p:nvSpPr>
        <p:spPr>
          <a:xfrm>
            <a:off x="400050" y="697185"/>
            <a:ext cx="571500" cy="42863"/>
          </a:xfrm>
          <a:prstGeom prst="roundRect">
            <a:avLst>
              <a:gd name="adj" fmla="val 66666"/>
            </a:avLst>
          </a:prstGeom>
          <a:solidFill>
            <a:srgbClr val="F97316"/>
          </a:solidFill>
          <a:ln/>
        </p:spPr>
        <p:txBody>
          <a:bodyPr wrap="square" rtlCol="0" anchor="ctr"/>
          <a:lstStyle/>
          <a:p>
            <a:pPr marL="0" indent="0">
              <a:buNone/>
            </a:pPr>
            <a:endParaRPr lang="en-US" dirty="0"/>
          </a:p>
        </p:txBody>
      </p:sp>
      <p:sp>
        <p:nvSpPr>
          <p:cNvPr id="4" name="Text 2"/>
          <p:cNvSpPr/>
          <p:nvPr/>
        </p:nvSpPr>
        <p:spPr>
          <a:xfrm>
            <a:off x="7340114" y="330098"/>
            <a:ext cx="1426696" cy="331333"/>
          </a:xfrm>
          <a:prstGeom prst="roundRect">
            <a:avLst>
              <a:gd name="adj" fmla="val 2871877"/>
            </a:avLst>
          </a:prstGeom>
          <a:solidFill>
            <a:srgbClr val="0F172A"/>
          </a:solidFill>
          <a:ln/>
        </p:spPr>
        <p:txBody>
          <a:bodyPr wrap="square" rtlCol="0" anchor="ctr"/>
          <a:lstStyle/>
          <a:p>
            <a:pPr marL="0" indent="0">
              <a:buNone/>
            </a:pPr>
            <a:endParaRPr lang="en-US" dirty="0"/>
          </a:p>
        </p:txBody>
      </p:sp>
      <p:sp>
        <p:nvSpPr>
          <p:cNvPr id="5" name="Text 3"/>
          <p:cNvSpPr/>
          <p:nvPr/>
        </p:nvSpPr>
        <p:spPr>
          <a:xfrm>
            <a:off x="7338860" y="342900"/>
            <a:ext cx="1429204" cy="305730"/>
          </a:xfrm>
          <a:prstGeom prst="rect">
            <a:avLst/>
          </a:prstGeom>
          <a:noFill/>
          <a:ln/>
        </p:spPr>
        <p:txBody>
          <a:bodyPr wrap="none" lIns="0" tIns="0" rIns="0" bIns="0" rtlCol="0" anchor="ctr"/>
          <a:lstStyle/>
          <a:p>
            <a:pPr marL="0" indent="0" algn="ctr">
              <a:lnSpc>
                <a:spcPts val="1733"/>
              </a:lnSpc>
              <a:buNone/>
            </a:pPr>
            <a:r>
              <a:rPr lang="en-US" sz="1238" b="1" kern="0" spc="28" dirty="0">
                <a:solidFill>
                  <a:srgbClr val="FFFFFF"/>
                </a:solidFill>
                <a:latin typeface="Liberation Sans Narrow" pitchFamily="34" charset="0"/>
                <a:ea typeface="Liberation Sans Narrow" pitchFamily="34" charset="-122"/>
                <a:cs typeface="Liberation Sans Narrow" pitchFamily="34" charset="-120"/>
              </a:rPr>
              <a:t>02 · Case Study</a:t>
            </a:r>
            <a:endParaRPr lang="en-US" sz="1238" dirty="0"/>
          </a:p>
        </p:txBody>
      </p:sp>
      <p:sp>
        <p:nvSpPr>
          <p:cNvPr id="6" name="Text 4"/>
          <p:cNvSpPr/>
          <p:nvPr/>
        </p:nvSpPr>
        <p:spPr>
          <a:xfrm>
            <a:off x="403622" y="857920"/>
            <a:ext cx="3386138" cy="3939108"/>
          </a:xfrm>
          <a:prstGeom prst="roundRect">
            <a:avLst>
              <a:gd name="adj" fmla="val 3938"/>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7" name="Text 5"/>
          <p:cNvSpPr/>
          <p:nvPr/>
        </p:nvSpPr>
        <p:spPr>
          <a:xfrm>
            <a:off x="735806" y="997223"/>
            <a:ext cx="1484747" cy="169736"/>
          </a:xfrm>
          <a:prstGeom prst="rect">
            <a:avLst/>
          </a:prstGeom>
          <a:noFill/>
          <a:ln/>
        </p:spPr>
        <p:txBody>
          <a:bodyPr wrap="none" lIns="0" tIns="0" rIns="0" bIns="0" rtlCol="0" anchor="t"/>
          <a:lstStyle/>
          <a:p>
            <a:pPr marL="0" indent="0" algn="l">
              <a:lnSpc>
                <a:spcPts val="1418"/>
              </a:lnSpc>
              <a:buNone/>
            </a:pPr>
            <a:r>
              <a:rPr lang="en-US" sz="1013" b="1" kern="0" spc="28" dirty="0">
                <a:solidFill>
                  <a:srgbClr val="C2410C"/>
                </a:solidFill>
                <a:latin typeface="Carlito" pitchFamily="34" charset="0"/>
                <a:ea typeface="Carlito" pitchFamily="34" charset="-122"/>
                <a:cs typeface="Carlito" pitchFamily="34" charset="-120"/>
              </a:rPr>
              <a:t>ENTERPRISE FACTS</a:t>
            </a:r>
            <a:endParaRPr lang="en-US" sz="1013" dirty="0"/>
          </a:p>
        </p:txBody>
      </p:sp>
      <p:sp>
        <p:nvSpPr>
          <p:cNvPr id="8" name="Text 6"/>
          <p:cNvSpPr/>
          <p:nvPr/>
        </p:nvSpPr>
        <p:spPr>
          <a:xfrm>
            <a:off x="550069" y="1015752"/>
            <a:ext cx="128588" cy="128588"/>
          </a:xfrm>
          <a:prstGeom prst="rect">
            <a:avLst/>
          </a:prstGeom>
          <a:noFill/>
          <a:ln/>
        </p:spPr>
        <p:txBody>
          <a:bodyPr wrap="none" lIns="0" tIns="0" rIns="0" bIns="0" rtlCol="0" anchor="ctr"/>
          <a:lstStyle/>
          <a:p>
            <a:pPr marL="0" indent="0" algn="ctr">
              <a:buNone/>
            </a:pPr>
            <a:r>
              <a:rPr lang="en-US" sz="1266" dirty="0">
                <a:solidFill>
                  <a:srgbClr val="F97316"/>
                </a:solidFill>
                <a:latin typeface="Segoe UI Symbol" pitchFamily="34" charset="0"/>
                <a:ea typeface="Segoe UI Symbol" pitchFamily="34" charset="-122"/>
                <a:cs typeface="Segoe UI Symbol" pitchFamily="34" charset="-120"/>
              </a:rPr>
              <a:t>▦</a:t>
            </a:r>
            <a:endParaRPr lang="en-US" sz="1266" dirty="0"/>
          </a:p>
        </p:txBody>
      </p:sp>
      <p:sp>
        <p:nvSpPr>
          <p:cNvPr id="9" name="Shape 7"/>
          <p:cNvSpPr/>
          <p:nvPr/>
        </p:nvSpPr>
        <p:spPr>
          <a:xfrm>
            <a:off x="550069" y="1622859"/>
            <a:ext cx="3093244" cy="0"/>
          </a:xfrm>
          <a:prstGeom prst="line">
            <a:avLst/>
          </a:prstGeom>
          <a:noFill/>
          <a:ln w="7144">
            <a:solidFill>
              <a:srgbClr val="CBD5E1"/>
            </a:solidFill>
            <a:prstDash val="dash"/>
          </a:ln>
        </p:spPr>
      </p:sp>
      <p:sp>
        <p:nvSpPr>
          <p:cNvPr id="10" name="Text 8"/>
          <p:cNvSpPr/>
          <p:nvPr/>
        </p:nvSpPr>
        <p:spPr>
          <a:xfrm>
            <a:off x="550069" y="1327175"/>
            <a:ext cx="157163" cy="157163"/>
          </a:xfrm>
          <a:prstGeom prst="rect">
            <a:avLst/>
          </a:prstGeom>
          <a:noFill/>
          <a:ln/>
        </p:spPr>
        <p:txBody>
          <a:bodyPr wrap="none" lIns="0" tIns="0" rIns="0" bIns="0" rtlCol="0" anchor="ctr"/>
          <a:lstStyle/>
          <a:p>
            <a:pPr marL="0" indent="0" algn="ctr">
              <a:buNone/>
            </a:pPr>
            <a:r>
              <a:rPr lang="en-US" sz="1547" dirty="0">
                <a:solidFill>
                  <a:srgbClr val="F97316"/>
                </a:solidFill>
                <a:latin typeface="Segoe UI Symbol" pitchFamily="34" charset="0"/>
                <a:ea typeface="Segoe UI Symbol" pitchFamily="34" charset="-122"/>
                <a:cs typeface="Segoe UI Symbol" pitchFamily="34" charset="-120"/>
              </a:rPr>
              <a:t>♟</a:t>
            </a:r>
            <a:endParaRPr lang="en-US" sz="1547" dirty="0"/>
          </a:p>
        </p:txBody>
      </p:sp>
      <p:sp>
        <p:nvSpPr>
          <p:cNvPr id="11" name="Text 9"/>
          <p:cNvSpPr/>
          <p:nvPr/>
        </p:nvSpPr>
        <p:spPr>
          <a:xfrm>
            <a:off x="778669" y="1312887"/>
            <a:ext cx="2305481" cy="91440"/>
          </a:xfrm>
          <a:prstGeom prst="rect">
            <a:avLst/>
          </a:prstGeom>
          <a:noFill/>
          <a:ln/>
        </p:spPr>
        <p:txBody>
          <a:bodyPr wrap="none" lIns="0" tIns="0" rIns="0" bIns="0" rtlCol="0" anchor="t">
            <a:normAutofit fontScale="25000" lnSpcReduction="20000"/>
          </a:bodyPr>
          <a:lstStyle/>
          <a:p>
            <a:pPr marL="0" indent="0" algn="l">
              <a:lnSpc>
                <a:spcPts val="866"/>
              </a:lnSpc>
              <a:buNone/>
            </a:pPr>
            <a:r>
              <a:rPr lang="en-US" sz="800" b="1" kern="0" spc="28" dirty="0">
                <a:solidFill>
                  <a:srgbClr val="64748B"/>
                </a:solidFill>
                <a:latin typeface="Courier New" pitchFamily="34" charset="0"/>
                <a:ea typeface="Courier New" pitchFamily="34" charset="-122"/>
                <a:cs typeface="Courier New" pitchFamily="34" charset="-120"/>
              </a:rPr>
              <a:t>ADOPTERS</a:t>
            </a:r>
            <a:endParaRPr lang="en-US" sz="800" dirty="0"/>
          </a:p>
        </p:txBody>
      </p:sp>
      <p:sp>
        <p:nvSpPr>
          <p:cNvPr id="12" name="Text 10"/>
          <p:cNvSpPr/>
          <p:nvPr/>
        </p:nvSpPr>
        <p:spPr>
          <a:xfrm>
            <a:off x="778669" y="1422834"/>
            <a:ext cx="1893250" cy="139303"/>
          </a:xfrm>
          <a:prstGeom prst="rect">
            <a:avLst/>
          </a:prstGeom>
          <a:noFill/>
          <a:ln/>
        </p:spPr>
        <p:txBody>
          <a:bodyPr wrap="square" lIns="0" tIns="0" rIns="0" bIns="0" rtlCol="0" anchor="t"/>
          <a:lstStyle/>
          <a:p>
            <a:pPr marL="0" indent="0" algn="l">
              <a:lnSpc>
                <a:spcPts val="1097"/>
              </a:lnSpc>
              <a:buNone/>
            </a:pPr>
            <a:r>
              <a:rPr lang="en-US" sz="844" dirty="0">
                <a:solidFill>
                  <a:srgbClr val="0F172A"/>
                </a:solidFill>
                <a:latin typeface="Carlito" pitchFamily="34" charset="0"/>
                <a:ea typeface="Carlito" pitchFamily="34" charset="-122"/>
                <a:cs typeface="Carlito" pitchFamily="34" charset="-120"/>
              </a:rPr>
              <a:t>Red Hat, IBM, Cisco, NASA, Twitter/X</a:t>
            </a:r>
            <a:endParaRPr lang="en-US" sz="844" dirty="0"/>
          </a:p>
        </p:txBody>
      </p:sp>
      <p:sp>
        <p:nvSpPr>
          <p:cNvPr id="13" name="Shape 11"/>
          <p:cNvSpPr/>
          <p:nvPr/>
        </p:nvSpPr>
        <p:spPr>
          <a:xfrm>
            <a:off x="550069" y="1993553"/>
            <a:ext cx="3093244" cy="0"/>
          </a:xfrm>
          <a:prstGeom prst="line">
            <a:avLst/>
          </a:prstGeom>
          <a:noFill/>
          <a:ln w="7144">
            <a:solidFill>
              <a:srgbClr val="CBD5E1"/>
            </a:solidFill>
            <a:prstDash val="dash"/>
          </a:ln>
        </p:spPr>
      </p:sp>
      <p:sp>
        <p:nvSpPr>
          <p:cNvPr id="14" name="Text 12"/>
          <p:cNvSpPr/>
          <p:nvPr/>
        </p:nvSpPr>
        <p:spPr>
          <a:xfrm>
            <a:off x="550069" y="1697868"/>
            <a:ext cx="157163" cy="157163"/>
          </a:xfrm>
          <a:prstGeom prst="rect">
            <a:avLst/>
          </a:prstGeom>
          <a:noFill/>
          <a:ln/>
        </p:spPr>
        <p:txBody>
          <a:bodyPr wrap="none" lIns="0" tIns="0" rIns="0" bIns="0" rtlCol="0" anchor="ctr"/>
          <a:lstStyle/>
          <a:p>
            <a:pPr marL="0" indent="0" algn="ctr">
              <a:buNone/>
            </a:pPr>
            <a:r>
              <a:rPr lang="en-US" sz="1547" dirty="0">
                <a:solidFill>
                  <a:srgbClr val="F97316"/>
                </a:solidFill>
                <a:latin typeface="Segoe UI Symbol" pitchFamily="34" charset="0"/>
                <a:ea typeface="Segoe UI Symbol" pitchFamily="34" charset="-122"/>
                <a:cs typeface="Segoe UI Symbol" pitchFamily="34" charset="-120"/>
              </a:rPr>
              <a:t>▦</a:t>
            </a:r>
            <a:endParaRPr lang="en-US" sz="1547" dirty="0"/>
          </a:p>
        </p:txBody>
      </p:sp>
      <p:sp>
        <p:nvSpPr>
          <p:cNvPr id="15" name="Text 13"/>
          <p:cNvSpPr/>
          <p:nvPr/>
        </p:nvSpPr>
        <p:spPr>
          <a:xfrm>
            <a:off x="778669" y="1683581"/>
            <a:ext cx="2864644" cy="91440"/>
          </a:xfrm>
          <a:prstGeom prst="rect">
            <a:avLst/>
          </a:prstGeom>
          <a:noFill/>
          <a:ln/>
        </p:spPr>
        <p:txBody>
          <a:bodyPr wrap="none" lIns="0" tIns="0" rIns="0" bIns="0" rtlCol="0" anchor="t">
            <a:normAutofit fontScale="25000" lnSpcReduction="20000"/>
          </a:bodyPr>
          <a:lstStyle/>
          <a:p>
            <a:pPr marL="0" indent="0" algn="l">
              <a:lnSpc>
                <a:spcPts val="866"/>
              </a:lnSpc>
              <a:buNone/>
            </a:pPr>
            <a:r>
              <a:rPr lang="en-US" sz="800" b="1" kern="0" spc="28" dirty="0">
                <a:solidFill>
                  <a:srgbClr val="64748B"/>
                </a:solidFill>
                <a:latin typeface="Courier New" pitchFamily="34" charset="0"/>
                <a:ea typeface="Courier New" pitchFamily="34" charset="-122"/>
                <a:cs typeface="Courier New" pitchFamily="34" charset="-120"/>
              </a:rPr>
              <a:t>SCALE</a:t>
            </a:r>
            <a:endParaRPr lang="en-US" sz="800" dirty="0"/>
          </a:p>
        </p:txBody>
      </p:sp>
      <p:sp>
        <p:nvSpPr>
          <p:cNvPr id="16" name="Text 14"/>
          <p:cNvSpPr/>
          <p:nvPr/>
        </p:nvSpPr>
        <p:spPr>
          <a:xfrm>
            <a:off x="778669" y="1793528"/>
            <a:ext cx="2651671" cy="139303"/>
          </a:xfrm>
          <a:prstGeom prst="rect">
            <a:avLst/>
          </a:prstGeom>
          <a:noFill/>
          <a:ln/>
        </p:spPr>
        <p:txBody>
          <a:bodyPr wrap="square" lIns="0" tIns="0" rIns="0" bIns="0" rtlCol="0" anchor="t"/>
          <a:lstStyle/>
          <a:p>
            <a:pPr marL="0" indent="0" algn="l">
              <a:lnSpc>
                <a:spcPts val="1097"/>
              </a:lnSpc>
              <a:buNone/>
            </a:pPr>
            <a:r>
              <a:rPr lang="en-US" sz="844" b="1" dirty="0">
                <a:solidFill>
                  <a:srgbClr val="C2410C"/>
                </a:solidFill>
                <a:latin typeface="Carlito" pitchFamily="34" charset="0"/>
                <a:ea typeface="Carlito" pitchFamily="34" charset="-122"/>
                <a:cs typeface="Carlito" pitchFamily="34" charset="-120"/>
              </a:rPr>
              <a:t>Tens of thousands</a:t>
            </a:r>
            <a:r>
              <a:rPr lang="en-US" sz="844" dirty="0">
                <a:solidFill>
                  <a:srgbClr val="0F172A"/>
                </a:solidFill>
                <a:latin typeface="Carlito" pitchFamily="34" charset="0"/>
                <a:ea typeface="Carlito" pitchFamily="34" charset="-122"/>
                <a:cs typeface="Carlito" pitchFamily="34" charset="-120"/>
              </a:rPr>
              <a:t> of hosts managed per Ansible cluster</a:t>
            </a:r>
            <a:endParaRPr lang="en-US" sz="844" dirty="0"/>
          </a:p>
        </p:txBody>
      </p:sp>
      <p:sp>
        <p:nvSpPr>
          <p:cNvPr id="17" name="Shape 15"/>
          <p:cNvSpPr/>
          <p:nvPr/>
        </p:nvSpPr>
        <p:spPr>
          <a:xfrm>
            <a:off x="550069" y="2364246"/>
            <a:ext cx="3093244" cy="0"/>
          </a:xfrm>
          <a:prstGeom prst="line">
            <a:avLst/>
          </a:prstGeom>
          <a:noFill/>
          <a:ln w="7144">
            <a:solidFill>
              <a:srgbClr val="CBD5E1"/>
            </a:solidFill>
            <a:prstDash val="dash"/>
          </a:ln>
        </p:spPr>
      </p:sp>
      <p:sp>
        <p:nvSpPr>
          <p:cNvPr id="18" name="Text 16"/>
          <p:cNvSpPr/>
          <p:nvPr/>
        </p:nvSpPr>
        <p:spPr>
          <a:xfrm>
            <a:off x="550069" y="2068562"/>
            <a:ext cx="157163" cy="157163"/>
          </a:xfrm>
          <a:prstGeom prst="rect">
            <a:avLst/>
          </a:prstGeom>
          <a:noFill/>
          <a:ln/>
        </p:spPr>
        <p:txBody>
          <a:bodyPr wrap="none" lIns="0" tIns="0" rIns="0" bIns="0" rtlCol="0" anchor="ctr"/>
          <a:lstStyle/>
          <a:p>
            <a:pPr marL="0" indent="0" algn="ctr">
              <a:buNone/>
            </a:pPr>
            <a:r>
              <a:rPr lang="en-US" sz="1547" dirty="0">
                <a:solidFill>
                  <a:srgbClr val="F97316"/>
                </a:solidFill>
                <a:latin typeface="Segoe UI Symbol" pitchFamily="34" charset="0"/>
                <a:ea typeface="Segoe UI Symbol" pitchFamily="34" charset="-122"/>
                <a:cs typeface="Segoe UI Symbol" pitchFamily="34" charset="-120"/>
              </a:rPr>
              <a:t>✦</a:t>
            </a:r>
            <a:endParaRPr lang="en-US" sz="1547" dirty="0"/>
          </a:p>
        </p:txBody>
      </p:sp>
      <p:sp>
        <p:nvSpPr>
          <p:cNvPr id="19" name="Text 17"/>
          <p:cNvSpPr/>
          <p:nvPr/>
        </p:nvSpPr>
        <p:spPr>
          <a:xfrm>
            <a:off x="778669" y="2054275"/>
            <a:ext cx="2336162" cy="91440"/>
          </a:xfrm>
          <a:prstGeom prst="rect">
            <a:avLst/>
          </a:prstGeom>
          <a:noFill/>
          <a:ln/>
        </p:spPr>
        <p:txBody>
          <a:bodyPr wrap="none" lIns="0" tIns="0" rIns="0" bIns="0" rtlCol="0" anchor="t">
            <a:normAutofit fontScale="25000" lnSpcReduction="20000"/>
          </a:bodyPr>
          <a:lstStyle/>
          <a:p>
            <a:pPr marL="0" indent="0" algn="l">
              <a:lnSpc>
                <a:spcPts val="866"/>
              </a:lnSpc>
              <a:buNone/>
            </a:pPr>
            <a:r>
              <a:rPr lang="en-US" sz="800" b="1" kern="0" spc="28" dirty="0">
                <a:solidFill>
                  <a:srgbClr val="64748B"/>
                </a:solidFill>
                <a:latin typeface="Courier New" pitchFamily="34" charset="0"/>
                <a:ea typeface="Courier New" pitchFamily="34" charset="-122"/>
                <a:cs typeface="Courier New" pitchFamily="34" charset="-120"/>
              </a:rPr>
              <a:t>TOOLING</a:t>
            </a:r>
            <a:endParaRPr lang="en-US" sz="800" dirty="0"/>
          </a:p>
        </p:txBody>
      </p:sp>
      <p:sp>
        <p:nvSpPr>
          <p:cNvPr id="20" name="Text 18"/>
          <p:cNvSpPr/>
          <p:nvPr/>
        </p:nvSpPr>
        <p:spPr>
          <a:xfrm>
            <a:off x="778669" y="2164221"/>
            <a:ext cx="1918445" cy="139303"/>
          </a:xfrm>
          <a:prstGeom prst="rect">
            <a:avLst/>
          </a:prstGeom>
          <a:noFill/>
          <a:ln/>
        </p:spPr>
        <p:txBody>
          <a:bodyPr wrap="square" lIns="0" tIns="0" rIns="0" bIns="0" rtlCol="0" anchor="t"/>
          <a:lstStyle/>
          <a:p>
            <a:pPr marL="0" indent="0" algn="l">
              <a:lnSpc>
                <a:spcPts val="1097"/>
              </a:lnSpc>
              <a:buNone/>
            </a:pPr>
            <a:r>
              <a:rPr lang="en-US" sz="844" dirty="0">
                <a:solidFill>
                  <a:srgbClr val="0F172A"/>
                </a:solidFill>
                <a:latin typeface="Carlito" pitchFamily="34" charset="0"/>
                <a:ea typeface="Carlito" pitchFamily="34" charset="-122"/>
                <a:cs typeface="Carlito" pitchFamily="34" charset="-120"/>
              </a:rPr>
              <a:t>Ansible Tower / AWX for orchestration</a:t>
            </a:r>
            <a:endParaRPr lang="en-US" sz="844" dirty="0"/>
          </a:p>
        </p:txBody>
      </p:sp>
      <p:sp>
        <p:nvSpPr>
          <p:cNvPr id="21" name="Shape 19"/>
          <p:cNvSpPr/>
          <p:nvPr/>
        </p:nvSpPr>
        <p:spPr>
          <a:xfrm>
            <a:off x="550069" y="2734940"/>
            <a:ext cx="3093244" cy="0"/>
          </a:xfrm>
          <a:prstGeom prst="line">
            <a:avLst/>
          </a:prstGeom>
          <a:noFill/>
          <a:ln w="7144">
            <a:solidFill>
              <a:srgbClr val="CBD5E1"/>
            </a:solidFill>
            <a:prstDash val="dash"/>
          </a:ln>
        </p:spPr>
      </p:sp>
      <p:sp>
        <p:nvSpPr>
          <p:cNvPr id="22" name="Text 20"/>
          <p:cNvSpPr/>
          <p:nvPr/>
        </p:nvSpPr>
        <p:spPr>
          <a:xfrm>
            <a:off x="550069" y="2439256"/>
            <a:ext cx="157163" cy="157163"/>
          </a:xfrm>
          <a:prstGeom prst="rect">
            <a:avLst/>
          </a:prstGeom>
          <a:noFill/>
          <a:ln/>
        </p:spPr>
        <p:txBody>
          <a:bodyPr wrap="none" lIns="0" tIns="0" rIns="0" bIns="0" rtlCol="0" anchor="ctr"/>
          <a:lstStyle/>
          <a:p>
            <a:pPr marL="0" indent="0" algn="ctr">
              <a:buNone/>
            </a:pPr>
            <a:r>
              <a:rPr lang="en-US" sz="1547" dirty="0">
                <a:solidFill>
                  <a:srgbClr val="F97316"/>
                </a:solidFill>
                <a:latin typeface="Segoe UI Symbol" pitchFamily="34" charset="0"/>
                <a:ea typeface="Segoe UI Symbol" pitchFamily="34" charset="-122"/>
                <a:cs typeface="Segoe UI Symbol" pitchFamily="34" charset="-120"/>
              </a:rPr>
              <a:t>⚒</a:t>
            </a:r>
            <a:endParaRPr lang="en-US" sz="1547" dirty="0"/>
          </a:p>
        </p:txBody>
      </p:sp>
      <p:sp>
        <p:nvSpPr>
          <p:cNvPr id="23" name="Text 21"/>
          <p:cNvSpPr/>
          <p:nvPr/>
        </p:nvSpPr>
        <p:spPr>
          <a:xfrm>
            <a:off x="778669" y="2424968"/>
            <a:ext cx="2597905" cy="91440"/>
          </a:xfrm>
          <a:prstGeom prst="rect">
            <a:avLst/>
          </a:prstGeom>
          <a:noFill/>
          <a:ln/>
        </p:spPr>
        <p:txBody>
          <a:bodyPr wrap="none" lIns="0" tIns="0" rIns="0" bIns="0" rtlCol="0" anchor="t">
            <a:normAutofit fontScale="25000" lnSpcReduction="20000"/>
          </a:bodyPr>
          <a:lstStyle/>
          <a:p>
            <a:pPr marL="0" indent="0" algn="l">
              <a:lnSpc>
                <a:spcPts val="866"/>
              </a:lnSpc>
              <a:buNone/>
            </a:pPr>
            <a:r>
              <a:rPr lang="en-US" sz="800" b="1" kern="0" spc="28" dirty="0">
                <a:solidFill>
                  <a:srgbClr val="64748B"/>
                </a:solidFill>
                <a:latin typeface="Courier New" pitchFamily="34" charset="0"/>
                <a:ea typeface="Courier New" pitchFamily="34" charset="-122"/>
                <a:cs typeface="Courier New" pitchFamily="34" charset="-120"/>
              </a:rPr>
              <a:t>APPROACH</a:t>
            </a:r>
            <a:endParaRPr lang="en-US" sz="800" dirty="0"/>
          </a:p>
        </p:txBody>
      </p:sp>
      <p:sp>
        <p:nvSpPr>
          <p:cNvPr id="24" name="Text 22"/>
          <p:cNvSpPr/>
          <p:nvPr/>
        </p:nvSpPr>
        <p:spPr>
          <a:xfrm>
            <a:off x="778669" y="2534915"/>
            <a:ext cx="2133387" cy="139303"/>
          </a:xfrm>
          <a:prstGeom prst="rect">
            <a:avLst/>
          </a:prstGeom>
          <a:noFill/>
          <a:ln/>
        </p:spPr>
        <p:txBody>
          <a:bodyPr wrap="square" lIns="0" tIns="0" rIns="0" bIns="0" rtlCol="0" anchor="t"/>
          <a:lstStyle/>
          <a:p>
            <a:pPr marL="0" indent="0" algn="l">
              <a:lnSpc>
                <a:spcPts val="1097"/>
              </a:lnSpc>
              <a:buNone/>
            </a:pPr>
            <a:r>
              <a:rPr lang="en-US" sz="844" dirty="0">
                <a:solidFill>
                  <a:srgbClr val="0F172A"/>
                </a:solidFill>
                <a:latin typeface="Carlito" pitchFamily="34" charset="0"/>
                <a:ea typeface="Carlito" pitchFamily="34" charset="-122"/>
                <a:cs typeface="Carlito" pitchFamily="34" charset="-120"/>
              </a:rPr>
              <a:t>Roles + dynamic inventory + CI integration</a:t>
            </a:r>
            <a:endParaRPr lang="en-US" sz="844" dirty="0"/>
          </a:p>
        </p:txBody>
      </p:sp>
      <p:sp>
        <p:nvSpPr>
          <p:cNvPr id="25" name="Text 23"/>
          <p:cNvSpPr/>
          <p:nvPr/>
        </p:nvSpPr>
        <p:spPr>
          <a:xfrm>
            <a:off x="550069" y="2809949"/>
            <a:ext cx="157163" cy="157163"/>
          </a:xfrm>
          <a:prstGeom prst="rect">
            <a:avLst/>
          </a:prstGeom>
          <a:noFill/>
          <a:ln/>
        </p:spPr>
        <p:txBody>
          <a:bodyPr wrap="none" lIns="0" tIns="0" rIns="0" bIns="0" rtlCol="0" anchor="ctr"/>
          <a:lstStyle/>
          <a:p>
            <a:pPr marL="0" indent="0" algn="ctr">
              <a:buNone/>
            </a:pPr>
            <a:r>
              <a:rPr lang="en-US" sz="1547" dirty="0">
                <a:solidFill>
                  <a:srgbClr val="F97316"/>
                </a:solidFill>
                <a:latin typeface="Segoe UI Symbol" pitchFamily="34" charset="0"/>
                <a:ea typeface="Segoe UI Symbol" pitchFamily="34" charset="-122"/>
                <a:cs typeface="Segoe UI Symbol" pitchFamily="34" charset="-120"/>
              </a:rPr>
              <a:t>↗</a:t>
            </a:r>
            <a:endParaRPr lang="en-US" sz="1547" dirty="0"/>
          </a:p>
        </p:txBody>
      </p:sp>
      <p:sp>
        <p:nvSpPr>
          <p:cNvPr id="26" name="Text 24"/>
          <p:cNvSpPr/>
          <p:nvPr/>
        </p:nvSpPr>
        <p:spPr>
          <a:xfrm>
            <a:off x="778669" y="2795662"/>
            <a:ext cx="2774945" cy="91440"/>
          </a:xfrm>
          <a:prstGeom prst="rect">
            <a:avLst/>
          </a:prstGeom>
          <a:noFill/>
          <a:ln/>
        </p:spPr>
        <p:txBody>
          <a:bodyPr wrap="none" lIns="0" tIns="0" rIns="0" bIns="0" rtlCol="0" anchor="t">
            <a:normAutofit fontScale="25000" lnSpcReduction="20000"/>
          </a:bodyPr>
          <a:lstStyle/>
          <a:p>
            <a:pPr marL="0" indent="0" algn="l">
              <a:lnSpc>
                <a:spcPts val="866"/>
              </a:lnSpc>
              <a:buNone/>
            </a:pPr>
            <a:r>
              <a:rPr lang="en-US" sz="800" b="1" kern="0" spc="28" dirty="0">
                <a:solidFill>
                  <a:srgbClr val="64748B"/>
                </a:solidFill>
                <a:latin typeface="Courier New" pitchFamily="34" charset="0"/>
                <a:ea typeface="Courier New" pitchFamily="34" charset="-122"/>
                <a:cs typeface="Courier New" pitchFamily="34" charset="-120"/>
              </a:rPr>
              <a:t>RESULT</a:t>
            </a:r>
            <a:endParaRPr lang="en-US" sz="800" dirty="0"/>
          </a:p>
        </p:txBody>
      </p:sp>
      <p:sp>
        <p:nvSpPr>
          <p:cNvPr id="27" name="Text 25"/>
          <p:cNvSpPr/>
          <p:nvPr/>
        </p:nvSpPr>
        <p:spPr>
          <a:xfrm>
            <a:off x="778669" y="2905609"/>
            <a:ext cx="2278771" cy="150447"/>
          </a:xfrm>
          <a:prstGeom prst="rect">
            <a:avLst/>
          </a:prstGeom>
          <a:noFill/>
          <a:ln/>
        </p:spPr>
        <p:txBody>
          <a:bodyPr wrap="square" lIns="0" tIns="0" rIns="0" bIns="0" rtlCol="0" anchor="t"/>
          <a:lstStyle/>
          <a:p>
            <a:pPr marL="0" indent="0" algn="l">
              <a:lnSpc>
                <a:spcPts val="1097"/>
              </a:lnSpc>
              <a:buNone/>
            </a:pPr>
            <a:r>
              <a:rPr lang="en-US" sz="844" b="1" dirty="0">
                <a:solidFill>
                  <a:srgbClr val="C2410C"/>
                </a:solidFill>
                <a:latin typeface="Liberation Sans Narrow" pitchFamily="34" charset="0"/>
                <a:ea typeface="Liberation Sans Narrow" pitchFamily="34" charset="-122"/>
                <a:cs typeface="Liberation Sans Narrow" pitchFamily="34" charset="-120"/>
              </a:rPr>
              <a:t>90% reduction</a:t>
            </a:r>
            <a:r>
              <a:rPr lang="en-US" sz="844" dirty="0">
                <a:solidFill>
                  <a:srgbClr val="0F172A"/>
                </a:solidFill>
                <a:latin typeface="Carlito" pitchFamily="34" charset="0"/>
                <a:ea typeface="Carlito" pitchFamily="34" charset="-122"/>
                <a:cs typeface="Carlito" pitchFamily="34" charset="-120"/>
              </a:rPr>
              <a:t> in time-to-provision new hosts</a:t>
            </a:r>
            <a:endParaRPr lang="en-US" sz="844" dirty="0"/>
          </a:p>
        </p:txBody>
      </p:sp>
      <p:sp>
        <p:nvSpPr>
          <p:cNvPr id="28" name="Text 26"/>
          <p:cNvSpPr/>
          <p:nvPr/>
        </p:nvSpPr>
        <p:spPr>
          <a:xfrm>
            <a:off x="3993356" y="854348"/>
            <a:ext cx="5130641" cy="280763"/>
          </a:xfrm>
          <a:prstGeom prst="rect">
            <a:avLst/>
          </a:prstGeom>
          <a:noFill/>
          <a:ln/>
        </p:spPr>
        <p:txBody>
          <a:bodyPr wrap="square" lIns="0" tIns="0" rIns="0" bIns="0" rtlCol="0" anchor="t"/>
          <a:lstStyle/>
          <a:p>
            <a:pPr marL="0" indent="0" algn="l">
              <a:lnSpc>
                <a:spcPts val="2047"/>
              </a:lnSpc>
              <a:buNone/>
            </a:pPr>
            <a:r>
              <a:rPr lang="en-US" sz="1463" b="1" dirty="0">
                <a:solidFill>
                  <a:srgbClr val="0F172A"/>
                </a:solidFill>
                <a:latin typeface="Carlito" pitchFamily="34" charset="0"/>
                <a:ea typeface="Carlito" pitchFamily="34" charset="-122"/>
                <a:cs typeface="Carlito" pitchFamily="34" charset="-120"/>
              </a:rPr>
              <a:t>How Enterprises Use Ansible at Scale</a:t>
            </a:r>
            <a:endParaRPr lang="en-US" sz="1463" dirty="0"/>
          </a:p>
        </p:txBody>
      </p:sp>
      <p:sp>
        <p:nvSpPr>
          <p:cNvPr id="29" name="Text 27"/>
          <p:cNvSpPr/>
          <p:nvPr/>
        </p:nvSpPr>
        <p:spPr>
          <a:xfrm>
            <a:off x="3993356" y="1185751"/>
            <a:ext cx="4750594" cy="173593"/>
          </a:xfrm>
          <a:prstGeom prst="rect">
            <a:avLst/>
          </a:prstGeom>
          <a:noFill/>
          <a:ln/>
        </p:spPr>
        <p:txBody>
          <a:bodyPr wrap="square" lIns="0" tIns="0" rIns="0" bIns="0" rtlCol="0" anchor="t"/>
          <a:lstStyle/>
          <a:p>
            <a:pPr marL="0" indent="0" algn="l">
              <a:lnSpc>
                <a:spcPts val="1266"/>
              </a:lnSpc>
              <a:buNone/>
            </a:pPr>
            <a:r>
              <a:rPr lang="en-US" sz="844" dirty="0">
                <a:solidFill>
                  <a:srgbClr val="334155"/>
                </a:solidFill>
                <a:latin typeface="Carlito" pitchFamily="34" charset="0"/>
                <a:ea typeface="Carlito" pitchFamily="34" charset="-122"/>
                <a:cs typeface="Carlito" pitchFamily="34" charset="-120"/>
              </a:rPr>
              <a:t>Large enterprises run Ansible against fleets of </a:t>
            </a:r>
            <a:r>
              <a:rPr lang="en-US" sz="844" b="1" dirty="0">
                <a:solidFill>
                  <a:srgbClr val="0F172A"/>
                </a:solidFill>
                <a:latin typeface="Liberation Sans Narrow" pitchFamily="34" charset="0"/>
                <a:ea typeface="Liberation Sans Narrow" pitchFamily="34" charset="-122"/>
                <a:cs typeface="Liberation Sans Narrow" pitchFamily="34" charset="-120"/>
              </a:rPr>
              <a:t>10,000+ hosts</a:t>
            </a:r>
            <a:r>
              <a:rPr lang="en-US" sz="844" dirty="0">
                <a:solidFill>
                  <a:srgbClr val="334155"/>
                </a:solidFill>
                <a:latin typeface="Carlito" pitchFamily="34" charset="0"/>
                <a:ea typeface="Carlito" pitchFamily="34" charset="-122"/>
                <a:cs typeface="Carlito" pitchFamily="34" charset="-120"/>
              </a:rPr>
              <a:t>. The pattern is consistent:</a:t>
            </a:r>
            <a:endParaRPr lang="en-US" sz="844" dirty="0"/>
          </a:p>
        </p:txBody>
      </p:sp>
      <p:sp>
        <p:nvSpPr>
          <p:cNvPr id="30" name="Text 28"/>
          <p:cNvSpPr/>
          <p:nvPr/>
        </p:nvSpPr>
        <p:spPr>
          <a:xfrm>
            <a:off x="4462276" y="2060860"/>
            <a:ext cx="442913" cy="135731"/>
          </a:xfrm>
          <a:prstGeom prst="roundRect">
            <a:avLst>
              <a:gd name="adj" fmla="val 28070"/>
            </a:avLst>
          </a:prstGeom>
          <a:solidFill>
            <a:srgbClr val="F1F5F9"/>
          </a:solidFill>
          <a:ln/>
        </p:spPr>
        <p:txBody>
          <a:bodyPr wrap="square" rtlCol="0" anchor="ctr"/>
          <a:lstStyle/>
          <a:p>
            <a:pPr marL="0" indent="0">
              <a:buNone/>
            </a:pPr>
            <a:endParaRPr lang="en-US" dirty="0"/>
          </a:p>
        </p:txBody>
      </p:sp>
      <p:sp>
        <p:nvSpPr>
          <p:cNvPr id="31" name="Text 29"/>
          <p:cNvSpPr/>
          <p:nvPr/>
        </p:nvSpPr>
        <p:spPr>
          <a:xfrm>
            <a:off x="3993356" y="1403635"/>
            <a:ext cx="4750594" cy="1154859"/>
          </a:xfrm>
          <a:prstGeom prst="rect">
            <a:avLst/>
          </a:prstGeom>
          <a:noFill/>
          <a:ln/>
        </p:spPr>
        <p:txBody>
          <a:bodyPr wrap="square" lIns="0" tIns="0" rIns="0" bIns="0" rtlCol="0" anchor="t">
            <a:normAutofit/>
          </a:bodyPr>
          <a:lstStyle/>
          <a:p>
            <a:pPr marL="0" indent="0" algn="l">
              <a:lnSpc>
                <a:spcPts val="1266"/>
              </a:lnSpc>
              <a:buNone/>
            </a:pPr>
            <a:r>
              <a:rPr lang="en-US" sz="800" b="1" dirty="0">
                <a:solidFill>
                  <a:srgbClr val="C2410C"/>
                </a:solidFill>
                <a:latin typeface="Liberation Sans Narrow" pitchFamily="34" charset="0"/>
                <a:ea typeface="Liberation Sans Narrow" pitchFamily="34" charset="-122"/>
                <a:cs typeface="Liberation Sans Narrow" pitchFamily="34" charset="-120"/>
              </a:rPr>
              <a:t>(1)</a:t>
            </a:r>
            <a:r>
              <a:rPr lang="en-US" sz="844" dirty="0">
                <a:solidFill>
                  <a:srgbClr val="334155"/>
                </a:solidFill>
                <a:latin typeface="Carlito" pitchFamily="34" charset="0"/>
                <a:ea typeface="Carlito" pitchFamily="34" charset="-122"/>
                <a:cs typeface="Carlito" pitchFamily="34" charset="-120"/>
              </a:rPr>
              <a:t> a </a:t>
            </a:r>
            <a:r>
              <a:rPr lang="en-US" sz="844" b="1" dirty="0">
                <a:solidFill>
                  <a:srgbClr val="0F172A"/>
                </a:solidFill>
                <a:latin typeface="Carlito" pitchFamily="34" charset="0"/>
                <a:ea typeface="Carlito" pitchFamily="34" charset="-122"/>
                <a:cs typeface="Carlito" pitchFamily="34" charset="-120"/>
              </a:rPr>
              <a:t>dynamic inventory</a:t>
            </a:r>
            <a:r>
              <a:rPr lang="en-US" sz="844" dirty="0">
                <a:solidFill>
                  <a:srgbClr val="334155"/>
                </a:solidFill>
                <a:latin typeface="Carlito" pitchFamily="34" charset="0"/>
                <a:ea typeface="Carlito" pitchFamily="34" charset="-122"/>
                <a:cs typeface="Carlito" pitchFamily="34" charset="-120"/>
              </a:rPr>
              <a:t> script queries AWS/Azure/GCP to fetch the current host list every few minutes;</a:t>
            </a:r>
            <a:endParaRPr lang="en-US" sz="844" dirty="0"/>
          </a:p>
          <a:p>
            <a:pPr marL="0" indent="0" algn="l">
              <a:lnSpc>
                <a:spcPts val="1266"/>
              </a:lnSpc>
              <a:buNone/>
            </a:pPr>
            <a:r>
              <a:rPr lang="en-US" sz="800" b="1" dirty="0">
                <a:solidFill>
                  <a:srgbClr val="C2410C"/>
                </a:solidFill>
                <a:latin typeface="Liberation Sans Narrow" pitchFamily="34" charset="0"/>
                <a:ea typeface="Liberation Sans Narrow" pitchFamily="34" charset="-122"/>
                <a:cs typeface="Liberation Sans Narrow" pitchFamily="34" charset="-120"/>
              </a:rPr>
              <a:t>(2)</a:t>
            </a:r>
            <a:r>
              <a:rPr lang="en-US" sz="844" dirty="0">
                <a:solidFill>
                  <a:srgbClr val="334155"/>
                </a:solidFill>
                <a:latin typeface="Carlito" pitchFamily="34" charset="0"/>
                <a:ea typeface="Carlito" pitchFamily="34" charset="-122"/>
                <a:cs typeface="Carlito" pitchFamily="34" charset="-120"/>
              </a:rPr>
              <a:t> hosts are grouped by tag (role, environment, region);</a:t>
            </a:r>
            <a:endParaRPr lang="en-US" sz="844" dirty="0"/>
          </a:p>
          <a:p>
            <a:pPr marL="0" indent="0" algn="l">
              <a:lnSpc>
                <a:spcPts val="1266"/>
              </a:lnSpc>
              <a:buNone/>
            </a:pPr>
            <a:r>
              <a:rPr lang="en-US" sz="800" b="1" dirty="0">
                <a:solidFill>
                  <a:srgbClr val="C2410C"/>
                </a:solidFill>
                <a:latin typeface="Liberation Sans Narrow" pitchFamily="34" charset="0"/>
                <a:ea typeface="Liberation Sans Narrow" pitchFamily="34" charset="-122"/>
                <a:cs typeface="Liberation Sans Narrow" pitchFamily="34" charset="-120"/>
              </a:rPr>
              <a:t>(3)</a:t>
            </a:r>
            <a:r>
              <a:rPr lang="en-US" sz="844" dirty="0">
                <a:solidFill>
                  <a:srgbClr val="334155"/>
                </a:solidFill>
                <a:latin typeface="Carlito" pitchFamily="34" charset="0"/>
                <a:ea typeface="Carlito" pitchFamily="34" charset="-122"/>
                <a:cs typeface="Carlito" pitchFamily="34" charset="-120"/>
              </a:rPr>
              <a:t> playbooks are organised into </a:t>
            </a:r>
            <a:r>
              <a:rPr lang="en-US" sz="844" b="1" dirty="0">
                <a:solidFill>
                  <a:srgbClr val="0F172A"/>
                </a:solidFill>
                <a:latin typeface="Carlito" pitchFamily="34" charset="0"/>
                <a:ea typeface="Carlito" pitchFamily="34" charset="-122"/>
                <a:cs typeface="Carlito" pitchFamily="34" charset="-120"/>
              </a:rPr>
              <a:t>reusable roles</a:t>
            </a:r>
            <a:r>
              <a:rPr lang="en-US" sz="844" dirty="0">
                <a:solidFill>
                  <a:srgbClr val="334155"/>
                </a:solidFill>
                <a:latin typeface="Carlito" pitchFamily="34" charset="0"/>
                <a:ea typeface="Carlito" pitchFamily="34" charset="-122"/>
                <a:cs typeface="Carlito" pitchFamily="34" charset="-120"/>
              </a:rPr>
              <a:t> — one role per service (nginx, postgres, redis);</a:t>
            </a:r>
            <a:endParaRPr lang="en-US" sz="844" dirty="0"/>
          </a:p>
          <a:p>
            <a:pPr marL="0" indent="0" algn="l">
              <a:lnSpc>
                <a:spcPts val="1266"/>
              </a:lnSpc>
              <a:buNone/>
            </a:pPr>
            <a:r>
              <a:rPr lang="en-US" sz="800" b="1" dirty="0">
                <a:solidFill>
                  <a:srgbClr val="C2410C"/>
                </a:solidFill>
                <a:latin typeface="Liberation Sans Narrow" pitchFamily="34" charset="0"/>
                <a:ea typeface="Liberation Sans Narrow" pitchFamily="34" charset="-122"/>
                <a:cs typeface="Liberation Sans Narrow" pitchFamily="34" charset="-120"/>
              </a:rPr>
              <a:t>(4)</a:t>
            </a:r>
            <a:r>
              <a:rPr lang="en-US" sz="844" dirty="0">
                <a:solidFill>
                  <a:srgbClr val="334155"/>
                </a:solidFill>
                <a:latin typeface="Carlito" pitchFamily="34" charset="0"/>
                <a:ea typeface="Carlito" pitchFamily="34" charset="-122"/>
                <a:cs typeface="Carlito" pitchFamily="34" charset="-120"/>
              </a:rPr>
              <a:t> a thin </a:t>
            </a:r>
            <a:r>
              <a:rPr lang="en-US" sz="800" dirty="0">
                <a:solidFill>
                  <a:srgbClr val="0F172A"/>
                </a:solidFill>
                <a:highlight>
                  <a:srgbClr val="F1F5F9"/>
                </a:highlight>
                <a:latin typeface="Courier New" pitchFamily="34" charset="0"/>
                <a:ea typeface="Courier New" pitchFamily="34" charset="-122"/>
                <a:cs typeface="Courier New" pitchFamily="34" charset="-120"/>
              </a:rPr>
              <a:t>site.yml</a:t>
            </a:r>
            <a:r>
              <a:rPr lang="en-US" sz="844" dirty="0">
                <a:solidFill>
                  <a:srgbClr val="334155"/>
                </a:solidFill>
                <a:latin typeface="Carlito" pitchFamily="34" charset="0"/>
                <a:ea typeface="Carlito" pitchFamily="34" charset="-122"/>
                <a:cs typeface="Carlito" pitchFamily="34" charset="-120"/>
              </a:rPr>
              <a:t> composes roles against host groups;</a:t>
            </a:r>
            <a:endParaRPr lang="en-US" sz="844" dirty="0"/>
          </a:p>
          <a:p>
            <a:pPr marL="0" indent="0" algn="l">
              <a:lnSpc>
                <a:spcPts val="1266"/>
              </a:lnSpc>
              <a:buNone/>
            </a:pPr>
            <a:r>
              <a:rPr lang="en-US" sz="800" b="1" dirty="0">
                <a:solidFill>
                  <a:srgbClr val="C2410C"/>
                </a:solidFill>
                <a:latin typeface="Liberation Sans Narrow" pitchFamily="34" charset="0"/>
                <a:ea typeface="Liberation Sans Narrow" pitchFamily="34" charset="-122"/>
                <a:cs typeface="Liberation Sans Narrow" pitchFamily="34" charset="-120"/>
              </a:rPr>
              <a:t>(5)</a:t>
            </a:r>
            <a:r>
              <a:rPr lang="en-US" sz="844" dirty="0">
                <a:solidFill>
                  <a:srgbClr val="334155"/>
                </a:solidFill>
                <a:latin typeface="Carlito" pitchFamily="34" charset="0"/>
                <a:ea typeface="Carlito" pitchFamily="34" charset="-122"/>
                <a:cs typeface="Carlito" pitchFamily="34" charset="-120"/>
              </a:rPr>
              <a:t> </a:t>
            </a:r>
            <a:r>
              <a:rPr lang="en-US" sz="844" b="1" dirty="0">
                <a:solidFill>
                  <a:srgbClr val="0F172A"/>
                </a:solidFill>
                <a:latin typeface="Carlito" pitchFamily="34" charset="0"/>
                <a:ea typeface="Carlito" pitchFamily="34" charset="-122"/>
                <a:cs typeface="Carlito" pitchFamily="34" charset="-120"/>
              </a:rPr>
              <a:t>Ansible Tower</a:t>
            </a:r>
            <a:r>
              <a:rPr lang="en-US" sz="844" dirty="0">
                <a:solidFill>
                  <a:srgbClr val="334155"/>
                </a:solidFill>
                <a:latin typeface="Carlito" pitchFamily="34" charset="0"/>
                <a:ea typeface="Carlito" pitchFamily="34" charset="-122"/>
                <a:cs typeface="Carlito" pitchFamily="34" charset="-120"/>
              </a:rPr>
              <a:t> (commercial) or </a:t>
            </a:r>
            <a:r>
              <a:rPr lang="en-US" sz="844" b="1" dirty="0">
                <a:solidFill>
                  <a:srgbClr val="0F172A"/>
                </a:solidFill>
                <a:latin typeface="Carlito" pitchFamily="34" charset="0"/>
                <a:ea typeface="Carlito" pitchFamily="34" charset="-122"/>
                <a:cs typeface="Carlito" pitchFamily="34" charset="-120"/>
              </a:rPr>
              <a:t>AWX</a:t>
            </a:r>
            <a:r>
              <a:rPr lang="en-US" sz="844" dirty="0">
                <a:solidFill>
                  <a:srgbClr val="334155"/>
                </a:solidFill>
                <a:latin typeface="Carlito" pitchFamily="34" charset="0"/>
                <a:ea typeface="Carlito" pitchFamily="34" charset="-122"/>
                <a:cs typeface="Carlito" pitchFamily="34" charset="-120"/>
              </a:rPr>
              <a:t> (open-source) orchestrates runs on a schedule and provides a web UI for non-developers.</a:t>
            </a:r>
            <a:endParaRPr lang="en-US" sz="844" dirty="0"/>
          </a:p>
        </p:txBody>
      </p:sp>
      <p:sp>
        <p:nvSpPr>
          <p:cNvPr id="32" name="Text 30"/>
          <p:cNvSpPr/>
          <p:nvPr/>
        </p:nvSpPr>
        <p:spPr>
          <a:xfrm>
            <a:off x="3993356" y="2760948"/>
            <a:ext cx="4574121" cy="296466"/>
          </a:xfrm>
          <a:prstGeom prst="roundRect">
            <a:avLst>
              <a:gd name="adj" fmla="val 12851"/>
            </a:avLst>
          </a:prstGeom>
          <a:solidFill>
            <a:srgbClr val="F1F5F9"/>
          </a:solidFill>
          <a:ln/>
        </p:spPr>
        <p:txBody>
          <a:bodyPr wrap="square" rtlCol="0" anchor="ctr"/>
          <a:lstStyle/>
          <a:p>
            <a:pPr marL="0" indent="0">
              <a:buNone/>
            </a:pPr>
            <a:endParaRPr lang="en-US" dirty="0"/>
          </a:p>
        </p:txBody>
      </p:sp>
      <p:sp>
        <p:nvSpPr>
          <p:cNvPr id="33" name="Text 31"/>
          <p:cNvSpPr/>
          <p:nvPr/>
        </p:nvSpPr>
        <p:spPr>
          <a:xfrm>
            <a:off x="3993356" y="2585926"/>
            <a:ext cx="4750594" cy="520779"/>
          </a:xfrm>
          <a:prstGeom prst="rect">
            <a:avLst/>
          </a:prstGeom>
          <a:noFill/>
          <a:ln/>
        </p:spPr>
        <p:txBody>
          <a:bodyPr wrap="square" lIns="0" tIns="0" rIns="0" bIns="0" rtlCol="0" anchor="t"/>
          <a:lstStyle/>
          <a:p>
            <a:pPr marL="0" indent="0" algn="l">
              <a:lnSpc>
                <a:spcPts val="1266"/>
              </a:lnSpc>
              <a:buNone/>
            </a:pPr>
            <a:r>
              <a:rPr lang="en-US" sz="844" dirty="0">
                <a:solidFill>
                  <a:srgbClr val="334155"/>
                </a:solidFill>
                <a:latin typeface="Carlito" pitchFamily="34" charset="0"/>
                <a:ea typeface="Carlito" pitchFamily="34" charset="-122"/>
                <a:cs typeface="Carlito" pitchFamily="34" charset="-120"/>
              </a:rPr>
              <a:t>The result: new hosts are provisioned and configured in </a:t>
            </a:r>
            <a:r>
              <a:rPr lang="en-US" sz="844" b="1" dirty="0">
                <a:solidFill>
                  <a:srgbClr val="0F172A"/>
                </a:solidFill>
                <a:latin typeface="Carlito" pitchFamily="34" charset="0"/>
                <a:ea typeface="Carlito" pitchFamily="34" charset="-122"/>
                <a:cs typeface="Carlito" pitchFamily="34" charset="-120"/>
              </a:rPr>
              <a:t>minutes, not hours</a:t>
            </a:r>
            <a:r>
              <a:rPr lang="en-US" sz="844" dirty="0">
                <a:solidFill>
                  <a:srgbClr val="334155"/>
                </a:solidFill>
                <a:latin typeface="Carlito" pitchFamily="34" charset="0"/>
                <a:ea typeface="Carlito" pitchFamily="34" charset="-122"/>
                <a:cs typeface="Carlito" pitchFamily="34" charset="-120"/>
              </a:rPr>
              <a:t>. Drift is auto-corrected on every scheduled run. New engineers can roll out a service to </a:t>
            </a:r>
            <a:r>
              <a:rPr lang="en-US" sz="844" b="1" dirty="0">
                <a:solidFill>
                  <a:srgbClr val="0F172A"/>
                </a:solidFill>
                <a:latin typeface="Liberation Sans Narrow" pitchFamily="34" charset="0"/>
                <a:ea typeface="Liberation Sans Narrow" pitchFamily="34" charset="-122"/>
                <a:cs typeface="Liberation Sans Narrow" pitchFamily="34" charset="-120"/>
              </a:rPr>
              <a:t>1,000 servers</a:t>
            </a:r>
            <a:r>
              <a:rPr lang="en-US" sz="844" dirty="0">
                <a:solidFill>
                  <a:srgbClr val="334155"/>
                </a:solidFill>
                <a:latin typeface="Carlito" pitchFamily="34" charset="0"/>
                <a:ea typeface="Carlito" pitchFamily="34" charset="-122"/>
                <a:cs typeface="Carlito" pitchFamily="34" charset="-120"/>
              </a:rPr>
              <a:t> with a single </a:t>
            </a:r>
            <a:r>
              <a:rPr lang="en-US" sz="800" dirty="0">
                <a:solidFill>
                  <a:srgbClr val="0F172A"/>
                </a:solidFill>
                <a:highlight>
                  <a:srgbClr val="F1F5F9"/>
                </a:highlight>
                <a:latin typeface="Courier New" pitchFamily="34" charset="0"/>
                <a:ea typeface="Courier New" pitchFamily="34" charset="-122"/>
                <a:cs typeface="Courier New" pitchFamily="34" charset="-120"/>
              </a:rPr>
              <a:t>ansible-playbook</a:t>
            </a:r>
            <a:r>
              <a:rPr lang="en-US" sz="844" dirty="0">
                <a:solidFill>
                  <a:srgbClr val="334155"/>
                </a:solidFill>
                <a:latin typeface="Carlito" pitchFamily="34" charset="0"/>
                <a:ea typeface="Carlito" pitchFamily="34" charset="-122"/>
                <a:cs typeface="Carlito" pitchFamily="34" charset="-120"/>
              </a:rPr>
              <a:t> invocation.</a:t>
            </a:r>
            <a:endParaRPr lang="en-US" sz="844" dirty="0"/>
          </a:p>
        </p:txBody>
      </p:sp>
      <p:sp>
        <p:nvSpPr>
          <p:cNvPr id="34" name="Text 32"/>
          <p:cNvSpPr/>
          <p:nvPr/>
        </p:nvSpPr>
        <p:spPr>
          <a:xfrm>
            <a:off x="3993356" y="3168142"/>
            <a:ext cx="4750594" cy="491356"/>
          </a:xfrm>
          <a:prstGeom prst="roundRect">
            <a:avLst>
              <a:gd name="adj" fmla="val 15508"/>
            </a:avLst>
          </a:prstGeom>
          <a:solidFill>
            <a:srgbClr val="FFF7ED"/>
          </a:solidFill>
          <a:ln/>
        </p:spPr>
        <p:txBody>
          <a:bodyPr wrap="square" rtlCol="0" anchor="ctr"/>
          <a:lstStyle/>
          <a:p>
            <a:pPr marL="0" indent="0">
              <a:buNone/>
            </a:pPr>
            <a:endParaRPr lang="en-US" dirty="0"/>
          </a:p>
        </p:txBody>
      </p:sp>
      <p:sp>
        <p:nvSpPr>
          <p:cNvPr id="35" name="Shape 33"/>
          <p:cNvSpPr/>
          <p:nvPr/>
        </p:nvSpPr>
        <p:spPr>
          <a:xfrm>
            <a:off x="4014788" y="3168142"/>
            <a:ext cx="0" cy="491356"/>
          </a:xfrm>
          <a:prstGeom prst="line">
            <a:avLst/>
          </a:prstGeom>
          <a:noFill/>
          <a:ln w="42863">
            <a:solidFill>
              <a:srgbClr val="F97316"/>
            </a:solidFill>
            <a:prstDash val="solid"/>
          </a:ln>
        </p:spPr>
      </p:sp>
      <p:sp>
        <p:nvSpPr>
          <p:cNvPr id="36" name="Text 34"/>
          <p:cNvSpPr/>
          <p:nvPr/>
        </p:nvSpPr>
        <p:spPr>
          <a:xfrm>
            <a:off x="4350544" y="3261010"/>
            <a:ext cx="4216822" cy="327054"/>
          </a:xfrm>
          <a:prstGeom prst="rect">
            <a:avLst/>
          </a:prstGeom>
          <a:noFill/>
          <a:ln/>
        </p:spPr>
        <p:txBody>
          <a:bodyPr wrap="square" lIns="128588" tIns="85725" rIns="128588" bIns="85725" rtlCol="0" anchor="t"/>
          <a:lstStyle/>
          <a:p>
            <a:pPr marL="0" indent="0" algn="l">
              <a:lnSpc>
                <a:spcPts val="1260"/>
              </a:lnSpc>
              <a:buNone/>
            </a:pPr>
            <a:r>
              <a:rPr lang="en-US" sz="900" dirty="0">
                <a:solidFill>
                  <a:srgbClr val="0F172A"/>
                </a:solidFill>
                <a:latin typeface="Carlito" pitchFamily="34" charset="0"/>
                <a:ea typeface="Carlito" pitchFamily="34" charset="-122"/>
                <a:cs typeface="Carlito" pitchFamily="34" charset="-120"/>
              </a:rPr>
              <a:t>Lesson: Ansible scales by — small roles, thin playbooks, dynamic inventory, scheduled runs.</a:t>
            </a:r>
            <a:endParaRPr lang="en-US" sz="900" dirty="0"/>
          </a:p>
        </p:txBody>
      </p:sp>
      <p:sp>
        <p:nvSpPr>
          <p:cNvPr id="37" name="Text 35"/>
          <p:cNvSpPr/>
          <p:nvPr/>
        </p:nvSpPr>
        <p:spPr>
          <a:xfrm>
            <a:off x="4164806" y="3356670"/>
            <a:ext cx="114300" cy="114300"/>
          </a:xfrm>
          <a:prstGeom prst="rect">
            <a:avLst/>
          </a:prstGeom>
          <a:noFill/>
          <a:ln/>
        </p:spPr>
        <p:txBody>
          <a:bodyPr wrap="none" lIns="0" tIns="0" rIns="0" bIns="0" rtlCol="0" anchor="ctr"/>
          <a:lstStyle/>
          <a:p>
            <a:pPr marL="0" indent="0" algn="ctr">
              <a:buNone/>
            </a:pPr>
            <a:r>
              <a:rPr lang="en-US" sz="1125" dirty="0">
                <a:solidFill>
                  <a:srgbClr val="F97316"/>
                </a:solidFill>
                <a:latin typeface="Segoe UI Symbol" pitchFamily="34" charset="0"/>
                <a:ea typeface="Segoe UI Symbol" pitchFamily="34" charset="-122"/>
                <a:cs typeface="Segoe UI Symbol" pitchFamily="34" charset="-120"/>
              </a:rPr>
              <a:t>▿</a:t>
            </a:r>
            <a:endParaRPr lang="en-US" sz="1125" dirty="0"/>
          </a:p>
        </p:txBody>
      </p:sp>
      <p:sp>
        <p:nvSpPr>
          <p:cNvPr id="38" name="Text 36"/>
          <p:cNvSpPr/>
          <p:nvPr/>
        </p:nvSpPr>
        <p:spPr>
          <a:xfrm>
            <a:off x="5409605" y="3333787"/>
            <a:ext cx="3205758" cy="172749"/>
          </a:xfrm>
          <a:prstGeom prst="rect">
            <a:avLst/>
          </a:prstGeom>
          <a:noFill/>
          <a:ln/>
        </p:spPr>
        <p:txBody>
          <a:bodyPr wrap="none" lIns="0" tIns="0" rIns="0" bIns="0" rtlCol="0" anchor="t"/>
          <a:lstStyle/>
          <a:p>
            <a:pPr marL="0" indent="0" algn="l">
              <a:lnSpc>
                <a:spcPts val="1260"/>
              </a:lnSpc>
              <a:buNone/>
            </a:pPr>
            <a:r>
              <a:rPr lang="en-US" sz="900" dirty="0">
                <a:solidFill>
                  <a:srgbClr val="F97316"/>
                </a:solidFill>
                <a:latin typeface="Carlito" pitchFamily="34" charset="0"/>
                <a:ea typeface="Carlito" pitchFamily="34" charset="-122"/>
                <a:cs typeface="Carlito" pitchFamily="34" charset="-120"/>
              </a:rPr>
              <a:t>composition</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00050" y="285750"/>
            <a:ext cx="7794523" cy="322473"/>
          </a:xfrm>
          <a:prstGeom prst="rect">
            <a:avLst/>
          </a:prstGeom>
          <a:noFill/>
          <a:ln/>
        </p:spPr>
        <p:txBody>
          <a:bodyPr wrap="square" lIns="0" tIns="0" rIns="0" bIns="0" rtlCol="0" anchor="t"/>
          <a:lstStyle/>
          <a:p>
            <a:pPr marL="0" indent="0" algn="l">
              <a:lnSpc>
                <a:spcPts val="2351"/>
              </a:lnSpc>
              <a:buNone/>
            </a:pPr>
            <a:r>
              <a:rPr lang="en-US" sz="2138" b="1" dirty="0">
                <a:solidFill>
                  <a:srgbClr val="0F172A"/>
                </a:solidFill>
                <a:latin typeface="Carlito" pitchFamily="34" charset="0"/>
                <a:ea typeface="Carlito" pitchFamily="34" charset="-122"/>
                <a:cs typeface="Carlito" pitchFamily="34" charset="-120"/>
              </a:rPr>
              <a:t>Section B Recap — Configuration Management with Ansible</a:t>
            </a:r>
            <a:endParaRPr lang="en-US" sz="2138" dirty="0"/>
          </a:p>
        </p:txBody>
      </p:sp>
      <p:sp>
        <p:nvSpPr>
          <p:cNvPr id="3" name="Text 1"/>
          <p:cNvSpPr/>
          <p:nvPr/>
        </p:nvSpPr>
        <p:spPr>
          <a:xfrm>
            <a:off x="400050" y="655774"/>
            <a:ext cx="571500" cy="42863"/>
          </a:xfrm>
          <a:prstGeom prst="roundRect">
            <a:avLst>
              <a:gd name="adj" fmla="val 66666"/>
            </a:avLst>
          </a:prstGeom>
          <a:solidFill>
            <a:srgbClr val="F97316"/>
          </a:solidFill>
          <a:ln/>
        </p:spPr>
        <p:txBody>
          <a:bodyPr wrap="square" rtlCol="0" anchor="ctr"/>
          <a:lstStyle/>
          <a:p>
            <a:pPr marL="0" indent="0">
              <a:buNone/>
            </a:pPr>
            <a:endParaRPr lang="en-US" dirty="0"/>
          </a:p>
        </p:txBody>
      </p:sp>
      <p:sp>
        <p:nvSpPr>
          <p:cNvPr id="4" name="Text 2"/>
          <p:cNvSpPr/>
          <p:nvPr/>
        </p:nvSpPr>
        <p:spPr>
          <a:xfrm>
            <a:off x="7677991" y="272948"/>
            <a:ext cx="1088819" cy="331333"/>
          </a:xfrm>
          <a:prstGeom prst="roundRect">
            <a:avLst>
              <a:gd name="adj" fmla="val 2871877"/>
            </a:avLst>
          </a:prstGeom>
          <a:solidFill>
            <a:srgbClr val="0F172A"/>
          </a:solidFill>
          <a:ln/>
        </p:spPr>
        <p:txBody>
          <a:bodyPr wrap="square" rtlCol="0" anchor="ctr"/>
          <a:lstStyle/>
          <a:p>
            <a:pPr marL="0" indent="0">
              <a:buNone/>
            </a:pPr>
            <a:endParaRPr lang="en-US" dirty="0"/>
          </a:p>
        </p:txBody>
      </p:sp>
      <p:sp>
        <p:nvSpPr>
          <p:cNvPr id="5" name="Text 3"/>
          <p:cNvSpPr/>
          <p:nvPr/>
        </p:nvSpPr>
        <p:spPr>
          <a:xfrm>
            <a:off x="7698814" y="285750"/>
            <a:ext cx="1047174" cy="305730"/>
          </a:xfrm>
          <a:prstGeom prst="rect">
            <a:avLst/>
          </a:prstGeom>
          <a:noFill/>
          <a:ln/>
        </p:spPr>
        <p:txBody>
          <a:bodyPr wrap="none" lIns="0" tIns="0" rIns="0" bIns="0" rtlCol="0" anchor="ctr"/>
          <a:lstStyle/>
          <a:p>
            <a:pPr marL="0" indent="0" algn="ctr">
              <a:lnSpc>
                <a:spcPts val="1733"/>
              </a:lnSpc>
              <a:buNone/>
            </a:pPr>
            <a:r>
              <a:rPr lang="en-US" sz="1238" b="1" kern="0" spc="28" dirty="0">
                <a:solidFill>
                  <a:srgbClr val="FFFFFF"/>
                </a:solidFill>
                <a:latin typeface="Liberation Sans Narrow" pitchFamily="34" charset="0"/>
                <a:ea typeface="Liberation Sans Narrow" pitchFamily="34" charset="-122"/>
                <a:cs typeface="Liberation Sans Narrow" pitchFamily="34" charset="-120"/>
              </a:rPr>
              <a:t>02 · RECAP</a:t>
            </a:r>
            <a:endParaRPr lang="en-US" sz="1238" dirty="0"/>
          </a:p>
        </p:txBody>
      </p:sp>
      <p:sp>
        <p:nvSpPr>
          <p:cNvPr id="6" name="Text 4"/>
          <p:cNvSpPr/>
          <p:nvPr/>
        </p:nvSpPr>
        <p:spPr>
          <a:xfrm>
            <a:off x="403622" y="787933"/>
            <a:ext cx="8336756" cy="550069"/>
          </a:xfrm>
          <a:prstGeom prst="roundRect">
            <a:avLst>
              <a:gd name="adj" fmla="val 20779"/>
            </a:avLst>
          </a:prstGeom>
          <a:solidFill>
            <a:srgbClr val="FFFFFF"/>
          </a:solidFill>
          <a:ln w="7144">
            <a:solidFill>
              <a:srgbClr val="CBD5E1"/>
            </a:solidFill>
            <a:prstDash val="solid"/>
          </a:ln>
        </p:spPr>
        <p:txBody>
          <a:bodyPr wrap="square" rtlCol="0" anchor="ctr"/>
          <a:lstStyle/>
          <a:p>
            <a:pPr marL="0" indent="0">
              <a:buNone/>
            </a:pPr>
            <a:endParaRPr lang="en-US" dirty="0"/>
          </a:p>
        </p:txBody>
      </p:sp>
      <p:sp>
        <p:nvSpPr>
          <p:cNvPr id="7" name="Text 5"/>
          <p:cNvSpPr/>
          <p:nvPr/>
        </p:nvSpPr>
        <p:spPr>
          <a:xfrm>
            <a:off x="532209" y="873658"/>
            <a:ext cx="378619" cy="378619"/>
          </a:xfrm>
          <a:prstGeom prst="roundRect">
            <a:avLst>
              <a:gd name="adj" fmla="val 30189"/>
            </a:avLst>
          </a:prstGeom>
          <a:solidFill>
            <a:srgbClr val="0F172A"/>
          </a:solidFill>
          <a:ln w="21431">
            <a:solidFill>
              <a:srgbClr val="F97316"/>
            </a:solidFill>
            <a:prstDash val="solid"/>
          </a:ln>
        </p:spPr>
        <p:txBody>
          <a:bodyPr wrap="square" rtlCol="0" anchor="ctr"/>
          <a:lstStyle/>
          <a:p>
            <a:pPr marL="0" indent="0">
              <a:buNone/>
            </a:pPr>
            <a:endParaRPr lang="en-US" dirty="0"/>
          </a:p>
        </p:txBody>
      </p:sp>
      <p:sp>
        <p:nvSpPr>
          <p:cNvPr id="8" name="Text 6"/>
          <p:cNvSpPr/>
          <p:nvPr/>
        </p:nvSpPr>
        <p:spPr>
          <a:xfrm>
            <a:off x="521494" y="862943"/>
            <a:ext cx="400050" cy="400050"/>
          </a:xfrm>
          <a:prstGeom prst="rect">
            <a:avLst/>
          </a:prstGeom>
          <a:noFill/>
          <a:ln/>
        </p:spPr>
        <p:txBody>
          <a:bodyPr wrap="none" lIns="0" tIns="0" rIns="0" bIns="0" rtlCol="0" anchor="ctr"/>
          <a:lstStyle/>
          <a:p>
            <a:pPr marL="0" indent="0" algn="ctr">
              <a:lnSpc>
                <a:spcPts val="1418"/>
              </a:lnSpc>
              <a:buNone/>
            </a:pPr>
            <a:r>
              <a:rPr lang="en-US" sz="1013" b="1" dirty="0">
                <a:solidFill>
                  <a:srgbClr val="FFFFFF"/>
                </a:solidFill>
                <a:latin typeface="Liberation Sans Narrow" pitchFamily="34" charset="0"/>
                <a:ea typeface="Liberation Sans Narrow" pitchFamily="34" charset="-122"/>
                <a:cs typeface="Liberation Sans Narrow" pitchFamily="34" charset="-120"/>
              </a:rPr>
              <a:t>2.1</a:t>
            </a:r>
            <a:endParaRPr lang="en-US" sz="1013" dirty="0"/>
          </a:p>
        </p:txBody>
      </p:sp>
      <p:sp>
        <p:nvSpPr>
          <p:cNvPr id="9" name="Text 7"/>
          <p:cNvSpPr/>
          <p:nvPr/>
        </p:nvSpPr>
        <p:spPr>
          <a:xfrm>
            <a:off x="1321075" y="980145"/>
            <a:ext cx="1006994" cy="169736"/>
          </a:xfrm>
          <a:prstGeom prst="rect">
            <a:avLst/>
          </a:prstGeom>
          <a:noFill/>
          <a:ln/>
        </p:spPr>
        <p:txBody>
          <a:bodyPr wrap="none" lIns="0" tIns="0" rIns="0" bIns="0" rtlCol="0" anchor="t"/>
          <a:lstStyle/>
          <a:p>
            <a:pPr marL="0" indent="0" algn="l">
              <a:lnSpc>
                <a:spcPts val="1418"/>
              </a:lnSpc>
              <a:buNone/>
            </a:pPr>
            <a:r>
              <a:rPr lang="en-US" sz="1013" b="1" dirty="0">
                <a:solidFill>
                  <a:srgbClr val="0F172A"/>
                </a:solidFill>
                <a:latin typeface="Carlito" pitchFamily="34" charset="0"/>
                <a:ea typeface="Carlito" pitchFamily="34" charset="-122"/>
                <a:cs typeface="Carlito" pitchFamily="34" charset="-120"/>
              </a:rPr>
              <a:t>Architecture</a:t>
            </a:r>
            <a:endParaRPr lang="en-US" sz="1013" dirty="0"/>
          </a:p>
        </p:txBody>
      </p:sp>
      <p:sp>
        <p:nvSpPr>
          <p:cNvPr id="10" name="Text 8"/>
          <p:cNvSpPr/>
          <p:nvPr/>
        </p:nvSpPr>
        <p:spPr>
          <a:xfrm>
            <a:off x="1193006" y="984386"/>
            <a:ext cx="157163" cy="157163"/>
          </a:xfrm>
          <a:prstGeom prst="rect">
            <a:avLst/>
          </a:prstGeom>
          <a:noFill/>
          <a:ln/>
        </p:spPr>
        <p:txBody>
          <a:bodyPr wrap="none" lIns="0" tIns="0" rIns="0" bIns="0" rtlCol="0" anchor="ctr"/>
          <a:lstStyle/>
          <a:p>
            <a:pPr marL="0" indent="0" algn="ctr">
              <a:buNone/>
            </a:pPr>
            <a:r>
              <a:rPr lang="en-US" sz="1547" dirty="0">
                <a:solidFill>
                  <a:srgbClr val="F97316"/>
                </a:solidFill>
                <a:latin typeface="Segoe UI Symbol" pitchFamily="34" charset="0"/>
                <a:ea typeface="Segoe UI Symbol" pitchFamily="34" charset="-122"/>
                <a:cs typeface="Segoe UI Symbol" pitchFamily="34" charset="-120"/>
              </a:rPr>
              <a:t>✦</a:t>
            </a:r>
            <a:endParaRPr lang="en-US" sz="1547" dirty="0"/>
          </a:p>
        </p:txBody>
      </p:sp>
      <p:sp>
        <p:nvSpPr>
          <p:cNvPr id="11" name="Text 9"/>
          <p:cNvSpPr/>
          <p:nvPr/>
        </p:nvSpPr>
        <p:spPr>
          <a:xfrm>
            <a:off x="4957763" y="987958"/>
            <a:ext cx="3664744" cy="162020"/>
          </a:xfrm>
          <a:prstGeom prst="rect">
            <a:avLst/>
          </a:prstGeom>
          <a:noFill/>
          <a:ln/>
        </p:spPr>
        <p:txBody>
          <a:bodyPr wrap="square" lIns="0" tIns="0" rIns="0" bIns="0" rtlCol="0" anchor="t"/>
          <a:lstStyle/>
          <a:p>
            <a:pPr marL="0" indent="0" algn="l">
              <a:lnSpc>
                <a:spcPts val="1181"/>
              </a:lnSpc>
              <a:buNone/>
            </a:pPr>
            <a:r>
              <a:rPr lang="en-US" sz="844" b="1" dirty="0">
                <a:solidFill>
                  <a:srgbClr val="0F172A"/>
                </a:solidFill>
                <a:latin typeface="Carlito" pitchFamily="34" charset="0"/>
                <a:ea typeface="Carlito" pitchFamily="34" charset="-122"/>
                <a:cs typeface="Carlito" pitchFamily="34" charset="-120"/>
              </a:rPr>
              <a:t>Agentless.</a:t>
            </a:r>
            <a:r>
              <a:rPr lang="en-US" sz="844" dirty="0">
                <a:solidFill>
                  <a:srgbClr val="334155"/>
                </a:solidFill>
                <a:latin typeface="Carlito" pitchFamily="34" charset="0"/>
                <a:ea typeface="Carlito" pitchFamily="34" charset="-122"/>
                <a:cs typeface="Carlito" pitchFamily="34" charset="-120"/>
              </a:rPr>
              <a:t> Push-based over SSH. No daemons on targets.</a:t>
            </a:r>
            <a:endParaRPr lang="en-US" sz="844" dirty="0"/>
          </a:p>
        </p:txBody>
      </p:sp>
      <p:sp>
        <p:nvSpPr>
          <p:cNvPr id="12" name="Text 10"/>
          <p:cNvSpPr/>
          <p:nvPr/>
        </p:nvSpPr>
        <p:spPr>
          <a:xfrm>
            <a:off x="403622" y="1402296"/>
            <a:ext cx="8336756" cy="550069"/>
          </a:xfrm>
          <a:prstGeom prst="roundRect">
            <a:avLst>
              <a:gd name="adj" fmla="val 20779"/>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13" name="Text 11"/>
          <p:cNvSpPr/>
          <p:nvPr/>
        </p:nvSpPr>
        <p:spPr>
          <a:xfrm>
            <a:off x="532209" y="1488021"/>
            <a:ext cx="378619" cy="378619"/>
          </a:xfrm>
          <a:prstGeom prst="roundRect">
            <a:avLst>
              <a:gd name="adj" fmla="val 30189"/>
            </a:avLst>
          </a:prstGeom>
          <a:solidFill>
            <a:srgbClr val="0F172A"/>
          </a:solidFill>
          <a:ln w="21431">
            <a:solidFill>
              <a:srgbClr val="F97316"/>
            </a:solidFill>
            <a:prstDash val="solid"/>
          </a:ln>
        </p:spPr>
        <p:txBody>
          <a:bodyPr wrap="square" rtlCol="0" anchor="ctr"/>
          <a:lstStyle/>
          <a:p>
            <a:pPr marL="0" indent="0">
              <a:buNone/>
            </a:pPr>
            <a:endParaRPr lang="en-US" dirty="0"/>
          </a:p>
        </p:txBody>
      </p:sp>
      <p:sp>
        <p:nvSpPr>
          <p:cNvPr id="14" name="Text 12"/>
          <p:cNvSpPr/>
          <p:nvPr/>
        </p:nvSpPr>
        <p:spPr>
          <a:xfrm>
            <a:off x="521494" y="1477305"/>
            <a:ext cx="400050" cy="400050"/>
          </a:xfrm>
          <a:prstGeom prst="rect">
            <a:avLst/>
          </a:prstGeom>
          <a:noFill/>
          <a:ln/>
        </p:spPr>
        <p:txBody>
          <a:bodyPr wrap="none" lIns="0" tIns="0" rIns="0" bIns="0" rtlCol="0" anchor="ctr"/>
          <a:lstStyle/>
          <a:p>
            <a:pPr marL="0" indent="0" algn="ctr">
              <a:lnSpc>
                <a:spcPts val="1418"/>
              </a:lnSpc>
              <a:buNone/>
            </a:pPr>
            <a:r>
              <a:rPr lang="en-US" sz="1013" b="1" dirty="0">
                <a:solidFill>
                  <a:srgbClr val="FFFFFF"/>
                </a:solidFill>
                <a:latin typeface="Liberation Sans Narrow" pitchFamily="34" charset="0"/>
                <a:ea typeface="Liberation Sans Narrow" pitchFamily="34" charset="-122"/>
                <a:cs typeface="Liberation Sans Narrow" pitchFamily="34" charset="-120"/>
              </a:rPr>
              <a:t>2.2</a:t>
            </a:r>
            <a:endParaRPr lang="en-US" sz="1013" dirty="0"/>
          </a:p>
        </p:txBody>
      </p:sp>
      <p:sp>
        <p:nvSpPr>
          <p:cNvPr id="15" name="Text 13"/>
          <p:cNvSpPr/>
          <p:nvPr/>
        </p:nvSpPr>
        <p:spPr>
          <a:xfrm>
            <a:off x="1382033" y="1594507"/>
            <a:ext cx="770291" cy="169736"/>
          </a:xfrm>
          <a:prstGeom prst="rect">
            <a:avLst/>
          </a:prstGeom>
          <a:noFill/>
          <a:ln/>
        </p:spPr>
        <p:txBody>
          <a:bodyPr wrap="none" lIns="0" tIns="0" rIns="0" bIns="0" rtlCol="0" anchor="t"/>
          <a:lstStyle/>
          <a:p>
            <a:pPr marL="0" indent="0" algn="l">
              <a:lnSpc>
                <a:spcPts val="1418"/>
              </a:lnSpc>
              <a:buNone/>
            </a:pPr>
            <a:r>
              <a:rPr lang="en-US" sz="1013" b="1" dirty="0">
                <a:solidFill>
                  <a:srgbClr val="0F172A"/>
                </a:solidFill>
                <a:latin typeface="Carlito" pitchFamily="34" charset="0"/>
                <a:ea typeface="Carlito" pitchFamily="34" charset="-122"/>
                <a:cs typeface="Carlito" pitchFamily="34" charset="-120"/>
              </a:rPr>
              <a:t>Inventory</a:t>
            </a:r>
            <a:endParaRPr lang="en-US" sz="1013" dirty="0"/>
          </a:p>
        </p:txBody>
      </p:sp>
      <p:sp>
        <p:nvSpPr>
          <p:cNvPr id="16" name="Text 14"/>
          <p:cNvSpPr/>
          <p:nvPr/>
        </p:nvSpPr>
        <p:spPr>
          <a:xfrm>
            <a:off x="1193006" y="1598749"/>
            <a:ext cx="157163" cy="157163"/>
          </a:xfrm>
          <a:prstGeom prst="rect">
            <a:avLst/>
          </a:prstGeom>
          <a:noFill/>
          <a:ln/>
        </p:spPr>
        <p:txBody>
          <a:bodyPr wrap="none" lIns="0" tIns="0" rIns="0" bIns="0" rtlCol="0" anchor="ctr"/>
          <a:lstStyle/>
          <a:p>
            <a:pPr marL="0" indent="0" algn="ctr">
              <a:buNone/>
            </a:pPr>
            <a:r>
              <a:rPr lang="en-US" sz="1547" dirty="0">
                <a:solidFill>
                  <a:srgbClr val="F97316"/>
                </a:solidFill>
                <a:latin typeface="Segoe UI Symbol" pitchFamily="34" charset="0"/>
                <a:ea typeface="Segoe UI Symbol" pitchFamily="34" charset="-122"/>
                <a:cs typeface="Segoe UI Symbol" pitchFamily="34" charset="-120"/>
              </a:rPr>
              <a:t>▤</a:t>
            </a:r>
            <a:endParaRPr lang="en-US" sz="1547" dirty="0"/>
          </a:p>
        </p:txBody>
      </p:sp>
      <p:sp>
        <p:nvSpPr>
          <p:cNvPr id="17" name="Text 15"/>
          <p:cNvSpPr/>
          <p:nvPr/>
        </p:nvSpPr>
        <p:spPr>
          <a:xfrm>
            <a:off x="4957763" y="1527311"/>
            <a:ext cx="3664744" cy="324041"/>
          </a:xfrm>
          <a:prstGeom prst="rect">
            <a:avLst/>
          </a:prstGeom>
          <a:noFill/>
          <a:ln/>
        </p:spPr>
        <p:txBody>
          <a:bodyPr wrap="square" lIns="0" tIns="0" rIns="0" bIns="0" rtlCol="0" anchor="t"/>
          <a:lstStyle/>
          <a:p>
            <a:pPr marL="0" indent="0" algn="l">
              <a:lnSpc>
                <a:spcPts val="1181"/>
              </a:lnSpc>
              <a:buNone/>
            </a:pPr>
            <a:r>
              <a:rPr lang="en-US" sz="844" dirty="0">
                <a:solidFill>
                  <a:srgbClr val="334155"/>
                </a:solidFill>
                <a:latin typeface="Carlito" pitchFamily="34" charset="0"/>
                <a:ea typeface="Carlito" pitchFamily="34" charset="-122"/>
                <a:cs typeface="Carlito" pitchFamily="34" charset="-120"/>
              </a:rPr>
              <a:t>Static INI file or dynamic script. Group hosts by role. Attach vars per host/group.</a:t>
            </a:r>
            <a:endParaRPr lang="en-US" sz="844" dirty="0"/>
          </a:p>
        </p:txBody>
      </p:sp>
      <p:sp>
        <p:nvSpPr>
          <p:cNvPr id="18" name="Text 16"/>
          <p:cNvSpPr/>
          <p:nvPr/>
        </p:nvSpPr>
        <p:spPr>
          <a:xfrm>
            <a:off x="403622" y="2016658"/>
            <a:ext cx="8336756" cy="550069"/>
          </a:xfrm>
          <a:prstGeom prst="roundRect">
            <a:avLst>
              <a:gd name="adj" fmla="val 20779"/>
            </a:avLst>
          </a:prstGeom>
          <a:solidFill>
            <a:srgbClr val="FFFFFF"/>
          </a:solidFill>
          <a:ln w="7144">
            <a:solidFill>
              <a:srgbClr val="CBD5E1"/>
            </a:solidFill>
            <a:prstDash val="solid"/>
          </a:ln>
        </p:spPr>
        <p:txBody>
          <a:bodyPr wrap="square" rtlCol="0" anchor="ctr"/>
          <a:lstStyle/>
          <a:p>
            <a:pPr marL="0" indent="0">
              <a:buNone/>
            </a:pPr>
            <a:endParaRPr lang="en-US" dirty="0"/>
          </a:p>
        </p:txBody>
      </p:sp>
      <p:sp>
        <p:nvSpPr>
          <p:cNvPr id="19" name="Text 17"/>
          <p:cNvSpPr/>
          <p:nvPr/>
        </p:nvSpPr>
        <p:spPr>
          <a:xfrm>
            <a:off x="532209" y="2102383"/>
            <a:ext cx="378619" cy="378619"/>
          </a:xfrm>
          <a:prstGeom prst="roundRect">
            <a:avLst>
              <a:gd name="adj" fmla="val 30189"/>
            </a:avLst>
          </a:prstGeom>
          <a:solidFill>
            <a:srgbClr val="0F172A"/>
          </a:solidFill>
          <a:ln w="21431">
            <a:solidFill>
              <a:srgbClr val="F97316"/>
            </a:solidFill>
            <a:prstDash val="solid"/>
          </a:ln>
        </p:spPr>
        <p:txBody>
          <a:bodyPr wrap="square" rtlCol="0" anchor="ctr"/>
          <a:lstStyle/>
          <a:p>
            <a:pPr marL="0" indent="0">
              <a:buNone/>
            </a:pPr>
            <a:endParaRPr lang="en-US" dirty="0"/>
          </a:p>
        </p:txBody>
      </p:sp>
      <p:sp>
        <p:nvSpPr>
          <p:cNvPr id="20" name="Text 18"/>
          <p:cNvSpPr/>
          <p:nvPr/>
        </p:nvSpPr>
        <p:spPr>
          <a:xfrm>
            <a:off x="521494" y="2091668"/>
            <a:ext cx="400050" cy="400050"/>
          </a:xfrm>
          <a:prstGeom prst="rect">
            <a:avLst/>
          </a:prstGeom>
          <a:noFill/>
          <a:ln/>
        </p:spPr>
        <p:txBody>
          <a:bodyPr wrap="none" lIns="0" tIns="0" rIns="0" bIns="0" rtlCol="0" anchor="ctr"/>
          <a:lstStyle/>
          <a:p>
            <a:pPr marL="0" indent="0" algn="ctr">
              <a:lnSpc>
                <a:spcPts val="1418"/>
              </a:lnSpc>
              <a:buNone/>
            </a:pPr>
            <a:r>
              <a:rPr lang="en-US" sz="1013" b="1" dirty="0">
                <a:solidFill>
                  <a:srgbClr val="FFFFFF"/>
                </a:solidFill>
                <a:latin typeface="Liberation Sans Narrow" pitchFamily="34" charset="0"/>
                <a:ea typeface="Liberation Sans Narrow" pitchFamily="34" charset="-122"/>
                <a:cs typeface="Liberation Sans Narrow" pitchFamily="34" charset="-120"/>
              </a:rPr>
              <a:t>2.3</a:t>
            </a:r>
            <a:endParaRPr lang="en-US" sz="1013" dirty="0"/>
          </a:p>
        </p:txBody>
      </p:sp>
      <p:sp>
        <p:nvSpPr>
          <p:cNvPr id="21" name="Text 19"/>
          <p:cNvSpPr/>
          <p:nvPr/>
        </p:nvSpPr>
        <p:spPr>
          <a:xfrm>
            <a:off x="1407319" y="2208870"/>
            <a:ext cx="1335686" cy="169736"/>
          </a:xfrm>
          <a:prstGeom prst="rect">
            <a:avLst/>
          </a:prstGeom>
          <a:noFill/>
          <a:ln/>
        </p:spPr>
        <p:txBody>
          <a:bodyPr wrap="none" lIns="0" tIns="0" rIns="0" bIns="0" rtlCol="0" anchor="t"/>
          <a:lstStyle/>
          <a:p>
            <a:pPr marL="0" indent="0" algn="l">
              <a:lnSpc>
                <a:spcPts val="1418"/>
              </a:lnSpc>
              <a:buNone/>
            </a:pPr>
            <a:r>
              <a:rPr lang="en-US" sz="1013" b="1" dirty="0">
                <a:solidFill>
                  <a:srgbClr val="0F172A"/>
                </a:solidFill>
                <a:latin typeface="Carlito" pitchFamily="34" charset="0"/>
                <a:ea typeface="Carlito" pitchFamily="34" charset="-122"/>
                <a:cs typeface="Carlito" pitchFamily="34" charset="-120"/>
              </a:rPr>
              <a:t>Ad-Hoc Commands</a:t>
            </a:r>
            <a:endParaRPr lang="en-US" sz="1013" dirty="0"/>
          </a:p>
        </p:txBody>
      </p:sp>
      <p:sp>
        <p:nvSpPr>
          <p:cNvPr id="22" name="Text 20"/>
          <p:cNvSpPr/>
          <p:nvPr/>
        </p:nvSpPr>
        <p:spPr>
          <a:xfrm>
            <a:off x="1193006" y="2213111"/>
            <a:ext cx="157163" cy="157163"/>
          </a:xfrm>
          <a:prstGeom prst="rect">
            <a:avLst/>
          </a:prstGeom>
          <a:noFill/>
          <a:ln/>
        </p:spPr>
        <p:txBody>
          <a:bodyPr wrap="none" lIns="0" tIns="0" rIns="0" bIns="0" rtlCol="0" anchor="ctr"/>
          <a:lstStyle/>
          <a:p>
            <a:pPr marL="0" indent="0" algn="ctr">
              <a:buNone/>
            </a:pPr>
            <a:r>
              <a:rPr lang="en-US" sz="1547" dirty="0">
                <a:solidFill>
                  <a:srgbClr val="F97316"/>
                </a:solidFill>
                <a:latin typeface="Segoe UI Symbol" pitchFamily="34" charset="0"/>
                <a:ea typeface="Segoe UI Symbol" pitchFamily="34" charset="-122"/>
                <a:cs typeface="Segoe UI Symbol" pitchFamily="34" charset="-120"/>
              </a:rPr>
              <a:t>⚡</a:t>
            </a:r>
            <a:endParaRPr lang="en-US" sz="1547" dirty="0"/>
          </a:p>
        </p:txBody>
      </p:sp>
      <p:sp>
        <p:nvSpPr>
          <p:cNvPr id="23" name="Text 21"/>
          <p:cNvSpPr/>
          <p:nvPr/>
        </p:nvSpPr>
        <p:spPr>
          <a:xfrm>
            <a:off x="4957763" y="2141674"/>
            <a:ext cx="3664744" cy="324041"/>
          </a:xfrm>
          <a:prstGeom prst="rect">
            <a:avLst/>
          </a:prstGeom>
          <a:noFill/>
          <a:ln/>
        </p:spPr>
        <p:txBody>
          <a:bodyPr wrap="square" lIns="0" tIns="0" rIns="0" bIns="0" rtlCol="0" anchor="t"/>
          <a:lstStyle/>
          <a:p>
            <a:pPr marL="0" indent="0" algn="l">
              <a:lnSpc>
                <a:spcPts val="1181"/>
              </a:lnSpc>
              <a:buNone/>
            </a:pPr>
            <a:r>
              <a:rPr lang="en-US" sz="844" dirty="0">
                <a:solidFill>
                  <a:srgbClr val="334155"/>
                </a:solidFill>
                <a:latin typeface="Carlito" pitchFamily="34" charset="0"/>
                <a:ea typeface="Carlito" pitchFamily="34" charset="-122"/>
                <a:cs typeface="Carlito" pitchFamily="34" charset="-120"/>
              </a:rPr>
              <a:t>One-shot operations. </a:t>
            </a:r>
            <a:r>
              <a:rPr lang="en-US" sz="844" b="1" dirty="0">
                <a:solidFill>
                  <a:srgbClr val="0F172A"/>
                </a:solidFill>
                <a:latin typeface="Carlito" pitchFamily="34" charset="0"/>
                <a:ea typeface="Carlito" pitchFamily="34" charset="-122"/>
                <a:cs typeface="Carlito" pitchFamily="34" charset="-120"/>
              </a:rPr>
              <a:t>ansible &lt;pattern&gt; -m &lt;module&gt;</a:t>
            </a:r>
            <a:r>
              <a:rPr lang="en-US" sz="844" dirty="0">
                <a:solidFill>
                  <a:srgbClr val="334155"/>
                </a:solidFill>
                <a:latin typeface="Carlito" pitchFamily="34" charset="0"/>
                <a:ea typeface="Carlito" pitchFamily="34" charset="-122"/>
                <a:cs typeface="Carlito" pitchFamily="34" charset="-120"/>
              </a:rPr>
              <a:t>. Use for exploration, not production.</a:t>
            </a:r>
            <a:endParaRPr lang="en-US" sz="844" dirty="0"/>
          </a:p>
        </p:txBody>
      </p:sp>
      <p:sp>
        <p:nvSpPr>
          <p:cNvPr id="24" name="Text 22"/>
          <p:cNvSpPr/>
          <p:nvPr/>
        </p:nvSpPr>
        <p:spPr>
          <a:xfrm>
            <a:off x="403622" y="2631021"/>
            <a:ext cx="8336756" cy="550069"/>
          </a:xfrm>
          <a:prstGeom prst="roundRect">
            <a:avLst>
              <a:gd name="adj" fmla="val 20779"/>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25" name="Text 23"/>
          <p:cNvSpPr/>
          <p:nvPr/>
        </p:nvSpPr>
        <p:spPr>
          <a:xfrm>
            <a:off x="532209" y="2716746"/>
            <a:ext cx="378619" cy="378619"/>
          </a:xfrm>
          <a:prstGeom prst="roundRect">
            <a:avLst>
              <a:gd name="adj" fmla="val 30189"/>
            </a:avLst>
          </a:prstGeom>
          <a:solidFill>
            <a:srgbClr val="0F172A"/>
          </a:solidFill>
          <a:ln w="21431">
            <a:solidFill>
              <a:srgbClr val="F97316"/>
            </a:solidFill>
            <a:prstDash val="solid"/>
          </a:ln>
        </p:spPr>
        <p:txBody>
          <a:bodyPr wrap="square" rtlCol="0" anchor="ctr"/>
          <a:lstStyle/>
          <a:p>
            <a:pPr marL="0" indent="0">
              <a:buNone/>
            </a:pPr>
            <a:endParaRPr lang="en-US" dirty="0"/>
          </a:p>
        </p:txBody>
      </p:sp>
      <p:sp>
        <p:nvSpPr>
          <p:cNvPr id="26" name="Text 24"/>
          <p:cNvSpPr/>
          <p:nvPr/>
        </p:nvSpPr>
        <p:spPr>
          <a:xfrm>
            <a:off x="521494" y="2706030"/>
            <a:ext cx="400050" cy="400050"/>
          </a:xfrm>
          <a:prstGeom prst="rect">
            <a:avLst/>
          </a:prstGeom>
          <a:noFill/>
          <a:ln/>
        </p:spPr>
        <p:txBody>
          <a:bodyPr wrap="none" lIns="0" tIns="0" rIns="0" bIns="0" rtlCol="0" anchor="ctr"/>
          <a:lstStyle/>
          <a:p>
            <a:pPr marL="0" indent="0" algn="ctr">
              <a:lnSpc>
                <a:spcPts val="1418"/>
              </a:lnSpc>
              <a:buNone/>
            </a:pPr>
            <a:r>
              <a:rPr lang="en-US" sz="1013" b="1" dirty="0">
                <a:solidFill>
                  <a:srgbClr val="FFFFFF"/>
                </a:solidFill>
                <a:latin typeface="Liberation Sans Narrow" pitchFamily="34" charset="0"/>
                <a:ea typeface="Liberation Sans Narrow" pitchFamily="34" charset="-122"/>
                <a:cs typeface="Liberation Sans Narrow" pitchFamily="34" charset="-120"/>
              </a:rPr>
              <a:t>2.4</a:t>
            </a:r>
            <a:endParaRPr lang="en-US" sz="1013" dirty="0"/>
          </a:p>
        </p:txBody>
      </p:sp>
      <p:sp>
        <p:nvSpPr>
          <p:cNvPr id="27" name="Text 25"/>
          <p:cNvSpPr/>
          <p:nvPr/>
        </p:nvSpPr>
        <p:spPr>
          <a:xfrm>
            <a:off x="1407319" y="2823232"/>
            <a:ext cx="1313501" cy="169736"/>
          </a:xfrm>
          <a:prstGeom prst="rect">
            <a:avLst/>
          </a:prstGeom>
          <a:noFill/>
          <a:ln/>
        </p:spPr>
        <p:txBody>
          <a:bodyPr wrap="none" lIns="0" tIns="0" rIns="0" bIns="0" rtlCol="0" anchor="t"/>
          <a:lstStyle/>
          <a:p>
            <a:pPr marL="0" indent="0" algn="l">
              <a:lnSpc>
                <a:spcPts val="1418"/>
              </a:lnSpc>
              <a:buNone/>
            </a:pPr>
            <a:r>
              <a:rPr lang="en-US" sz="1013" b="1" dirty="0">
                <a:solidFill>
                  <a:srgbClr val="0F172A"/>
                </a:solidFill>
                <a:latin typeface="Carlito" pitchFamily="34" charset="0"/>
                <a:ea typeface="Carlito" pitchFamily="34" charset="-122"/>
                <a:cs typeface="Carlito" pitchFamily="34" charset="-120"/>
              </a:rPr>
              <a:t>Playbooks + Tasks</a:t>
            </a:r>
            <a:endParaRPr lang="en-US" sz="1013" dirty="0"/>
          </a:p>
        </p:txBody>
      </p:sp>
      <p:sp>
        <p:nvSpPr>
          <p:cNvPr id="28" name="Text 26"/>
          <p:cNvSpPr/>
          <p:nvPr/>
        </p:nvSpPr>
        <p:spPr>
          <a:xfrm>
            <a:off x="1193006" y="2827474"/>
            <a:ext cx="157163" cy="157163"/>
          </a:xfrm>
          <a:prstGeom prst="rect">
            <a:avLst/>
          </a:prstGeom>
          <a:noFill/>
          <a:ln/>
        </p:spPr>
        <p:txBody>
          <a:bodyPr wrap="none" lIns="0" tIns="0" rIns="0" bIns="0" rtlCol="0" anchor="ctr"/>
          <a:lstStyle/>
          <a:p>
            <a:pPr marL="0" indent="0" algn="ctr">
              <a:buNone/>
            </a:pPr>
            <a:r>
              <a:rPr lang="en-US" sz="1547" dirty="0">
                <a:solidFill>
                  <a:srgbClr val="F97316"/>
                </a:solidFill>
                <a:latin typeface="Segoe UI Symbol" pitchFamily="34" charset="0"/>
                <a:ea typeface="Segoe UI Symbol" pitchFamily="34" charset="-122"/>
                <a:cs typeface="Segoe UI Symbol" pitchFamily="34" charset="-120"/>
              </a:rPr>
              <a:t>▤</a:t>
            </a:r>
            <a:endParaRPr lang="en-US" sz="1547" dirty="0"/>
          </a:p>
        </p:txBody>
      </p:sp>
      <p:sp>
        <p:nvSpPr>
          <p:cNvPr id="29" name="Text 27"/>
          <p:cNvSpPr/>
          <p:nvPr/>
        </p:nvSpPr>
        <p:spPr>
          <a:xfrm>
            <a:off x="4957763" y="2756036"/>
            <a:ext cx="3664744" cy="324041"/>
          </a:xfrm>
          <a:prstGeom prst="rect">
            <a:avLst/>
          </a:prstGeom>
          <a:noFill/>
          <a:ln/>
        </p:spPr>
        <p:txBody>
          <a:bodyPr wrap="square" lIns="0" tIns="0" rIns="0" bIns="0" rtlCol="0" anchor="t"/>
          <a:lstStyle/>
          <a:p>
            <a:pPr marL="0" indent="0" algn="l">
              <a:lnSpc>
                <a:spcPts val="1181"/>
              </a:lnSpc>
              <a:buNone/>
            </a:pPr>
            <a:r>
              <a:rPr lang="en-US" sz="844" dirty="0">
                <a:solidFill>
                  <a:srgbClr val="334155"/>
                </a:solidFill>
                <a:latin typeface="Carlito" pitchFamily="34" charset="0"/>
                <a:ea typeface="Carlito" pitchFamily="34" charset="-122"/>
                <a:cs typeface="Carlito" pitchFamily="34" charset="-120"/>
              </a:rPr>
              <a:t>YAML. </a:t>
            </a:r>
            <a:r>
              <a:rPr lang="en-US" sz="844" b="1" dirty="0">
                <a:solidFill>
                  <a:srgbClr val="0F172A"/>
                </a:solidFill>
                <a:latin typeface="Carlito" pitchFamily="34" charset="0"/>
                <a:ea typeface="Carlito" pitchFamily="34" charset="-122"/>
                <a:cs typeface="Carlito" pitchFamily="34" charset="-120"/>
              </a:rPr>
              <a:t>Playbook → Play → Task → Module</a:t>
            </a:r>
            <a:r>
              <a:rPr lang="en-US" sz="844" dirty="0">
                <a:solidFill>
                  <a:srgbClr val="334155"/>
                </a:solidFill>
                <a:latin typeface="Carlito" pitchFamily="34" charset="0"/>
                <a:ea typeface="Carlito" pitchFamily="34" charset="-122"/>
                <a:cs typeface="Carlito" pitchFamily="34" charset="-120"/>
              </a:rPr>
              <a:t>. Each task has name + module + optional vars/when/register.</a:t>
            </a:r>
            <a:endParaRPr lang="en-US" sz="844" dirty="0"/>
          </a:p>
        </p:txBody>
      </p:sp>
      <p:sp>
        <p:nvSpPr>
          <p:cNvPr id="30" name="Text 28"/>
          <p:cNvSpPr/>
          <p:nvPr/>
        </p:nvSpPr>
        <p:spPr>
          <a:xfrm>
            <a:off x="403622" y="3245383"/>
            <a:ext cx="8336756" cy="550069"/>
          </a:xfrm>
          <a:prstGeom prst="roundRect">
            <a:avLst>
              <a:gd name="adj" fmla="val 20779"/>
            </a:avLst>
          </a:prstGeom>
          <a:solidFill>
            <a:srgbClr val="FFFFFF"/>
          </a:solidFill>
          <a:ln w="7144">
            <a:solidFill>
              <a:srgbClr val="CBD5E1"/>
            </a:solidFill>
            <a:prstDash val="solid"/>
          </a:ln>
        </p:spPr>
        <p:txBody>
          <a:bodyPr wrap="square" rtlCol="0" anchor="ctr"/>
          <a:lstStyle/>
          <a:p>
            <a:pPr marL="0" indent="0">
              <a:buNone/>
            </a:pPr>
            <a:endParaRPr lang="en-US" dirty="0"/>
          </a:p>
        </p:txBody>
      </p:sp>
      <p:sp>
        <p:nvSpPr>
          <p:cNvPr id="31" name="Text 29"/>
          <p:cNvSpPr/>
          <p:nvPr/>
        </p:nvSpPr>
        <p:spPr>
          <a:xfrm>
            <a:off x="532209" y="3331108"/>
            <a:ext cx="378619" cy="378619"/>
          </a:xfrm>
          <a:prstGeom prst="roundRect">
            <a:avLst>
              <a:gd name="adj" fmla="val 30189"/>
            </a:avLst>
          </a:prstGeom>
          <a:solidFill>
            <a:srgbClr val="0F172A"/>
          </a:solidFill>
          <a:ln w="21431">
            <a:solidFill>
              <a:srgbClr val="F97316"/>
            </a:solidFill>
            <a:prstDash val="solid"/>
          </a:ln>
        </p:spPr>
        <p:txBody>
          <a:bodyPr wrap="square" rtlCol="0" anchor="ctr"/>
          <a:lstStyle/>
          <a:p>
            <a:pPr marL="0" indent="0">
              <a:buNone/>
            </a:pPr>
            <a:endParaRPr lang="en-US" dirty="0"/>
          </a:p>
        </p:txBody>
      </p:sp>
      <p:sp>
        <p:nvSpPr>
          <p:cNvPr id="32" name="Text 30"/>
          <p:cNvSpPr/>
          <p:nvPr/>
        </p:nvSpPr>
        <p:spPr>
          <a:xfrm>
            <a:off x="521494" y="3320393"/>
            <a:ext cx="400050" cy="400050"/>
          </a:xfrm>
          <a:prstGeom prst="rect">
            <a:avLst/>
          </a:prstGeom>
          <a:noFill/>
          <a:ln/>
        </p:spPr>
        <p:txBody>
          <a:bodyPr wrap="none" lIns="0" tIns="0" rIns="0" bIns="0" rtlCol="0" anchor="ctr"/>
          <a:lstStyle/>
          <a:p>
            <a:pPr marL="0" indent="0" algn="ctr">
              <a:lnSpc>
                <a:spcPts val="1418"/>
              </a:lnSpc>
              <a:buNone/>
            </a:pPr>
            <a:r>
              <a:rPr lang="en-US" sz="1013" b="1" dirty="0">
                <a:solidFill>
                  <a:srgbClr val="FFFFFF"/>
                </a:solidFill>
                <a:latin typeface="Liberation Sans Narrow" pitchFamily="34" charset="0"/>
                <a:ea typeface="Liberation Sans Narrow" pitchFamily="34" charset="-122"/>
                <a:cs typeface="Liberation Sans Narrow" pitchFamily="34" charset="-120"/>
              </a:rPr>
              <a:t>2.5</a:t>
            </a:r>
            <a:endParaRPr lang="en-US" sz="1013" dirty="0"/>
          </a:p>
        </p:txBody>
      </p:sp>
      <p:sp>
        <p:nvSpPr>
          <p:cNvPr id="33" name="Text 31"/>
          <p:cNvSpPr/>
          <p:nvPr/>
        </p:nvSpPr>
        <p:spPr>
          <a:xfrm>
            <a:off x="1407319" y="3437595"/>
            <a:ext cx="686677" cy="169736"/>
          </a:xfrm>
          <a:prstGeom prst="rect">
            <a:avLst/>
          </a:prstGeom>
          <a:noFill/>
          <a:ln/>
        </p:spPr>
        <p:txBody>
          <a:bodyPr wrap="none" lIns="0" tIns="0" rIns="0" bIns="0" rtlCol="0" anchor="t"/>
          <a:lstStyle/>
          <a:p>
            <a:pPr marL="0" indent="0" algn="l">
              <a:lnSpc>
                <a:spcPts val="1418"/>
              </a:lnSpc>
              <a:buNone/>
            </a:pPr>
            <a:r>
              <a:rPr lang="en-US" sz="1013" b="1" dirty="0">
                <a:solidFill>
                  <a:srgbClr val="0F172A"/>
                </a:solidFill>
                <a:latin typeface="Carlito" pitchFamily="34" charset="0"/>
                <a:ea typeface="Carlito" pitchFamily="34" charset="-122"/>
                <a:cs typeface="Carlito" pitchFamily="34" charset="-120"/>
              </a:rPr>
              <a:t>Modules</a:t>
            </a:r>
            <a:endParaRPr lang="en-US" sz="1013" dirty="0"/>
          </a:p>
        </p:txBody>
      </p:sp>
      <p:sp>
        <p:nvSpPr>
          <p:cNvPr id="34" name="Text 32"/>
          <p:cNvSpPr/>
          <p:nvPr/>
        </p:nvSpPr>
        <p:spPr>
          <a:xfrm>
            <a:off x="1193006" y="3441836"/>
            <a:ext cx="157163" cy="157163"/>
          </a:xfrm>
          <a:prstGeom prst="rect">
            <a:avLst/>
          </a:prstGeom>
          <a:noFill/>
          <a:ln/>
        </p:spPr>
        <p:txBody>
          <a:bodyPr wrap="none" lIns="0" tIns="0" rIns="0" bIns="0" rtlCol="0" anchor="ctr"/>
          <a:lstStyle/>
          <a:p>
            <a:pPr marL="0" indent="0" algn="ctr">
              <a:buNone/>
            </a:pPr>
            <a:r>
              <a:rPr lang="en-US" sz="1547" dirty="0">
                <a:solidFill>
                  <a:srgbClr val="F97316"/>
                </a:solidFill>
                <a:latin typeface="Segoe UI Symbol" pitchFamily="34" charset="0"/>
                <a:ea typeface="Segoe UI Symbol" pitchFamily="34" charset="-122"/>
                <a:cs typeface="Segoe UI Symbol" pitchFamily="34" charset="-120"/>
              </a:rPr>
              <a:t>✦</a:t>
            </a:r>
            <a:endParaRPr lang="en-US" sz="1547" dirty="0"/>
          </a:p>
        </p:txBody>
      </p:sp>
      <p:sp>
        <p:nvSpPr>
          <p:cNvPr id="35" name="Text 33"/>
          <p:cNvSpPr/>
          <p:nvPr/>
        </p:nvSpPr>
        <p:spPr>
          <a:xfrm>
            <a:off x="4957763" y="3370399"/>
            <a:ext cx="3664744" cy="324041"/>
          </a:xfrm>
          <a:prstGeom prst="rect">
            <a:avLst/>
          </a:prstGeom>
          <a:noFill/>
          <a:ln/>
        </p:spPr>
        <p:txBody>
          <a:bodyPr wrap="square" lIns="0" tIns="0" rIns="0" bIns="0" rtlCol="0" anchor="t"/>
          <a:lstStyle/>
          <a:p>
            <a:pPr marL="0" indent="0" algn="l">
              <a:lnSpc>
                <a:spcPts val="1181"/>
              </a:lnSpc>
              <a:buNone/>
            </a:pPr>
            <a:r>
              <a:rPr lang="en-US" sz="844" b="1" dirty="0">
                <a:solidFill>
                  <a:srgbClr val="0F172A"/>
                </a:solidFill>
                <a:latin typeface="Liberation Sans Narrow" pitchFamily="34" charset="0"/>
                <a:ea typeface="Liberation Sans Narrow" pitchFamily="34" charset="-122"/>
                <a:cs typeface="Liberation Sans Narrow" pitchFamily="34" charset="-120"/>
              </a:rPr>
              <a:t>5,000+ built-in.</a:t>
            </a:r>
            <a:r>
              <a:rPr lang="en-US" sz="844" dirty="0">
                <a:solidFill>
                  <a:srgbClr val="334155"/>
                </a:solidFill>
                <a:latin typeface="Carlito" pitchFamily="34" charset="0"/>
                <a:ea typeface="Carlito" pitchFamily="34" charset="-122"/>
                <a:cs typeface="Carlito" pitchFamily="34" charset="-120"/>
              </a:rPr>
              <a:t> apt, copy, template, service, file, user, git, command. Prefer modules over command/shell.</a:t>
            </a:r>
            <a:endParaRPr lang="en-US" sz="844" dirty="0"/>
          </a:p>
        </p:txBody>
      </p:sp>
      <p:sp>
        <p:nvSpPr>
          <p:cNvPr id="36" name="Text 34"/>
          <p:cNvSpPr/>
          <p:nvPr/>
        </p:nvSpPr>
        <p:spPr>
          <a:xfrm>
            <a:off x="403622" y="3859746"/>
            <a:ext cx="8336756" cy="550069"/>
          </a:xfrm>
          <a:prstGeom prst="roundRect">
            <a:avLst>
              <a:gd name="adj" fmla="val 20779"/>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37" name="Text 35"/>
          <p:cNvSpPr/>
          <p:nvPr/>
        </p:nvSpPr>
        <p:spPr>
          <a:xfrm>
            <a:off x="532209" y="3945471"/>
            <a:ext cx="378619" cy="378619"/>
          </a:xfrm>
          <a:prstGeom prst="roundRect">
            <a:avLst>
              <a:gd name="adj" fmla="val 30189"/>
            </a:avLst>
          </a:prstGeom>
          <a:solidFill>
            <a:srgbClr val="0F172A"/>
          </a:solidFill>
          <a:ln w="21431">
            <a:solidFill>
              <a:srgbClr val="F97316"/>
            </a:solidFill>
            <a:prstDash val="solid"/>
          </a:ln>
        </p:spPr>
        <p:txBody>
          <a:bodyPr wrap="square" rtlCol="0" anchor="ctr"/>
          <a:lstStyle/>
          <a:p>
            <a:pPr marL="0" indent="0">
              <a:buNone/>
            </a:pPr>
            <a:endParaRPr lang="en-US" dirty="0"/>
          </a:p>
        </p:txBody>
      </p:sp>
      <p:sp>
        <p:nvSpPr>
          <p:cNvPr id="38" name="Text 36"/>
          <p:cNvSpPr/>
          <p:nvPr/>
        </p:nvSpPr>
        <p:spPr>
          <a:xfrm>
            <a:off x="521494" y="3934755"/>
            <a:ext cx="400050" cy="400050"/>
          </a:xfrm>
          <a:prstGeom prst="rect">
            <a:avLst/>
          </a:prstGeom>
          <a:noFill/>
          <a:ln/>
        </p:spPr>
        <p:txBody>
          <a:bodyPr wrap="none" lIns="0" tIns="0" rIns="0" bIns="0" rtlCol="0" anchor="ctr"/>
          <a:lstStyle/>
          <a:p>
            <a:pPr marL="0" indent="0" algn="ctr">
              <a:lnSpc>
                <a:spcPts val="1418"/>
              </a:lnSpc>
              <a:buNone/>
            </a:pPr>
            <a:r>
              <a:rPr lang="en-US" sz="1013" b="1" dirty="0">
                <a:solidFill>
                  <a:srgbClr val="FFFFFF"/>
                </a:solidFill>
                <a:latin typeface="Liberation Sans Narrow" pitchFamily="34" charset="0"/>
                <a:ea typeface="Liberation Sans Narrow" pitchFamily="34" charset="-122"/>
                <a:cs typeface="Liberation Sans Narrow" pitchFamily="34" charset="-120"/>
              </a:rPr>
              <a:t>2.6</a:t>
            </a:r>
            <a:endParaRPr lang="en-US" sz="1013" dirty="0"/>
          </a:p>
        </p:txBody>
      </p:sp>
      <p:sp>
        <p:nvSpPr>
          <p:cNvPr id="39" name="Text 37"/>
          <p:cNvSpPr/>
          <p:nvPr/>
        </p:nvSpPr>
        <p:spPr>
          <a:xfrm>
            <a:off x="1407319" y="4051957"/>
            <a:ext cx="1213461" cy="169736"/>
          </a:xfrm>
          <a:prstGeom prst="rect">
            <a:avLst/>
          </a:prstGeom>
          <a:noFill/>
          <a:ln/>
        </p:spPr>
        <p:txBody>
          <a:bodyPr wrap="none" lIns="0" tIns="0" rIns="0" bIns="0" rtlCol="0" anchor="t"/>
          <a:lstStyle/>
          <a:p>
            <a:pPr marL="0" indent="0" algn="l">
              <a:lnSpc>
                <a:spcPts val="1418"/>
              </a:lnSpc>
              <a:buNone/>
            </a:pPr>
            <a:r>
              <a:rPr lang="en-US" sz="1013" b="1" dirty="0">
                <a:solidFill>
                  <a:srgbClr val="0F172A"/>
                </a:solidFill>
                <a:latin typeface="Carlito" pitchFamily="34" charset="0"/>
                <a:ea typeface="Carlito" pitchFamily="34" charset="-122"/>
                <a:cs typeface="Carlito" pitchFamily="34" charset="-120"/>
              </a:rPr>
              <a:t>Roles + Handlers</a:t>
            </a:r>
            <a:endParaRPr lang="en-US" sz="1013" dirty="0"/>
          </a:p>
        </p:txBody>
      </p:sp>
      <p:sp>
        <p:nvSpPr>
          <p:cNvPr id="40" name="Text 38"/>
          <p:cNvSpPr/>
          <p:nvPr/>
        </p:nvSpPr>
        <p:spPr>
          <a:xfrm>
            <a:off x="1193006" y="4056199"/>
            <a:ext cx="157163" cy="157163"/>
          </a:xfrm>
          <a:prstGeom prst="rect">
            <a:avLst/>
          </a:prstGeom>
          <a:noFill/>
          <a:ln/>
        </p:spPr>
        <p:txBody>
          <a:bodyPr wrap="none" lIns="0" tIns="0" rIns="0" bIns="0" rtlCol="0" anchor="ctr"/>
          <a:lstStyle/>
          <a:p>
            <a:pPr marL="0" indent="0" algn="ctr">
              <a:buNone/>
            </a:pPr>
            <a:r>
              <a:rPr lang="en-US" sz="1547" dirty="0">
                <a:solidFill>
                  <a:srgbClr val="F97316"/>
                </a:solidFill>
                <a:latin typeface="Segoe UI Symbol" pitchFamily="34" charset="0"/>
                <a:ea typeface="Segoe UI Symbol" pitchFamily="34" charset="-122"/>
                <a:cs typeface="Segoe UI Symbol" pitchFamily="34" charset="-120"/>
              </a:rPr>
              <a:t>▣</a:t>
            </a:r>
            <a:endParaRPr lang="en-US" sz="1547" dirty="0"/>
          </a:p>
        </p:txBody>
      </p:sp>
      <p:sp>
        <p:nvSpPr>
          <p:cNvPr id="41" name="Text 39"/>
          <p:cNvSpPr/>
          <p:nvPr/>
        </p:nvSpPr>
        <p:spPr>
          <a:xfrm>
            <a:off x="4957763" y="3984761"/>
            <a:ext cx="3664744" cy="324041"/>
          </a:xfrm>
          <a:prstGeom prst="rect">
            <a:avLst/>
          </a:prstGeom>
          <a:noFill/>
          <a:ln/>
        </p:spPr>
        <p:txBody>
          <a:bodyPr wrap="square" lIns="0" tIns="0" rIns="0" bIns="0" rtlCol="0" anchor="t"/>
          <a:lstStyle/>
          <a:p>
            <a:pPr marL="0" indent="0" algn="l">
              <a:lnSpc>
                <a:spcPts val="1181"/>
              </a:lnSpc>
              <a:buNone/>
            </a:pPr>
            <a:r>
              <a:rPr lang="en-US" sz="844" dirty="0">
                <a:solidFill>
                  <a:srgbClr val="334155"/>
                </a:solidFill>
                <a:latin typeface="Carlito" pitchFamily="34" charset="0"/>
                <a:ea typeface="Carlito" pitchFamily="34" charset="-122"/>
                <a:cs typeface="Carlito" pitchFamily="34" charset="-120"/>
              </a:rPr>
              <a:t>Roles bundle tasks/handlers/templates/files into reusable units. </a:t>
            </a:r>
            <a:r>
              <a:rPr lang="en-US" sz="844" b="1" dirty="0">
                <a:solidFill>
                  <a:srgbClr val="0F172A"/>
                </a:solidFill>
                <a:latin typeface="Carlito" pitchFamily="34" charset="0"/>
                <a:ea typeface="Carlito" pitchFamily="34" charset="-122"/>
                <a:cs typeface="Carlito" pitchFamily="34" charset="-120"/>
              </a:rPr>
              <a:t>Handlers batch service restarts.</a:t>
            </a:r>
            <a:endParaRPr lang="en-US" sz="844" dirty="0"/>
          </a:p>
        </p:txBody>
      </p:sp>
      <p:sp>
        <p:nvSpPr>
          <p:cNvPr id="42" name="Text 40"/>
          <p:cNvSpPr/>
          <p:nvPr/>
        </p:nvSpPr>
        <p:spPr>
          <a:xfrm>
            <a:off x="403622" y="4474108"/>
            <a:ext cx="8336756" cy="550069"/>
          </a:xfrm>
          <a:prstGeom prst="roundRect">
            <a:avLst>
              <a:gd name="adj" fmla="val 20779"/>
            </a:avLst>
          </a:prstGeom>
          <a:solidFill>
            <a:srgbClr val="FFF7ED"/>
          </a:solidFill>
          <a:ln w="7144">
            <a:solidFill>
              <a:srgbClr val="F97316"/>
            </a:solidFill>
            <a:prstDash val="solid"/>
          </a:ln>
        </p:spPr>
        <p:txBody>
          <a:bodyPr wrap="square" rtlCol="0" anchor="ctr"/>
          <a:lstStyle/>
          <a:p>
            <a:pPr marL="0" indent="0">
              <a:buNone/>
            </a:pPr>
            <a:endParaRPr lang="en-US" dirty="0"/>
          </a:p>
        </p:txBody>
      </p:sp>
      <p:sp>
        <p:nvSpPr>
          <p:cNvPr id="43" name="Text 41"/>
          <p:cNvSpPr/>
          <p:nvPr/>
        </p:nvSpPr>
        <p:spPr>
          <a:xfrm>
            <a:off x="532209" y="4559833"/>
            <a:ext cx="378619" cy="378619"/>
          </a:xfrm>
          <a:prstGeom prst="roundRect">
            <a:avLst>
              <a:gd name="adj" fmla="val 30189"/>
            </a:avLst>
          </a:prstGeom>
          <a:solidFill>
            <a:srgbClr val="F97316"/>
          </a:solidFill>
          <a:ln w="21431">
            <a:solidFill>
              <a:srgbClr val="0F172A"/>
            </a:solidFill>
            <a:prstDash val="solid"/>
          </a:ln>
        </p:spPr>
        <p:txBody>
          <a:bodyPr wrap="square" rtlCol="0" anchor="ctr"/>
          <a:lstStyle/>
          <a:p>
            <a:pPr marL="0" indent="0">
              <a:buNone/>
            </a:pPr>
            <a:endParaRPr lang="en-US" dirty="0"/>
          </a:p>
        </p:txBody>
      </p:sp>
      <p:sp>
        <p:nvSpPr>
          <p:cNvPr id="44" name="Text 42"/>
          <p:cNvSpPr/>
          <p:nvPr/>
        </p:nvSpPr>
        <p:spPr>
          <a:xfrm>
            <a:off x="521494" y="4549118"/>
            <a:ext cx="400050" cy="400050"/>
          </a:xfrm>
          <a:prstGeom prst="rect">
            <a:avLst/>
          </a:prstGeom>
          <a:noFill/>
          <a:ln/>
        </p:spPr>
        <p:txBody>
          <a:bodyPr wrap="none" lIns="0" tIns="0" rIns="0" bIns="0" rtlCol="0" anchor="ctr"/>
          <a:lstStyle/>
          <a:p>
            <a:pPr marL="0" indent="0" algn="ctr">
              <a:lnSpc>
                <a:spcPts val="1418"/>
              </a:lnSpc>
              <a:buNone/>
            </a:pPr>
            <a:r>
              <a:rPr lang="en-US" sz="1013" b="1" dirty="0">
                <a:solidFill>
                  <a:srgbClr val="FFFFFF"/>
                </a:solidFill>
                <a:latin typeface="Liberation Sans Narrow" pitchFamily="34" charset="0"/>
                <a:ea typeface="Liberation Sans Narrow" pitchFamily="34" charset="-122"/>
                <a:cs typeface="Liberation Sans Narrow" pitchFamily="34" charset="-120"/>
              </a:rPr>
              <a:t>2.7</a:t>
            </a:r>
            <a:endParaRPr lang="en-US" sz="1013" dirty="0"/>
          </a:p>
        </p:txBody>
      </p:sp>
      <p:sp>
        <p:nvSpPr>
          <p:cNvPr id="45" name="Text 43"/>
          <p:cNvSpPr/>
          <p:nvPr/>
        </p:nvSpPr>
        <p:spPr>
          <a:xfrm>
            <a:off x="1387943" y="4666320"/>
            <a:ext cx="928093" cy="169736"/>
          </a:xfrm>
          <a:prstGeom prst="rect">
            <a:avLst/>
          </a:prstGeom>
          <a:noFill/>
          <a:ln/>
        </p:spPr>
        <p:txBody>
          <a:bodyPr wrap="none" lIns="0" tIns="0" rIns="0" bIns="0" rtlCol="0" anchor="t"/>
          <a:lstStyle/>
          <a:p>
            <a:pPr marL="0" indent="0" algn="l">
              <a:lnSpc>
                <a:spcPts val="1418"/>
              </a:lnSpc>
              <a:buNone/>
            </a:pPr>
            <a:r>
              <a:rPr lang="en-US" sz="1013" b="1" dirty="0">
                <a:solidFill>
                  <a:srgbClr val="0F172A"/>
                </a:solidFill>
                <a:latin typeface="Carlito" pitchFamily="34" charset="0"/>
                <a:ea typeface="Carlito" pitchFamily="34" charset="-122"/>
                <a:cs typeface="Carlito" pitchFamily="34" charset="-120"/>
              </a:rPr>
              <a:t>Idempotency</a:t>
            </a:r>
            <a:endParaRPr lang="en-US" sz="1013" dirty="0"/>
          </a:p>
        </p:txBody>
      </p:sp>
      <p:sp>
        <p:nvSpPr>
          <p:cNvPr id="46" name="Text 44"/>
          <p:cNvSpPr/>
          <p:nvPr/>
        </p:nvSpPr>
        <p:spPr>
          <a:xfrm>
            <a:off x="1193006" y="4670561"/>
            <a:ext cx="157163" cy="157163"/>
          </a:xfrm>
          <a:prstGeom prst="rect">
            <a:avLst/>
          </a:prstGeom>
          <a:noFill/>
          <a:ln/>
        </p:spPr>
        <p:txBody>
          <a:bodyPr wrap="none" lIns="0" tIns="0" rIns="0" bIns="0" rtlCol="0" anchor="ctr"/>
          <a:lstStyle/>
          <a:p>
            <a:pPr marL="0" indent="0" algn="ctr">
              <a:buNone/>
            </a:pPr>
            <a:r>
              <a:rPr lang="en-US" sz="1547" dirty="0">
                <a:solidFill>
                  <a:srgbClr val="F97316"/>
                </a:solidFill>
                <a:latin typeface="Segoe UI Symbol" pitchFamily="34" charset="0"/>
                <a:ea typeface="Segoe UI Symbol" pitchFamily="34" charset="-122"/>
                <a:cs typeface="Segoe UI Symbol" pitchFamily="34" charset="-120"/>
              </a:rPr>
              <a:t>✦</a:t>
            </a:r>
            <a:endParaRPr lang="en-US" sz="1547" dirty="0"/>
          </a:p>
        </p:txBody>
      </p:sp>
      <p:sp>
        <p:nvSpPr>
          <p:cNvPr id="47" name="Text 45"/>
          <p:cNvSpPr/>
          <p:nvPr/>
        </p:nvSpPr>
        <p:spPr>
          <a:xfrm>
            <a:off x="4957763" y="4599124"/>
            <a:ext cx="3664744" cy="324041"/>
          </a:xfrm>
          <a:prstGeom prst="rect">
            <a:avLst/>
          </a:prstGeom>
          <a:noFill/>
          <a:ln/>
        </p:spPr>
        <p:txBody>
          <a:bodyPr wrap="square" lIns="0" tIns="0" rIns="0" bIns="0" rtlCol="0" anchor="t"/>
          <a:lstStyle/>
          <a:p>
            <a:pPr marL="0" indent="0" algn="l">
              <a:lnSpc>
                <a:spcPts val="1181"/>
              </a:lnSpc>
              <a:buNone/>
            </a:pPr>
            <a:r>
              <a:rPr lang="en-US" sz="844" dirty="0">
                <a:solidFill>
                  <a:srgbClr val="334155"/>
                </a:solidFill>
                <a:latin typeface="Carlito" pitchFamily="34" charset="0"/>
                <a:ea typeface="Carlito" pitchFamily="34" charset="-122"/>
                <a:cs typeface="Carlito" pitchFamily="34" charset="-120"/>
              </a:rPr>
              <a:t>Running twice = running once. Modules check before act. </a:t>
            </a:r>
            <a:r>
              <a:rPr lang="en-US" sz="844" b="1" dirty="0">
                <a:solidFill>
                  <a:srgbClr val="0F172A"/>
                </a:solidFill>
                <a:latin typeface="Carlito" pitchFamily="34" charset="0"/>
                <a:ea typeface="Carlito" pitchFamily="34" charset="-122"/>
                <a:cs typeface="Carlito" pitchFamily="34" charset="-120"/>
              </a:rPr>
              <a:t>Run your playbook twice — second run should report 0 changes.</a:t>
            </a:r>
            <a:endParaRPr lang="en-US" sz="844" dirty="0"/>
          </a:p>
        </p:txBody>
      </p:sp>
      <p:sp>
        <p:nvSpPr>
          <p:cNvPr id="48" name="Text 46"/>
          <p:cNvSpPr/>
          <p:nvPr/>
        </p:nvSpPr>
        <p:spPr>
          <a:xfrm>
            <a:off x="400050" y="5142049"/>
            <a:ext cx="8343900" cy="540023"/>
          </a:xfrm>
          <a:prstGeom prst="roundRect">
            <a:avLst>
              <a:gd name="adj" fmla="val 14111"/>
            </a:avLst>
          </a:prstGeom>
          <a:solidFill>
            <a:srgbClr val="FFF7ED"/>
          </a:solidFill>
          <a:ln/>
        </p:spPr>
        <p:txBody>
          <a:bodyPr wrap="square" rtlCol="0" anchor="ctr"/>
          <a:lstStyle/>
          <a:p>
            <a:pPr marL="0" indent="0">
              <a:buNone/>
            </a:pPr>
            <a:endParaRPr lang="en-US" dirty="0"/>
          </a:p>
        </p:txBody>
      </p:sp>
      <p:sp>
        <p:nvSpPr>
          <p:cNvPr id="49" name="Shape 47"/>
          <p:cNvSpPr/>
          <p:nvPr/>
        </p:nvSpPr>
        <p:spPr>
          <a:xfrm>
            <a:off x="421481" y="5142049"/>
            <a:ext cx="0" cy="540023"/>
          </a:xfrm>
          <a:prstGeom prst="line">
            <a:avLst/>
          </a:prstGeom>
          <a:noFill/>
          <a:ln w="42863">
            <a:solidFill>
              <a:srgbClr val="F97316"/>
            </a:solidFill>
            <a:prstDash val="solid"/>
          </a:ln>
        </p:spPr>
      </p:sp>
      <p:sp>
        <p:nvSpPr>
          <p:cNvPr id="50" name="Text 48"/>
          <p:cNvSpPr/>
          <p:nvPr/>
        </p:nvSpPr>
        <p:spPr>
          <a:xfrm>
            <a:off x="600075" y="5326335"/>
            <a:ext cx="171450" cy="91440"/>
          </a:xfrm>
          <a:prstGeom prst="rect">
            <a:avLst/>
          </a:prstGeom>
          <a:noFill/>
          <a:ln/>
        </p:spPr>
        <p:txBody>
          <a:bodyPr wrap="none" lIns="0" tIns="0" rIns="0" bIns="0" rtlCol="0" anchor="ctr"/>
          <a:lstStyle/>
          <a:p>
            <a:pPr marL="0" indent="0" algn="ctr">
              <a:buNone/>
            </a:pPr>
            <a:r>
              <a:rPr lang="en-US" sz="1688" dirty="0">
                <a:solidFill>
                  <a:srgbClr val="F97316"/>
                </a:solidFill>
                <a:latin typeface="Segoe UI Symbol" pitchFamily="34" charset="0"/>
                <a:ea typeface="Segoe UI Symbol" pitchFamily="34" charset="-122"/>
                <a:cs typeface="Segoe UI Symbol" pitchFamily="34" charset="-120"/>
              </a:rPr>
              <a:t>→</a:t>
            </a:r>
            <a:endParaRPr lang="en-US" sz="1688" dirty="0"/>
          </a:p>
        </p:txBody>
      </p:sp>
      <p:sp>
        <p:nvSpPr>
          <p:cNvPr id="51" name="Text 49"/>
          <p:cNvSpPr/>
          <p:nvPr/>
        </p:nvSpPr>
        <p:spPr>
          <a:xfrm>
            <a:off x="857250" y="5242061"/>
            <a:ext cx="7729538" cy="91440"/>
          </a:xfrm>
          <a:prstGeom prst="rect">
            <a:avLst/>
          </a:prstGeom>
          <a:noFill/>
          <a:ln/>
        </p:spPr>
        <p:txBody>
          <a:bodyPr wrap="square" lIns="0" tIns="0" rIns="0" bIns="0" rtlCol="0" anchor="t"/>
          <a:lstStyle/>
          <a:p>
            <a:pPr marL="0" indent="0" algn="l">
              <a:lnSpc>
                <a:spcPts val="1339"/>
              </a:lnSpc>
              <a:buNone/>
            </a:pPr>
            <a:r>
              <a:rPr lang="en-US" sz="956" dirty="0">
                <a:solidFill>
                  <a:srgbClr val="0F172A"/>
                </a:solidFill>
                <a:latin typeface="Carlito" pitchFamily="34" charset="0"/>
                <a:ea typeface="Carlito" pitchFamily="34" charset="-122"/>
                <a:cs typeface="Carlito" pitchFamily="34" charset="-120"/>
              </a:rPr>
              <a:t>Section B taught you to declaratively configure infrastructure at scale. </a:t>
            </a:r>
            <a:r>
              <a:rPr lang="en-US" sz="956" b="1" dirty="0">
                <a:solidFill>
                  <a:srgbClr val="C2410C"/>
                </a:solidFill>
                <a:latin typeface="Carlito" pitchFamily="34" charset="0"/>
                <a:ea typeface="Carlito" pitchFamily="34" charset="-122"/>
                <a:cs typeface="Carlito" pitchFamily="34" charset="-120"/>
              </a:rPr>
              <a:t>Section C</a:t>
            </a:r>
            <a:r>
              <a:rPr lang="en-US" sz="956" dirty="0">
                <a:solidFill>
                  <a:srgbClr val="0F172A"/>
                </a:solidFill>
                <a:latin typeface="Carlito" pitchFamily="34" charset="0"/>
                <a:ea typeface="Carlito" pitchFamily="34" charset="-122"/>
                <a:cs typeface="Carlito" pitchFamily="34" charset="-120"/>
              </a:rPr>
              <a:t> will show you how AI helps WRITE the Ansible and Terraform code itself.</a:t>
            </a:r>
            <a:endParaRPr lang="en-US" sz="956"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pic>
        <p:nvPicPr>
          <p:cNvPr id="2" name="Image 0" descr="https://z-cdn.chatglm.cn/image-search-mcp/images-ppt/331d76cc49d6.jpeg"/>
          <p:cNvPicPr>
            <a:picLocks noChangeAspect="1"/>
          </p:cNvPicPr>
          <p:nvPr/>
        </p:nvPicPr>
        <p:blipFill>
          <a:blip r:embed="rId3"/>
          <a:srcRect/>
          <a:stretch/>
        </p:blipFill>
        <p:spPr>
          <a:xfrm>
            <a:off x="0" y="0"/>
            <a:ext cx="9144000" cy="5143500"/>
          </a:xfrm>
          <a:prstGeom prst="rect">
            <a:avLst/>
          </a:prstGeom>
        </p:spPr>
      </p:pic>
      <p:sp>
        <p:nvSpPr>
          <p:cNvPr id="3" name="Text 0"/>
          <p:cNvSpPr/>
          <p:nvPr/>
        </p:nvSpPr>
        <p:spPr>
          <a:xfrm>
            <a:off x="0" y="0"/>
            <a:ext cx="9144000" cy="5143500"/>
          </a:xfrm>
          <a:prstGeom prst="rect">
            <a:avLst/>
          </a:prstGeom>
          <a:solidFill>
            <a:srgbClr val="0F172A">
              <a:alpha val="55000"/>
            </a:srgbClr>
          </a:solidFill>
          <a:ln/>
        </p:spPr>
        <p:txBody>
          <a:bodyPr wrap="square" rtlCol="0" anchor="ctr"/>
          <a:lstStyle/>
          <a:p>
            <a:pPr marL="0" indent="0">
              <a:buNone/>
            </a:pPr>
            <a:endParaRPr lang="en-US" dirty="0"/>
          </a:p>
        </p:txBody>
      </p:sp>
      <p:sp>
        <p:nvSpPr>
          <p:cNvPr id="4" name="Text 1"/>
          <p:cNvSpPr/>
          <p:nvPr/>
        </p:nvSpPr>
        <p:spPr>
          <a:xfrm>
            <a:off x="575072" y="1205285"/>
            <a:ext cx="7993856" cy="341449"/>
          </a:xfrm>
          <a:prstGeom prst="roundRect">
            <a:avLst>
              <a:gd name="adj" fmla="val 2786792"/>
            </a:avLst>
          </a:prstGeom>
          <a:solidFill>
            <a:srgbClr val="F97316">
              <a:alpha val="18000"/>
            </a:srgbClr>
          </a:solidFill>
          <a:ln w="7144">
            <a:solidFill>
              <a:srgbClr val="F97316"/>
            </a:solidFill>
            <a:prstDash val="solid"/>
          </a:ln>
        </p:spPr>
        <p:txBody>
          <a:bodyPr wrap="square" rtlCol="0" anchor="ctr"/>
          <a:lstStyle/>
          <a:p>
            <a:pPr marL="0" indent="0">
              <a:buNone/>
            </a:pPr>
            <a:endParaRPr lang="en-US" dirty="0"/>
          </a:p>
        </p:txBody>
      </p:sp>
      <p:sp>
        <p:nvSpPr>
          <p:cNvPr id="5" name="Text 2"/>
          <p:cNvSpPr/>
          <p:nvPr/>
        </p:nvSpPr>
        <p:spPr>
          <a:xfrm>
            <a:off x="571500" y="1201713"/>
            <a:ext cx="8001000" cy="376480"/>
          </a:xfrm>
          <a:prstGeom prst="rect">
            <a:avLst/>
          </a:prstGeom>
          <a:noFill/>
          <a:ln/>
        </p:spPr>
        <p:txBody>
          <a:bodyPr wrap="none" lIns="157163" tIns="57150" rIns="157163" bIns="57150" rtlCol="0" anchor="t"/>
          <a:lstStyle/>
          <a:p>
            <a:pPr marL="0" indent="0" algn="l">
              <a:lnSpc>
                <a:spcPts val="1733"/>
              </a:lnSpc>
              <a:buNone/>
            </a:pPr>
            <a:r>
              <a:rPr lang="en-US" sz="1238" b="1" kern="0" spc="113" dirty="0">
                <a:solidFill>
                  <a:srgbClr val="FED7AA"/>
                </a:solidFill>
                <a:latin typeface="Liberation Sans Narrow" pitchFamily="34" charset="0"/>
                <a:ea typeface="Liberation Sans Narrow" pitchFamily="34" charset="-122"/>
                <a:cs typeface="Liberation Sans Narrow" pitchFamily="34" charset="-120"/>
              </a:rPr>
              <a:t>MODULE 4 · SECTION C</a:t>
            </a:r>
            <a:endParaRPr lang="en-US" sz="1238" dirty="0"/>
          </a:p>
        </p:txBody>
      </p:sp>
      <p:sp>
        <p:nvSpPr>
          <p:cNvPr id="6" name="Text 3"/>
          <p:cNvSpPr/>
          <p:nvPr/>
        </p:nvSpPr>
        <p:spPr>
          <a:xfrm>
            <a:off x="571500" y="1721755"/>
            <a:ext cx="8572500" cy="740664"/>
          </a:xfrm>
          <a:prstGeom prst="rect">
            <a:avLst/>
          </a:prstGeom>
          <a:noFill/>
          <a:ln/>
        </p:spPr>
        <p:txBody>
          <a:bodyPr wrap="none" lIns="0" tIns="0" rIns="0" bIns="0" rtlCol="0" anchor="t"/>
          <a:lstStyle/>
          <a:p>
            <a:pPr marL="0" indent="0" algn="l">
              <a:lnSpc>
                <a:spcPts val="5400"/>
              </a:lnSpc>
              <a:buNone/>
            </a:pPr>
            <a:r>
              <a:rPr lang="en-US" sz="5400" b="1" kern="0" spc="-112" dirty="0">
                <a:solidFill>
                  <a:srgbClr val="F97316"/>
                </a:solidFill>
                <a:latin typeface="Liberation Sans Narrow" pitchFamily="34" charset="0"/>
                <a:ea typeface="Liberation Sans Narrow" pitchFamily="34" charset="-122"/>
                <a:cs typeface="Liberation Sans Narrow" pitchFamily="34" charset="-120"/>
              </a:rPr>
              <a:t>03 / 04</a:t>
            </a:r>
            <a:endParaRPr lang="en-US" sz="5400" dirty="0"/>
          </a:p>
        </p:txBody>
      </p:sp>
      <p:sp>
        <p:nvSpPr>
          <p:cNvPr id="7" name="Text 4"/>
          <p:cNvSpPr/>
          <p:nvPr/>
        </p:nvSpPr>
        <p:spPr>
          <a:xfrm>
            <a:off x="571500" y="2521855"/>
            <a:ext cx="8572500" cy="543081"/>
          </a:xfrm>
          <a:prstGeom prst="rect">
            <a:avLst/>
          </a:prstGeom>
          <a:noFill/>
          <a:ln/>
        </p:spPr>
        <p:txBody>
          <a:bodyPr wrap="square" lIns="0" tIns="0" rIns="0" bIns="0" rtlCol="0" anchor="t"/>
          <a:lstStyle/>
          <a:p>
            <a:pPr marL="0" indent="0" algn="l">
              <a:lnSpc>
                <a:spcPts val="3960"/>
              </a:lnSpc>
              <a:buNone/>
            </a:pPr>
            <a:r>
              <a:rPr lang="en-US" sz="3600" b="1" kern="0" spc="-56" dirty="0">
                <a:solidFill>
                  <a:srgbClr val="FFFFFF"/>
                </a:solidFill>
                <a:latin typeface="Carlito" pitchFamily="34" charset="0"/>
                <a:ea typeface="Carlito" pitchFamily="34" charset="-122"/>
                <a:cs typeface="Carlito" pitchFamily="34" charset="-120"/>
              </a:rPr>
              <a:t>AI-Driven Infrastructure Generation</a:t>
            </a:r>
            <a:endParaRPr lang="en-US" sz="3600" dirty="0"/>
          </a:p>
        </p:txBody>
      </p:sp>
      <p:sp>
        <p:nvSpPr>
          <p:cNvPr id="8" name="Text 5"/>
          <p:cNvSpPr/>
          <p:nvPr/>
        </p:nvSpPr>
        <p:spPr>
          <a:xfrm>
            <a:off x="571500" y="3196158"/>
            <a:ext cx="6572250" cy="604683"/>
          </a:xfrm>
          <a:prstGeom prst="rect">
            <a:avLst/>
          </a:prstGeom>
          <a:noFill/>
          <a:ln/>
        </p:spPr>
        <p:txBody>
          <a:bodyPr wrap="square" lIns="0" tIns="0" rIns="0" bIns="0" rtlCol="0" anchor="t"/>
          <a:lstStyle/>
          <a:p>
            <a:pPr marL="0" indent="0" algn="l">
              <a:lnSpc>
                <a:spcPts val="2205"/>
              </a:lnSpc>
              <a:buNone/>
            </a:pPr>
            <a:r>
              <a:rPr lang="en-US" sz="1575" dirty="0">
                <a:solidFill>
                  <a:srgbClr val="FFFFFF"/>
                </a:solidFill>
                <a:latin typeface="Carlito" pitchFamily="34" charset="0"/>
                <a:ea typeface="Carlito" pitchFamily="34" charset="-122"/>
                <a:cs typeface="Carlito" pitchFamily="34" charset="-120"/>
              </a:rPr>
              <a:t>Natural language in. Terraform / Ansible out. Linted, verified, production-ready.</a:t>
            </a:r>
            <a:endParaRPr lang="en-US" sz="1575" dirty="0"/>
          </a:p>
        </p:txBody>
      </p:sp>
      <p:sp>
        <p:nvSpPr>
          <p:cNvPr id="9" name="Text 6"/>
          <p:cNvSpPr/>
          <p:nvPr/>
        </p:nvSpPr>
        <p:spPr>
          <a:xfrm>
            <a:off x="571500" y="3898925"/>
            <a:ext cx="857250" cy="42863"/>
          </a:xfrm>
          <a:prstGeom prst="roundRect">
            <a:avLst>
              <a:gd name="adj" fmla="val 66666"/>
            </a:avLst>
          </a:prstGeom>
          <a:solidFill>
            <a:srgbClr val="F97316"/>
          </a:solidFill>
          <a:ln/>
        </p:spPr>
        <p:txBody>
          <a:bodyPr wrap="square" rtlCol="0" anchor="ctr"/>
          <a:lstStyle/>
          <a:p>
            <a:pPr marL="0" indent="0">
              <a:buNone/>
            </a:pPr>
            <a:endParaRPr lang="en-US" dirty="0"/>
          </a:p>
        </p:txBody>
      </p:sp>
      <p:sp>
        <p:nvSpPr>
          <p:cNvPr id="10" name="Text 7"/>
          <p:cNvSpPr/>
          <p:nvPr/>
        </p:nvSpPr>
        <p:spPr>
          <a:xfrm>
            <a:off x="5694350" y="4734967"/>
            <a:ext cx="3163900" cy="194328"/>
          </a:xfrm>
          <a:prstGeom prst="rect">
            <a:avLst/>
          </a:prstGeom>
          <a:noFill/>
          <a:ln/>
        </p:spPr>
        <p:txBody>
          <a:bodyPr wrap="square" lIns="0" tIns="0" rIns="0" bIns="0" rtlCol="0" anchor="t"/>
          <a:lstStyle/>
          <a:p>
            <a:pPr marL="0" indent="0" algn="l">
              <a:lnSpc>
                <a:spcPts val="1418"/>
              </a:lnSpc>
              <a:buNone/>
            </a:pPr>
            <a:r>
              <a:rPr lang="en-US" sz="1013" dirty="0">
                <a:solidFill>
                  <a:srgbClr val="FFFFFF">
                    <a:alpha val="70000"/>
                  </a:srgbClr>
                </a:solidFill>
                <a:latin typeface="Carlito" pitchFamily="34" charset="0"/>
                <a:ea typeface="Carlito" pitchFamily="34" charset="-122"/>
                <a:cs typeface="Carlito" pitchFamily="34" charset="-120"/>
              </a:rPr>
              <a:t>Module 4 · AI-Assisted Build &amp; Configuration Automation</a:t>
            </a:r>
            <a:endParaRPr lang="en-US" sz="1013"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5810347" cy="373346"/>
          </a:xfrm>
          <a:prstGeom prst="rect">
            <a:avLst/>
          </a:prstGeom>
          <a:noFill/>
          <a:ln/>
        </p:spPr>
        <p:txBody>
          <a:bodyPr wrap="square" lIns="0" tIns="0" rIns="0" bIns="0" rtlCol="0" anchor="t"/>
          <a:lstStyle/>
          <a:p>
            <a:pPr marL="0" indent="0" algn="l">
              <a:lnSpc>
                <a:spcPts val="2723"/>
              </a:lnSpc>
              <a:buNone/>
            </a:pPr>
            <a:r>
              <a:rPr lang="en-US" sz="2475" b="1" kern="0" spc="-28" dirty="0">
                <a:solidFill>
                  <a:srgbClr val="0F172A"/>
                </a:solidFill>
                <a:latin typeface="Carlito" pitchFamily="34" charset="0"/>
                <a:ea typeface="Carlito" pitchFamily="34" charset="-122"/>
                <a:cs typeface="Carlito" pitchFamily="34" charset="-120"/>
              </a:rPr>
              <a:t>Infrastructure as Code (IaC) — Concept</a:t>
            </a:r>
            <a:endParaRPr lang="en-US" sz="2475" dirty="0"/>
          </a:p>
        </p:txBody>
      </p:sp>
      <p:sp>
        <p:nvSpPr>
          <p:cNvPr id="3" name="Text 1"/>
          <p:cNvSpPr/>
          <p:nvPr/>
        </p:nvSpPr>
        <p:spPr>
          <a:xfrm>
            <a:off x="457200" y="888616"/>
            <a:ext cx="571500" cy="42863"/>
          </a:xfrm>
          <a:prstGeom prst="roundRect">
            <a:avLst>
              <a:gd name="adj" fmla="val 66666"/>
            </a:avLst>
          </a:prstGeom>
          <a:solidFill>
            <a:srgbClr val="F97316"/>
          </a:solidFill>
          <a:ln/>
        </p:spPr>
        <p:txBody>
          <a:bodyPr wrap="square" rtlCol="0" anchor="ctr"/>
          <a:lstStyle/>
          <a:p>
            <a:pPr marL="0" indent="0">
              <a:buNone/>
            </a:pPr>
            <a:endParaRPr lang="en-US" dirty="0"/>
          </a:p>
        </p:txBody>
      </p:sp>
      <p:sp>
        <p:nvSpPr>
          <p:cNvPr id="4" name="Text 2"/>
          <p:cNvSpPr/>
          <p:nvPr/>
        </p:nvSpPr>
        <p:spPr>
          <a:xfrm>
            <a:off x="7260751" y="528672"/>
            <a:ext cx="1448909" cy="331333"/>
          </a:xfrm>
          <a:prstGeom prst="roundRect">
            <a:avLst>
              <a:gd name="adj" fmla="val 2871877"/>
            </a:avLst>
          </a:prstGeom>
          <a:solidFill>
            <a:srgbClr val="FED7AA"/>
          </a:solidFill>
          <a:ln/>
        </p:spPr>
        <p:txBody>
          <a:bodyPr wrap="square" rtlCol="0" anchor="ctr"/>
          <a:lstStyle/>
          <a:p>
            <a:pPr marL="0" indent="0">
              <a:buNone/>
            </a:pPr>
            <a:endParaRPr lang="en-US" dirty="0"/>
          </a:p>
        </p:txBody>
      </p:sp>
      <p:sp>
        <p:nvSpPr>
          <p:cNvPr id="5" name="Text 3"/>
          <p:cNvSpPr/>
          <p:nvPr/>
        </p:nvSpPr>
        <p:spPr>
          <a:xfrm>
            <a:off x="7221459" y="541474"/>
            <a:ext cx="1527494" cy="305730"/>
          </a:xfrm>
          <a:prstGeom prst="rect">
            <a:avLst/>
          </a:prstGeom>
          <a:noFill/>
          <a:ln/>
        </p:spPr>
        <p:txBody>
          <a:bodyPr wrap="none" lIns="0" tIns="0" rIns="0" bIns="0" rtlCol="0" anchor="ctr"/>
          <a:lstStyle/>
          <a:p>
            <a:pPr marL="0" indent="0" algn="ctr">
              <a:lnSpc>
                <a:spcPts val="1733"/>
              </a:lnSpc>
              <a:buNone/>
            </a:pPr>
            <a:r>
              <a:rPr lang="en-US" sz="1238" b="1" kern="0" spc="28" dirty="0">
                <a:solidFill>
                  <a:srgbClr val="C2410C"/>
                </a:solidFill>
                <a:latin typeface="Liberation Sans Narrow" pitchFamily="34" charset="0"/>
                <a:ea typeface="Liberation Sans Narrow" pitchFamily="34" charset="-122"/>
                <a:cs typeface="Liberation Sans Narrow" pitchFamily="34" charset="-120"/>
              </a:rPr>
              <a:t>SECTION C · 3.1</a:t>
            </a:r>
            <a:endParaRPr lang="en-US" sz="1238" dirty="0"/>
          </a:p>
        </p:txBody>
      </p:sp>
      <p:sp>
        <p:nvSpPr>
          <p:cNvPr id="6" name="Text 4"/>
          <p:cNvSpPr/>
          <p:nvPr/>
        </p:nvSpPr>
        <p:spPr>
          <a:xfrm>
            <a:off x="460772" y="1077925"/>
            <a:ext cx="8222456" cy="1044327"/>
          </a:xfrm>
          <a:prstGeom prst="roundRect">
            <a:avLst>
              <a:gd name="adj" fmla="val 12769"/>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7" name="Text 5"/>
          <p:cNvSpPr/>
          <p:nvPr/>
        </p:nvSpPr>
        <p:spPr>
          <a:xfrm>
            <a:off x="664369" y="1252947"/>
            <a:ext cx="285750" cy="285750"/>
          </a:xfrm>
          <a:prstGeom prst="rect">
            <a:avLst/>
          </a:prstGeom>
          <a:noFill/>
          <a:ln/>
        </p:spPr>
        <p:txBody>
          <a:bodyPr wrap="none" lIns="0" tIns="0" rIns="0" bIns="0" rtlCol="0" anchor="ctr"/>
          <a:lstStyle/>
          <a:p>
            <a:pPr marL="0" indent="0" algn="ctr">
              <a:buNone/>
            </a:pPr>
            <a:r>
              <a:rPr lang="en-US" sz="2813" dirty="0">
                <a:solidFill>
                  <a:srgbClr val="F97316"/>
                </a:solidFill>
                <a:latin typeface="Segoe UI Symbol" pitchFamily="34" charset="0"/>
                <a:ea typeface="Segoe UI Symbol" pitchFamily="34" charset="-122"/>
                <a:cs typeface="Segoe UI Symbol" pitchFamily="34" charset="-120"/>
              </a:rPr>
              <a:t>“</a:t>
            </a:r>
            <a:endParaRPr lang="en-US" sz="2813" dirty="0"/>
          </a:p>
        </p:txBody>
      </p:sp>
      <p:sp>
        <p:nvSpPr>
          <p:cNvPr id="8" name="Text 6"/>
          <p:cNvSpPr/>
          <p:nvPr/>
        </p:nvSpPr>
        <p:spPr>
          <a:xfrm>
            <a:off x="1064419" y="1252947"/>
            <a:ext cx="7415213" cy="694283"/>
          </a:xfrm>
          <a:prstGeom prst="rect">
            <a:avLst/>
          </a:prstGeom>
          <a:noFill/>
          <a:ln/>
        </p:spPr>
        <p:txBody>
          <a:bodyPr wrap="square" lIns="0" tIns="0" rIns="0" bIns="0" rtlCol="0" anchor="t"/>
          <a:lstStyle/>
          <a:p>
            <a:pPr marL="0" indent="0" algn="l">
              <a:lnSpc>
                <a:spcPts val="2734"/>
              </a:lnSpc>
              <a:buNone/>
            </a:pPr>
            <a:r>
              <a:rPr lang="en-US" sz="2025" b="1" kern="0" spc="-17" dirty="0">
                <a:solidFill>
                  <a:srgbClr val="0F172A"/>
                </a:solidFill>
                <a:latin typeface="Carlito" pitchFamily="34" charset="0"/>
                <a:ea typeface="Carlito" pitchFamily="34" charset="-122"/>
                <a:cs typeface="Carlito" pitchFamily="34" charset="-120"/>
              </a:rPr>
              <a:t>Infrastructure as Code = managing infrastructure through machine-readable definition files, version-controlled, reviewable, repeatable.</a:t>
            </a:r>
            <a:endParaRPr lang="en-US" sz="2025" dirty="0"/>
          </a:p>
        </p:txBody>
      </p:sp>
      <p:sp>
        <p:nvSpPr>
          <p:cNvPr id="9" name="Text 7"/>
          <p:cNvSpPr/>
          <p:nvPr/>
        </p:nvSpPr>
        <p:spPr>
          <a:xfrm>
            <a:off x="460772" y="2272271"/>
            <a:ext cx="2659819" cy="1896108"/>
          </a:xfrm>
          <a:prstGeom prst="roundRect">
            <a:avLst>
              <a:gd name="adj" fmla="val 7033"/>
            </a:avLst>
          </a:prstGeom>
          <a:solidFill>
            <a:srgbClr val="F1F5F9"/>
          </a:solidFill>
          <a:ln w="7144">
            <a:solidFill>
              <a:srgbClr val="CBD5E1"/>
            </a:solidFill>
            <a:prstDash val="solid"/>
          </a:ln>
        </p:spPr>
        <p:txBody>
          <a:bodyPr wrap="square" rtlCol="0" anchor="ctr"/>
          <a:lstStyle/>
          <a:p>
            <a:pPr marL="0" indent="0">
              <a:buNone/>
            </a:pPr>
            <a:endParaRPr lang="en-US" dirty="0"/>
          </a:p>
        </p:txBody>
      </p:sp>
      <p:sp>
        <p:nvSpPr>
          <p:cNvPr id="10" name="Text 8"/>
          <p:cNvSpPr/>
          <p:nvPr/>
        </p:nvSpPr>
        <p:spPr>
          <a:xfrm>
            <a:off x="824465" y="2411574"/>
            <a:ext cx="1082410" cy="216027"/>
          </a:xfrm>
          <a:prstGeom prst="rect">
            <a:avLst/>
          </a:prstGeom>
          <a:noFill/>
          <a:ln/>
        </p:spPr>
        <p:txBody>
          <a:bodyPr wrap="none" lIns="0" tIns="0" rIns="0" bIns="0" rtlCol="0" anchor="t"/>
          <a:lstStyle/>
          <a:p>
            <a:pPr marL="0" indent="0" algn="l">
              <a:lnSpc>
                <a:spcPts val="1733"/>
              </a:lnSpc>
              <a:buNone/>
            </a:pPr>
            <a:r>
              <a:rPr lang="en-US" sz="1238" b="1" dirty="0">
                <a:solidFill>
                  <a:srgbClr val="C2410C"/>
                </a:solidFill>
                <a:latin typeface="Carlito" pitchFamily="34" charset="0"/>
                <a:ea typeface="Carlito" pitchFamily="34" charset="-122"/>
                <a:cs typeface="Carlito" pitchFamily="34" charset="-120"/>
              </a:rPr>
              <a:t>The Old Way</a:t>
            </a:r>
            <a:endParaRPr lang="en-US" sz="1238" dirty="0"/>
          </a:p>
        </p:txBody>
      </p:sp>
      <p:sp>
        <p:nvSpPr>
          <p:cNvPr id="11" name="Text 9"/>
          <p:cNvSpPr/>
          <p:nvPr/>
        </p:nvSpPr>
        <p:spPr>
          <a:xfrm>
            <a:off x="607219" y="2428652"/>
            <a:ext cx="171450" cy="171450"/>
          </a:xfrm>
          <a:prstGeom prst="rect">
            <a:avLst/>
          </a:prstGeom>
          <a:noFill/>
          <a:ln/>
        </p:spPr>
        <p:txBody>
          <a:bodyPr wrap="none" lIns="0" tIns="0" rIns="0" bIns="0" rtlCol="0" anchor="ctr"/>
          <a:lstStyle/>
          <a:p>
            <a:pPr marL="0" indent="0" algn="ctr">
              <a:buNone/>
            </a:pPr>
            <a:r>
              <a:rPr lang="en-US" sz="1688" dirty="0">
                <a:solidFill>
                  <a:srgbClr val="C2410C"/>
                </a:solidFill>
                <a:latin typeface="Segoe UI Symbol" pitchFamily="34" charset="0"/>
                <a:ea typeface="Segoe UI Symbol" pitchFamily="34" charset="-122"/>
                <a:cs typeface="Segoe UI Symbol" pitchFamily="34" charset="-120"/>
              </a:rPr>
              <a:t>✦</a:t>
            </a:r>
            <a:endParaRPr lang="en-US" sz="1688" dirty="0"/>
          </a:p>
        </p:txBody>
      </p:sp>
      <p:sp>
        <p:nvSpPr>
          <p:cNvPr id="12" name="Text 10"/>
          <p:cNvSpPr/>
          <p:nvPr/>
        </p:nvSpPr>
        <p:spPr>
          <a:xfrm>
            <a:off x="607219" y="2681585"/>
            <a:ext cx="2366925" cy="805279"/>
          </a:xfrm>
          <a:prstGeom prst="rect">
            <a:avLst/>
          </a:prstGeom>
          <a:noFill/>
          <a:ln/>
        </p:spPr>
        <p:txBody>
          <a:bodyPr wrap="square" lIns="0" tIns="0" rIns="0" bIns="0" rtlCol="0" anchor="t"/>
          <a:lstStyle/>
          <a:p>
            <a:pPr marL="0" indent="0" algn="l">
              <a:lnSpc>
                <a:spcPts val="1468"/>
              </a:lnSpc>
              <a:buNone/>
            </a:pPr>
            <a:r>
              <a:rPr lang="en-US" sz="1013" dirty="0">
                <a:solidFill>
                  <a:srgbClr val="334155"/>
                </a:solidFill>
                <a:latin typeface="Carlito" pitchFamily="34" charset="0"/>
                <a:ea typeface="Carlito" pitchFamily="34" charset="-122"/>
                <a:cs typeface="Carlito" pitchFamily="34" charset="-120"/>
              </a:rPr>
              <a:t>Engineers click through AWS console to provision resources. No record of what was done. No way to reproduce. Snowflake infra.</a:t>
            </a:r>
            <a:endParaRPr lang="en-US" sz="1013" dirty="0"/>
          </a:p>
        </p:txBody>
      </p:sp>
      <p:sp>
        <p:nvSpPr>
          <p:cNvPr id="13" name="Text 11"/>
          <p:cNvSpPr/>
          <p:nvPr/>
        </p:nvSpPr>
        <p:spPr>
          <a:xfrm>
            <a:off x="3242035" y="2272271"/>
            <a:ext cx="2659819" cy="1896108"/>
          </a:xfrm>
          <a:prstGeom prst="roundRect">
            <a:avLst>
              <a:gd name="adj" fmla="val 7033"/>
            </a:avLst>
          </a:prstGeom>
          <a:solidFill>
            <a:srgbClr val="F1F5F9"/>
          </a:solidFill>
          <a:ln w="7144">
            <a:solidFill>
              <a:srgbClr val="CBD5E1"/>
            </a:solidFill>
            <a:prstDash val="solid"/>
          </a:ln>
        </p:spPr>
        <p:txBody>
          <a:bodyPr wrap="square" rtlCol="0" anchor="ctr"/>
          <a:lstStyle/>
          <a:p>
            <a:pPr marL="0" indent="0">
              <a:buNone/>
            </a:pPr>
            <a:endParaRPr lang="en-US" dirty="0"/>
          </a:p>
        </p:txBody>
      </p:sp>
      <p:sp>
        <p:nvSpPr>
          <p:cNvPr id="14" name="Text 12"/>
          <p:cNvSpPr/>
          <p:nvPr/>
        </p:nvSpPr>
        <p:spPr>
          <a:xfrm>
            <a:off x="3594502" y="2411574"/>
            <a:ext cx="1100955" cy="216027"/>
          </a:xfrm>
          <a:prstGeom prst="rect">
            <a:avLst/>
          </a:prstGeom>
          <a:noFill/>
          <a:ln/>
        </p:spPr>
        <p:txBody>
          <a:bodyPr wrap="none" lIns="0" tIns="0" rIns="0" bIns="0" rtlCol="0" anchor="t"/>
          <a:lstStyle/>
          <a:p>
            <a:pPr marL="0" indent="0" algn="l">
              <a:lnSpc>
                <a:spcPts val="1733"/>
              </a:lnSpc>
              <a:buNone/>
            </a:pPr>
            <a:r>
              <a:rPr lang="en-US" sz="1238" b="1" dirty="0">
                <a:solidFill>
                  <a:srgbClr val="C2410C"/>
                </a:solidFill>
                <a:latin typeface="Carlito" pitchFamily="34" charset="0"/>
                <a:ea typeface="Carlito" pitchFamily="34" charset="-122"/>
                <a:cs typeface="Carlito" pitchFamily="34" charset="-120"/>
              </a:rPr>
              <a:t>The IaC Way</a:t>
            </a:r>
            <a:endParaRPr lang="en-US" sz="1238" dirty="0"/>
          </a:p>
        </p:txBody>
      </p:sp>
      <p:sp>
        <p:nvSpPr>
          <p:cNvPr id="15" name="Text 13"/>
          <p:cNvSpPr/>
          <p:nvPr/>
        </p:nvSpPr>
        <p:spPr>
          <a:xfrm>
            <a:off x="3388482" y="2428652"/>
            <a:ext cx="171450" cy="171450"/>
          </a:xfrm>
          <a:prstGeom prst="rect">
            <a:avLst/>
          </a:prstGeom>
          <a:noFill/>
          <a:ln/>
        </p:spPr>
        <p:txBody>
          <a:bodyPr wrap="none" lIns="0" tIns="0" rIns="0" bIns="0" rtlCol="0" anchor="ctr"/>
          <a:lstStyle/>
          <a:p>
            <a:pPr marL="0" indent="0" algn="ctr">
              <a:buNone/>
            </a:pPr>
            <a:r>
              <a:rPr lang="en-US" sz="1688" dirty="0">
                <a:solidFill>
                  <a:srgbClr val="C2410C"/>
                </a:solidFill>
                <a:latin typeface="Segoe UI Symbol" pitchFamily="34" charset="0"/>
                <a:ea typeface="Segoe UI Symbol" pitchFamily="34" charset="-122"/>
                <a:cs typeface="Segoe UI Symbol" pitchFamily="34" charset="-120"/>
              </a:rPr>
              <a:t>✦</a:t>
            </a:r>
            <a:endParaRPr lang="en-US" sz="1688" dirty="0"/>
          </a:p>
        </p:txBody>
      </p:sp>
      <p:sp>
        <p:nvSpPr>
          <p:cNvPr id="16" name="Text 14"/>
          <p:cNvSpPr/>
          <p:nvPr/>
        </p:nvSpPr>
        <p:spPr>
          <a:xfrm>
            <a:off x="3388482" y="2681585"/>
            <a:ext cx="2366925" cy="805279"/>
          </a:xfrm>
          <a:prstGeom prst="rect">
            <a:avLst/>
          </a:prstGeom>
          <a:noFill/>
          <a:ln/>
        </p:spPr>
        <p:txBody>
          <a:bodyPr wrap="square" lIns="0" tIns="0" rIns="0" bIns="0" rtlCol="0" anchor="t"/>
          <a:lstStyle/>
          <a:p>
            <a:pPr marL="0" indent="0" algn="l">
              <a:lnSpc>
                <a:spcPts val="1468"/>
              </a:lnSpc>
              <a:buNone/>
            </a:pPr>
            <a:r>
              <a:rPr lang="en-US" sz="1013" dirty="0">
                <a:solidFill>
                  <a:srgbClr val="334155"/>
                </a:solidFill>
                <a:latin typeface="Carlito" pitchFamily="34" charset="0"/>
                <a:ea typeface="Carlito" pitchFamily="34" charset="-122"/>
                <a:cs typeface="Carlito" pitchFamily="34" charset="-120"/>
              </a:rPr>
              <a:t>Engineers write HCL/Terraform or YAML/Ansible that describes the infrastructure. Code is version-controlled, peer-reviewed, applied via CI.</a:t>
            </a:r>
            <a:endParaRPr lang="en-US" sz="1013" dirty="0"/>
          </a:p>
        </p:txBody>
      </p:sp>
      <p:sp>
        <p:nvSpPr>
          <p:cNvPr id="17" name="Text 15"/>
          <p:cNvSpPr/>
          <p:nvPr/>
        </p:nvSpPr>
        <p:spPr>
          <a:xfrm>
            <a:off x="6023297" y="2272271"/>
            <a:ext cx="2659931" cy="1896108"/>
          </a:xfrm>
          <a:prstGeom prst="roundRect">
            <a:avLst>
              <a:gd name="adj" fmla="val 7033"/>
            </a:avLst>
          </a:prstGeom>
          <a:solidFill>
            <a:srgbClr val="F1F5F9"/>
          </a:solidFill>
          <a:ln w="7144">
            <a:solidFill>
              <a:srgbClr val="CBD5E1"/>
            </a:solidFill>
            <a:prstDash val="solid"/>
          </a:ln>
        </p:spPr>
        <p:txBody>
          <a:bodyPr wrap="square" rtlCol="0" anchor="ctr"/>
          <a:lstStyle/>
          <a:p>
            <a:pPr marL="0" indent="0">
              <a:buNone/>
            </a:pPr>
            <a:endParaRPr lang="en-US" dirty="0"/>
          </a:p>
        </p:txBody>
      </p:sp>
      <p:sp>
        <p:nvSpPr>
          <p:cNvPr id="18" name="Text 16"/>
          <p:cNvSpPr/>
          <p:nvPr/>
        </p:nvSpPr>
        <p:spPr>
          <a:xfrm>
            <a:off x="6335419" y="2411574"/>
            <a:ext cx="1204808" cy="216027"/>
          </a:xfrm>
          <a:prstGeom prst="rect">
            <a:avLst/>
          </a:prstGeom>
          <a:noFill/>
          <a:ln/>
        </p:spPr>
        <p:txBody>
          <a:bodyPr wrap="none" lIns="0" tIns="0" rIns="0" bIns="0" rtlCol="0" anchor="t"/>
          <a:lstStyle/>
          <a:p>
            <a:pPr marL="0" indent="0" algn="l">
              <a:lnSpc>
                <a:spcPts val="1733"/>
              </a:lnSpc>
              <a:buNone/>
            </a:pPr>
            <a:r>
              <a:rPr lang="en-US" sz="1238" b="1" dirty="0">
                <a:solidFill>
                  <a:srgbClr val="C2410C"/>
                </a:solidFill>
                <a:latin typeface="Carlito" pitchFamily="34" charset="0"/>
                <a:ea typeface="Carlito" pitchFamily="34" charset="-122"/>
                <a:cs typeface="Carlito" pitchFamily="34" charset="-120"/>
              </a:rPr>
              <a:t>The Benefits</a:t>
            </a:r>
            <a:endParaRPr lang="en-US" sz="1238" dirty="0"/>
          </a:p>
        </p:txBody>
      </p:sp>
      <p:sp>
        <p:nvSpPr>
          <p:cNvPr id="19" name="Text 17"/>
          <p:cNvSpPr/>
          <p:nvPr/>
        </p:nvSpPr>
        <p:spPr>
          <a:xfrm>
            <a:off x="6169744" y="2428652"/>
            <a:ext cx="171450" cy="171450"/>
          </a:xfrm>
          <a:prstGeom prst="rect">
            <a:avLst/>
          </a:prstGeom>
          <a:noFill/>
          <a:ln/>
        </p:spPr>
        <p:txBody>
          <a:bodyPr wrap="none" lIns="0" tIns="0" rIns="0" bIns="0" rtlCol="0" anchor="ctr"/>
          <a:lstStyle/>
          <a:p>
            <a:pPr marL="0" indent="0" algn="ctr">
              <a:buNone/>
            </a:pPr>
            <a:r>
              <a:rPr lang="en-US" sz="1688" dirty="0">
                <a:solidFill>
                  <a:srgbClr val="C2410C"/>
                </a:solidFill>
                <a:latin typeface="Segoe UI Symbol" pitchFamily="34" charset="0"/>
                <a:ea typeface="Segoe UI Symbol" pitchFamily="34" charset="-122"/>
                <a:cs typeface="Segoe UI Symbol" pitchFamily="34" charset="-120"/>
              </a:rPr>
              <a:t>⚡</a:t>
            </a:r>
            <a:endParaRPr lang="en-US" sz="1688" dirty="0"/>
          </a:p>
        </p:txBody>
      </p:sp>
      <p:sp>
        <p:nvSpPr>
          <p:cNvPr id="20" name="Text 18"/>
          <p:cNvSpPr/>
          <p:nvPr/>
        </p:nvSpPr>
        <p:spPr>
          <a:xfrm>
            <a:off x="6169744" y="2681585"/>
            <a:ext cx="2367037" cy="805279"/>
          </a:xfrm>
          <a:prstGeom prst="rect">
            <a:avLst/>
          </a:prstGeom>
          <a:noFill/>
          <a:ln/>
        </p:spPr>
        <p:txBody>
          <a:bodyPr wrap="square" lIns="0" tIns="0" rIns="0" bIns="0" rtlCol="0" anchor="t"/>
          <a:lstStyle/>
          <a:p>
            <a:pPr marL="0" indent="0" algn="l">
              <a:lnSpc>
                <a:spcPts val="1468"/>
              </a:lnSpc>
              <a:buNone/>
            </a:pPr>
            <a:r>
              <a:rPr lang="en-US" sz="1013" dirty="0">
                <a:solidFill>
                  <a:srgbClr val="334155"/>
                </a:solidFill>
                <a:latin typeface="Carlito" pitchFamily="34" charset="0"/>
                <a:ea typeface="Carlito" pitchFamily="34" charset="-122"/>
                <a:cs typeface="Carlito" pitchFamily="34" charset="-120"/>
              </a:rPr>
              <a:t>Reproducible environments. Audit trail. Fast provisioning. Disaster recovery = git clone + terraform apply. Cost transparency.</a:t>
            </a:r>
            <a:endParaRPr lang="en-US" sz="1013" dirty="0"/>
          </a:p>
        </p:txBody>
      </p:sp>
      <p:sp>
        <p:nvSpPr>
          <p:cNvPr id="21" name="Text 19"/>
          <p:cNvSpPr/>
          <p:nvPr/>
        </p:nvSpPr>
        <p:spPr>
          <a:xfrm>
            <a:off x="457200" y="4286250"/>
            <a:ext cx="8229600" cy="400050"/>
          </a:xfrm>
          <a:prstGeom prst="roundRect">
            <a:avLst>
              <a:gd name="adj" fmla="val 19048"/>
            </a:avLst>
          </a:prstGeom>
          <a:solidFill>
            <a:srgbClr val="FFF7ED"/>
          </a:solidFill>
          <a:ln/>
        </p:spPr>
        <p:txBody>
          <a:bodyPr wrap="square" rtlCol="0" anchor="ctr"/>
          <a:lstStyle/>
          <a:p>
            <a:pPr marL="0" indent="0">
              <a:buNone/>
            </a:pPr>
            <a:endParaRPr lang="en-US" dirty="0"/>
          </a:p>
        </p:txBody>
      </p:sp>
      <p:sp>
        <p:nvSpPr>
          <p:cNvPr id="22" name="Shape 20"/>
          <p:cNvSpPr/>
          <p:nvPr/>
        </p:nvSpPr>
        <p:spPr>
          <a:xfrm>
            <a:off x="478631" y="4286250"/>
            <a:ext cx="0" cy="400050"/>
          </a:xfrm>
          <a:prstGeom prst="line">
            <a:avLst/>
          </a:prstGeom>
          <a:noFill/>
          <a:ln w="42863">
            <a:solidFill>
              <a:srgbClr val="F97316"/>
            </a:solidFill>
            <a:prstDash val="solid"/>
          </a:ln>
        </p:spPr>
      </p:sp>
      <p:sp>
        <p:nvSpPr>
          <p:cNvPr id="23" name="Text 21"/>
          <p:cNvSpPr/>
          <p:nvPr/>
        </p:nvSpPr>
        <p:spPr>
          <a:xfrm>
            <a:off x="657225" y="4386263"/>
            <a:ext cx="7872413" cy="200025"/>
          </a:xfrm>
          <a:prstGeom prst="rect">
            <a:avLst/>
          </a:prstGeom>
          <a:noFill/>
          <a:ln/>
        </p:spPr>
        <p:txBody>
          <a:bodyPr wrap="square" lIns="0" tIns="0" rIns="0" bIns="0" rtlCol="0" anchor="t"/>
          <a:lstStyle/>
          <a:p>
            <a:pPr marL="0" indent="0" algn="l">
              <a:lnSpc>
                <a:spcPts val="1575"/>
              </a:lnSpc>
              <a:buNone/>
            </a:pPr>
            <a:r>
              <a:rPr lang="en-US" sz="1125" b="1" dirty="0">
                <a:solidFill>
                  <a:srgbClr val="C2410C"/>
                </a:solidFill>
                <a:latin typeface="Segoe UI Symbol" pitchFamily="34" charset="0"/>
                <a:ea typeface="Segoe UI Symbol" pitchFamily="34" charset="-122"/>
                <a:cs typeface="Segoe UI Symbol" pitchFamily="34" charset="-120"/>
              </a:rPr>
              <a:t>✓</a:t>
            </a:r>
            <a:r>
              <a:rPr lang="en-US" sz="1125" b="1" dirty="0">
                <a:solidFill>
                  <a:srgbClr val="C2410C"/>
                </a:solidFill>
                <a:latin typeface="Carlito" pitchFamily="34" charset="0"/>
                <a:ea typeface="Carlito" pitchFamily="34" charset="-122"/>
                <a:cs typeface="Carlito" pitchFamily="34" charset="-120"/>
              </a:rPr>
              <a:t> IaC is the foundation of modern DevOps. AI generates IaC. Linters verify it. Humans review it. CI deploys it.</a:t>
            </a:r>
            <a:endParaRPr lang="en-US" sz="1125"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6290552" cy="373346"/>
          </a:xfrm>
          <a:prstGeom prst="rect">
            <a:avLst/>
          </a:prstGeom>
          <a:noFill/>
          <a:ln/>
        </p:spPr>
        <p:txBody>
          <a:bodyPr wrap="square" lIns="0" tIns="0" rIns="0" bIns="0" rtlCol="0" anchor="t"/>
          <a:lstStyle/>
          <a:p>
            <a:pPr marL="0" indent="0" algn="l">
              <a:lnSpc>
                <a:spcPts val="2723"/>
              </a:lnSpc>
              <a:buNone/>
            </a:pPr>
            <a:r>
              <a:rPr lang="en-US" sz="2475" b="1" kern="0" spc="-28" dirty="0">
                <a:solidFill>
                  <a:srgbClr val="0F172A"/>
                </a:solidFill>
                <a:latin typeface="Carlito" pitchFamily="34" charset="0"/>
                <a:ea typeface="Carlito" pitchFamily="34" charset="-122"/>
                <a:cs typeface="Carlito" pitchFamily="34" charset="-120"/>
              </a:rPr>
              <a:t>Terraform vs Ansible — When to Use What</a:t>
            </a:r>
            <a:endParaRPr lang="en-US" sz="2475" dirty="0"/>
          </a:p>
        </p:txBody>
      </p:sp>
      <p:sp>
        <p:nvSpPr>
          <p:cNvPr id="3" name="Text 1"/>
          <p:cNvSpPr/>
          <p:nvPr/>
        </p:nvSpPr>
        <p:spPr>
          <a:xfrm>
            <a:off x="457200" y="888616"/>
            <a:ext cx="571500" cy="42863"/>
          </a:xfrm>
          <a:prstGeom prst="roundRect">
            <a:avLst>
              <a:gd name="adj" fmla="val 66666"/>
            </a:avLst>
          </a:prstGeom>
          <a:solidFill>
            <a:srgbClr val="F97316"/>
          </a:solidFill>
          <a:ln/>
        </p:spPr>
        <p:txBody>
          <a:bodyPr wrap="square" rtlCol="0" anchor="ctr"/>
          <a:lstStyle/>
          <a:p>
            <a:pPr marL="0" indent="0">
              <a:buNone/>
            </a:pPr>
            <a:endParaRPr lang="en-US" dirty="0"/>
          </a:p>
        </p:txBody>
      </p:sp>
      <p:sp>
        <p:nvSpPr>
          <p:cNvPr id="4" name="Text 2"/>
          <p:cNvSpPr/>
          <p:nvPr/>
        </p:nvSpPr>
        <p:spPr>
          <a:xfrm>
            <a:off x="7260751" y="528672"/>
            <a:ext cx="1448909" cy="331333"/>
          </a:xfrm>
          <a:prstGeom prst="roundRect">
            <a:avLst>
              <a:gd name="adj" fmla="val 2871877"/>
            </a:avLst>
          </a:prstGeom>
          <a:solidFill>
            <a:srgbClr val="FED7AA"/>
          </a:solidFill>
          <a:ln/>
        </p:spPr>
        <p:txBody>
          <a:bodyPr wrap="square" rtlCol="0" anchor="ctr"/>
          <a:lstStyle/>
          <a:p>
            <a:pPr marL="0" indent="0">
              <a:buNone/>
            </a:pPr>
            <a:endParaRPr lang="en-US" dirty="0"/>
          </a:p>
        </p:txBody>
      </p:sp>
      <p:sp>
        <p:nvSpPr>
          <p:cNvPr id="5" name="Text 3"/>
          <p:cNvSpPr/>
          <p:nvPr/>
        </p:nvSpPr>
        <p:spPr>
          <a:xfrm>
            <a:off x="7221459" y="541474"/>
            <a:ext cx="1527494" cy="305730"/>
          </a:xfrm>
          <a:prstGeom prst="rect">
            <a:avLst/>
          </a:prstGeom>
          <a:noFill/>
          <a:ln/>
        </p:spPr>
        <p:txBody>
          <a:bodyPr wrap="none" lIns="0" tIns="0" rIns="0" bIns="0" rtlCol="0" anchor="ctr"/>
          <a:lstStyle/>
          <a:p>
            <a:pPr marL="0" indent="0" algn="ctr">
              <a:lnSpc>
                <a:spcPts val="1733"/>
              </a:lnSpc>
              <a:buNone/>
            </a:pPr>
            <a:r>
              <a:rPr lang="en-US" sz="1238" b="1" kern="0" spc="28" dirty="0">
                <a:solidFill>
                  <a:srgbClr val="C2410C"/>
                </a:solidFill>
                <a:latin typeface="Liberation Sans Narrow" pitchFamily="34" charset="0"/>
                <a:ea typeface="Liberation Sans Narrow" pitchFamily="34" charset="-122"/>
                <a:cs typeface="Liberation Sans Narrow" pitchFamily="34" charset="-120"/>
              </a:rPr>
              <a:t>SECTION C · 3.2</a:t>
            </a:r>
            <a:endParaRPr lang="en-US" sz="1238" dirty="0"/>
          </a:p>
        </p:txBody>
      </p:sp>
      <p:sp>
        <p:nvSpPr>
          <p:cNvPr id="6" name="Text 4"/>
          <p:cNvSpPr/>
          <p:nvPr/>
        </p:nvSpPr>
        <p:spPr>
          <a:xfrm>
            <a:off x="457200" y="1045778"/>
            <a:ext cx="4043363" cy="479971"/>
          </a:xfrm>
          <a:prstGeom prst="roundRect">
            <a:avLst>
              <a:gd name="adj" fmla="val 23814"/>
            </a:avLst>
          </a:prstGeom>
          <a:solidFill>
            <a:srgbClr val="334155"/>
          </a:solidFill>
          <a:ln/>
        </p:spPr>
        <p:txBody>
          <a:bodyPr wrap="square" rtlCol="0" anchor="ctr"/>
          <a:lstStyle/>
          <a:p>
            <a:pPr marL="0" indent="0">
              <a:buNone/>
            </a:pPr>
            <a:endParaRPr lang="en-US" dirty="0"/>
          </a:p>
        </p:txBody>
      </p:sp>
      <p:sp>
        <p:nvSpPr>
          <p:cNvPr id="7" name="Text 5"/>
          <p:cNvSpPr/>
          <p:nvPr/>
        </p:nvSpPr>
        <p:spPr>
          <a:xfrm>
            <a:off x="720526" y="1160078"/>
            <a:ext cx="1198230" cy="270034"/>
          </a:xfrm>
          <a:prstGeom prst="rect">
            <a:avLst/>
          </a:prstGeom>
          <a:noFill/>
          <a:ln/>
        </p:spPr>
        <p:txBody>
          <a:bodyPr wrap="none" lIns="0" tIns="0" rIns="0" bIns="0" rtlCol="0" anchor="t"/>
          <a:lstStyle/>
          <a:p>
            <a:pPr marL="0" indent="0" algn="l">
              <a:lnSpc>
                <a:spcPts val="2205"/>
              </a:lnSpc>
              <a:buNone/>
            </a:pPr>
            <a:r>
              <a:rPr lang="en-US" sz="1575" b="1" dirty="0">
                <a:solidFill>
                  <a:srgbClr val="FFFFFF"/>
                </a:solidFill>
                <a:latin typeface="Carlito" pitchFamily="34" charset="0"/>
                <a:ea typeface="Carlito" pitchFamily="34" charset="-122"/>
                <a:cs typeface="Carlito" pitchFamily="34" charset="-120"/>
              </a:rPr>
              <a:t>Terraform</a:t>
            </a:r>
            <a:endParaRPr lang="en-US" sz="1575" dirty="0"/>
          </a:p>
        </p:txBody>
      </p:sp>
      <p:sp>
        <p:nvSpPr>
          <p:cNvPr id="8" name="Text 6"/>
          <p:cNvSpPr/>
          <p:nvPr/>
        </p:nvSpPr>
        <p:spPr>
          <a:xfrm>
            <a:off x="614363" y="1178607"/>
            <a:ext cx="214313" cy="214313"/>
          </a:xfrm>
          <a:prstGeom prst="rect">
            <a:avLst/>
          </a:prstGeom>
          <a:noFill/>
          <a:ln/>
        </p:spPr>
        <p:txBody>
          <a:bodyPr wrap="none" lIns="0" tIns="0" rIns="0" bIns="0" rtlCol="0" anchor="ctr"/>
          <a:lstStyle/>
          <a:p>
            <a:pPr marL="0" indent="0" algn="ctr">
              <a:buNone/>
            </a:pPr>
            <a:r>
              <a:rPr lang="en-US" sz="2109" dirty="0">
                <a:solidFill>
                  <a:srgbClr val="FFFFFF"/>
                </a:solidFill>
                <a:latin typeface="Segoe UI Symbol" pitchFamily="34" charset="0"/>
                <a:ea typeface="Segoe UI Symbol" pitchFamily="34" charset="-122"/>
                <a:cs typeface="Segoe UI Symbol" pitchFamily="34" charset="-120"/>
              </a:rPr>
              <a:t>☁</a:t>
            </a:r>
            <a:endParaRPr lang="en-US" sz="2109" dirty="0"/>
          </a:p>
        </p:txBody>
      </p:sp>
      <p:sp>
        <p:nvSpPr>
          <p:cNvPr id="9" name="Text 7"/>
          <p:cNvSpPr/>
          <p:nvPr/>
        </p:nvSpPr>
        <p:spPr>
          <a:xfrm>
            <a:off x="457200" y="1525749"/>
            <a:ext cx="4043363" cy="2684822"/>
          </a:xfrm>
          <a:prstGeom prst="rect">
            <a:avLst/>
          </a:prstGeom>
          <a:solidFill>
            <a:srgbClr val="F8FAFC"/>
          </a:solidFill>
          <a:ln/>
        </p:spPr>
        <p:txBody>
          <a:bodyPr wrap="square" rtlCol="0" anchor="ctr"/>
          <a:lstStyle/>
          <a:p>
            <a:pPr marL="0" indent="0">
              <a:buNone/>
            </a:pPr>
            <a:endParaRPr lang="en-US" dirty="0"/>
          </a:p>
        </p:txBody>
      </p:sp>
      <p:sp>
        <p:nvSpPr>
          <p:cNvPr id="10" name="Shape 8"/>
          <p:cNvSpPr/>
          <p:nvPr/>
        </p:nvSpPr>
        <p:spPr>
          <a:xfrm>
            <a:off x="4496991" y="1525749"/>
            <a:ext cx="0" cy="2684822"/>
          </a:xfrm>
          <a:prstGeom prst="line">
            <a:avLst/>
          </a:prstGeom>
          <a:noFill/>
          <a:ln w="7144">
            <a:solidFill>
              <a:srgbClr val="CBD5E1"/>
            </a:solidFill>
            <a:prstDash val="solid"/>
          </a:ln>
        </p:spPr>
      </p:sp>
      <p:sp>
        <p:nvSpPr>
          <p:cNvPr id="11" name="Shape 9"/>
          <p:cNvSpPr/>
          <p:nvPr/>
        </p:nvSpPr>
        <p:spPr>
          <a:xfrm>
            <a:off x="457200" y="4206999"/>
            <a:ext cx="4043363" cy="0"/>
          </a:xfrm>
          <a:prstGeom prst="line">
            <a:avLst/>
          </a:prstGeom>
          <a:noFill/>
          <a:ln w="7144">
            <a:solidFill>
              <a:srgbClr val="CBD5E1"/>
            </a:solidFill>
            <a:prstDash val="solid"/>
          </a:ln>
        </p:spPr>
      </p:sp>
      <p:sp>
        <p:nvSpPr>
          <p:cNvPr id="12" name="Shape 10"/>
          <p:cNvSpPr/>
          <p:nvPr/>
        </p:nvSpPr>
        <p:spPr>
          <a:xfrm>
            <a:off x="460772" y="1525749"/>
            <a:ext cx="0" cy="2684822"/>
          </a:xfrm>
          <a:prstGeom prst="line">
            <a:avLst/>
          </a:prstGeom>
          <a:noFill/>
          <a:ln w="7144">
            <a:solidFill>
              <a:srgbClr val="CBD5E1"/>
            </a:solidFill>
            <a:prstDash val="solid"/>
          </a:ln>
        </p:spPr>
      </p:sp>
      <p:sp>
        <p:nvSpPr>
          <p:cNvPr id="13" name="Shape 11"/>
          <p:cNvSpPr/>
          <p:nvPr/>
        </p:nvSpPr>
        <p:spPr>
          <a:xfrm>
            <a:off x="621506" y="1913632"/>
            <a:ext cx="3714750" cy="0"/>
          </a:xfrm>
          <a:prstGeom prst="line">
            <a:avLst/>
          </a:prstGeom>
          <a:noFill/>
          <a:ln w="7144">
            <a:solidFill>
              <a:srgbClr val="CBD5E1"/>
            </a:solidFill>
            <a:prstDash val="dash"/>
          </a:ln>
        </p:spPr>
      </p:sp>
      <p:sp>
        <p:nvSpPr>
          <p:cNvPr id="14" name="Text 12"/>
          <p:cNvSpPr/>
          <p:nvPr/>
        </p:nvSpPr>
        <p:spPr>
          <a:xfrm>
            <a:off x="621506" y="1690055"/>
            <a:ext cx="1257300" cy="169999"/>
          </a:xfrm>
          <a:prstGeom prst="rect">
            <a:avLst/>
          </a:prstGeom>
          <a:noFill/>
          <a:ln/>
        </p:spPr>
        <p:txBody>
          <a:bodyPr wrap="none" lIns="0" tIns="0" rIns="0" bIns="0" rtlCol="0" anchor="t"/>
          <a:lstStyle/>
          <a:p>
            <a:pPr marL="0" indent="0" algn="l">
              <a:lnSpc>
                <a:spcPts val="1339"/>
              </a:lnSpc>
              <a:buNone/>
            </a:pPr>
            <a:r>
              <a:rPr lang="en-US" sz="956" b="1" dirty="0">
                <a:solidFill>
                  <a:srgbClr val="0F172A"/>
                </a:solidFill>
                <a:latin typeface="Carlito" pitchFamily="34" charset="0"/>
                <a:ea typeface="Carlito" pitchFamily="34" charset="-122"/>
                <a:cs typeface="Carlito" pitchFamily="34" charset="-120"/>
              </a:rPr>
              <a:t>Scope</a:t>
            </a:r>
            <a:endParaRPr lang="en-US" sz="956" dirty="0"/>
          </a:p>
        </p:txBody>
      </p:sp>
      <p:sp>
        <p:nvSpPr>
          <p:cNvPr id="15" name="Text 13"/>
          <p:cNvSpPr/>
          <p:nvPr/>
        </p:nvSpPr>
        <p:spPr>
          <a:xfrm>
            <a:off x="1478756" y="1690055"/>
            <a:ext cx="2857500" cy="169999"/>
          </a:xfrm>
          <a:prstGeom prst="rect">
            <a:avLst/>
          </a:prstGeom>
          <a:noFill/>
          <a:ln/>
        </p:spPr>
        <p:txBody>
          <a:bodyPr wrap="none" lIns="0" tIns="0" rIns="0" bIns="0" rtlCol="0" anchor="t"/>
          <a:lstStyle/>
          <a:p>
            <a:pPr marL="0" indent="0" algn="l">
              <a:lnSpc>
                <a:spcPts val="1339"/>
              </a:lnSpc>
              <a:buNone/>
            </a:pPr>
            <a:r>
              <a:rPr lang="en-US" sz="956" dirty="0">
                <a:solidFill>
                  <a:srgbClr val="334155"/>
                </a:solidFill>
                <a:latin typeface="Carlito" pitchFamily="34" charset="0"/>
                <a:ea typeface="Carlito" pitchFamily="34" charset="-122"/>
                <a:cs typeface="Carlito" pitchFamily="34" charset="-120"/>
              </a:rPr>
              <a:t>Cloud infrastructure provisioning</a:t>
            </a:r>
            <a:endParaRPr lang="en-US" sz="956" dirty="0"/>
          </a:p>
        </p:txBody>
      </p:sp>
      <p:sp>
        <p:nvSpPr>
          <p:cNvPr id="16" name="Shape 14"/>
          <p:cNvSpPr/>
          <p:nvPr/>
        </p:nvSpPr>
        <p:spPr>
          <a:xfrm>
            <a:off x="621506" y="2190787"/>
            <a:ext cx="3714750" cy="0"/>
          </a:xfrm>
          <a:prstGeom prst="line">
            <a:avLst/>
          </a:prstGeom>
          <a:noFill/>
          <a:ln w="7144">
            <a:solidFill>
              <a:srgbClr val="CBD5E1"/>
            </a:solidFill>
            <a:prstDash val="dash"/>
          </a:ln>
        </p:spPr>
      </p:sp>
      <p:sp>
        <p:nvSpPr>
          <p:cNvPr id="17" name="Text 15"/>
          <p:cNvSpPr/>
          <p:nvPr/>
        </p:nvSpPr>
        <p:spPr>
          <a:xfrm>
            <a:off x="621506" y="1967210"/>
            <a:ext cx="1123712" cy="169999"/>
          </a:xfrm>
          <a:prstGeom prst="rect">
            <a:avLst/>
          </a:prstGeom>
          <a:noFill/>
          <a:ln/>
        </p:spPr>
        <p:txBody>
          <a:bodyPr wrap="none" lIns="0" tIns="0" rIns="0" bIns="0" rtlCol="0" anchor="t"/>
          <a:lstStyle/>
          <a:p>
            <a:pPr marL="0" indent="0" algn="l">
              <a:lnSpc>
                <a:spcPts val="1339"/>
              </a:lnSpc>
              <a:buNone/>
            </a:pPr>
            <a:r>
              <a:rPr lang="en-US" sz="956" b="1" dirty="0">
                <a:solidFill>
                  <a:srgbClr val="0F172A"/>
                </a:solidFill>
                <a:latin typeface="Carlito" pitchFamily="34" charset="0"/>
                <a:ea typeface="Carlito" pitchFamily="34" charset="-122"/>
                <a:cs typeface="Carlito" pitchFamily="34" charset="-120"/>
              </a:rPr>
              <a:t>Language</a:t>
            </a:r>
            <a:endParaRPr lang="en-US" sz="956" dirty="0"/>
          </a:p>
        </p:txBody>
      </p:sp>
      <p:sp>
        <p:nvSpPr>
          <p:cNvPr id="18" name="Text 16"/>
          <p:cNvSpPr/>
          <p:nvPr/>
        </p:nvSpPr>
        <p:spPr>
          <a:xfrm>
            <a:off x="1478756" y="1967210"/>
            <a:ext cx="2857500" cy="169999"/>
          </a:xfrm>
          <a:prstGeom prst="rect">
            <a:avLst/>
          </a:prstGeom>
          <a:noFill/>
          <a:ln/>
        </p:spPr>
        <p:txBody>
          <a:bodyPr wrap="none" lIns="0" tIns="0" rIns="0" bIns="0" rtlCol="0" anchor="t"/>
          <a:lstStyle/>
          <a:p>
            <a:pPr marL="0" indent="0" algn="l">
              <a:lnSpc>
                <a:spcPts val="1339"/>
              </a:lnSpc>
              <a:buNone/>
            </a:pPr>
            <a:r>
              <a:rPr lang="en-US" sz="956" dirty="0">
                <a:solidFill>
                  <a:srgbClr val="334155"/>
                </a:solidFill>
                <a:latin typeface="Carlito" pitchFamily="34" charset="0"/>
                <a:ea typeface="Carlito" pitchFamily="34" charset="-122"/>
                <a:cs typeface="Carlito" pitchFamily="34" charset="-120"/>
              </a:rPr>
              <a:t>HCL (HashiCorp Configuration Language)</a:t>
            </a:r>
            <a:endParaRPr lang="en-US" sz="956" dirty="0"/>
          </a:p>
        </p:txBody>
      </p:sp>
      <p:sp>
        <p:nvSpPr>
          <p:cNvPr id="19" name="Shape 17"/>
          <p:cNvSpPr/>
          <p:nvPr/>
        </p:nvSpPr>
        <p:spPr>
          <a:xfrm>
            <a:off x="621506" y="2467942"/>
            <a:ext cx="3714750" cy="0"/>
          </a:xfrm>
          <a:prstGeom prst="line">
            <a:avLst/>
          </a:prstGeom>
          <a:noFill/>
          <a:ln w="7144">
            <a:solidFill>
              <a:srgbClr val="CBD5E1"/>
            </a:solidFill>
            <a:prstDash val="dash"/>
          </a:ln>
        </p:spPr>
      </p:sp>
      <p:sp>
        <p:nvSpPr>
          <p:cNvPr id="20" name="Text 18"/>
          <p:cNvSpPr/>
          <p:nvPr/>
        </p:nvSpPr>
        <p:spPr>
          <a:xfrm>
            <a:off x="621506" y="2244365"/>
            <a:ext cx="1123712" cy="169999"/>
          </a:xfrm>
          <a:prstGeom prst="rect">
            <a:avLst/>
          </a:prstGeom>
          <a:noFill/>
          <a:ln/>
        </p:spPr>
        <p:txBody>
          <a:bodyPr wrap="none" lIns="0" tIns="0" rIns="0" bIns="0" rtlCol="0" anchor="t"/>
          <a:lstStyle/>
          <a:p>
            <a:pPr marL="0" indent="0" algn="l">
              <a:lnSpc>
                <a:spcPts val="1339"/>
              </a:lnSpc>
              <a:buNone/>
            </a:pPr>
            <a:r>
              <a:rPr lang="en-US" sz="956" b="1" dirty="0">
                <a:solidFill>
                  <a:srgbClr val="0F172A"/>
                </a:solidFill>
                <a:latin typeface="Carlito" pitchFamily="34" charset="0"/>
                <a:ea typeface="Carlito" pitchFamily="34" charset="-122"/>
                <a:cs typeface="Carlito" pitchFamily="34" charset="-120"/>
              </a:rPr>
              <a:t>Approach</a:t>
            </a:r>
            <a:endParaRPr lang="en-US" sz="956" dirty="0"/>
          </a:p>
        </p:txBody>
      </p:sp>
      <p:sp>
        <p:nvSpPr>
          <p:cNvPr id="21" name="Text 19"/>
          <p:cNvSpPr/>
          <p:nvPr/>
        </p:nvSpPr>
        <p:spPr>
          <a:xfrm>
            <a:off x="1478756" y="2244365"/>
            <a:ext cx="2857500" cy="169999"/>
          </a:xfrm>
          <a:prstGeom prst="rect">
            <a:avLst/>
          </a:prstGeom>
          <a:noFill/>
          <a:ln/>
        </p:spPr>
        <p:txBody>
          <a:bodyPr wrap="none" lIns="0" tIns="0" rIns="0" bIns="0" rtlCol="0" anchor="t"/>
          <a:lstStyle/>
          <a:p>
            <a:pPr marL="0" indent="0" algn="l">
              <a:lnSpc>
                <a:spcPts val="1339"/>
              </a:lnSpc>
              <a:buNone/>
            </a:pPr>
            <a:r>
              <a:rPr lang="en-US" sz="956" dirty="0">
                <a:solidFill>
                  <a:srgbClr val="334155"/>
                </a:solidFill>
                <a:latin typeface="Carlito" pitchFamily="34" charset="0"/>
                <a:ea typeface="Carlito" pitchFamily="34" charset="-122"/>
                <a:cs typeface="Carlito" pitchFamily="34" charset="-120"/>
              </a:rPr>
              <a:t>Declarative — describe desired cloud state</a:t>
            </a:r>
            <a:endParaRPr lang="en-US" sz="956" dirty="0"/>
          </a:p>
        </p:txBody>
      </p:sp>
      <p:sp>
        <p:nvSpPr>
          <p:cNvPr id="22" name="Shape 20"/>
          <p:cNvSpPr/>
          <p:nvPr/>
        </p:nvSpPr>
        <p:spPr>
          <a:xfrm>
            <a:off x="621506" y="2915096"/>
            <a:ext cx="3714750" cy="0"/>
          </a:xfrm>
          <a:prstGeom prst="line">
            <a:avLst/>
          </a:prstGeom>
          <a:noFill/>
          <a:ln w="7144">
            <a:solidFill>
              <a:srgbClr val="CBD5E1"/>
            </a:solidFill>
            <a:prstDash val="dash"/>
          </a:ln>
        </p:spPr>
      </p:sp>
      <p:sp>
        <p:nvSpPr>
          <p:cNvPr id="23" name="Text 21"/>
          <p:cNvSpPr/>
          <p:nvPr/>
        </p:nvSpPr>
        <p:spPr>
          <a:xfrm>
            <a:off x="621506" y="2521521"/>
            <a:ext cx="1123712" cy="339998"/>
          </a:xfrm>
          <a:prstGeom prst="rect">
            <a:avLst/>
          </a:prstGeom>
          <a:noFill/>
          <a:ln/>
        </p:spPr>
        <p:txBody>
          <a:bodyPr wrap="none" lIns="0" tIns="0" rIns="0" bIns="0" rtlCol="0" anchor="t"/>
          <a:lstStyle/>
          <a:p>
            <a:pPr marL="0" indent="0" algn="l">
              <a:lnSpc>
                <a:spcPts val="1339"/>
              </a:lnSpc>
              <a:buNone/>
            </a:pPr>
            <a:r>
              <a:rPr lang="en-US" sz="956" b="1" dirty="0">
                <a:solidFill>
                  <a:srgbClr val="0F172A"/>
                </a:solidFill>
                <a:latin typeface="Carlito" pitchFamily="34" charset="0"/>
                <a:ea typeface="Carlito" pitchFamily="34" charset="-122"/>
                <a:cs typeface="Carlito" pitchFamily="34" charset="-120"/>
              </a:rPr>
              <a:t>Manages</a:t>
            </a:r>
            <a:endParaRPr lang="en-US" sz="956" dirty="0"/>
          </a:p>
        </p:txBody>
      </p:sp>
      <p:sp>
        <p:nvSpPr>
          <p:cNvPr id="24" name="Text 22"/>
          <p:cNvSpPr/>
          <p:nvPr/>
        </p:nvSpPr>
        <p:spPr>
          <a:xfrm>
            <a:off x="1478756" y="2521521"/>
            <a:ext cx="2857500" cy="339998"/>
          </a:xfrm>
          <a:prstGeom prst="rect">
            <a:avLst/>
          </a:prstGeom>
          <a:noFill/>
          <a:ln/>
        </p:spPr>
        <p:txBody>
          <a:bodyPr wrap="square" lIns="0" tIns="0" rIns="0" bIns="0" rtlCol="0" anchor="t"/>
          <a:lstStyle/>
          <a:p>
            <a:pPr marL="0" indent="0" algn="l">
              <a:lnSpc>
                <a:spcPts val="1339"/>
              </a:lnSpc>
              <a:buNone/>
            </a:pPr>
            <a:r>
              <a:rPr lang="en-US" sz="956" dirty="0">
                <a:solidFill>
                  <a:srgbClr val="334155"/>
                </a:solidFill>
                <a:latin typeface="Carlito" pitchFamily="34" charset="0"/>
                <a:ea typeface="Carlito" pitchFamily="34" charset="-122"/>
                <a:cs typeface="Carlito" pitchFamily="34" charset="-120"/>
              </a:rPr>
              <a:t>VPCs, subnets, EC2 instances, S3 buckets, RDS, IAM, etc.</a:t>
            </a:r>
            <a:endParaRPr lang="en-US" sz="956" dirty="0"/>
          </a:p>
        </p:txBody>
      </p:sp>
      <p:sp>
        <p:nvSpPr>
          <p:cNvPr id="25" name="Shape 23"/>
          <p:cNvSpPr/>
          <p:nvPr/>
        </p:nvSpPr>
        <p:spPr>
          <a:xfrm>
            <a:off x="621506" y="3192252"/>
            <a:ext cx="3714750" cy="0"/>
          </a:xfrm>
          <a:prstGeom prst="line">
            <a:avLst/>
          </a:prstGeom>
          <a:noFill/>
          <a:ln w="7144">
            <a:solidFill>
              <a:srgbClr val="CBD5E1"/>
            </a:solidFill>
            <a:prstDash val="dash"/>
          </a:ln>
        </p:spPr>
      </p:sp>
      <p:sp>
        <p:nvSpPr>
          <p:cNvPr id="26" name="Text 24"/>
          <p:cNvSpPr/>
          <p:nvPr/>
        </p:nvSpPr>
        <p:spPr>
          <a:xfrm>
            <a:off x="621506" y="2968675"/>
            <a:ext cx="1123712" cy="169999"/>
          </a:xfrm>
          <a:prstGeom prst="rect">
            <a:avLst/>
          </a:prstGeom>
          <a:noFill/>
          <a:ln/>
        </p:spPr>
        <p:txBody>
          <a:bodyPr wrap="none" lIns="0" tIns="0" rIns="0" bIns="0" rtlCol="0" anchor="t"/>
          <a:lstStyle/>
          <a:p>
            <a:pPr marL="0" indent="0" algn="l">
              <a:lnSpc>
                <a:spcPts val="1339"/>
              </a:lnSpc>
              <a:buNone/>
            </a:pPr>
            <a:r>
              <a:rPr lang="en-US" sz="956" b="1" dirty="0">
                <a:solidFill>
                  <a:srgbClr val="0F172A"/>
                </a:solidFill>
                <a:latin typeface="Carlito" pitchFamily="34" charset="0"/>
                <a:ea typeface="Carlito" pitchFamily="34" charset="-122"/>
                <a:cs typeface="Carlito" pitchFamily="34" charset="-120"/>
              </a:rPr>
              <a:t>Lifecycle</a:t>
            </a:r>
            <a:endParaRPr lang="en-US" sz="956" dirty="0"/>
          </a:p>
        </p:txBody>
      </p:sp>
      <p:sp>
        <p:nvSpPr>
          <p:cNvPr id="27" name="Text 25"/>
          <p:cNvSpPr/>
          <p:nvPr/>
        </p:nvSpPr>
        <p:spPr>
          <a:xfrm>
            <a:off x="1478756" y="2968675"/>
            <a:ext cx="2857500" cy="169999"/>
          </a:xfrm>
          <a:prstGeom prst="rect">
            <a:avLst/>
          </a:prstGeom>
          <a:noFill/>
          <a:ln/>
        </p:spPr>
        <p:txBody>
          <a:bodyPr wrap="none" lIns="0" tIns="0" rIns="0" bIns="0" rtlCol="0" anchor="t"/>
          <a:lstStyle/>
          <a:p>
            <a:pPr marL="0" indent="0" algn="l">
              <a:lnSpc>
                <a:spcPts val="1339"/>
              </a:lnSpc>
              <a:buNone/>
            </a:pPr>
            <a:r>
              <a:rPr lang="en-US" sz="956" dirty="0">
                <a:solidFill>
                  <a:srgbClr val="334155"/>
                </a:solidFill>
                <a:latin typeface="Carlito" pitchFamily="34" charset="0"/>
                <a:ea typeface="Carlito" pitchFamily="34" charset="-122"/>
                <a:cs typeface="Carlito" pitchFamily="34" charset="-120"/>
              </a:rPr>
              <a:t>provision + destroy (immutable infra)</a:t>
            </a:r>
            <a:endParaRPr lang="en-US" sz="956" dirty="0"/>
          </a:p>
        </p:txBody>
      </p:sp>
      <p:sp>
        <p:nvSpPr>
          <p:cNvPr id="28" name="Shape 26"/>
          <p:cNvSpPr/>
          <p:nvPr/>
        </p:nvSpPr>
        <p:spPr>
          <a:xfrm>
            <a:off x="621506" y="3469407"/>
            <a:ext cx="3714750" cy="0"/>
          </a:xfrm>
          <a:prstGeom prst="line">
            <a:avLst/>
          </a:prstGeom>
          <a:noFill/>
          <a:ln w="7144">
            <a:solidFill>
              <a:srgbClr val="CBD5E1"/>
            </a:solidFill>
            <a:prstDash val="dash"/>
          </a:ln>
        </p:spPr>
      </p:sp>
      <p:sp>
        <p:nvSpPr>
          <p:cNvPr id="29" name="Text 27"/>
          <p:cNvSpPr/>
          <p:nvPr/>
        </p:nvSpPr>
        <p:spPr>
          <a:xfrm>
            <a:off x="621506" y="3245830"/>
            <a:ext cx="1257300" cy="169999"/>
          </a:xfrm>
          <a:prstGeom prst="rect">
            <a:avLst/>
          </a:prstGeom>
          <a:noFill/>
          <a:ln/>
        </p:spPr>
        <p:txBody>
          <a:bodyPr wrap="none" lIns="0" tIns="0" rIns="0" bIns="0" rtlCol="0" anchor="t"/>
          <a:lstStyle/>
          <a:p>
            <a:pPr marL="0" indent="0" algn="l">
              <a:lnSpc>
                <a:spcPts val="1339"/>
              </a:lnSpc>
              <a:buNone/>
            </a:pPr>
            <a:r>
              <a:rPr lang="en-US" sz="956" b="1" dirty="0">
                <a:solidFill>
                  <a:srgbClr val="0F172A"/>
                </a:solidFill>
                <a:latin typeface="Carlito" pitchFamily="34" charset="0"/>
                <a:ea typeface="Carlito" pitchFamily="34" charset="-122"/>
                <a:cs typeface="Carlito" pitchFamily="34" charset="-120"/>
              </a:rPr>
              <a:t>State</a:t>
            </a:r>
            <a:endParaRPr lang="en-US" sz="956" dirty="0"/>
          </a:p>
        </p:txBody>
      </p:sp>
      <p:sp>
        <p:nvSpPr>
          <p:cNvPr id="30" name="Text 28"/>
          <p:cNvSpPr/>
          <p:nvPr/>
        </p:nvSpPr>
        <p:spPr>
          <a:xfrm>
            <a:off x="1478756" y="3245830"/>
            <a:ext cx="2857500" cy="169999"/>
          </a:xfrm>
          <a:prstGeom prst="rect">
            <a:avLst/>
          </a:prstGeom>
          <a:noFill/>
          <a:ln/>
        </p:spPr>
        <p:txBody>
          <a:bodyPr wrap="none" lIns="0" tIns="0" rIns="0" bIns="0" rtlCol="0" anchor="t"/>
          <a:lstStyle/>
          <a:p>
            <a:pPr marL="0" indent="0" algn="l">
              <a:lnSpc>
                <a:spcPts val="1339"/>
              </a:lnSpc>
              <a:buNone/>
            </a:pPr>
            <a:r>
              <a:rPr lang="en-US" sz="956" dirty="0">
                <a:solidFill>
                  <a:srgbClr val="334155"/>
                </a:solidFill>
                <a:latin typeface="Carlito" pitchFamily="34" charset="0"/>
                <a:ea typeface="Carlito" pitchFamily="34" charset="-122"/>
                <a:cs typeface="Carlito" pitchFamily="34" charset="-120"/>
              </a:rPr>
              <a:t>Yes — statefile tracks what exists</a:t>
            </a:r>
            <a:endParaRPr lang="en-US" sz="956" dirty="0"/>
          </a:p>
        </p:txBody>
      </p:sp>
      <p:sp>
        <p:nvSpPr>
          <p:cNvPr id="31" name="Text 29"/>
          <p:cNvSpPr/>
          <p:nvPr/>
        </p:nvSpPr>
        <p:spPr>
          <a:xfrm>
            <a:off x="621506" y="3530129"/>
            <a:ext cx="3714750" cy="292894"/>
          </a:xfrm>
          <a:prstGeom prst="roundRect">
            <a:avLst>
              <a:gd name="adj" fmla="val 26016"/>
            </a:avLst>
          </a:prstGeom>
          <a:solidFill>
            <a:srgbClr val="F1F5F9"/>
          </a:solidFill>
          <a:ln/>
        </p:spPr>
        <p:txBody>
          <a:bodyPr wrap="square" rtlCol="0" anchor="ctr"/>
          <a:lstStyle/>
          <a:p>
            <a:pPr marL="0" indent="0">
              <a:buNone/>
            </a:pPr>
            <a:endParaRPr lang="en-US" dirty="0"/>
          </a:p>
        </p:txBody>
      </p:sp>
      <p:sp>
        <p:nvSpPr>
          <p:cNvPr id="32" name="Text 30"/>
          <p:cNvSpPr/>
          <p:nvPr/>
        </p:nvSpPr>
        <p:spPr>
          <a:xfrm>
            <a:off x="621506" y="3530129"/>
            <a:ext cx="3714750" cy="316325"/>
          </a:xfrm>
          <a:prstGeom prst="rect">
            <a:avLst/>
          </a:prstGeom>
          <a:noFill/>
          <a:ln/>
        </p:spPr>
        <p:txBody>
          <a:bodyPr wrap="square" lIns="85725" tIns="71438" rIns="85725" bIns="71438" rtlCol="0" anchor="t"/>
          <a:lstStyle/>
          <a:p>
            <a:pPr marL="0" indent="0" algn="l">
              <a:lnSpc>
                <a:spcPts val="1181"/>
              </a:lnSpc>
              <a:buNone/>
            </a:pPr>
            <a:r>
              <a:rPr lang="en-US" sz="844" b="1" dirty="0">
                <a:solidFill>
                  <a:srgbClr val="F97316"/>
                </a:solidFill>
                <a:latin typeface="Courier New" pitchFamily="34" charset="0"/>
                <a:ea typeface="Courier New" pitchFamily="34" charset="-122"/>
                <a:cs typeface="Courier New" pitchFamily="34" charset="-120"/>
              </a:rPr>
              <a:t>Best for:</a:t>
            </a:r>
            <a:r>
              <a:rPr lang="en-US" sz="844" dirty="0">
                <a:solidFill>
                  <a:srgbClr val="0F172A"/>
                </a:solidFill>
                <a:latin typeface="Courier New" pitchFamily="34" charset="0"/>
                <a:ea typeface="Courier New" pitchFamily="34" charset="-122"/>
                <a:cs typeface="Courier New" pitchFamily="34" charset="-120"/>
              </a:rPr>
              <a:t> "Create these resources in AWS"</a:t>
            </a:r>
            <a:endParaRPr lang="en-US" sz="844" dirty="0"/>
          </a:p>
        </p:txBody>
      </p:sp>
      <p:sp>
        <p:nvSpPr>
          <p:cNvPr id="33" name="Text 31"/>
          <p:cNvSpPr/>
          <p:nvPr/>
        </p:nvSpPr>
        <p:spPr>
          <a:xfrm>
            <a:off x="4643438" y="1045778"/>
            <a:ext cx="4043363" cy="479971"/>
          </a:xfrm>
          <a:prstGeom prst="roundRect">
            <a:avLst>
              <a:gd name="adj" fmla="val 23814"/>
            </a:avLst>
          </a:prstGeom>
          <a:solidFill>
            <a:srgbClr val="F97316"/>
          </a:solidFill>
          <a:ln/>
        </p:spPr>
        <p:txBody>
          <a:bodyPr wrap="square" rtlCol="0" anchor="ctr"/>
          <a:lstStyle/>
          <a:p>
            <a:pPr marL="0" indent="0">
              <a:buNone/>
            </a:pPr>
            <a:endParaRPr lang="en-US" dirty="0"/>
          </a:p>
        </p:txBody>
      </p:sp>
      <p:sp>
        <p:nvSpPr>
          <p:cNvPr id="34" name="Text 32"/>
          <p:cNvSpPr/>
          <p:nvPr/>
        </p:nvSpPr>
        <p:spPr>
          <a:xfrm>
            <a:off x="4927532" y="1160078"/>
            <a:ext cx="952759" cy="270034"/>
          </a:xfrm>
          <a:prstGeom prst="rect">
            <a:avLst/>
          </a:prstGeom>
          <a:noFill/>
          <a:ln/>
        </p:spPr>
        <p:txBody>
          <a:bodyPr wrap="none" lIns="0" tIns="0" rIns="0" bIns="0" rtlCol="0" anchor="t"/>
          <a:lstStyle/>
          <a:p>
            <a:pPr marL="0" indent="0" algn="l">
              <a:lnSpc>
                <a:spcPts val="2205"/>
              </a:lnSpc>
              <a:buNone/>
            </a:pPr>
            <a:r>
              <a:rPr lang="en-US" sz="1575" b="1" dirty="0">
                <a:solidFill>
                  <a:srgbClr val="FFFFFF"/>
                </a:solidFill>
                <a:latin typeface="Carlito" pitchFamily="34" charset="0"/>
                <a:ea typeface="Carlito" pitchFamily="34" charset="-122"/>
                <a:cs typeface="Carlito" pitchFamily="34" charset="-120"/>
              </a:rPr>
              <a:t>Ansible</a:t>
            </a:r>
            <a:endParaRPr lang="en-US" sz="1575" dirty="0"/>
          </a:p>
        </p:txBody>
      </p:sp>
      <p:sp>
        <p:nvSpPr>
          <p:cNvPr id="35" name="Text 33"/>
          <p:cNvSpPr/>
          <p:nvPr/>
        </p:nvSpPr>
        <p:spPr>
          <a:xfrm>
            <a:off x="4800600" y="1178607"/>
            <a:ext cx="214313" cy="214313"/>
          </a:xfrm>
          <a:prstGeom prst="rect">
            <a:avLst/>
          </a:prstGeom>
          <a:noFill/>
          <a:ln/>
        </p:spPr>
        <p:txBody>
          <a:bodyPr wrap="none" lIns="0" tIns="0" rIns="0" bIns="0" rtlCol="0" anchor="ctr"/>
          <a:lstStyle/>
          <a:p>
            <a:pPr marL="0" indent="0" algn="ctr">
              <a:buNone/>
            </a:pPr>
            <a:r>
              <a:rPr lang="en-US" sz="2109" dirty="0">
                <a:solidFill>
                  <a:srgbClr val="FFFFFF"/>
                </a:solidFill>
                <a:latin typeface="Segoe UI Symbol" pitchFamily="34" charset="0"/>
                <a:ea typeface="Segoe UI Symbol" pitchFamily="34" charset="-122"/>
                <a:cs typeface="Segoe UI Symbol" pitchFamily="34" charset="-120"/>
              </a:rPr>
              <a:t>⚙</a:t>
            </a:r>
            <a:endParaRPr lang="en-US" sz="2109" dirty="0"/>
          </a:p>
        </p:txBody>
      </p:sp>
      <p:sp>
        <p:nvSpPr>
          <p:cNvPr id="36" name="Text 34"/>
          <p:cNvSpPr/>
          <p:nvPr/>
        </p:nvSpPr>
        <p:spPr>
          <a:xfrm>
            <a:off x="4643438" y="1525749"/>
            <a:ext cx="4043363" cy="2684822"/>
          </a:xfrm>
          <a:prstGeom prst="rect">
            <a:avLst/>
          </a:prstGeom>
          <a:solidFill>
            <a:srgbClr val="F8FAFC"/>
          </a:solidFill>
          <a:ln/>
        </p:spPr>
        <p:txBody>
          <a:bodyPr wrap="square" rtlCol="0" anchor="ctr"/>
          <a:lstStyle/>
          <a:p>
            <a:pPr marL="0" indent="0">
              <a:buNone/>
            </a:pPr>
            <a:endParaRPr lang="en-US" dirty="0"/>
          </a:p>
        </p:txBody>
      </p:sp>
      <p:sp>
        <p:nvSpPr>
          <p:cNvPr id="37" name="Shape 35"/>
          <p:cNvSpPr/>
          <p:nvPr/>
        </p:nvSpPr>
        <p:spPr>
          <a:xfrm>
            <a:off x="8683228" y="1525749"/>
            <a:ext cx="0" cy="2684822"/>
          </a:xfrm>
          <a:prstGeom prst="line">
            <a:avLst/>
          </a:prstGeom>
          <a:noFill/>
          <a:ln w="7144">
            <a:solidFill>
              <a:srgbClr val="CBD5E1"/>
            </a:solidFill>
            <a:prstDash val="solid"/>
          </a:ln>
        </p:spPr>
      </p:sp>
      <p:sp>
        <p:nvSpPr>
          <p:cNvPr id="38" name="Shape 36"/>
          <p:cNvSpPr/>
          <p:nvPr/>
        </p:nvSpPr>
        <p:spPr>
          <a:xfrm>
            <a:off x="4643438" y="4206999"/>
            <a:ext cx="4043363" cy="0"/>
          </a:xfrm>
          <a:prstGeom prst="line">
            <a:avLst/>
          </a:prstGeom>
          <a:noFill/>
          <a:ln w="7144">
            <a:solidFill>
              <a:srgbClr val="CBD5E1"/>
            </a:solidFill>
            <a:prstDash val="solid"/>
          </a:ln>
        </p:spPr>
      </p:sp>
      <p:sp>
        <p:nvSpPr>
          <p:cNvPr id="39" name="Shape 37"/>
          <p:cNvSpPr/>
          <p:nvPr/>
        </p:nvSpPr>
        <p:spPr>
          <a:xfrm>
            <a:off x="4647009" y="1525749"/>
            <a:ext cx="0" cy="2684822"/>
          </a:xfrm>
          <a:prstGeom prst="line">
            <a:avLst/>
          </a:prstGeom>
          <a:noFill/>
          <a:ln w="7144">
            <a:solidFill>
              <a:srgbClr val="CBD5E1"/>
            </a:solidFill>
            <a:prstDash val="solid"/>
          </a:ln>
        </p:spPr>
      </p:sp>
      <p:sp>
        <p:nvSpPr>
          <p:cNvPr id="40" name="Shape 38"/>
          <p:cNvSpPr/>
          <p:nvPr/>
        </p:nvSpPr>
        <p:spPr>
          <a:xfrm>
            <a:off x="4807744" y="1913632"/>
            <a:ext cx="3714750" cy="0"/>
          </a:xfrm>
          <a:prstGeom prst="line">
            <a:avLst/>
          </a:prstGeom>
          <a:noFill/>
          <a:ln w="7144">
            <a:solidFill>
              <a:srgbClr val="CBD5E1"/>
            </a:solidFill>
            <a:prstDash val="dash"/>
          </a:ln>
        </p:spPr>
      </p:sp>
      <p:sp>
        <p:nvSpPr>
          <p:cNvPr id="41" name="Text 39"/>
          <p:cNvSpPr/>
          <p:nvPr/>
        </p:nvSpPr>
        <p:spPr>
          <a:xfrm>
            <a:off x="4807744" y="1690055"/>
            <a:ext cx="1257300" cy="169999"/>
          </a:xfrm>
          <a:prstGeom prst="rect">
            <a:avLst/>
          </a:prstGeom>
          <a:noFill/>
          <a:ln/>
        </p:spPr>
        <p:txBody>
          <a:bodyPr wrap="none" lIns="0" tIns="0" rIns="0" bIns="0" rtlCol="0" anchor="t"/>
          <a:lstStyle/>
          <a:p>
            <a:pPr marL="0" indent="0" algn="l">
              <a:lnSpc>
                <a:spcPts val="1339"/>
              </a:lnSpc>
              <a:buNone/>
            </a:pPr>
            <a:r>
              <a:rPr lang="en-US" sz="956" b="1" dirty="0">
                <a:solidFill>
                  <a:srgbClr val="0F172A"/>
                </a:solidFill>
                <a:latin typeface="Carlito" pitchFamily="34" charset="0"/>
                <a:ea typeface="Carlito" pitchFamily="34" charset="-122"/>
                <a:cs typeface="Carlito" pitchFamily="34" charset="-120"/>
              </a:rPr>
              <a:t>Scope</a:t>
            </a:r>
            <a:endParaRPr lang="en-US" sz="956" dirty="0"/>
          </a:p>
        </p:txBody>
      </p:sp>
      <p:sp>
        <p:nvSpPr>
          <p:cNvPr id="42" name="Text 40"/>
          <p:cNvSpPr/>
          <p:nvPr/>
        </p:nvSpPr>
        <p:spPr>
          <a:xfrm>
            <a:off x="5664994" y="1690055"/>
            <a:ext cx="2857500" cy="169999"/>
          </a:xfrm>
          <a:prstGeom prst="rect">
            <a:avLst/>
          </a:prstGeom>
          <a:noFill/>
          <a:ln/>
        </p:spPr>
        <p:txBody>
          <a:bodyPr wrap="none" lIns="0" tIns="0" rIns="0" bIns="0" rtlCol="0" anchor="t"/>
          <a:lstStyle/>
          <a:p>
            <a:pPr marL="0" indent="0" algn="l">
              <a:lnSpc>
                <a:spcPts val="1339"/>
              </a:lnSpc>
              <a:buNone/>
            </a:pPr>
            <a:r>
              <a:rPr lang="en-US" sz="956" dirty="0">
                <a:solidFill>
                  <a:srgbClr val="334155"/>
                </a:solidFill>
                <a:latin typeface="Carlito" pitchFamily="34" charset="0"/>
                <a:ea typeface="Carlito" pitchFamily="34" charset="-122"/>
                <a:cs typeface="Carlito" pitchFamily="34" charset="-120"/>
              </a:rPr>
              <a:t>Configuration management on existing hosts</a:t>
            </a:r>
            <a:endParaRPr lang="en-US" sz="956" dirty="0"/>
          </a:p>
        </p:txBody>
      </p:sp>
      <p:sp>
        <p:nvSpPr>
          <p:cNvPr id="43" name="Shape 41"/>
          <p:cNvSpPr/>
          <p:nvPr/>
        </p:nvSpPr>
        <p:spPr>
          <a:xfrm>
            <a:off x="4807744" y="2190787"/>
            <a:ext cx="3714750" cy="0"/>
          </a:xfrm>
          <a:prstGeom prst="line">
            <a:avLst/>
          </a:prstGeom>
          <a:noFill/>
          <a:ln w="7144">
            <a:solidFill>
              <a:srgbClr val="CBD5E1"/>
            </a:solidFill>
            <a:prstDash val="dash"/>
          </a:ln>
        </p:spPr>
      </p:sp>
      <p:sp>
        <p:nvSpPr>
          <p:cNvPr id="44" name="Text 42"/>
          <p:cNvSpPr/>
          <p:nvPr/>
        </p:nvSpPr>
        <p:spPr>
          <a:xfrm>
            <a:off x="4807744" y="1967210"/>
            <a:ext cx="1123712" cy="169999"/>
          </a:xfrm>
          <a:prstGeom prst="rect">
            <a:avLst/>
          </a:prstGeom>
          <a:noFill/>
          <a:ln/>
        </p:spPr>
        <p:txBody>
          <a:bodyPr wrap="none" lIns="0" tIns="0" rIns="0" bIns="0" rtlCol="0" anchor="t"/>
          <a:lstStyle/>
          <a:p>
            <a:pPr marL="0" indent="0" algn="l">
              <a:lnSpc>
                <a:spcPts val="1339"/>
              </a:lnSpc>
              <a:buNone/>
            </a:pPr>
            <a:r>
              <a:rPr lang="en-US" sz="956" b="1" dirty="0">
                <a:solidFill>
                  <a:srgbClr val="0F172A"/>
                </a:solidFill>
                <a:latin typeface="Carlito" pitchFamily="34" charset="0"/>
                <a:ea typeface="Carlito" pitchFamily="34" charset="-122"/>
                <a:cs typeface="Carlito" pitchFamily="34" charset="-120"/>
              </a:rPr>
              <a:t>Language</a:t>
            </a:r>
            <a:endParaRPr lang="en-US" sz="956" dirty="0"/>
          </a:p>
        </p:txBody>
      </p:sp>
      <p:sp>
        <p:nvSpPr>
          <p:cNvPr id="45" name="Text 43"/>
          <p:cNvSpPr/>
          <p:nvPr/>
        </p:nvSpPr>
        <p:spPr>
          <a:xfrm>
            <a:off x="5664994" y="1967210"/>
            <a:ext cx="2857500" cy="169999"/>
          </a:xfrm>
          <a:prstGeom prst="rect">
            <a:avLst/>
          </a:prstGeom>
          <a:noFill/>
          <a:ln/>
        </p:spPr>
        <p:txBody>
          <a:bodyPr wrap="none" lIns="0" tIns="0" rIns="0" bIns="0" rtlCol="0" anchor="t"/>
          <a:lstStyle/>
          <a:p>
            <a:pPr marL="0" indent="0" algn="l">
              <a:lnSpc>
                <a:spcPts val="1339"/>
              </a:lnSpc>
              <a:buNone/>
            </a:pPr>
            <a:r>
              <a:rPr lang="en-US" sz="956" dirty="0">
                <a:solidFill>
                  <a:srgbClr val="334155"/>
                </a:solidFill>
                <a:latin typeface="Carlito" pitchFamily="34" charset="0"/>
                <a:ea typeface="Carlito" pitchFamily="34" charset="-122"/>
                <a:cs typeface="Carlito" pitchFamily="34" charset="-120"/>
              </a:rPr>
              <a:t>YAML</a:t>
            </a:r>
            <a:endParaRPr lang="en-US" sz="956" dirty="0"/>
          </a:p>
        </p:txBody>
      </p:sp>
      <p:sp>
        <p:nvSpPr>
          <p:cNvPr id="46" name="Shape 44"/>
          <p:cNvSpPr/>
          <p:nvPr/>
        </p:nvSpPr>
        <p:spPr>
          <a:xfrm>
            <a:off x="4807744" y="2467942"/>
            <a:ext cx="3714750" cy="0"/>
          </a:xfrm>
          <a:prstGeom prst="line">
            <a:avLst/>
          </a:prstGeom>
          <a:noFill/>
          <a:ln w="7144">
            <a:solidFill>
              <a:srgbClr val="CBD5E1"/>
            </a:solidFill>
            <a:prstDash val="dash"/>
          </a:ln>
        </p:spPr>
      </p:sp>
      <p:sp>
        <p:nvSpPr>
          <p:cNvPr id="47" name="Text 45"/>
          <p:cNvSpPr/>
          <p:nvPr/>
        </p:nvSpPr>
        <p:spPr>
          <a:xfrm>
            <a:off x="4807744" y="2244365"/>
            <a:ext cx="1123712" cy="169999"/>
          </a:xfrm>
          <a:prstGeom prst="rect">
            <a:avLst/>
          </a:prstGeom>
          <a:noFill/>
          <a:ln/>
        </p:spPr>
        <p:txBody>
          <a:bodyPr wrap="none" lIns="0" tIns="0" rIns="0" bIns="0" rtlCol="0" anchor="t"/>
          <a:lstStyle/>
          <a:p>
            <a:pPr marL="0" indent="0" algn="l">
              <a:lnSpc>
                <a:spcPts val="1339"/>
              </a:lnSpc>
              <a:buNone/>
            </a:pPr>
            <a:r>
              <a:rPr lang="en-US" sz="956" b="1" dirty="0">
                <a:solidFill>
                  <a:srgbClr val="0F172A"/>
                </a:solidFill>
                <a:latin typeface="Carlito" pitchFamily="34" charset="0"/>
                <a:ea typeface="Carlito" pitchFamily="34" charset="-122"/>
                <a:cs typeface="Carlito" pitchFamily="34" charset="-120"/>
              </a:rPr>
              <a:t>Approach</a:t>
            </a:r>
            <a:endParaRPr lang="en-US" sz="956" dirty="0"/>
          </a:p>
        </p:txBody>
      </p:sp>
      <p:sp>
        <p:nvSpPr>
          <p:cNvPr id="48" name="Text 46"/>
          <p:cNvSpPr/>
          <p:nvPr/>
        </p:nvSpPr>
        <p:spPr>
          <a:xfrm>
            <a:off x="5664994" y="2244365"/>
            <a:ext cx="2857500" cy="169999"/>
          </a:xfrm>
          <a:prstGeom prst="rect">
            <a:avLst/>
          </a:prstGeom>
          <a:noFill/>
          <a:ln/>
        </p:spPr>
        <p:txBody>
          <a:bodyPr wrap="none" lIns="0" tIns="0" rIns="0" bIns="0" rtlCol="0" anchor="t"/>
          <a:lstStyle/>
          <a:p>
            <a:pPr marL="0" indent="0" algn="l">
              <a:lnSpc>
                <a:spcPts val="1339"/>
              </a:lnSpc>
              <a:buNone/>
            </a:pPr>
            <a:r>
              <a:rPr lang="en-US" sz="956" dirty="0">
                <a:solidFill>
                  <a:srgbClr val="334155"/>
                </a:solidFill>
                <a:latin typeface="Carlito" pitchFamily="34" charset="0"/>
                <a:ea typeface="Carlito" pitchFamily="34" charset="-122"/>
                <a:cs typeface="Carlito" pitchFamily="34" charset="-120"/>
              </a:rPr>
              <a:t>Declarative — describe desired host state</a:t>
            </a:r>
            <a:endParaRPr lang="en-US" sz="956" dirty="0"/>
          </a:p>
        </p:txBody>
      </p:sp>
      <p:sp>
        <p:nvSpPr>
          <p:cNvPr id="49" name="Shape 47"/>
          <p:cNvSpPr/>
          <p:nvPr/>
        </p:nvSpPr>
        <p:spPr>
          <a:xfrm>
            <a:off x="4807744" y="2745098"/>
            <a:ext cx="3714750" cy="0"/>
          </a:xfrm>
          <a:prstGeom prst="line">
            <a:avLst/>
          </a:prstGeom>
          <a:noFill/>
          <a:ln w="7144">
            <a:solidFill>
              <a:srgbClr val="CBD5E1"/>
            </a:solidFill>
            <a:prstDash val="dash"/>
          </a:ln>
        </p:spPr>
      </p:sp>
      <p:sp>
        <p:nvSpPr>
          <p:cNvPr id="50" name="Text 48"/>
          <p:cNvSpPr/>
          <p:nvPr/>
        </p:nvSpPr>
        <p:spPr>
          <a:xfrm>
            <a:off x="4807744" y="2521521"/>
            <a:ext cx="1123712" cy="169999"/>
          </a:xfrm>
          <a:prstGeom prst="rect">
            <a:avLst/>
          </a:prstGeom>
          <a:noFill/>
          <a:ln/>
        </p:spPr>
        <p:txBody>
          <a:bodyPr wrap="none" lIns="0" tIns="0" rIns="0" bIns="0" rtlCol="0" anchor="t"/>
          <a:lstStyle/>
          <a:p>
            <a:pPr marL="0" indent="0" algn="l">
              <a:lnSpc>
                <a:spcPts val="1339"/>
              </a:lnSpc>
              <a:buNone/>
            </a:pPr>
            <a:r>
              <a:rPr lang="en-US" sz="956" b="1" dirty="0">
                <a:solidFill>
                  <a:srgbClr val="0F172A"/>
                </a:solidFill>
                <a:latin typeface="Carlito" pitchFamily="34" charset="0"/>
                <a:ea typeface="Carlito" pitchFamily="34" charset="-122"/>
                <a:cs typeface="Carlito" pitchFamily="34" charset="-120"/>
              </a:rPr>
              <a:t>Manages</a:t>
            </a:r>
            <a:endParaRPr lang="en-US" sz="956" dirty="0"/>
          </a:p>
        </p:txBody>
      </p:sp>
      <p:sp>
        <p:nvSpPr>
          <p:cNvPr id="51" name="Text 49"/>
          <p:cNvSpPr/>
          <p:nvPr/>
        </p:nvSpPr>
        <p:spPr>
          <a:xfrm>
            <a:off x="5664994" y="2521521"/>
            <a:ext cx="2857500" cy="169999"/>
          </a:xfrm>
          <a:prstGeom prst="rect">
            <a:avLst/>
          </a:prstGeom>
          <a:noFill/>
          <a:ln/>
        </p:spPr>
        <p:txBody>
          <a:bodyPr wrap="none" lIns="0" tIns="0" rIns="0" bIns="0" rtlCol="0" anchor="t"/>
          <a:lstStyle/>
          <a:p>
            <a:pPr marL="0" indent="0" algn="l">
              <a:lnSpc>
                <a:spcPts val="1339"/>
              </a:lnSpc>
              <a:buNone/>
            </a:pPr>
            <a:r>
              <a:rPr lang="en-US" sz="956" dirty="0">
                <a:solidFill>
                  <a:srgbClr val="334155"/>
                </a:solidFill>
                <a:latin typeface="Carlito" pitchFamily="34" charset="0"/>
                <a:ea typeface="Carlito" pitchFamily="34" charset="-122"/>
                <a:cs typeface="Carlito" pitchFamily="34" charset="-120"/>
              </a:rPr>
              <a:t>Packages, files, services, users on hosts</a:t>
            </a:r>
            <a:endParaRPr lang="en-US" sz="956" dirty="0"/>
          </a:p>
        </p:txBody>
      </p:sp>
      <p:sp>
        <p:nvSpPr>
          <p:cNvPr id="52" name="Shape 50"/>
          <p:cNvSpPr/>
          <p:nvPr/>
        </p:nvSpPr>
        <p:spPr>
          <a:xfrm>
            <a:off x="4807744" y="3022253"/>
            <a:ext cx="3714750" cy="0"/>
          </a:xfrm>
          <a:prstGeom prst="line">
            <a:avLst/>
          </a:prstGeom>
          <a:noFill/>
          <a:ln w="7144">
            <a:solidFill>
              <a:srgbClr val="CBD5E1"/>
            </a:solidFill>
            <a:prstDash val="dash"/>
          </a:ln>
        </p:spPr>
      </p:sp>
      <p:sp>
        <p:nvSpPr>
          <p:cNvPr id="53" name="Text 51"/>
          <p:cNvSpPr/>
          <p:nvPr/>
        </p:nvSpPr>
        <p:spPr>
          <a:xfrm>
            <a:off x="4807744" y="2798676"/>
            <a:ext cx="1123712" cy="169999"/>
          </a:xfrm>
          <a:prstGeom prst="rect">
            <a:avLst/>
          </a:prstGeom>
          <a:noFill/>
          <a:ln/>
        </p:spPr>
        <p:txBody>
          <a:bodyPr wrap="none" lIns="0" tIns="0" rIns="0" bIns="0" rtlCol="0" anchor="t"/>
          <a:lstStyle/>
          <a:p>
            <a:pPr marL="0" indent="0" algn="l">
              <a:lnSpc>
                <a:spcPts val="1339"/>
              </a:lnSpc>
              <a:buNone/>
            </a:pPr>
            <a:r>
              <a:rPr lang="en-US" sz="956" b="1" dirty="0">
                <a:solidFill>
                  <a:srgbClr val="0F172A"/>
                </a:solidFill>
                <a:latin typeface="Carlito" pitchFamily="34" charset="0"/>
                <a:ea typeface="Carlito" pitchFamily="34" charset="-122"/>
                <a:cs typeface="Carlito" pitchFamily="34" charset="-120"/>
              </a:rPr>
              <a:t>Lifecycle</a:t>
            </a:r>
            <a:endParaRPr lang="en-US" sz="956" dirty="0"/>
          </a:p>
        </p:txBody>
      </p:sp>
      <p:sp>
        <p:nvSpPr>
          <p:cNvPr id="54" name="Text 52"/>
          <p:cNvSpPr/>
          <p:nvPr/>
        </p:nvSpPr>
        <p:spPr>
          <a:xfrm>
            <a:off x="5664994" y="2798676"/>
            <a:ext cx="2857500" cy="169999"/>
          </a:xfrm>
          <a:prstGeom prst="rect">
            <a:avLst/>
          </a:prstGeom>
          <a:noFill/>
          <a:ln/>
        </p:spPr>
        <p:txBody>
          <a:bodyPr wrap="none" lIns="0" tIns="0" rIns="0" bIns="0" rtlCol="0" anchor="t"/>
          <a:lstStyle/>
          <a:p>
            <a:pPr marL="0" indent="0" algn="l">
              <a:lnSpc>
                <a:spcPts val="1339"/>
              </a:lnSpc>
              <a:buNone/>
            </a:pPr>
            <a:r>
              <a:rPr lang="en-US" sz="956" dirty="0">
                <a:solidFill>
                  <a:srgbClr val="334155"/>
                </a:solidFill>
                <a:latin typeface="Carlito" pitchFamily="34" charset="0"/>
                <a:ea typeface="Carlito" pitchFamily="34" charset="-122"/>
                <a:cs typeface="Carlito" pitchFamily="34" charset="-120"/>
              </a:rPr>
              <a:t>configure (mutable infra)</a:t>
            </a:r>
            <a:endParaRPr lang="en-US" sz="956" dirty="0"/>
          </a:p>
        </p:txBody>
      </p:sp>
      <p:sp>
        <p:nvSpPr>
          <p:cNvPr id="55" name="Shape 53"/>
          <p:cNvSpPr/>
          <p:nvPr/>
        </p:nvSpPr>
        <p:spPr>
          <a:xfrm>
            <a:off x="4807744" y="3299408"/>
            <a:ext cx="3714750" cy="0"/>
          </a:xfrm>
          <a:prstGeom prst="line">
            <a:avLst/>
          </a:prstGeom>
          <a:noFill/>
          <a:ln w="7144">
            <a:solidFill>
              <a:srgbClr val="CBD5E1"/>
            </a:solidFill>
            <a:prstDash val="dash"/>
          </a:ln>
        </p:spPr>
      </p:sp>
      <p:sp>
        <p:nvSpPr>
          <p:cNvPr id="56" name="Text 54"/>
          <p:cNvSpPr/>
          <p:nvPr/>
        </p:nvSpPr>
        <p:spPr>
          <a:xfrm>
            <a:off x="4807744" y="3075831"/>
            <a:ext cx="1257300" cy="169999"/>
          </a:xfrm>
          <a:prstGeom prst="rect">
            <a:avLst/>
          </a:prstGeom>
          <a:noFill/>
          <a:ln/>
        </p:spPr>
        <p:txBody>
          <a:bodyPr wrap="none" lIns="0" tIns="0" rIns="0" bIns="0" rtlCol="0" anchor="t"/>
          <a:lstStyle/>
          <a:p>
            <a:pPr marL="0" indent="0" algn="l">
              <a:lnSpc>
                <a:spcPts val="1339"/>
              </a:lnSpc>
              <a:buNone/>
            </a:pPr>
            <a:r>
              <a:rPr lang="en-US" sz="956" b="1" dirty="0">
                <a:solidFill>
                  <a:srgbClr val="0F172A"/>
                </a:solidFill>
                <a:latin typeface="Carlito" pitchFamily="34" charset="0"/>
                <a:ea typeface="Carlito" pitchFamily="34" charset="-122"/>
                <a:cs typeface="Carlito" pitchFamily="34" charset="-120"/>
              </a:rPr>
              <a:t>State</a:t>
            </a:r>
            <a:endParaRPr lang="en-US" sz="956" dirty="0"/>
          </a:p>
        </p:txBody>
      </p:sp>
      <p:sp>
        <p:nvSpPr>
          <p:cNvPr id="57" name="Text 55"/>
          <p:cNvSpPr/>
          <p:nvPr/>
        </p:nvSpPr>
        <p:spPr>
          <a:xfrm>
            <a:off x="5664994" y="3075831"/>
            <a:ext cx="2857500" cy="169999"/>
          </a:xfrm>
          <a:prstGeom prst="rect">
            <a:avLst/>
          </a:prstGeom>
          <a:noFill/>
          <a:ln/>
        </p:spPr>
        <p:txBody>
          <a:bodyPr wrap="none" lIns="0" tIns="0" rIns="0" bIns="0" rtlCol="0" anchor="t"/>
          <a:lstStyle/>
          <a:p>
            <a:pPr marL="0" indent="0" algn="l">
              <a:lnSpc>
                <a:spcPts val="1339"/>
              </a:lnSpc>
              <a:buNone/>
            </a:pPr>
            <a:r>
              <a:rPr lang="en-US" sz="956" dirty="0">
                <a:solidFill>
                  <a:srgbClr val="334155"/>
                </a:solidFill>
                <a:latin typeface="Carlito" pitchFamily="34" charset="0"/>
                <a:ea typeface="Carlito" pitchFamily="34" charset="-122"/>
                <a:cs typeface="Carlito" pitchFamily="34" charset="-120"/>
              </a:rPr>
              <a:t>No — checks current state at run time</a:t>
            </a:r>
            <a:endParaRPr lang="en-US" sz="956" dirty="0"/>
          </a:p>
        </p:txBody>
      </p:sp>
      <p:sp>
        <p:nvSpPr>
          <p:cNvPr id="58" name="Text 56"/>
          <p:cNvSpPr/>
          <p:nvPr/>
        </p:nvSpPr>
        <p:spPr>
          <a:xfrm>
            <a:off x="4807744" y="3360130"/>
            <a:ext cx="3714750" cy="292894"/>
          </a:xfrm>
          <a:prstGeom prst="roundRect">
            <a:avLst>
              <a:gd name="adj" fmla="val 26016"/>
            </a:avLst>
          </a:prstGeom>
          <a:solidFill>
            <a:srgbClr val="F1F5F9"/>
          </a:solidFill>
          <a:ln/>
        </p:spPr>
        <p:txBody>
          <a:bodyPr wrap="square" rtlCol="0" anchor="ctr"/>
          <a:lstStyle/>
          <a:p>
            <a:pPr marL="0" indent="0">
              <a:buNone/>
            </a:pPr>
            <a:endParaRPr lang="en-US" dirty="0"/>
          </a:p>
        </p:txBody>
      </p:sp>
      <p:sp>
        <p:nvSpPr>
          <p:cNvPr id="59" name="Text 57"/>
          <p:cNvSpPr/>
          <p:nvPr/>
        </p:nvSpPr>
        <p:spPr>
          <a:xfrm>
            <a:off x="4807744" y="3360130"/>
            <a:ext cx="3714750" cy="316325"/>
          </a:xfrm>
          <a:prstGeom prst="rect">
            <a:avLst/>
          </a:prstGeom>
          <a:noFill/>
          <a:ln/>
        </p:spPr>
        <p:txBody>
          <a:bodyPr wrap="square" lIns="85725" tIns="71438" rIns="85725" bIns="71438" rtlCol="0" anchor="t"/>
          <a:lstStyle/>
          <a:p>
            <a:pPr marL="0" indent="0" algn="l">
              <a:lnSpc>
                <a:spcPts val="1181"/>
              </a:lnSpc>
              <a:buNone/>
            </a:pPr>
            <a:r>
              <a:rPr lang="en-US" sz="844" b="1" dirty="0">
                <a:solidFill>
                  <a:srgbClr val="F97316"/>
                </a:solidFill>
                <a:latin typeface="Courier New" pitchFamily="34" charset="0"/>
                <a:ea typeface="Courier New" pitchFamily="34" charset="-122"/>
                <a:cs typeface="Courier New" pitchFamily="34" charset="-120"/>
              </a:rPr>
              <a:t>Best for:</a:t>
            </a:r>
            <a:r>
              <a:rPr lang="en-US" sz="844" dirty="0">
                <a:solidFill>
                  <a:srgbClr val="0F172A"/>
                </a:solidFill>
                <a:latin typeface="Liberation Sans Narrow" pitchFamily="34" charset="0"/>
                <a:ea typeface="Liberation Sans Narrow" pitchFamily="34" charset="-122"/>
                <a:cs typeface="Liberation Sans Narrow" pitchFamily="34" charset="-120"/>
              </a:rPr>
              <a:t> "Install nginx on these 100 hosts"</a:t>
            </a:r>
            <a:endParaRPr lang="en-US" sz="844" dirty="0"/>
          </a:p>
        </p:txBody>
      </p:sp>
      <p:sp>
        <p:nvSpPr>
          <p:cNvPr id="60" name="Text 58"/>
          <p:cNvSpPr/>
          <p:nvPr/>
        </p:nvSpPr>
        <p:spPr>
          <a:xfrm>
            <a:off x="457200" y="4324871"/>
            <a:ext cx="8229600" cy="361429"/>
          </a:xfrm>
          <a:prstGeom prst="roundRect">
            <a:avLst>
              <a:gd name="adj" fmla="val 21083"/>
            </a:avLst>
          </a:prstGeom>
          <a:solidFill>
            <a:srgbClr val="FFF7ED"/>
          </a:solidFill>
          <a:ln/>
        </p:spPr>
        <p:txBody>
          <a:bodyPr wrap="square" rtlCol="0" anchor="ctr"/>
          <a:lstStyle/>
          <a:p>
            <a:pPr marL="0" indent="0">
              <a:buNone/>
            </a:pPr>
            <a:endParaRPr lang="en-US" dirty="0"/>
          </a:p>
        </p:txBody>
      </p:sp>
      <p:sp>
        <p:nvSpPr>
          <p:cNvPr id="61" name="Shape 59"/>
          <p:cNvSpPr/>
          <p:nvPr/>
        </p:nvSpPr>
        <p:spPr>
          <a:xfrm>
            <a:off x="478631" y="4324871"/>
            <a:ext cx="0" cy="361429"/>
          </a:xfrm>
          <a:prstGeom prst="line">
            <a:avLst/>
          </a:prstGeom>
          <a:noFill/>
          <a:ln w="42863">
            <a:solidFill>
              <a:srgbClr val="F97316"/>
            </a:solidFill>
            <a:prstDash val="solid"/>
          </a:ln>
        </p:spPr>
      </p:sp>
      <p:sp>
        <p:nvSpPr>
          <p:cNvPr id="62" name="Text 60"/>
          <p:cNvSpPr/>
          <p:nvPr/>
        </p:nvSpPr>
        <p:spPr>
          <a:xfrm>
            <a:off x="657225" y="4410596"/>
            <a:ext cx="7872413" cy="189979"/>
          </a:xfrm>
          <a:prstGeom prst="rect">
            <a:avLst/>
          </a:prstGeom>
          <a:noFill/>
          <a:ln/>
        </p:spPr>
        <p:txBody>
          <a:bodyPr wrap="square" lIns="0" tIns="0" rIns="0" bIns="0" rtlCol="0" anchor="t"/>
          <a:lstStyle/>
          <a:p>
            <a:pPr marL="0" indent="0" algn="l">
              <a:lnSpc>
                <a:spcPts val="1496"/>
              </a:lnSpc>
              <a:buNone/>
            </a:pPr>
            <a:r>
              <a:rPr lang="en-US" sz="1069" b="1" dirty="0">
                <a:solidFill>
                  <a:srgbClr val="C2410C"/>
                </a:solidFill>
                <a:latin typeface="Segoe UI Symbol" pitchFamily="34" charset="0"/>
                <a:ea typeface="Segoe UI Symbol" pitchFamily="34" charset="-122"/>
                <a:cs typeface="Segoe UI Symbol" pitchFamily="34" charset="-120"/>
              </a:rPr>
              <a:t>⌘</a:t>
            </a:r>
            <a:r>
              <a:rPr lang="en-US" sz="1069" b="1" dirty="0">
                <a:solidFill>
                  <a:srgbClr val="C2410C"/>
                </a:solidFill>
                <a:latin typeface="Carlito" pitchFamily="34" charset="0"/>
                <a:ea typeface="Carlito" pitchFamily="34" charset="-122"/>
                <a:cs typeface="Carlito" pitchFamily="34" charset="-120"/>
              </a:rPr>
              <a:t> In real pipelines: Terraform provisions the infrastructure, then Ansible configures it. They are complementary, not competing.</a:t>
            </a:r>
            <a:endParaRPr lang="en-US" sz="1069"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3437422" cy="373346"/>
          </a:xfrm>
          <a:prstGeom prst="rect">
            <a:avLst/>
          </a:prstGeom>
          <a:noFill/>
          <a:ln/>
        </p:spPr>
        <p:txBody>
          <a:bodyPr wrap="none" lIns="0" tIns="0" rIns="0" bIns="0" rtlCol="0" anchor="t"/>
          <a:lstStyle/>
          <a:p>
            <a:pPr marL="0" indent="0" algn="l">
              <a:lnSpc>
                <a:spcPts val="2723"/>
              </a:lnSpc>
              <a:buNone/>
            </a:pPr>
            <a:r>
              <a:rPr lang="en-US" sz="2475" b="1" kern="0" spc="-28" dirty="0">
                <a:solidFill>
                  <a:srgbClr val="0F172A"/>
                </a:solidFill>
                <a:latin typeface="Carlito" pitchFamily="34" charset="0"/>
                <a:ea typeface="Carlito" pitchFamily="34" charset="-122"/>
                <a:cs typeface="Carlito" pitchFamily="34" charset="-120"/>
              </a:rPr>
              <a:t>The Manual IaC Problem</a:t>
            </a:r>
            <a:endParaRPr lang="en-US" sz="2475" dirty="0"/>
          </a:p>
        </p:txBody>
      </p:sp>
      <p:sp>
        <p:nvSpPr>
          <p:cNvPr id="3" name="Text 1"/>
          <p:cNvSpPr/>
          <p:nvPr/>
        </p:nvSpPr>
        <p:spPr>
          <a:xfrm>
            <a:off x="457200" y="888616"/>
            <a:ext cx="571500" cy="42863"/>
          </a:xfrm>
          <a:prstGeom prst="roundRect">
            <a:avLst>
              <a:gd name="adj" fmla="val 66666"/>
            </a:avLst>
          </a:prstGeom>
          <a:solidFill>
            <a:srgbClr val="F97316"/>
          </a:solidFill>
          <a:ln/>
        </p:spPr>
        <p:txBody>
          <a:bodyPr wrap="square" rtlCol="0" anchor="ctr"/>
          <a:lstStyle/>
          <a:p>
            <a:pPr marL="0" indent="0">
              <a:buNone/>
            </a:pPr>
            <a:endParaRPr lang="en-US" dirty="0"/>
          </a:p>
        </p:txBody>
      </p:sp>
      <p:sp>
        <p:nvSpPr>
          <p:cNvPr id="4" name="Text 2"/>
          <p:cNvSpPr/>
          <p:nvPr/>
        </p:nvSpPr>
        <p:spPr>
          <a:xfrm>
            <a:off x="7260751" y="528672"/>
            <a:ext cx="1448909" cy="331333"/>
          </a:xfrm>
          <a:prstGeom prst="roundRect">
            <a:avLst>
              <a:gd name="adj" fmla="val 2871877"/>
            </a:avLst>
          </a:prstGeom>
          <a:solidFill>
            <a:srgbClr val="FED7AA"/>
          </a:solidFill>
          <a:ln/>
        </p:spPr>
        <p:txBody>
          <a:bodyPr wrap="square" rtlCol="0" anchor="ctr"/>
          <a:lstStyle/>
          <a:p>
            <a:pPr marL="0" indent="0">
              <a:buNone/>
            </a:pPr>
            <a:endParaRPr lang="en-US" dirty="0"/>
          </a:p>
        </p:txBody>
      </p:sp>
      <p:sp>
        <p:nvSpPr>
          <p:cNvPr id="5" name="Text 3"/>
          <p:cNvSpPr/>
          <p:nvPr/>
        </p:nvSpPr>
        <p:spPr>
          <a:xfrm>
            <a:off x="7221459" y="541474"/>
            <a:ext cx="1527494" cy="305730"/>
          </a:xfrm>
          <a:prstGeom prst="rect">
            <a:avLst/>
          </a:prstGeom>
          <a:noFill/>
          <a:ln/>
        </p:spPr>
        <p:txBody>
          <a:bodyPr wrap="none" lIns="0" tIns="0" rIns="0" bIns="0" rtlCol="0" anchor="ctr"/>
          <a:lstStyle/>
          <a:p>
            <a:pPr marL="0" indent="0" algn="ctr">
              <a:lnSpc>
                <a:spcPts val="1733"/>
              </a:lnSpc>
              <a:buNone/>
            </a:pPr>
            <a:r>
              <a:rPr lang="en-US" sz="1238" b="1" kern="0" spc="28" dirty="0">
                <a:solidFill>
                  <a:srgbClr val="C2410C"/>
                </a:solidFill>
                <a:latin typeface="Liberation Sans Narrow" pitchFamily="34" charset="0"/>
                <a:ea typeface="Liberation Sans Narrow" pitchFamily="34" charset="-122"/>
                <a:cs typeface="Liberation Sans Narrow" pitchFamily="34" charset="-120"/>
              </a:rPr>
              <a:t>SECTION C · 3.3</a:t>
            </a:r>
            <a:endParaRPr lang="en-US" sz="1238" dirty="0"/>
          </a:p>
        </p:txBody>
      </p:sp>
      <p:sp>
        <p:nvSpPr>
          <p:cNvPr id="6" name="Text 4"/>
          <p:cNvSpPr/>
          <p:nvPr/>
        </p:nvSpPr>
        <p:spPr>
          <a:xfrm>
            <a:off x="457200" y="1074353"/>
            <a:ext cx="8229600" cy="216027"/>
          </a:xfrm>
          <a:prstGeom prst="rect">
            <a:avLst/>
          </a:prstGeom>
          <a:noFill/>
          <a:ln/>
        </p:spPr>
        <p:txBody>
          <a:bodyPr wrap="square" lIns="0" tIns="0" rIns="0" bIns="0" rtlCol="0" anchor="t"/>
          <a:lstStyle/>
          <a:p>
            <a:pPr marL="0" indent="0" algn="l">
              <a:lnSpc>
                <a:spcPts val="1575"/>
              </a:lnSpc>
              <a:buNone/>
            </a:pPr>
            <a:r>
              <a:rPr lang="en-US" sz="1125" dirty="0">
                <a:solidFill>
                  <a:srgbClr val="64748B"/>
                </a:solidFill>
                <a:latin typeface="Carlito" pitchFamily="34" charset="0"/>
                <a:ea typeface="Carlito" pitchFamily="34" charset="-122"/>
                <a:cs typeface="Carlito" pitchFamily="34" charset="-120"/>
              </a:rPr>
              <a:t>Why writing Terraform by hand is a bottleneck — and why AI is the unlock.</a:t>
            </a:r>
            <a:endParaRPr lang="en-US" sz="1125" dirty="0"/>
          </a:p>
        </p:txBody>
      </p:sp>
      <p:sp>
        <p:nvSpPr>
          <p:cNvPr id="7" name="Text 5"/>
          <p:cNvSpPr/>
          <p:nvPr/>
        </p:nvSpPr>
        <p:spPr>
          <a:xfrm>
            <a:off x="460772" y="1406537"/>
            <a:ext cx="2640732" cy="2490378"/>
          </a:xfrm>
          <a:prstGeom prst="roundRect">
            <a:avLst>
              <a:gd name="adj" fmla="val 6120"/>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8" name="Text 6"/>
          <p:cNvSpPr/>
          <p:nvPr/>
        </p:nvSpPr>
        <p:spPr>
          <a:xfrm>
            <a:off x="2540719" y="1538697"/>
            <a:ext cx="400050" cy="400050"/>
          </a:xfrm>
          <a:prstGeom prst="rect">
            <a:avLst/>
          </a:prstGeom>
          <a:noFill/>
          <a:ln/>
        </p:spPr>
        <p:txBody>
          <a:bodyPr wrap="none" lIns="0" tIns="0" rIns="0" bIns="0" rtlCol="0" anchor="ctr"/>
          <a:lstStyle/>
          <a:p>
            <a:pPr marL="0" indent="0" algn="ctr">
              <a:buNone/>
            </a:pPr>
            <a:r>
              <a:rPr lang="en-US" sz="3938" dirty="0">
                <a:solidFill>
                  <a:srgbClr val="FED7AA"/>
                </a:solidFill>
                <a:latin typeface="Segoe UI Symbol" pitchFamily="34" charset="0"/>
                <a:ea typeface="Segoe UI Symbol" pitchFamily="34" charset="-122"/>
                <a:cs typeface="Segoe UI Symbol" pitchFamily="34" charset="-120"/>
              </a:rPr>
              <a:t>◔</a:t>
            </a:r>
            <a:endParaRPr lang="en-US" sz="3938" dirty="0"/>
          </a:p>
        </p:txBody>
      </p:sp>
      <p:sp>
        <p:nvSpPr>
          <p:cNvPr id="9" name="Text 7"/>
          <p:cNvSpPr/>
          <p:nvPr/>
        </p:nvSpPr>
        <p:spPr>
          <a:xfrm>
            <a:off x="627221" y="1598307"/>
            <a:ext cx="1082680" cy="220778"/>
          </a:xfrm>
          <a:prstGeom prst="roundRect">
            <a:avLst>
              <a:gd name="adj" fmla="val 4309974"/>
            </a:avLst>
          </a:prstGeom>
          <a:solidFill>
            <a:srgbClr val="FED7AA"/>
          </a:solidFill>
          <a:ln/>
        </p:spPr>
        <p:txBody>
          <a:bodyPr wrap="square" rtlCol="0" anchor="ctr"/>
          <a:lstStyle/>
          <a:p>
            <a:pPr marL="0" indent="0">
              <a:buNone/>
            </a:pPr>
            <a:endParaRPr lang="en-US" dirty="0"/>
          </a:p>
        </p:txBody>
      </p:sp>
      <p:sp>
        <p:nvSpPr>
          <p:cNvPr id="10" name="Text 8"/>
          <p:cNvSpPr/>
          <p:nvPr/>
        </p:nvSpPr>
        <p:spPr>
          <a:xfrm>
            <a:off x="650081" y="1610134"/>
            <a:ext cx="1036960" cy="197123"/>
          </a:xfrm>
          <a:prstGeom prst="rect">
            <a:avLst/>
          </a:prstGeom>
          <a:noFill/>
          <a:ln/>
        </p:spPr>
        <p:txBody>
          <a:bodyPr wrap="none" lIns="0" tIns="0" rIns="0" bIns="0" rtlCol="0" anchor="ctr"/>
          <a:lstStyle/>
          <a:p>
            <a:pPr marL="0" indent="0" algn="ctr">
              <a:lnSpc>
                <a:spcPts val="1103"/>
              </a:lnSpc>
              <a:buNone/>
            </a:pPr>
            <a:r>
              <a:rPr lang="en-US" sz="800" b="1" kern="0" spc="56" dirty="0">
                <a:solidFill>
                  <a:srgbClr val="C2410C"/>
                </a:solidFill>
                <a:latin typeface="Carlito" pitchFamily="34" charset="0"/>
                <a:ea typeface="Carlito" pitchFamily="34" charset="-122"/>
                <a:cs typeface="Carlito" pitchFamily="34" charset="-120"/>
              </a:rPr>
              <a:t>AUTHORING TIME</a:t>
            </a:r>
            <a:endParaRPr lang="en-US" sz="800" dirty="0"/>
          </a:p>
        </p:txBody>
      </p:sp>
      <p:sp>
        <p:nvSpPr>
          <p:cNvPr id="11" name="Text 9"/>
          <p:cNvSpPr/>
          <p:nvPr/>
        </p:nvSpPr>
        <p:spPr>
          <a:xfrm>
            <a:off x="372962" y="1892982"/>
            <a:ext cx="2816352" cy="678942"/>
          </a:xfrm>
          <a:prstGeom prst="rect">
            <a:avLst/>
          </a:prstGeom>
          <a:noFill/>
          <a:ln/>
        </p:spPr>
        <p:txBody>
          <a:bodyPr wrap="none" lIns="0" tIns="0" rIns="0" bIns="0" rtlCol="0" anchor="t"/>
          <a:lstStyle/>
          <a:p>
            <a:pPr marL="0" indent="0" algn="l">
              <a:lnSpc>
                <a:spcPts val="4950"/>
              </a:lnSpc>
              <a:buNone/>
            </a:pPr>
            <a:r>
              <a:rPr lang="en-US" sz="4950" b="1" kern="0" spc="-169" dirty="0">
                <a:solidFill>
                  <a:srgbClr val="F97316"/>
                </a:solidFill>
                <a:latin typeface="Liberation Sans Narrow" pitchFamily="34" charset="0"/>
                <a:ea typeface="Liberation Sans Narrow" pitchFamily="34" charset="-122"/>
                <a:cs typeface="Liberation Sans Narrow" pitchFamily="34" charset="-120"/>
              </a:rPr>
              <a:t>3 weeks</a:t>
            </a:r>
            <a:endParaRPr lang="en-US" sz="4950" dirty="0"/>
          </a:p>
        </p:txBody>
      </p:sp>
      <p:sp>
        <p:nvSpPr>
          <p:cNvPr id="12" name="Text 10"/>
          <p:cNvSpPr/>
          <p:nvPr/>
        </p:nvSpPr>
        <p:spPr>
          <a:xfrm>
            <a:off x="650081" y="2607357"/>
            <a:ext cx="2262113" cy="603959"/>
          </a:xfrm>
          <a:prstGeom prst="rect">
            <a:avLst/>
          </a:prstGeom>
          <a:noFill/>
          <a:ln/>
        </p:spPr>
        <p:txBody>
          <a:bodyPr wrap="square" lIns="0" tIns="0" rIns="0" bIns="0" rtlCol="0" anchor="t"/>
          <a:lstStyle/>
          <a:p>
            <a:pPr marL="0" indent="0" algn="l">
              <a:lnSpc>
                <a:spcPts val="1468"/>
              </a:lnSpc>
              <a:buNone/>
            </a:pPr>
            <a:r>
              <a:rPr lang="en-US" sz="1013" dirty="0">
                <a:solidFill>
                  <a:srgbClr val="334155"/>
                </a:solidFill>
                <a:latin typeface="Carlito" pitchFamily="34" charset="0"/>
                <a:ea typeface="Carlito" pitchFamily="34" charset="-122"/>
                <a:cs typeface="Carlito" pitchFamily="34" charset="-120"/>
              </a:rPr>
              <a:t>Average time to write a production-grade Terraform module from scratch for a new service (mid-size org).</a:t>
            </a:r>
            <a:endParaRPr lang="en-US" sz="1013" dirty="0"/>
          </a:p>
        </p:txBody>
      </p:sp>
      <p:sp>
        <p:nvSpPr>
          <p:cNvPr id="13" name="Text 11"/>
          <p:cNvSpPr/>
          <p:nvPr/>
        </p:nvSpPr>
        <p:spPr>
          <a:xfrm>
            <a:off x="3251522" y="1406537"/>
            <a:ext cx="2640843" cy="2490378"/>
          </a:xfrm>
          <a:prstGeom prst="roundRect">
            <a:avLst>
              <a:gd name="adj" fmla="val 6120"/>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14" name="Text 12"/>
          <p:cNvSpPr/>
          <p:nvPr/>
        </p:nvSpPr>
        <p:spPr>
          <a:xfrm>
            <a:off x="5331582" y="1538697"/>
            <a:ext cx="400050" cy="400050"/>
          </a:xfrm>
          <a:prstGeom prst="rect">
            <a:avLst/>
          </a:prstGeom>
          <a:noFill/>
          <a:ln/>
        </p:spPr>
        <p:txBody>
          <a:bodyPr wrap="none" lIns="0" tIns="0" rIns="0" bIns="0" rtlCol="0" anchor="ctr"/>
          <a:lstStyle/>
          <a:p>
            <a:pPr marL="0" indent="0" algn="ctr">
              <a:buNone/>
            </a:pPr>
            <a:r>
              <a:rPr lang="en-US" sz="3938" dirty="0">
                <a:solidFill>
                  <a:srgbClr val="FED7AA"/>
                </a:solidFill>
                <a:latin typeface="Segoe UI Symbol" pitchFamily="34" charset="0"/>
                <a:ea typeface="Segoe UI Symbol" pitchFamily="34" charset="-122"/>
                <a:cs typeface="Segoe UI Symbol" pitchFamily="34" charset="-120"/>
              </a:rPr>
              <a:t>⎘</a:t>
            </a:r>
            <a:endParaRPr lang="en-US" sz="3938" dirty="0"/>
          </a:p>
        </p:txBody>
      </p:sp>
      <p:sp>
        <p:nvSpPr>
          <p:cNvPr id="15" name="Text 13"/>
          <p:cNvSpPr/>
          <p:nvPr/>
        </p:nvSpPr>
        <p:spPr>
          <a:xfrm>
            <a:off x="3417972" y="1598307"/>
            <a:ext cx="885445" cy="220778"/>
          </a:xfrm>
          <a:prstGeom prst="roundRect">
            <a:avLst>
              <a:gd name="adj" fmla="val 4309974"/>
            </a:avLst>
          </a:prstGeom>
          <a:solidFill>
            <a:srgbClr val="FED7AA"/>
          </a:solidFill>
          <a:ln/>
        </p:spPr>
        <p:txBody>
          <a:bodyPr wrap="square" rtlCol="0" anchor="ctr"/>
          <a:lstStyle/>
          <a:p>
            <a:pPr marL="0" indent="0">
              <a:buNone/>
            </a:pPr>
            <a:endParaRPr lang="en-US" dirty="0"/>
          </a:p>
        </p:txBody>
      </p:sp>
      <p:sp>
        <p:nvSpPr>
          <p:cNvPr id="16" name="Text 14"/>
          <p:cNvSpPr/>
          <p:nvPr/>
        </p:nvSpPr>
        <p:spPr>
          <a:xfrm>
            <a:off x="3434097" y="1610134"/>
            <a:ext cx="853196" cy="197123"/>
          </a:xfrm>
          <a:prstGeom prst="rect">
            <a:avLst/>
          </a:prstGeom>
          <a:noFill/>
          <a:ln/>
        </p:spPr>
        <p:txBody>
          <a:bodyPr wrap="none" lIns="0" tIns="0" rIns="0" bIns="0" rtlCol="0" anchor="ctr"/>
          <a:lstStyle/>
          <a:p>
            <a:pPr marL="0" indent="0" algn="ctr">
              <a:lnSpc>
                <a:spcPts val="1103"/>
              </a:lnSpc>
              <a:buNone/>
            </a:pPr>
            <a:r>
              <a:rPr lang="en-US" sz="800" b="1" kern="0" spc="56" dirty="0">
                <a:solidFill>
                  <a:srgbClr val="C2410C"/>
                </a:solidFill>
                <a:latin typeface="Carlito" pitchFamily="34" charset="0"/>
                <a:ea typeface="Carlito" pitchFamily="34" charset="-122"/>
                <a:cs typeface="Carlito" pitchFamily="34" charset="-120"/>
              </a:rPr>
              <a:t>BOILERPLATE</a:t>
            </a:r>
            <a:endParaRPr lang="en-US" sz="800" dirty="0"/>
          </a:p>
        </p:txBody>
      </p:sp>
      <p:sp>
        <p:nvSpPr>
          <p:cNvPr id="17" name="Text 15"/>
          <p:cNvSpPr/>
          <p:nvPr/>
        </p:nvSpPr>
        <p:spPr>
          <a:xfrm>
            <a:off x="3440832" y="1892982"/>
            <a:ext cx="2262225" cy="678942"/>
          </a:xfrm>
          <a:prstGeom prst="rect">
            <a:avLst/>
          </a:prstGeom>
          <a:noFill/>
          <a:ln/>
        </p:spPr>
        <p:txBody>
          <a:bodyPr wrap="none" lIns="0" tIns="0" rIns="0" bIns="0" rtlCol="0" anchor="t"/>
          <a:lstStyle/>
          <a:p>
            <a:pPr marL="0" indent="0" algn="l">
              <a:lnSpc>
                <a:spcPts val="4950"/>
              </a:lnSpc>
              <a:buNone/>
            </a:pPr>
            <a:r>
              <a:rPr lang="en-US" sz="4950" b="1" kern="0" spc="-169" dirty="0">
                <a:solidFill>
                  <a:srgbClr val="F97316"/>
                </a:solidFill>
                <a:latin typeface="Liberation Sans Narrow" pitchFamily="34" charset="0"/>
                <a:ea typeface="Liberation Sans Narrow" pitchFamily="34" charset="-122"/>
                <a:cs typeface="Liberation Sans Narrow" pitchFamily="34" charset="-120"/>
              </a:rPr>
              <a:t>40%</a:t>
            </a:r>
            <a:endParaRPr lang="en-US" sz="4950" dirty="0"/>
          </a:p>
        </p:txBody>
      </p:sp>
      <p:sp>
        <p:nvSpPr>
          <p:cNvPr id="18" name="Text 16"/>
          <p:cNvSpPr/>
          <p:nvPr/>
        </p:nvSpPr>
        <p:spPr>
          <a:xfrm>
            <a:off x="3440832" y="2607357"/>
            <a:ext cx="2262225" cy="603959"/>
          </a:xfrm>
          <a:prstGeom prst="rect">
            <a:avLst/>
          </a:prstGeom>
          <a:noFill/>
          <a:ln/>
        </p:spPr>
        <p:txBody>
          <a:bodyPr wrap="square" lIns="0" tIns="0" rIns="0" bIns="0" rtlCol="0" anchor="t"/>
          <a:lstStyle/>
          <a:p>
            <a:pPr marL="0" indent="0" algn="l">
              <a:lnSpc>
                <a:spcPts val="1468"/>
              </a:lnSpc>
              <a:buNone/>
            </a:pPr>
            <a:r>
              <a:rPr lang="en-US" sz="1013" dirty="0">
                <a:solidFill>
                  <a:srgbClr val="334155"/>
                </a:solidFill>
                <a:latin typeface="Carlito" pitchFamily="34" charset="0"/>
                <a:ea typeface="Carlito" pitchFamily="34" charset="-122"/>
                <a:cs typeface="Carlito" pitchFamily="34" charset="-120"/>
              </a:rPr>
              <a:t>Of production Terraform code is duplicated boilerplate (provider config, tags, naming conventions).</a:t>
            </a:r>
            <a:endParaRPr lang="en-US" sz="1013" dirty="0"/>
          </a:p>
        </p:txBody>
      </p:sp>
      <p:sp>
        <p:nvSpPr>
          <p:cNvPr id="19" name="Text 17"/>
          <p:cNvSpPr/>
          <p:nvPr/>
        </p:nvSpPr>
        <p:spPr>
          <a:xfrm>
            <a:off x="6042385" y="1406537"/>
            <a:ext cx="2640732" cy="2490378"/>
          </a:xfrm>
          <a:prstGeom prst="roundRect">
            <a:avLst>
              <a:gd name="adj" fmla="val 6120"/>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20" name="Text 18"/>
          <p:cNvSpPr/>
          <p:nvPr/>
        </p:nvSpPr>
        <p:spPr>
          <a:xfrm>
            <a:off x="8122332" y="1538697"/>
            <a:ext cx="400050" cy="400050"/>
          </a:xfrm>
          <a:prstGeom prst="rect">
            <a:avLst/>
          </a:prstGeom>
          <a:noFill/>
          <a:ln/>
        </p:spPr>
        <p:txBody>
          <a:bodyPr wrap="none" lIns="0" tIns="0" rIns="0" bIns="0" rtlCol="0" anchor="ctr"/>
          <a:lstStyle/>
          <a:p>
            <a:pPr marL="0" indent="0" algn="ctr">
              <a:buNone/>
            </a:pPr>
            <a:r>
              <a:rPr lang="en-US" sz="3938" dirty="0">
                <a:solidFill>
                  <a:srgbClr val="FED7AA"/>
                </a:solidFill>
                <a:latin typeface="Segoe UI Symbol" pitchFamily="34" charset="0"/>
                <a:ea typeface="Segoe UI Symbol" pitchFamily="34" charset="-122"/>
                <a:cs typeface="Segoe UI Symbol" pitchFamily="34" charset="-120"/>
              </a:rPr>
              <a:t>✦</a:t>
            </a:r>
            <a:endParaRPr lang="en-US" sz="3938" dirty="0"/>
          </a:p>
        </p:txBody>
      </p:sp>
      <p:sp>
        <p:nvSpPr>
          <p:cNvPr id="21" name="Text 19"/>
          <p:cNvSpPr/>
          <p:nvPr/>
        </p:nvSpPr>
        <p:spPr>
          <a:xfrm>
            <a:off x="6208834" y="1598307"/>
            <a:ext cx="882097" cy="220778"/>
          </a:xfrm>
          <a:prstGeom prst="roundRect">
            <a:avLst>
              <a:gd name="adj" fmla="val 4309974"/>
            </a:avLst>
          </a:prstGeom>
          <a:solidFill>
            <a:srgbClr val="FED7AA"/>
          </a:solidFill>
          <a:ln/>
        </p:spPr>
        <p:txBody>
          <a:bodyPr wrap="square" rtlCol="0" anchor="ctr"/>
          <a:lstStyle/>
          <a:p>
            <a:pPr marL="0" indent="0">
              <a:buNone/>
            </a:pPr>
            <a:endParaRPr lang="en-US" dirty="0"/>
          </a:p>
        </p:txBody>
      </p:sp>
      <p:sp>
        <p:nvSpPr>
          <p:cNvPr id="22" name="Text 20"/>
          <p:cNvSpPr/>
          <p:nvPr/>
        </p:nvSpPr>
        <p:spPr>
          <a:xfrm>
            <a:off x="6231694" y="1610134"/>
            <a:ext cx="836377" cy="197123"/>
          </a:xfrm>
          <a:prstGeom prst="rect">
            <a:avLst/>
          </a:prstGeom>
          <a:noFill/>
          <a:ln/>
        </p:spPr>
        <p:txBody>
          <a:bodyPr wrap="none" lIns="0" tIns="0" rIns="0" bIns="0" rtlCol="0" anchor="ctr"/>
          <a:lstStyle/>
          <a:p>
            <a:pPr marL="0" indent="0" algn="ctr">
              <a:lnSpc>
                <a:spcPts val="1103"/>
              </a:lnSpc>
              <a:buNone/>
            </a:pPr>
            <a:r>
              <a:rPr lang="en-US" sz="800" b="1" kern="0" spc="56" dirty="0">
                <a:solidFill>
                  <a:srgbClr val="C2410C"/>
                </a:solidFill>
                <a:latin typeface="Carlito" pitchFamily="34" charset="0"/>
                <a:ea typeface="Carlito" pitchFamily="34" charset="-122"/>
                <a:cs typeface="Carlito" pitchFamily="34" charset="-120"/>
              </a:rPr>
              <a:t>BUG SOURCE</a:t>
            </a:r>
            <a:endParaRPr lang="en-US" sz="800" dirty="0"/>
          </a:p>
        </p:txBody>
      </p:sp>
      <p:sp>
        <p:nvSpPr>
          <p:cNvPr id="23" name="Text 21"/>
          <p:cNvSpPr/>
          <p:nvPr/>
        </p:nvSpPr>
        <p:spPr>
          <a:xfrm>
            <a:off x="6231694" y="1892982"/>
            <a:ext cx="2262113" cy="678942"/>
          </a:xfrm>
          <a:prstGeom prst="rect">
            <a:avLst/>
          </a:prstGeom>
          <a:noFill/>
          <a:ln/>
        </p:spPr>
        <p:txBody>
          <a:bodyPr wrap="none" lIns="0" tIns="0" rIns="0" bIns="0" rtlCol="0" anchor="t"/>
          <a:lstStyle/>
          <a:p>
            <a:pPr marL="0" indent="0" algn="l">
              <a:lnSpc>
                <a:spcPts val="4950"/>
              </a:lnSpc>
              <a:buNone/>
            </a:pPr>
            <a:r>
              <a:rPr lang="en-US" sz="4950" b="1" kern="0" spc="-169" dirty="0">
                <a:solidFill>
                  <a:srgbClr val="F97316"/>
                </a:solidFill>
                <a:latin typeface="Liberation Sans Narrow" pitchFamily="34" charset="0"/>
                <a:ea typeface="Liberation Sans Narrow" pitchFamily="34" charset="-122"/>
                <a:cs typeface="Liberation Sans Narrow" pitchFamily="34" charset="-120"/>
              </a:rPr>
              <a:t>65%</a:t>
            </a:r>
            <a:endParaRPr lang="en-US" sz="4950" dirty="0"/>
          </a:p>
        </p:txBody>
      </p:sp>
      <p:sp>
        <p:nvSpPr>
          <p:cNvPr id="24" name="Text 22"/>
          <p:cNvSpPr/>
          <p:nvPr/>
        </p:nvSpPr>
        <p:spPr>
          <a:xfrm>
            <a:off x="6231694" y="2607357"/>
            <a:ext cx="2262113" cy="603959"/>
          </a:xfrm>
          <a:prstGeom prst="rect">
            <a:avLst/>
          </a:prstGeom>
          <a:noFill/>
          <a:ln/>
        </p:spPr>
        <p:txBody>
          <a:bodyPr wrap="square" lIns="0" tIns="0" rIns="0" bIns="0" rtlCol="0" anchor="t"/>
          <a:lstStyle/>
          <a:p>
            <a:pPr marL="0" indent="0" algn="l">
              <a:lnSpc>
                <a:spcPts val="1468"/>
              </a:lnSpc>
              <a:buNone/>
            </a:pPr>
            <a:r>
              <a:rPr lang="en-US" sz="1013" dirty="0">
                <a:solidFill>
                  <a:srgbClr val="334155"/>
                </a:solidFill>
                <a:latin typeface="Carlito" pitchFamily="34" charset="0"/>
                <a:ea typeface="Carlito" pitchFamily="34" charset="-122"/>
                <a:cs typeface="Carlito" pitchFamily="34" charset="-120"/>
              </a:rPr>
              <a:t>Of IaC bugs are typos or copy-paste errors that an LLM would not have made.</a:t>
            </a:r>
            <a:endParaRPr lang="en-US" sz="1013" dirty="0"/>
          </a:p>
        </p:txBody>
      </p:sp>
      <p:sp>
        <p:nvSpPr>
          <p:cNvPr id="25" name="Text 23"/>
          <p:cNvSpPr/>
          <p:nvPr/>
        </p:nvSpPr>
        <p:spPr>
          <a:xfrm>
            <a:off x="457200" y="4043363"/>
            <a:ext cx="8229600" cy="642938"/>
          </a:xfrm>
          <a:prstGeom prst="roundRect">
            <a:avLst>
              <a:gd name="adj" fmla="val 11852"/>
            </a:avLst>
          </a:prstGeom>
          <a:solidFill>
            <a:srgbClr val="FFF7ED"/>
          </a:solidFill>
          <a:ln/>
        </p:spPr>
        <p:txBody>
          <a:bodyPr wrap="square" rtlCol="0" anchor="ctr"/>
          <a:lstStyle/>
          <a:p>
            <a:pPr marL="0" indent="0">
              <a:buNone/>
            </a:pPr>
            <a:endParaRPr lang="en-US" dirty="0"/>
          </a:p>
        </p:txBody>
      </p:sp>
      <p:sp>
        <p:nvSpPr>
          <p:cNvPr id="26" name="Shape 24"/>
          <p:cNvSpPr/>
          <p:nvPr/>
        </p:nvSpPr>
        <p:spPr>
          <a:xfrm>
            <a:off x="478631" y="4043363"/>
            <a:ext cx="0" cy="642938"/>
          </a:xfrm>
          <a:prstGeom prst="line">
            <a:avLst/>
          </a:prstGeom>
          <a:noFill/>
          <a:ln w="42863">
            <a:solidFill>
              <a:srgbClr val="F97316"/>
            </a:solidFill>
            <a:prstDash val="solid"/>
          </a:ln>
        </p:spPr>
      </p:sp>
      <p:sp>
        <p:nvSpPr>
          <p:cNvPr id="27" name="Text 25"/>
          <p:cNvSpPr/>
          <p:nvPr/>
        </p:nvSpPr>
        <p:spPr>
          <a:xfrm>
            <a:off x="657225" y="4157663"/>
            <a:ext cx="7872413" cy="414338"/>
          </a:xfrm>
          <a:prstGeom prst="rect">
            <a:avLst/>
          </a:prstGeom>
          <a:noFill/>
          <a:ln/>
        </p:spPr>
        <p:txBody>
          <a:bodyPr wrap="square" lIns="0" tIns="0" rIns="0" bIns="0" rtlCol="0" anchor="t"/>
          <a:lstStyle/>
          <a:p>
            <a:pPr marL="0" indent="0" algn="l">
              <a:lnSpc>
                <a:spcPts val="1631"/>
              </a:lnSpc>
              <a:buNone/>
            </a:pPr>
            <a:r>
              <a:rPr lang="en-US" sz="1125" b="1" dirty="0">
                <a:solidFill>
                  <a:srgbClr val="C2410C"/>
                </a:solidFill>
                <a:latin typeface="Segoe UI Symbol" pitchFamily="34" charset="0"/>
                <a:ea typeface="Segoe UI Symbol" pitchFamily="34" charset="-122"/>
                <a:cs typeface="Segoe UI Symbol" pitchFamily="34" charset="-120"/>
              </a:rPr>
              <a:t>✦</a:t>
            </a:r>
            <a:r>
              <a:rPr lang="en-US" sz="1125" b="1" dirty="0">
                <a:solidFill>
                  <a:srgbClr val="C2410C"/>
                </a:solidFill>
                <a:latin typeface="Carlito" pitchFamily="34" charset="0"/>
                <a:ea typeface="Carlito" pitchFamily="34" charset="-122"/>
                <a:cs typeface="Carlito" pitchFamily="34" charset="-120"/>
              </a:rPr>
              <a:t> AI-generated IaC cuts authoring time from weeks to hours, eliminates boilerplate duplication, and catches typos before they ship.</a:t>
            </a:r>
            <a:endParaRPr lang="en-US" sz="1125"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4320618" cy="373346"/>
          </a:xfrm>
          <a:prstGeom prst="rect">
            <a:avLst/>
          </a:prstGeom>
          <a:noFill/>
          <a:ln/>
        </p:spPr>
        <p:txBody>
          <a:bodyPr wrap="square" lIns="0" tIns="0" rIns="0" bIns="0" rtlCol="0" anchor="t"/>
          <a:lstStyle/>
          <a:p>
            <a:pPr marL="0" indent="0" algn="l">
              <a:lnSpc>
                <a:spcPts val="2723"/>
              </a:lnSpc>
              <a:buNone/>
            </a:pPr>
            <a:r>
              <a:rPr lang="en-US" sz="2475" b="1" kern="0" spc="-28" dirty="0">
                <a:solidFill>
                  <a:srgbClr val="0F172A"/>
                </a:solidFill>
                <a:latin typeface="Carlito" pitchFamily="34" charset="0"/>
                <a:ea typeface="Carlito" pitchFamily="34" charset="-122"/>
                <a:cs typeface="Carlito" pitchFamily="34" charset="-120"/>
              </a:rPr>
              <a:t>AI-Generated IaC — Overview</a:t>
            </a:r>
            <a:endParaRPr lang="en-US" sz="2475" dirty="0"/>
          </a:p>
        </p:txBody>
      </p:sp>
      <p:sp>
        <p:nvSpPr>
          <p:cNvPr id="3" name="Text 1"/>
          <p:cNvSpPr/>
          <p:nvPr/>
        </p:nvSpPr>
        <p:spPr>
          <a:xfrm>
            <a:off x="457200" y="888616"/>
            <a:ext cx="571500" cy="42863"/>
          </a:xfrm>
          <a:prstGeom prst="roundRect">
            <a:avLst>
              <a:gd name="adj" fmla="val 66666"/>
            </a:avLst>
          </a:prstGeom>
          <a:solidFill>
            <a:srgbClr val="F97316"/>
          </a:solidFill>
          <a:ln/>
        </p:spPr>
        <p:txBody>
          <a:bodyPr wrap="square" rtlCol="0" anchor="ctr"/>
          <a:lstStyle/>
          <a:p>
            <a:pPr marL="0" indent="0">
              <a:buNone/>
            </a:pPr>
            <a:endParaRPr lang="en-US" dirty="0"/>
          </a:p>
        </p:txBody>
      </p:sp>
      <p:sp>
        <p:nvSpPr>
          <p:cNvPr id="4" name="Text 2"/>
          <p:cNvSpPr/>
          <p:nvPr/>
        </p:nvSpPr>
        <p:spPr>
          <a:xfrm>
            <a:off x="7260751" y="528672"/>
            <a:ext cx="1448909" cy="331333"/>
          </a:xfrm>
          <a:prstGeom prst="roundRect">
            <a:avLst>
              <a:gd name="adj" fmla="val 2871877"/>
            </a:avLst>
          </a:prstGeom>
          <a:solidFill>
            <a:srgbClr val="FED7AA"/>
          </a:solidFill>
          <a:ln/>
        </p:spPr>
        <p:txBody>
          <a:bodyPr wrap="square" rtlCol="0" anchor="ctr"/>
          <a:lstStyle/>
          <a:p>
            <a:pPr marL="0" indent="0">
              <a:buNone/>
            </a:pPr>
            <a:endParaRPr lang="en-US" dirty="0"/>
          </a:p>
        </p:txBody>
      </p:sp>
      <p:sp>
        <p:nvSpPr>
          <p:cNvPr id="5" name="Text 3"/>
          <p:cNvSpPr/>
          <p:nvPr/>
        </p:nvSpPr>
        <p:spPr>
          <a:xfrm>
            <a:off x="7221459" y="541474"/>
            <a:ext cx="1527494" cy="305730"/>
          </a:xfrm>
          <a:prstGeom prst="rect">
            <a:avLst/>
          </a:prstGeom>
          <a:noFill/>
          <a:ln/>
        </p:spPr>
        <p:txBody>
          <a:bodyPr wrap="none" lIns="0" tIns="0" rIns="0" bIns="0" rtlCol="0" anchor="ctr"/>
          <a:lstStyle/>
          <a:p>
            <a:pPr marL="0" indent="0" algn="ctr">
              <a:lnSpc>
                <a:spcPts val="1733"/>
              </a:lnSpc>
              <a:buNone/>
            </a:pPr>
            <a:r>
              <a:rPr lang="en-US" sz="1238" b="1" kern="0" spc="28" dirty="0">
                <a:solidFill>
                  <a:srgbClr val="C2410C"/>
                </a:solidFill>
                <a:latin typeface="Liberation Sans Narrow" pitchFamily="34" charset="0"/>
                <a:ea typeface="Liberation Sans Narrow" pitchFamily="34" charset="-122"/>
                <a:cs typeface="Liberation Sans Narrow" pitchFamily="34" charset="-120"/>
              </a:rPr>
              <a:t>SECTION C · 3.4</a:t>
            </a:r>
            <a:endParaRPr lang="en-US" sz="1238" dirty="0"/>
          </a:p>
        </p:txBody>
      </p:sp>
      <p:sp>
        <p:nvSpPr>
          <p:cNvPr id="6" name="Text 4"/>
          <p:cNvSpPr/>
          <p:nvPr/>
        </p:nvSpPr>
        <p:spPr>
          <a:xfrm>
            <a:off x="457200" y="1045778"/>
            <a:ext cx="8229600" cy="216027"/>
          </a:xfrm>
          <a:prstGeom prst="rect">
            <a:avLst/>
          </a:prstGeom>
          <a:noFill/>
          <a:ln/>
        </p:spPr>
        <p:txBody>
          <a:bodyPr wrap="square" lIns="0" tIns="0" rIns="0" bIns="0" rtlCol="0" anchor="t"/>
          <a:lstStyle/>
          <a:p>
            <a:pPr marL="0" indent="0" algn="l">
              <a:lnSpc>
                <a:spcPts val="1575"/>
              </a:lnSpc>
              <a:buNone/>
            </a:pPr>
            <a:r>
              <a:rPr lang="en-US" sz="1125" dirty="0">
                <a:solidFill>
                  <a:srgbClr val="64748B"/>
                </a:solidFill>
                <a:latin typeface="Carlito" pitchFamily="34" charset="0"/>
                <a:ea typeface="Carlito" pitchFamily="34" charset="-122"/>
                <a:cs typeface="Carlito" pitchFamily="34" charset="-120"/>
              </a:rPr>
              <a:t>Four capabilities. Each requires human review before apply.</a:t>
            </a:r>
            <a:endParaRPr lang="en-US" sz="1125" dirty="0"/>
          </a:p>
        </p:txBody>
      </p:sp>
      <p:sp>
        <p:nvSpPr>
          <p:cNvPr id="7" name="Text 5"/>
          <p:cNvSpPr/>
          <p:nvPr/>
        </p:nvSpPr>
        <p:spPr>
          <a:xfrm>
            <a:off x="460772" y="1363675"/>
            <a:ext cx="4050506" cy="1262100"/>
          </a:xfrm>
          <a:prstGeom prst="roundRect">
            <a:avLst>
              <a:gd name="adj" fmla="val 10566"/>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8" name="Text 6"/>
          <p:cNvSpPr/>
          <p:nvPr/>
        </p:nvSpPr>
        <p:spPr>
          <a:xfrm>
            <a:off x="4121944" y="1481547"/>
            <a:ext cx="257175" cy="257175"/>
          </a:xfrm>
          <a:prstGeom prst="rect">
            <a:avLst/>
          </a:prstGeom>
          <a:noFill/>
          <a:ln/>
        </p:spPr>
        <p:txBody>
          <a:bodyPr wrap="none" lIns="0" tIns="0" rIns="0" bIns="0" rtlCol="0" anchor="ctr"/>
          <a:lstStyle/>
          <a:p>
            <a:pPr marL="0" indent="0" algn="ctr">
              <a:buNone/>
            </a:pPr>
            <a:r>
              <a:rPr lang="en-US" sz="2531" dirty="0">
                <a:solidFill>
                  <a:srgbClr val="FED7AA"/>
                </a:solidFill>
                <a:latin typeface="Segoe UI Symbol" pitchFamily="34" charset="0"/>
                <a:ea typeface="Segoe UI Symbol" pitchFamily="34" charset="-122"/>
                <a:cs typeface="Segoe UI Symbol" pitchFamily="34" charset="-120"/>
              </a:rPr>
              <a:t>↻</a:t>
            </a:r>
            <a:endParaRPr lang="en-US" sz="2531" dirty="0"/>
          </a:p>
        </p:txBody>
      </p:sp>
      <p:sp>
        <p:nvSpPr>
          <p:cNvPr id="9" name="Text 7"/>
          <p:cNvSpPr/>
          <p:nvPr/>
        </p:nvSpPr>
        <p:spPr>
          <a:xfrm>
            <a:off x="621506" y="1510122"/>
            <a:ext cx="3729038" cy="339471"/>
          </a:xfrm>
          <a:prstGeom prst="rect">
            <a:avLst/>
          </a:prstGeom>
          <a:noFill/>
          <a:ln/>
        </p:spPr>
        <p:txBody>
          <a:bodyPr wrap="none" lIns="0" tIns="0" rIns="0" bIns="0" rtlCol="0" anchor="t"/>
          <a:lstStyle/>
          <a:p>
            <a:pPr marL="0" indent="0" algn="l">
              <a:lnSpc>
                <a:spcPts val="2475"/>
              </a:lnSpc>
              <a:buNone/>
            </a:pPr>
            <a:r>
              <a:rPr lang="en-US" sz="2475" b="1" kern="0" spc="-56" dirty="0">
                <a:solidFill>
                  <a:srgbClr val="F97316"/>
                </a:solidFill>
                <a:latin typeface="Liberation Sans Narrow" pitchFamily="34" charset="0"/>
                <a:ea typeface="Liberation Sans Narrow" pitchFamily="34" charset="-122"/>
                <a:cs typeface="Liberation Sans Narrow" pitchFamily="34" charset="-120"/>
              </a:rPr>
              <a:t>01</a:t>
            </a:r>
            <a:endParaRPr lang="en-US" sz="2475" dirty="0"/>
          </a:p>
        </p:txBody>
      </p:sp>
      <p:sp>
        <p:nvSpPr>
          <p:cNvPr id="10" name="Text 8"/>
          <p:cNvSpPr/>
          <p:nvPr/>
        </p:nvSpPr>
        <p:spPr>
          <a:xfrm>
            <a:off x="621506" y="1881597"/>
            <a:ext cx="3838766" cy="203610"/>
          </a:xfrm>
          <a:prstGeom prst="rect">
            <a:avLst/>
          </a:prstGeom>
          <a:noFill/>
          <a:ln/>
        </p:spPr>
        <p:txBody>
          <a:bodyPr wrap="square" lIns="0" tIns="0" rIns="0" bIns="0" rtlCol="0" anchor="t"/>
          <a:lstStyle/>
          <a:p>
            <a:pPr marL="0" indent="0" algn="l">
              <a:lnSpc>
                <a:spcPts val="1485"/>
              </a:lnSpc>
              <a:buNone/>
            </a:pPr>
            <a:r>
              <a:rPr lang="en-US" sz="1238" b="1" dirty="0">
                <a:solidFill>
                  <a:srgbClr val="0F172A"/>
                </a:solidFill>
                <a:latin typeface="Carlito" pitchFamily="34" charset="0"/>
                <a:ea typeface="Carlito" pitchFamily="34" charset="-122"/>
                <a:cs typeface="Carlito" pitchFamily="34" charset="-120"/>
              </a:rPr>
              <a:t>Natural-Language → Terraform</a:t>
            </a:r>
            <a:endParaRPr lang="en-US" sz="1238" dirty="0"/>
          </a:p>
        </p:txBody>
      </p:sp>
      <p:sp>
        <p:nvSpPr>
          <p:cNvPr id="11" name="Text 9"/>
          <p:cNvSpPr/>
          <p:nvPr/>
        </p:nvSpPr>
        <p:spPr>
          <a:xfrm>
            <a:off x="621506" y="2127275"/>
            <a:ext cx="3729038" cy="352053"/>
          </a:xfrm>
          <a:prstGeom prst="rect">
            <a:avLst/>
          </a:prstGeom>
          <a:noFill/>
          <a:ln/>
        </p:spPr>
        <p:txBody>
          <a:bodyPr wrap="square" lIns="0" tIns="0" rIns="0" bIns="0" rtlCol="0" anchor="t"/>
          <a:lstStyle/>
          <a:p>
            <a:pPr marL="0" indent="0" algn="l">
              <a:lnSpc>
                <a:spcPts val="1387"/>
              </a:lnSpc>
              <a:buNone/>
            </a:pPr>
            <a:r>
              <a:rPr lang="en-US" sz="956" dirty="0">
                <a:solidFill>
                  <a:srgbClr val="334155"/>
                </a:solidFill>
                <a:latin typeface="Carlito" pitchFamily="34" charset="0"/>
                <a:ea typeface="Carlito" pitchFamily="34" charset="-122"/>
                <a:cs typeface="Carlito" pitchFamily="34" charset="-120"/>
              </a:rPr>
              <a:t>Describe what you want in English. LLM generates HCL. Useful for boilerplate: VPCs, EC2, S3, IAM roles.</a:t>
            </a:r>
            <a:endParaRPr lang="en-US" sz="956" dirty="0"/>
          </a:p>
        </p:txBody>
      </p:sp>
      <p:sp>
        <p:nvSpPr>
          <p:cNvPr id="12" name="Text 10"/>
          <p:cNvSpPr/>
          <p:nvPr/>
        </p:nvSpPr>
        <p:spPr>
          <a:xfrm>
            <a:off x="4632722" y="1363675"/>
            <a:ext cx="4050506" cy="1262100"/>
          </a:xfrm>
          <a:prstGeom prst="roundRect">
            <a:avLst>
              <a:gd name="adj" fmla="val 10566"/>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13" name="Text 11"/>
          <p:cNvSpPr/>
          <p:nvPr/>
        </p:nvSpPr>
        <p:spPr>
          <a:xfrm>
            <a:off x="8293894" y="1481547"/>
            <a:ext cx="257175" cy="257175"/>
          </a:xfrm>
          <a:prstGeom prst="rect">
            <a:avLst/>
          </a:prstGeom>
          <a:noFill/>
          <a:ln/>
        </p:spPr>
        <p:txBody>
          <a:bodyPr wrap="none" lIns="0" tIns="0" rIns="0" bIns="0" rtlCol="0" anchor="ctr"/>
          <a:lstStyle/>
          <a:p>
            <a:pPr marL="0" indent="0" algn="ctr">
              <a:buNone/>
            </a:pPr>
            <a:r>
              <a:rPr lang="en-US" sz="2531" dirty="0">
                <a:solidFill>
                  <a:srgbClr val="FED7AA"/>
                </a:solidFill>
                <a:latin typeface="Segoe UI Symbol" pitchFamily="34" charset="0"/>
                <a:ea typeface="Segoe UI Symbol" pitchFamily="34" charset="-122"/>
                <a:cs typeface="Segoe UI Symbol" pitchFamily="34" charset="-120"/>
              </a:rPr>
              <a:t>⚙</a:t>
            </a:r>
            <a:endParaRPr lang="en-US" sz="2531" dirty="0"/>
          </a:p>
        </p:txBody>
      </p:sp>
      <p:sp>
        <p:nvSpPr>
          <p:cNvPr id="14" name="Text 12"/>
          <p:cNvSpPr/>
          <p:nvPr/>
        </p:nvSpPr>
        <p:spPr>
          <a:xfrm>
            <a:off x="4793456" y="1510122"/>
            <a:ext cx="3729038" cy="339471"/>
          </a:xfrm>
          <a:prstGeom prst="rect">
            <a:avLst/>
          </a:prstGeom>
          <a:noFill/>
          <a:ln/>
        </p:spPr>
        <p:txBody>
          <a:bodyPr wrap="none" lIns="0" tIns="0" rIns="0" bIns="0" rtlCol="0" anchor="t"/>
          <a:lstStyle/>
          <a:p>
            <a:pPr marL="0" indent="0" algn="l">
              <a:lnSpc>
                <a:spcPts val="2475"/>
              </a:lnSpc>
              <a:buNone/>
            </a:pPr>
            <a:r>
              <a:rPr lang="en-US" sz="2475" b="1" kern="0" spc="-56" dirty="0">
                <a:solidFill>
                  <a:srgbClr val="F97316"/>
                </a:solidFill>
                <a:latin typeface="Liberation Sans Narrow" pitchFamily="34" charset="0"/>
                <a:ea typeface="Liberation Sans Narrow" pitchFamily="34" charset="-122"/>
                <a:cs typeface="Liberation Sans Narrow" pitchFamily="34" charset="-120"/>
              </a:rPr>
              <a:t>02</a:t>
            </a:r>
            <a:endParaRPr lang="en-US" sz="2475" dirty="0"/>
          </a:p>
        </p:txBody>
      </p:sp>
      <p:sp>
        <p:nvSpPr>
          <p:cNvPr id="15" name="Text 13"/>
          <p:cNvSpPr/>
          <p:nvPr/>
        </p:nvSpPr>
        <p:spPr>
          <a:xfrm>
            <a:off x="4793456" y="1881597"/>
            <a:ext cx="3838765" cy="203610"/>
          </a:xfrm>
          <a:prstGeom prst="rect">
            <a:avLst/>
          </a:prstGeom>
          <a:noFill/>
          <a:ln/>
        </p:spPr>
        <p:txBody>
          <a:bodyPr wrap="square" lIns="0" tIns="0" rIns="0" bIns="0" rtlCol="0" anchor="t"/>
          <a:lstStyle/>
          <a:p>
            <a:pPr marL="0" indent="0" algn="l">
              <a:lnSpc>
                <a:spcPts val="1485"/>
              </a:lnSpc>
              <a:buNone/>
            </a:pPr>
            <a:r>
              <a:rPr lang="en-US" sz="1238" b="1" dirty="0">
                <a:solidFill>
                  <a:srgbClr val="0F172A"/>
                </a:solidFill>
                <a:latin typeface="Carlito" pitchFamily="34" charset="0"/>
                <a:ea typeface="Carlito" pitchFamily="34" charset="-122"/>
                <a:cs typeface="Carlito" pitchFamily="34" charset="-120"/>
              </a:rPr>
              <a:t>Natural-Language → Ansible</a:t>
            </a:r>
            <a:endParaRPr lang="en-US" sz="1238" dirty="0"/>
          </a:p>
        </p:txBody>
      </p:sp>
      <p:sp>
        <p:nvSpPr>
          <p:cNvPr id="16" name="Text 14"/>
          <p:cNvSpPr/>
          <p:nvPr/>
        </p:nvSpPr>
        <p:spPr>
          <a:xfrm>
            <a:off x="4793456" y="2127275"/>
            <a:ext cx="3729038" cy="352053"/>
          </a:xfrm>
          <a:prstGeom prst="rect">
            <a:avLst/>
          </a:prstGeom>
          <a:noFill/>
          <a:ln/>
        </p:spPr>
        <p:txBody>
          <a:bodyPr wrap="square" lIns="0" tIns="0" rIns="0" bIns="0" rtlCol="0" anchor="t"/>
          <a:lstStyle/>
          <a:p>
            <a:pPr marL="0" indent="0" algn="l">
              <a:lnSpc>
                <a:spcPts val="1387"/>
              </a:lnSpc>
              <a:buNone/>
            </a:pPr>
            <a:r>
              <a:rPr lang="en-US" sz="956" dirty="0">
                <a:solidFill>
                  <a:srgbClr val="334155"/>
                </a:solidFill>
                <a:latin typeface="Carlito" pitchFamily="34" charset="0"/>
                <a:ea typeface="Carlito" pitchFamily="34" charset="-122"/>
                <a:cs typeface="Carlito" pitchFamily="34" charset="-120"/>
              </a:rPr>
              <a:t>Describe the desired host state in English. LLM generates a playbook. Useful for service installation and config templating.</a:t>
            </a:r>
            <a:endParaRPr lang="en-US" sz="956" dirty="0"/>
          </a:p>
        </p:txBody>
      </p:sp>
      <p:sp>
        <p:nvSpPr>
          <p:cNvPr id="17" name="Text 15"/>
          <p:cNvSpPr/>
          <p:nvPr/>
        </p:nvSpPr>
        <p:spPr>
          <a:xfrm>
            <a:off x="460772" y="2747218"/>
            <a:ext cx="4050506" cy="1262100"/>
          </a:xfrm>
          <a:prstGeom prst="roundRect">
            <a:avLst>
              <a:gd name="adj" fmla="val 10566"/>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18" name="Text 16"/>
          <p:cNvSpPr/>
          <p:nvPr/>
        </p:nvSpPr>
        <p:spPr>
          <a:xfrm>
            <a:off x="4121944" y="2865090"/>
            <a:ext cx="257175" cy="257175"/>
          </a:xfrm>
          <a:prstGeom prst="rect">
            <a:avLst/>
          </a:prstGeom>
          <a:noFill/>
          <a:ln/>
        </p:spPr>
        <p:txBody>
          <a:bodyPr wrap="none" lIns="0" tIns="0" rIns="0" bIns="0" rtlCol="0" anchor="ctr"/>
          <a:lstStyle/>
          <a:p>
            <a:pPr marL="0" indent="0" algn="ctr">
              <a:buNone/>
            </a:pPr>
            <a:r>
              <a:rPr lang="en-US" sz="2531" dirty="0">
                <a:solidFill>
                  <a:srgbClr val="FED7AA"/>
                </a:solidFill>
                <a:latin typeface="Segoe UI Symbol" pitchFamily="34" charset="0"/>
                <a:ea typeface="Segoe UI Symbol" pitchFamily="34" charset="-122"/>
                <a:cs typeface="Segoe UI Symbol" pitchFamily="34" charset="-120"/>
              </a:rPr>
              <a:t>⛨</a:t>
            </a:r>
            <a:endParaRPr lang="en-US" sz="2531" dirty="0"/>
          </a:p>
        </p:txBody>
      </p:sp>
      <p:sp>
        <p:nvSpPr>
          <p:cNvPr id="19" name="Text 17"/>
          <p:cNvSpPr/>
          <p:nvPr/>
        </p:nvSpPr>
        <p:spPr>
          <a:xfrm>
            <a:off x="621506" y="2893665"/>
            <a:ext cx="3729038" cy="339471"/>
          </a:xfrm>
          <a:prstGeom prst="rect">
            <a:avLst/>
          </a:prstGeom>
          <a:noFill/>
          <a:ln/>
        </p:spPr>
        <p:txBody>
          <a:bodyPr wrap="none" lIns="0" tIns="0" rIns="0" bIns="0" rtlCol="0" anchor="t"/>
          <a:lstStyle/>
          <a:p>
            <a:pPr marL="0" indent="0" algn="l">
              <a:lnSpc>
                <a:spcPts val="2475"/>
              </a:lnSpc>
              <a:buNone/>
            </a:pPr>
            <a:r>
              <a:rPr lang="en-US" sz="2475" b="1" kern="0" spc="-56" dirty="0">
                <a:solidFill>
                  <a:srgbClr val="F97316"/>
                </a:solidFill>
                <a:latin typeface="Liberation Sans Narrow" pitchFamily="34" charset="0"/>
                <a:ea typeface="Liberation Sans Narrow" pitchFamily="34" charset="-122"/>
                <a:cs typeface="Liberation Sans Narrow" pitchFamily="34" charset="-120"/>
              </a:rPr>
              <a:t>03</a:t>
            </a:r>
            <a:endParaRPr lang="en-US" sz="2475" dirty="0"/>
          </a:p>
        </p:txBody>
      </p:sp>
      <p:sp>
        <p:nvSpPr>
          <p:cNvPr id="20" name="Text 18"/>
          <p:cNvSpPr/>
          <p:nvPr/>
        </p:nvSpPr>
        <p:spPr>
          <a:xfrm>
            <a:off x="621506" y="3265140"/>
            <a:ext cx="3729038" cy="203610"/>
          </a:xfrm>
          <a:prstGeom prst="rect">
            <a:avLst/>
          </a:prstGeom>
          <a:noFill/>
          <a:ln/>
        </p:spPr>
        <p:txBody>
          <a:bodyPr wrap="none" lIns="0" tIns="0" rIns="0" bIns="0" rtlCol="0" anchor="t"/>
          <a:lstStyle/>
          <a:p>
            <a:pPr marL="0" indent="0" algn="l">
              <a:lnSpc>
                <a:spcPts val="1485"/>
              </a:lnSpc>
              <a:buNone/>
            </a:pPr>
            <a:r>
              <a:rPr lang="en-US" sz="1238" b="1" dirty="0">
                <a:solidFill>
                  <a:srgbClr val="0F172A"/>
                </a:solidFill>
                <a:latin typeface="Carlito" pitchFamily="34" charset="0"/>
                <a:ea typeface="Carlito" pitchFamily="34" charset="-122"/>
                <a:cs typeface="Carlito" pitchFamily="34" charset="-120"/>
              </a:rPr>
              <a:t>AI-Augmented Linting</a:t>
            </a:r>
            <a:endParaRPr lang="en-US" sz="1238" dirty="0"/>
          </a:p>
        </p:txBody>
      </p:sp>
      <p:sp>
        <p:nvSpPr>
          <p:cNvPr id="21" name="Text 19"/>
          <p:cNvSpPr/>
          <p:nvPr/>
        </p:nvSpPr>
        <p:spPr>
          <a:xfrm>
            <a:off x="621506" y="3510818"/>
            <a:ext cx="3729038" cy="352053"/>
          </a:xfrm>
          <a:prstGeom prst="rect">
            <a:avLst/>
          </a:prstGeom>
          <a:noFill/>
          <a:ln/>
        </p:spPr>
        <p:txBody>
          <a:bodyPr wrap="square" lIns="0" tIns="0" rIns="0" bIns="0" rtlCol="0" anchor="t"/>
          <a:lstStyle/>
          <a:p>
            <a:pPr marL="0" indent="0" algn="l">
              <a:lnSpc>
                <a:spcPts val="1387"/>
              </a:lnSpc>
              <a:buNone/>
            </a:pPr>
            <a:r>
              <a:rPr lang="en-US" sz="956" dirty="0">
                <a:solidFill>
                  <a:srgbClr val="334155"/>
                </a:solidFill>
                <a:latin typeface="Carlito" pitchFamily="34" charset="0"/>
                <a:ea typeface="Carlito" pitchFamily="34" charset="-122"/>
                <a:cs typeface="Carlito" pitchFamily="34" charset="-120"/>
              </a:rPr>
              <a:t>tflint + Checkov scan IaC for policy violations. AI explains the violations and suggests fixes in natural language.</a:t>
            </a:r>
            <a:endParaRPr lang="en-US" sz="956" dirty="0"/>
          </a:p>
        </p:txBody>
      </p:sp>
      <p:sp>
        <p:nvSpPr>
          <p:cNvPr id="22" name="Text 20"/>
          <p:cNvSpPr/>
          <p:nvPr/>
        </p:nvSpPr>
        <p:spPr>
          <a:xfrm>
            <a:off x="4632722" y="2747218"/>
            <a:ext cx="4050506" cy="1262100"/>
          </a:xfrm>
          <a:prstGeom prst="roundRect">
            <a:avLst>
              <a:gd name="adj" fmla="val 10566"/>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23" name="Text 21"/>
          <p:cNvSpPr/>
          <p:nvPr/>
        </p:nvSpPr>
        <p:spPr>
          <a:xfrm>
            <a:off x="8293894" y="2865090"/>
            <a:ext cx="257175" cy="257175"/>
          </a:xfrm>
          <a:prstGeom prst="rect">
            <a:avLst/>
          </a:prstGeom>
          <a:noFill/>
          <a:ln/>
        </p:spPr>
        <p:txBody>
          <a:bodyPr wrap="none" lIns="0" tIns="0" rIns="0" bIns="0" rtlCol="0" anchor="ctr"/>
          <a:lstStyle/>
          <a:p>
            <a:pPr marL="0" indent="0" algn="ctr">
              <a:buNone/>
            </a:pPr>
            <a:r>
              <a:rPr lang="en-US" sz="2531" dirty="0">
                <a:solidFill>
                  <a:srgbClr val="FED7AA"/>
                </a:solidFill>
                <a:latin typeface="Segoe UI Symbol" pitchFamily="34" charset="0"/>
                <a:ea typeface="Segoe UI Symbol" pitchFamily="34" charset="-122"/>
                <a:cs typeface="Segoe UI Symbol" pitchFamily="34" charset="-120"/>
              </a:rPr>
              <a:t>⚗</a:t>
            </a:r>
            <a:endParaRPr lang="en-US" sz="2531" dirty="0"/>
          </a:p>
        </p:txBody>
      </p:sp>
      <p:sp>
        <p:nvSpPr>
          <p:cNvPr id="24" name="Text 22"/>
          <p:cNvSpPr/>
          <p:nvPr/>
        </p:nvSpPr>
        <p:spPr>
          <a:xfrm>
            <a:off x="4793456" y="2893665"/>
            <a:ext cx="3729038" cy="339471"/>
          </a:xfrm>
          <a:prstGeom prst="rect">
            <a:avLst/>
          </a:prstGeom>
          <a:noFill/>
          <a:ln/>
        </p:spPr>
        <p:txBody>
          <a:bodyPr wrap="none" lIns="0" tIns="0" rIns="0" bIns="0" rtlCol="0" anchor="t"/>
          <a:lstStyle/>
          <a:p>
            <a:pPr marL="0" indent="0" algn="l">
              <a:lnSpc>
                <a:spcPts val="2475"/>
              </a:lnSpc>
              <a:buNone/>
            </a:pPr>
            <a:r>
              <a:rPr lang="en-US" sz="2475" b="1" kern="0" spc="-56" dirty="0">
                <a:solidFill>
                  <a:srgbClr val="F97316"/>
                </a:solidFill>
                <a:latin typeface="Liberation Sans Narrow" pitchFamily="34" charset="0"/>
                <a:ea typeface="Liberation Sans Narrow" pitchFamily="34" charset="-122"/>
                <a:cs typeface="Liberation Sans Narrow" pitchFamily="34" charset="-120"/>
              </a:rPr>
              <a:t>04</a:t>
            </a:r>
            <a:endParaRPr lang="en-US" sz="2475" dirty="0"/>
          </a:p>
        </p:txBody>
      </p:sp>
      <p:sp>
        <p:nvSpPr>
          <p:cNvPr id="25" name="Text 23"/>
          <p:cNvSpPr/>
          <p:nvPr/>
        </p:nvSpPr>
        <p:spPr>
          <a:xfrm>
            <a:off x="4793456" y="3265140"/>
            <a:ext cx="3729038" cy="203610"/>
          </a:xfrm>
          <a:prstGeom prst="rect">
            <a:avLst/>
          </a:prstGeom>
          <a:noFill/>
          <a:ln/>
        </p:spPr>
        <p:txBody>
          <a:bodyPr wrap="none" lIns="0" tIns="0" rIns="0" bIns="0" rtlCol="0" anchor="t"/>
          <a:lstStyle/>
          <a:p>
            <a:pPr marL="0" indent="0" algn="l">
              <a:lnSpc>
                <a:spcPts val="1485"/>
              </a:lnSpc>
              <a:buNone/>
            </a:pPr>
            <a:r>
              <a:rPr lang="en-US" sz="1238" b="1" dirty="0">
                <a:solidFill>
                  <a:srgbClr val="0F172A"/>
                </a:solidFill>
                <a:latin typeface="Carlito" pitchFamily="34" charset="0"/>
                <a:ea typeface="Carlito" pitchFamily="34" charset="-122"/>
                <a:cs typeface="Carlito" pitchFamily="34" charset="-120"/>
              </a:rPr>
              <a:t>AI-Generated Tests</a:t>
            </a:r>
            <a:endParaRPr lang="en-US" sz="1238" dirty="0"/>
          </a:p>
        </p:txBody>
      </p:sp>
      <p:sp>
        <p:nvSpPr>
          <p:cNvPr id="26" name="Text 24"/>
          <p:cNvSpPr/>
          <p:nvPr/>
        </p:nvSpPr>
        <p:spPr>
          <a:xfrm>
            <a:off x="4793456" y="3510818"/>
            <a:ext cx="3729038" cy="352053"/>
          </a:xfrm>
          <a:prstGeom prst="rect">
            <a:avLst/>
          </a:prstGeom>
          <a:noFill/>
          <a:ln/>
        </p:spPr>
        <p:txBody>
          <a:bodyPr wrap="square" lIns="0" tIns="0" rIns="0" bIns="0" rtlCol="0" anchor="t"/>
          <a:lstStyle/>
          <a:p>
            <a:pPr marL="0" indent="0" algn="l">
              <a:lnSpc>
                <a:spcPts val="1387"/>
              </a:lnSpc>
              <a:buNone/>
            </a:pPr>
            <a:r>
              <a:rPr lang="en-US" sz="956" dirty="0">
                <a:solidFill>
                  <a:srgbClr val="334155"/>
                </a:solidFill>
                <a:latin typeface="Carlito" pitchFamily="34" charset="0"/>
                <a:ea typeface="Carlito" pitchFamily="34" charset="-122"/>
                <a:cs typeface="Carlito" pitchFamily="34" charset="-120"/>
              </a:rPr>
              <a:t>LLM writes Terratest or Molecule tests for the generated IaC. Catches hallucinated resources before they reach production.</a:t>
            </a:r>
            <a:endParaRPr lang="en-US" sz="956" dirty="0"/>
          </a:p>
        </p:txBody>
      </p:sp>
      <p:sp>
        <p:nvSpPr>
          <p:cNvPr id="27" name="Text 25"/>
          <p:cNvSpPr/>
          <p:nvPr/>
        </p:nvSpPr>
        <p:spPr>
          <a:xfrm>
            <a:off x="457200" y="4127190"/>
            <a:ext cx="8229600" cy="579983"/>
          </a:xfrm>
          <a:prstGeom prst="roundRect">
            <a:avLst>
              <a:gd name="adj" fmla="val 13138"/>
            </a:avLst>
          </a:prstGeom>
          <a:solidFill>
            <a:srgbClr val="FFF7ED"/>
          </a:solidFill>
          <a:ln/>
        </p:spPr>
        <p:txBody>
          <a:bodyPr wrap="square" rtlCol="0" anchor="ctr"/>
          <a:lstStyle/>
          <a:p>
            <a:pPr marL="0" indent="0">
              <a:buNone/>
            </a:pPr>
            <a:endParaRPr lang="en-US" dirty="0"/>
          </a:p>
        </p:txBody>
      </p:sp>
      <p:sp>
        <p:nvSpPr>
          <p:cNvPr id="28" name="Shape 26"/>
          <p:cNvSpPr/>
          <p:nvPr/>
        </p:nvSpPr>
        <p:spPr>
          <a:xfrm>
            <a:off x="478631" y="4127190"/>
            <a:ext cx="0" cy="579983"/>
          </a:xfrm>
          <a:prstGeom prst="line">
            <a:avLst/>
          </a:prstGeom>
          <a:noFill/>
          <a:ln w="42863">
            <a:solidFill>
              <a:srgbClr val="F97316"/>
            </a:solidFill>
            <a:prstDash val="solid"/>
          </a:ln>
        </p:spPr>
      </p:sp>
      <p:sp>
        <p:nvSpPr>
          <p:cNvPr id="29" name="Text 27"/>
          <p:cNvSpPr/>
          <p:nvPr/>
        </p:nvSpPr>
        <p:spPr>
          <a:xfrm>
            <a:off x="657225" y="4227202"/>
            <a:ext cx="7872413" cy="379958"/>
          </a:xfrm>
          <a:prstGeom prst="rect">
            <a:avLst/>
          </a:prstGeom>
          <a:noFill/>
          <a:ln/>
        </p:spPr>
        <p:txBody>
          <a:bodyPr wrap="square" lIns="0" tIns="0" rIns="0" bIns="0" rtlCol="0" anchor="t"/>
          <a:lstStyle/>
          <a:p>
            <a:pPr marL="0" indent="0" algn="l">
              <a:lnSpc>
                <a:spcPts val="1496"/>
              </a:lnSpc>
              <a:buNone/>
            </a:pPr>
            <a:r>
              <a:rPr lang="en-US" sz="1069" b="1" dirty="0">
                <a:solidFill>
                  <a:srgbClr val="C2410C"/>
                </a:solidFill>
                <a:latin typeface="Segoe UI Symbol" pitchFamily="34" charset="0"/>
                <a:ea typeface="Segoe UI Symbol" pitchFamily="34" charset="-122"/>
                <a:cs typeface="Segoe UI Symbol" pitchFamily="34" charset="-120"/>
              </a:rPr>
              <a:t>⌇</a:t>
            </a:r>
            <a:r>
              <a:rPr lang="en-US" sz="1069" b="1" dirty="0">
                <a:solidFill>
                  <a:srgbClr val="C2410C"/>
                </a:solidFill>
                <a:latin typeface="Carlito" pitchFamily="34" charset="0"/>
                <a:ea typeface="Carlito" pitchFamily="34" charset="-122"/>
                <a:cs typeface="Carlito" pitchFamily="34" charset="-120"/>
              </a:rPr>
              <a:t> Pattern: AI generates → linters verify → tests confirm → human reviews → CI applies. AI does </a:t>
            </a:r>
            <a:r>
              <a:rPr lang="en-US" sz="1069" b="1" u="sng" dirty="0">
                <a:solidFill>
                  <a:srgbClr val="C2410C"/>
                </a:solidFill>
                <a:latin typeface="Carlito" pitchFamily="34" charset="0"/>
                <a:ea typeface="Carlito" pitchFamily="34" charset="-122"/>
                <a:cs typeface="Carlito" pitchFamily="34" charset="-120"/>
              </a:rPr>
              <a:t>NOT</a:t>
            </a:r>
            <a:r>
              <a:rPr lang="en-US" sz="1069" b="1" dirty="0">
                <a:solidFill>
                  <a:srgbClr val="C2410C"/>
                </a:solidFill>
                <a:latin typeface="Carlito" pitchFamily="34" charset="0"/>
                <a:ea typeface="Carlito" pitchFamily="34" charset="-122"/>
                <a:cs typeface="Carlito" pitchFamily="34" charset="-120"/>
              </a:rPr>
              <a:t> skip any step — it accelerates all of them.</a:t>
            </a:r>
            <a:endParaRPr lang="en-US" sz="1069"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4531805" cy="373346"/>
          </a:xfrm>
          <a:prstGeom prst="rect">
            <a:avLst/>
          </a:prstGeom>
          <a:noFill/>
          <a:ln/>
        </p:spPr>
        <p:txBody>
          <a:bodyPr wrap="square" lIns="0" tIns="0" rIns="0" bIns="0" rtlCol="0" anchor="t"/>
          <a:lstStyle/>
          <a:p>
            <a:pPr marL="0" indent="0" algn="l">
              <a:lnSpc>
                <a:spcPts val="2723"/>
              </a:lnSpc>
              <a:buNone/>
            </a:pPr>
            <a:r>
              <a:rPr lang="en-US" sz="2475" b="1" kern="0" spc="-28" dirty="0">
                <a:solidFill>
                  <a:srgbClr val="0F172A"/>
                </a:solidFill>
                <a:latin typeface="Carlito" pitchFamily="34" charset="0"/>
                <a:ea typeface="Carlito" pitchFamily="34" charset="-122"/>
                <a:cs typeface="Carlito" pitchFamily="34" charset="-120"/>
              </a:rPr>
              <a:t>Workflow — NL → IaC Pipeline</a:t>
            </a:r>
            <a:endParaRPr lang="en-US" sz="2475" dirty="0"/>
          </a:p>
        </p:txBody>
      </p:sp>
      <p:sp>
        <p:nvSpPr>
          <p:cNvPr id="3" name="Text 1"/>
          <p:cNvSpPr/>
          <p:nvPr/>
        </p:nvSpPr>
        <p:spPr>
          <a:xfrm>
            <a:off x="457200" y="888616"/>
            <a:ext cx="571500" cy="42863"/>
          </a:xfrm>
          <a:prstGeom prst="roundRect">
            <a:avLst>
              <a:gd name="adj" fmla="val 66666"/>
            </a:avLst>
          </a:prstGeom>
          <a:solidFill>
            <a:srgbClr val="F97316"/>
          </a:solidFill>
          <a:ln/>
        </p:spPr>
        <p:txBody>
          <a:bodyPr wrap="square" rtlCol="0" anchor="ctr"/>
          <a:lstStyle/>
          <a:p>
            <a:pPr marL="0" indent="0">
              <a:buNone/>
            </a:pPr>
            <a:endParaRPr lang="en-US" dirty="0"/>
          </a:p>
        </p:txBody>
      </p:sp>
      <p:sp>
        <p:nvSpPr>
          <p:cNvPr id="4" name="Text 2"/>
          <p:cNvSpPr/>
          <p:nvPr/>
        </p:nvSpPr>
        <p:spPr>
          <a:xfrm>
            <a:off x="7260751" y="528672"/>
            <a:ext cx="1448909" cy="331333"/>
          </a:xfrm>
          <a:prstGeom prst="roundRect">
            <a:avLst>
              <a:gd name="adj" fmla="val 2871877"/>
            </a:avLst>
          </a:prstGeom>
          <a:solidFill>
            <a:srgbClr val="FED7AA"/>
          </a:solidFill>
          <a:ln/>
        </p:spPr>
        <p:txBody>
          <a:bodyPr wrap="square" rtlCol="0" anchor="ctr"/>
          <a:lstStyle/>
          <a:p>
            <a:pPr marL="0" indent="0">
              <a:buNone/>
            </a:pPr>
            <a:endParaRPr lang="en-US" dirty="0"/>
          </a:p>
        </p:txBody>
      </p:sp>
      <p:sp>
        <p:nvSpPr>
          <p:cNvPr id="5" name="Text 3"/>
          <p:cNvSpPr/>
          <p:nvPr/>
        </p:nvSpPr>
        <p:spPr>
          <a:xfrm>
            <a:off x="7221459" y="541474"/>
            <a:ext cx="1527494" cy="305730"/>
          </a:xfrm>
          <a:prstGeom prst="rect">
            <a:avLst/>
          </a:prstGeom>
          <a:noFill/>
          <a:ln/>
        </p:spPr>
        <p:txBody>
          <a:bodyPr wrap="none" lIns="0" tIns="0" rIns="0" bIns="0" rtlCol="0" anchor="ctr"/>
          <a:lstStyle/>
          <a:p>
            <a:pPr marL="0" indent="0" algn="ctr">
              <a:lnSpc>
                <a:spcPts val="1733"/>
              </a:lnSpc>
              <a:buNone/>
            </a:pPr>
            <a:r>
              <a:rPr lang="en-US" sz="1238" b="1" kern="0" spc="28" dirty="0">
                <a:solidFill>
                  <a:srgbClr val="C2410C"/>
                </a:solidFill>
                <a:latin typeface="Liberation Sans Narrow" pitchFamily="34" charset="0"/>
                <a:ea typeface="Liberation Sans Narrow" pitchFamily="34" charset="-122"/>
                <a:cs typeface="Liberation Sans Narrow" pitchFamily="34" charset="-120"/>
              </a:rPr>
              <a:t>SECTION C · 3.5</a:t>
            </a:r>
            <a:endParaRPr lang="en-US" sz="1238" dirty="0"/>
          </a:p>
        </p:txBody>
      </p:sp>
      <p:sp>
        <p:nvSpPr>
          <p:cNvPr id="6" name="Text 4"/>
          <p:cNvSpPr/>
          <p:nvPr/>
        </p:nvSpPr>
        <p:spPr>
          <a:xfrm>
            <a:off x="457200" y="1045778"/>
            <a:ext cx="8636000" cy="216027"/>
          </a:xfrm>
          <a:prstGeom prst="rect">
            <a:avLst/>
          </a:prstGeom>
          <a:noFill/>
          <a:ln/>
        </p:spPr>
        <p:txBody>
          <a:bodyPr wrap="square" lIns="0" tIns="0" rIns="0" bIns="0" rtlCol="0" anchor="t"/>
          <a:lstStyle/>
          <a:p>
            <a:pPr marL="0" indent="0" algn="l">
              <a:lnSpc>
                <a:spcPts val="1575"/>
              </a:lnSpc>
              <a:buNone/>
            </a:pPr>
            <a:r>
              <a:rPr lang="en-US" sz="1125" dirty="0">
                <a:solidFill>
                  <a:srgbClr val="64748B"/>
                </a:solidFill>
                <a:latin typeface="Carlito" pitchFamily="34" charset="0"/>
                <a:ea typeface="Carlito" pitchFamily="34" charset="-122"/>
                <a:cs typeface="Carlito" pitchFamily="34" charset="-120"/>
              </a:rPr>
              <a:t>Six stages from idea to applied infrastructure.</a:t>
            </a:r>
            <a:endParaRPr lang="en-US" sz="1125" dirty="0"/>
          </a:p>
        </p:txBody>
      </p:sp>
      <p:sp>
        <p:nvSpPr>
          <p:cNvPr id="7" name="Text 5"/>
          <p:cNvSpPr/>
          <p:nvPr/>
        </p:nvSpPr>
        <p:spPr>
          <a:xfrm>
            <a:off x="460772" y="1392250"/>
            <a:ext cx="1221581" cy="2757599"/>
          </a:xfrm>
          <a:prstGeom prst="roundRect">
            <a:avLst>
              <a:gd name="adj" fmla="val 10916"/>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8" name="Text 6"/>
          <p:cNvSpPr/>
          <p:nvPr/>
        </p:nvSpPr>
        <p:spPr>
          <a:xfrm>
            <a:off x="564356" y="1524409"/>
            <a:ext cx="185738" cy="185738"/>
          </a:xfrm>
          <a:prstGeom prst="rect">
            <a:avLst/>
          </a:prstGeom>
          <a:noFill/>
          <a:ln/>
        </p:spPr>
        <p:txBody>
          <a:bodyPr wrap="none" lIns="0" tIns="0" rIns="0" bIns="0" rtlCol="0" anchor="ctr"/>
          <a:lstStyle/>
          <a:p>
            <a:pPr marL="0" indent="0" algn="ctr">
              <a:buNone/>
            </a:pPr>
            <a:r>
              <a:rPr lang="en-US" sz="1828" dirty="0">
                <a:solidFill>
                  <a:srgbClr val="F97316"/>
                </a:solidFill>
                <a:latin typeface="Segoe UI Symbol" pitchFamily="34" charset="0"/>
                <a:ea typeface="Segoe UI Symbol" pitchFamily="34" charset="-122"/>
                <a:cs typeface="Segoe UI Symbol" pitchFamily="34" charset="-120"/>
              </a:rPr>
              <a:t>✎</a:t>
            </a:r>
            <a:endParaRPr lang="en-US" sz="1828" dirty="0"/>
          </a:p>
        </p:txBody>
      </p:sp>
      <p:sp>
        <p:nvSpPr>
          <p:cNvPr id="9" name="Text 7"/>
          <p:cNvSpPr/>
          <p:nvPr/>
        </p:nvSpPr>
        <p:spPr>
          <a:xfrm>
            <a:off x="564356" y="1767297"/>
            <a:ext cx="1014413" cy="237606"/>
          </a:xfrm>
          <a:prstGeom prst="rect">
            <a:avLst/>
          </a:prstGeom>
          <a:noFill/>
          <a:ln/>
        </p:spPr>
        <p:txBody>
          <a:bodyPr wrap="none" lIns="0" tIns="0" rIns="0" bIns="0" rtlCol="0" anchor="t"/>
          <a:lstStyle/>
          <a:p>
            <a:pPr marL="0" indent="0" algn="l">
              <a:lnSpc>
                <a:spcPts val="1733"/>
              </a:lnSpc>
              <a:buNone/>
            </a:pPr>
            <a:r>
              <a:rPr lang="en-US" sz="1238" b="1" dirty="0">
                <a:solidFill>
                  <a:srgbClr val="F97316"/>
                </a:solidFill>
                <a:latin typeface="Liberation Sans Narrow" pitchFamily="34" charset="0"/>
                <a:ea typeface="Liberation Sans Narrow" pitchFamily="34" charset="-122"/>
                <a:cs typeface="Liberation Sans Narrow" pitchFamily="34" charset="-120"/>
              </a:rPr>
              <a:t>01</a:t>
            </a:r>
            <a:endParaRPr lang="en-US" sz="1238" dirty="0"/>
          </a:p>
        </p:txBody>
      </p:sp>
      <p:sp>
        <p:nvSpPr>
          <p:cNvPr id="10" name="Text 8"/>
          <p:cNvSpPr/>
          <p:nvPr/>
        </p:nvSpPr>
        <p:spPr>
          <a:xfrm>
            <a:off x="564356" y="2044452"/>
            <a:ext cx="1014413" cy="157319"/>
          </a:xfrm>
          <a:prstGeom prst="rect">
            <a:avLst/>
          </a:prstGeom>
          <a:noFill/>
          <a:ln/>
        </p:spPr>
        <p:txBody>
          <a:bodyPr wrap="none" lIns="0" tIns="0" rIns="0" bIns="0" rtlCol="0" anchor="t"/>
          <a:lstStyle/>
          <a:p>
            <a:pPr marL="0" indent="0" algn="l">
              <a:lnSpc>
                <a:spcPts val="1148"/>
              </a:lnSpc>
              <a:buNone/>
            </a:pPr>
            <a:r>
              <a:rPr lang="en-US" sz="956" b="1" dirty="0">
                <a:solidFill>
                  <a:srgbClr val="0F172A"/>
                </a:solidFill>
                <a:latin typeface="Carlito" pitchFamily="34" charset="0"/>
                <a:ea typeface="Carlito" pitchFamily="34" charset="-122"/>
                <a:cs typeface="Carlito" pitchFamily="34" charset="-120"/>
              </a:rPr>
              <a:t>Author Intent</a:t>
            </a:r>
            <a:endParaRPr lang="en-US" sz="956" dirty="0"/>
          </a:p>
        </p:txBody>
      </p:sp>
      <p:sp>
        <p:nvSpPr>
          <p:cNvPr id="11" name="Text 9"/>
          <p:cNvSpPr/>
          <p:nvPr/>
        </p:nvSpPr>
        <p:spPr>
          <a:xfrm>
            <a:off x="564356" y="2247267"/>
            <a:ext cx="1075277" cy="614281"/>
          </a:xfrm>
          <a:prstGeom prst="rect">
            <a:avLst/>
          </a:prstGeom>
          <a:noFill/>
          <a:ln/>
        </p:spPr>
        <p:txBody>
          <a:bodyPr wrap="square" lIns="0" tIns="0" rIns="0" bIns="0" rtlCol="0" anchor="t"/>
          <a:lstStyle/>
          <a:p>
            <a:pPr marL="0" indent="0" algn="l">
              <a:lnSpc>
                <a:spcPts val="1103"/>
              </a:lnSpc>
              <a:buNone/>
            </a:pPr>
            <a:r>
              <a:rPr lang="en-US" sz="800" dirty="0">
                <a:solidFill>
                  <a:srgbClr val="334155"/>
                </a:solidFill>
                <a:latin typeface="Carlito" pitchFamily="34" charset="0"/>
                <a:ea typeface="Carlito" pitchFamily="34" charset="-122"/>
                <a:cs typeface="Carlito" pitchFamily="34" charset="-120"/>
              </a:rPr>
              <a:t>Engineer writes a natural-language description of the desired infrastructure.</a:t>
            </a:r>
            <a:endParaRPr lang="en-US" sz="800" dirty="0"/>
          </a:p>
        </p:txBody>
      </p:sp>
      <p:sp>
        <p:nvSpPr>
          <p:cNvPr id="12" name="Text 10"/>
          <p:cNvSpPr/>
          <p:nvPr/>
        </p:nvSpPr>
        <p:spPr>
          <a:xfrm>
            <a:off x="1685925" y="1388678"/>
            <a:ext cx="171450" cy="2764743"/>
          </a:xfrm>
          <a:prstGeom prst="rect">
            <a:avLst/>
          </a:prstGeom>
          <a:noFill/>
          <a:ln/>
        </p:spPr>
        <p:txBody>
          <a:bodyPr wrap="none" lIns="0" tIns="0" rIns="0" bIns="0" rtlCol="0" anchor="ctr"/>
          <a:lstStyle/>
          <a:p>
            <a:pPr marL="0" indent="0" algn="ctr">
              <a:lnSpc>
                <a:spcPts val="2363"/>
              </a:lnSpc>
              <a:buNone/>
            </a:pPr>
            <a:r>
              <a:rPr lang="en-US" sz="1688" b="1" dirty="0">
                <a:solidFill>
                  <a:srgbClr val="F97316"/>
                </a:solidFill>
                <a:latin typeface="Carlito" pitchFamily="34" charset="0"/>
                <a:ea typeface="Carlito" pitchFamily="34" charset="-122"/>
                <a:cs typeface="Carlito" pitchFamily="34" charset="-120"/>
              </a:rPr>
              <a:t>›</a:t>
            </a:r>
            <a:endParaRPr lang="en-US" sz="1688" dirty="0"/>
          </a:p>
        </p:txBody>
      </p:sp>
      <p:sp>
        <p:nvSpPr>
          <p:cNvPr id="13" name="Text 11"/>
          <p:cNvSpPr/>
          <p:nvPr/>
        </p:nvSpPr>
        <p:spPr>
          <a:xfrm>
            <a:off x="1860947" y="1392250"/>
            <a:ext cx="1221581" cy="2757599"/>
          </a:xfrm>
          <a:prstGeom prst="roundRect">
            <a:avLst>
              <a:gd name="adj" fmla="val 10916"/>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14" name="Text 12"/>
          <p:cNvSpPr/>
          <p:nvPr/>
        </p:nvSpPr>
        <p:spPr>
          <a:xfrm>
            <a:off x="1964531" y="1524409"/>
            <a:ext cx="185738" cy="185738"/>
          </a:xfrm>
          <a:prstGeom prst="rect">
            <a:avLst/>
          </a:prstGeom>
          <a:noFill/>
          <a:ln/>
        </p:spPr>
        <p:txBody>
          <a:bodyPr wrap="none" lIns="0" tIns="0" rIns="0" bIns="0" rtlCol="0" anchor="ctr"/>
          <a:lstStyle/>
          <a:p>
            <a:pPr marL="0" indent="0" algn="ctr">
              <a:buNone/>
            </a:pPr>
            <a:r>
              <a:rPr lang="en-US" sz="1828" dirty="0">
                <a:solidFill>
                  <a:srgbClr val="F97316"/>
                </a:solidFill>
                <a:latin typeface="Segoe UI Symbol" pitchFamily="34" charset="0"/>
                <a:ea typeface="Segoe UI Symbol" pitchFamily="34" charset="-122"/>
                <a:cs typeface="Segoe UI Symbol" pitchFamily="34" charset="-120"/>
              </a:rPr>
              <a:t>✦</a:t>
            </a:r>
            <a:endParaRPr lang="en-US" sz="1828" dirty="0"/>
          </a:p>
        </p:txBody>
      </p:sp>
      <p:sp>
        <p:nvSpPr>
          <p:cNvPr id="15" name="Text 13"/>
          <p:cNvSpPr/>
          <p:nvPr/>
        </p:nvSpPr>
        <p:spPr>
          <a:xfrm>
            <a:off x="1964531" y="1767297"/>
            <a:ext cx="1014413" cy="237606"/>
          </a:xfrm>
          <a:prstGeom prst="rect">
            <a:avLst/>
          </a:prstGeom>
          <a:noFill/>
          <a:ln/>
        </p:spPr>
        <p:txBody>
          <a:bodyPr wrap="none" lIns="0" tIns="0" rIns="0" bIns="0" rtlCol="0" anchor="t"/>
          <a:lstStyle/>
          <a:p>
            <a:pPr marL="0" indent="0" algn="l">
              <a:lnSpc>
                <a:spcPts val="1733"/>
              </a:lnSpc>
              <a:buNone/>
            </a:pPr>
            <a:r>
              <a:rPr lang="en-US" sz="1238" b="1" dirty="0">
                <a:solidFill>
                  <a:srgbClr val="F97316"/>
                </a:solidFill>
                <a:latin typeface="Liberation Sans Narrow" pitchFamily="34" charset="0"/>
                <a:ea typeface="Liberation Sans Narrow" pitchFamily="34" charset="-122"/>
                <a:cs typeface="Liberation Sans Narrow" pitchFamily="34" charset="-120"/>
              </a:rPr>
              <a:t>02</a:t>
            </a:r>
            <a:endParaRPr lang="en-US" sz="1238" dirty="0"/>
          </a:p>
        </p:txBody>
      </p:sp>
      <p:sp>
        <p:nvSpPr>
          <p:cNvPr id="16" name="Text 14"/>
          <p:cNvSpPr/>
          <p:nvPr/>
        </p:nvSpPr>
        <p:spPr>
          <a:xfrm>
            <a:off x="1964531" y="2044452"/>
            <a:ext cx="1014413" cy="157319"/>
          </a:xfrm>
          <a:prstGeom prst="rect">
            <a:avLst/>
          </a:prstGeom>
          <a:noFill/>
          <a:ln/>
        </p:spPr>
        <p:txBody>
          <a:bodyPr wrap="none" lIns="0" tIns="0" rIns="0" bIns="0" rtlCol="0" anchor="t"/>
          <a:lstStyle/>
          <a:p>
            <a:pPr marL="0" indent="0" algn="l">
              <a:lnSpc>
                <a:spcPts val="1148"/>
              </a:lnSpc>
              <a:buNone/>
            </a:pPr>
            <a:r>
              <a:rPr lang="en-US" sz="956" b="1" dirty="0">
                <a:solidFill>
                  <a:srgbClr val="0F172A"/>
                </a:solidFill>
                <a:latin typeface="Carlito" pitchFamily="34" charset="0"/>
                <a:ea typeface="Carlito" pitchFamily="34" charset="-122"/>
                <a:cs typeface="Carlito" pitchFamily="34" charset="-120"/>
              </a:rPr>
              <a:t>LLM Generate</a:t>
            </a:r>
            <a:endParaRPr lang="en-US" sz="956" dirty="0"/>
          </a:p>
        </p:txBody>
      </p:sp>
      <p:sp>
        <p:nvSpPr>
          <p:cNvPr id="17" name="Text 15"/>
          <p:cNvSpPr/>
          <p:nvPr/>
        </p:nvSpPr>
        <p:spPr>
          <a:xfrm>
            <a:off x="1964531" y="2247267"/>
            <a:ext cx="1075277" cy="614281"/>
          </a:xfrm>
          <a:prstGeom prst="rect">
            <a:avLst/>
          </a:prstGeom>
          <a:noFill/>
          <a:ln/>
        </p:spPr>
        <p:txBody>
          <a:bodyPr wrap="square" lIns="0" tIns="0" rIns="0" bIns="0" rtlCol="0" anchor="t"/>
          <a:lstStyle/>
          <a:p>
            <a:pPr marL="0" indent="0" algn="l">
              <a:lnSpc>
                <a:spcPts val="1103"/>
              </a:lnSpc>
              <a:buNone/>
            </a:pPr>
            <a:r>
              <a:rPr lang="en-US" sz="800" dirty="0">
                <a:solidFill>
                  <a:srgbClr val="334155"/>
                </a:solidFill>
                <a:latin typeface="Carlito" pitchFamily="34" charset="0"/>
                <a:ea typeface="Carlito" pitchFamily="34" charset="-122"/>
                <a:cs typeface="Carlito" pitchFamily="34" charset="-120"/>
              </a:rPr>
              <a:t>LLM produces Terraform HCL or Ansible YAML based on the description.</a:t>
            </a:r>
            <a:endParaRPr lang="en-US" sz="800" dirty="0"/>
          </a:p>
        </p:txBody>
      </p:sp>
      <p:sp>
        <p:nvSpPr>
          <p:cNvPr id="18" name="Text 16"/>
          <p:cNvSpPr/>
          <p:nvPr/>
        </p:nvSpPr>
        <p:spPr>
          <a:xfrm>
            <a:off x="3086100" y="1388678"/>
            <a:ext cx="171450" cy="2764743"/>
          </a:xfrm>
          <a:prstGeom prst="rect">
            <a:avLst/>
          </a:prstGeom>
          <a:noFill/>
          <a:ln/>
        </p:spPr>
        <p:txBody>
          <a:bodyPr wrap="none" lIns="0" tIns="0" rIns="0" bIns="0" rtlCol="0" anchor="ctr"/>
          <a:lstStyle/>
          <a:p>
            <a:pPr marL="0" indent="0" algn="ctr">
              <a:lnSpc>
                <a:spcPts val="2363"/>
              </a:lnSpc>
              <a:buNone/>
            </a:pPr>
            <a:r>
              <a:rPr lang="en-US" sz="1688" b="1" dirty="0">
                <a:solidFill>
                  <a:srgbClr val="F97316"/>
                </a:solidFill>
                <a:latin typeface="Carlito" pitchFamily="34" charset="0"/>
                <a:ea typeface="Carlito" pitchFamily="34" charset="-122"/>
                <a:cs typeface="Carlito" pitchFamily="34" charset="-120"/>
              </a:rPr>
              <a:t>›</a:t>
            </a:r>
            <a:endParaRPr lang="en-US" sz="1688" dirty="0"/>
          </a:p>
        </p:txBody>
      </p:sp>
      <p:sp>
        <p:nvSpPr>
          <p:cNvPr id="19" name="Text 17"/>
          <p:cNvSpPr/>
          <p:nvPr/>
        </p:nvSpPr>
        <p:spPr>
          <a:xfrm>
            <a:off x="3261122" y="1392250"/>
            <a:ext cx="1221581" cy="2757599"/>
          </a:xfrm>
          <a:prstGeom prst="roundRect">
            <a:avLst>
              <a:gd name="adj" fmla="val 10916"/>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20" name="Text 18"/>
          <p:cNvSpPr/>
          <p:nvPr/>
        </p:nvSpPr>
        <p:spPr>
          <a:xfrm>
            <a:off x="3364706" y="1524409"/>
            <a:ext cx="185738" cy="185738"/>
          </a:xfrm>
          <a:prstGeom prst="rect">
            <a:avLst/>
          </a:prstGeom>
          <a:noFill/>
          <a:ln/>
        </p:spPr>
        <p:txBody>
          <a:bodyPr wrap="none" lIns="0" tIns="0" rIns="0" bIns="0" rtlCol="0" anchor="ctr"/>
          <a:lstStyle/>
          <a:p>
            <a:pPr marL="0" indent="0" algn="ctr">
              <a:buNone/>
            </a:pPr>
            <a:r>
              <a:rPr lang="en-US" sz="1828" dirty="0">
                <a:solidFill>
                  <a:srgbClr val="F97316"/>
                </a:solidFill>
                <a:latin typeface="Segoe UI Symbol" pitchFamily="34" charset="0"/>
                <a:ea typeface="Segoe UI Symbol" pitchFamily="34" charset="-122"/>
                <a:cs typeface="Segoe UI Symbol" pitchFamily="34" charset="-120"/>
              </a:rPr>
              <a:t>▤</a:t>
            </a:r>
            <a:endParaRPr lang="en-US" sz="1828" dirty="0"/>
          </a:p>
        </p:txBody>
      </p:sp>
      <p:sp>
        <p:nvSpPr>
          <p:cNvPr id="21" name="Text 19"/>
          <p:cNvSpPr/>
          <p:nvPr/>
        </p:nvSpPr>
        <p:spPr>
          <a:xfrm>
            <a:off x="3364706" y="1767297"/>
            <a:ext cx="1014412" cy="237606"/>
          </a:xfrm>
          <a:prstGeom prst="rect">
            <a:avLst/>
          </a:prstGeom>
          <a:noFill/>
          <a:ln/>
        </p:spPr>
        <p:txBody>
          <a:bodyPr wrap="none" lIns="0" tIns="0" rIns="0" bIns="0" rtlCol="0" anchor="t"/>
          <a:lstStyle/>
          <a:p>
            <a:pPr marL="0" indent="0" algn="l">
              <a:lnSpc>
                <a:spcPts val="1733"/>
              </a:lnSpc>
              <a:buNone/>
            </a:pPr>
            <a:r>
              <a:rPr lang="en-US" sz="1238" b="1" dirty="0">
                <a:solidFill>
                  <a:srgbClr val="F97316"/>
                </a:solidFill>
                <a:latin typeface="Liberation Sans Narrow" pitchFamily="34" charset="0"/>
                <a:ea typeface="Liberation Sans Narrow" pitchFamily="34" charset="-122"/>
                <a:cs typeface="Liberation Sans Narrow" pitchFamily="34" charset="-120"/>
              </a:rPr>
              <a:t>03</a:t>
            </a:r>
            <a:endParaRPr lang="en-US" sz="1238" dirty="0"/>
          </a:p>
        </p:txBody>
      </p:sp>
      <p:sp>
        <p:nvSpPr>
          <p:cNvPr id="22" name="Text 20"/>
          <p:cNvSpPr/>
          <p:nvPr/>
        </p:nvSpPr>
        <p:spPr>
          <a:xfrm>
            <a:off x="3364706" y="2044452"/>
            <a:ext cx="1014413" cy="157319"/>
          </a:xfrm>
          <a:prstGeom prst="rect">
            <a:avLst/>
          </a:prstGeom>
          <a:noFill/>
          <a:ln/>
        </p:spPr>
        <p:txBody>
          <a:bodyPr wrap="none" lIns="0" tIns="0" rIns="0" bIns="0" rtlCol="0" anchor="t"/>
          <a:lstStyle/>
          <a:p>
            <a:pPr marL="0" indent="0" algn="l">
              <a:lnSpc>
                <a:spcPts val="1148"/>
              </a:lnSpc>
              <a:buNone/>
            </a:pPr>
            <a:r>
              <a:rPr lang="en-US" sz="956" b="1" dirty="0">
                <a:solidFill>
                  <a:srgbClr val="0F172A"/>
                </a:solidFill>
                <a:latin typeface="Carlito" pitchFamily="34" charset="0"/>
                <a:ea typeface="Carlito" pitchFamily="34" charset="-122"/>
                <a:cs typeface="Carlito" pitchFamily="34" charset="-120"/>
              </a:rPr>
              <a:t>Lint (tflint)</a:t>
            </a:r>
            <a:endParaRPr lang="en-US" sz="956" dirty="0"/>
          </a:p>
        </p:txBody>
      </p:sp>
      <p:sp>
        <p:nvSpPr>
          <p:cNvPr id="23" name="Text 21"/>
          <p:cNvSpPr/>
          <p:nvPr/>
        </p:nvSpPr>
        <p:spPr>
          <a:xfrm>
            <a:off x="3364706" y="2247267"/>
            <a:ext cx="1075277" cy="460711"/>
          </a:xfrm>
          <a:prstGeom prst="rect">
            <a:avLst/>
          </a:prstGeom>
          <a:noFill/>
          <a:ln/>
        </p:spPr>
        <p:txBody>
          <a:bodyPr wrap="square" lIns="0" tIns="0" rIns="0" bIns="0" rtlCol="0" anchor="t"/>
          <a:lstStyle/>
          <a:p>
            <a:pPr marL="0" indent="0" algn="l">
              <a:lnSpc>
                <a:spcPts val="1103"/>
              </a:lnSpc>
              <a:buNone/>
            </a:pPr>
            <a:r>
              <a:rPr lang="en-US" sz="800" dirty="0">
                <a:solidFill>
                  <a:srgbClr val="334155"/>
                </a:solidFill>
                <a:latin typeface="Carlito" pitchFamily="34" charset="0"/>
                <a:ea typeface="Carlito" pitchFamily="34" charset="-122"/>
                <a:cs typeface="Carlito" pitchFamily="34" charset="-120"/>
              </a:rPr>
              <a:t>tflint checks for syntax + provider-specific issues.</a:t>
            </a:r>
            <a:endParaRPr lang="en-US" sz="800" dirty="0"/>
          </a:p>
        </p:txBody>
      </p:sp>
      <p:sp>
        <p:nvSpPr>
          <p:cNvPr id="24" name="Text 22"/>
          <p:cNvSpPr/>
          <p:nvPr/>
        </p:nvSpPr>
        <p:spPr>
          <a:xfrm>
            <a:off x="4486275" y="1388678"/>
            <a:ext cx="171450" cy="2764743"/>
          </a:xfrm>
          <a:prstGeom prst="rect">
            <a:avLst/>
          </a:prstGeom>
          <a:noFill/>
          <a:ln/>
        </p:spPr>
        <p:txBody>
          <a:bodyPr wrap="none" lIns="0" tIns="0" rIns="0" bIns="0" rtlCol="0" anchor="ctr"/>
          <a:lstStyle/>
          <a:p>
            <a:pPr marL="0" indent="0" algn="ctr">
              <a:lnSpc>
                <a:spcPts val="2363"/>
              </a:lnSpc>
              <a:buNone/>
            </a:pPr>
            <a:r>
              <a:rPr lang="en-US" sz="1688" b="1" dirty="0">
                <a:solidFill>
                  <a:srgbClr val="F97316"/>
                </a:solidFill>
                <a:latin typeface="Carlito" pitchFamily="34" charset="0"/>
                <a:ea typeface="Carlito" pitchFamily="34" charset="-122"/>
                <a:cs typeface="Carlito" pitchFamily="34" charset="-120"/>
              </a:rPr>
              <a:t>›</a:t>
            </a:r>
            <a:endParaRPr lang="en-US" sz="1688" dirty="0"/>
          </a:p>
        </p:txBody>
      </p:sp>
      <p:sp>
        <p:nvSpPr>
          <p:cNvPr id="25" name="Text 23"/>
          <p:cNvSpPr/>
          <p:nvPr/>
        </p:nvSpPr>
        <p:spPr>
          <a:xfrm>
            <a:off x="4661297" y="1392250"/>
            <a:ext cx="1221581" cy="2757599"/>
          </a:xfrm>
          <a:prstGeom prst="roundRect">
            <a:avLst>
              <a:gd name="adj" fmla="val 10916"/>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26" name="Text 24"/>
          <p:cNvSpPr/>
          <p:nvPr/>
        </p:nvSpPr>
        <p:spPr>
          <a:xfrm>
            <a:off x="4764881" y="1524409"/>
            <a:ext cx="185738" cy="185738"/>
          </a:xfrm>
          <a:prstGeom prst="rect">
            <a:avLst/>
          </a:prstGeom>
          <a:noFill/>
          <a:ln/>
        </p:spPr>
        <p:txBody>
          <a:bodyPr wrap="none" lIns="0" tIns="0" rIns="0" bIns="0" rtlCol="0" anchor="ctr"/>
          <a:lstStyle/>
          <a:p>
            <a:pPr marL="0" indent="0" algn="ctr">
              <a:buNone/>
            </a:pPr>
            <a:r>
              <a:rPr lang="en-US" sz="1828" dirty="0">
                <a:solidFill>
                  <a:srgbClr val="F97316"/>
                </a:solidFill>
                <a:latin typeface="Segoe UI Symbol" pitchFamily="34" charset="0"/>
                <a:ea typeface="Segoe UI Symbol" pitchFamily="34" charset="-122"/>
                <a:cs typeface="Segoe UI Symbol" pitchFamily="34" charset="-120"/>
              </a:rPr>
              <a:t>⛨</a:t>
            </a:r>
            <a:endParaRPr lang="en-US" sz="1828" dirty="0"/>
          </a:p>
        </p:txBody>
      </p:sp>
      <p:sp>
        <p:nvSpPr>
          <p:cNvPr id="27" name="Text 25"/>
          <p:cNvSpPr/>
          <p:nvPr/>
        </p:nvSpPr>
        <p:spPr>
          <a:xfrm>
            <a:off x="4764881" y="1767297"/>
            <a:ext cx="1014412" cy="237606"/>
          </a:xfrm>
          <a:prstGeom prst="rect">
            <a:avLst/>
          </a:prstGeom>
          <a:noFill/>
          <a:ln/>
        </p:spPr>
        <p:txBody>
          <a:bodyPr wrap="none" lIns="0" tIns="0" rIns="0" bIns="0" rtlCol="0" anchor="t"/>
          <a:lstStyle/>
          <a:p>
            <a:pPr marL="0" indent="0" algn="l">
              <a:lnSpc>
                <a:spcPts val="1733"/>
              </a:lnSpc>
              <a:buNone/>
            </a:pPr>
            <a:r>
              <a:rPr lang="en-US" sz="1238" b="1" dirty="0">
                <a:solidFill>
                  <a:srgbClr val="F97316"/>
                </a:solidFill>
                <a:latin typeface="Liberation Sans Narrow" pitchFamily="34" charset="0"/>
                <a:ea typeface="Liberation Sans Narrow" pitchFamily="34" charset="-122"/>
                <a:cs typeface="Liberation Sans Narrow" pitchFamily="34" charset="-120"/>
              </a:rPr>
              <a:t>04</a:t>
            </a:r>
            <a:endParaRPr lang="en-US" sz="1238" dirty="0"/>
          </a:p>
        </p:txBody>
      </p:sp>
      <p:sp>
        <p:nvSpPr>
          <p:cNvPr id="28" name="Text 26"/>
          <p:cNvSpPr/>
          <p:nvPr/>
        </p:nvSpPr>
        <p:spPr>
          <a:xfrm>
            <a:off x="4764881" y="2044452"/>
            <a:ext cx="1014413" cy="157319"/>
          </a:xfrm>
          <a:prstGeom prst="rect">
            <a:avLst/>
          </a:prstGeom>
          <a:noFill/>
          <a:ln/>
        </p:spPr>
        <p:txBody>
          <a:bodyPr wrap="none" lIns="0" tIns="0" rIns="0" bIns="0" rtlCol="0" anchor="t"/>
          <a:lstStyle/>
          <a:p>
            <a:pPr marL="0" indent="0" algn="l">
              <a:lnSpc>
                <a:spcPts val="1148"/>
              </a:lnSpc>
              <a:buNone/>
            </a:pPr>
            <a:r>
              <a:rPr lang="en-US" sz="956" b="1" dirty="0">
                <a:solidFill>
                  <a:srgbClr val="0F172A"/>
                </a:solidFill>
                <a:latin typeface="Carlito" pitchFamily="34" charset="0"/>
                <a:ea typeface="Carlito" pitchFamily="34" charset="-122"/>
                <a:cs typeface="Carlito" pitchFamily="34" charset="-120"/>
              </a:rPr>
              <a:t>Policy (Checkov)</a:t>
            </a:r>
            <a:endParaRPr lang="en-US" sz="956" dirty="0"/>
          </a:p>
        </p:txBody>
      </p:sp>
      <p:sp>
        <p:nvSpPr>
          <p:cNvPr id="29" name="Text 27"/>
          <p:cNvSpPr/>
          <p:nvPr/>
        </p:nvSpPr>
        <p:spPr>
          <a:xfrm>
            <a:off x="4764881" y="2247267"/>
            <a:ext cx="1075277" cy="460711"/>
          </a:xfrm>
          <a:prstGeom prst="rect">
            <a:avLst/>
          </a:prstGeom>
          <a:noFill/>
          <a:ln/>
        </p:spPr>
        <p:txBody>
          <a:bodyPr wrap="square" lIns="0" tIns="0" rIns="0" bIns="0" rtlCol="0" anchor="t"/>
          <a:lstStyle/>
          <a:p>
            <a:pPr marL="0" indent="0" algn="l">
              <a:lnSpc>
                <a:spcPts val="1103"/>
              </a:lnSpc>
              <a:buNone/>
            </a:pPr>
            <a:r>
              <a:rPr lang="en-US" sz="800" dirty="0">
                <a:solidFill>
                  <a:srgbClr val="334155"/>
                </a:solidFill>
                <a:latin typeface="Carlito" pitchFamily="34" charset="0"/>
                <a:ea typeface="Carlito" pitchFamily="34" charset="-122"/>
                <a:cs typeface="Carlito" pitchFamily="34" charset="-120"/>
              </a:rPr>
              <a:t>Checkov scans for security + compliance violations.</a:t>
            </a:r>
            <a:endParaRPr lang="en-US" sz="800" dirty="0"/>
          </a:p>
        </p:txBody>
      </p:sp>
      <p:sp>
        <p:nvSpPr>
          <p:cNvPr id="30" name="Text 28"/>
          <p:cNvSpPr/>
          <p:nvPr/>
        </p:nvSpPr>
        <p:spPr>
          <a:xfrm>
            <a:off x="5886450" y="1388678"/>
            <a:ext cx="171450" cy="2764743"/>
          </a:xfrm>
          <a:prstGeom prst="rect">
            <a:avLst/>
          </a:prstGeom>
          <a:noFill/>
          <a:ln/>
        </p:spPr>
        <p:txBody>
          <a:bodyPr wrap="none" lIns="0" tIns="0" rIns="0" bIns="0" rtlCol="0" anchor="ctr"/>
          <a:lstStyle/>
          <a:p>
            <a:pPr marL="0" indent="0" algn="ctr">
              <a:lnSpc>
                <a:spcPts val="2363"/>
              </a:lnSpc>
              <a:buNone/>
            </a:pPr>
            <a:r>
              <a:rPr lang="en-US" sz="1688" b="1" dirty="0">
                <a:solidFill>
                  <a:srgbClr val="F97316"/>
                </a:solidFill>
                <a:latin typeface="Carlito" pitchFamily="34" charset="0"/>
                <a:ea typeface="Carlito" pitchFamily="34" charset="-122"/>
                <a:cs typeface="Carlito" pitchFamily="34" charset="-120"/>
              </a:rPr>
              <a:t>›</a:t>
            </a:r>
            <a:endParaRPr lang="en-US" sz="1688" dirty="0"/>
          </a:p>
        </p:txBody>
      </p:sp>
      <p:sp>
        <p:nvSpPr>
          <p:cNvPr id="31" name="Text 29"/>
          <p:cNvSpPr/>
          <p:nvPr/>
        </p:nvSpPr>
        <p:spPr>
          <a:xfrm>
            <a:off x="6061472" y="1392250"/>
            <a:ext cx="1221581" cy="2757599"/>
          </a:xfrm>
          <a:prstGeom prst="roundRect">
            <a:avLst>
              <a:gd name="adj" fmla="val 10916"/>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32" name="Text 30"/>
          <p:cNvSpPr/>
          <p:nvPr/>
        </p:nvSpPr>
        <p:spPr>
          <a:xfrm>
            <a:off x="6165056" y="1524409"/>
            <a:ext cx="185738" cy="185738"/>
          </a:xfrm>
          <a:prstGeom prst="rect">
            <a:avLst/>
          </a:prstGeom>
          <a:noFill/>
          <a:ln/>
        </p:spPr>
        <p:txBody>
          <a:bodyPr wrap="none" lIns="0" tIns="0" rIns="0" bIns="0" rtlCol="0" anchor="ctr"/>
          <a:lstStyle/>
          <a:p>
            <a:pPr marL="0" indent="0" algn="ctr">
              <a:buNone/>
            </a:pPr>
            <a:r>
              <a:rPr lang="en-US" sz="1828" dirty="0">
                <a:solidFill>
                  <a:srgbClr val="F97316"/>
                </a:solidFill>
                <a:latin typeface="Segoe UI Symbol" pitchFamily="34" charset="0"/>
                <a:ea typeface="Segoe UI Symbol" pitchFamily="34" charset="-122"/>
                <a:cs typeface="Segoe UI Symbol" pitchFamily="34" charset="-120"/>
              </a:rPr>
              <a:t>⚗</a:t>
            </a:r>
            <a:endParaRPr lang="en-US" sz="1828" dirty="0"/>
          </a:p>
        </p:txBody>
      </p:sp>
      <p:sp>
        <p:nvSpPr>
          <p:cNvPr id="33" name="Text 31"/>
          <p:cNvSpPr/>
          <p:nvPr/>
        </p:nvSpPr>
        <p:spPr>
          <a:xfrm>
            <a:off x="6165056" y="1767297"/>
            <a:ext cx="1014412" cy="237606"/>
          </a:xfrm>
          <a:prstGeom prst="rect">
            <a:avLst/>
          </a:prstGeom>
          <a:noFill/>
          <a:ln/>
        </p:spPr>
        <p:txBody>
          <a:bodyPr wrap="none" lIns="0" tIns="0" rIns="0" bIns="0" rtlCol="0" anchor="t"/>
          <a:lstStyle/>
          <a:p>
            <a:pPr marL="0" indent="0" algn="l">
              <a:lnSpc>
                <a:spcPts val="1733"/>
              </a:lnSpc>
              <a:buNone/>
            </a:pPr>
            <a:r>
              <a:rPr lang="en-US" sz="1238" b="1" dirty="0">
                <a:solidFill>
                  <a:srgbClr val="F97316"/>
                </a:solidFill>
                <a:latin typeface="Liberation Sans Narrow" pitchFamily="34" charset="0"/>
                <a:ea typeface="Liberation Sans Narrow" pitchFamily="34" charset="-122"/>
                <a:cs typeface="Liberation Sans Narrow" pitchFamily="34" charset="-120"/>
              </a:rPr>
              <a:t>05</a:t>
            </a:r>
            <a:endParaRPr lang="en-US" sz="1238" dirty="0"/>
          </a:p>
        </p:txBody>
      </p:sp>
      <p:sp>
        <p:nvSpPr>
          <p:cNvPr id="34" name="Text 32"/>
          <p:cNvSpPr/>
          <p:nvPr/>
        </p:nvSpPr>
        <p:spPr>
          <a:xfrm>
            <a:off x="6165056" y="2044452"/>
            <a:ext cx="1014413" cy="157319"/>
          </a:xfrm>
          <a:prstGeom prst="rect">
            <a:avLst/>
          </a:prstGeom>
          <a:noFill/>
          <a:ln/>
        </p:spPr>
        <p:txBody>
          <a:bodyPr wrap="none" lIns="0" tIns="0" rIns="0" bIns="0" rtlCol="0" anchor="t"/>
          <a:lstStyle/>
          <a:p>
            <a:pPr marL="0" indent="0" algn="l">
              <a:lnSpc>
                <a:spcPts val="1148"/>
              </a:lnSpc>
              <a:buNone/>
            </a:pPr>
            <a:r>
              <a:rPr lang="en-US" sz="956" b="1" dirty="0">
                <a:solidFill>
                  <a:srgbClr val="0F172A"/>
                </a:solidFill>
                <a:latin typeface="Carlito" pitchFamily="34" charset="0"/>
                <a:ea typeface="Carlito" pitchFamily="34" charset="-122"/>
                <a:cs typeface="Carlito" pitchFamily="34" charset="-120"/>
              </a:rPr>
              <a:t>Test (Terratest)</a:t>
            </a:r>
            <a:endParaRPr lang="en-US" sz="956" dirty="0"/>
          </a:p>
        </p:txBody>
      </p:sp>
      <p:sp>
        <p:nvSpPr>
          <p:cNvPr id="35" name="Text 33"/>
          <p:cNvSpPr/>
          <p:nvPr/>
        </p:nvSpPr>
        <p:spPr>
          <a:xfrm>
            <a:off x="6165056" y="2247267"/>
            <a:ext cx="1075277" cy="460711"/>
          </a:xfrm>
          <a:prstGeom prst="rect">
            <a:avLst/>
          </a:prstGeom>
          <a:noFill/>
          <a:ln/>
        </p:spPr>
        <p:txBody>
          <a:bodyPr wrap="square" lIns="0" tIns="0" rIns="0" bIns="0" rtlCol="0" anchor="t"/>
          <a:lstStyle/>
          <a:p>
            <a:pPr marL="0" indent="0" algn="l">
              <a:lnSpc>
                <a:spcPts val="1103"/>
              </a:lnSpc>
              <a:buNone/>
            </a:pPr>
            <a:r>
              <a:rPr lang="en-US" sz="800" dirty="0">
                <a:solidFill>
                  <a:srgbClr val="334155"/>
                </a:solidFill>
                <a:latin typeface="Carlito" pitchFamily="34" charset="0"/>
                <a:ea typeface="Carlito" pitchFamily="34" charset="-122"/>
                <a:cs typeface="Carlito" pitchFamily="34" charset="-120"/>
              </a:rPr>
              <a:t>Terratest deploys to a sandbox and validates behaviour.</a:t>
            </a:r>
            <a:endParaRPr lang="en-US" sz="800" dirty="0"/>
          </a:p>
        </p:txBody>
      </p:sp>
      <p:sp>
        <p:nvSpPr>
          <p:cNvPr id="36" name="Text 34"/>
          <p:cNvSpPr/>
          <p:nvPr/>
        </p:nvSpPr>
        <p:spPr>
          <a:xfrm>
            <a:off x="7286625" y="1388678"/>
            <a:ext cx="171450" cy="2764743"/>
          </a:xfrm>
          <a:prstGeom prst="rect">
            <a:avLst/>
          </a:prstGeom>
          <a:noFill/>
          <a:ln/>
        </p:spPr>
        <p:txBody>
          <a:bodyPr wrap="none" lIns="0" tIns="0" rIns="0" bIns="0" rtlCol="0" anchor="ctr"/>
          <a:lstStyle/>
          <a:p>
            <a:pPr marL="0" indent="0" algn="ctr">
              <a:lnSpc>
                <a:spcPts val="2363"/>
              </a:lnSpc>
              <a:buNone/>
            </a:pPr>
            <a:r>
              <a:rPr lang="en-US" sz="1688" b="1" dirty="0">
                <a:solidFill>
                  <a:srgbClr val="F97316"/>
                </a:solidFill>
                <a:latin typeface="Carlito" pitchFamily="34" charset="0"/>
                <a:ea typeface="Carlito" pitchFamily="34" charset="-122"/>
                <a:cs typeface="Carlito" pitchFamily="34" charset="-120"/>
              </a:rPr>
              <a:t>›</a:t>
            </a:r>
            <a:endParaRPr lang="en-US" sz="1688" dirty="0"/>
          </a:p>
        </p:txBody>
      </p:sp>
      <p:sp>
        <p:nvSpPr>
          <p:cNvPr id="37" name="Text 35"/>
          <p:cNvSpPr/>
          <p:nvPr/>
        </p:nvSpPr>
        <p:spPr>
          <a:xfrm>
            <a:off x="7461647" y="1392250"/>
            <a:ext cx="1221581" cy="2757599"/>
          </a:xfrm>
          <a:prstGeom prst="roundRect">
            <a:avLst>
              <a:gd name="adj" fmla="val 10916"/>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38" name="Text 36"/>
          <p:cNvSpPr/>
          <p:nvPr/>
        </p:nvSpPr>
        <p:spPr>
          <a:xfrm>
            <a:off x="7565231" y="1524409"/>
            <a:ext cx="185738" cy="185738"/>
          </a:xfrm>
          <a:prstGeom prst="rect">
            <a:avLst/>
          </a:prstGeom>
          <a:noFill/>
          <a:ln/>
        </p:spPr>
        <p:txBody>
          <a:bodyPr wrap="none" lIns="0" tIns="0" rIns="0" bIns="0" rtlCol="0" anchor="ctr"/>
          <a:lstStyle/>
          <a:p>
            <a:pPr marL="0" indent="0" algn="ctr">
              <a:buNone/>
            </a:pPr>
            <a:r>
              <a:rPr lang="en-US" sz="1828" dirty="0">
                <a:solidFill>
                  <a:srgbClr val="F97316"/>
                </a:solidFill>
                <a:latin typeface="Segoe UI Symbol" pitchFamily="34" charset="0"/>
                <a:ea typeface="Segoe UI Symbol" pitchFamily="34" charset="-122"/>
                <a:cs typeface="Segoe UI Symbol" pitchFamily="34" charset="-120"/>
              </a:rPr>
              <a:t>✓</a:t>
            </a:r>
            <a:endParaRPr lang="en-US" sz="1828" dirty="0"/>
          </a:p>
        </p:txBody>
      </p:sp>
      <p:sp>
        <p:nvSpPr>
          <p:cNvPr id="39" name="Text 37"/>
          <p:cNvSpPr/>
          <p:nvPr/>
        </p:nvSpPr>
        <p:spPr>
          <a:xfrm>
            <a:off x="7565231" y="1767297"/>
            <a:ext cx="1014412" cy="237606"/>
          </a:xfrm>
          <a:prstGeom prst="rect">
            <a:avLst/>
          </a:prstGeom>
          <a:noFill/>
          <a:ln/>
        </p:spPr>
        <p:txBody>
          <a:bodyPr wrap="none" lIns="0" tIns="0" rIns="0" bIns="0" rtlCol="0" anchor="t"/>
          <a:lstStyle/>
          <a:p>
            <a:pPr marL="0" indent="0" algn="l">
              <a:lnSpc>
                <a:spcPts val="1733"/>
              </a:lnSpc>
              <a:buNone/>
            </a:pPr>
            <a:r>
              <a:rPr lang="en-US" sz="1238" b="1" dirty="0">
                <a:solidFill>
                  <a:srgbClr val="F97316"/>
                </a:solidFill>
                <a:latin typeface="Liberation Sans Narrow" pitchFamily="34" charset="0"/>
                <a:ea typeface="Liberation Sans Narrow" pitchFamily="34" charset="-122"/>
                <a:cs typeface="Liberation Sans Narrow" pitchFamily="34" charset="-120"/>
              </a:rPr>
              <a:t>06</a:t>
            </a:r>
            <a:endParaRPr lang="en-US" sz="1238" dirty="0"/>
          </a:p>
        </p:txBody>
      </p:sp>
      <p:sp>
        <p:nvSpPr>
          <p:cNvPr id="40" name="Text 38"/>
          <p:cNvSpPr/>
          <p:nvPr/>
        </p:nvSpPr>
        <p:spPr>
          <a:xfrm>
            <a:off x="7554638" y="2044452"/>
            <a:ext cx="1035599" cy="157319"/>
          </a:xfrm>
          <a:prstGeom prst="rect">
            <a:avLst/>
          </a:prstGeom>
          <a:noFill/>
          <a:ln/>
        </p:spPr>
        <p:txBody>
          <a:bodyPr wrap="none" lIns="0" tIns="0" rIns="0" bIns="0" rtlCol="0" anchor="t"/>
          <a:lstStyle/>
          <a:p>
            <a:pPr marL="0" indent="0" algn="l">
              <a:lnSpc>
                <a:spcPts val="1148"/>
              </a:lnSpc>
              <a:buNone/>
            </a:pPr>
            <a:r>
              <a:rPr lang="en-US" sz="956" b="1" dirty="0">
                <a:solidFill>
                  <a:srgbClr val="0F172A"/>
                </a:solidFill>
                <a:latin typeface="Carlito" pitchFamily="34" charset="0"/>
                <a:ea typeface="Carlito" pitchFamily="34" charset="-122"/>
                <a:cs typeface="Carlito" pitchFamily="34" charset="-120"/>
              </a:rPr>
              <a:t>Review + Apply</a:t>
            </a:r>
            <a:endParaRPr lang="en-US" sz="956" dirty="0"/>
          </a:p>
        </p:txBody>
      </p:sp>
      <p:sp>
        <p:nvSpPr>
          <p:cNvPr id="41" name="Text 39"/>
          <p:cNvSpPr/>
          <p:nvPr/>
        </p:nvSpPr>
        <p:spPr>
          <a:xfrm>
            <a:off x="7565231" y="2247267"/>
            <a:ext cx="1075277" cy="460711"/>
          </a:xfrm>
          <a:prstGeom prst="rect">
            <a:avLst/>
          </a:prstGeom>
          <a:noFill/>
          <a:ln/>
        </p:spPr>
        <p:txBody>
          <a:bodyPr wrap="square" lIns="0" tIns="0" rIns="0" bIns="0" rtlCol="0" anchor="t"/>
          <a:lstStyle/>
          <a:p>
            <a:pPr marL="0" indent="0" algn="l">
              <a:lnSpc>
                <a:spcPts val="1103"/>
              </a:lnSpc>
              <a:buNone/>
            </a:pPr>
            <a:r>
              <a:rPr lang="en-US" sz="800" dirty="0">
                <a:solidFill>
                  <a:srgbClr val="334155"/>
                </a:solidFill>
                <a:latin typeface="Carlito" pitchFamily="34" charset="0"/>
                <a:ea typeface="Carlito" pitchFamily="34" charset="-122"/>
                <a:cs typeface="Carlito" pitchFamily="34" charset="-120"/>
              </a:rPr>
              <a:t>Human reviews. CI runs terraform apply on merge.</a:t>
            </a:r>
            <a:endParaRPr lang="en-US" sz="800" dirty="0"/>
          </a:p>
        </p:txBody>
      </p:sp>
      <p:sp>
        <p:nvSpPr>
          <p:cNvPr id="42" name="Text 40"/>
          <p:cNvSpPr/>
          <p:nvPr/>
        </p:nvSpPr>
        <p:spPr>
          <a:xfrm>
            <a:off x="457200" y="4296296"/>
            <a:ext cx="8229600" cy="390004"/>
          </a:xfrm>
          <a:prstGeom prst="roundRect">
            <a:avLst>
              <a:gd name="adj" fmla="val 19538"/>
            </a:avLst>
          </a:prstGeom>
          <a:solidFill>
            <a:srgbClr val="FFF7ED"/>
          </a:solidFill>
          <a:ln/>
        </p:spPr>
        <p:txBody>
          <a:bodyPr wrap="square" rtlCol="0" anchor="ctr"/>
          <a:lstStyle/>
          <a:p>
            <a:pPr marL="0" indent="0">
              <a:buNone/>
            </a:pPr>
            <a:endParaRPr lang="en-US" dirty="0"/>
          </a:p>
        </p:txBody>
      </p:sp>
      <p:sp>
        <p:nvSpPr>
          <p:cNvPr id="43" name="Shape 41"/>
          <p:cNvSpPr/>
          <p:nvPr/>
        </p:nvSpPr>
        <p:spPr>
          <a:xfrm>
            <a:off x="478631" y="4296296"/>
            <a:ext cx="0" cy="390004"/>
          </a:xfrm>
          <a:prstGeom prst="line">
            <a:avLst/>
          </a:prstGeom>
          <a:noFill/>
          <a:ln w="42863">
            <a:solidFill>
              <a:srgbClr val="F97316"/>
            </a:solidFill>
            <a:prstDash val="solid"/>
          </a:ln>
        </p:spPr>
      </p:sp>
      <p:sp>
        <p:nvSpPr>
          <p:cNvPr id="44" name="Text 42"/>
          <p:cNvSpPr/>
          <p:nvPr/>
        </p:nvSpPr>
        <p:spPr>
          <a:xfrm>
            <a:off x="657225" y="4396308"/>
            <a:ext cx="7872413" cy="189979"/>
          </a:xfrm>
          <a:prstGeom prst="rect">
            <a:avLst/>
          </a:prstGeom>
          <a:noFill/>
          <a:ln/>
        </p:spPr>
        <p:txBody>
          <a:bodyPr wrap="square" lIns="0" tIns="0" rIns="0" bIns="0" rtlCol="0" anchor="t"/>
          <a:lstStyle/>
          <a:p>
            <a:pPr marL="0" indent="0" algn="l">
              <a:lnSpc>
                <a:spcPts val="1496"/>
              </a:lnSpc>
              <a:buNone/>
            </a:pPr>
            <a:r>
              <a:rPr lang="en-US" sz="1069" b="1" dirty="0">
                <a:solidFill>
                  <a:srgbClr val="C2410C"/>
                </a:solidFill>
                <a:latin typeface="Segoe UI Symbol" pitchFamily="34" charset="0"/>
                <a:ea typeface="Segoe UI Symbol" pitchFamily="34" charset="-122"/>
                <a:cs typeface="Segoe UI Symbol" pitchFamily="34" charset="-120"/>
              </a:rPr>
              <a:t>◆</a:t>
            </a:r>
            <a:r>
              <a:rPr lang="en-US" sz="1069" b="1" dirty="0">
                <a:solidFill>
                  <a:srgbClr val="C2410C"/>
                </a:solidFill>
                <a:latin typeface="Carlito" pitchFamily="34" charset="0"/>
                <a:ea typeface="Carlito" pitchFamily="34" charset="-122"/>
                <a:cs typeface="Carlito" pitchFamily="34" charset="-120"/>
              </a:rPr>
              <a:t> Each stage is automated. The LLM accelerates stage 02 — and explains failures in stages 03, 04, 05 in natural language.</a:t>
            </a:r>
            <a:endParaRPr lang="en-US" sz="1069"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4714261" cy="373346"/>
          </a:xfrm>
          <a:prstGeom prst="rect">
            <a:avLst/>
          </a:prstGeom>
          <a:noFill/>
          <a:ln/>
        </p:spPr>
        <p:txBody>
          <a:bodyPr wrap="square" lIns="0" tIns="0" rIns="0" bIns="0" rtlCol="0" anchor="t"/>
          <a:lstStyle/>
          <a:p>
            <a:pPr marL="0" indent="0" algn="l">
              <a:lnSpc>
                <a:spcPts val="2723"/>
              </a:lnSpc>
              <a:buNone/>
            </a:pPr>
            <a:r>
              <a:rPr lang="en-US" sz="2475" b="1" kern="0" spc="-28" dirty="0">
                <a:solidFill>
                  <a:srgbClr val="0F172A"/>
                </a:solidFill>
                <a:latin typeface="Carlito" pitchFamily="34" charset="0"/>
                <a:ea typeface="Carlito" pitchFamily="34" charset="-122"/>
                <a:cs typeface="Carlito" pitchFamily="34" charset="-120"/>
              </a:rPr>
              <a:t>Terraform Basics — HCL Syntax</a:t>
            </a:r>
            <a:endParaRPr lang="en-US" sz="2475" dirty="0"/>
          </a:p>
        </p:txBody>
      </p:sp>
      <p:sp>
        <p:nvSpPr>
          <p:cNvPr id="3" name="Text 1"/>
          <p:cNvSpPr/>
          <p:nvPr/>
        </p:nvSpPr>
        <p:spPr>
          <a:xfrm>
            <a:off x="457200" y="888616"/>
            <a:ext cx="571500" cy="42863"/>
          </a:xfrm>
          <a:prstGeom prst="roundRect">
            <a:avLst>
              <a:gd name="adj" fmla="val 66666"/>
            </a:avLst>
          </a:prstGeom>
          <a:solidFill>
            <a:srgbClr val="F97316"/>
          </a:solidFill>
          <a:ln/>
        </p:spPr>
        <p:txBody>
          <a:bodyPr wrap="square" rtlCol="0" anchor="ctr"/>
          <a:lstStyle/>
          <a:p>
            <a:pPr marL="0" indent="0">
              <a:buNone/>
            </a:pPr>
            <a:endParaRPr lang="en-US" dirty="0"/>
          </a:p>
        </p:txBody>
      </p:sp>
      <p:sp>
        <p:nvSpPr>
          <p:cNvPr id="4" name="Text 2"/>
          <p:cNvSpPr/>
          <p:nvPr/>
        </p:nvSpPr>
        <p:spPr>
          <a:xfrm>
            <a:off x="7260751" y="528672"/>
            <a:ext cx="1448909" cy="331333"/>
          </a:xfrm>
          <a:prstGeom prst="roundRect">
            <a:avLst>
              <a:gd name="adj" fmla="val 2871877"/>
            </a:avLst>
          </a:prstGeom>
          <a:solidFill>
            <a:srgbClr val="FED7AA"/>
          </a:solidFill>
          <a:ln/>
        </p:spPr>
        <p:txBody>
          <a:bodyPr wrap="square" rtlCol="0" anchor="ctr"/>
          <a:lstStyle/>
          <a:p>
            <a:pPr marL="0" indent="0">
              <a:buNone/>
            </a:pPr>
            <a:endParaRPr lang="en-US" dirty="0"/>
          </a:p>
        </p:txBody>
      </p:sp>
      <p:sp>
        <p:nvSpPr>
          <p:cNvPr id="5" name="Text 3"/>
          <p:cNvSpPr/>
          <p:nvPr/>
        </p:nvSpPr>
        <p:spPr>
          <a:xfrm>
            <a:off x="7221459" y="541474"/>
            <a:ext cx="1527494" cy="305730"/>
          </a:xfrm>
          <a:prstGeom prst="rect">
            <a:avLst/>
          </a:prstGeom>
          <a:noFill/>
          <a:ln/>
        </p:spPr>
        <p:txBody>
          <a:bodyPr wrap="none" lIns="0" tIns="0" rIns="0" bIns="0" rtlCol="0" anchor="ctr"/>
          <a:lstStyle/>
          <a:p>
            <a:pPr marL="0" indent="0" algn="ctr">
              <a:lnSpc>
                <a:spcPts val="1733"/>
              </a:lnSpc>
              <a:buNone/>
            </a:pPr>
            <a:r>
              <a:rPr lang="en-US" sz="1238" b="1" kern="0" spc="28" dirty="0">
                <a:solidFill>
                  <a:srgbClr val="C2410C"/>
                </a:solidFill>
                <a:latin typeface="Liberation Sans Narrow" pitchFamily="34" charset="0"/>
                <a:ea typeface="Liberation Sans Narrow" pitchFamily="34" charset="-122"/>
                <a:cs typeface="Liberation Sans Narrow" pitchFamily="34" charset="-120"/>
              </a:rPr>
              <a:t>SECTION C · 3.6</a:t>
            </a:r>
            <a:endParaRPr lang="en-US" sz="1238" dirty="0"/>
          </a:p>
        </p:txBody>
      </p:sp>
      <p:sp>
        <p:nvSpPr>
          <p:cNvPr id="6" name="Text 4"/>
          <p:cNvSpPr/>
          <p:nvPr/>
        </p:nvSpPr>
        <p:spPr>
          <a:xfrm>
            <a:off x="460772" y="1049350"/>
            <a:ext cx="4519092" cy="3377654"/>
          </a:xfrm>
          <a:prstGeom prst="roundRect">
            <a:avLst>
              <a:gd name="adj" fmla="val 3948"/>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7" name="Shape 5"/>
          <p:cNvSpPr/>
          <p:nvPr/>
        </p:nvSpPr>
        <p:spPr>
          <a:xfrm>
            <a:off x="621506" y="1812280"/>
            <a:ext cx="4197623" cy="0"/>
          </a:xfrm>
          <a:prstGeom prst="line">
            <a:avLst/>
          </a:prstGeom>
          <a:noFill/>
          <a:ln w="7144">
            <a:solidFill>
              <a:srgbClr val="CBD5E1"/>
            </a:solidFill>
            <a:prstDash val="dash"/>
          </a:ln>
        </p:spPr>
      </p:sp>
      <p:sp>
        <p:nvSpPr>
          <p:cNvPr id="8" name="Text 6"/>
          <p:cNvSpPr/>
          <p:nvPr/>
        </p:nvSpPr>
        <p:spPr>
          <a:xfrm>
            <a:off x="621506" y="1252947"/>
            <a:ext cx="434340" cy="484324"/>
          </a:xfrm>
          <a:prstGeom prst="rect">
            <a:avLst/>
          </a:prstGeom>
          <a:noFill/>
          <a:ln/>
        </p:spPr>
        <p:txBody>
          <a:bodyPr wrap="none" lIns="0" tIns="0" rIns="0" bIns="0" rtlCol="0" anchor="t"/>
          <a:lstStyle/>
          <a:p>
            <a:pPr marL="0" indent="0" algn="l">
              <a:lnSpc>
                <a:spcPts val="1463"/>
              </a:lnSpc>
              <a:buNone/>
            </a:pPr>
            <a:r>
              <a:rPr lang="en-US" sz="1463" b="1" dirty="0">
                <a:solidFill>
                  <a:srgbClr val="F97316"/>
                </a:solidFill>
                <a:latin typeface="Liberation Sans Narrow" pitchFamily="34" charset="0"/>
                <a:ea typeface="Liberation Sans Narrow" pitchFamily="34" charset="-122"/>
                <a:cs typeface="Liberation Sans Narrow" pitchFamily="34" charset="-120"/>
              </a:rPr>
              <a:t>01</a:t>
            </a:r>
            <a:endParaRPr lang="en-US" sz="1463" dirty="0"/>
          </a:p>
        </p:txBody>
      </p:sp>
      <p:sp>
        <p:nvSpPr>
          <p:cNvPr id="9" name="Text 7"/>
          <p:cNvSpPr/>
          <p:nvPr/>
        </p:nvSpPr>
        <p:spPr>
          <a:xfrm>
            <a:off x="992981" y="1252947"/>
            <a:ext cx="3826148" cy="156854"/>
          </a:xfrm>
          <a:prstGeom prst="rect">
            <a:avLst/>
          </a:prstGeom>
          <a:noFill/>
          <a:ln/>
        </p:spPr>
        <p:txBody>
          <a:bodyPr wrap="none" lIns="0" tIns="0" rIns="0" bIns="0" rtlCol="0" anchor="t">
            <a:normAutofit fontScale="92500"/>
          </a:bodyPr>
          <a:lstStyle/>
          <a:p>
            <a:pPr marL="0" indent="0" algn="l">
              <a:lnSpc>
                <a:spcPts val="1283"/>
              </a:lnSpc>
              <a:buNone/>
            </a:pPr>
            <a:r>
              <a:rPr lang="en-US" sz="1069" b="1" dirty="0">
                <a:solidFill>
                  <a:srgbClr val="0F172A"/>
                </a:solidFill>
                <a:latin typeface="Carlito" pitchFamily="34" charset="0"/>
                <a:ea typeface="Carlito" pitchFamily="34" charset="-122"/>
                <a:cs typeface="Carlito" pitchFamily="34" charset="-120"/>
              </a:rPr>
              <a:t>provider Block</a:t>
            </a:r>
            <a:endParaRPr lang="en-US" sz="1069" dirty="0"/>
          </a:p>
        </p:txBody>
      </p:sp>
      <p:sp>
        <p:nvSpPr>
          <p:cNvPr id="10" name="Text 8"/>
          <p:cNvSpPr/>
          <p:nvPr/>
        </p:nvSpPr>
        <p:spPr>
          <a:xfrm>
            <a:off x="992981" y="1437233"/>
            <a:ext cx="3826148" cy="300038"/>
          </a:xfrm>
          <a:prstGeom prst="rect">
            <a:avLst/>
          </a:prstGeom>
          <a:noFill/>
          <a:ln/>
        </p:spPr>
        <p:txBody>
          <a:bodyPr wrap="square" lIns="0" tIns="0" rIns="0" bIns="0" rtlCol="0" anchor="t"/>
          <a:lstStyle/>
          <a:p>
            <a:pPr marL="0" indent="0" algn="l">
              <a:lnSpc>
                <a:spcPts val="1181"/>
              </a:lnSpc>
              <a:buNone/>
            </a:pPr>
            <a:r>
              <a:rPr lang="en-US" sz="844" dirty="0">
                <a:solidFill>
                  <a:srgbClr val="334155"/>
                </a:solidFill>
                <a:latin typeface="Carlito" pitchFamily="34" charset="0"/>
                <a:ea typeface="Carlito" pitchFamily="34" charset="-122"/>
                <a:cs typeface="Carlito" pitchFamily="34" charset="-120"/>
              </a:rPr>
              <a:t>Declares which cloud provider to use (aws, azurerm, google). Configures credentials and region.</a:t>
            </a:r>
            <a:endParaRPr lang="en-US" sz="844" dirty="0"/>
          </a:p>
        </p:txBody>
      </p:sp>
      <p:sp>
        <p:nvSpPr>
          <p:cNvPr id="11" name="Shape 9"/>
          <p:cNvSpPr/>
          <p:nvPr/>
        </p:nvSpPr>
        <p:spPr>
          <a:xfrm>
            <a:off x="621506" y="2446623"/>
            <a:ext cx="4197623" cy="0"/>
          </a:xfrm>
          <a:prstGeom prst="line">
            <a:avLst/>
          </a:prstGeom>
          <a:noFill/>
          <a:ln w="7144">
            <a:solidFill>
              <a:srgbClr val="CBD5E1"/>
            </a:solidFill>
            <a:prstDash val="dash"/>
          </a:ln>
        </p:spPr>
      </p:sp>
      <p:sp>
        <p:nvSpPr>
          <p:cNvPr id="12" name="Text 10"/>
          <p:cNvSpPr/>
          <p:nvPr/>
        </p:nvSpPr>
        <p:spPr>
          <a:xfrm>
            <a:off x="621506" y="1887289"/>
            <a:ext cx="434340" cy="484324"/>
          </a:xfrm>
          <a:prstGeom prst="rect">
            <a:avLst/>
          </a:prstGeom>
          <a:noFill/>
          <a:ln/>
        </p:spPr>
        <p:txBody>
          <a:bodyPr wrap="none" lIns="0" tIns="0" rIns="0" bIns="0" rtlCol="0" anchor="t"/>
          <a:lstStyle/>
          <a:p>
            <a:pPr marL="0" indent="0" algn="l">
              <a:lnSpc>
                <a:spcPts val="1463"/>
              </a:lnSpc>
              <a:buNone/>
            </a:pPr>
            <a:r>
              <a:rPr lang="en-US" sz="1463" b="1" dirty="0">
                <a:solidFill>
                  <a:srgbClr val="F97316"/>
                </a:solidFill>
                <a:latin typeface="Liberation Sans Narrow" pitchFamily="34" charset="0"/>
                <a:ea typeface="Liberation Sans Narrow" pitchFamily="34" charset="-122"/>
                <a:cs typeface="Liberation Sans Narrow" pitchFamily="34" charset="-120"/>
              </a:rPr>
              <a:t>02</a:t>
            </a:r>
            <a:endParaRPr lang="en-US" sz="1463" dirty="0"/>
          </a:p>
        </p:txBody>
      </p:sp>
      <p:sp>
        <p:nvSpPr>
          <p:cNvPr id="13" name="Text 11"/>
          <p:cNvSpPr/>
          <p:nvPr/>
        </p:nvSpPr>
        <p:spPr>
          <a:xfrm>
            <a:off x="992981" y="1887289"/>
            <a:ext cx="3826148" cy="156854"/>
          </a:xfrm>
          <a:prstGeom prst="rect">
            <a:avLst/>
          </a:prstGeom>
          <a:noFill/>
          <a:ln/>
        </p:spPr>
        <p:txBody>
          <a:bodyPr wrap="none" lIns="0" tIns="0" rIns="0" bIns="0" rtlCol="0" anchor="t">
            <a:normAutofit fontScale="85000" lnSpcReduction="10000"/>
          </a:bodyPr>
          <a:lstStyle/>
          <a:p>
            <a:pPr marL="0" indent="0" algn="l">
              <a:lnSpc>
                <a:spcPts val="1283"/>
              </a:lnSpc>
              <a:buNone/>
            </a:pPr>
            <a:r>
              <a:rPr lang="en-US" sz="1069" b="1" dirty="0">
                <a:solidFill>
                  <a:srgbClr val="0F172A"/>
                </a:solidFill>
                <a:latin typeface="Carlito" pitchFamily="34" charset="0"/>
                <a:ea typeface="Carlito" pitchFamily="34" charset="-122"/>
                <a:cs typeface="Carlito" pitchFamily="34" charset="-120"/>
              </a:rPr>
              <a:t>resource Block</a:t>
            </a:r>
            <a:endParaRPr lang="en-US" sz="1069" dirty="0"/>
          </a:p>
        </p:txBody>
      </p:sp>
      <p:sp>
        <p:nvSpPr>
          <p:cNvPr id="14" name="Text 12"/>
          <p:cNvSpPr/>
          <p:nvPr/>
        </p:nvSpPr>
        <p:spPr>
          <a:xfrm>
            <a:off x="992981" y="2071576"/>
            <a:ext cx="3826148" cy="300038"/>
          </a:xfrm>
          <a:prstGeom prst="rect">
            <a:avLst/>
          </a:prstGeom>
          <a:noFill/>
          <a:ln/>
        </p:spPr>
        <p:txBody>
          <a:bodyPr wrap="square" lIns="0" tIns="0" rIns="0" bIns="0" rtlCol="0" anchor="t"/>
          <a:lstStyle/>
          <a:p>
            <a:pPr marL="0" indent="0" algn="l">
              <a:lnSpc>
                <a:spcPts val="1181"/>
              </a:lnSpc>
              <a:buNone/>
            </a:pPr>
            <a:r>
              <a:rPr lang="en-US" sz="844" dirty="0">
                <a:solidFill>
                  <a:srgbClr val="334155"/>
                </a:solidFill>
                <a:latin typeface="Carlito" pitchFamily="34" charset="0"/>
                <a:ea typeface="Carlito" pitchFamily="34" charset="-122"/>
                <a:cs typeface="Carlito" pitchFamily="34" charset="-120"/>
              </a:rPr>
              <a:t>Declares a single piece of infrastructure — an EC2 instance, an S3 bucket, an IAM role. Most of your code is resource blocks.</a:t>
            </a:r>
            <a:endParaRPr lang="en-US" sz="844" dirty="0"/>
          </a:p>
        </p:txBody>
      </p:sp>
      <p:sp>
        <p:nvSpPr>
          <p:cNvPr id="15" name="Shape 13"/>
          <p:cNvSpPr/>
          <p:nvPr/>
        </p:nvSpPr>
        <p:spPr>
          <a:xfrm>
            <a:off x="621506" y="3080965"/>
            <a:ext cx="4197623" cy="0"/>
          </a:xfrm>
          <a:prstGeom prst="line">
            <a:avLst/>
          </a:prstGeom>
          <a:noFill/>
          <a:ln w="7144">
            <a:solidFill>
              <a:srgbClr val="CBD5E1"/>
            </a:solidFill>
            <a:prstDash val="dash"/>
          </a:ln>
        </p:spPr>
      </p:sp>
      <p:sp>
        <p:nvSpPr>
          <p:cNvPr id="16" name="Text 14"/>
          <p:cNvSpPr/>
          <p:nvPr/>
        </p:nvSpPr>
        <p:spPr>
          <a:xfrm>
            <a:off x="621506" y="2521632"/>
            <a:ext cx="434340" cy="484324"/>
          </a:xfrm>
          <a:prstGeom prst="rect">
            <a:avLst/>
          </a:prstGeom>
          <a:noFill/>
          <a:ln/>
        </p:spPr>
        <p:txBody>
          <a:bodyPr wrap="none" lIns="0" tIns="0" rIns="0" bIns="0" rtlCol="0" anchor="t"/>
          <a:lstStyle/>
          <a:p>
            <a:pPr marL="0" indent="0" algn="l">
              <a:lnSpc>
                <a:spcPts val="1463"/>
              </a:lnSpc>
              <a:buNone/>
            </a:pPr>
            <a:r>
              <a:rPr lang="en-US" sz="1463" b="1" dirty="0">
                <a:solidFill>
                  <a:srgbClr val="F97316"/>
                </a:solidFill>
                <a:latin typeface="Liberation Sans Narrow" pitchFamily="34" charset="0"/>
                <a:ea typeface="Liberation Sans Narrow" pitchFamily="34" charset="-122"/>
                <a:cs typeface="Liberation Sans Narrow" pitchFamily="34" charset="-120"/>
              </a:rPr>
              <a:t>03</a:t>
            </a:r>
            <a:endParaRPr lang="en-US" sz="1463" dirty="0"/>
          </a:p>
        </p:txBody>
      </p:sp>
      <p:sp>
        <p:nvSpPr>
          <p:cNvPr id="17" name="Text 15"/>
          <p:cNvSpPr/>
          <p:nvPr/>
        </p:nvSpPr>
        <p:spPr>
          <a:xfrm>
            <a:off x="992981" y="2521632"/>
            <a:ext cx="3826148" cy="156854"/>
          </a:xfrm>
          <a:prstGeom prst="rect">
            <a:avLst/>
          </a:prstGeom>
          <a:noFill/>
          <a:ln/>
        </p:spPr>
        <p:txBody>
          <a:bodyPr wrap="none" lIns="0" tIns="0" rIns="0" bIns="0" rtlCol="0" anchor="t">
            <a:normAutofit fontScale="92500"/>
          </a:bodyPr>
          <a:lstStyle/>
          <a:p>
            <a:pPr marL="0" indent="0" algn="l">
              <a:lnSpc>
                <a:spcPts val="1283"/>
              </a:lnSpc>
              <a:buNone/>
            </a:pPr>
            <a:r>
              <a:rPr lang="en-US" sz="1069" b="1" dirty="0">
                <a:solidFill>
                  <a:srgbClr val="0F172A"/>
                </a:solidFill>
                <a:latin typeface="Carlito" pitchFamily="34" charset="0"/>
                <a:ea typeface="Carlito" pitchFamily="34" charset="-122"/>
                <a:cs typeface="Carlito" pitchFamily="34" charset="-120"/>
              </a:rPr>
              <a:t>variable Block</a:t>
            </a:r>
            <a:endParaRPr lang="en-US" sz="1069" dirty="0"/>
          </a:p>
        </p:txBody>
      </p:sp>
      <p:sp>
        <p:nvSpPr>
          <p:cNvPr id="18" name="Text 16"/>
          <p:cNvSpPr/>
          <p:nvPr/>
        </p:nvSpPr>
        <p:spPr>
          <a:xfrm>
            <a:off x="992981" y="2705919"/>
            <a:ext cx="3826148" cy="300038"/>
          </a:xfrm>
          <a:prstGeom prst="rect">
            <a:avLst/>
          </a:prstGeom>
          <a:noFill/>
          <a:ln/>
        </p:spPr>
        <p:txBody>
          <a:bodyPr wrap="square" lIns="0" tIns="0" rIns="0" bIns="0" rtlCol="0" anchor="t"/>
          <a:lstStyle/>
          <a:p>
            <a:pPr marL="0" indent="0" algn="l">
              <a:lnSpc>
                <a:spcPts val="1181"/>
              </a:lnSpc>
              <a:buNone/>
            </a:pPr>
            <a:r>
              <a:rPr lang="en-US" sz="844" dirty="0">
                <a:solidFill>
                  <a:srgbClr val="334155"/>
                </a:solidFill>
                <a:latin typeface="Carlito" pitchFamily="34" charset="0"/>
                <a:ea typeface="Carlito" pitchFamily="34" charset="-122"/>
                <a:cs typeface="Carlito" pitchFamily="34" charset="-120"/>
              </a:rPr>
              <a:t>Input parameters. Make modules reusable. Default values, types, descriptions, validation.</a:t>
            </a:r>
            <a:endParaRPr lang="en-US" sz="844" dirty="0"/>
          </a:p>
        </p:txBody>
      </p:sp>
      <p:sp>
        <p:nvSpPr>
          <p:cNvPr id="19" name="Text 17"/>
          <p:cNvSpPr/>
          <p:nvPr/>
        </p:nvSpPr>
        <p:spPr>
          <a:xfrm>
            <a:off x="621506" y="3155975"/>
            <a:ext cx="434340" cy="523070"/>
          </a:xfrm>
          <a:prstGeom prst="rect">
            <a:avLst/>
          </a:prstGeom>
          <a:noFill/>
          <a:ln/>
        </p:spPr>
        <p:txBody>
          <a:bodyPr wrap="none" lIns="0" tIns="0" rIns="0" bIns="0" rtlCol="0" anchor="t"/>
          <a:lstStyle/>
          <a:p>
            <a:pPr marL="0" indent="0" algn="l">
              <a:lnSpc>
                <a:spcPts val="1463"/>
              </a:lnSpc>
              <a:buNone/>
            </a:pPr>
            <a:r>
              <a:rPr lang="en-US" sz="1463" b="1" dirty="0">
                <a:solidFill>
                  <a:srgbClr val="F97316"/>
                </a:solidFill>
                <a:latin typeface="Liberation Sans Narrow" pitchFamily="34" charset="0"/>
                <a:ea typeface="Liberation Sans Narrow" pitchFamily="34" charset="-122"/>
                <a:cs typeface="Liberation Sans Narrow" pitchFamily="34" charset="-120"/>
              </a:rPr>
              <a:t>04</a:t>
            </a:r>
            <a:endParaRPr lang="en-US" sz="1463" dirty="0"/>
          </a:p>
        </p:txBody>
      </p:sp>
      <p:sp>
        <p:nvSpPr>
          <p:cNvPr id="20" name="Text 18"/>
          <p:cNvSpPr/>
          <p:nvPr/>
        </p:nvSpPr>
        <p:spPr>
          <a:xfrm>
            <a:off x="992981" y="3155975"/>
            <a:ext cx="3826148" cy="156854"/>
          </a:xfrm>
          <a:prstGeom prst="rect">
            <a:avLst/>
          </a:prstGeom>
          <a:noFill/>
          <a:ln/>
        </p:spPr>
        <p:txBody>
          <a:bodyPr wrap="none" lIns="0" tIns="0" rIns="0" bIns="0" rtlCol="0" anchor="t">
            <a:normAutofit fontScale="85000" lnSpcReduction="10000"/>
          </a:bodyPr>
          <a:lstStyle/>
          <a:p>
            <a:pPr marL="0" indent="0" algn="l">
              <a:lnSpc>
                <a:spcPts val="1283"/>
              </a:lnSpc>
              <a:buNone/>
            </a:pPr>
            <a:r>
              <a:rPr lang="en-US" sz="1069" b="1" dirty="0">
                <a:solidFill>
                  <a:srgbClr val="0F172A"/>
                </a:solidFill>
                <a:latin typeface="Carlito" pitchFamily="34" charset="0"/>
                <a:ea typeface="Carlito" pitchFamily="34" charset="-122"/>
                <a:cs typeface="Carlito" pitchFamily="34" charset="-120"/>
              </a:rPr>
              <a:t>output Block</a:t>
            </a:r>
            <a:endParaRPr lang="en-US" sz="1069" dirty="0"/>
          </a:p>
        </p:txBody>
      </p:sp>
      <p:sp>
        <p:nvSpPr>
          <p:cNvPr id="21" name="Text 19"/>
          <p:cNvSpPr/>
          <p:nvPr/>
        </p:nvSpPr>
        <p:spPr>
          <a:xfrm>
            <a:off x="992981" y="3340261"/>
            <a:ext cx="3826148" cy="324041"/>
          </a:xfrm>
          <a:prstGeom prst="rect">
            <a:avLst/>
          </a:prstGeom>
          <a:noFill/>
          <a:ln/>
        </p:spPr>
        <p:txBody>
          <a:bodyPr wrap="square" lIns="0" tIns="0" rIns="0" bIns="0" rtlCol="0" anchor="t"/>
          <a:lstStyle/>
          <a:p>
            <a:pPr marL="0" indent="0" algn="l">
              <a:lnSpc>
                <a:spcPts val="1181"/>
              </a:lnSpc>
              <a:buNone/>
            </a:pPr>
            <a:r>
              <a:rPr lang="en-US" sz="844" dirty="0">
                <a:solidFill>
                  <a:srgbClr val="334155"/>
                </a:solidFill>
                <a:latin typeface="Carlito" pitchFamily="34" charset="0"/>
                <a:ea typeface="Carlito" pitchFamily="34" charset="-122"/>
                <a:cs typeface="Carlito" pitchFamily="34" charset="-120"/>
              </a:rPr>
              <a:t>Values you want to expose after apply — IPs, IDs, ARNs. Consumed by other modules or printed to the console.</a:t>
            </a:r>
            <a:endParaRPr lang="en-US" sz="844" dirty="0"/>
          </a:p>
        </p:txBody>
      </p:sp>
      <p:sp>
        <p:nvSpPr>
          <p:cNvPr id="22" name="Text 20"/>
          <p:cNvSpPr/>
          <p:nvPr/>
        </p:nvSpPr>
        <p:spPr>
          <a:xfrm>
            <a:off x="5254898" y="1174366"/>
            <a:ext cx="572072" cy="133241"/>
          </a:xfrm>
          <a:prstGeom prst="rect">
            <a:avLst/>
          </a:prstGeom>
          <a:noFill/>
          <a:ln/>
        </p:spPr>
        <p:txBody>
          <a:bodyPr wrap="none" lIns="0" tIns="0" rIns="0" bIns="0" rtlCol="0" anchor="t"/>
          <a:lstStyle/>
          <a:p>
            <a:pPr marL="0" indent="0" algn="l">
              <a:lnSpc>
                <a:spcPts val="1181"/>
              </a:lnSpc>
              <a:buNone/>
            </a:pPr>
            <a:r>
              <a:rPr lang="en-US" sz="800" dirty="0">
                <a:solidFill>
                  <a:srgbClr val="FBBF24"/>
                </a:solidFill>
                <a:latin typeface="Courier New" pitchFamily="34" charset="0"/>
                <a:ea typeface="Courier New" pitchFamily="34" charset="-122"/>
                <a:cs typeface="Courier New" pitchFamily="34" charset="-120"/>
              </a:rPr>
              <a:t>provider</a:t>
            </a:r>
            <a:endParaRPr lang="en-US" sz="800" dirty="0"/>
          </a:p>
        </p:txBody>
      </p:sp>
      <p:sp>
        <p:nvSpPr>
          <p:cNvPr id="23" name="Text 21"/>
          <p:cNvSpPr/>
          <p:nvPr/>
        </p:nvSpPr>
        <p:spPr>
          <a:xfrm>
            <a:off x="5704954" y="1174366"/>
            <a:ext cx="400050" cy="122587"/>
          </a:xfrm>
          <a:prstGeom prst="rect">
            <a:avLst/>
          </a:prstGeom>
          <a:noFill/>
          <a:ln/>
        </p:spPr>
        <p:txBody>
          <a:bodyPr wrap="none" lIns="0" tIns="0" rIns="0" bIns="0" rtlCol="0" anchor="t">
            <a:normAutofit fontScale="25000" lnSpcReduction="20000"/>
          </a:bodyPr>
          <a:lstStyle/>
          <a:p>
            <a:pPr marL="0" indent="0" algn="l">
              <a:lnSpc>
                <a:spcPts val="1181"/>
              </a:lnSpc>
              <a:buNone/>
            </a:pPr>
            <a:r>
              <a:rPr lang="en-US" sz="800" dirty="0">
                <a:solidFill>
                  <a:srgbClr val="86EFAC"/>
                </a:solidFill>
                <a:latin typeface="Courier New" pitchFamily="34" charset="0"/>
                <a:ea typeface="Courier New" pitchFamily="34" charset="-122"/>
                <a:cs typeface="Courier New" pitchFamily="34" charset="-120"/>
              </a:rPr>
              <a:t>"aws"</a:t>
            </a:r>
            <a:endParaRPr lang="en-US" sz="800" dirty="0"/>
          </a:p>
        </p:txBody>
      </p:sp>
      <p:sp>
        <p:nvSpPr>
          <p:cNvPr id="24" name="Text 22"/>
          <p:cNvSpPr/>
          <p:nvPr/>
        </p:nvSpPr>
        <p:spPr>
          <a:xfrm>
            <a:off x="5354910" y="1324384"/>
            <a:ext cx="429054" cy="133241"/>
          </a:xfrm>
          <a:prstGeom prst="rect">
            <a:avLst/>
          </a:prstGeom>
          <a:noFill/>
          <a:ln/>
        </p:spPr>
        <p:txBody>
          <a:bodyPr wrap="none" lIns="0" tIns="0" rIns="0" bIns="0" rtlCol="0" anchor="t"/>
          <a:lstStyle/>
          <a:p>
            <a:pPr marL="0" indent="0" algn="l">
              <a:lnSpc>
                <a:spcPts val="1181"/>
              </a:lnSpc>
              <a:buNone/>
            </a:pPr>
            <a:r>
              <a:rPr lang="en-US" sz="800" dirty="0">
                <a:solidFill>
                  <a:srgbClr val="FBBF24"/>
                </a:solidFill>
                <a:latin typeface="Courier New" pitchFamily="34" charset="0"/>
                <a:ea typeface="Courier New" pitchFamily="34" charset="-122"/>
                <a:cs typeface="Courier New" pitchFamily="34" charset="-120"/>
              </a:rPr>
              <a:t>region</a:t>
            </a:r>
            <a:endParaRPr lang="en-US" sz="800" dirty="0"/>
          </a:p>
        </p:txBody>
      </p:sp>
      <p:sp>
        <p:nvSpPr>
          <p:cNvPr id="25" name="Text 23"/>
          <p:cNvSpPr/>
          <p:nvPr/>
        </p:nvSpPr>
        <p:spPr>
          <a:xfrm>
            <a:off x="5798890" y="1324384"/>
            <a:ext cx="699740" cy="133241"/>
          </a:xfrm>
          <a:prstGeom prst="rect">
            <a:avLst/>
          </a:prstGeom>
          <a:noFill/>
          <a:ln/>
        </p:spPr>
        <p:txBody>
          <a:bodyPr wrap="none" lIns="0" tIns="0" rIns="0" bIns="0" rtlCol="0" anchor="t"/>
          <a:lstStyle/>
          <a:p>
            <a:pPr marL="0" indent="0" algn="l">
              <a:lnSpc>
                <a:spcPts val="1181"/>
              </a:lnSpc>
              <a:buNone/>
            </a:pPr>
            <a:r>
              <a:rPr lang="en-US" sz="800" dirty="0">
                <a:solidFill>
                  <a:srgbClr val="86EFAC"/>
                </a:solidFill>
                <a:latin typeface="Liberation Sans Narrow" pitchFamily="34" charset="0"/>
                <a:ea typeface="Liberation Sans Narrow" pitchFamily="34" charset="-122"/>
                <a:cs typeface="Liberation Sans Narrow" pitchFamily="34" charset="-120"/>
              </a:rPr>
              <a:t>"us-east-1"</a:t>
            </a:r>
            <a:endParaRPr lang="en-US" sz="800" dirty="0"/>
          </a:p>
        </p:txBody>
      </p:sp>
      <p:sp>
        <p:nvSpPr>
          <p:cNvPr id="26" name="Text 24"/>
          <p:cNvSpPr/>
          <p:nvPr/>
        </p:nvSpPr>
        <p:spPr>
          <a:xfrm>
            <a:off x="5254898" y="1774441"/>
            <a:ext cx="572072" cy="133241"/>
          </a:xfrm>
          <a:prstGeom prst="rect">
            <a:avLst/>
          </a:prstGeom>
          <a:noFill/>
          <a:ln/>
        </p:spPr>
        <p:txBody>
          <a:bodyPr wrap="none" lIns="0" tIns="0" rIns="0" bIns="0" rtlCol="0" anchor="t"/>
          <a:lstStyle/>
          <a:p>
            <a:pPr marL="0" indent="0" algn="l">
              <a:lnSpc>
                <a:spcPts val="1181"/>
              </a:lnSpc>
              <a:buNone/>
            </a:pPr>
            <a:r>
              <a:rPr lang="en-US" sz="800" dirty="0">
                <a:solidFill>
                  <a:srgbClr val="FBBF24"/>
                </a:solidFill>
                <a:latin typeface="Courier New" pitchFamily="34" charset="0"/>
                <a:ea typeface="Courier New" pitchFamily="34" charset="-122"/>
                <a:cs typeface="Courier New" pitchFamily="34" charset="-120"/>
              </a:rPr>
              <a:t>variable</a:t>
            </a:r>
            <a:endParaRPr lang="en-US" sz="800" dirty="0"/>
          </a:p>
        </p:txBody>
      </p:sp>
      <p:sp>
        <p:nvSpPr>
          <p:cNvPr id="27" name="Text 25"/>
          <p:cNvSpPr/>
          <p:nvPr/>
        </p:nvSpPr>
        <p:spPr>
          <a:xfrm>
            <a:off x="5704954" y="1774441"/>
            <a:ext cx="937617" cy="122587"/>
          </a:xfrm>
          <a:prstGeom prst="rect">
            <a:avLst/>
          </a:prstGeom>
          <a:noFill/>
          <a:ln/>
        </p:spPr>
        <p:txBody>
          <a:bodyPr wrap="none" lIns="0" tIns="0" rIns="0" bIns="0" rtlCol="0" anchor="t">
            <a:normAutofit fontScale="25000" lnSpcReduction="20000"/>
          </a:bodyPr>
          <a:lstStyle/>
          <a:p>
            <a:pPr marL="0" indent="0" algn="l">
              <a:lnSpc>
                <a:spcPts val="1181"/>
              </a:lnSpc>
              <a:buNone/>
            </a:pPr>
            <a:r>
              <a:rPr lang="en-US" sz="800" dirty="0">
                <a:solidFill>
                  <a:srgbClr val="86EFAC"/>
                </a:solidFill>
                <a:latin typeface="Courier New" pitchFamily="34" charset="0"/>
                <a:ea typeface="Courier New" pitchFamily="34" charset="-122"/>
                <a:cs typeface="Courier New" pitchFamily="34" charset="-120"/>
              </a:rPr>
              <a:t>"instance_type"</a:t>
            </a:r>
            <a:endParaRPr lang="en-US" sz="800" dirty="0"/>
          </a:p>
        </p:txBody>
      </p:sp>
      <p:sp>
        <p:nvSpPr>
          <p:cNvPr id="28" name="Text 26"/>
          <p:cNvSpPr/>
          <p:nvPr/>
        </p:nvSpPr>
        <p:spPr>
          <a:xfrm>
            <a:off x="5354910" y="1924459"/>
            <a:ext cx="320040" cy="133241"/>
          </a:xfrm>
          <a:prstGeom prst="rect">
            <a:avLst/>
          </a:prstGeom>
          <a:noFill/>
          <a:ln/>
        </p:spPr>
        <p:txBody>
          <a:bodyPr wrap="none" lIns="0" tIns="0" rIns="0" bIns="0" rtlCol="0" anchor="t"/>
          <a:lstStyle/>
          <a:p>
            <a:pPr marL="0" indent="0" algn="l">
              <a:lnSpc>
                <a:spcPts val="1181"/>
              </a:lnSpc>
              <a:buNone/>
            </a:pPr>
            <a:r>
              <a:rPr lang="en-US" sz="800" dirty="0">
                <a:solidFill>
                  <a:srgbClr val="FBBF24"/>
                </a:solidFill>
                <a:latin typeface="Courier New" pitchFamily="34" charset="0"/>
                <a:ea typeface="Courier New" pitchFamily="34" charset="-122"/>
                <a:cs typeface="Courier New" pitchFamily="34" charset="-120"/>
              </a:rPr>
              <a:t>type</a:t>
            </a:r>
            <a:endParaRPr lang="en-US" sz="800" dirty="0"/>
          </a:p>
        </p:txBody>
      </p:sp>
      <p:sp>
        <p:nvSpPr>
          <p:cNvPr id="29" name="Text 27"/>
          <p:cNvSpPr/>
          <p:nvPr/>
        </p:nvSpPr>
        <p:spPr>
          <a:xfrm>
            <a:off x="5854973" y="1924459"/>
            <a:ext cx="429054" cy="122587"/>
          </a:xfrm>
          <a:prstGeom prst="rect">
            <a:avLst/>
          </a:prstGeom>
          <a:noFill/>
          <a:ln/>
        </p:spPr>
        <p:txBody>
          <a:bodyPr wrap="none" lIns="0" tIns="0" rIns="0" bIns="0" rtlCol="0" anchor="t">
            <a:normAutofit fontScale="25000" lnSpcReduction="20000"/>
          </a:bodyPr>
          <a:lstStyle/>
          <a:p>
            <a:pPr marL="0" indent="0" algn="l">
              <a:lnSpc>
                <a:spcPts val="1181"/>
              </a:lnSpc>
              <a:buNone/>
            </a:pPr>
            <a:r>
              <a:rPr lang="en-US" sz="800" dirty="0">
                <a:solidFill>
                  <a:srgbClr val="FBA74A"/>
                </a:solidFill>
                <a:latin typeface="Courier New" pitchFamily="34" charset="0"/>
                <a:ea typeface="Courier New" pitchFamily="34" charset="-122"/>
                <a:cs typeface="Courier New" pitchFamily="34" charset="-120"/>
              </a:rPr>
              <a:t>string</a:t>
            </a:r>
            <a:endParaRPr lang="en-US" sz="800" dirty="0"/>
          </a:p>
        </p:txBody>
      </p:sp>
      <p:sp>
        <p:nvSpPr>
          <p:cNvPr id="30" name="Text 28"/>
          <p:cNvSpPr/>
          <p:nvPr/>
        </p:nvSpPr>
        <p:spPr>
          <a:xfrm>
            <a:off x="5354910" y="2074478"/>
            <a:ext cx="500563" cy="133241"/>
          </a:xfrm>
          <a:prstGeom prst="rect">
            <a:avLst/>
          </a:prstGeom>
          <a:noFill/>
          <a:ln/>
        </p:spPr>
        <p:txBody>
          <a:bodyPr wrap="none" lIns="0" tIns="0" rIns="0" bIns="0" rtlCol="0" anchor="t"/>
          <a:lstStyle/>
          <a:p>
            <a:pPr marL="0" indent="0" algn="l">
              <a:lnSpc>
                <a:spcPts val="1181"/>
              </a:lnSpc>
              <a:buNone/>
            </a:pPr>
            <a:r>
              <a:rPr lang="en-US" sz="800" dirty="0">
                <a:solidFill>
                  <a:srgbClr val="FBBF24"/>
                </a:solidFill>
                <a:latin typeface="Courier New" pitchFamily="34" charset="0"/>
                <a:ea typeface="Courier New" pitchFamily="34" charset="-122"/>
                <a:cs typeface="Courier New" pitchFamily="34" charset="-120"/>
              </a:rPr>
              <a:t>default</a:t>
            </a:r>
            <a:endParaRPr lang="en-US" sz="800" dirty="0"/>
          </a:p>
        </p:txBody>
      </p:sp>
      <p:sp>
        <p:nvSpPr>
          <p:cNvPr id="31" name="Text 29"/>
          <p:cNvSpPr/>
          <p:nvPr/>
        </p:nvSpPr>
        <p:spPr>
          <a:xfrm>
            <a:off x="5844617" y="2074478"/>
            <a:ext cx="645790" cy="133241"/>
          </a:xfrm>
          <a:prstGeom prst="rect">
            <a:avLst/>
          </a:prstGeom>
          <a:noFill/>
          <a:ln/>
        </p:spPr>
        <p:txBody>
          <a:bodyPr wrap="none" lIns="0" tIns="0" rIns="0" bIns="0" rtlCol="0" anchor="t"/>
          <a:lstStyle/>
          <a:p>
            <a:pPr marL="0" indent="0" algn="l">
              <a:lnSpc>
                <a:spcPts val="1181"/>
              </a:lnSpc>
              <a:buNone/>
            </a:pPr>
            <a:r>
              <a:rPr lang="en-US" sz="800" dirty="0">
                <a:solidFill>
                  <a:srgbClr val="86EFAC"/>
                </a:solidFill>
                <a:latin typeface="Liberation Sans Narrow" pitchFamily="34" charset="0"/>
                <a:ea typeface="Liberation Sans Narrow" pitchFamily="34" charset="-122"/>
                <a:cs typeface="Liberation Sans Narrow" pitchFamily="34" charset="-120"/>
              </a:rPr>
              <a:t>"t3.micro"</a:t>
            </a:r>
            <a:endParaRPr lang="en-US" sz="800" dirty="0"/>
          </a:p>
        </p:txBody>
      </p:sp>
      <p:sp>
        <p:nvSpPr>
          <p:cNvPr id="32" name="Text 30"/>
          <p:cNvSpPr/>
          <p:nvPr/>
        </p:nvSpPr>
        <p:spPr>
          <a:xfrm>
            <a:off x="5254898" y="2524534"/>
            <a:ext cx="572072" cy="133241"/>
          </a:xfrm>
          <a:prstGeom prst="rect">
            <a:avLst/>
          </a:prstGeom>
          <a:noFill/>
          <a:ln/>
        </p:spPr>
        <p:txBody>
          <a:bodyPr wrap="none" lIns="0" tIns="0" rIns="0" bIns="0" rtlCol="0" anchor="t"/>
          <a:lstStyle/>
          <a:p>
            <a:pPr marL="0" indent="0" algn="l">
              <a:lnSpc>
                <a:spcPts val="1181"/>
              </a:lnSpc>
              <a:buNone/>
            </a:pPr>
            <a:r>
              <a:rPr lang="en-US" sz="800" dirty="0">
                <a:solidFill>
                  <a:srgbClr val="FBBF24"/>
                </a:solidFill>
                <a:latin typeface="Courier New" pitchFamily="34" charset="0"/>
                <a:ea typeface="Courier New" pitchFamily="34" charset="-122"/>
                <a:cs typeface="Courier New" pitchFamily="34" charset="-120"/>
              </a:rPr>
              <a:t>resource</a:t>
            </a:r>
            <a:endParaRPr lang="en-US" sz="800" dirty="0"/>
          </a:p>
        </p:txBody>
      </p:sp>
      <p:sp>
        <p:nvSpPr>
          <p:cNvPr id="33" name="Text 31"/>
          <p:cNvSpPr/>
          <p:nvPr/>
        </p:nvSpPr>
        <p:spPr>
          <a:xfrm>
            <a:off x="5704954" y="2524534"/>
            <a:ext cx="875109" cy="133241"/>
          </a:xfrm>
          <a:prstGeom prst="rect">
            <a:avLst/>
          </a:prstGeom>
          <a:noFill/>
          <a:ln/>
        </p:spPr>
        <p:txBody>
          <a:bodyPr wrap="none" lIns="0" tIns="0" rIns="0" bIns="0" rtlCol="0" anchor="t"/>
          <a:lstStyle/>
          <a:p>
            <a:pPr marL="0" indent="0" algn="l">
              <a:lnSpc>
                <a:spcPts val="1181"/>
              </a:lnSpc>
              <a:buNone/>
            </a:pPr>
            <a:r>
              <a:rPr lang="en-US" sz="800" dirty="0">
                <a:solidFill>
                  <a:srgbClr val="86EFAC"/>
                </a:solidFill>
                <a:latin typeface="Courier New" pitchFamily="34" charset="0"/>
                <a:ea typeface="Courier New" pitchFamily="34" charset="-122"/>
                <a:cs typeface="Courier New" pitchFamily="34" charset="-120"/>
              </a:rPr>
              <a:t>"aws_instance"</a:t>
            </a:r>
            <a:endParaRPr lang="en-US" sz="800" dirty="0"/>
          </a:p>
        </p:txBody>
      </p:sp>
      <p:sp>
        <p:nvSpPr>
          <p:cNvPr id="34" name="Text 32"/>
          <p:cNvSpPr/>
          <p:nvPr/>
        </p:nvSpPr>
        <p:spPr>
          <a:xfrm>
            <a:off x="6455048" y="2524534"/>
            <a:ext cx="400050" cy="122587"/>
          </a:xfrm>
          <a:prstGeom prst="rect">
            <a:avLst/>
          </a:prstGeom>
          <a:noFill/>
          <a:ln/>
        </p:spPr>
        <p:txBody>
          <a:bodyPr wrap="none" lIns="0" tIns="0" rIns="0" bIns="0" rtlCol="0" anchor="t">
            <a:normAutofit fontScale="25000" lnSpcReduction="20000"/>
          </a:bodyPr>
          <a:lstStyle/>
          <a:p>
            <a:pPr marL="0" indent="0" algn="l">
              <a:lnSpc>
                <a:spcPts val="1181"/>
              </a:lnSpc>
              <a:buNone/>
            </a:pPr>
            <a:r>
              <a:rPr lang="en-US" sz="800" dirty="0">
                <a:solidFill>
                  <a:srgbClr val="86EFAC"/>
                </a:solidFill>
                <a:latin typeface="Courier New" pitchFamily="34" charset="0"/>
                <a:ea typeface="Courier New" pitchFamily="34" charset="-122"/>
                <a:cs typeface="Courier New" pitchFamily="34" charset="-120"/>
              </a:rPr>
              <a:t>"web"</a:t>
            </a:r>
            <a:endParaRPr lang="en-US" sz="800" dirty="0"/>
          </a:p>
        </p:txBody>
      </p:sp>
      <p:sp>
        <p:nvSpPr>
          <p:cNvPr id="35" name="Text 33"/>
          <p:cNvSpPr/>
          <p:nvPr/>
        </p:nvSpPr>
        <p:spPr>
          <a:xfrm>
            <a:off x="5354910" y="2674553"/>
            <a:ext cx="240030" cy="133241"/>
          </a:xfrm>
          <a:prstGeom prst="rect">
            <a:avLst/>
          </a:prstGeom>
          <a:noFill/>
          <a:ln/>
        </p:spPr>
        <p:txBody>
          <a:bodyPr wrap="none" lIns="0" tIns="0" rIns="0" bIns="0" rtlCol="0" anchor="t"/>
          <a:lstStyle/>
          <a:p>
            <a:pPr marL="0" indent="0" algn="l">
              <a:lnSpc>
                <a:spcPts val="1181"/>
              </a:lnSpc>
              <a:buNone/>
            </a:pPr>
            <a:r>
              <a:rPr lang="en-US" sz="800" dirty="0">
                <a:solidFill>
                  <a:srgbClr val="FBBF24"/>
                </a:solidFill>
                <a:latin typeface="Courier New" pitchFamily="34" charset="0"/>
                <a:ea typeface="Courier New" pitchFamily="34" charset="-122"/>
                <a:cs typeface="Courier New" pitchFamily="34" charset="-120"/>
              </a:rPr>
              <a:t>ami</a:t>
            </a:r>
            <a:endParaRPr lang="en-US" sz="800" dirty="0"/>
          </a:p>
        </p:txBody>
      </p:sp>
      <p:sp>
        <p:nvSpPr>
          <p:cNvPr id="36" name="Text 34"/>
          <p:cNvSpPr/>
          <p:nvPr/>
        </p:nvSpPr>
        <p:spPr>
          <a:xfrm>
            <a:off x="6155010" y="2674553"/>
            <a:ext cx="1242155" cy="122587"/>
          </a:xfrm>
          <a:prstGeom prst="rect">
            <a:avLst/>
          </a:prstGeom>
          <a:noFill/>
          <a:ln/>
        </p:spPr>
        <p:txBody>
          <a:bodyPr wrap="none" lIns="0" tIns="0" rIns="0" bIns="0" rtlCol="0" anchor="t">
            <a:normAutofit fontScale="25000" lnSpcReduction="20000"/>
          </a:bodyPr>
          <a:lstStyle/>
          <a:p>
            <a:pPr marL="0" indent="0" algn="l">
              <a:lnSpc>
                <a:spcPts val="1181"/>
              </a:lnSpc>
              <a:buNone/>
            </a:pPr>
            <a:r>
              <a:rPr lang="en-US" sz="788" dirty="0">
                <a:solidFill>
                  <a:srgbClr val="86EFAC"/>
                </a:solidFill>
                <a:latin typeface="Liberation Sans Narrow" pitchFamily="34" charset="0"/>
                <a:ea typeface="Liberation Sans Narrow" pitchFamily="34" charset="-122"/>
                <a:cs typeface="Liberation Sans Narrow" pitchFamily="34" charset="-120"/>
              </a:rPr>
              <a:t>"ami-0c55b159cbfafe1f0"</a:t>
            </a:r>
            <a:endParaRPr lang="en-US" sz="788" dirty="0"/>
          </a:p>
        </p:txBody>
      </p:sp>
      <p:sp>
        <p:nvSpPr>
          <p:cNvPr id="37" name="Text 35"/>
          <p:cNvSpPr/>
          <p:nvPr/>
        </p:nvSpPr>
        <p:spPr>
          <a:xfrm>
            <a:off x="5354910" y="2824572"/>
            <a:ext cx="812602" cy="133241"/>
          </a:xfrm>
          <a:prstGeom prst="rect">
            <a:avLst/>
          </a:prstGeom>
          <a:noFill/>
          <a:ln/>
        </p:spPr>
        <p:txBody>
          <a:bodyPr wrap="none" lIns="0" tIns="0" rIns="0" bIns="0" rtlCol="0" anchor="t"/>
          <a:lstStyle/>
          <a:p>
            <a:pPr marL="0" indent="0" algn="l">
              <a:lnSpc>
                <a:spcPts val="1181"/>
              </a:lnSpc>
              <a:buNone/>
            </a:pPr>
            <a:r>
              <a:rPr lang="en-US" sz="800" dirty="0">
                <a:solidFill>
                  <a:srgbClr val="FBBF24"/>
                </a:solidFill>
                <a:latin typeface="Courier New" pitchFamily="34" charset="0"/>
                <a:ea typeface="Courier New" pitchFamily="34" charset="-122"/>
                <a:cs typeface="Courier New" pitchFamily="34" charset="-120"/>
              </a:rPr>
              <a:t>instance_type</a:t>
            </a:r>
            <a:endParaRPr lang="en-US" sz="800" dirty="0"/>
          </a:p>
        </p:txBody>
      </p:sp>
      <p:sp>
        <p:nvSpPr>
          <p:cNvPr id="38" name="Text 36"/>
          <p:cNvSpPr/>
          <p:nvPr/>
        </p:nvSpPr>
        <p:spPr>
          <a:xfrm>
            <a:off x="6155010" y="2824572"/>
            <a:ext cx="1062633" cy="122587"/>
          </a:xfrm>
          <a:prstGeom prst="rect">
            <a:avLst/>
          </a:prstGeom>
          <a:noFill/>
          <a:ln/>
        </p:spPr>
        <p:txBody>
          <a:bodyPr wrap="none" lIns="0" tIns="0" rIns="0" bIns="0" rtlCol="0" anchor="t">
            <a:normAutofit fontScale="25000" lnSpcReduction="20000"/>
          </a:bodyPr>
          <a:lstStyle/>
          <a:p>
            <a:pPr marL="0" indent="0" algn="l">
              <a:lnSpc>
                <a:spcPts val="1181"/>
              </a:lnSpc>
              <a:buNone/>
            </a:pPr>
            <a:r>
              <a:rPr lang="en-US" sz="800" dirty="0">
                <a:solidFill>
                  <a:srgbClr val="93C5FD"/>
                </a:solidFill>
                <a:latin typeface="Courier New" pitchFamily="34" charset="0"/>
                <a:ea typeface="Courier New" pitchFamily="34" charset="-122"/>
                <a:cs typeface="Courier New" pitchFamily="34" charset="-120"/>
              </a:rPr>
              <a:t>var.instance_type</a:t>
            </a:r>
            <a:endParaRPr lang="en-US" sz="800" dirty="0"/>
          </a:p>
        </p:txBody>
      </p:sp>
      <p:sp>
        <p:nvSpPr>
          <p:cNvPr id="39" name="Text 37"/>
          <p:cNvSpPr/>
          <p:nvPr/>
        </p:nvSpPr>
        <p:spPr>
          <a:xfrm>
            <a:off x="5354910" y="2974591"/>
            <a:ext cx="320040" cy="122587"/>
          </a:xfrm>
          <a:prstGeom prst="rect">
            <a:avLst/>
          </a:prstGeom>
          <a:noFill/>
          <a:ln/>
        </p:spPr>
        <p:txBody>
          <a:bodyPr wrap="none" lIns="0" tIns="0" rIns="0" bIns="0" rtlCol="0" anchor="t">
            <a:normAutofit fontScale="25000" lnSpcReduction="20000"/>
          </a:bodyPr>
          <a:lstStyle/>
          <a:p>
            <a:pPr marL="0" indent="0" algn="l">
              <a:lnSpc>
                <a:spcPts val="1181"/>
              </a:lnSpc>
              <a:buNone/>
            </a:pPr>
            <a:r>
              <a:rPr lang="en-US" sz="800" dirty="0">
                <a:solidFill>
                  <a:srgbClr val="FBBF24"/>
                </a:solidFill>
                <a:latin typeface="Courier New" pitchFamily="34" charset="0"/>
                <a:ea typeface="Courier New" pitchFamily="34" charset="-122"/>
                <a:cs typeface="Courier New" pitchFamily="34" charset="-120"/>
              </a:rPr>
              <a:t>tags</a:t>
            </a:r>
            <a:endParaRPr lang="en-US" sz="800" dirty="0"/>
          </a:p>
        </p:txBody>
      </p:sp>
      <p:sp>
        <p:nvSpPr>
          <p:cNvPr id="40" name="Text 38"/>
          <p:cNvSpPr/>
          <p:nvPr/>
        </p:nvSpPr>
        <p:spPr>
          <a:xfrm>
            <a:off x="5454923" y="3124609"/>
            <a:ext cx="320040" cy="133241"/>
          </a:xfrm>
          <a:prstGeom prst="rect">
            <a:avLst/>
          </a:prstGeom>
          <a:noFill/>
          <a:ln/>
        </p:spPr>
        <p:txBody>
          <a:bodyPr wrap="none" lIns="0" tIns="0" rIns="0" bIns="0" rtlCol="0" anchor="t"/>
          <a:lstStyle/>
          <a:p>
            <a:pPr marL="0" indent="0" algn="l">
              <a:lnSpc>
                <a:spcPts val="1181"/>
              </a:lnSpc>
              <a:buNone/>
            </a:pPr>
            <a:r>
              <a:rPr lang="en-US" sz="800" dirty="0">
                <a:solidFill>
                  <a:srgbClr val="FBBF24"/>
                </a:solidFill>
                <a:latin typeface="Courier New" pitchFamily="34" charset="0"/>
                <a:ea typeface="Courier New" pitchFamily="34" charset="-122"/>
                <a:cs typeface="Courier New" pitchFamily="34" charset="-120"/>
              </a:rPr>
              <a:t>Name</a:t>
            </a:r>
            <a:endParaRPr lang="en-US" sz="800" dirty="0"/>
          </a:p>
        </p:txBody>
      </p:sp>
      <p:sp>
        <p:nvSpPr>
          <p:cNvPr id="41" name="Text 39"/>
          <p:cNvSpPr/>
          <p:nvPr/>
        </p:nvSpPr>
        <p:spPr>
          <a:xfrm>
            <a:off x="5800771" y="3124609"/>
            <a:ext cx="758485" cy="133241"/>
          </a:xfrm>
          <a:prstGeom prst="rect">
            <a:avLst/>
          </a:prstGeom>
          <a:noFill/>
          <a:ln/>
        </p:spPr>
        <p:txBody>
          <a:bodyPr wrap="none" lIns="0" tIns="0" rIns="0" bIns="0" rtlCol="0" anchor="t"/>
          <a:lstStyle/>
          <a:p>
            <a:pPr marL="0" indent="0" algn="l">
              <a:lnSpc>
                <a:spcPts val="1181"/>
              </a:lnSpc>
              <a:buNone/>
            </a:pPr>
            <a:r>
              <a:rPr lang="en-US" sz="800" dirty="0">
                <a:solidFill>
                  <a:srgbClr val="86EFAC"/>
                </a:solidFill>
                <a:latin typeface="Courier New" pitchFamily="34" charset="0"/>
                <a:ea typeface="Courier New" pitchFamily="34" charset="-122"/>
                <a:cs typeface="Courier New" pitchFamily="34" charset="-120"/>
              </a:rPr>
              <a:t>"web-server"</a:t>
            </a:r>
            <a:endParaRPr lang="en-US" sz="800" dirty="0"/>
          </a:p>
        </p:txBody>
      </p:sp>
      <p:sp>
        <p:nvSpPr>
          <p:cNvPr id="42" name="Text 40"/>
          <p:cNvSpPr/>
          <p:nvPr/>
        </p:nvSpPr>
        <p:spPr>
          <a:xfrm>
            <a:off x="5254898" y="3724684"/>
            <a:ext cx="429054" cy="133241"/>
          </a:xfrm>
          <a:prstGeom prst="rect">
            <a:avLst/>
          </a:prstGeom>
          <a:noFill/>
          <a:ln/>
        </p:spPr>
        <p:txBody>
          <a:bodyPr wrap="none" lIns="0" tIns="0" rIns="0" bIns="0" rtlCol="0" anchor="t"/>
          <a:lstStyle/>
          <a:p>
            <a:pPr marL="0" indent="0" algn="l">
              <a:lnSpc>
                <a:spcPts val="1181"/>
              </a:lnSpc>
              <a:buNone/>
            </a:pPr>
            <a:r>
              <a:rPr lang="en-US" sz="800" dirty="0">
                <a:solidFill>
                  <a:srgbClr val="FBBF24"/>
                </a:solidFill>
                <a:latin typeface="Courier New" pitchFamily="34" charset="0"/>
                <a:ea typeface="Courier New" pitchFamily="34" charset="-122"/>
                <a:cs typeface="Courier New" pitchFamily="34" charset="-120"/>
              </a:rPr>
              <a:t>output</a:t>
            </a:r>
            <a:endParaRPr lang="en-US" sz="800" dirty="0"/>
          </a:p>
        </p:txBody>
      </p:sp>
      <p:sp>
        <p:nvSpPr>
          <p:cNvPr id="43" name="Text 41"/>
          <p:cNvSpPr/>
          <p:nvPr/>
        </p:nvSpPr>
        <p:spPr>
          <a:xfrm>
            <a:off x="5604942" y="3724684"/>
            <a:ext cx="812602" cy="122587"/>
          </a:xfrm>
          <a:prstGeom prst="rect">
            <a:avLst/>
          </a:prstGeom>
          <a:noFill/>
          <a:ln/>
        </p:spPr>
        <p:txBody>
          <a:bodyPr wrap="none" lIns="0" tIns="0" rIns="0" bIns="0" rtlCol="0" anchor="t">
            <a:normAutofit fontScale="25000" lnSpcReduction="20000"/>
          </a:bodyPr>
          <a:lstStyle/>
          <a:p>
            <a:pPr marL="0" indent="0" algn="l">
              <a:lnSpc>
                <a:spcPts val="1181"/>
              </a:lnSpc>
              <a:buNone/>
            </a:pPr>
            <a:r>
              <a:rPr lang="en-US" sz="800" dirty="0">
                <a:solidFill>
                  <a:srgbClr val="86EFAC"/>
                </a:solidFill>
                <a:latin typeface="Courier New" pitchFamily="34" charset="0"/>
                <a:ea typeface="Courier New" pitchFamily="34" charset="-122"/>
                <a:cs typeface="Courier New" pitchFamily="34" charset="-120"/>
              </a:rPr>
              <a:t>"instance_ip"</a:t>
            </a:r>
            <a:endParaRPr lang="en-US" sz="800" dirty="0"/>
          </a:p>
        </p:txBody>
      </p:sp>
      <p:sp>
        <p:nvSpPr>
          <p:cNvPr id="44" name="Text 42"/>
          <p:cNvSpPr/>
          <p:nvPr/>
        </p:nvSpPr>
        <p:spPr>
          <a:xfrm>
            <a:off x="5354910" y="3874703"/>
            <a:ext cx="400050" cy="133241"/>
          </a:xfrm>
          <a:prstGeom prst="rect">
            <a:avLst/>
          </a:prstGeom>
          <a:noFill/>
          <a:ln/>
        </p:spPr>
        <p:txBody>
          <a:bodyPr wrap="none" lIns="0" tIns="0" rIns="0" bIns="0" rtlCol="0" anchor="t"/>
          <a:lstStyle/>
          <a:p>
            <a:pPr marL="0" indent="0" algn="l">
              <a:lnSpc>
                <a:spcPts val="1181"/>
              </a:lnSpc>
              <a:buNone/>
            </a:pPr>
            <a:r>
              <a:rPr lang="en-US" sz="800" dirty="0">
                <a:solidFill>
                  <a:srgbClr val="FBBF24"/>
                </a:solidFill>
                <a:latin typeface="Courier New" pitchFamily="34" charset="0"/>
                <a:ea typeface="Courier New" pitchFamily="34" charset="-122"/>
                <a:cs typeface="Courier New" pitchFamily="34" charset="-120"/>
              </a:rPr>
              <a:t>value</a:t>
            </a:r>
            <a:endParaRPr lang="en-US" sz="800" dirty="0"/>
          </a:p>
        </p:txBody>
      </p:sp>
      <p:sp>
        <p:nvSpPr>
          <p:cNvPr id="45" name="Text 43"/>
          <p:cNvSpPr/>
          <p:nvPr/>
        </p:nvSpPr>
        <p:spPr>
          <a:xfrm>
            <a:off x="5754960" y="3874703"/>
            <a:ext cx="1404176" cy="133241"/>
          </a:xfrm>
          <a:prstGeom prst="rect">
            <a:avLst/>
          </a:prstGeom>
          <a:noFill/>
          <a:ln/>
        </p:spPr>
        <p:txBody>
          <a:bodyPr wrap="none" lIns="0" tIns="0" rIns="0" bIns="0" rtlCol="0" anchor="t"/>
          <a:lstStyle/>
          <a:p>
            <a:pPr marL="0" indent="0" algn="l">
              <a:lnSpc>
                <a:spcPts val="1181"/>
              </a:lnSpc>
              <a:buNone/>
            </a:pPr>
            <a:r>
              <a:rPr lang="en-US" sz="788" dirty="0">
                <a:solidFill>
                  <a:srgbClr val="93C5FD"/>
                </a:solidFill>
                <a:latin typeface="Courier New" pitchFamily="34" charset="0"/>
                <a:ea typeface="Courier New" pitchFamily="34" charset="-122"/>
                <a:cs typeface="Courier New" pitchFamily="34" charset="-120"/>
              </a:rPr>
              <a:t>aws_instance.web.public_ip</a:t>
            </a:r>
            <a:endParaRPr lang="en-US" sz="788" dirty="0"/>
          </a:p>
        </p:txBody>
      </p:sp>
      <p:sp>
        <p:nvSpPr>
          <p:cNvPr id="46" name="Text 44"/>
          <p:cNvSpPr/>
          <p:nvPr/>
        </p:nvSpPr>
        <p:spPr>
          <a:xfrm>
            <a:off x="457200" y="4516301"/>
            <a:ext cx="8229600" cy="183599"/>
          </a:xfrm>
          <a:prstGeom prst="rect">
            <a:avLst/>
          </a:prstGeom>
          <a:noFill/>
          <a:ln/>
        </p:spPr>
        <p:txBody>
          <a:bodyPr wrap="square" lIns="0" tIns="0" rIns="0" bIns="0" rtlCol="0" anchor="t"/>
          <a:lstStyle/>
          <a:p>
            <a:pPr marL="0" indent="0" algn="l">
              <a:lnSpc>
                <a:spcPts val="1339"/>
              </a:lnSpc>
              <a:buNone/>
            </a:pPr>
            <a:r>
              <a:rPr lang="en-US" sz="956" b="1" dirty="0">
                <a:solidFill>
                  <a:srgbClr val="C2410C"/>
                </a:solidFill>
                <a:latin typeface="Segoe UI Symbol" pitchFamily="34" charset="0"/>
                <a:ea typeface="Segoe UI Symbol" pitchFamily="34" charset="-122"/>
                <a:cs typeface="Segoe UI Symbol" pitchFamily="34" charset="-120"/>
              </a:rPr>
              <a:t>◆</a:t>
            </a:r>
            <a:r>
              <a:rPr lang="en-US" sz="956" b="1" dirty="0">
                <a:solidFill>
                  <a:srgbClr val="C2410C"/>
                </a:solidFill>
                <a:latin typeface="Carlito" pitchFamily="34" charset="0"/>
                <a:ea typeface="Carlito" pitchFamily="34" charset="-122"/>
                <a:cs typeface="Carlito" pitchFamily="34" charset="-120"/>
              </a:rPr>
              <a:t> Four block types — provider, resource, variable, output — cover 90% of Terraform code.</a:t>
            </a:r>
            <a:endParaRPr lang="en-US" sz="956"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5668041" cy="373346"/>
          </a:xfrm>
          <a:prstGeom prst="rect">
            <a:avLst/>
          </a:prstGeom>
          <a:noFill/>
          <a:ln/>
        </p:spPr>
        <p:txBody>
          <a:bodyPr wrap="square" lIns="0" tIns="0" rIns="0" bIns="0" rtlCol="0" anchor="t"/>
          <a:lstStyle/>
          <a:p>
            <a:pPr marL="0" indent="0" algn="l">
              <a:lnSpc>
                <a:spcPts val="2723"/>
              </a:lnSpc>
              <a:buNone/>
            </a:pPr>
            <a:r>
              <a:rPr lang="en-US" sz="2475" b="1" kern="0" spc="-28" dirty="0">
                <a:solidFill>
                  <a:srgbClr val="0F172A"/>
                </a:solidFill>
                <a:latin typeface="Carlito" pitchFamily="34" charset="0"/>
                <a:ea typeface="Carlito" pitchFamily="34" charset="-122"/>
                <a:cs typeface="Carlito" pitchFamily="34" charset="-120"/>
              </a:rPr>
              <a:t>Code Example — Basic Terraform HCL</a:t>
            </a:r>
            <a:endParaRPr lang="en-US" sz="2475" dirty="0"/>
          </a:p>
        </p:txBody>
      </p:sp>
      <p:sp>
        <p:nvSpPr>
          <p:cNvPr id="3" name="Text 1"/>
          <p:cNvSpPr/>
          <p:nvPr/>
        </p:nvSpPr>
        <p:spPr>
          <a:xfrm>
            <a:off x="457200" y="860041"/>
            <a:ext cx="571500" cy="42863"/>
          </a:xfrm>
          <a:prstGeom prst="roundRect">
            <a:avLst>
              <a:gd name="adj" fmla="val 66666"/>
            </a:avLst>
          </a:prstGeom>
          <a:solidFill>
            <a:srgbClr val="F97316"/>
          </a:solidFill>
          <a:ln/>
        </p:spPr>
        <p:txBody>
          <a:bodyPr wrap="square" rtlCol="0" anchor="ctr"/>
          <a:lstStyle/>
          <a:p>
            <a:pPr marL="0" indent="0">
              <a:buNone/>
            </a:pPr>
            <a:endParaRPr lang="en-US" dirty="0"/>
          </a:p>
        </p:txBody>
      </p:sp>
      <p:sp>
        <p:nvSpPr>
          <p:cNvPr id="4" name="Text 2"/>
          <p:cNvSpPr/>
          <p:nvPr/>
        </p:nvSpPr>
        <p:spPr>
          <a:xfrm>
            <a:off x="7260751" y="514385"/>
            <a:ext cx="1448909" cy="331333"/>
          </a:xfrm>
          <a:prstGeom prst="roundRect">
            <a:avLst>
              <a:gd name="adj" fmla="val 2871877"/>
            </a:avLst>
          </a:prstGeom>
          <a:solidFill>
            <a:srgbClr val="FED7AA"/>
          </a:solidFill>
          <a:ln/>
        </p:spPr>
        <p:txBody>
          <a:bodyPr wrap="square" rtlCol="0" anchor="ctr"/>
          <a:lstStyle/>
          <a:p>
            <a:pPr marL="0" indent="0">
              <a:buNone/>
            </a:pPr>
            <a:endParaRPr lang="en-US" dirty="0"/>
          </a:p>
        </p:txBody>
      </p:sp>
      <p:sp>
        <p:nvSpPr>
          <p:cNvPr id="5" name="Text 3"/>
          <p:cNvSpPr/>
          <p:nvPr/>
        </p:nvSpPr>
        <p:spPr>
          <a:xfrm>
            <a:off x="7221459" y="527186"/>
            <a:ext cx="1527494" cy="305730"/>
          </a:xfrm>
          <a:prstGeom prst="rect">
            <a:avLst/>
          </a:prstGeom>
          <a:noFill/>
          <a:ln/>
        </p:spPr>
        <p:txBody>
          <a:bodyPr wrap="none" lIns="0" tIns="0" rIns="0" bIns="0" rtlCol="0" anchor="ctr"/>
          <a:lstStyle/>
          <a:p>
            <a:pPr marL="0" indent="0" algn="ctr">
              <a:lnSpc>
                <a:spcPts val="1733"/>
              </a:lnSpc>
              <a:buNone/>
            </a:pPr>
            <a:r>
              <a:rPr lang="en-US" sz="1238" b="1" kern="0" spc="28" dirty="0">
                <a:solidFill>
                  <a:srgbClr val="C2410C"/>
                </a:solidFill>
                <a:latin typeface="Liberation Sans Narrow" pitchFamily="34" charset="0"/>
                <a:ea typeface="Liberation Sans Narrow" pitchFamily="34" charset="-122"/>
                <a:cs typeface="Liberation Sans Narrow" pitchFamily="34" charset="-120"/>
              </a:rPr>
              <a:t>SECTION C · 3.6</a:t>
            </a:r>
            <a:endParaRPr lang="en-US" sz="1238" dirty="0"/>
          </a:p>
        </p:txBody>
      </p:sp>
      <p:sp>
        <p:nvSpPr>
          <p:cNvPr id="6" name="Text 4"/>
          <p:cNvSpPr/>
          <p:nvPr/>
        </p:nvSpPr>
        <p:spPr>
          <a:xfrm>
            <a:off x="457200" y="988628"/>
            <a:ext cx="8636000" cy="216027"/>
          </a:xfrm>
          <a:prstGeom prst="rect">
            <a:avLst/>
          </a:prstGeom>
          <a:noFill/>
          <a:ln/>
        </p:spPr>
        <p:txBody>
          <a:bodyPr wrap="square" lIns="0" tIns="0" rIns="0" bIns="0" rtlCol="0" anchor="t"/>
          <a:lstStyle/>
          <a:p>
            <a:pPr marL="0" indent="0" algn="l">
              <a:lnSpc>
                <a:spcPts val="1575"/>
              </a:lnSpc>
              <a:buNone/>
            </a:pPr>
            <a:r>
              <a:rPr lang="en-US" sz="1125" dirty="0">
                <a:solidFill>
                  <a:srgbClr val="64748B"/>
                </a:solidFill>
                <a:latin typeface="Carlito" pitchFamily="34" charset="0"/>
                <a:ea typeface="Carlito" pitchFamily="34" charset="-122"/>
                <a:cs typeface="Carlito" pitchFamily="34" charset="-120"/>
              </a:rPr>
              <a:t>Provision an EC2 instance with a security group.</a:t>
            </a:r>
            <a:endParaRPr lang="en-US" sz="1125" dirty="0"/>
          </a:p>
        </p:txBody>
      </p:sp>
      <p:sp>
        <p:nvSpPr>
          <p:cNvPr id="7" name="Text 5"/>
          <p:cNvSpPr/>
          <p:nvPr/>
        </p:nvSpPr>
        <p:spPr>
          <a:xfrm>
            <a:off x="614363" y="1410109"/>
            <a:ext cx="2700338" cy="133241"/>
          </a:xfrm>
          <a:prstGeom prst="rect">
            <a:avLst/>
          </a:prstGeom>
          <a:noFill/>
          <a:ln/>
        </p:spPr>
        <p:txBody>
          <a:bodyPr wrap="none" lIns="0" tIns="0" rIns="0" bIns="0" rtlCol="0" anchor="t"/>
          <a:lstStyle/>
          <a:p>
            <a:pPr marL="0" indent="0" algn="l">
              <a:lnSpc>
                <a:spcPts val="1103"/>
              </a:lnSpc>
              <a:buNone/>
            </a:pPr>
            <a:r>
              <a:rPr lang="en-US" sz="788" i="1" dirty="0">
                <a:solidFill>
                  <a:srgbClr val="94A3B8"/>
                </a:solidFill>
                <a:latin typeface="Courier New" pitchFamily="34" charset="0"/>
                <a:ea typeface="Courier New" pitchFamily="34" charset="-122"/>
                <a:cs typeface="Courier New" pitchFamily="34" charset="-120"/>
              </a:rPr>
              <a:t># main.tf — provision an EC2 instance + security group</a:t>
            </a:r>
            <a:endParaRPr lang="en-US" sz="788" dirty="0"/>
          </a:p>
        </p:txBody>
      </p:sp>
      <p:sp>
        <p:nvSpPr>
          <p:cNvPr id="8" name="Text 6"/>
          <p:cNvSpPr/>
          <p:nvPr/>
        </p:nvSpPr>
        <p:spPr>
          <a:xfrm>
            <a:off x="614363" y="1690055"/>
            <a:ext cx="572072" cy="133241"/>
          </a:xfrm>
          <a:prstGeom prst="rect">
            <a:avLst/>
          </a:prstGeom>
          <a:noFill/>
          <a:ln/>
        </p:spPr>
        <p:txBody>
          <a:bodyPr wrap="none" lIns="0" tIns="0" rIns="0" bIns="0" rtlCol="0" anchor="t"/>
          <a:lstStyle/>
          <a:p>
            <a:pPr marL="0" indent="0" algn="l">
              <a:lnSpc>
                <a:spcPts val="1103"/>
              </a:lnSpc>
              <a:buNone/>
            </a:pPr>
            <a:r>
              <a:rPr lang="en-US" sz="800" dirty="0">
                <a:solidFill>
                  <a:srgbClr val="FBBF24"/>
                </a:solidFill>
                <a:latin typeface="Courier New" pitchFamily="34" charset="0"/>
                <a:ea typeface="Courier New" pitchFamily="34" charset="-122"/>
                <a:cs typeface="Courier New" pitchFamily="34" charset="-120"/>
              </a:rPr>
              <a:t>provider</a:t>
            </a:r>
            <a:endParaRPr lang="en-US" sz="800" dirty="0"/>
          </a:p>
        </p:txBody>
      </p:sp>
      <p:sp>
        <p:nvSpPr>
          <p:cNvPr id="9" name="Text 7"/>
          <p:cNvSpPr/>
          <p:nvPr/>
        </p:nvSpPr>
        <p:spPr>
          <a:xfrm>
            <a:off x="1064419" y="1690055"/>
            <a:ext cx="400050" cy="112541"/>
          </a:xfrm>
          <a:prstGeom prst="rect">
            <a:avLst/>
          </a:prstGeom>
          <a:noFill/>
          <a:ln/>
        </p:spPr>
        <p:txBody>
          <a:bodyPr wrap="none" lIns="0" tIns="0" rIns="0" bIns="0" rtlCol="0" anchor="t">
            <a:normAutofit fontScale="25000" lnSpcReduction="20000"/>
          </a:bodyPr>
          <a:lstStyle/>
          <a:p>
            <a:pPr marL="0" indent="0" algn="l">
              <a:lnSpc>
                <a:spcPts val="1103"/>
              </a:lnSpc>
              <a:buNone/>
            </a:pPr>
            <a:r>
              <a:rPr lang="en-US" sz="800" dirty="0">
                <a:solidFill>
                  <a:srgbClr val="86EFAC"/>
                </a:solidFill>
                <a:latin typeface="Courier New" pitchFamily="34" charset="0"/>
                <a:ea typeface="Courier New" pitchFamily="34" charset="-122"/>
                <a:cs typeface="Courier New" pitchFamily="34" charset="-120"/>
              </a:rPr>
              <a:t>"aws"</a:t>
            </a:r>
            <a:endParaRPr lang="en-US" sz="800" dirty="0"/>
          </a:p>
        </p:txBody>
      </p:sp>
      <p:sp>
        <p:nvSpPr>
          <p:cNvPr id="10" name="Text 8"/>
          <p:cNvSpPr/>
          <p:nvPr/>
        </p:nvSpPr>
        <p:spPr>
          <a:xfrm>
            <a:off x="714375" y="1830028"/>
            <a:ext cx="429054" cy="133241"/>
          </a:xfrm>
          <a:prstGeom prst="rect">
            <a:avLst/>
          </a:prstGeom>
          <a:noFill/>
          <a:ln/>
        </p:spPr>
        <p:txBody>
          <a:bodyPr wrap="none" lIns="0" tIns="0" rIns="0" bIns="0" rtlCol="0" anchor="t"/>
          <a:lstStyle/>
          <a:p>
            <a:pPr marL="0" indent="0" algn="l">
              <a:lnSpc>
                <a:spcPts val="1103"/>
              </a:lnSpc>
              <a:buNone/>
            </a:pPr>
            <a:r>
              <a:rPr lang="en-US" sz="800" dirty="0">
                <a:solidFill>
                  <a:srgbClr val="FBBF24"/>
                </a:solidFill>
                <a:latin typeface="Courier New" pitchFamily="34" charset="0"/>
                <a:ea typeface="Courier New" pitchFamily="34" charset="-122"/>
                <a:cs typeface="Courier New" pitchFamily="34" charset="-120"/>
              </a:rPr>
              <a:t>region</a:t>
            </a:r>
            <a:endParaRPr lang="en-US" sz="800" dirty="0"/>
          </a:p>
        </p:txBody>
      </p:sp>
      <p:sp>
        <p:nvSpPr>
          <p:cNvPr id="11" name="Text 9"/>
          <p:cNvSpPr/>
          <p:nvPr/>
        </p:nvSpPr>
        <p:spPr>
          <a:xfrm>
            <a:off x="1164431" y="1830028"/>
            <a:ext cx="875109" cy="133241"/>
          </a:xfrm>
          <a:prstGeom prst="rect">
            <a:avLst/>
          </a:prstGeom>
          <a:noFill/>
          <a:ln/>
        </p:spPr>
        <p:txBody>
          <a:bodyPr wrap="none" lIns="0" tIns="0" rIns="0" bIns="0" rtlCol="0" anchor="t"/>
          <a:lstStyle/>
          <a:p>
            <a:pPr marL="0" indent="0" algn="l">
              <a:lnSpc>
                <a:spcPts val="1103"/>
              </a:lnSpc>
              <a:buNone/>
            </a:pPr>
            <a:r>
              <a:rPr lang="en-US" sz="800" dirty="0">
                <a:solidFill>
                  <a:srgbClr val="93C5FD"/>
                </a:solidFill>
                <a:latin typeface="Courier New" pitchFamily="34" charset="0"/>
                <a:ea typeface="Courier New" pitchFamily="34" charset="-122"/>
                <a:cs typeface="Courier New" pitchFamily="34" charset="-120"/>
              </a:rPr>
              <a:t>var.aws_region</a:t>
            </a:r>
            <a:endParaRPr lang="en-US" sz="800" dirty="0"/>
          </a:p>
        </p:txBody>
      </p:sp>
      <p:sp>
        <p:nvSpPr>
          <p:cNvPr id="12" name="Text 10"/>
          <p:cNvSpPr/>
          <p:nvPr/>
        </p:nvSpPr>
        <p:spPr>
          <a:xfrm>
            <a:off x="614363" y="2249946"/>
            <a:ext cx="572072" cy="133241"/>
          </a:xfrm>
          <a:prstGeom prst="rect">
            <a:avLst/>
          </a:prstGeom>
          <a:noFill/>
          <a:ln/>
        </p:spPr>
        <p:txBody>
          <a:bodyPr wrap="none" lIns="0" tIns="0" rIns="0" bIns="0" rtlCol="0" anchor="t"/>
          <a:lstStyle/>
          <a:p>
            <a:pPr marL="0" indent="0" algn="l">
              <a:lnSpc>
                <a:spcPts val="1103"/>
              </a:lnSpc>
              <a:buNone/>
            </a:pPr>
            <a:r>
              <a:rPr lang="en-US" sz="800" dirty="0">
                <a:solidFill>
                  <a:srgbClr val="FBBF24"/>
                </a:solidFill>
                <a:latin typeface="Courier New" pitchFamily="34" charset="0"/>
                <a:ea typeface="Courier New" pitchFamily="34" charset="-122"/>
                <a:cs typeface="Courier New" pitchFamily="34" charset="-120"/>
              </a:rPr>
              <a:t>variable</a:t>
            </a:r>
            <a:endParaRPr lang="en-US" sz="800" dirty="0"/>
          </a:p>
        </p:txBody>
      </p:sp>
      <p:sp>
        <p:nvSpPr>
          <p:cNvPr id="13" name="Text 11"/>
          <p:cNvSpPr/>
          <p:nvPr/>
        </p:nvSpPr>
        <p:spPr>
          <a:xfrm>
            <a:off x="1060223" y="2249946"/>
            <a:ext cx="758485" cy="112541"/>
          </a:xfrm>
          <a:prstGeom prst="rect">
            <a:avLst/>
          </a:prstGeom>
          <a:noFill/>
          <a:ln/>
        </p:spPr>
        <p:txBody>
          <a:bodyPr wrap="none" lIns="0" tIns="0" rIns="0" bIns="0" rtlCol="0" anchor="t">
            <a:normAutofit fontScale="25000" lnSpcReduction="20000"/>
          </a:bodyPr>
          <a:lstStyle/>
          <a:p>
            <a:pPr marL="0" indent="0" algn="l">
              <a:lnSpc>
                <a:spcPts val="1103"/>
              </a:lnSpc>
              <a:buNone/>
            </a:pPr>
            <a:r>
              <a:rPr lang="en-US" sz="800" dirty="0">
                <a:solidFill>
                  <a:srgbClr val="86EFAC"/>
                </a:solidFill>
                <a:latin typeface="Courier New" pitchFamily="34" charset="0"/>
                <a:ea typeface="Courier New" pitchFamily="34" charset="-122"/>
                <a:cs typeface="Courier New" pitchFamily="34" charset="-120"/>
              </a:rPr>
              <a:t>"aws_region"</a:t>
            </a:r>
            <a:endParaRPr lang="en-US" sz="800" dirty="0"/>
          </a:p>
        </p:txBody>
      </p:sp>
      <p:sp>
        <p:nvSpPr>
          <p:cNvPr id="14" name="Text 12"/>
          <p:cNvSpPr/>
          <p:nvPr/>
        </p:nvSpPr>
        <p:spPr>
          <a:xfrm>
            <a:off x="714375" y="2389919"/>
            <a:ext cx="320040" cy="133241"/>
          </a:xfrm>
          <a:prstGeom prst="rect">
            <a:avLst/>
          </a:prstGeom>
          <a:noFill/>
          <a:ln/>
        </p:spPr>
        <p:txBody>
          <a:bodyPr wrap="none" lIns="0" tIns="0" rIns="0" bIns="0" rtlCol="0" anchor="t"/>
          <a:lstStyle/>
          <a:p>
            <a:pPr marL="0" indent="0" algn="l">
              <a:lnSpc>
                <a:spcPts val="1103"/>
              </a:lnSpc>
              <a:buNone/>
            </a:pPr>
            <a:r>
              <a:rPr lang="en-US" sz="800" dirty="0">
                <a:solidFill>
                  <a:srgbClr val="FBBF24"/>
                </a:solidFill>
                <a:latin typeface="Courier New" pitchFamily="34" charset="0"/>
                <a:ea typeface="Courier New" pitchFamily="34" charset="-122"/>
                <a:cs typeface="Courier New" pitchFamily="34" charset="-120"/>
              </a:rPr>
              <a:t>type</a:t>
            </a:r>
            <a:endParaRPr lang="en-US" sz="800" dirty="0"/>
          </a:p>
        </p:txBody>
      </p:sp>
      <p:sp>
        <p:nvSpPr>
          <p:cNvPr id="15" name="Text 13"/>
          <p:cNvSpPr/>
          <p:nvPr/>
        </p:nvSpPr>
        <p:spPr>
          <a:xfrm>
            <a:off x="1214438" y="2389919"/>
            <a:ext cx="429054" cy="112541"/>
          </a:xfrm>
          <a:prstGeom prst="rect">
            <a:avLst/>
          </a:prstGeom>
          <a:noFill/>
          <a:ln/>
        </p:spPr>
        <p:txBody>
          <a:bodyPr wrap="none" lIns="0" tIns="0" rIns="0" bIns="0" rtlCol="0" anchor="t">
            <a:normAutofit fontScale="25000" lnSpcReduction="20000"/>
          </a:bodyPr>
          <a:lstStyle/>
          <a:p>
            <a:pPr marL="0" indent="0" algn="l">
              <a:lnSpc>
                <a:spcPts val="1103"/>
              </a:lnSpc>
              <a:buNone/>
            </a:pPr>
            <a:r>
              <a:rPr lang="en-US" sz="800" dirty="0">
                <a:solidFill>
                  <a:srgbClr val="FBA74A"/>
                </a:solidFill>
                <a:latin typeface="Courier New" pitchFamily="34" charset="0"/>
                <a:ea typeface="Courier New" pitchFamily="34" charset="-122"/>
                <a:cs typeface="Courier New" pitchFamily="34" charset="-120"/>
              </a:rPr>
              <a:t>string</a:t>
            </a:r>
            <a:endParaRPr lang="en-US" sz="800" dirty="0"/>
          </a:p>
        </p:txBody>
      </p:sp>
      <p:sp>
        <p:nvSpPr>
          <p:cNvPr id="16" name="Text 14"/>
          <p:cNvSpPr/>
          <p:nvPr/>
        </p:nvSpPr>
        <p:spPr>
          <a:xfrm>
            <a:off x="714375" y="2529892"/>
            <a:ext cx="500563" cy="133241"/>
          </a:xfrm>
          <a:prstGeom prst="rect">
            <a:avLst/>
          </a:prstGeom>
          <a:noFill/>
          <a:ln/>
        </p:spPr>
        <p:txBody>
          <a:bodyPr wrap="none" lIns="0" tIns="0" rIns="0" bIns="0" rtlCol="0" anchor="t"/>
          <a:lstStyle/>
          <a:p>
            <a:pPr marL="0" indent="0" algn="l">
              <a:lnSpc>
                <a:spcPts val="1103"/>
              </a:lnSpc>
              <a:buNone/>
            </a:pPr>
            <a:r>
              <a:rPr lang="en-US" sz="800" dirty="0">
                <a:solidFill>
                  <a:srgbClr val="FBBF24"/>
                </a:solidFill>
                <a:latin typeface="Courier New" pitchFamily="34" charset="0"/>
                <a:ea typeface="Courier New" pitchFamily="34" charset="-122"/>
                <a:cs typeface="Courier New" pitchFamily="34" charset="-120"/>
              </a:rPr>
              <a:t>default</a:t>
            </a:r>
            <a:endParaRPr lang="en-US" sz="800" dirty="0"/>
          </a:p>
        </p:txBody>
      </p:sp>
      <p:sp>
        <p:nvSpPr>
          <p:cNvPr id="17" name="Text 15"/>
          <p:cNvSpPr/>
          <p:nvPr/>
        </p:nvSpPr>
        <p:spPr>
          <a:xfrm>
            <a:off x="1208361" y="2529892"/>
            <a:ext cx="699740" cy="133241"/>
          </a:xfrm>
          <a:prstGeom prst="rect">
            <a:avLst/>
          </a:prstGeom>
          <a:noFill/>
          <a:ln/>
        </p:spPr>
        <p:txBody>
          <a:bodyPr wrap="none" lIns="0" tIns="0" rIns="0" bIns="0" rtlCol="0" anchor="t"/>
          <a:lstStyle/>
          <a:p>
            <a:pPr marL="0" indent="0" algn="l">
              <a:lnSpc>
                <a:spcPts val="1103"/>
              </a:lnSpc>
              <a:buNone/>
            </a:pPr>
            <a:r>
              <a:rPr lang="en-US" sz="800" dirty="0">
                <a:solidFill>
                  <a:srgbClr val="86EFAC"/>
                </a:solidFill>
                <a:latin typeface="Liberation Sans Narrow" pitchFamily="34" charset="0"/>
                <a:ea typeface="Liberation Sans Narrow" pitchFamily="34" charset="-122"/>
                <a:cs typeface="Liberation Sans Narrow" pitchFamily="34" charset="-120"/>
              </a:rPr>
              <a:t>"us-east-1"</a:t>
            </a:r>
            <a:endParaRPr lang="en-US" sz="800" dirty="0"/>
          </a:p>
        </p:txBody>
      </p:sp>
      <p:sp>
        <p:nvSpPr>
          <p:cNvPr id="18" name="Text 16"/>
          <p:cNvSpPr/>
          <p:nvPr/>
        </p:nvSpPr>
        <p:spPr>
          <a:xfrm>
            <a:off x="614363" y="2949811"/>
            <a:ext cx="572072" cy="133241"/>
          </a:xfrm>
          <a:prstGeom prst="rect">
            <a:avLst/>
          </a:prstGeom>
          <a:noFill/>
          <a:ln/>
        </p:spPr>
        <p:txBody>
          <a:bodyPr wrap="none" lIns="0" tIns="0" rIns="0" bIns="0" rtlCol="0" anchor="t"/>
          <a:lstStyle/>
          <a:p>
            <a:pPr marL="0" indent="0" algn="l">
              <a:lnSpc>
                <a:spcPts val="1103"/>
              </a:lnSpc>
              <a:buNone/>
            </a:pPr>
            <a:r>
              <a:rPr lang="en-US" sz="800" dirty="0">
                <a:solidFill>
                  <a:srgbClr val="FBBF24"/>
                </a:solidFill>
                <a:latin typeface="Courier New" pitchFamily="34" charset="0"/>
                <a:ea typeface="Courier New" pitchFamily="34" charset="-122"/>
                <a:cs typeface="Courier New" pitchFamily="34" charset="-120"/>
              </a:rPr>
              <a:t>variable</a:t>
            </a:r>
            <a:endParaRPr lang="en-US" sz="800" dirty="0"/>
          </a:p>
        </p:txBody>
      </p:sp>
      <p:sp>
        <p:nvSpPr>
          <p:cNvPr id="19" name="Text 17"/>
          <p:cNvSpPr/>
          <p:nvPr/>
        </p:nvSpPr>
        <p:spPr>
          <a:xfrm>
            <a:off x="1064419" y="2949811"/>
            <a:ext cx="937617" cy="112541"/>
          </a:xfrm>
          <a:prstGeom prst="rect">
            <a:avLst/>
          </a:prstGeom>
          <a:noFill/>
          <a:ln/>
        </p:spPr>
        <p:txBody>
          <a:bodyPr wrap="none" lIns="0" tIns="0" rIns="0" bIns="0" rtlCol="0" anchor="t">
            <a:normAutofit fontScale="25000" lnSpcReduction="20000"/>
          </a:bodyPr>
          <a:lstStyle/>
          <a:p>
            <a:pPr marL="0" indent="0" algn="l">
              <a:lnSpc>
                <a:spcPts val="1103"/>
              </a:lnSpc>
              <a:buNone/>
            </a:pPr>
            <a:r>
              <a:rPr lang="en-US" sz="800" dirty="0">
                <a:solidFill>
                  <a:srgbClr val="86EFAC"/>
                </a:solidFill>
                <a:latin typeface="Courier New" pitchFamily="34" charset="0"/>
                <a:ea typeface="Courier New" pitchFamily="34" charset="-122"/>
                <a:cs typeface="Courier New" pitchFamily="34" charset="-120"/>
              </a:rPr>
              <a:t>"instance_type"</a:t>
            </a:r>
            <a:endParaRPr lang="en-US" sz="800" dirty="0"/>
          </a:p>
        </p:txBody>
      </p:sp>
      <p:sp>
        <p:nvSpPr>
          <p:cNvPr id="20" name="Text 18"/>
          <p:cNvSpPr/>
          <p:nvPr/>
        </p:nvSpPr>
        <p:spPr>
          <a:xfrm>
            <a:off x="714375" y="3089783"/>
            <a:ext cx="320040" cy="133241"/>
          </a:xfrm>
          <a:prstGeom prst="rect">
            <a:avLst/>
          </a:prstGeom>
          <a:noFill/>
          <a:ln/>
        </p:spPr>
        <p:txBody>
          <a:bodyPr wrap="none" lIns="0" tIns="0" rIns="0" bIns="0" rtlCol="0" anchor="t"/>
          <a:lstStyle/>
          <a:p>
            <a:pPr marL="0" indent="0" algn="l">
              <a:lnSpc>
                <a:spcPts val="1103"/>
              </a:lnSpc>
              <a:buNone/>
            </a:pPr>
            <a:r>
              <a:rPr lang="en-US" sz="800" dirty="0">
                <a:solidFill>
                  <a:srgbClr val="FBBF24"/>
                </a:solidFill>
                <a:latin typeface="Courier New" pitchFamily="34" charset="0"/>
                <a:ea typeface="Courier New" pitchFamily="34" charset="-122"/>
                <a:cs typeface="Courier New" pitchFamily="34" charset="-120"/>
              </a:rPr>
              <a:t>type</a:t>
            </a:r>
            <a:endParaRPr lang="en-US" sz="800" dirty="0"/>
          </a:p>
        </p:txBody>
      </p:sp>
      <p:sp>
        <p:nvSpPr>
          <p:cNvPr id="21" name="Text 19"/>
          <p:cNvSpPr/>
          <p:nvPr/>
        </p:nvSpPr>
        <p:spPr>
          <a:xfrm>
            <a:off x="1214438" y="3089783"/>
            <a:ext cx="429054" cy="112541"/>
          </a:xfrm>
          <a:prstGeom prst="rect">
            <a:avLst/>
          </a:prstGeom>
          <a:noFill/>
          <a:ln/>
        </p:spPr>
        <p:txBody>
          <a:bodyPr wrap="none" lIns="0" tIns="0" rIns="0" bIns="0" rtlCol="0" anchor="t">
            <a:normAutofit fontScale="25000" lnSpcReduction="20000"/>
          </a:bodyPr>
          <a:lstStyle/>
          <a:p>
            <a:pPr marL="0" indent="0" algn="l">
              <a:lnSpc>
                <a:spcPts val="1103"/>
              </a:lnSpc>
              <a:buNone/>
            </a:pPr>
            <a:r>
              <a:rPr lang="en-US" sz="800" dirty="0">
                <a:solidFill>
                  <a:srgbClr val="FBA74A"/>
                </a:solidFill>
                <a:latin typeface="Courier New" pitchFamily="34" charset="0"/>
                <a:ea typeface="Courier New" pitchFamily="34" charset="-122"/>
                <a:cs typeface="Courier New" pitchFamily="34" charset="-120"/>
              </a:rPr>
              <a:t>string</a:t>
            </a:r>
            <a:endParaRPr lang="en-US" sz="800" dirty="0"/>
          </a:p>
        </p:txBody>
      </p:sp>
      <p:sp>
        <p:nvSpPr>
          <p:cNvPr id="22" name="Text 20"/>
          <p:cNvSpPr/>
          <p:nvPr/>
        </p:nvSpPr>
        <p:spPr>
          <a:xfrm>
            <a:off x="714375" y="3229756"/>
            <a:ext cx="500563" cy="133241"/>
          </a:xfrm>
          <a:prstGeom prst="rect">
            <a:avLst/>
          </a:prstGeom>
          <a:noFill/>
          <a:ln/>
        </p:spPr>
        <p:txBody>
          <a:bodyPr wrap="none" lIns="0" tIns="0" rIns="0" bIns="0" rtlCol="0" anchor="t"/>
          <a:lstStyle/>
          <a:p>
            <a:pPr marL="0" indent="0" algn="l">
              <a:lnSpc>
                <a:spcPts val="1103"/>
              </a:lnSpc>
              <a:buNone/>
            </a:pPr>
            <a:r>
              <a:rPr lang="en-US" sz="800" dirty="0">
                <a:solidFill>
                  <a:srgbClr val="FBBF24"/>
                </a:solidFill>
                <a:latin typeface="Courier New" pitchFamily="34" charset="0"/>
                <a:ea typeface="Courier New" pitchFamily="34" charset="-122"/>
                <a:cs typeface="Courier New" pitchFamily="34" charset="-120"/>
              </a:rPr>
              <a:t>default</a:t>
            </a:r>
            <a:endParaRPr lang="en-US" sz="800" dirty="0"/>
          </a:p>
        </p:txBody>
      </p:sp>
      <p:sp>
        <p:nvSpPr>
          <p:cNvPr id="23" name="Text 21"/>
          <p:cNvSpPr/>
          <p:nvPr/>
        </p:nvSpPr>
        <p:spPr>
          <a:xfrm>
            <a:off x="1204082" y="3229756"/>
            <a:ext cx="645790" cy="112541"/>
          </a:xfrm>
          <a:prstGeom prst="rect">
            <a:avLst/>
          </a:prstGeom>
          <a:noFill/>
          <a:ln/>
        </p:spPr>
        <p:txBody>
          <a:bodyPr wrap="none" lIns="0" tIns="0" rIns="0" bIns="0" rtlCol="0" anchor="t">
            <a:normAutofit fontScale="25000" lnSpcReduction="20000"/>
          </a:bodyPr>
          <a:lstStyle/>
          <a:p>
            <a:pPr marL="0" indent="0" algn="l">
              <a:lnSpc>
                <a:spcPts val="1103"/>
              </a:lnSpc>
              <a:buNone/>
            </a:pPr>
            <a:r>
              <a:rPr lang="en-US" sz="800" dirty="0">
                <a:solidFill>
                  <a:srgbClr val="86EFAC"/>
                </a:solidFill>
                <a:latin typeface="Liberation Sans Narrow" pitchFamily="34" charset="0"/>
                <a:ea typeface="Liberation Sans Narrow" pitchFamily="34" charset="-122"/>
                <a:cs typeface="Liberation Sans Narrow" pitchFamily="34" charset="-120"/>
              </a:rPr>
              <a:t>"t3.micro"</a:t>
            </a:r>
            <a:endParaRPr lang="en-US" sz="800" dirty="0"/>
          </a:p>
        </p:txBody>
      </p:sp>
      <p:sp>
        <p:nvSpPr>
          <p:cNvPr id="24" name="Text 22"/>
          <p:cNvSpPr/>
          <p:nvPr/>
        </p:nvSpPr>
        <p:spPr>
          <a:xfrm>
            <a:off x="697425" y="3369729"/>
            <a:ext cx="658978" cy="112541"/>
          </a:xfrm>
          <a:prstGeom prst="rect">
            <a:avLst/>
          </a:prstGeom>
          <a:noFill/>
          <a:ln/>
        </p:spPr>
        <p:txBody>
          <a:bodyPr wrap="none" lIns="0" tIns="0" rIns="0" bIns="0" rtlCol="0" anchor="t">
            <a:normAutofit fontScale="25000" lnSpcReduction="20000"/>
          </a:bodyPr>
          <a:lstStyle/>
          <a:p>
            <a:pPr marL="0" indent="0" algn="l">
              <a:lnSpc>
                <a:spcPts val="1103"/>
              </a:lnSpc>
              <a:buNone/>
            </a:pPr>
            <a:r>
              <a:rPr lang="en-US" sz="800" dirty="0">
                <a:solidFill>
                  <a:srgbClr val="FBBF24"/>
                </a:solidFill>
                <a:latin typeface="Courier New" pitchFamily="34" charset="0"/>
                <a:ea typeface="Courier New" pitchFamily="34" charset="-122"/>
                <a:cs typeface="Courier New" pitchFamily="34" charset="-120"/>
              </a:rPr>
              <a:t>validation</a:t>
            </a:r>
            <a:endParaRPr lang="en-US" sz="800" dirty="0"/>
          </a:p>
        </p:txBody>
      </p:sp>
      <p:sp>
        <p:nvSpPr>
          <p:cNvPr id="25" name="Text 23"/>
          <p:cNvSpPr/>
          <p:nvPr/>
        </p:nvSpPr>
        <p:spPr>
          <a:xfrm>
            <a:off x="814388" y="3509702"/>
            <a:ext cx="643580" cy="133241"/>
          </a:xfrm>
          <a:prstGeom prst="rect">
            <a:avLst/>
          </a:prstGeom>
          <a:noFill/>
          <a:ln/>
        </p:spPr>
        <p:txBody>
          <a:bodyPr wrap="none" lIns="0" tIns="0" rIns="0" bIns="0" rtlCol="0" anchor="t"/>
          <a:lstStyle/>
          <a:p>
            <a:pPr marL="0" indent="0" algn="l">
              <a:lnSpc>
                <a:spcPts val="1103"/>
              </a:lnSpc>
              <a:buNone/>
            </a:pPr>
            <a:r>
              <a:rPr lang="en-US" sz="800" dirty="0">
                <a:solidFill>
                  <a:srgbClr val="FBBF24"/>
                </a:solidFill>
                <a:latin typeface="Courier New" pitchFamily="34" charset="0"/>
                <a:ea typeface="Courier New" pitchFamily="34" charset="-122"/>
                <a:cs typeface="Courier New" pitchFamily="34" charset="-120"/>
              </a:rPr>
              <a:t>condition</a:t>
            </a:r>
            <a:endParaRPr lang="en-US" sz="800" dirty="0"/>
          </a:p>
        </p:txBody>
      </p:sp>
      <p:sp>
        <p:nvSpPr>
          <p:cNvPr id="26" name="Text 24"/>
          <p:cNvSpPr/>
          <p:nvPr/>
        </p:nvSpPr>
        <p:spPr>
          <a:xfrm>
            <a:off x="1614488" y="3509702"/>
            <a:ext cx="572072" cy="133241"/>
          </a:xfrm>
          <a:prstGeom prst="rect">
            <a:avLst/>
          </a:prstGeom>
          <a:noFill/>
          <a:ln/>
        </p:spPr>
        <p:txBody>
          <a:bodyPr wrap="none" lIns="0" tIns="0" rIns="0" bIns="0" rtlCol="0" anchor="t"/>
          <a:lstStyle/>
          <a:p>
            <a:pPr marL="0" indent="0" algn="l">
              <a:lnSpc>
                <a:spcPts val="1103"/>
              </a:lnSpc>
              <a:buNone/>
            </a:pPr>
            <a:r>
              <a:rPr lang="en-US" sz="800" dirty="0">
                <a:solidFill>
                  <a:srgbClr val="FBA74A"/>
                </a:solidFill>
                <a:latin typeface="Courier New" pitchFamily="34" charset="0"/>
                <a:ea typeface="Courier New" pitchFamily="34" charset="-122"/>
                <a:cs typeface="Courier New" pitchFamily="34" charset="-120"/>
              </a:rPr>
              <a:t>contains</a:t>
            </a:r>
            <a:endParaRPr lang="en-US" sz="800" dirty="0"/>
          </a:p>
        </p:txBody>
      </p:sp>
      <p:sp>
        <p:nvSpPr>
          <p:cNvPr id="27" name="Text 25"/>
          <p:cNvSpPr/>
          <p:nvPr/>
        </p:nvSpPr>
        <p:spPr>
          <a:xfrm>
            <a:off x="2104194" y="3509702"/>
            <a:ext cx="645790" cy="133241"/>
          </a:xfrm>
          <a:prstGeom prst="rect">
            <a:avLst/>
          </a:prstGeom>
          <a:noFill/>
          <a:ln/>
        </p:spPr>
        <p:txBody>
          <a:bodyPr wrap="none" lIns="0" tIns="0" rIns="0" bIns="0" rtlCol="0" anchor="t"/>
          <a:lstStyle/>
          <a:p>
            <a:pPr marL="0" indent="0" algn="l">
              <a:lnSpc>
                <a:spcPts val="1103"/>
              </a:lnSpc>
              <a:buNone/>
            </a:pPr>
            <a:r>
              <a:rPr lang="en-US" sz="800" dirty="0">
                <a:solidFill>
                  <a:srgbClr val="86EFAC"/>
                </a:solidFill>
                <a:latin typeface="Liberation Sans Narrow" pitchFamily="34" charset="0"/>
                <a:ea typeface="Liberation Sans Narrow" pitchFamily="34" charset="-122"/>
                <a:cs typeface="Liberation Sans Narrow" pitchFamily="34" charset="-120"/>
              </a:rPr>
              <a:t>"t3.micro"</a:t>
            </a:r>
            <a:endParaRPr lang="en-US" sz="800" dirty="0"/>
          </a:p>
        </p:txBody>
      </p:sp>
      <p:sp>
        <p:nvSpPr>
          <p:cNvPr id="28" name="Text 26"/>
          <p:cNvSpPr/>
          <p:nvPr/>
        </p:nvSpPr>
        <p:spPr>
          <a:xfrm>
            <a:off x="2704269" y="3509702"/>
            <a:ext cx="645790" cy="133241"/>
          </a:xfrm>
          <a:prstGeom prst="rect">
            <a:avLst/>
          </a:prstGeom>
          <a:noFill/>
          <a:ln/>
        </p:spPr>
        <p:txBody>
          <a:bodyPr wrap="none" lIns="0" tIns="0" rIns="0" bIns="0" rtlCol="0" anchor="t"/>
          <a:lstStyle/>
          <a:p>
            <a:pPr marL="0" indent="0" algn="l">
              <a:lnSpc>
                <a:spcPts val="1103"/>
              </a:lnSpc>
              <a:buNone/>
            </a:pPr>
            <a:r>
              <a:rPr lang="en-US" sz="800" dirty="0">
                <a:solidFill>
                  <a:srgbClr val="86EFAC"/>
                </a:solidFill>
                <a:latin typeface="Liberation Sans Narrow" pitchFamily="34" charset="0"/>
                <a:ea typeface="Liberation Sans Narrow" pitchFamily="34" charset="-122"/>
                <a:cs typeface="Liberation Sans Narrow" pitchFamily="34" charset="-120"/>
              </a:rPr>
              <a:t>"t3.small"</a:t>
            </a:r>
            <a:endParaRPr lang="en-US" sz="800" dirty="0"/>
          </a:p>
        </p:txBody>
      </p:sp>
      <p:sp>
        <p:nvSpPr>
          <p:cNvPr id="29" name="Text 27"/>
          <p:cNvSpPr/>
          <p:nvPr/>
        </p:nvSpPr>
        <p:spPr>
          <a:xfrm>
            <a:off x="3364706" y="3509702"/>
            <a:ext cx="1062633" cy="112541"/>
          </a:xfrm>
          <a:prstGeom prst="rect">
            <a:avLst/>
          </a:prstGeom>
          <a:noFill/>
          <a:ln/>
        </p:spPr>
        <p:txBody>
          <a:bodyPr wrap="none" lIns="0" tIns="0" rIns="0" bIns="0" rtlCol="0" anchor="t">
            <a:normAutofit fontScale="25000" lnSpcReduction="20000"/>
          </a:bodyPr>
          <a:lstStyle/>
          <a:p>
            <a:pPr marL="0" indent="0" algn="l">
              <a:lnSpc>
                <a:spcPts val="1103"/>
              </a:lnSpc>
              <a:buNone/>
            </a:pPr>
            <a:r>
              <a:rPr lang="en-US" sz="800" dirty="0">
                <a:solidFill>
                  <a:srgbClr val="93C5FD"/>
                </a:solidFill>
                <a:latin typeface="Courier New" pitchFamily="34" charset="0"/>
                <a:ea typeface="Courier New" pitchFamily="34" charset="-122"/>
                <a:cs typeface="Courier New" pitchFamily="34" charset="-120"/>
              </a:rPr>
              <a:t>var.instance_type</a:t>
            </a:r>
            <a:endParaRPr lang="en-US" sz="800" dirty="0"/>
          </a:p>
        </p:txBody>
      </p:sp>
      <p:sp>
        <p:nvSpPr>
          <p:cNvPr id="30" name="Text 28"/>
          <p:cNvSpPr/>
          <p:nvPr/>
        </p:nvSpPr>
        <p:spPr>
          <a:xfrm>
            <a:off x="814388" y="3649675"/>
            <a:ext cx="812602" cy="133241"/>
          </a:xfrm>
          <a:prstGeom prst="rect">
            <a:avLst/>
          </a:prstGeom>
          <a:noFill/>
          <a:ln/>
        </p:spPr>
        <p:txBody>
          <a:bodyPr wrap="none" lIns="0" tIns="0" rIns="0" bIns="0" rtlCol="0" anchor="t"/>
          <a:lstStyle/>
          <a:p>
            <a:pPr marL="0" indent="0" algn="l">
              <a:lnSpc>
                <a:spcPts val="1103"/>
              </a:lnSpc>
              <a:buNone/>
            </a:pPr>
            <a:r>
              <a:rPr lang="en-US" sz="800" dirty="0">
                <a:solidFill>
                  <a:srgbClr val="FBBF24"/>
                </a:solidFill>
                <a:latin typeface="Courier New" pitchFamily="34" charset="0"/>
                <a:ea typeface="Courier New" pitchFamily="34" charset="-122"/>
                <a:cs typeface="Courier New" pitchFamily="34" charset="-120"/>
              </a:rPr>
              <a:t>error_message</a:t>
            </a:r>
            <a:endParaRPr lang="en-US" sz="800" dirty="0"/>
          </a:p>
        </p:txBody>
      </p:sp>
      <p:sp>
        <p:nvSpPr>
          <p:cNvPr id="31" name="Text 29"/>
          <p:cNvSpPr/>
          <p:nvPr/>
        </p:nvSpPr>
        <p:spPr>
          <a:xfrm>
            <a:off x="1614488" y="3649675"/>
            <a:ext cx="1674209" cy="133241"/>
          </a:xfrm>
          <a:prstGeom prst="rect">
            <a:avLst/>
          </a:prstGeom>
          <a:noFill/>
          <a:ln/>
        </p:spPr>
        <p:txBody>
          <a:bodyPr wrap="none" lIns="0" tIns="0" rIns="0" bIns="0" rtlCol="0" anchor="t"/>
          <a:lstStyle/>
          <a:p>
            <a:pPr marL="0" indent="0" algn="l">
              <a:lnSpc>
                <a:spcPts val="1103"/>
              </a:lnSpc>
              <a:buNone/>
            </a:pPr>
            <a:r>
              <a:rPr lang="en-US" sz="788" dirty="0">
                <a:solidFill>
                  <a:srgbClr val="86EFAC"/>
                </a:solidFill>
                <a:latin typeface="Liberation Sans Narrow" pitchFamily="34" charset="0"/>
                <a:ea typeface="Liberation Sans Narrow" pitchFamily="34" charset="-122"/>
                <a:cs typeface="Liberation Sans Narrow" pitchFamily="34" charset="-120"/>
              </a:rPr>
              <a:t>"Must be t3.micro or t3.small."</a:t>
            </a:r>
            <a:endParaRPr lang="en-US" sz="788" dirty="0"/>
          </a:p>
        </p:txBody>
      </p:sp>
      <p:sp>
        <p:nvSpPr>
          <p:cNvPr id="32" name="Text 30"/>
          <p:cNvSpPr/>
          <p:nvPr/>
        </p:nvSpPr>
        <p:spPr>
          <a:xfrm>
            <a:off x="614363" y="4209566"/>
            <a:ext cx="1944243" cy="91440"/>
          </a:xfrm>
          <a:prstGeom prst="rect">
            <a:avLst/>
          </a:prstGeom>
          <a:noFill/>
          <a:ln/>
        </p:spPr>
        <p:txBody>
          <a:bodyPr wrap="none" lIns="0" tIns="0" rIns="0" bIns="0" rtlCol="0" anchor="t"/>
          <a:lstStyle/>
          <a:p>
            <a:pPr marL="0" indent="0" algn="l">
              <a:lnSpc>
                <a:spcPts val="1103"/>
              </a:lnSpc>
              <a:buNone/>
            </a:pPr>
            <a:r>
              <a:rPr lang="en-US" sz="788" i="1" dirty="0">
                <a:solidFill>
                  <a:srgbClr val="94A3B8"/>
                </a:solidFill>
                <a:latin typeface="Courier New" pitchFamily="34" charset="0"/>
                <a:ea typeface="Courier New" pitchFamily="34" charset="-122"/>
                <a:cs typeface="Courier New" pitchFamily="34" charset="-120"/>
              </a:rPr>
              <a:t># Security group allowing SSH + HTTP</a:t>
            </a:r>
            <a:endParaRPr lang="en-US" sz="788" dirty="0"/>
          </a:p>
        </p:txBody>
      </p:sp>
      <p:sp>
        <p:nvSpPr>
          <p:cNvPr id="33" name="Text 31"/>
          <p:cNvSpPr/>
          <p:nvPr/>
        </p:nvSpPr>
        <p:spPr>
          <a:xfrm>
            <a:off x="614363" y="4349539"/>
            <a:ext cx="572072" cy="91440"/>
          </a:xfrm>
          <a:prstGeom prst="rect">
            <a:avLst/>
          </a:prstGeom>
          <a:noFill/>
          <a:ln/>
        </p:spPr>
        <p:txBody>
          <a:bodyPr wrap="none" lIns="0" tIns="0" rIns="0" bIns="0" rtlCol="0" anchor="t"/>
          <a:lstStyle/>
          <a:p>
            <a:pPr marL="0" indent="0" algn="l">
              <a:lnSpc>
                <a:spcPts val="1103"/>
              </a:lnSpc>
              <a:buNone/>
            </a:pPr>
            <a:r>
              <a:rPr lang="en-US" sz="800" dirty="0">
                <a:solidFill>
                  <a:srgbClr val="FBBF24"/>
                </a:solidFill>
                <a:latin typeface="Courier New" pitchFamily="34" charset="0"/>
                <a:ea typeface="Courier New" pitchFamily="34" charset="-122"/>
                <a:cs typeface="Courier New" pitchFamily="34" charset="-120"/>
              </a:rPr>
              <a:t>resource</a:t>
            </a:r>
            <a:endParaRPr lang="en-US" sz="800" dirty="0"/>
          </a:p>
        </p:txBody>
      </p:sp>
      <p:sp>
        <p:nvSpPr>
          <p:cNvPr id="34" name="Text 32"/>
          <p:cNvSpPr/>
          <p:nvPr/>
        </p:nvSpPr>
        <p:spPr>
          <a:xfrm>
            <a:off x="1064419" y="4349539"/>
            <a:ext cx="1250156" cy="91440"/>
          </a:xfrm>
          <a:prstGeom prst="rect">
            <a:avLst/>
          </a:prstGeom>
          <a:noFill/>
          <a:ln/>
        </p:spPr>
        <p:txBody>
          <a:bodyPr wrap="none" lIns="0" tIns="0" rIns="0" bIns="0" rtlCol="0" anchor="t"/>
          <a:lstStyle/>
          <a:p>
            <a:pPr marL="0" indent="0" algn="l">
              <a:lnSpc>
                <a:spcPts val="1103"/>
              </a:lnSpc>
              <a:buNone/>
            </a:pPr>
            <a:r>
              <a:rPr lang="en-US" sz="800" dirty="0">
                <a:solidFill>
                  <a:srgbClr val="86EFAC"/>
                </a:solidFill>
                <a:latin typeface="Courier New" pitchFamily="34" charset="0"/>
                <a:ea typeface="Courier New" pitchFamily="34" charset="-122"/>
                <a:cs typeface="Courier New" pitchFamily="34" charset="-120"/>
              </a:rPr>
              <a:t>"aws_security_group"</a:t>
            </a:r>
            <a:endParaRPr lang="en-US" sz="800" dirty="0"/>
          </a:p>
        </p:txBody>
      </p:sp>
      <p:sp>
        <p:nvSpPr>
          <p:cNvPr id="35" name="Text 33"/>
          <p:cNvSpPr/>
          <p:nvPr/>
        </p:nvSpPr>
        <p:spPr>
          <a:xfrm>
            <a:off x="2114550" y="4349539"/>
            <a:ext cx="572072" cy="91440"/>
          </a:xfrm>
          <a:prstGeom prst="rect">
            <a:avLst/>
          </a:prstGeom>
          <a:noFill/>
          <a:ln/>
        </p:spPr>
        <p:txBody>
          <a:bodyPr wrap="none" lIns="0" tIns="0" rIns="0" bIns="0" rtlCol="0" anchor="t"/>
          <a:lstStyle/>
          <a:p>
            <a:pPr marL="0" indent="0" algn="l">
              <a:lnSpc>
                <a:spcPts val="1103"/>
              </a:lnSpc>
              <a:buNone/>
            </a:pPr>
            <a:r>
              <a:rPr lang="en-US" sz="800" dirty="0">
                <a:solidFill>
                  <a:srgbClr val="86EFAC"/>
                </a:solidFill>
                <a:latin typeface="Courier New" pitchFamily="34" charset="0"/>
                <a:ea typeface="Courier New" pitchFamily="34" charset="-122"/>
                <a:cs typeface="Courier New" pitchFamily="34" charset="-120"/>
              </a:rPr>
              <a:t>"web_sg"</a:t>
            </a:r>
            <a:endParaRPr lang="en-US" sz="800" dirty="0"/>
          </a:p>
        </p:txBody>
      </p:sp>
      <p:sp>
        <p:nvSpPr>
          <p:cNvPr id="36" name="Text 34"/>
          <p:cNvSpPr/>
          <p:nvPr/>
        </p:nvSpPr>
        <p:spPr>
          <a:xfrm>
            <a:off x="714375" y="4489512"/>
            <a:ext cx="320040" cy="91440"/>
          </a:xfrm>
          <a:prstGeom prst="rect">
            <a:avLst/>
          </a:prstGeom>
          <a:noFill/>
          <a:ln/>
        </p:spPr>
        <p:txBody>
          <a:bodyPr wrap="none" lIns="0" tIns="0" rIns="0" bIns="0" rtlCol="0" anchor="t"/>
          <a:lstStyle/>
          <a:p>
            <a:pPr marL="0" indent="0" algn="l">
              <a:lnSpc>
                <a:spcPts val="1103"/>
              </a:lnSpc>
              <a:buNone/>
            </a:pPr>
            <a:r>
              <a:rPr lang="en-US" sz="800" dirty="0">
                <a:solidFill>
                  <a:srgbClr val="FBBF24"/>
                </a:solidFill>
                <a:latin typeface="Courier New" pitchFamily="34" charset="0"/>
                <a:ea typeface="Courier New" pitchFamily="34" charset="-122"/>
                <a:cs typeface="Courier New" pitchFamily="34" charset="-120"/>
              </a:rPr>
              <a:t>name</a:t>
            </a:r>
            <a:endParaRPr lang="en-US" sz="800" dirty="0"/>
          </a:p>
        </p:txBody>
      </p:sp>
      <p:sp>
        <p:nvSpPr>
          <p:cNvPr id="37" name="Text 35"/>
          <p:cNvSpPr/>
          <p:nvPr/>
        </p:nvSpPr>
        <p:spPr>
          <a:xfrm>
            <a:off x="1414463" y="4489512"/>
            <a:ext cx="572072" cy="91440"/>
          </a:xfrm>
          <a:prstGeom prst="rect">
            <a:avLst/>
          </a:prstGeom>
          <a:noFill/>
          <a:ln/>
        </p:spPr>
        <p:txBody>
          <a:bodyPr wrap="none" lIns="0" tIns="0" rIns="0" bIns="0" rtlCol="0" anchor="t"/>
          <a:lstStyle/>
          <a:p>
            <a:pPr marL="0" indent="0" algn="l">
              <a:lnSpc>
                <a:spcPts val="1103"/>
              </a:lnSpc>
              <a:buNone/>
            </a:pPr>
            <a:r>
              <a:rPr lang="en-US" sz="800" dirty="0">
                <a:solidFill>
                  <a:srgbClr val="86EFAC"/>
                </a:solidFill>
                <a:latin typeface="Courier New" pitchFamily="34" charset="0"/>
                <a:ea typeface="Courier New" pitchFamily="34" charset="-122"/>
                <a:cs typeface="Courier New" pitchFamily="34" charset="-120"/>
              </a:rPr>
              <a:t>"web-sg"</a:t>
            </a:r>
            <a:endParaRPr lang="en-US" sz="800" dirty="0"/>
          </a:p>
        </p:txBody>
      </p:sp>
      <p:sp>
        <p:nvSpPr>
          <p:cNvPr id="38" name="Text 36"/>
          <p:cNvSpPr/>
          <p:nvPr/>
        </p:nvSpPr>
        <p:spPr>
          <a:xfrm>
            <a:off x="697508" y="4629485"/>
            <a:ext cx="721319" cy="91440"/>
          </a:xfrm>
          <a:prstGeom prst="rect">
            <a:avLst/>
          </a:prstGeom>
          <a:noFill/>
          <a:ln/>
        </p:spPr>
        <p:txBody>
          <a:bodyPr wrap="none" lIns="0" tIns="0" rIns="0" bIns="0" rtlCol="0" anchor="t"/>
          <a:lstStyle/>
          <a:p>
            <a:pPr marL="0" indent="0" algn="l">
              <a:lnSpc>
                <a:spcPts val="1103"/>
              </a:lnSpc>
              <a:buNone/>
            </a:pPr>
            <a:r>
              <a:rPr lang="en-US" sz="800" dirty="0">
                <a:solidFill>
                  <a:srgbClr val="FBBF24"/>
                </a:solidFill>
                <a:latin typeface="Courier New" pitchFamily="34" charset="0"/>
                <a:ea typeface="Courier New" pitchFamily="34" charset="-122"/>
                <a:cs typeface="Courier New" pitchFamily="34" charset="-120"/>
              </a:rPr>
              <a:t>description</a:t>
            </a:r>
            <a:endParaRPr lang="en-US" sz="800" dirty="0"/>
          </a:p>
        </p:txBody>
      </p:sp>
      <p:sp>
        <p:nvSpPr>
          <p:cNvPr id="39" name="Text 37"/>
          <p:cNvSpPr/>
          <p:nvPr/>
        </p:nvSpPr>
        <p:spPr>
          <a:xfrm>
            <a:off x="1414463" y="4629485"/>
            <a:ext cx="1250156" cy="91440"/>
          </a:xfrm>
          <a:prstGeom prst="rect">
            <a:avLst/>
          </a:prstGeom>
          <a:noFill/>
          <a:ln/>
        </p:spPr>
        <p:txBody>
          <a:bodyPr wrap="none" lIns="0" tIns="0" rIns="0" bIns="0" rtlCol="0" anchor="t"/>
          <a:lstStyle/>
          <a:p>
            <a:pPr marL="0" indent="0" algn="l">
              <a:lnSpc>
                <a:spcPts val="1103"/>
              </a:lnSpc>
              <a:buNone/>
            </a:pPr>
            <a:r>
              <a:rPr lang="en-US" sz="800" dirty="0">
                <a:solidFill>
                  <a:srgbClr val="86EFAC"/>
                </a:solidFill>
                <a:latin typeface="Courier New" pitchFamily="34" charset="0"/>
                <a:ea typeface="Courier New" pitchFamily="34" charset="-122"/>
                <a:cs typeface="Courier New" pitchFamily="34" charset="-120"/>
              </a:rPr>
              <a:t>"Allow SSH and HTTP"</a:t>
            </a:r>
            <a:endParaRPr lang="en-US" sz="800" dirty="0"/>
          </a:p>
        </p:txBody>
      </p:sp>
      <p:sp>
        <p:nvSpPr>
          <p:cNvPr id="40" name="Text 38"/>
          <p:cNvSpPr/>
          <p:nvPr/>
        </p:nvSpPr>
        <p:spPr>
          <a:xfrm>
            <a:off x="714375" y="4909431"/>
            <a:ext cx="500563" cy="91440"/>
          </a:xfrm>
          <a:prstGeom prst="rect">
            <a:avLst/>
          </a:prstGeom>
          <a:noFill/>
          <a:ln/>
        </p:spPr>
        <p:txBody>
          <a:bodyPr wrap="none" lIns="0" tIns="0" rIns="0" bIns="0" rtlCol="0" anchor="t"/>
          <a:lstStyle/>
          <a:p>
            <a:pPr marL="0" indent="0" algn="l">
              <a:lnSpc>
                <a:spcPts val="1103"/>
              </a:lnSpc>
              <a:buNone/>
            </a:pPr>
            <a:r>
              <a:rPr lang="en-US" sz="800" dirty="0">
                <a:solidFill>
                  <a:srgbClr val="FBBF24"/>
                </a:solidFill>
                <a:latin typeface="Courier New" pitchFamily="34" charset="0"/>
                <a:ea typeface="Courier New" pitchFamily="34" charset="-122"/>
                <a:cs typeface="Courier New" pitchFamily="34" charset="-120"/>
              </a:rPr>
              <a:t>ingress</a:t>
            </a:r>
            <a:endParaRPr lang="en-US" sz="800" dirty="0"/>
          </a:p>
        </p:txBody>
      </p:sp>
      <p:sp>
        <p:nvSpPr>
          <p:cNvPr id="41" name="Text 39"/>
          <p:cNvSpPr/>
          <p:nvPr/>
        </p:nvSpPr>
        <p:spPr>
          <a:xfrm>
            <a:off x="814388" y="5049403"/>
            <a:ext cx="643580" cy="91440"/>
          </a:xfrm>
          <a:prstGeom prst="rect">
            <a:avLst/>
          </a:prstGeom>
          <a:noFill/>
          <a:ln/>
        </p:spPr>
        <p:txBody>
          <a:bodyPr wrap="none" lIns="0" tIns="0" rIns="0" bIns="0" rtlCol="0" anchor="t"/>
          <a:lstStyle/>
          <a:p>
            <a:pPr marL="0" indent="0" algn="l">
              <a:lnSpc>
                <a:spcPts val="1103"/>
              </a:lnSpc>
              <a:buNone/>
            </a:pPr>
            <a:r>
              <a:rPr lang="en-US" sz="800" dirty="0">
                <a:solidFill>
                  <a:srgbClr val="FBBF24"/>
                </a:solidFill>
                <a:latin typeface="Courier New" pitchFamily="34" charset="0"/>
                <a:ea typeface="Courier New" pitchFamily="34" charset="-122"/>
                <a:cs typeface="Courier New" pitchFamily="34" charset="-120"/>
              </a:rPr>
              <a:t>from_port</a:t>
            </a:r>
            <a:endParaRPr lang="en-US" sz="800" dirty="0"/>
          </a:p>
        </p:txBody>
      </p:sp>
      <p:sp>
        <p:nvSpPr>
          <p:cNvPr id="42" name="Text 40"/>
          <p:cNvSpPr/>
          <p:nvPr/>
        </p:nvSpPr>
        <p:spPr>
          <a:xfrm>
            <a:off x="1502374" y="5049403"/>
            <a:ext cx="184221" cy="91440"/>
          </a:xfrm>
          <a:prstGeom prst="rect">
            <a:avLst/>
          </a:prstGeom>
          <a:noFill/>
          <a:ln/>
        </p:spPr>
        <p:txBody>
          <a:bodyPr wrap="none" lIns="0" tIns="0" rIns="0" bIns="0" rtlCol="0" anchor="t"/>
          <a:lstStyle/>
          <a:p>
            <a:pPr marL="0" indent="0" algn="l">
              <a:lnSpc>
                <a:spcPts val="1103"/>
              </a:lnSpc>
              <a:buNone/>
            </a:pPr>
            <a:r>
              <a:rPr lang="en-US" sz="800" dirty="0">
                <a:solidFill>
                  <a:srgbClr val="93C5FD"/>
                </a:solidFill>
                <a:latin typeface="Liberation Sans Narrow" pitchFamily="34" charset="0"/>
                <a:ea typeface="Liberation Sans Narrow" pitchFamily="34" charset="-122"/>
                <a:cs typeface="Liberation Sans Narrow" pitchFamily="34" charset="-120"/>
              </a:rPr>
              <a:t>22</a:t>
            </a:r>
            <a:endParaRPr lang="en-US" sz="800" dirty="0"/>
          </a:p>
        </p:txBody>
      </p:sp>
      <p:sp>
        <p:nvSpPr>
          <p:cNvPr id="43" name="Text 41"/>
          <p:cNvSpPr/>
          <p:nvPr/>
        </p:nvSpPr>
        <p:spPr>
          <a:xfrm>
            <a:off x="814388" y="5189376"/>
            <a:ext cx="500563" cy="91440"/>
          </a:xfrm>
          <a:prstGeom prst="rect">
            <a:avLst/>
          </a:prstGeom>
          <a:noFill/>
          <a:ln/>
        </p:spPr>
        <p:txBody>
          <a:bodyPr wrap="none" lIns="0" tIns="0" rIns="0" bIns="0" rtlCol="0" anchor="t"/>
          <a:lstStyle/>
          <a:p>
            <a:pPr marL="0" indent="0" algn="l">
              <a:lnSpc>
                <a:spcPts val="1103"/>
              </a:lnSpc>
              <a:buNone/>
            </a:pPr>
            <a:r>
              <a:rPr lang="en-US" sz="800" dirty="0">
                <a:solidFill>
                  <a:srgbClr val="FBBF24"/>
                </a:solidFill>
                <a:latin typeface="Courier New" pitchFamily="34" charset="0"/>
                <a:ea typeface="Courier New" pitchFamily="34" charset="-122"/>
                <a:cs typeface="Courier New" pitchFamily="34" charset="-120"/>
              </a:rPr>
              <a:t>to_port</a:t>
            </a:r>
            <a:endParaRPr lang="en-US" sz="800" dirty="0"/>
          </a:p>
        </p:txBody>
      </p:sp>
      <p:sp>
        <p:nvSpPr>
          <p:cNvPr id="44" name="Text 42"/>
          <p:cNvSpPr/>
          <p:nvPr/>
        </p:nvSpPr>
        <p:spPr>
          <a:xfrm>
            <a:off x="1502374" y="5189376"/>
            <a:ext cx="184221" cy="91440"/>
          </a:xfrm>
          <a:prstGeom prst="rect">
            <a:avLst/>
          </a:prstGeom>
          <a:noFill/>
          <a:ln/>
        </p:spPr>
        <p:txBody>
          <a:bodyPr wrap="none" lIns="0" tIns="0" rIns="0" bIns="0" rtlCol="0" anchor="t"/>
          <a:lstStyle/>
          <a:p>
            <a:pPr marL="0" indent="0" algn="l">
              <a:lnSpc>
                <a:spcPts val="1103"/>
              </a:lnSpc>
              <a:buNone/>
            </a:pPr>
            <a:r>
              <a:rPr lang="en-US" sz="800" dirty="0">
                <a:solidFill>
                  <a:srgbClr val="93C5FD"/>
                </a:solidFill>
                <a:latin typeface="Liberation Sans Narrow" pitchFamily="34" charset="0"/>
                <a:ea typeface="Liberation Sans Narrow" pitchFamily="34" charset="-122"/>
                <a:cs typeface="Liberation Sans Narrow" pitchFamily="34" charset="-120"/>
              </a:rPr>
              <a:t>22</a:t>
            </a:r>
            <a:endParaRPr lang="en-US" sz="800" dirty="0"/>
          </a:p>
        </p:txBody>
      </p:sp>
      <p:sp>
        <p:nvSpPr>
          <p:cNvPr id="45" name="Text 43"/>
          <p:cNvSpPr/>
          <p:nvPr/>
        </p:nvSpPr>
        <p:spPr>
          <a:xfrm>
            <a:off x="814388" y="5329349"/>
            <a:ext cx="572072" cy="91440"/>
          </a:xfrm>
          <a:prstGeom prst="rect">
            <a:avLst/>
          </a:prstGeom>
          <a:noFill/>
          <a:ln/>
        </p:spPr>
        <p:txBody>
          <a:bodyPr wrap="none" lIns="0" tIns="0" rIns="0" bIns="0" rtlCol="0" anchor="t"/>
          <a:lstStyle/>
          <a:p>
            <a:pPr marL="0" indent="0" algn="l">
              <a:lnSpc>
                <a:spcPts val="1103"/>
              </a:lnSpc>
              <a:buNone/>
            </a:pPr>
            <a:r>
              <a:rPr lang="en-US" sz="800" dirty="0">
                <a:solidFill>
                  <a:srgbClr val="FBBF24"/>
                </a:solidFill>
                <a:latin typeface="Courier New" pitchFamily="34" charset="0"/>
                <a:ea typeface="Courier New" pitchFamily="34" charset="-122"/>
                <a:cs typeface="Courier New" pitchFamily="34" charset="-120"/>
              </a:rPr>
              <a:t>protocol</a:t>
            </a:r>
            <a:endParaRPr lang="en-US" sz="800" dirty="0"/>
          </a:p>
        </p:txBody>
      </p:sp>
      <p:sp>
        <p:nvSpPr>
          <p:cNvPr id="46" name="Text 44"/>
          <p:cNvSpPr/>
          <p:nvPr/>
        </p:nvSpPr>
        <p:spPr>
          <a:xfrm>
            <a:off x="1514475" y="5329349"/>
            <a:ext cx="400050" cy="91440"/>
          </a:xfrm>
          <a:prstGeom prst="rect">
            <a:avLst/>
          </a:prstGeom>
          <a:noFill/>
          <a:ln/>
        </p:spPr>
        <p:txBody>
          <a:bodyPr wrap="none" lIns="0" tIns="0" rIns="0" bIns="0" rtlCol="0" anchor="t"/>
          <a:lstStyle/>
          <a:p>
            <a:pPr marL="0" indent="0" algn="l">
              <a:lnSpc>
                <a:spcPts val="1103"/>
              </a:lnSpc>
              <a:buNone/>
            </a:pPr>
            <a:r>
              <a:rPr lang="en-US" sz="800" dirty="0">
                <a:solidFill>
                  <a:srgbClr val="86EFAC"/>
                </a:solidFill>
                <a:latin typeface="Courier New" pitchFamily="34" charset="0"/>
                <a:ea typeface="Courier New" pitchFamily="34" charset="-122"/>
                <a:cs typeface="Courier New" pitchFamily="34" charset="-120"/>
              </a:rPr>
              <a:t>"tcp"</a:t>
            </a:r>
            <a:endParaRPr lang="en-US" sz="800" dirty="0"/>
          </a:p>
        </p:txBody>
      </p:sp>
      <p:sp>
        <p:nvSpPr>
          <p:cNvPr id="47" name="Text 45"/>
          <p:cNvSpPr/>
          <p:nvPr/>
        </p:nvSpPr>
        <p:spPr>
          <a:xfrm>
            <a:off x="801717" y="5469322"/>
            <a:ext cx="712927" cy="91440"/>
          </a:xfrm>
          <a:prstGeom prst="rect">
            <a:avLst/>
          </a:prstGeom>
          <a:noFill/>
          <a:ln/>
        </p:spPr>
        <p:txBody>
          <a:bodyPr wrap="none" lIns="0" tIns="0" rIns="0" bIns="0" rtlCol="0" anchor="t"/>
          <a:lstStyle/>
          <a:p>
            <a:pPr marL="0" indent="0" algn="l">
              <a:lnSpc>
                <a:spcPts val="1103"/>
              </a:lnSpc>
              <a:buNone/>
            </a:pPr>
            <a:r>
              <a:rPr lang="en-US" sz="800" dirty="0">
                <a:solidFill>
                  <a:srgbClr val="FBBF24"/>
                </a:solidFill>
                <a:latin typeface="Courier New" pitchFamily="34" charset="0"/>
                <a:ea typeface="Courier New" pitchFamily="34" charset="-122"/>
                <a:cs typeface="Courier New" pitchFamily="34" charset="-120"/>
              </a:rPr>
              <a:t>cidr_blocks</a:t>
            </a:r>
            <a:endParaRPr lang="en-US" sz="800" dirty="0"/>
          </a:p>
        </p:txBody>
      </p:sp>
      <p:sp>
        <p:nvSpPr>
          <p:cNvPr id="48" name="Text 46"/>
          <p:cNvSpPr/>
          <p:nvPr/>
        </p:nvSpPr>
        <p:spPr>
          <a:xfrm>
            <a:off x="1542819" y="5469322"/>
            <a:ext cx="730910" cy="91440"/>
          </a:xfrm>
          <a:prstGeom prst="rect">
            <a:avLst/>
          </a:prstGeom>
          <a:noFill/>
          <a:ln/>
        </p:spPr>
        <p:txBody>
          <a:bodyPr wrap="none" lIns="0" tIns="0" rIns="0" bIns="0" rtlCol="0" anchor="t"/>
          <a:lstStyle/>
          <a:p>
            <a:pPr marL="0" indent="0" algn="l">
              <a:lnSpc>
                <a:spcPts val="1103"/>
              </a:lnSpc>
              <a:buNone/>
            </a:pPr>
            <a:r>
              <a:rPr lang="en-US" sz="800" dirty="0">
                <a:solidFill>
                  <a:srgbClr val="86EFAC"/>
                </a:solidFill>
                <a:latin typeface="Liberation Sans Narrow" pitchFamily="34" charset="0"/>
                <a:ea typeface="Liberation Sans Narrow" pitchFamily="34" charset="-122"/>
                <a:cs typeface="Liberation Sans Narrow" pitchFamily="34" charset="-120"/>
              </a:rPr>
              <a:t>"0.0.0.0/0"</a:t>
            </a:r>
            <a:endParaRPr lang="en-US" sz="800" dirty="0"/>
          </a:p>
        </p:txBody>
      </p:sp>
      <p:sp>
        <p:nvSpPr>
          <p:cNvPr id="49" name="Text 47"/>
          <p:cNvSpPr/>
          <p:nvPr/>
        </p:nvSpPr>
        <p:spPr>
          <a:xfrm>
            <a:off x="714375" y="5749268"/>
            <a:ext cx="500563" cy="91440"/>
          </a:xfrm>
          <a:prstGeom prst="rect">
            <a:avLst/>
          </a:prstGeom>
          <a:noFill/>
          <a:ln/>
        </p:spPr>
        <p:txBody>
          <a:bodyPr wrap="none" lIns="0" tIns="0" rIns="0" bIns="0" rtlCol="0" anchor="t"/>
          <a:lstStyle/>
          <a:p>
            <a:pPr marL="0" indent="0" algn="l">
              <a:lnSpc>
                <a:spcPts val="1103"/>
              </a:lnSpc>
              <a:buNone/>
            </a:pPr>
            <a:r>
              <a:rPr lang="en-US" sz="800" dirty="0">
                <a:solidFill>
                  <a:srgbClr val="FBBF24"/>
                </a:solidFill>
                <a:latin typeface="Courier New" pitchFamily="34" charset="0"/>
                <a:ea typeface="Courier New" pitchFamily="34" charset="-122"/>
                <a:cs typeface="Courier New" pitchFamily="34" charset="-120"/>
              </a:rPr>
              <a:t>ingress</a:t>
            </a:r>
            <a:endParaRPr lang="en-US" sz="800" dirty="0"/>
          </a:p>
        </p:txBody>
      </p:sp>
      <p:sp>
        <p:nvSpPr>
          <p:cNvPr id="50" name="Text 48"/>
          <p:cNvSpPr/>
          <p:nvPr/>
        </p:nvSpPr>
        <p:spPr>
          <a:xfrm>
            <a:off x="814388" y="5889241"/>
            <a:ext cx="643580" cy="91440"/>
          </a:xfrm>
          <a:prstGeom prst="rect">
            <a:avLst/>
          </a:prstGeom>
          <a:noFill/>
          <a:ln/>
        </p:spPr>
        <p:txBody>
          <a:bodyPr wrap="none" lIns="0" tIns="0" rIns="0" bIns="0" rtlCol="0" anchor="t"/>
          <a:lstStyle/>
          <a:p>
            <a:pPr marL="0" indent="0" algn="l">
              <a:lnSpc>
                <a:spcPts val="1103"/>
              </a:lnSpc>
              <a:buNone/>
            </a:pPr>
            <a:r>
              <a:rPr lang="en-US" sz="800" dirty="0">
                <a:solidFill>
                  <a:srgbClr val="FBBF24"/>
                </a:solidFill>
                <a:latin typeface="Courier New" pitchFamily="34" charset="0"/>
                <a:ea typeface="Courier New" pitchFamily="34" charset="-122"/>
                <a:cs typeface="Courier New" pitchFamily="34" charset="-120"/>
              </a:rPr>
              <a:t>from_port</a:t>
            </a:r>
            <a:endParaRPr lang="en-US" sz="800" dirty="0"/>
          </a:p>
        </p:txBody>
      </p:sp>
      <p:sp>
        <p:nvSpPr>
          <p:cNvPr id="51" name="Text 49"/>
          <p:cNvSpPr/>
          <p:nvPr/>
        </p:nvSpPr>
        <p:spPr>
          <a:xfrm>
            <a:off x="1502374" y="5889241"/>
            <a:ext cx="184221" cy="91440"/>
          </a:xfrm>
          <a:prstGeom prst="rect">
            <a:avLst/>
          </a:prstGeom>
          <a:noFill/>
          <a:ln/>
        </p:spPr>
        <p:txBody>
          <a:bodyPr wrap="none" lIns="0" tIns="0" rIns="0" bIns="0" rtlCol="0" anchor="t"/>
          <a:lstStyle/>
          <a:p>
            <a:pPr marL="0" indent="0" algn="l">
              <a:lnSpc>
                <a:spcPts val="1103"/>
              </a:lnSpc>
              <a:buNone/>
            </a:pPr>
            <a:r>
              <a:rPr lang="en-US" sz="800" dirty="0">
                <a:solidFill>
                  <a:srgbClr val="93C5FD"/>
                </a:solidFill>
                <a:latin typeface="Liberation Sans Narrow" pitchFamily="34" charset="0"/>
                <a:ea typeface="Liberation Sans Narrow" pitchFamily="34" charset="-122"/>
                <a:cs typeface="Liberation Sans Narrow" pitchFamily="34" charset="-120"/>
              </a:rPr>
              <a:t>80</a:t>
            </a:r>
            <a:endParaRPr lang="en-US" sz="800" dirty="0"/>
          </a:p>
        </p:txBody>
      </p:sp>
      <p:sp>
        <p:nvSpPr>
          <p:cNvPr id="52" name="Text 50"/>
          <p:cNvSpPr/>
          <p:nvPr/>
        </p:nvSpPr>
        <p:spPr>
          <a:xfrm>
            <a:off x="814388" y="6029213"/>
            <a:ext cx="500563" cy="91440"/>
          </a:xfrm>
          <a:prstGeom prst="rect">
            <a:avLst/>
          </a:prstGeom>
          <a:noFill/>
          <a:ln/>
        </p:spPr>
        <p:txBody>
          <a:bodyPr wrap="none" lIns="0" tIns="0" rIns="0" bIns="0" rtlCol="0" anchor="t"/>
          <a:lstStyle/>
          <a:p>
            <a:pPr marL="0" indent="0" algn="l">
              <a:lnSpc>
                <a:spcPts val="1103"/>
              </a:lnSpc>
              <a:buNone/>
            </a:pPr>
            <a:r>
              <a:rPr lang="en-US" sz="800" dirty="0">
                <a:solidFill>
                  <a:srgbClr val="FBBF24"/>
                </a:solidFill>
                <a:latin typeface="Courier New" pitchFamily="34" charset="0"/>
                <a:ea typeface="Courier New" pitchFamily="34" charset="-122"/>
                <a:cs typeface="Courier New" pitchFamily="34" charset="-120"/>
              </a:rPr>
              <a:t>to_port</a:t>
            </a:r>
            <a:endParaRPr lang="en-US" sz="800" dirty="0"/>
          </a:p>
        </p:txBody>
      </p:sp>
      <p:sp>
        <p:nvSpPr>
          <p:cNvPr id="53" name="Text 51"/>
          <p:cNvSpPr/>
          <p:nvPr/>
        </p:nvSpPr>
        <p:spPr>
          <a:xfrm>
            <a:off x="1502374" y="6029213"/>
            <a:ext cx="184221" cy="91440"/>
          </a:xfrm>
          <a:prstGeom prst="rect">
            <a:avLst/>
          </a:prstGeom>
          <a:noFill/>
          <a:ln/>
        </p:spPr>
        <p:txBody>
          <a:bodyPr wrap="none" lIns="0" tIns="0" rIns="0" bIns="0" rtlCol="0" anchor="t"/>
          <a:lstStyle/>
          <a:p>
            <a:pPr marL="0" indent="0" algn="l">
              <a:lnSpc>
                <a:spcPts val="1103"/>
              </a:lnSpc>
              <a:buNone/>
            </a:pPr>
            <a:r>
              <a:rPr lang="en-US" sz="800" dirty="0">
                <a:solidFill>
                  <a:srgbClr val="93C5FD"/>
                </a:solidFill>
                <a:latin typeface="Liberation Sans Narrow" pitchFamily="34" charset="0"/>
                <a:ea typeface="Liberation Sans Narrow" pitchFamily="34" charset="-122"/>
                <a:cs typeface="Liberation Sans Narrow" pitchFamily="34" charset="-120"/>
              </a:rPr>
              <a:t>80</a:t>
            </a:r>
            <a:endParaRPr lang="en-US" sz="800" dirty="0"/>
          </a:p>
        </p:txBody>
      </p:sp>
      <p:sp>
        <p:nvSpPr>
          <p:cNvPr id="54" name="Text 52"/>
          <p:cNvSpPr/>
          <p:nvPr/>
        </p:nvSpPr>
        <p:spPr>
          <a:xfrm>
            <a:off x="814388" y="6169186"/>
            <a:ext cx="572072" cy="91440"/>
          </a:xfrm>
          <a:prstGeom prst="rect">
            <a:avLst/>
          </a:prstGeom>
          <a:noFill/>
          <a:ln/>
        </p:spPr>
        <p:txBody>
          <a:bodyPr wrap="none" lIns="0" tIns="0" rIns="0" bIns="0" rtlCol="0" anchor="t"/>
          <a:lstStyle/>
          <a:p>
            <a:pPr marL="0" indent="0" algn="l">
              <a:lnSpc>
                <a:spcPts val="1103"/>
              </a:lnSpc>
              <a:buNone/>
            </a:pPr>
            <a:r>
              <a:rPr lang="en-US" sz="800" dirty="0">
                <a:solidFill>
                  <a:srgbClr val="FBBF24"/>
                </a:solidFill>
                <a:latin typeface="Courier New" pitchFamily="34" charset="0"/>
                <a:ea typeface="Courier New" pitchFamily="34" charset="-122"/>
                <a:cs typeface="Courier New" pitchFamily="34" charset="-120"/>
              </a:rPr>
              <a:t>protocol</a:t>
            </a:r>
            <a:endParaRPr lang="en-US" sz="800" dirty="0"/>
          </a:p>
        </p:txBody>
      </p:sp>
      <p:sp>
        <p:nvSpPr>
          <p:cNvPr id="55" name="Text 53"/>
          <p:cNvSpPr/>
          <p:nvPr/>
        </p:nvSpPr>
        <p:spPr>
          <a:xfrm>
            <a:off x="1514475" y="6169186"/>
            <a:ext cx="400050" cy="91440"/>
          </a:xfrm>
          <a:prstGeom prst="rect">
            <a:avLst/>
          </a:prstGeom>
          <a:noFill/>
          <a:ln/>
        </p:spPr>
        <p:txBody>
          <a:bodyPr wrap="none" lIns="0" tIns="0" rIns="0" bIns="0" rtlCol="0" anchor="t"/>
          <a:lstStyle/>
          <a:p>
            <a:pPr marL="0" indent="0" algn="l">
              <a:lnSpc>
                <a:spcPts val="1103"/>
              </a:lnSpc>
              <a:buNone/>
            </a:pPr>
            <a:r>
              <a:rPr lang="en-US" sz="800" dirty="0">
                <a:solidFill>
                  <a:srgbClr val="86EFAC"/>
                </a:solidFill>
                <a:latin typeface="Courier New" pitchFamily="34" charset="0"/>
                <a:ea typeface="Courier New" pitchFamily="34" charset="-122"/>
                <a:cs typeface="Courier New" pitchFamily="34" charset="-120"/>
              </a:rPr>
              <a:t>"tcp"</a:t>
            </a:r>
            <a:endParaRPr lang="en-US" sz="800" dirty="0"/>
          </a:p>
        </p:txBody>
      </p:sp>
      <p:sp>
        <p:nvSpPr>
          <p:cNvPr id="56" name="Text 54"/>
          <p:cNvSpPr/>
          <p:nvPr/>
        </p:nvSpPr>
        <p:spPr>
          <a:xfrm>
            <a:off x="801717" y="6309159"/>
            <a:ext cx="712927" cy="91440"/>
          </a:xfrm>
          <a:prstGeom prst="rect">
            <a:avLst/>
          </a:prstGeom>
          <a:noFill/>
          <a:ln/>
        </p:spPr>
        <p:txBody>
          <a:bodyPr wrap="none" lIns="0" tIns="0" rIns="0" bIns="0" rtlCol="0" anchor="t"/>
          <a:lstStyle/>
          <a:p>
            <a:pPr marL="0" indent="0" algn="l">
              <a:lnSpc>
                <a:spcPts val="1103"/>
              </a:lnSpc>
              <a:buNone/>
            </a:pPr>
            <a:r>
              <a:rPr lang="en-US" sz="800" dirty="0">
                <a:solidFill>
                  <a:srgbClr val="FBBF24"/>
                </a:solidFill>
                <a:latin typeface="Courier New" pitchFamily="34" charset="0"/>
                <a:ea typeface="Courier New" pitchFamily="34" charset="-122"/>
                <a:cs typeface="Courier New" pitchFamily="34" charset="-120"/>
              </a:rPr>
              <a:t>cidr_blocks</a:t>
            </a:r>
            <a:endParaRPr lang="en-US" sz="800" dirty="0"/>
          </a:p>
        </p:txBody>
      </p:sp>
      <p:sp>
        <p:nvSpPr>
          <p:cNvPr id="57" name="Text 55"/>
          <p:cNvSpPr/>
          <p:nvPr/>
        </p:nvSpPr>
        <p:spPr>
          <a:xfrm>
            <a:off x="1542819" y="6309159"/>
            <a:ext cx="730910" cy="91440"/>
          </a:xfrm>
          <a:prstGeom prst="rect">
            <a:avLst/>
          </a:prstGeom>
          <a:noFill/>
          <a:ln/>
        </p:spPr>
        <p:txBody>
          <a:bodyPr wrap="none" lIns="0" tIns="0" rIns="0" bIns="0" rtlCol="0" anchor="t"/>
          <a:lstStyle/>
          <a:p>
            <a:pPr marL="0" indent="0" algn="l">
              <a:lnSpc>
                <a:spcPts val="1103"/>
              </a:lnSpc>
              <a:buNone/>
            </a:pPr>
            <a:r>
              <a:rPr lang="en-US" sz="800" dirty="0">
                <a:solidFill>
                  <a:srgbClr val="86EFAC"/>
                </a:solidFill>
                <a:latin typeface="Liberation Sans Narrow" pitchFamily="34" charset="0"/>
                <a:ea typeface="Liberation Sans Narrow" pitchFamily="34" charset="-122"/>
                <a:cs typeface="Liberation Sans Narrow" pitchFamily="34" charset="-120"/>
              </a:rPr>
              <a:t>"0.0.0.0/0"</a:t>
            </a:r>
            <a:endParaRPr lang="en-US" sz="800" dirty="0"/>
          </a:p>
        </p:txBody>
      </p:sp>
      <p:sp>
        <p:nvSpPr>
          <p:cNvPr id="58" name="Text 56"/>
          <p:cNvSpPr/>
          <p:nvPr/>
        </p:nvSpPr>
        <p:spPr>
          <a:xfrm>
            <a:off x="714375" y="6589105"/>
            <a:ext cx="429054" cy="91440"/>
          </a:xfrm>
          <a:prstGeom prst="rect">
            <a:avLst/>
          </a:prstGeom>
          <a:noFill/>
          <a:ln/>
        </p:spPr>
        <p:txBody>
          <a:bodyPr wrap="none" lIns="0" tIns="0" rIns="0" bIns="0" rtlCol="0" anchor="t"/>
          <a:lstStyle/>
          <a:p>
            <a:pPr marL="0" indent="0" algn="l">
              <a:lnSpc>
                <a:spcPts val="1103"/>
              </a:lnSpc>
              <a:buNone/>
            </a:pPr>
            <a:r>
              <a:rPr lang="en-US" sz="800" dirty="0">
                <a:solidFill>
                  <a:srgbClr val="FBBF24"/>
                </a:solidFill>
                <a:latin typeface="Courier New" pitchFamily="34" charset="0"/>
                <a:ea typeface="Courier New" pitchFamily="34" charset="-122"/>
                <a:cs typeface="Courier New" pitchFamily="34" charset="-120"/>
              </a:rPr>
              <a:t>egress</a:t>
            </a:r>
            <a:endParaRPr lang="en-US" sz="800" dirty="0"/>
          </a:p>
        </p:txBody>
      </p:sp>
      <p:sp>
        <p:nvSpPr>
          <p:cNvPr id="59" name="Text 57"/>
          <p:cNvSpPr/>
          <p:nvPr/>
        </p:nvSpPr>
        <p:spPr>
          <a:xfrm>
            <a:off x="814388" y="6729078"/>
            <a:ext cx="643580" cy="91440"/>
          </a:xfrm>
          <a:prstGeom prst="rect">
            <a:avLst/>
          </a:prstGeom>
          <a:noFill/>
          <a:ln/>
        </p:spPr>
        <p:txBody>
          <a:bodyPr wrap="none" lIns="0" tIns="0" rIns="0" bIns="0" rtlCol="0" anchor="t"/>
          <a:lstStyle/>
          <a:p>
            <a:pPr marL="0" indent="0" algn="l">
              <a:lnSpc>
                <a:spcPts val="1103"/>
              </a:lnSpc>
              <a:buNone/>
            </a:pPr>
            <a:r>
              <a:rPr lang="en-US" sz="800" dirty="0">
                <a:solidFill>
                  <a:srgbClr val="FBBF24"/>
                </a:solidFill>
                <a:latin typeface="Courier New" pitchFamily="34" charset="0"/>
                <a:ea typeface="Courier New" pitchFamily="34" charset="-122"/>
                <a:cs typeface="Courier New" pitchFamily="34" charset="-120"/>
              </a:rPr>
              <a:t>from_port</a:t>
            </a:r>
            <a:endParaRPr lang="en-US" sz="800" dirty="0"/>
          </a:p>
        </p:txBody>
      </p:sp>
      <p:sp>
        <p:nvSpPr>
          <p:cNvPr id="60" name="Text 58"/>
          <p:cNvSpPr/>
          <p:nvPr/>
        </p:nvSpPr>
        <p:spPr>
          <a:xfrm>
            <a:off x="1514475" y="6729078"/>
            <a:ext cx="91440" cy="91440"/>
          </a:xfrm>
          <a:prstGeom prst="rect">
            <a:avLst/>
          </a:prstGeom>
          <a:noFill/>
          <a:ln/>
        </p:spPr>
        <p:txBody>
          <a:bodyPr wrap="none" lIns="0" tIns="0" rIns="0" bIns="0" rtlCol="0" anchor="t"/>
          <a:lstStyle/>
          <a:p>
            <a:pPr marL="0" indent="0" algn="l">
              <a:lnSpc>
                <a:spcPts val="1103"/>
              </a:lnSpc>
              <a:buNone/>
            </a:pPr>
            <a:r>
              <a:rPr lang="en-US" sz="800" dirty="0">
                <a:solidFill>
                  <a:srgbClr val="93C5FD"/>
                </a:solidFill>
                <a:latin typeface="Liberation Sans Narrow" pitchFamily="34" charset="0"/>
                <a:ea typeface="Liberation Sans Narrow" pitchFamily="34" charset="-122"/>
                <a:cs typeface="Liberation Sans Narrow" pitchFamily="34" charset="-120"/>
              </a:rPr>
              <a:t>0</a:t>
            </a:r>
            <a:endParaRPr lang="en-US" sz="800" dirty="0"/>
          </a:p>
        </p:txBody>
      </p:sp>
      <p:sp>
        <p:nvSpPr>
          <p:cNvPr id="61" name="Text 59"/>
          <p:cNvSpPr/>
          <p:nvPr/>
        </p:nvSpPr>
        <p:spPr>
          <a:xfrm>
            <a:off x="814388" y="6869050"/>
            <a:ext cx="500563" cy="91440"/>
          </a:xfrm>
          <a:prstGeom prst="rect">
            <a:avLst/>
          </a:prstGeom>
          <a:noFill/>
          <a:ln/>
        </p:spPr>
        <p:txBody>
          <a:bodyPr wrap="none" lIns="0" tIns="0" rIns="0" bIns="0" rtlCol="0" anchor="t"/>
          <a:lstStyle/>
          <a:p>
            <a:pPr marL="0" indent="0" algn="l">
              <a:lnSpc>
                <a:spcPts val="1103"/>
              </a:lnSpc>
              <a:buNone/>
            </a:pPr>
            <a:r>
              <a:rPr lang="en-US" sz="800" dirty="0">
                <a:solidFill>
                  <a:srgbClr val="FBBF24"/>
                </a:solidFill>
                <a:latin typeface="Courier New" pitchFamily="34" charset="0"/>
                <a:ea typeface="Courier New" pitchFamily="34" charset="-122"/>
                <a:cs typeface="Courier New" pitchFamily="34" charset="-120"/>
              </a:rPr>
              <a:t>to_port</a:t>
            </a:r>
            <a:endParaRPr lang="en-US" sz="800" dirty="0"/>
          </a:p>
        </p:txBody>
      </p:sp>
      <p:sp>
        <p:nvSpPr>
          <p:cNvPr id="62" name="Text 60"/>
          <p:cNvSpPr/>
          <p:nvPr/>
        </p:nvSpPr>
        <p:spPr>
          <a:xfrm>
            <a:off x="1514475" y="6869050"/>
            <a:ext cx="91440" cy="91440"/>
          </a:xfrm>
          <a:prstGeom prst="rect">
            <a:avLst/>
          </a:prstGeom>
          <a:noFill/>
          <a:ln/>
        </p:spPr>
        <p:txBody>
          <a:bodyPr wrap="none" lIns="0" tIns="0" rIns="0" bIns="0" rtlCol="0" anchor="t"/>
          <a:lstStyle/>
          <a:p>
            <a:pPr marL="0" indent="0" algn="l">
              <a:lnSpc>
                <a:spcPts val="1103"/>
              </a:lnSpc>
              <a:buNone/>
            </a:pPr>
            <a:r>
              <a:rPr lang="en-US" sz="800" dirty="0">
                <a:solidFill>
                  <a:srgbClr val="93C5FD"/>
                </a:solidFill>
                <a:latin typeface="Liberation Sans Narrow" pitchFamily="34" charset="0"/>
                <a:ea typeface="Liberation Sans Narrow" pitchFamily="34" charset="-122"/>
                <a:cs typeface="Liberation Sans Narrow" pitchFamily="34" charset="-120"/>
              </a:rPr>
              <a:t>0</a:t>
            </a:r>
            <a:endParaRPr lang="en-US" sz="800" dirty="0"/>
          </a:p>
        </p:txBody>
      </p:sp>
      <p:sp>
        <p:nvSpPr>
          <p:cNvPr id="63" name="Text 61"/>
          <p:cNvSpPr/>
          <p:nvPr/>
        </p:nvSpPr>
        <p:spPr>
          <a:xfrm>
            <a:off x="814388" y="7009023"/>
            <a:ext cx="572072" cy="91440"/>
          </a:xfrm>
          <a:prstGeom prst="rect">
            <a:avLst/>
          </a:prstGeom>
          <a:noFill/>
          <a:ln/>
        </p:spPr>
        <p:txBody>
          <a:bodyPr wrap="none" lIns="0" tIns="0" rIns="0" bIns="0" rtlCol="0" anchor="t"/>
          <a:lstStyle/>
          <a:p>
            <a:pPr marL="0" indent="0" algn="l">
              <a:lnSpc>
                <a:spcPts val="1103"/>
              </a:lnSpc>
              <a:buNone/>
            </a:pPr>
            <a:r>
              <a:rPr lang="en-US" sz="800" dirty="0">
                <a:solidFill>
                  <a:srgbClr val="FBBF24"/>
                </a:solidFill>
                <a:latin typeface="Courier New" pitchFamily="34" charset="0"/>
                <a:ea typeface="Courier New" pitchFamily="34" charset="-122"/>
                <a:cs typeface="Courier New" pitchFamily="34" charset="-120"/>
              </a:rPr>
              <a:t>protocol</a:t>
            </a:r>
            <a:endParaRPr lang="en-US" sz="800" dirty="0"/>
          </a:p>
        </p:txBody>
      </p:sp>
      <p:sp>
        <p:nvSpPr>
          <p:cNvPr id="64" name="Text 62"/>
          <p:cNvSpPr/>
          <p:nvPr/>
        </p:nvSpPr>
        <p:spPr>
          <a:xfrm>
            <a:off x="1514475" y="7009023"/>
            <a:ext cx="320040" cy="91440"/>
          </a:xfrm>
          <a:prstGeom prst="rect">
            <a:avLst/>
          </a:prstGeom>
          <a:noFill/>
          <a:ln/>
        </p:spPr>
        <p:txBody>
          <a:bodyPr wrap="none" lIns="0" tIns="0" rIns="0" bIns="0" rtlCol="0" anchor="t"/>
          <a:lstStyle/>
          <a:p>
            <a:pPr marL="0" indent="0" algn="l">
              <a:lnSpc>
                <a:spcPts val="1103"/>
              </a:lnSpc>
              <a:buNone/>
            </a:pPr>
            <a:r>
              <a:rPr lang="en-US" sz="800" dirty="0">
                <a:solidFill>
                  <a:srgbClr val="86EFAC"/>
                </a:solidFill>
                <a:latin typeface="Courier New" pitchFamily="34" charset="0"/>
                <a:ea typeface="Courier New" pitchFamily="34" charset="-122"/>
                <a:cs typeface="Courier New" pitchFamily="34" charset="-120"/>
              </a:rPr>
              <a:t>"-1"</a:t>
            </a:r>
            <a:endParaRPr lang="en-US" sz="800" dirty="0"/>
          </a:p>
        </p:txBody>
      </p:sp>
      <p:sp>
        <p:nvSpPr>
          <p:cNvPr id="65" name="Text 63"/>
          <p:cNvSpPr/>
          <p:nvPr/>
        </p:nvSpPr>
        <p:spPr>
          <a:xfrm>
            <a:off x="801717" y="7148996"/>
            <a:ext cx="712927" cy="91440"/>
          </a:xfrm>
          <a:prstGeom prst="rect">
            <a:avLst/>
          </a:prstGeom>
          <a:noFill/>
          <a:ln/>
        </p:spPr>
        <p:txBody>
          <a:bodyPr wrap="none" lIns="0" tIns="0" rIns="0" bIns="0" rtlCol="0" anchor="t"/>
          <a:lstStyle/>
          <a:p>
            <a:pPr marL="0" indent="0" algn="l">
              <a:lnSpc>
                <a:spcPts val="1103"/>
              </a:lnSpc>
              <a:buNone/>
            </a:pPr>
            <a:r>
              <a:rPr lang="en-US" sz="800" dirty="0">
                <a:solidFill>
                  <a:srgbClr val="FBBF24"/>
                </a:solidFill>
                <a:latin typeface="Courier New" pitchFamily="34" charset="0"/>
                <a:ea typeface="Courier New" pitchFamily="34" charset="-122"/>
                <a:cs typeface="Courier New" pitchFamily="34" charset="-120"/>
              </a:rPr>
              <a:t>cidr_blocks</a:t>
            </a:r>
            <a:endParaRPr lang="en-US" sz="800" dirty="0"/>
          </a:p>
        </p:txBody>
      </p:sp>
      <p:sp>
        <p:nvSpPr>
          <p:cNvPr id="66" name="Text 64"/>
          <p:cNvSpPr/>
          <p:nvPr/>
        </p:nvSpPr>
        <p:spPr>
          <a:xfrm>
            <a:off x="1542819" y="7148996"/>
            <a:ext cx="730910" cy="91440"/>
          </a:xfrm>
          <a:prstGeom prst="rect">
            <a:avLst/>
          </a:prstGeom>
          <a:noFill/>
          <a:ln/>
        </p:spPr>
        <p:txBody>
          <a:bodyPr wrap="none" lIns="0" tIns="0" rIns="0" bIns="0" rtlCol="0" anchor="t"/>
          <a:lstStyle/>
          <a:p>
            <a:pPr marL="0" indent="0" algn="l">
              <a:lnSpc>
                <a:spcPts val="1103"/>
              </a:lnSpc>
              <a:buNone/>
            </a:pPr>
            <a:r>
              <a:rPr lang="en-US" sz="800" dirty="0">
                <a:solidFill>
                  <a:srgbClr val="86EFAC"/>
                </a:solidFill>
                <a:latin typeface="Liberation Sans Narrow" pitchFamily="34" charset="0"/>
                <a:ea typeface="Liberation Sans Narrow" pitchFamily="34" charset="-122"/>
                <a:cs typeface="Liberation Sans Narrow" pitchFamily="34" charset="-120"/>
              </a:rPr>
              <a:t>"0.0.0.0/0"</a:t>
            </a:r>
            <a:endParaRPr lang="en-US" sz="800" dirty="0"/>
          </a:p>
        </p:txBody>
      </p:sp>
      <p:sp>
        <p:nvSpPr>
          <p:cNvPr id="67" name="Text 65"/>
          <p:cNvSpPr/>
          <p:nvPr/>
        </p:nvSpPr>
        <p:spPr>
          <a:xfrm>
            <a:off x="614363" y="7708888"/>
            <a:ext cx="903113" cy="91440"/>
          </a:xfrm>
          <a:prstGeom prst="rect">
            <a:avLst/>
          </a:prstGeom>
          <a:noFill/>
          <a:ln/>
        </p:spPr>
        <p:txBody>
          <a:bodyPr wrap="none" lIns="0" tIns="0" rIns="0" bIns="0" rtlCol="0" anchor="t"/>
          <a:lstStyle/>
          <a:p>
            <a:pPr marL="0" indent="0" algn="l">
              <a:lnSpc>
                <a:spcPts val="1103"/>
              </a:lnSpc>
              <a:buNone/>
            </a:pPr>
            <a:r>
              <a:rPr lang="en-US" sz="800" i="1" dirty="0">
                <a:solidFill>
                  <a:srgbClr val="94A3B8"/>
                </a:solidFill>
                <a:latin typeface="Liberation Sans Narrow" pitchFamily="34" charset="0"/>
                <a:ea typeface="Liberation Sans Narrow" pitchFamily="34" charset="-122"/>
                <a:cs typeface="Liberation Sans Narrow" pitchFamily="34" charset="-120"/>
              </a:rPr>
              <a:t># EC2 instance</a:t>
            </a:r>
            <a:endParaRPr lang="en-US" sz="800" dirty="0"/>
          </a:p>
        </p:txBody>
      </p:sp>
      <p:sp>
        <p:nvSpPr>
          <p:cNvPr id="68" name="Text 66"/>
          <p:cNvSpPr/>
          <p:nvPr/>
        </p:nvSpPr>
        <p:spPr>
          <a:xfrm>
            <a:off x="614363" y="7848860"/>
            <a:ext cx="572072" cy="91440"/>
          </a:xfrm>
          <a:prstGeom prst="rect">
            <a:avLst/>
          </a:prstGeom>
          <a:noFill/>
          <a:ln/>
        </p:spPr>
        <p:txBody>
          <a:bodyPr wrap="none" lIns="0" tIns="0" rIns="0" bIns="0" rtlCol="0" anchor="t"/>
          <a:lstStyle/>
          <a:p>
            <a:pPr marL="0" indent="0" algn="l">
              <a:lnSpc>
                <a:spcPts val="1103"/>
              </a:lnSpc>
              <a:buNone/>
            </a:pPr>
            <a:r>
              <a:rPr lang="en-US" sz="800" dirty="0">
                <a:solidFill>
                  <a:srgbClr val="FBBF24"/>
                </a:solidFill>
                <a:latin typeface="Courier New" pitchFamily="34" charset="0"/>
                <a:ea typeface="Courier New" pitchFamily="34" charset="-122"/>
                <a:cs typeface="Courier New" pitchFamily="34" charset="-120"/>
              </a:rPr>
              <a:t>resource</a:t>
            </a:r>
            <a:endParaRPr lang="en-US" sz="800" dirty="0"/>
          </a:p>
        </p:txBody>
      </p:sp>
      <p:sp>
        <p:nvSpPr>
          <p:cNvPr id="69" name="Text 67"/>
          <p:cNvSpPr/>
          <p:nvPr/>
        </p:nvSpPr>
        <p:spPr>
          <a:xfrm>
            <a:off x="1064419" y="7848860"/>
            <a:ext cx="875109" cy="91440"/>
          </a:xfrm>
          <a:prstGeom prst="rect">
            <a:avLst/>
          </a:prstGeom>
          <a:noFill/>
          <a:ln/>
        </p:spPr>
        <p:txBody>
          <a:bodyPr wrap="none" lIns="0" tIns="0" rIns="0" bIns="0" rtlCol="0" anchor="t"/>
          <a:lstStyle/>
          <a:p>
            <a:pPr marL="0" indent="0" algn="l">
              <a:lnSpc>
                <a:spcPts val="1103"/>
              </a:lnSpc>
              <a:buNone/>
            </a:pPr>
            <a:r>
              <a:rPr lang="en-US" sz="800" dirty="0">
                <a:solidFill>
                  <a:srgbClr val="86EFAC"/>
                </a:solidFill>
                <a:latin typeface="Courier New" pitchFamily="34" charset="0"/>
                <a:ea typeface="Courier New" pitchFamily="34" charset="-122"/>
                <a:cs typeface="Courier New" pitchFamily="34" charset="-120"/>
              </a:rPr>
              <a:t>"aws_instance"</a:t>
            </a:r>
            <a:endParaRPr lang="en-US" sz="800" dirty="0"/>
          </a:p>
        </p:txBody>
      </p:sp>
      <p:sp>
        <p:nvSpPr>
          <p:cNvPr id="70" name="Text 68"/>
          <p:cNvSpPr/>
          <p:nvPr/>
        </p:nvSpPr>
        <p:spPr>
          <a:xfrm>
            <a:off x="1814513" y="7848860"/>
            <a:ext cx="400050" cy="91440"/>
          </a:xfrm>
          <a:prstGeom prst="rect">
            <a:avLst/>
          </a:prstGeom>
          <a:noFill/>
          <a:ln/>
        </p:spPr>
        <p:txBody>
          <a:bodyPr wrap="none" lIns="0" tIns="0" rIns="0" bIns="0" rtlCol="0" anchor="t"/>
          <a:lstStyle/>
          <a:p>
            <a:pPr marL="0" indent="0" algn="l">
              <a:lnSpc>
                <a:spcPts val="1103"/>
              </a:lnSpc>
              <a:buNone/>
            </a:pPr>
            <a:r>
              <a:rPr lang="en-US" sz="800" dirty="0">
                <a:solidFill>
                  <a:srgbClr val="86EFAC"/>
                </a:solidFill>
                <a:latin typeface="Courier New" pitchFamily="34" charset="0"/>
                <a:ea typeface="Courier New" pitchFamily="34" charset="-122"/>
                <a:cs typeface="Courier New" pitchFamily="34" charset="-120"/>
              </a:rPr>
              <a:t>"web"</a:t>
            </a:r>
            <a:endParaRPr lang="en-US" sz="800" dirty="0"/>
          </a:p>
        </p:txBody>
      </p:sp>
      <p:sp>
        <p:nvSpPr>
          <p:cNvPr id="71" name="Text 69"/>
          <p:cNvSpPr/>
          <p:nvPr/>
        </p:nvSpPr>
        <p:spPr>
          <a:xfrm>
            <a:off x="714375" y="7988833"/>
            <a:ext cx="240030" cy="91440"/>
          </a:xfrm>
          <a:prstGeom prst="rect">
            <a:avLst/>
          </a:prstGeom>
          <a:noFill/>
          <a:ln/>
        </p:spPr>
        <p:txBody>
          <a:bodyPr wrap="none" lIns="0" tIns="0" rIns="0" bIns="0" rtlCol="0" anchor="t"/>
          <a:lstStyle/>
          <a:p>
            <a:pPr marL="0" indent="0" algn="l">
              <a:lnSpc>
                <a:spcPts val="1103"/>
              </a:lnSpc>
              <a:buNone/>
            </a:pPr>
            <a:r>
              <a:rPr lang="en-US" sz="800" dirty="0">
                <a:solidFill>
                  <a:srgbClr val="FBBF24"/>
                </a:solidFill>
                <a:latin typeface="Courier New" pitchFamily="34" charset="0"/>
                <a:ea typeface="Courier New" pitchFamily="34" charset="-122"/>
                <a:cs typeface="Courier New" pitchFamily="34" charset="-120"/>
              </a:rPr>
              <a:t>ami</a:t>
            </a:r>
            <a:endParaRPr lang="en-US" sz="800" dirty="0"/>
          </a:p>
        </p:txBody>
      </p:sp>
      <p:sp>
        <p:nvSpPr>
          <p:cNvPr id="72" name="Text 70"/>
          <p:cNvSpPr/>
          <p:nvPr/>
        </p:nvSpPr>
        <p:spPr>
          <a:xfrm>
            <a:off x="1514475" y="7988833"/>
            <a:ext cx="1242155" cy="91440"/>
          </a:xfrm>
          <a:prstGeom prst="rect">
            <a:avLst/>
          </a:prstGeom>
          <a:noFill/>
          <a:ln/>
        </p:spPr>
        <p:txBody>
          <a:bodyPr wrap="none" lIns="0" tIns="0" rIns="0" bIns="0" rtlCol="0" anchor="t"/>
          <a:lstStyle/>
          <a:p>
            <a:pPr marL="0" indent="0" algn="l">
              <a:lnSpc>
                <a:spcPts val="1103"/>
              </a:lnSpc>
              <a:buNone/>
            </a:pPr>
            <a:r>
              <a:rPr lang="en-US" sz="788" dirty="0">
                <a:solidFill>
                  <a:srgbClr val="86EFAC"/>
                </a:solidFill>
                <a:latin typeface="Liberation Sans Narrow" pitchFamily="34" charset="0"/>
                <a:ea typeface="Liberation Sans Narrow" pitchFamily="34" charset="-122"/>
                <a:cs typeface="Liberation Sans Narrow" pitchFamily="34" charset="-120"/>
              </a:rPr>
              <a:t>"ami-0c55b159cbfafe1f0"</a:t>
            </a:r>
            <a:endParaRPr lang="en-US" sz="788" dirty="0"/>
          </a:p>
        </p:txBody>
      </p:sp>
      <p:sp>
        <p:nvSpPr>
          <p:cNvPr id="73" name="Text 71"/>
          <p:cNvSpPr/>
          <p:nvPr/>
        </p:nvSpPr>
        <p:spPr>
          <a:xfrm>
            <a:off x="714375" y="8128806"/>
            <a:ext cx="812602" cy="91440"/>
          </a:xfrm>
          <a:prstGeom prst="rect">
            <a:avLst/>
          </a:prstGeom>
          <a:noFill/>
          <a:ln/>
        </p:spPr>
        <p:txBody>
          <a:bodyPr wrap="none" lIns="0" tIns="0" rIns="0" bIns="0" rtlCol="0" anchor="t"/>
          <a:lstStyle/>
          <a:p>
            <a:pPr marL="0" indent="0" algn="l">
              <a:lnSpc>
                <a:spcPts val="1103"/>
              </a:lnSpc>
              <a:buNone/>
            </a:pPr>
            <a:r>
              <a:rPr lang="en-US" sz="800" dirty="0">
                <a:solidFill>
                  <a:srgbClr val="FBBF24"/>
                </a:solidFill>
                <a:latin typeface="Courier New" pitchFamily="34" charset="0"/>
                <a:ea typeface="Courier New" pitchFamily="34" charset="-122"/>
                <a:cs typeface="Courier New" pitchFamily="34" charset="-120"/>
              </a:rPr>
              <a:t>instance_type</a:t>
            </a:r>
            <a:endParaRPr lang="en-US" sz="800" dirty="0"/>
          </a:p>
        </p:txBody>
      </p:sp>
      <p:sp>
        <p:nvSpPr>
          <p:cNvPr id="74" name="Text 72"/>
          <p:cNvSpPr/>
          <p:nvPr/>
        </p:nvSpPr>
        <p:spPr>
          <a:xfrm>
            <a:off x="1514475" y="8128806"/>
            <a:ext cx="1062633" cy="91440"/>
          </a:xfrm>
          <a:prstGeom prst="rect">
            <a:avLst/>
          </a:prstGeom>
          <a:noFill/>
          <a:ln/>
        </p:spPr>
        <p:txBody>
          <a:bodyPr wrap="none" lIns="0" tIns="0" rIns="0" bIns="0" rtlCol="0" anchor="t"/>
          <a:lstStyle/>
          <a:p>
            <a:pPr marL="0" indent="0" algn="l">
              <a:lnSpc>
                <a:spcPts val="1103"/>
              </a:lnSpc>
              <a:buNone/>
            </a:pPr>
            <a:r>
              <a:rPr lang="en-US" sz="800" dirty="0">
                <a:solidFill>
                  <a:srgbClr val="93C5FD"/>
                </a:solidFill>
                <a:latin typeface="Courier New" pitchFamily="34" charset="0"/>
                <a:ea typeface="Courier New" pitchFamily="34" charset="-122"/>
                <a:cs typeface="Courier New" pitchFamily="34" charset="-120"/>
              </a:rPr>
              <a:t>var.instance_type</a:t>
            </a:r>
            <a:endParaRPr lang="en-US" sz="800" dirty="0"/>
          </a:p>
        </p:txBody>
      </p:sp>
      <p:sp>
        <p:nvSpPr>
          <p:cNvPr id="75" name="Text 73"/>
          <p:cNvSpPr/>
          <p:nvPr/>
        </p:nvSpPr>
        <p:spPr>
          <a:xfrm>
            <a:off x="714375" y="8268779"/>
            <a:ext cx="1375172" cy="91440"/>
          </a:xfrm>
          <a:prstGeom prst="rect">
            <a:avLst/>
          </a:prstGeom>
          <a:noFill/>
          <a:ln/>
        </p:spPr>
        <p:txBody>
          <a:bodyPr wrap="none" lIns="0" tIns="0" rIns="0" bIns="0" rtlCol="0" anchor="t"/>
          <a:lstStyle/>
          <a:p>
            <a:pPr marL="0" indent="0" algn="l">
              <a:lnSpc>
                <a:spcPts val="1103"/>
              </a:lnSpc>
              <a:buNone/>
            </a:pPr>
            <a:r>
              <a:rPr lang="en-US" sz="800" dirty="0">
                <a:solidFill>
                  <a:srgbClr val="FBBF24"/>
                </a:solidFill>
                <a:latin typeface="Courier New" pitchFamily="34" charset="0"/>
                <a:ea typeface="Courier New" pitchFamily="34" charset="-122"/>
                <a:cs typeface="Courier New" pitchFamily="34" charset="-120"/>
              </a:rPr>
              <a:t>vpc_security_group_ids</a:t>
            </a:r>
            <a:endParaRPr lang="en-US" sz="800" dirty="0"/>
          </a:p>
        </p:txBody>
      </p:sp>
      <p:sp>
        <p:nvSpPr>
          <p:cNvPr id="76" name="Text 74"/>
          <p:cNvSpPr/>
          <p:nvPr/>
        </p:nvSpPr>
        <p:spPr>
          <a:xfrm>
            <a:off x="2014538" y="8268779"/>
            <a:ext cx="1512189" cy="91440"/>
          </a:xfrm>
          <a:prstGeom prst="rect">
            <a:avLst/>
          </a:prstGeom>
          <a:noFill/>
          <a:ln/>
        </p:spPr>
        <p:txBody>
          <a:bodyPr wrap="none" lIns="0" tIns="0" rIns="0" bIns="0" rtlCol="0" anchor="t"/>
          <a:lstStyle/>
          <a:p>
            <a:pPr marL="0" indent="0" algn="l">
              <a:lnSpc>
                <a:spcPts val="1103"/>
              </a:lnSpc>
              <a:buNone/>
            </a:pPr>
            <a:r>
              <a:rPr lang="en-US" sz="788" dirty="0">
                <a:solidFill>
                  <a:srgbClr val="93C5FD"/>
                </a:solidFill>
                <a:latin typeface="Courier New" pitchFamily="34" charset="0"/>
                <a:ea typeface="Courier New" pitchFamily="34" charset="-122"/>
                <a:cs typeface="Courier New" pitchFamily="34" charset="-120"/>
              </a:rPr>
              <a:t>aws_security_group.web_sg.id</a:t>
            </a:r>
            <a:endParaRPr lang="en-US" sz="788" dirty="0"/>
          </a:p>
        </p:txBody>
      </p:sp>
      <p:sp>
        <p:nvSpPr>
          <p:cNvPr id="77" name="Text 75"/>
          <p:cNvSpPr/>
          <p:nvPr/>
        </p:nvSpPr>
        <p:spPr>
          <a:xfrm>
            <a:off x="714375" y="8408752"/>
            <a:ext cx="320040" cy="91440"/>
          </a:xfrm>
          <a:prstGeom prst="rect">
            <a:avLst/>
          </a:prstGeom>
          <a:noFill/>
          <a:ln/>
        </p:spPr>
        <p:txBody>
          <a:bodyPr wrap="none" lIns="0" tIns="0" rIns="0" bIns="0" rtlCol="0" anchor="t"/>
          <a:lstStyle/>
          <a:p>
            <a:pPr marL="0" indent="0" algn="l">
              <a:lnSpc>
                <a:spcPts val="1103"/>
              </a:lnSpc>
              <a:buNone/>
            </a:pPr>
            <a:r>
              <a:rPr lang="en-US" sz="800" dirty="0">
                <a:solidFill>
                  <a:srgbClr val="FBBF24"/>
                </a:solidFill>
                <a:latin typeface="Courier New" pitchFamily="34" charset="0"/>
                <a:ea typeface="Courier New" pitchFamily="34" charset="-122"/>
                <a:cs typeface="Courier New" pitchFamily="34" charset="-120"/>
              </a:rPr>
              <a:t>tags</a:t>
            </a:r>
            <a:endParaRPr lang="en-US" sz="800" dirty="0"/>
          </a:p>
        </p:txBody>
      </p:sp>
      <p:sp>
        <p:nvSpPr>
          <p:cNvPr id="78" name="Text 76"/>
          <p:cNvSpPr/>
          <p:nvPr/>
        </p:nvSpPr>
        <p:spPr>
          <a:xfrm>
            <a:off x="814388" y="8548725"/>
            <a:ext cx="320040" cy="91440"/>
          </a:xfrm>
          <a:prstGeom prst="rect">
            <a:avLst/>
          </a:prstGeom>
          <a:noFill/>
          <a:ln/>
        </p:spPr>
        <p:txBody>
          <a:bodyPr wrap="none" lIns="0" tIns="0" rIns="0" bIns="0" rtlCol="0" anchor="t"/>
          <a:lstStyle/>
          <a:p>
            <a:pPr marL="0" indent="0" algn="l">
              <a:lnSpc>
                <a:spcPts val="1103"/>
              </a:lnSpc>
              <a:buNone/>
            </a:pPr>
            <a:r>
              <a:rPr lang="en-US" sz="800" dirty="0">
                <a:solidFill>
                  <a:srgbClr val="FBBF24"/>
                </a:solidFill>
                <a:latin typeface="Courier New" pitchFamily="34" charset="0"/>
                <a:ea typeface="Courier New" pitchFamily="34" charset="-122"/>
                <a:cs typeface="Courier New" pitchFamily="34" charset="-120"/>
              </a:rPr>
              <a:t>Name</a:t>
            </a:r>
            <a:endParaRPr lang="en-US" sz="800" dirty="0"/>
          </a:p>
        </p:txBody>
      </p:sp>
      <p:sp>
        <p:nvSpPr>
          <p:cNvPr id="79" name="Text 77"/>
          <p:cNvSpPr/>
          <p:nvPr/>
        </p:nvSpPr>
        <p:spPr>
          <a:xfrm>
            <a:off x="1510280" y="8548725"/>
            <a:ext cx="758485" cy="91440"/>
          </a:xfrm>
          <a:prstGeom prst="rect">
            <a:avLst/>
          </a:prstGeom>
          <a:noFill/>
          <a:ln/>
        </p:spPr>
        <p:txBody>
          <a:bodyPr wrap="none" lIns="0" tIns="0" rIns="0" bIns="0" rtlCol="0" anchor="t"/>
          <a:lstStyle/>
          <a:p>
            <a:pPr marL="0" indent="0" algn="l">
              <a:lnSpc>
                <a:spcPts val="1103"/>
              </a:lnSpc>
              <a:buNone/>
            </a:pPr>
            <a:r>
              <a:rPr lang="en-US" sz="800" dirty="0">
                <a:solidFill>
                  <a:srgbClr val="86EFAC"/>
                </a:solidFill>
                <a:latin typeface="Courier New" pitchFamily="34" charset="0"/>
                <a:ea typeface="Courier New" pitchFamily="34" charset="-122"/>
                <a:cs typeface="Courier New" pitchFamily="34" charset="-120"/>
              </a:rPr>
              <a:t>"web-server"</a:t>
            </a:r>
            <a:endParaRPr lang="en-US" sz="800" dirty="0"/>
          </a:p>
        </p:txBody>
      </p:sp>
      <p:sp>
        <p:nvSpPr>
          <p:cNvPr id="80" name="Text 78"/>
          <p:cNvSpPr/>
          <p:nvPr/>
        </p:nvSpPr>
        <p:spPr>
          <a:xfrm>
            <a:off x="791526" y="8688698"/>
            <a:ext cx="733308" cy="91440"/>
          </a:xfrm>
          <a:prstGeom prst="rect">
            <a:avLst/>
          </a:prstGeom>
          <a:noFill/>
          <a:ln/>
        </p:spPr>
        <p:txBody>
          <a:bodyPr wrap="none" lIns="0" tIns="0" rIns="0" bIns="0" rtlCol="0" anchor="t"/>
          <a:lstStyle/>
          <a:p>
            <a:pPr marL="0" indent="0" algn="l">
              <a:lnSpc>
                <a:spcPts val="1103"/>
              </a:lnSpc>
              <a:buNone/>
            </a:pPr>
            <a:r>
              <a:rPr lang="en-US" sz="800" dirty="0">
                <a:solidFill>
                  <a:srgbClr val="FBBF24"/>
                </a:solidFill>
                <a:latin typeface="Courier New" pitchFamily="34" charset="0"/>
                <a:ea typeface="Courier New" pitchFamily="34" charset="-122"/>
                <a:cs typeface="Courier New" pitchFamily="34" charset="-120"/>
              </a:rPr>
              <a:t>Environment</a:t>
            </a:r>
            <a:endParaRPr lang="en-US" sz="800" dirty="0"/>
          </a:p>
        </p:txBody>
      </p:sp>
      <p:sp>
        <p:nvSpPr>
          <p:cNvPr id="81" name="Text 79"/>
          <p:cNvSpPr/>
          <p:nvPr/>
        </p:nvSpPr>
        <p:spPr>
          <a:xfrm>
            <a:off x="1506083" y="8688698"/>
            <a:ext cx="766877" cy="91440"/>
          </a:xfrm>
          <a:prstGeom prst="rect">
            <a:avLst/>
          </a:prstGeom>
          <a:noFill/>
          <a:ln/>
        </p:spPr>
        <p:txBody>
          <a:bodyPr wrap="none" lIns="0" tIns="0" rIns="0" bIns="0" rtlCol="0" anchor="t"/>
          <a:lstStyle/>
          <a:p>
            <a:pPr marL="0" indent="0" algn="l">
              <a:lnSpc>
                <a:spcPts val="1103"/>
              </a:lnSpc>
              <a:buNone/>
            </a:pPr>
            <a:r>
              <a:rPr lang="en-US" sz="800" dirty="0">
                <a:solidFill>
                  <a:srgbClr val="86EFAC"/>
                </a:solidFill>
                <a:latin typeface="Courier New" pitchFamily="34" charset="0"/>
                <a:ea typeface="Courier New" pitchFamily="34" charset="-122"/>
                <a:cs typeface="Courier New" pitchFamily="34" charset="-120"/>
              </a:rPr>
              <a:t>"production"</a:t>
            </a:r>
            <a:endParaRPr lang="en-US" sz="800" dirty="0"/>
          </a:p>
        </p:txBody>
      </p:sp>
      <p:sp>
        <p:nvSpPr>
          <p:cNvPr id="82" name="Text 80"/>
          <p:cNvSpPr/>
          <p:nvPr/>
        </p:nvSpPr>
        <p:spPr>
          <a:xfrm>
            <a:off x="614363" y="9248589"/>
            <a:ext cx="429054" cy="91440"/>
          </a:xfrm>
          <a:prstGeom prst="rect">
            <a:avLst/>
          </a:prstGeom>
          <a:noFill/>
          <a:ln/>
        </p:spPr>
        <p:txBody>
          <a:bodyPr wrap="none" lIns="0" tIns="0" rIns="0" bIns="0" rtlCol="0" anchor="t"/>
          <a:lstStyle/>
          <a:p>
            <a:pPr marL="0" indent="0" algn="l">
              <a:lnSpc>
                <a:spcPts val="1103"/>
              </a:lnSpc>
              <a:buNone/>
            </a:pPr>
            <a:r>
              <a:rPr lang="en-US" sz="800" dirty="0">
                <a:solidFill>
                  <a:srgbClr val="FBBF24"/>
                </a:solidFill>
                <a:latin typeface="Courier New" pitchFamily="34" charset="0"/>
                <a:ea typeface="Courier New" pitchFamily="34" charset="-122"/>
                <a:cs typeface="Courier New" pitchFamily="34" charset="-120"/>
              </a:rPr>
              <a:t>output</a:t>
            </a:r>
            <a:endParaRPr lang="en-US" sz="800" dirty="0"/>
          </a:p>
        </p:txBody>
      </p:sp>
      <p:sp>
        <p:nvSpPr>
          <p:cNvPr id="83" name="Text 81"/>
          <p:cNvSpPr/>
          <p:nvPr/>
        </p:nvSpPr>
        <p:spPr>
          <a:xfrm>
            <a:off x="964406" y="9248589"/>
            <a:ext cx="1250156" cy="91440"/>
          </a:xfrm>
          <a:prstGeom prst="rect">
            <a:avLst/>
          </a:prstGeom>
          <a:noFill/>
          <a:ln/>
        </p:spPr>
        <p:txBody>
          <a:bodyPr wrap="none" lIns="0" tIns="0" rIns="0" bIns="0" rtlCol="0" anchor="t"/>
          <a:lstStyle/>
          <a:p>
            <a:pPr marL="0" indent="0" algn="l">
              <a:lnSpc>
                <a:spcPts val="1103"/>
              </a:lnSpc>
              <a:buNone/>
            </a:pPr>
            <a:r>
              <a:rPr lang="en-US" sz="800" dirty="0">
                <a:solidFill>
                  <a:srgbClr val="86EFAC"/>
                </a:solidFill>
                <a:latin typeface="Courier New" pitchFamily="34" charset="0"/>
                <a:ea typeface="Courier New" pitchFamily="34" charset="-122"/>
                <a:cs typeface="Courier New" pitchFamily="34" charset="-120"/>
              </a:rPr>
              <a:t>"instance_public_ip"</a:t>
            </a:r>
            <a:endParaRPr lang="en-US" sz="800" dirty="0"/>
          </a:p>
        </p:txBody>
      </p:sp>
      <p:sp>
        <p:nvSpPr>
          <p:cNvPr id="84" name="Text 82"/>
          <p:cNvSpPr/>
          <p:nvPr/>
        </p:nvSpPr>
        <p:spPr>
          <a:xfrm>
            <a:off x="714375" y="9388562"/>
            <a:ext cx="400050" cy="91440"/>
          </a:xfrm>
          <a:prstGeom prst="rect">
            <a:avLst/>
          </a:prstGeom>
          <a:noFill/>
          <a:ln/>
        </p:spPr>
        <p:txBody>
          <a:bodyPr wrap="none" lIns="0" tIns="0" rIns="0" bIns="0" rtlCol="0" anchor="t"/>
          <a:lstStyle/>
          <a:p>
            <a:pPr marL="0" indent="0" algn="l">
              <a:lnSpc>
                <a:spcPts val="1103"/>
              </a:lnSpc>
              <a:buNone/>
            </a:pPr>
            <a:r>
              <a:rPr lang="en-US" sz="800" dirty="0">
                <a:solidFill>
                  <a:srgbClr val="FBBF24"/>
                </a:solidFill>
                <a:latin typeface="Courier New" pitchFamily="34" charset="0"/>
                <a:ea typeface="Courier New" pitchFamily="34" charset="-122"/>
                <a:cs typeface="Courier New" pitchFamily="34" charset="-120"/>
              </a:rPr>
              <a:t>value</a:t>
            </a:r>
            <a:endParaRPr lang="en-US" sz="800" dirty="0"/>
          </a:p>
        </p:txBody>
      </p:sp>
      <p:sp>
        <p:nvSpPr>
          <p:cNvPr id="85" name="Text 83"/>
          <p:cNvSpPr/>
          <p:nvPr/>
        </p:nvSpPr>
        <p:spPr>
          <a:xfrm>
            <a:off x="1114425" y="9388562"/>
            <a:ext cx="1404176" cy="91440"/>
          </a:xfrm>
          <a:prstGeom prst="rect">
            <a:avLst/>
          </a:prstGeom>
          <a:noFill/>
          <a:ln/>
        </p:spPr>
        <p:txBody>
          <a:bodyPr wrap="none" lIns="0" tIns="0" rIns="0" bIns="0" rtlCol="0" anchor="t"/>
          <a:lstStyle/>
          <a:p>
            <a:pPr marL="0" indent="0" algn="l">
              <a:lnSpc>
                <a:spcPts val="1103"/>
              </a:lnSpc>
              <a:buNone/>
            </a:pPr>
            <a:r>
              <a:rPr lang="en-US" sz="788" dirty="0">
                <a:solidFill>
                  <a:srgbClr val="93C5FD"/>
                </a:solidFill>
                <a:latin typeface="Courier New" pitchFamily="34" charset="0"/>
                <a:ea typeface="Courier New" pitchFamily="34" charset="-122"/>
                <a:cs typeface="Courier New" pitchFamily="34" charset="-120"/>
              </a:rPr>
              <a:t>aws_instance.web.public_ip</a:t>
            </a:r>
            <a:endParaRPr lang="en-US" sz="788" dirty="0"/>
          </a:p>
        </p:txBody>
      </p:sp>
      <p:sp>
        <p:nvSpPr>
          <p:cNvPr id="86" name="Text 84"/>
          <p:cNvSpPr/>
          <p:nvPr/>
        </p:nvSpPr>
        <p:spPr>
          <a:xfrm>
            <a:off x="460772" y="4391285"/>
            <a:ext cx="3425428" cy="291443"/>
          </a:xfrm>
          <a:prstGeom prst="roundRect">
            <a:avLst>
              <a:gd name="adj" fmla="val 26146"/>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87" name="Text 85"/>
          <p:cNvSpPr/>
          <p:nvPr/>
        </p:nvSpPr>
        <p:spPr>
          <a:xfrm>
            <a:off x="457200" y="4387714"/>
            <a:ext cx="3432572" cy="322473"/>
          </a:xfrm>
          <a:prstGeom prst="rect">
            <a:avLst/>
          </a:prstGeom>
          <a:noFill/>
          <a:ln/>
        </p:spPr>
        <p:txBody>
          <a:bodyPr wrap="square" lIns="100013" tIns="57150" rIns="100013" bIns="57150" rtlCol="0" anchor="t"/>
          <a:lstStyle/>
          <a:p>
            <a:pPr marL="0" indent="0" algn="l">
              <a:lnSpc>
                <a:spcPts val="1339"/>
              </a:lnSpc>
              <a:buNone/>
            </a:pPr>
            <a:r>
              <a:rPr lang="en-US" sz="956" b="1" dirty="0">
                <a:solidFill>
                  <a:srgbClr val="C2410C"/>
                </a:solidFill>
                <a:latin typeface="Courier New" pitchFamily="34" charset="0"/>
                <a:ea typeface="Courier New" pitchFamily="34" charset="-122"/>
                <a:cs typeface="Courier New" pitchFamily="34" charset="-120"/>
              </a:rPr>
              <a:t>$ terraform init &amp;&amp; terraform plan &amp;&amp; terraform apply</a:t>
            </a:r>
            <a:endParaRPr lang="en-US" sz="956"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5854671" cy="373346"/>
          </a:xfrm>
          <a:prstGeom prst="rect">
            <a:avLst/>
          </a:prstGeom>
          <a:noFill/>
          <a:ln/>
        </p:spPr>
        <p:txBody>
          <a:bodyPr wrap="square" lIns="0" tIns="0" rIns="0" bIns="0" rtlCol="0" anchor="t"/>
          <a:lstStyle/>
          <a:p>
            <a:pPr marL="0" indent="0" algn="l">
              <a:lnSpc>
                <a:spcPts val="2723"/>
              </a:lnSpc>
              <a:buNone/>
            </a:pPr>
            <a:r>
              <a:rPr lang="en-US" sz="2475" b="1" kern="0" spc="-28" dirty="0">
                <a:solidFill>
                  <a:srgbClr val="0F172A"/>
                </a:solidFill>
                <a:latin typeface="Carlito" pitchFamily="34" charset="0"/>
                <a:ea typeface="Carlito" pitchFamily="34" charset="-122"/>
                <a:cs typeface="Carlito" pitchFamily="34" charset="-120"/>
              </a:rPr>
              <a:t>AI Prompt → Terraform — How It Works</a:t>
            </a:r>
            <a:endParaRPr lang="en-US" sz="2475" dirty="0"/>
          </a:p>
        </p:txBody>
      </p:sp>
      <p:sp>
        <p:nvSpPr>
          <p:cNvPr id="3" name="Text 1"/>
          <p:cNvSpPr/>
          <p:nvPr/>
        </p:nvSpPr>
        <p:spPr>
          <a:xfrm>
            <a:off x="457200" y="888616"/>
            <a:ext cx="571500" cy="42863"/>
          </a:xfrm>
          <a:prstGeom prst="roundRect">
            <a:avLst>
              <a:gd name="adj" fmla="val 66666"/>
            </a:avLst>
          </a:prstGeom>
          <a:solidFill>
            <a:srgbClr val="F97316"/>
          </a:solidFill>
          <a:ln/>
        </p:spPr>
        <p:txBody>
          <a:bodyPr wrap="square" rtlCol="0" anchor="ctr"/>
          <a:lstStyle/>
          <a:p>
            <a:pPr marL="0" indent="0">
              <a:buNone/>
            </a:pPr>
            <a:endParaRPr lang="en-US" dirty="0"/>
          </a:p>
        </p:txBody>
      </p:sp>
      <p:sp>
        <p:nvSpPr>
          <p:cNvPr id="4" name="Text 2"/>
          <p:cNvSpPr/>
          <p:nvPr/>
        </p:nvSpPr>
        <p:spPr>
          <a:xfrm>
            <a:off x="7260751" y="528672"/>
            <a:ext cx="1448909" cy="331333"/>
          </a:xfrm>
          <a:prstGeom prst="roundRect">
            <a:avLst>
              <a:gd name="adj" fmla="val 2871877"/>
            </a:avLst>
          </a:prstGeom>
          <a:solidFill>
            <a:srgbClr val="FED7AA"/>
          </a:solidFill>
          <a:ln/>
        </p:spPr>
        <p:txBody>
          <a:bodyPr wrap="square" rtlCol="0" anchor="ctr"/>
          <a:lstStyle/>
          <a:p>
            <a:pPr marL="0" indent="0">
              <a:buNone/>
            </a:pPr>
            <a:endParaRPr lang="en-US" dirty="0"/>
          </a:p>
        </p:txBody>
      </p:sp>
      <p:sp>
        <p:nvSpPr>
          <p:cNvPr id="5" name="Text 3"/>
          <p:cNvSpPr/>
          <p:nvPr/>
        </p:nvSpPr>
        <p:spPr>
          <a:xfrm>
            <a:off x="7221459" y="541474"/>
            <a:ext cx="1527494" cy="305730"/>
          </a:xfrm>
          <a:prstGeom prst="rect">
            <a:avLst/>
          </a:prstGeom>
          <a:noFill/>
          <a:ln/>
        </p:spPr>
        <p:txBody>
          <a:bodyPr wrap="none" lIns="0" tIns="0" rIns="0" bIns="0" rtlCol="0" anchor="ctr"/>
          <a:lstStyle/>
          <a:p>
            <a:pPr marL="0" indent="0" algn="ctr">
              <a:lnSpc>
                <a:spcPts val="1733"/>
              </a:lnSpc>
              <a:buNone/>
            </a:pPr>
            <a:r>
              <a:rPr lang="en-US" sz="1238" b="1" kern="0" spc="28" dirty="0">
                <a:solidFill>
                  <a:srgbClr val="C2410C"/>
                </a:solidFill>
                <a:latin typeface="Liberation Sans Narrow" pitchFamily="34" charset="0"/>
                <a:ea typeface="Liberation Sans Narrow" pitchFamily="34" charset="-122"/>
                <a:cs typeface="Liberation Sans Narrow" pitchFamily="34" charset="-120"/>
              </a:rPr>
              <a:t>SECTION C · 3.7</a:t>
            </a:r>
            <a:endParaRPr lang="en-US" sz="1238" dirty="0"/>
          </a:p>
        </p:txBody>
      </p:sp>
      <p:sp>
        <p:nvSpPr>
          <p:cNvPr id="6" name="Text 4"/>
          <p:cNvSpPr/>
          <p:nvPr/>
        </p:nvSpPr>
        <p:spPr>
          <a:xfrm>
            <a:off x="460772" y="1049350"/>
            <a:ext cx="4519092" cy="3377654"/>
          </a:xfrm>
          <a:prstGeom prst="roundRect">
            <a:avLst>
              <a:gd name="adj" fmla="val 3948"/>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7" name="Shape 5"/>
          <p:cNvSpPr/>
          <p:nvPr/>
        </p:nvSpPr>
        <p:spPr>
          <a:xfrm>
            <a:off x="621506" y="1812280"/>
            <a:ext cx="4197623" cy="0"/>
          </a:xfrm>
          <a:prstGeom prst="line">
            <a:avLst/>
          </a:prstGeom>
          <a:noFill/>
          <a:ln w="7144">
            <a:solidFill>
              <a:srgbClr val="CBD5E1"/>
            </a:solidFill>
            <a:prstDash val="dash"/>
          </a:ln>
        </p:spPr>
      </p:sp>
      <p:sp>
        <p:nvSpPr>
          <p:cNvPr id="8" name="Text 6"/>
          <p:cNvSpPr/>
          <p:nvPr/>
        </p:nvSpPr>
        <p:spPr>
          <a:xfrm>
            <a:off x="621506" y="1252947"/>
            <a:ext cx="434340" cy="484324"/>
          </a:xfrm>
          <a:prstGeom prst="rect">
            <a:avLst/>
          </a:prstGeom>
          <a:noFill/>
          <a:ln/>
        </p:spPr>
        <p:txBody>
          <a:bodyPr wrap="none" lIns="0" tIns="0" rIns="0" bIns="0" rtlCol="0" anchor="t"/>
          <a:lstStyle/>
          <a:p>
            <a:pPr marL="0" indent="0" algn="l">
              <a:lnSpc>
                <a:spcPts val="1463"/>
              </a:lnSpc>
              <a:buNone/>
            </a:pPr>
            <a:r>
              <a:rPr lang="en-US" sz="1463" b="1" dirty="0">
                <a:solidFill>
                  <a:srgbClr val="F97316"/>
                </a:solidFill>
                <a:latin typeface="Liberation Sans Narrow" pitchFamily="34" charset="0"/>
                <a:ea typeface="Liberation Sans Narrow" pitchFamily="34" charset="-122"/>
                <a:cs typeface="Liberation Sans Narrow" pitchFamily="34" charset="-120"/>
              </a:rPr>
              <a:t>01</a:t>
            </a:r>
            <a:endParaRPr lang="en-US" sz="1463" dirty="0"/>
          </a:p>
        </p:txBody>
      </p:sp>
      <p:sp>
        <p:nvSpPr>
          <p:cNvPr id="9" name="Text 7"/>
          <p:cNvSpPr/>
          <p:nvPr/>
        </p:nvSpPr>
        <p:spPr>
          <a:xfrm>
            <a:off x="992981" y="1252947"/>
            <a:ext cx="3826148" cy="156854"/>
          </a:xfrm>
          <a:prstGeom prst="rect">
            <a:avLst/>
          </a:prstGeom>
          <a:noFill/>
          <a:ln/>
        </p:spPr>
        <p:txBody>
          <a:bodyPr wrap="none" lIns="0" tIns="0" rIns="0" bIns="0" rtlCol="0" anchor="t">
            <a:normAutofit fontScale="85000" lnSpcReduction="10000"/>
          </a:bodyPr>
          <a:lstStyle/>
          <a:p>
            <a:pPr marL="0" indent="0" algn="l">
              <a:lnSpc>
                <a:spcPts val="1283"/>
              </a:lnSpc>
              <a:buNone/>
            </a:pPr>
            <a:r>
              <a:rPr lang="en-US" sz="1069" b="1" dirty="0">
                <a:solidFill>
                  <a:srgbClr val="0F172A"/>
                </a:solidFill>
                <a:latin typeface="Carlito" pitchFamily="34" charset="0"/>
                <a:ea typeface="Carlito" pitchFamily="34" charset="-122"/>
                <a:cs typeface="Carlito" pitchFamily="34" charset="-120"/>
              </a:rPr>
              <a:t>Context Injection</a:t>
            </a:r>
            <a:endParaRPr lang="en-US" sz="1069" dirty="0"/>
          </a:p>
        </p:txBody>
      </p:sp>
      <p:sp>
        <p:nvSpPr>
          <p:cNvPr id="10" name="Text 8"/>
          <p:cNvSpPr/>
          <p:nvPr/>
        </p:nvSpPr>
        <p:spPr>
          <a:xfrm>
            <a:off x="992981" y="1437233"/>
            <a:ext cx="3826148" cy="300038"/>
          </a:xfrm>
          <a:prstGeom prst="rect">
            <a:avLst/>
          </a:prstGeom>
          <a:noFill/>
          <a:ln/>
        </p:spPr>
        <p:txBody>
          <a:bodyPr wrap="square" lIns="0" tIns="0" rIns="0" bIns="0" rtlCol="0" anchor="t"/>
          <a:lstStyle/>
          <a:p>
            <a:pPr marL="0" indent="0" algn="l">
              <a:lnSpc>
                <a:spcPts val="1181"/>
              </a:lnSpc>
              <a:buNone/>
            </a:pPr>
            <a:r>
              <a:rPr lang="en-US" sz="844" dirty="0">
                <a:solidFill>
                  <a:srgbClr val="334155"/>
                </a:solidFill>
                <a:latin typeface="Carlito" pitchFamily="34" charset="0"/>
                <a:ea typeface="Carlito" pitchFamily="34" charset="-122"/>
                <a:cs typeface="Carlito" pitchFamily="34" charset="-120"/>
              </a:rPr>
              <a:t>The prompt includes your cloud provider, region, naming conventions, tag policy, and existing modules. AI generates code that matches your team's patterns.</a:t>
            </a:r>
            <a:endParaRPr lang="en-US" sz="844" dirty="0"/>
          </a:p>
        </p:txBody>
      </p:sp>
      <p:sp>
        <p:nvSpPr>
          <p:cNvPr id="11" name="Shape 9"/>
          <p:cNvSpPr/>
          <p:nvPr/>
        </p:nvSpPr>
        <p:spPr>
          <a:xfrm>
            <a:off x="621506" y="2446623"/>
            <a:ext cx="4197623" cy="0"/>
          </a:xfrm>
          <a:prstGeom prst="line">
            <a:avLst/>
          </a:prstGeom>
          <a:noFill/>
          <a:ln w="7144">
            <a:solidFill>
              <a:srgbClr val="CBD5E1"/>
            </a:solidFill>
            <a:prstDash val="dash"/>
          </a:ln>
        </p:spPr>
      </p:sp>
      <p:sp>
        <p:nvSpPr>
          <p:cNvPr id="12" name="Text 10"/>
          <p:cNvSpPr/>
          <p:nvPr/>
        </p:nvSpPr>
        <p:spPr>
          <a:xfrm>
            <a:off x="621506" y="1887289"/>
            <a:ext cx="434340" cy="484324"/>
          </a:xfrm>
          <a:prstGeom prst="rect">
            <a:avLst/>
          </a:prstGeom>
          <a:noFill/>
          <a:ln/>
        </p:spPr>
        <p:txBody>
          <a:bodyPr wrap="none" lIns="0" tIns="0" rIns="0" bIns="0" rtlCol="0" anchor="t"/>
          <a:lstStyle/>
          <a:p>
            <a:pPr marL="0" indent="0" algn="l">
              <a:lnSpc>
                <a:spcPts val="1463"/>
              </a:lnSpc>
              <a:buNone/>
            </a:pPr>
            <a:r>
              <a:rPr lang="en-US" sz="1463" b="1" dirty="0">
                <a:solidFill>
                  <a:srgbClr val="F97316"/>
                </a:solidFill>
                <a:latin typeface="Liberation Sans Narrow" pitchFamily="34" charset="0"/>
                <a:ea typeface="Liberation Sans Narrow" pitchFamily="34" charset="-122"/>
                <a:cs typeface="Liberation Sans Narrow" pitchFamily="34" charset="-120"/>
              </a:rPr>
              <a:t>02</a:t>
            </a:r>
            <a:endParaRPr lang="en-US" sz="1463" dirty="0"/>
          </a:p>
        </p:txBody>
      </p:sp>
      <p:sp>
        <p:nvSpPr>
          <p:cNvPr id="13" name="Text 11"/>
          <p:cNvSpPr/>
          <p:nvPr/>
        </p:nvSpPr>
        <p:spPr>
          <a:xfrm>
            <a:off x="992981" y="1887289"/>
            <a:ext cx="3826148" cy="156854"/>
          </a:xfrm>
          <a:prstGeom prst="rect">
            <a:avLst/>
          </a:prstGeom>
          <a:noFill/>
          <a:ln/>
        </p:spPr>
        <p:txBody>
          <a:bodyPr wrap="none" lIns="0" tIns="0" rIns="0" bIns="0" rtlCol="0" anchor="t">
            <a:normAutofit fontScale="85000" lnSpcReduction="10000"/>
          </a:bodyPr>
          <a:lstStyle/>
          <a:p>
            <a:pPr marL="0" indent="0" algn="l">
              <a:lnSpc>
                <a:spcPts val="1283"/>
              </a:lnSpc>
              <a:buNone/>
            </a:pPr>
            <a:r>
              <a:rPr lang="en-US" sz="1069" b="1" dirty="0">
                <a:solidFill>
                  <a:srgbClr val="0F172A"/>
                </a:solidFill>
                <a:latin typeface="Carlito" pitchFamily="34" charset="0"/>
                <a:ea typeface="Carlito" pitchFamily="34" charset="-122"/>
                <a:cs typeface="Carlito" pitchFamily="34" charset="-120"/>
              </a:rPr>
              <a:t>Few-Shot Examples</a:t>
            </a:r>
            <a:endParaRPr lang="en-US" sz="1069" dirty="0"/>
          </a:p>
        </p:txBody>
      </p:sp>
      <p:sp>
        <p:nvSpPr>
          <p:cNvPr id="14" name="Text 12"/>
          <p:cNvSpPr/>
          <p:nvPr/>
        </p:nvSpPr>
        <p:spPr>
          <a:xfrm>
            <a:off x="992981" y="2071576"/>
            <a:ext cx="3826148" cy="300038"/>
          </a:xfrm>
          <a:prstGeom prst="rect">
            <a:avLst/>
          </a:prstGeom>
          <a:noFill/>
          <a:ln/>
        </p:spPr>
        <p:txBody>
          <a:bodyPr wrap="square" lIns="0" tIns="0" rIns="0" bIns="0" rtlCol="0" anchor="t"/>
          <a:lstStyle/>
          <a:p>
            <a:pPr marL="0" indent="0" algn="l">
              <a:lnSpc>
                <a:spcPts val="1181"/>
              </a:lnSpc>
              <a:buNone/>
            </a:pPr>
            <a:r>
              <a:rPr lang="en-US" sz="844" dirty="0">
                <a:solidFill>
                  <a:srgbClr val="334155"/>
                </a:solidFill>
                <a:latin typeface="Carlito" pitchFamily="34" charset="0"/>
                <a:ea typeface="Carlito" pitchFamily="34" charset="-122"/>
                <a:cs typeface="Carlito" pitchFamily="34" charset="-120"/>
              </a:rPr>
              <a:t>Include 2-3 examples of similar Terraform code from your repo. AI learns your style — variable naming, tagging, module structure.</a:t>
            </a:r>
            <a:endParaRPr lang="en-US" sz="844" dirty="0"/>
          </a:p>
        </p:txBody>
      </p:sp>
      <p:sp>
        <p:nvSpPr>
          <p:cNvPr id="15" name="Text 13"/>
          <p:cNvSpPr/>
          <p:nvPr/>
        </p:nvSpPr>
        <p:spPr>
          <a:xfrm>
            <a:off x="621506" y="2521632"/>
            <a:ext cx="434340" cy="523070"/>
          </a:xfrm>
          <a:prstGeom prst="rect">
            <a:avLst/>
          </a:prstGeom>
          <a:noFill/>
          <a:ln/>
        </p:spPr>
        <p:txBody>
          <a:bodyPr wrap="none" lIns="0" tIns="0" rIns="0" bIns="0" rtlCol="0" anchor="t"/>
          <a:lstStyle/>
          <a:p>
            <a:pPr marL="0" indent="0" algn="l">
              <a:lnSpc>
                <a:spcPts val="1463"/>
              </a:lnSpc>
              <a:buNone/>
            </a:pPr>
            <a:r>
              <a:rPr lang="en-US" sz="1463" b="1" dirty="0">
                <a:solidFill>
                  <a:srgbClr val="F97316"/>
                </a:solidFill>
                <a:latin typeface="Liberation Sans Narrow" pitchFamily="34" charset="0"/>
                <a:ea typeface="Liberation Sans Narrow" pitchFamily="34" charset="-122"/>
                <a:cs typeface="Liberation Sans Narrow" pitchFamily="34" charset="-120"/>
              </a:rPr>
              <a:t>03</a:t>
            </a:r>
            <a:endParaRPr lang="en-US" sz="1463" dirty="0"/>
          </a:p>
        </p:txBody>
      </p:sp>
      <p:sp>
        <p:nvSpPr>
          <p:cNvPr id="16" name="Text 14"/>
          <p:cNvSpPr/>
          <p:nvPr/>
        </p:nvSpPr>
        <p:spPr>
          <a:xfrm>
            <a:off x="992981" y="2521632"/>
            <a:ext cx="3935876" cy="156854"/>
          </a:xfrm>
          <a:prstGeom prst="rect">
            <a:avLst/>
          </a:prstGeom>
          <a:noFill/>
          <a:ln/>
        </p:spPr>
        <p:txBody>
          <a:bodyPr wrap="square" lIns="0" tIns="0" rIns="0" bIns="0" rtlCol="0" anchor="t">
            <a:normAutofit fontScale="92500"/>
          </a:bodyPr>
          <a:lstStyle/>
          <a:p>
            <a:pPr marL="0" indent="0" algn="l">
              <a:lnSpc>
                <a:spcPts val="1283"/>
              </a:lnSpc>
              <a:buNone/>
            </a:pPr>
            <a:r>
              <a:rPr lang="en-US" sz="1069" b="1" dirty="0">
                <a:solidFill>
                  <a:srgbClr val="0F172A"/>
                </a:solidFill>
                <a:latin typeface="Carlito" pitchFamily="34" charset="0"/>
                <a:ea typeface="Carlito" pitchFamily="34" charset="-122"/>
                <a:cs typeface="Carlito" pitchFamily="34" charset="-120"/>
              </a:rPr>
              <a:t>Constraint Specification</a:t>
            </a:r>
            <a:endParaRPr lang="en-US" sz="1069" dirty="0"/>
          </a:p>
        </p:txBody>
      </p:sp>
      <p:sp>
        <p:nvSpPr>
          <p:cNvPr id="17" name="Text 15"/>
          <p:cNvSpPr/>
          <p:nvPr/>
        </p:nvSpPr>
        <p:spPr>
          <a:xfrm>
            <a:off x="992981" y="2705919"/>
            <a:ext cx="3826148" cy="324041"/>
          </a:xfrm>
          <a:prstGeom prst="rect">
            <a:avLst/>
          </a:prstGeom>
          <a:noFill/>
          <a:ln/>
        </p:spPr>
        <p:txBody>
          <a:bodyPr wrap="square" lIns="0" tIns="0" rIns="0" bIns="0" rtlCol="0" anchor="t"/>
          <a:lstStyle/>
          <a:p>
            <a:pPr marL="0" indent="0" algn="l">
              <a:lnSpc>
                <a:spcPts val="1181"/>
              </a:lnSpc>
              <a:buNone/>
            </a:pPr>
            <a:r>
              <a:rPr lang="en-US" sz="844" dirty="0">
                <a:solidFill>
                  <a:srgbClr val="334155"/>
                </a:solidFill>
                <a:latin typeface="Carlito" pitchFamily="34" charset="0"/>
                <a:ea typeface="Carlito" pitchFamily="34" charset="-122"/>
                <a:cs typeface="Carlito" pitchFamily="34" charset="-120"/>
              </a:rPr>
              <a:t>Specify instance types, allowed regions, required tags. AI stays within your guardrails. Avoid hallucinating forbidden resource types.</a:t>
            </a:r>
            <a:endParaRPr lang="en-US" sz="844" dirty="0"/>
          </a:p>
        </p:txBody>
      </p:sp>
      <p:sp>
        <p:nvSpPr>
          <p:cNvPr id="18" name="Text 16"/>
          <p:cNvSpPr/>
          <p:nvPr/>
        </p:nvSpPr>
        <p:spPr>
          <a:xfrm>
            <a:off x="5254898" y="1174366"/>
            <a:ext cx="2484311" cy="133241"/>
          </a:xfrm>
          <a:prstGeom prst="rect">
            <a:avLst/>
          </a:prstGeom>
          <a:noFill/>
          <a:ln/>
        </p:spPr>
        <p:txBody>
          <a:bodyPr wrap="none" lIns="0" tIns="0" rIns="0" bIns="0" rtlCol="0" anchor="t"/>
          <a:lstStyle/>
          <a:p>
            <a:pPr marL="0" indent="0" algn="l">
              <a:lnSpc>
                <a:spcPts val="1181"/>
              </a:lnSpc>
              <a:buNone/>
            </a:pPr>
            <a:r>
              <a:rPr lang="en-US" sz="788" i="1" dirty="0">
                <a:solidFill>
                  <a:srgbClr val="94A3B8"/>
                </a:solidFill>
                <a:latin typeface="Courier New" pitchFamily="34" charset="0"/>
                <a:ea typeface="Courier New" pitchFamily="34" charset="-122"/>
                <a:cs typeface="Courier New" pitchFamily="34" charset="-120"/>
              </a:rPr>
              <a:t>You are a Terraform expert. Generate HCL code.</a:t>
            </a:r>
            <a:endParaRPr lang="en-US" sz="788" dirty="0"/>
          </a:p>
        </p:txBody>
      </p:sp>
      <p:sp>
        <p:nvSpPr>
          <p:cNvPr id="19" name="Text 17"/>
          <p:cNvSpPr/>
          <p:nvPr/>
        </p:nvSpPr>
        <p:spPr>
          <a:xfrm>
            <a:off x="5254898" y="1474403"/>
            <a:ext cx="572072" cy="122587"/>
          </a:xfrm>
          <a:prstGeom prst="rect">
            <a:avLst/>
          </a:prstGeom>
          <a:noFill/>
          <a:ln/>
        </p:spPr>
        <p:txBody>
          <a:bodyPr wrap="none" lIns="0" tIns="0" rIns="0" bIns="0" rtlCol="0" anchor="t">
            <a:normAutofit fontScale="25000" lnSpcReduction="20000"/>
          </a:bodyPr>
          <a:lstStyle/>
          <a:p>
            <a:pPr marL="0" indent="0" algn="l">
              <a:lnSpc>
                <a:spcPts val="1181"/>
              </a:lnSpc>
              <a:buNone/>
            </a:pPr>
            <a:r>
              <a:rPr lang="en-US" sz="800" dirty="0">
                <a:solidFill>
                  <a:srgbClr val="FBBF24"/>
                </a:solidFill>
                <a:latin typeface="Courier New" pitchFamily="34" charset="0"/>
                <a:ea typeface="Courier New" pitchFamily="34" charset="-122"/>
                <a:cs typeface="Courier New" pitchFamily="34" charset="-120"/>
              </a:rPr>
              <a:t>Context:</a:t>
            </a:r>
            <a:endParaRPr lang="en-US" sz="800" dirty="0"/>
          </a:p>
        </p:txBody>
      </p:sp>
      <p:sp>
        <p:nvSpPr>
          <p:cNvPr id="20" name="Text 18"/>
          <p:cNvSpPr/>
          <p:nvPr/>
        </p:nvSpPr>
        <p:spPr>
          <a:xfrm>
            <a:off x="5354910" y="1624422"/>
            <a:ext cx="429054" cy="133241"/>
          </a:xfrm>
          <a:prstGeom prst="rect">
            <a:avLst/>
          </a:prstGeom>
          <a:noFill/>
          <a:ln/>
        </p:spPr>
        <p:txBody>
          <a:bodyPr wrap="none" lIns="0" tIns="0" rIns="0" bIns="0" rtlCol="0" anchor="t"/>
          <a:lstStyle/>
          <a:p>
            <a:pPr marL="0" indent="0" algn="l">
              <a:lnSpc>
                <a:spcPts val="1181"/>
              </a:lnSpc>
              <a:buNone/>
            </a:pPr>
            <a:r>
              <a:rPr lang="en-US" sz="800" dirty="0">
                <a:solidFill>
                  <a:srgbClr val="FBBF24"/>
                </a:solidFill>
                <a:latin typeface="Courier New" pitchFamily="34" charset="0"/>
                <a:ea typeface="Courier New" pitchFamily="34" charset="-122"/>
                <a:cs typeface="Courier New" pitchFamily="34" charset="-120"/>
              </a:rPr>
              <a:t>Cloud:</a:t>
            </a:r>
            <a:endParaRPr lang="en-US" sz="800" dirty="0"/>
          </a:p>
        </p:txBody>
      </p:sp>
      <p:sp>
        <p:nvSpPr>
          <p:cNvPr id="21" name="Text 19"/>
          <p:cNvSpPr/>
          <p:nvPr/>
        </p:nvSpPr>
        <p:spPr>
          <a:xfrm>
            <a:off x="5695693" y="1624422"/>
            <a:ext cx="258552" cy="122587"/>
          </a:xfrm>
          <a:prstGeom prst="rect">
            <a:avLst/>
          </a:prstGeom>
          <a:noFill/>
          <a:ln/>
        </p:spPr>
        <p:txBody>
          <a:bodyPr wrap="none" lIns="0" tIns="0" rIns="0" bIns="0" rtlCol="0" anchor="t">
            <a:normAutofit fontScale="25000" lnSpcReduction="20000"/>
          </a:bodyPr>
          <a:lstStyle/>
          <a:p>
            <a:pPr marL="0" indent="0" algn="l">
              <a:lnSpc>
                <a:spcPts val="1181"/>
              </a:lnSpc>
              <a:buNone/>
            </a:pPr>
            <a:r>
              <a:rPr lang="en-US" sz="800" dirty="0">
                <a:solidFill>
                  <a:srgbClr val="86EFAC"/>
                </a:solidFill>
                <a:latin typeface="Courier New" pitchFamily="34" charset="0"/>
                <a:ea typeface="Courier New" pitchFamily="34" charset="-122"/>
                <a:cs typeface="Courier New" pitchFamily="34" charset="-120"/>
              </a:rPr>
              <a:t>AWS</a:t>
            </a:r>
            <a:endParaRPr lang="en-US" sz="800" dirty="0"/>
          </a:p>
        </p:txBody>
      </p:sp>
      <p:sp>
        <p:nvSpPr>
          <p:cNvPr id="22" name="Text 20"/>
          <p:cNvSpPr/>
          <p:nvPr/>
        </p:nvSpPr>
        <p:spPr>
          <a:xfrm>
            <a:off x="5354910" y="1774441"/>
            <a:ext cx="500563" cy="133241"/>
          </a:xfrm>
          <a:prstGeom prst="rect">
            <a:avLst/>
          </a:prstGeom>
          <a:noFill/>
          <a:ln/>
        </p:spPr>
        <p:txBody>
          <a:bodyPr wrap="none" lIns="0" tIns="0" rIns="0" bIns="0" rtlCol="0" anchor="t"/>
          <a:lstStyle/>
          <a:p>
            <a:pPr marL="0" indent="0" algn="l">
              <a:lnSpc>
                <a:spcPts val="1181"/>
              </a:lnSpc>
              <a:buNone/>
            </a:pPr>
            <a:r>
              <a:rPr lang="en-US" sz="800" dirty="0">
                <a:solidFill>
                  <a:srgbClr val="FBBF24"/>
                </a:solidFill>
                <a:latin typeface="Courier New" pitchFamily="34" charset="0"/>
                <a:ea typeface="Courier New" pitchFamily="34" charset="-122"/>
                <a:cs typeface="Courier New" pitchFamily="34" charset="-120"/>
              </a:rPr>
              <a:t>Region:</a:t>
            </a:r>
            <a:endParaRPr lang="en-US" sz="800" dirty="0"/>
          </a:p>
        </p:txBody>
      </p:sp>
      <p:sp>
        <p:nvSpPr>
          <p:cNvPr id="23" name="Text 21"/>
          <p:cNvSpPr/>
          <p:nvPr/>
        </p:nvSpPr>
        <p:spPr>
          <a:xfrm>
            <a:off x="5754960" y="1774441"/>
            <a:ext cx="643580" cy="122587"/>
          </a:xfrm>
          <a:prstGeom prst="rect">
            <a:avLst/>
          </a:prstGeom>
          <a:noFill/>
          <a:ln/>
        </p:spPr>
        <p:txBody>
          <a:bodyPr wrap="none" lIns="0" tIns="0" rIns="0" bIns="0" rtlCol="0" anchor="t">
            <a:normAutofit fontScale="25000" lnSpcReduction="20000"/>
          </a:bodyPr>
          <a:lstStyle/>
          <a:p>
            <a:pPr marL="0" indent="0" algn="l">
              <a:lnSpc>
                <a:spcPts val="1181"/>
              </a:lnSpc>
              <a:buNone/>
            </a:pPr>
            <a:r>
              <a:rPr lang="en-US" sz="800" dirty="0">
                <a:solidFill>
                  <a:srgbClr val="86EFAC"/>
                </a:solidFill>
                <a:latin typeface="Liberation Sans Narrow" pitchFamily="34" charset="0"/>
                <a:ea typeface="Liberation Sans Narrow" pitchFamily="34" charset="-122"/>
                <a:cs typeface="Liberation Sans Narrow" pitchFamily="34" charset="-120"/>
              </a:rPr>
              <a:t>us-east-1</a:t>
            </a:r>
            <a:endParaRPr lang="en-US" sz="800" dirty="0"/>
          </a:p>
        </p:txBody>
      </p:sp>
      <p:sp>
        <p:nvSpPr>
          <p:cNvPr id="24" name="Text 22"/>
          <p:cNvSpPr/>
          <p:nvPr/>
        </p:nvSpPr>
        <p:spPr>
          <a:xfrm>
            <a:off x="5354910" y="1924459"/>
            <a:ext cx="500563" cy="133241"/>
          </a:xfrm>
          <a:prstGeom prst="rect">
            <a:avLst/>
          </a:prstGeom>
          <a:noFill/>
          <a:ln/>
        </p:spPr>
        <p:txBody>
          <a:bodyPr wrap="none" lIns="0" tIns="0" rIns="0" bIns="0" rtlCol="0" anchor="t"/>
          <a:lstStyle/>
          <a:p>
            <a:pPr marL="0" indent="0" algn="l">
              <a:lnSpc>
                <a:spcPts val="1181"/>
              </a:lnSpc>
              <a:buNone/>
            </a:pPr>
            <a:r>
              <a:rPr lang="en-US" sz="800" dirty="0">
                <a:solidFill>
                  <a:srgbClr val="FBBF24"/>
                </a:solidFill>
                <a:latin typeface="Courier New" pitchFamily="34" charset="0"/>
                <a:ea typeface="Courier New" pitchFamily="34" charset="-122"/>
                <a:cs typeface="Courier New" pitchFamily="34" charset="-120"/>
              </a:rPr>
              <a:t>Naming:</a:t>
            </a:r>
            <a:endParaRPr lang="en-US" sz="800" dirty="0"/>
          </a:p>
        </p:txBody>
      </p:sp>
      <p:sp>
        <p:nvSpPr>
          <p:cNvPr id="25" name="Text 23"/>
          <p:cNvSpPr/>
          <p:nvPr/>
        </p:nvSpPr>
        <p:spPr>
          <a:xfrm>
            <a:off x="5754960" y="1924459"/>
            <a:ext cx="1404176" cy="122587"/>
          </a:xfrm>
          <a:prstGeom prst="rect">
            <a:avLst/>
          </a:prstGeom>
          <a:noFill/>
          <a:ln/>
        </p:spPr>
        <p:txBody>
          <a:bodyPr wrap="none" lIns="0" tIns="0" rIns="0" bIns="0" rtlCol="0" anchor="t">
            <a:normAutofit fontScale="25000" lnSpcReduction="20000"/>
          </a:bodyPr>
          <a:lstStyle/>
          <a:p>
            <a:pPr marL="0" indent="0" algn="l">
              <a:lnSpc>
                <a:spcPts val="1181"/>
              </a:lnSpc>
              <a:buNone/>
            </a:pPr>
            <a:r>
              <a:rPr lang="en-US" sz="788" dirty="0">
                <a:solidFill>
                  <a:srgbClr val="86EFAC"/>
                </a:solidFill>
                <a:latin typeface="Courier New" pitchFamily="34" charset="0"/>
                <a:ea typeface="Courier New" pitchFamily="34" charset="-122"/>
                <a:cs typeface="Courier New" pitchFamily="34" charset="-120"/>
              </a:rPr>
              <a:t>&lt;env&gt;-&lt;service&gt;-&lt;resource&gt;</a:t>
            </a:r>
            <a:endParaRPr lang="en-US" sz="788" dirty="0"/>
          </a:p>
        </p:txBody>
      </p:sp>
      <p:sp>
        <p:nvSpPr>
          <p:cNvPr id="26" name="Text 24"/>
          <p:cNvSpPr/>
          <p:nvPr/>
        </p:nvSpPr>
        <p:spPr>
          <a:xfrm>
            <a:off x="5354910" y="2074478"/>
            <a:ext cx="400050" cy="133241"/>
          </a:xfrm>
          <a:prstGeom prst="rect">
            <a:avLst/>
          </a:prstGeom>
          <a:noFill/>
          <a:ln/>
        </p:spPr>
        <p:txBody>
          <a:bodyPr wrap="none" lIns="0" tIns="0" rIns="0" bIns="0" rtlCol="0" anchor="t"/>
          <a:lstStyle/>
          <a:p>
            <a:pPr marL="0" indent="0" algn="l">
              <a:lnSpc>
                <a:spcPts val="1181"/>
              </a:lnSpc>
              <a:buNone/>
            </a:pPr>
            <a:r>
              <a:rPr lang="en-US" sz="800" dirty="0">
                <a:solidFill>
                  <a:srgbClr val="FBBF24"/>
                </a:solidFill>
                <a:latin typeface="Courier New" pitchFamily="34" charset="0"/>
                <a:ea typeface="Courier New" pitchFamily="34" charset="-122"/>
                <a:cs typeface="Courier New" pitchFamily="34" charset="-120"/>
              </a:rPr>
              <a:t>Tags:</a:t>
            </a:r>
            <a:endParaRPr lang="en-US" sz="800" dirty="0"/>
          </a:p>
        </p:txBody>
      </p:sp>
      <p:sp>
        <p:nvSpPr>
          <p:cNvPr id="27" name="Text 25"/>
          <p:cNvSpPr/>
          <p:nvPr/>
        </p:nvSpPr>
        <p:spPr>
          <a:xfrm>
            <a:off x="5654948" y="2074478"/>
            <a:ext cx="1620203" cy="133241"/>
          </a:xfrm>
          <a:prstGeom prst="rect">
            <a:avLst/>
          </a:prstGeom>
          <a:noFill/>
          <a:ln/>
        </p:spPr>
        <p:txBody>
          <a:bodyPr wrap="none" lIns="0" tIns="0" rIns="0" bIns="0" rtlCol="0" anchor="t"/>
          <a:lstStyle/>
          <a:p>
            <a:pPr marL="0" indent="0" algn="l">
              <a:lnSpc>
                <a:spcPts val="1181"/>
              </a:lnSpc>
              <a:buNone/>
            </a:pPr>
            <a:r>
              <a:rPr lang="en-US" sz="788" dirty="0">
                <a:solidFill>
                  <a:srgbClr val="86EFAC"/>
                </a:solidFill>
                <a:latin typeface="Courier New" pitchFamily="34" charset="0"/>
                <a:ea typeface="Courier New" pitchFamily="34" charset="-122"/>
                <a:cs typeface="Courier New" pitchFamily="34" charset="-120"/>
              </a:rPr>
              <a:t>Environment, Owner, CostCenter</a:t>
            </a:r>
            <a:endParaRPr lang="en-US" sz="788" dirty="0"/>
          </a:p>
        </p:txBody>
      </p:sp>
      <p:sp>
        <p:nvSpPr>
          <p:cNvPr id="28" name="Text 26"/>
          <p:cNvSpPr/>
          <p:nvPr/>
        </p:nvSpPr>
        <p:spPr>
          <a:xfrm>
            <a:off x="5236233" y="2374516"/>
            <a:ext cx="724916" cy="122587"/>
          </a:xfrm>
          <a:prstGeom prst="rect">
            <a:avLst/>
          </a:prstGeom>
          <a:noFill/>
          <a:ln/>
        </p:spPr>
        <p:txBody>
          <a:bodyPr wrap="none" lIns="0" tIns="0" rIns="0" bIns="0" rtlCol="0" anchor="t">
            <a:normAutofit fontScale="25000" lnSpcReduction="20000"/>
          </a:bodyPr>
          <a:lstStyle/>
          <a:p>
            <a:pPr marL="0" indent="0" algn="l">
              <a:lnSpc>
                <a:spcPts val="1181"/>
              </a:lnSpc>
              <a:buNone/>
            </a:pPr>
            <a:r>
              <a:rPr lang="en-US" sz="800" dirty="0">
                <a:solidFill>
                  <a:srgbClr val="FBBF24"/>
                </a:solidFill>
                <a:latin typeface="Courier New" pitchFamily="34" charset="0"/>
                <a:ea typeface="Courier New" pitchFamily="34" charset="-122"/>
                <a:cs typeface="Courier New" pitchFamily="34" charset="-120"/>
              </a:rPr>
              <a:t>Constraint:</a:t>
            </a:r>
            <a:endParaRPr lang="en-US" sz="800" dirty="0"/>
          </a:p>
        </p:txBody>
      </p:sp>
      <p:sp>
        <p:nvSpPr>
          <p:cNvPr id="29" name="Text 27"/>
          <p:cNvSpPr/>
          <p:nvPr/>
        </p:nvSpPr>
        <p:spPr>
          <a:xfrm>
            <a:off x="5354910" y="2524534"/>
            <a:ext cx="1566196" cy="122587"/>
          </a:xfrm>
          <a:prstGeom prst="rect">
            <a:avLst/>
          </a:prstGeom>
          <a:noFill/>
          <a:ln/>
        </p:spPr>
        <p:txBody>
          <a:bodyPr wrap="none" lIns="0" tIns="0" rIns="0" bIns="0" rtlCol="0" anchor="t">
            <a:normAutofit fontScale="25000" lnSpcReduction="20000"/>
          </a:bodyPr>
          <a:lstStyle/>
          <a:p>
            <a:pPr marL="0" indent="0" algn="l">
              <a:lnSpc>
                <a:spcPts val="1181"/>
              </a:lnSpc>
              <a:buNone/>
            </a:pPr>
            <a:r>
              <a:rPr lang="en-US" sz="788" dirty="0">
                <a:solidFill>
                  <a:srgbClr val="86EFAC"/>
                </a:solidFill>
                <a:latin typeface="Liberation Sans Narrow" pitchFamily="34" charset="0"/>
                <a:ea typeface="Liberation Sans Narrow" pitchFamily="34" charset="-122"/>
                <a:cs typeface="Liberation Sans Narrow" pitchFamily="34" charset="-120"/>
              </a:rPr>
              <a:t>Use only t3.micro or t3.small</a:t>
            </a:r>
            <a:endParaRPr lang="en-US" sz="788" dirty="0"/>
          </a:p>
        </p:txBody>
      </p:sp>
      <p:sp>
        <p:nvSpPr>
          <p:cNvPr id="30" name="Text 28"/>
          <p:cNvSpPr/>
          <p:nvPr/>
        </p:nvSpPr>
        <p:spPr>
          <a:xfrm>
            <a:off x="5354910" y="2674553"/>
            <a:ext cx="2106263" cy="133241"/>
          </a:xfrm>
          <a:prstGeom prst="rect">
            <a:avLst/>
          </a:prstGeom>
          <a:noFill/>
          <a:ln/>
        </p:spPr>
        <p:txBody>
          <a:bodyPr wrap="none" lIns="0" tIns="0" rIns="0" bIns="0" rtlCol="0" anchor="t"/>
          <a:lstStyle/>
          <a:p>
            <a:pPr marL="0" indent="0" algn="l">
              <a:lnSpc>
                <a:spcPts val="1181"/>
              </a:lnSpc>
              <a:buNone/>
            </a:pPr>
            <a:r>
              <a:rPr lang="en-US" sz="788" dirty="0">
                <a:solidFill>
                  <a:srgbClr val="86EFAC"/>
                </a:solidFill>
                <a:latin typeface="Courier New" pitchFamily="34" charset="0"/>
                <a:ea typeface="Courier New" pitchFamily="34" charset="-122"/>
                <a:cs typeface="Courier New" pitchFamily="34" charset="-120"/>
              </a:rPr>
              <a:t>All resources must have Environment tag</a:t>
            </a:r>
            <a:endParaRPr lang="en-US" sz="788" dirty="0"/>
          </a:p>
        </p:txBody>
      </p:sp>
      <p:sp>
        <p:nvSpPr>
          <p:cNvPr id="31" name="Text 29"/>
          <p:cNvSpPr/>
          <p:nvPr/>
        </p:nvSpPr>
        <p:spPr>
          <a:xfrm>
            <a:off x="5254898" y="2974591"/>
            <a:ext cx="572072" cy="122587"/>
          </a:xfrm>
          <a:prstGeom prst="rect">
            <a:avLst/>
          </a:prstGeom>
          <a:noFill/>
          <a:ln/>
        </p:spPr>
        <p:txBody>
          <a:bodyPr wrap="none" lIns="0" tIns="0" rIns="0" bIns="0" rtlCol="0" anchor="t">
            <a:normAutofit fontScale="25000" lnSpcReduction="20000"/>
          </a:bodyPr>
          <a:lstStyle/>
          <a:p>
            <a:pPr marL="0" indent="0" algn="l">
              <a:lnSpc>
                <a:spcPts val="1181"/>
              </a:lnSpc>
              <a:buNone/>
            </a:pPr>
            <a:r>
              <a:rPr lang="en-US" sz="800" dirty="0">
                <a:solidFill>
                  <a:srgbClr val="FBBF24"/>
                </a:solidFill>
                <a:latin typeface="Courier New" pitchFamily="34" charset="0"/>
                <a:ea typeface="Courier New" pitchFamily="34" charset="-122"/>
                <a:cs typeface="Courier New" pitchFamily="34" charset="-120"/>
              </a:rPr>
              <a:t>Examples</a:t>
            </a:r>
            <a:endParaRPr lang="en-US" sz="800" dirty="0"/>
          </a:p>
        </p:txBody>
      </p:sp>
      <p:sp>
        <p:nvSpPr>
          <p:cNvPr id="32" name="Text 30"/>
          <p:cNvSpPr/>
          <p:nvPr/>
        </p:nvSpPr>
        <p:spPr>
          <a:xfrm>
            <a:off x="5254898" y="3124609"/>
            <a:ext cx="875109" cy="122587"/>
          </a:xfrm>
          <a:prstGeom prst="rect">
            <a:avLst/>
          </a:prstGeom>
          <a:noFill/>
          <a:ln/>
        </p:spPr>
        <p:txBody>
          <a:bodyPr wrap="none" lIns="0" tIns="0" rIns="0" bIns="0" rtlCol="0" anchor="t">
            <a:normAutofit fontScale="25000" lnSpcReduction="20000"/>
          </a:bodyPr>
          <a:lstStyle/>
          <a:p>
            <a:pPr marL="0" indent="0" algn="l">
              <a:lnSpc>
                <a:spcPts val="1181"/>
              </a:lnSpc>
              <a:buNone/>
            </a:pPr>
            <a:r>
              <a:rPr lang="en-US" sz="800" dirty="0">
                <a:solidFill>
                  <a:srgbClr val="86EFAC"/>
                </a:solidFill>
                <a:latin typeface="Liberation Sans Narrow" pitchFamily="34" charset="0"/>
                <a:ea typeface="Liberation Sans Narrow" pitchFamily="34" charset="-122"/>
                <a:cs typeface="Liberation Sans Narrow" pitchFamily="34" charset="-120"/>
              </a:rPr>
              <a:t>&lt;example_1.tf&gt;</a:t>
            </a:r>
            <a:endParaRPr lang="en-US" sz="800" dirty="0"/>
          </a:p>
        </p:txBody>
      </p:sp>
      <p:sp>
        <p:nvSpPr>
          <p:cNvPr id="33" name="Text 31"/>
          <p:cNvSpPr/>
          <p:nvPr/>
        </p:nvSpPr>
        <p:spPr>
          <a:xfrm>
            <a:off x="5254898" y="3274628"/>
            <a:ext cx="875109" cy="133241"/>
          </a:xfrm>
          <a:prstGeom prst="rect">
            <a:avLst/>
          </a:prstGeom>
          <a:noFill/>
          <a:ln/>
        </p:spPr>
        <p:txBody>
          <a:bodyPr wrap="none" lIns="0" tIns="0" rIns="0" bIns="0" rtlCol="0" anchor="t"/>
          <a:lstStyle/>
          <a:p>
            <a:pPr marL="0" indent="0" algn="l">
              <a:lnSpc>
                <a:spcPts val="1181"/>
              </a:lnSpc>
              <a:buNone/>
            </a:pPr>
            <a:r>
              <a:rPr lang="en-US" sz="800" dirty="0">
                <a:solidFill>
                  <a:srgbClr val="86EFAC"/>
                </a:solidFill>
                <a:latin typeface="Liberation Sans Narrow" pitchFamily="34" charset="0"/>
                <a:ea typeface="Liberation Sans Narrow" pitchFamily="34" charset="-122"/>
                <a:cs typeface="Liberation Sans Narrow" pitchFamily="34" charset="-120"/>
              </a:rPr>
              <a:t>&lt;example_2.tf&gt;</a:t>
            </a:r>
            <a:endParaRPr lang="en-US" sz="800" dirty="0"/>
          </a:p>
        </p:txBody>
      </p:sp>
      <p:sp>
        <p:nvSpPr>
          <p:cNvPr id="34" name="Text 32"/>
          <p:cNvSpPr/>
          <p:nvPr/>
        </p:nvSpPr>
        <p:spPr>
          <a:xfrm>
            <a:off x="5254898" y="3574666"/>
            <a:ext cx="572072" cy="122587"/>
          </a:xfrm>
          <a:prstGeom prst="rect">
            <a:avLst/>
          </a:prstGeom>
          <a:noFill/>
          <a:ln/>
        </p:spPr>
        <p:txBody>
          <a:bodyPr wrap="none" lIns="0" tIns="0" rIns="0" bIns="0" rtlCol="0" anchor="t">
            <a:normAutofit fontScale="25000" lnSpcReduction="20000"/>
          </a:bodyPr>
          <a:lstStyle/>
          <a:p>
            <a:pPr marL="0" indent="0" algn="l">
              <a:lnSpc>
                <a:spcPts val="1181"/>
              </a:lnSpc>
              <a:buNone/>
            </a:pPr>
            <a:r>
              <a:rPr lang="en-US" sz="800" dirty="0">
                <a:solidFill>
                  <a:srgbClr val="FBBF24"/>
                </a:solidFill>
                <a:latin typeface="Courier New" pitchFamily="34" charset="0"/>
                <a:ea typeface="Courier New" pitchFamily="34" charset="-122"/>
                <a:cs typeface="Courier New" pitchFamily="34" charset="-120"/>
              </a:rPr>
              <a:t>Request:</a:t>
            </a:r>
            <a:endParaRPr lang="en-US" sz="800" dirty="0"/>
          </a:p>
        </p:txBody>
      </p:sp>
      <p:sp>
        <p:nvSpPr>
          <p:cNvPr id="35" name="Text 33"/>
          <p:cNvSpPr/>
          <p:nvPr/>
        </p:nvSpPr>
        <p:spPr>
          <a:xfrm>
            <a:off x="5254898" y="3724684"/>
            <a:ext cx="1836230" cy="133241"/>
          </a:xfrm>
          <a:prstGeom prst="rect">
            <a:avLst/>
          </a:prstGeom>
          <a:noFill/>
          <a:ln/>
        </p:spPr>
        <p:txBody>
          <a:bodyPr wrap="none" lIns="0" tIns="0" rIns="0" bIns="0" rtlCol="0" anchor="t"/>
          <a:lstStyle/>
          <a:p>
            <a:pPr marL="0" indent="0" algn="l">
              <a:lnSpc>
                <a:spcPts val="1181"/>
              </a:lnSpc>
              <a:buNone/>
            </a:pPr>
            <a:r>
              <a:rPr lang="en-US" sz="788" dirty="0">
                <a:solidFill>
                  <a:srgbClr val="86EFAC"/>
                </a:solidFill>
                <a:latin typeface="Courier New" pitchFamily="34" charset="0"/>
                <a:ea typeface="Courier New" pitchFamily="34" charset="-122"/>
                <a:cs typeface="Courier New" pitchFamily="34" charset="-120"/>
              </a:rPr>
              <a:t>&lt;the natural-language description&gt;</a:t>
            </a:r>
            <a:endParaRPr lang="en-US" sz="788" dirty="0"/>
          </a:p>
        </p:txBody>
      </p:sp>
      <p:sp>
        <p:nvSpPr>
          <p:cNvPr id="36" name="Text 34"/>
          <p:cNvSpPr/>
          <p:nvPr/>
        </p:nvSpPr>
        <p:spPr>
          <a:xfrm>
            <a:off x="457200" y="4516301"/>
            <a:ext cx="8229600" cy="183599"/>
          </a:xfrm>
          <a:prstGeom prst="rect">
            <a:avLst/>
          </a:prstGeom>
          <a:noFill/>
          <a:ln/>
        </p:spPr>
        <p:txBody>
          <a:bodyPr wrap="square" lIns="0" tIns="0" rIns="0" bIns="0" rtlCol="0" anchor="t"/>
          <a:lstStyle/>
          <a:p>
            <a:pPr marL="0" indent="0" algn="l">
              <a:lnSpc>
                <a:spcPts val="1339"/>
              </a:lnSpc>
              <a:buNone/>
            </a:pPr>
            <a:r>
              <a:rPr lang="en-US" sz="956" b="1" dirty="0">
                <a:solidFill>
                  <a:srgbClr val="C2410C"/>
                </a:solidFill>
                <a:latin typeface="Segoe UI Symbol" pitchFamily="34" charset="0"/>
                <a:ea typeface="Segoe UI Symbol" pitchFamily="34" charset="-122"/>
                <a:cs typeface="Segoe UI Symbol" pitchFamily="34" charset="-120"/>
              </a:rPr>
              <a:t>◆</a:t>
            </a:r>
            <a:r>
              <a:rPr lang="en-US" sz="956" b="1" dirty="0">
                <a:solidFill>
                  <a:srgbClr val="C2410C"/>
                </a:solidFill>
                <a:latin typeface="Carlito" pitchFamily="34" charset="0"/>
                <a:ea typeface="Carlito" pitchFamily="34" charset="-122"/>
                <a:cs typeface="Carlito" pitchFamily="34" charset="-120"/>
              </a:rPr>
              <a:t> Without context + examples + constraints, AI output is generic. With all three, it matches your team's style.</a:t>
            </a:r>
            <a:endParaRPr lang="en-US" sz="956"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6424140" cy="373346"/>
          </a:xfrm>
          <a:prstGeom prst="rect">
            <a:avLst/>
          </a:prstGeom>
          <a:noFill/>
          <a:ln/>
        </p:spPr>
        <p:txBody>
          <a:bodyPr wrap="square" lIns="0" tIns="0" rIns="0" bIns="0" rtlCol="0" anchor="t"/>
          <a:lstStyle/>
          <a:p>
            <a:pPr marL="0" indent="0" algn="l">
              <a:lnSpc>
                <a:spcPts val="2723"/>
              </a:lnSpc>
              <a:buNone/>
            </a:pPr>
            <a:r>
              <a:rPr lang="en-US" sz="2475" b="1" kern="0" spc="-28" dirty="0">
                <a:solidFill>
                  <a:srgbClr val="0F172A"/>
                </a:solidFill>
                <a:latin typeface="Carlito" pitchFamily="34" charset="0"/>
                <a:ea typeface="Carlito" pitchFamily="34" charset="-122"/>
                <a:cs typeface="Carlito" pitchFamily="34" charset="-120"/>
              </a:rPr>
              <a:t>Code Example — NL Infrastructure Request</a:t>
            </a:r>
            <a:endParaRPr lang="en-US" sz="2475" dirty="0"/>
          </a:p>
        </p:txBody>
      </p:sp>
      <p:sp>
        <p:nvSpPr>
          <p:cNvPr id="3" name="Text 1"/>
          <p:cNvSpPr/>
          <p:nvPr/>
        </p:nvSpPr>
        <p:spPr>
          <a:xfrm>
            <a:off x="457200" y="860041"/>
            <a:ext cx="571500" cy="42863"/>
          </a:xfrm>
          <a:prstGeom prst="roundRect">
            <a:avLst>
              <a:gd name="adj" fmla="val 66666"/>
            </a:avLst>
          </a:prstGeom>
          <a:solidFill>
            <a:srgbClr val="F97316"/>
          </a:solidFill>
          <a:ln/>
        </p:spPr>
        <p:txBody>
          <a:bodyPr wrap="square" rtlCol="0" anchor="ctr"/>
          <a:lstStyle/>
          <a:p>
            <a:pPr marL="0" indent="0">
              <a:buNone/>
            </a:pPr>
            <a:endParaRPr lang="en-US" dirty="0"/>
          </a:p>
        </p:txBody>
      </p:sp>
      <p:sp>
        <p:nvSpPr>
          <p:cNvPr id="4" name="Text 2"/>
          <p:cNvSpPr/>
          <p:nvPr/>
        </p:nvSpPr>
        <p:spPr>
          <a:xfrm>
            <a:off x="7260751" y="514385"/>
            <a:ext cx="1448909" cy="331333"/>
          </a:xfrm>
          <a:prstGeom prst="roundRect">
            <a:avLst>
              <a:gd name="adj" fmla="val 2871877"/>
            </a:avLst>
          </a:prstGeom>
          <a:solidFill>
            <a:srgbClr val="FED7AA"/>
          </a:solidFill>
          <a:ln/>
        </p:spPr>
        <p:txBody>
          <a:bodyPr wrap="square" rtlCol="0" anchor="ctr"/>
          <a:lstStyle/>
          <a:p>
            <a:pPr marL="0" indent="0">
              <a:buNone/>
            </a:pPr>
            <a:endParaRPr lang="en-US" dirty="0"/>
          </a:p>
        </p:txBody>
      </p:sp>
      <p:sp>
        <p:nvSpPr>
          <p:cNvPr id="5" name="Text 3"/>
          <p:cNvSpPr/>
          <p:nvPr/>
        </p:nvSpPr>
        <p:spPr>
          <a:xfrm>
            <a:off x="7221459" y="527186"/>
            <a:ext cx="1527494" cy="305730"/>
          </a:xfrm>
          <a:prstGeom prst="rect">
            <a:avLst/>
          </a:prstGeom>
          <a:noFill/>
          <a:ln/>
        </p:spPr>
        <p:txBody>
          <a:bodyPr wrap="none" lIns="0" tIns="0" rIns="0" bIns="0" rtlCol="0" anchor="ctr"/>
          <a:lstStyle/>
          <a:p>
            <a:pPr marL="0" indent="0" algn="ctr">
              <a:lnSpc>
                <a:spcPts val="1733"/>
              </a:lnSpc>
              <a:buNone/>
            </a:pPr>
            <a:r>
              <a:rPr lang="en-US" sz="1238" b="1" kern="0" spc="28" dirty="0">
                <a:solidFill>
                  <a:srgbClr val="C2410C"/>
                </a:solidFill>
                <a:latin typeface="Liberation Sans Narrow" pitchFamily="34" charset="0"/>
                <a:ea typeface="Liberation Sans Narrow" pitchFamily="34" charset="-122"/>
                <a:cs typeface="Liberation Sans Narrow" pitchFamily="34" charset="-120"/>
              </a:rPr>
              <a:t>SECTION C · 3.8</a:t>
            </a:r>
            <a:endParaRPr lang="en-US" sz="1238" dirty="0"/>
          </a:p>
        </p:txBody>
      </p:sp>
      <p:sp>
        <p:nvSpPr>
          <p:cNvPr id="6" name="Text 4"/>
          <p:cNvSpPr/>
          <p:nvPr/>
        </p:nvSpPr>
        <p:spPr>
          <a:xfrm>
            <a:off x="457200" y="960053"/>
            <a:ext cx="8229600" cy="216027"/>
          </a:xfrm>
          <a:prstGeom prst="rect">
            <a:avLst/>
          </a:prstGeom>
          <a:noFill/>
          <a:ln/>
        </p:spPr>
        <p:txBody>
          <a:bodyPr wrap="square" lIns="0" tIns="0" rIns="0" bIns="0" rtlCol="0" anchor="t"/>
          <a:lstStyle/>
          <a:p>
            <a:pPr marL="0" indent="0" algn="l">
              <a:lnSpc>
                <a:spcPts val="1575"/>
              </a:lnSpc>
              <a:buNone/>
            </a:pPr>
            <a:r>
              <a:rPr lang="en-US" sz="1125" dirty="0">
                <a:solidFill>
                  <a:srgbClr val="64748B"/>
                </a:solidFill>
                <a:latin typeface="Carlito" pitchFamily="34" charset="0"/>
                <a:ea typeface="Carlito" pitchFamily="34" charset="-122"/>
                <a:cs typeface="Carlito" pitchFamily="34" charset="-120"/>
              </a:rPr>
              <a:t>The prompt that produces the Terraform on the next slide.</a:t>
            </a:r>
            <a:endParaRPr lang="en-US" sz="1125" dirty="0"/>
          </a:p>
        </p:txBody>
      </p:sp>
      <p:sp>
        <p:nvSpPr>
          <p:cNvPr id="7" name="Text 5"/>
          <p:cNvSpPr/>
          <p:nvPr/>
        </p:nvSpPr>
        <p:spPr>
          <a:xfrm>
            <a:off x="600075" y="1360103"/>
            <a:ext cx="2832497" cy="143490"/>
          </a:xfrm>
          <a:prstGeom prst="rect">
            <a:avLst/>
          </a:prstGeom>
          <a:noFill/>
          <a:ln/>
        </p:spPr>
        <p:txBody>
          <a:bodyPr wrap="none" lIns="0" tIns="0" rIns="0" bIns="0" rtlCol="0" anchor="t"/>
          <a:lstStyle/>
          <a:p>
            <a:pPr marL="0" indent="0" algn="l">
              <a:lnSpc>
                <a:spcPts val="1024"/>
              </a:lnSpc>
              <a:buNone/>
            </a:pPr>
            <a:r>
              <a:rPr lang="en-US" sz="731" i="1" dirty="0">
                <a:solidFill>
                  <a:srgbClr val="94A3B8"/>
                </a:solidFill>
                <a:latin typeface="Courier New" pitchFamily="34" charset="0"/>
                <a:ea typeface="Courier New" pitchFamily="34" charset="-122"/>
                <a:cs typeface="Courier New" pitchFamily="34" charset="-120"/>
              </a:rPr>
              <a:t># prompt_to_llm.txt — natural-language infrastructure request</a:t>
            </a:r>
            <a:endParaRPr lang="en-US" sz="731" dirty="0"/>
          </a:p>
        </p:txBody>
      </p:sp>
      <p:sp>
        <p:nvSpPr>
          <p:cNvPr id="8" name="Text 6"/>
          <p:cNvSpPr/>
          <p:nvPr/>
        </p:nvSpPr>
        <p:spPr>
          <a:xfrm>
            <a:off x="577585" y="1879811"/>
            <a:ext cx="625409" cy="102495"/>
          </a:xfrm>
          <a:prstGeom prst="rect">
            <a:avLst/>
          </a:prstGeom>
          <a:noFill/>
          <a:ln/>
        </p:spPr>
        <p:txBody>
          <a:bodyPr wrap="none" lIns="0" tIns="0" rIns="0" bIns="0" rtlCol="0" anchor="t">
            <a:normAutofit fontScale="25000" lnSpcReduction="20000"/>
          </a:bodyPr>
          <a:lstStyle/>
          <a:p>
            <a:pPr marL="0" indent="0" algn="l">
              <a:lnSpc>
                <a:spcPts val="1024"/>
              </a:lnSpc>
              <a:buNone/>
            </a:pPr>
            <a:r>
              <a:rPr lang="en-US" sz="800" dirty="0">
                <a:solidFill>
                  <a:srgbClr val="FBBF24"/>
                </a:solidFill>
                <a:latin typeface="Courier New" pitchFamily="34" charset="0"/>
                <a:ea typeface="Courier New" pitchFamily="34" charset="-122"/>
                <a:cs typeface="Courier New" pitchFamily="34" charset="-120"/>
              </a:rPr>
              <a:t>## Context</a:t>
            </a:r>
            <a:endParaRPr lang="en-US" sz="800" dirty="0"/>
          </a:p>
        </p:txBody>
      </p:sp>
      <p:sp>
        <p:nvSpPr>
          <p:cNvPr id="9" name="Text 7"/>
          <p:cNvSpPr/>
          <p:nvPr/>
        </p:nvSpPr>
        <p:spPr>
          <a:xfrm>
            <a:off x="685544" y="2009738"/>
            <a:ext cx="413207" cy="143490"/>
          </a:xfrm>
          <a:prstGeom prst="rect">
            <a:avLst/>
          </a:prstGeom>
          <a:noFill/>
          <a:ln/>
        </p:spPr>
        <p:txBody>
          <a:bodyPr wrap="none" lIns="0" tIns="0" rIns="0" bIns="0" rtlCol="0" anchor="t"/>
          <a:lstStyle/>
          <a:p>
            <a:pPr marL="0" indent="0" algn="l">
              <a:lnSpc>
                <a:spcPts val="1024"/>
              </a:lnSpc>
              <a:buNone/>
            </a:pPr>
            <a:r>
              <a:rPr lang="en-US" sz="800" dirty="0">
                <a:solidFill>
                  <a:srgbClr val="FBBF24"/>
                </a:solidFill>
                <a:latin typeface="Courier New" pitchFamily="34" charset="0"/>
                <a:ea typeface="Courier New" pitchFamily="34" charset="-122"/>
                <a:cs typeface="Courier New" pitchFamily="34" charset="-120"/>
              </a:rPr>
              <a:t>Cloud:</a:t>
            </a:r>
            <a:endParaRPr lang="en-US" sz="800" dirty="0"/>
          </a:p>
        </p:txBody>
      </p:sp>
      <p:sp>
        <p:nvSpPr>
          <p:cNvPr id="10" name="Text 8"/>
          <p:cNvSpPr/>
          <p:nvPr/>
        </p:nvSpPr>
        <p:spPr>
          <a:xfrm>
            <a:off x="1000151" y="2009738"/>
            <a:ext cx="258552" cy="102495"/>
          </a:xfrm>
          <a:prstGeom prst="rect">
            <a:avLst/>
          </a:prstGeom>
          <a:noFill/>
          <a:ln/>
        </p:spPr>
        <p:txBody>
          <a:bodyPr wrap="none" lIns="0" tIns="0" rIns="0" bIns="0" rtlCol="0" anchor="t">
            <a:normAutofit fontScale="25000" lnSpcReduction="20000"/>
          </a:bodyPr>
          <a:lstStyle/>
          <a:p>
            <a:pPr marL="0" indent="0" algn="l">
              <a:lnSpc>
                <a:spcPts val="1024"/>
              </a:lnSpc>
              <a:buNone/>
            </a:pPr>
            <a:r>
              <a:rPr lang="en-US" sz="800" dirty="0">
                <a:solidFill>
                  <a:srgbClr val="86EFAC"/>
                </a:solidFill>
                <a:latin typeface="Courier New" pitchFamily="34" charset="0"/>
                <a:ea typeface="Courier New" pitchFamily="34" charset="-122"/>
                <a:cs typeface="Courier New" pitchFamily="34" charset="-120"/>
              </a:rPr>
              <a:t>AWS</a:t>
            </a:r>
            <a:endParaRPr lang="en-US" sz="800" dirty="0"/>
          </a:p>
        </p:txBody>
      </p:sp>
      <p:sp>
        <p:nvSpPr>
          <p:cNvPr id="11" name="Text 9"/>
          <p:cNvSpPr/>
          <p:nvPr/>
        </p:nvSpPr>
        <p:spPr>
          <a:xfrm>
            <a:off x="687573" y="2139665"/>
            <a:ext cx="475549" cy="143490"/>
          </a:xfrm>
          <a:prstGeom prst="rect">
            <a:avLst/>
          </a:prstGeom>
          <a:noFill/>
          <a:ln/>
        </p:spPr>
        <p:txBody>
          <a:bodyPr wrap="none" lIns="0" tIns="0" rIns="0" bIns="0" rtlCol="0" anchor="t"/>
          <a:lstStyle/>
          <a:p>
            <a:pPr marL="0" indent="0" algn="l">
              <a:lnSpc>
                <a:spcPts val="1024"/>
              </a:lnSpc>
              <a:buNone/>
            </a:pPr>
            <a:r>
              <a:rPr lang="en-US" sz="800" dirty="0">
                <a:solidFill>
                  <a:srgbClr val="FBBF24"/>
                </a:solidFill>
                <a:latin typeface="Courier New" pitchFamily="34" charset="0"/>
                <a:ea typeface="Courier New" pitchFamily="34" charset="-122"/>
                <a:cs typeface="Courier New" pitchFamily="34" charset="-120"/>
              </a:rPr>
              <a:t>Region:</a:t>
            </a:r>
            <a:endParaRPr lang="en-US" sz="800" dirty="0"/>
          </a:p>
        </p:txBody>
      </p:sp>
      <p:sp>
        <p:nvSpPr>
          <p:cNvPr id="12" name="Text 10"/>
          <p:cNvSpPr/>
          <p:nvPr/>
        </p:nvSpPr>
        <p:spPr>
          <a:xfrm>
            <a:off x="1064419" y="2139665"/>
            <a:ext cx="1755219" cy="102495"/>
          </a:xfrm>
          <a:prstGeom prst="rect">
            <a:avLst/>
          </a:prstGeom>
          <a:noFill/>
          <a:ln/>
        </p:spPr>
        <p:txBody>
          <a:bodyPr wrap="none" lIns="0" tIns="0" rIns="0" bIns="0" rtlCol="0" anchor="t">
            <a:normAutofit fontScale="32500" lnSpcReduction="20000"/>
          </a:bodyPr>
          <a:lstStyle/>
          <a:p>
            <a:pPr marL="0" indent="0" algn="l">
              <a:lnSpc>
                <a:spcPts val="1024"/>
              </a:lnSpc>
              <a:buNone/>
            </a:pPr>
            <a:r>
              <a:rPr lang="en-US" sz="731" dirty="0">
                <a:solidFill>
                  <a:srgbClr val="86EFAC"/>
                </a:solidFill>
                <a:latin typeface="Liberation Sans Narrow" pitchFamily="34" charset="0"/>
                <a:ea typeface="Liberation Sans Narrow" pitchFamily="34" charset="-122"/>
                <a:cs typeface="Liberation Sans Narrow" pitchFamily="34" charset="-120"/>
              </a:rPr>
              <a:t>us-east-1 (primary), us-west-2 (DR)</a:t>
            </a:r>
            <a:endParaRPr lang="en-US" sz="731" dirty="0"/>
          </a:p>
        </p:txBody>
      </p:sp>
      <p:sp>
        <p:nvSpPr>
          <p:cNvPr id="13" name="Text 11"/>
          <p:cNvSpPr/>
          <p:nvPr/>
        </p:nvSpPr>
        <p:spPr>
          <a:xfrm>
            <a:off x="689603" y="2269592"/>
            <a:ext cx="537891" cy="143490"/>
          </a:xfrm>
          <a:prstGeom prst="rect">
            <a:avLst/>
          </a:prstGeom>
          <a:noFill/>
          <a:ln/>
        </p:spPr>
        <p:txBody>
          <a:bodyPr wrap="none" lIns="0" tIns="0" rIns="0" bIns="0" rtlCol="0" anchor="t"/>
          <a:lstStyle/>
          <a:p>
            <a:pPr marL="0" indent="0" algn="l">
              <a:lnSpc>
                <a:spcPts val="1024"/>
              </a:lnSpc>
              <a:buNone/>
            </a:pPr>
            <a:r>
              <a:rPr lang="en-US" sz="800" dirty="0">
                <a:solidFill>
                  <a:srgbClr val="FBBF24"/>
                </a:solidFill>
                <a:latin typeface="Courier New" pitchFamily="34" charset="0"/>
                <a:ea typeface="Courier New" pitchFamily="34" charset="-122"/>
                <a:cs typeface="Courier New" pitchFamily="34" charset="-120"/>
              </a:rPr>
              <a:t>Project:</a:t>
            </a:r>
            <a:endParaRPr lang="en-US" sz="800" dirty="0"/>
          </a:p>
        </p:txBody>
      </p:sp>
      <p:sp>
        <p:nvSpPr>
          <p:cNvPr id="14" name="Text 12"/>
          <p:cNvSpPr/>
          <p:nvPr/>
        </p:nvSpPr>
        <p:spPr>
          <a:xfrm>
            <a:off x="1110853" y="2269592"/>
            <a:ext cx="1218902" cy="102495"/>
          </a:xfrm>
          <a:prstGeom prst="rect">
            <a:avLst/>
          </a:prstGeom>
          <a:noFill/>
          <a:ln/>
        </p:spPr>
        <p:txBody>
          <a:bodyPr wrap="none" lIns="0" tIns="0" rIns="0" bIns="0" rtlCol="0" anchor="t">
            <a:normAutofit fontScale="25000" lnSpcReduction="20000"/>
          </a:bodyPr>
          <a:lstStyle/>
          <a:p>
            <a:pPr marL="0" indent="0" algn="l">
              <a:lnSpc>
                <a:spcPts val="1024"/>
              </a:lnSpc>
              <a:buNone/>
            </a:pPr>
            <a:r>
              <a:rPr lang="en-US" sz="800" dirty="0">
                <a:solidFill>
                  <a:srgbClr val="86EFAC"/>
                </a:solidFill>
                <a:latin typeface="Courier New" pitchFamily="34" charset="0"/>
                <a:ea typeface="Courier New" pitchFamily="34" charset="-122"/>
                <a:cs typeface="Courier New" pitchFamily="34" charset="-120"/>
              </a:rPr>
              <a:t>image-resizer service</a:t>
            </a:r>
            <a:endParaRPr lang="en-US" sz="800" dirty="0"/>
          </a:p>
        </p:txBody>
      </p:sp>
      <p:sp>
        <p:nvSpPr>
          <p:cNvPr id="15" name="Text 13"/>
          <p:cNvSpPr/>
          <p:nvPr/>
        </p:nvSpPr>
        <p:spPr>
          <a:xfrm>
            <a:off x="692944" y="2399519"/>
            <a:ext cx="1044773" cy="143490"/>
          </a:xfrm>
          <a:prstGeom prst="rect">
            <a:avLst/>
          </a:prstGeom>
          <a:noFill/>
          <a:ln/>
        </p:spPr>
        <p:txBody>
          <a:bodyPr wrap="none" lIns="0" tIns="0" rIns="0" bIns="0" rtlCol="0" anchor="t"/>
          <a:lstStyle/>
          <a:p>
            <a:pPr marL="0" indent="0" algn="l">
              <a:lnSpc>
                <a:spcPts val="1024"/>
              </a:lnSpc>
              <a:buNone/>
            </a:pPr>
            <a:r>
              <a:rPr lang="en-US" sz="800" dirty="0">
                <a:solidFill>
                  <a:srgbClr val="FBBF24"/>
                </a:solidFill>
                <a:latin typeface="Courier New" pitchFamily="34" charset="0"/>
                <a:ea typeface="Courier New" pitchFamily="34" charset="-122"/>
                <a:cs typeface="Courier New" pitchFamily="34" charset="-120"/>
              </a:rPr>
              <a:t>Naming convention:</a:t>
            </a:r>
            <a:endParaRPr lang="en-US" sz="800" dirty="0"/>
          </a:p>
        </p:txBody>
      </p:sp>
      <p:sp>
        <p:nvSpPr>
          <p:cNvPr id="16" name="Text 14"/>
          <p:cNvSpPr/>
          <p:nvPr/>
        </p:nvSpPr>
        <p:spPr>
          <a:xfrm>
            <a:off x="1575197" y="2399519"/>
            <a:ext cx="1354026" cy="102495"/>
          </a:xfrm>
          <a:prstGeom prst="rect">
            <a:avLst/>
          </a:prstGeom>
          <a:noFill/>
          <a:ln/>
        </p:spPr>
        <p:txBody>
          <a:bodyPr wrap="none" lIns="0" tIns="0" rIns="0" bIns="0" rtlCol="0" anchor="t">
            <a:normAutofit fontScale="25000" lnSpcReduction="20000"/>
          </a:bodyPr>
          <a:lstStyle/>
          <a:p>
            <a:pPr marL="0" indent="0" algn="l">
              <a:lnSpc>
                <a:spcPts val="1024"/>
              </a:lnSpc>
              <a:buNone/>
            </a:pPr>
            <a:r>
              <a:rPr lang="en-US" sz="731" dirty="0">
                <a:solidFill>
                  <a:srgbClr val="86EFAC"/>
                </a:solidFill>
                <a:latin typeface="Courier New" pitchFamily="34" charset="0"/>
                <a:ea typeface="Courier New" pitchFamily="34" charset="-122"/>
                <a:cs typeface="Courier New" pitchFamily="34" charset="-120"/>
              </a:rPr>
              <a:t>&lt;env&gt;-imgresizer-&lt;resource&gt;</a:t>
            </a:r>
            <a:endParaRPr lang="en-US" sz="731" dirty="0"/>
          </a:p>
        </p:txBody>
      </p:sp>
      <p:sp>
        <p:nvSpPr>
          <p:cNvPr id="17" name="Text 15"/>
          <p:cNvSpPr/>
          <p:nvPr/>
        </p:nvSpPr>
        <p:spPr>
          <a:xfrm>
            <a:off x="692944" y="2529446"/>
            <a:ext cx="812602" cy="143490"/>
          </a:xfrm>
          <a:prstGeom prst="rect">
            <a:avLst/>
          </a:prstGeom>
          <a:noFill/>
          <a:ln/>
        </p:spPr>
        <p:txBody>
          <a:bodyPr wrap="none" lIns="0" tIns="0" rIns="0" bIns="0" rtlCol="0" anchor="t"/>
          <a:lstStyle/>
          <a:p>
            <a:pPr marL="0" indent="0" algn="l">
              <a:lnSpc>
                <a:spcPts val="1024"/>
              </a:lnSpc>
              <a:buNone/>
            </a:pPr>
            <a:r>
              <a:rPr lang="en-US" sz="800" dirty="0">
                <a:solidFill>
                  <a:srgbClr val="FBBF24"/>
                </a:solidFill>
                <a:latin typeface="Courier New" pitchFamily="34" charset="0"/>
                <a:ea typeface="Courier New" pitchFamily="34" charset="-122"/>
                <a:cs typeface="Courier New" pitchFamily="34" charset="-120"/>
              </a:rPr>
              <a:t>Required tags:</a:t>
            </a:r>
            <a:endParaRPr lang="en-US" sz="800" dirty="0"/>
          </a:p>
        </p:txBody>
      </p:sp>
      <p:sp>
        <p:nvSpPr>
          <p:cNvPr id="18" name="Text 16"/>
          <p:cNvSpPr/>
          <p:nvPr/>
        </p:nvSpPr>
        <p:spPr>
          <a:xfrm>
            <a:off x="1389459" y="2529446"/>
            <a:ext cx="1354026" cy="143490"/>
          </a:xfrm>
          <a:prstGeom prst="rect">
            <a:avLst/>
          </a:prstGeom>
          <a:noFill/>
          <a:ln/>
        </p:spPr>
        <p:txBody>
          <a:bodyPr wrap="none" lIns="0" tIns="0" rIns="0" bIns="0" rtlCol="0" anchor="t"/>
          <a:lstStyle/>
          <a:p>
            <a:pPr marL="0" indent="0" algn="l">
              <a:lnSpc>
                <a:spcPts val="1024"/>
              </a:lnSpc>
              <a:buNone/>
            </a:pPr>
            <a:r>
              <a:rPr lang="en-US" sz="731" dirty="0">
                <a:solidFill>
                  <a:srgbClr val="86EFAC"/>
                </a:solidFill>
                <a:latin typeface="Courier New" pitchFamily="34" charset="0"/>
                <a:ea typeface="Courier New" pitchFamily="34" charset="-122"/>
                <a:cs typeface="Courier New" pitchFamily="34" charset="-120"/>
              </a:rPr>
              <a:t>Environment, Service, Owner</a:t>
            </a:r>
            <a:endParaRPr lang="en-US" sz="731" dirty="0"/>
          </a:p>
        </p:txBody>
      </p:sp>
      <p:sp>
        <p:nvSpPr>
          <p:cNvPr id="19" name="Text 17"/>
          <p:cNvSpPr/>
          <p:nvPr/>
        </p:nvSpPr>
        <p:spPr>
          <a:xfrm>
            <a:off x="600075" y="2789300"/>
            <a:ext cx="812602" cy="102495"/>
          </a:xfrm>
          <a:prstGeom prst="rect">
            <a:avLst/>
          </a:prstGeom>
          <a:noFill/>
          <a:ln/>
        </p:spPr>
        <p:txBody>
          <a:bodyPr wrap="none" lIns="0" tIns="0" rIns="0" bIns="0" rtlCol="0" anchor="t">
            <a:normAutofit fontScale="25000" lnSpcReduction="20000"/>
          </a:bodyPr>
          <a:lstStyle/>
          <a:p>
            <a:pPr marL="0" indent="0" algn="l">
              <a:lnSpc>
                <a:spcPts val="1024"/>
              </a:lnSpc>
              <a:buNone/>
            </a:pPr>
            <a:r>
              <a:rPr lang="en-US" sz="800" dirty="0">
                <a:solidFill>
                  <a:srgbClr val="FBBF24"/>
                </a:solidFill>
                <a:latin typeface="Courier New" pitchFamily="34" charset="0"/>
                <a:ea typeface="Courier New" pitchFamily="34" charset="-122"/>
                <a:cs typeface="Courier New" pitchFamily="34" charset="-120"/>
              </a:rPr>
              <a:t>## Constraints</a:t>
            </a:r>
            <a:endParaRPr lang="en-US" sz="800" dirty="0"/>
          </a:p>
        </p:txBody>
      </p:sp>
      <p:sp>
        <p:nvSpPr>
          <p:cNvPr id="20" name="Text 18"/>
          <p:cNvSpPr/>
          <p:nvPr/>
        </p:nvSpPr>
        <p:spPr>
          <a:xfrm>
            <a:off x="692944" y="2919226"/>
            <a:ext cx="2357009" cy="102495"/>
          </a:xfrm>
          <a:prstGeom prst="rect">
            <a:avLst/>
          </a:prstGeom>
          <a:noFill/>
          <a:ln/>
        </p:spPr>
        <p:txBody>
          <a:bodyPr wrap="none" lIns="0" tIns="0" rIns="0" bIns="0" rtlCol="0" anchor="t">
            <a:normAutofit fontScale="25000" lnSpcReduction="20000"/>
          </a:bodyPr>
          <a:lstStyle/>
          <a:p>
            <a:pPr marL="0" indent="0" algn="l">
              <a:lnSpc>
                <a:spcPts val="1024"/>
              </a:lnSpc>
              <a:buNone/>
            </a:pPr>
            <a:r>
              <a:rPr lang="en-US" sz="731" dirty="0">
                <a:solidFill>
                  <a:srgbClr val="86EFAC"/>
                </a:solidFill>
                <a:latin typeface="Courier New" pitchFamily="34" charset="0"/>
                <a:ea typeface="Courier New" pitchFamily="34" charset="-122"/>
                <a:cs typeface="Courier New" pitchFamily="34" charset="-120"/>
              </a:rPr>
              <a:t>Instance types: t3.micro (dev), t3.small (prod)</a:t>
            </a:r>
            <a:endParaRPr lang="en-US" sz="731" dirty="0"/>
          </a:p>
        </p:txBody>
      </p:sp>
      <p:sp>
        <p:nvSpPr>
          <p:cNvPr id="21" name="Text 19"/>
          <p:cNvSpPr/>
          <p:nvPr/>
        </p:nvSpPr>
        <p:spPr>
          <a:xfrm>
            <a:off x="692944" y="3049153"/>
            <a:ext cx="2156412" cy="102495"/>
          </a:xfrm>
          <a:prstGeom prst="rect">
            <a:avLst/>
          </a:prstGeom>
          <a:noFill/>
          <a:ln/>
        </p:spPr>
        <p:txBody>
          <a:bodyPr wrap="none" lIns="0" tIns="0" rIns="0" bIns="0" rtlCol="0" anchor="t">
            <a:normAutofit fontScale="25000" lnSpcReduction="20000"/>
          </a:bodyPr>
          <a:lstStyle/>
          <a:p>
            <a:pPr marL="0" indent="0" algn="l">
              <a:lnSpc>
                <a:spcPts val="1024"/>
              </a:lnSpc>
              <a:buNone/>
            </a:pPr>
            <a:r>
              <a:rPr lang="en-US" sz="731" dirty="0">
                <a:solidFill>
                  <a:srgbClr val="86EFAC"/>
                </a:solidFill>
                <a:latin typeface="Courier New" pitchFamily="34" charset="0"/>
                <a:ea typeface="Courier New" pitchFamily="34" charset="-122"/>
                <a:cs typeface="Courier New" pitchFamily="34" charset="-120"/>
              </a:rPr>
              <a:t>All S3 buckets must have versioning enabled</a:t>
            </a:r>
            <a:endParaRPr lang="en-US" sz="731" dirty="0"/>
          </a:p>
        </p:txBody>
      </p:sp>
      <p:sp>
        <p:nvSpPr>
          <p:cNvPr id="22" name="Text 20"/>
          <p:cNvSpPr/>
          <p:nvPr/>
        </p:nvSpPr>
        <p:spPr>
          <a:xfrm>
            <a:off x="692944" y="3179080"/>
            <a:ext cx="2368153" cy="102495"/>
          </a:xfrm>
          <a:prstGeom prst="rect">
            <a:avLst/>
          </a:prstGeom>
          <a:noFill/>
          <a:ln/>
        </p:spPr>
        <p:txBody>
          <a:bodyPr wrap="none" lIns="0" tIns="0" rIns="0" bIns="0" rtlCol="0" anchor="t">
            <a:normAutofit fontScale="25000" lnSpcReduction="20000"/>
          </a:bodyPr>
          <a:lstStyle/>
          <a:p>
            <a:pPr marL="0" indent="0" algn="l">
              <a:lnSpc>
                <a:spcPts val="1024"/>
              </a:lnSpc>
              <a:buNone/>
            </a:pPr>
            <a:r>
              <a:rPr lang="en-US" sz="731" dirty="0">
                <a:solidFill>
                  <a:srgbClr val="86EFAC"/>
                </a:solidFill>
                <a:latin typeface="Courier New" pitchFamily="34" charset="0"/>
                <a:ea typeface="Courier New" pitchFamily="34" charset="-122"/>
                <a:cs typeface="Courier New" pitchFamily="34" charset="-120"/>
              </a:rPr>
              <a:t>All security groups must restrict SSH to 10.0.0.0/8</a:t>
            </a:r>
            <a:endParaRPr lang="en-US" sz="731" dirty="0"/>
          </a:p>
        </p:txBody>
      </p:sp>
      <p:sp>
        <p:nvSpPr>
          <p:cNvPr id="23" name="Text 21"/>
          <p:cNvSpPr/>
          <p:nvPr/>
        </p:nvSpPr>
        <p:spPr>
          <a:xfrm>
            <a:off x="692944" y="3309007"/>
            <a:ext cx="1454325" cy="143490"/>
          </a:xfrm>
          <a:prstGeom prst="rect">
            <a:avLst/>
          </a:prstGeom>
          <a:noFill/>
          <a:ln/>
        </p:spPr>
        <p:txBody>
          <a:bodyPr wrap="none" lIns="0" tIns="0" rIns="0" bIns="0" rtlCol="0" anchor="t"/>
          <a:lstStyle/>
          <a:p>
            <a:pPr marL="0" indent="0" algn="l">
              <a:lnSpc>
                <a:spcPts val="1024"/>
              </a:lnSpc>
              <a:buNone/>
            </a:pPr>
            <a:r>
              <a:rPr lang="en-US" sz="731" dirty="0">
                <a:solidFill>
                  <a:srgbClr val="86EFAC"/>
                </a:solidFill>
                <a:latin typeface="Liberation Sans Narrow" pitchFamily="34" charset="0"/>
                <a:ea typeface="Liberation Sans Narrow" pitchFamily="34" charset="-122"/>
                <a:cs typeface="Liberation Sans Narrow" pitchFamily="34" charset="-120"/>
              </a:rPr>
              <a:t>Use existing VPC: vpc-0abc123</a:t>
            </a:r>
            <a:endParaRPr lang="en-US" sz="731" dirty="0"/>
          </a:p>
        </p:txBody>
      </p:sp>
      <p:sp>
        <p:nvSpPr>
          <p:cNvPr id="24" name="Text 22"/>
          <p:cNvSpPr/>
          <p:nvPr/>
        </p:nvSpPr>
        <p:spPr>
          <a:xfrm>
            <a:off x="577585" y="3568861"/>
            <a:ext cx="625409" cy="143490"/>
          </a:xfrm>
          <a:prstGeom prst="rect">
            <a:avLst/>
          </a:prstGeom>
          <a:noFill/>
          <a:ln/>
        </p:spPr>
        <p:txBody>
          <a:bodyPr wrap="none" lIns="0" tIns="0" rIns="0" bIns="0" rtlCol="0" anchor="t"/>
          <a:lstStyle/>
          <a:p>
            <a:pPr marL="0" indent="0" algn="l">
              <a:lnSpc>
                <a:spcPts val="1024"/>
              </a:lnSpc>
              <a:buNone/>
            </a:pPr>
            <a:r>
              <a:rPr lang="en-US" sz="800" dirty="0">
                <a:solidFill>
                  <a:srgbClr val="FBBF24"/>
                </a:solidFill>
                <a:latin typeface="Courier New" pitchFamily="34" charset="0"/>
                <a:ea typeface="Courier New" pitchFamily="34" charset="-122"/>
                <a:cs typeface="Courier New" pitchFamily="34" charset="-120"/>
              </a:rPr>
              <a:t>## Request</a:t>
            </a:r>
            <a:endParaRPr lang="en-US" sz="800" dirty="0"/>
          </a:p>
        </p:txBody>
      </p:sp>
      <p:sp>
        <p:nvSpPr>
          <p:cNvPr id="25" name="Text 23"/>
          <p:cNvSpPr/>
          <p:nvPr/>
        </p:nvSpPr>
        <p:spPr>
          <a:xfrm>
            <a:off x="592450" y="3828715"/>
            <a:ext cx="163840" cy="102495"/>
          </a:xfrm>
          <a:prstGeom prst="rect">
            <a:avLst/>
          </a:prstGeom>
          <a:noFill/>
          <a:ln/>
        </p:spPr>
        <p:txBody>
          <a:bodyPr wrap="none" lIns="0" tIns="0" rIns="0" bIns="0" rtlCol="0" anchor="t">
            <a:normAutofit fontScale="25000" lnSpcReduction="20000"/>
          </a:bodyPr>
          <a:lstStyle/>
          <a:p>
            <a:pPr marL="0" indent="0" algn="l">
              <a:lnSpc>
                <a:spcPts val="1024"/>
              </a:lnSpc>
              <a:buNone/>
            </a:pPr>
            <a:r>
              <a:rPr lang="en-US" sz="800" dirty="0">
                <a:solidFill>
                  <a:srgbClr val="93C5FD"/>
                </a:solidFill>
                <a:latin typeface="Liberation Sans Narrow" pitchFamily="34" charset="0"/>
                <a:ea typeface="Liberation Sans Narrow" pitchFamily="34" charset="-122"/>
                <a:cs typeface="Liberation Sans Narrow" pitchFamily="34" charset="-120"/>
              </a:rPr>
              <a:t>1.</a:t>
            </a:r>
            <a:endParaRPr lang="en-US" sz="800" dirty="0"/>
          </a:p>
        </p:txBody>
      </p:sp>
      <p:sp>
        <p:nvSpPr>
          <p:cNvPr id="26" name="Text 24"/>
          <p:cNvSpPr/>
          <p:nvPr/>
        </p:nvSpPr>
        <p:spPr>
          <a:xfrm>
            <a:off x="592450" y="3958642"/>
            <a:ext cx="163840" cy="102495"/>
          </a:xfrm>
          <a:prstGeom prst="rect">
            <a:avLst/>
          </a:prstGeom>
          <a:noFill/>
          <a:ln/>
        </p:spPr>
        <p:txBody>
          <a:bodyPr wrap="none" lIns="0" tIns="0" rIns="0" bIns="0" rtlCol="0" anchor="t">
            <a:normAutofit fontScale="25000" lnSpcReduction="20000"/>
          </a:bodyPr>
          <a:lstStyle/>
          <a:p>
            <a:pPr marL="0" indent="0" algn="l">
              <a:lnSpc>
                <a:spcPts val="1024"/>
              </a:lnSpc>
              <a:buNone/>
            </a:pPr>
            <a:r>
              <a:rPr lang="en-US" sz="800" dirty="0">
                <a:solidFill>
                  <a:srgbClr val="93C5FD"/>
                </a:solidFill>
                <a:latin typeface="Liberation Sans Narrow" pitchFamily="34" charset="0"/>
                <a:ea typeface="Liberation Sans Narrow" pitchFamily="34" charset="-122"/>
                <a:cs typeface="Liberation Sans Narrow" pitchFamily="34" charset="-120"/>
              </a:rPr>
              <a:t>2.</a:t>
            </a:r>
            <a:endParaRPr lang="en-US" sz="800" dirty="0"/>
          </a:p>
        </p:txBody>
      </p:sp>
      <p:sp>
        <p:nvSpPr>
          <p:cNvPr id="27" name="Text 25"/>
          <p:cNvSpPr/>
          <p:nvPr/>
        </p:nvSpPr>
        <p:spPr>
          <a:xfrm>
            <a:off x="592450" y="4088569"/>
            <a:ext cx="163840" cy="143490"/>
          </a:xfrm>
          <a:prstGeom prst="rect">
            <a:avLst/>
          </a:prstGeom>
          <a:noFill/>
          <a:ln/>
        </p:spPr>
        <p:txBody>
          <a:bodyPr wrap="none" lIns="0" tIns="0" rIns="0" bIns="0" rtlCol="0" anchor="t"/>
          <a:lstStyle/>
          <a:p>
            <a:pPr marL="0" indent="0" algn="l">
              <a:lnSpc>
                <a:spcPts val="1024"/>
              </a:lnSpc>
              <a:buNone/>
            </a:pPr>
            <a:r>
              <a:rPr lang="en-US" sz="800" dirty="0">
                <a:solidFill>
                  <a:srgbClr val="93C5FD"/>
                </a:solidFill>
                <a:latin typeface="Liberation Sans Narrow" pitchFamily="34" charset="0"/>
                <a:ea typeface="Liberation Sans Narrow" pitchFamily="34" charset="-122"/>
                <a:cs typeface="Liberation Sans Narrow" pitchFamily="34" charset="-120"/>
              </a:rPr>
              <a:t>3.</a:t>
            </a:r>
            <a:endParaRPr lang="en-US" sz="800" dirty="0"/>
          </a:p>
        </p:txBody>
      </p:sp>
      <p:sp>
        <p:nvSpPr>
          <p:cNvPr id="28" name="Text 26"/>
          <p:cNvSpPr/>
          <p:nvPr/>
        </p:nvSpPr>
        <p:spPr>
          <a:xfrm>
            <a:off x="592450" y="4348423"/>
            <a:ext cx="163840" cy="91440"/>
          </a:xfrm>
          <a:prstGeom prst="rect">
            <a:avLst/>
          </a:prstGeom>
          <a:noFill/>
          <a:ln/>
        </p:spPr>
        <p:txBody>
          <a:bodyPr wrap="none" lIns="0" tIns="0" rIns="0" bIns="0" rtlCol="0" anchor="t"/>
          <a:lstStyle/>
          <a:p>
            <a:pPr marL="0" indent="0" algn="l">
              <a:lnSpc>
                <a:spcPts val="1024"/>
              </a:lnSpc>
              <a:buNone/>
            </a:pPr>
            <a:r>
              <a:rPr lang="en-US" sz="800" dirty="0">
                <a:solidFill>
                  <a:srgbClr val="93C5FD"/>
                </a:solidFill>
                <a:latin typeface="Liberation Sans Narrow" pitchFamily="34" charset="0"/>
                <a:ea typeface="Liberation Sans Narrow" pitchFamily="34" charset="-122"/>
                <a:cs typeface="Liberation Sans Narrow" pitchFamily="34" charset="-120"/>
              </a:rPr>
              <a:t>4.</a:t>
            </a:r>
            <a:endParaRPr lang="en-US" sz="800" dirty="0"/>
          </a:p>
        </p:txBody>
      </p:sp>
      <p:sp>
        <p:nvSpPr>
          <p:cNvPr id="29" name="Text 27"/>
          <p:cNvSpPr/>
          <p:nvPr/>
        </p:nvSpPr>
        <p:spPr>
          <a:xfrm>
            <a:off x="592450" y="4478350"/>
            <a:ext cx="163840" cy="91440"/>
          </a:xfrm>
          <a:prstGeom prst="rect">
            <a:avLst/>
          </a:prstGeom>
          <a:noFill/>
          <a:ln/>
        </p:spPr>
        <p:txBody>
          <a:bodyPr wrap="none" lIns="0" tIns="0" rIns="0" bIns="0" rtlCol="0" anchor="t"/>
          <a:lstStyle/>
          <a:p>
            <a:pPr marL="0" indent="0" algn="l">
              <a:lnSpc>
                <a:spcPts val="1024"/>
              </a:lnSpc>
              <a:buNone/>
            </a:pPr>
            <a:r>
              <a:rPr lang="en-US" sz="800" dirty="0">
                <a:solidFill>
                  <a:srgbClr val="93C5FD"/>
                </a:solidFill>
                <a:latin typeface="Liberation Sans Narrow" pitchFamily="34" charset="0"/>
                <a:ea typeface="Liberation Sans Narrow" pitchFamily="34" charset="-122"/>
                <a:cs typeface="Liberation Sans Narrow" pitchFamily="34" charset="-120"/>
              </a:rPr>
              <a:t>5.</a:t>
            </a:r>
            <a:endParaRPr lang="en-US" sz="800" dirty="0"/>
          </a:p>
        </p:txBody>
      </p:sp>
      <p:sp>
        <p:nvSpPr>
          <p:cNvPr id="30" name="Text 28"/>
          <p:cNvSpPr/>
          <p:nvPr/>
        </p:nvSpPr>
        <p:spPr>
          <a:xfrm>
            <a:off x="575436" y="4738204"/>
            <a:ext cx="687751" cy="91440"/>
          </a:xfrm>
          <a:prstGeom prst="rect">
            <a:avLst/>
          </a:prstGeom>
          <a:noFill/>
          <a:ln/>
        </p:spPr>
        <p:txBody>
          <a:bodyPr wrap="none" lIns="0" tIns="0" rIns="0" bIns="0" rtlCol="0" anchor="t"/>
          <a:lstStyle/>
          <a:p>
            <a:pPr marL="0" indent="0" algn="l">
              <a:lnSpc>
                <a:spcPts val="1024"/>
              </a:lnSpc>
              <a:buNone/>
            </a:pPr>
            <a:r>
              <a:rPr lang="en-US" sz="800" dirty="0">
                <a:solidFill>
                  <a:srgbClr val="FBBF24"/>
                </a:solidFill>
                <a:latin typeface="Courier New" pitchFamily="34" charset="0"/>
                <a:ea typeface="Courier New" pitchFamily="34" charset="-122"/>
                <a:cs typeface="Courier New" pitchFamily="34" charset="-120"/>
              </a:rPr>
              <a:t>## Examples</a:t>
            </a:r>
            <a:endParaRPr lang="en-US" sz="800" dirty="0"/>
          </a:p>
        </p:txBody>
      </p:sp>
      <p:sp>
        <p:nvSpPr>
          <p:cNvPr id="31" name="Text 29"/>
          <p:cNvSpPr/>
          <p:nvPr/>
        </p:nvSpPr>
        <p:spPr>
          <a:xfrm>
            <a:off x="600075" y="4868131"/>
            <a:ext cx="2368153" cy="91440"/>
          </a:xfrm>
          <a:prstGeom prst="rect">
            <a:avLst/>
          </a:prstGeom>
          <a:noFill/>
          <a:ln/>
        </p:spPr>
        <p:txBody>
          <a:bodyPr wrap="none" lIns="0" tIns="0" rIns="0" bIns="0" rtlCol="0" anchor="t"/>
          <a:lstStyle/>
          <a:p>
            <a:pPr marL="0" indent="0" algn="l">
              <a:lnSpc>
                <a:spcPts val="1024"/>
              </a:lnSpc>
              <a:buNone/>
            </a:pPr>
            <a:r>
              <a:rPr lang="en-US" sz="731" i="1" dirty="0">
                <a:solidFill>
                  <a:srgbClr val="94A3B8"/>
                </a:solidFill>
                <a:latin typeface="Courier New" pitchFamily="34" charset="0"/>
                <a:ea typeface="Courier New" pitchFamily="34" charset="-122"/>
                <a:cs typeface="Courier New" pitchFamily="34" charset="-120"/>
              </a:rPr>
              <a:t># ... (existing modules from our repo attached) ...</a:t>
            </a:r>
            <a:endParaRPr lang="en-US" sz="731" dirty="0"/>
          </a:p>
        </p:txBody>
      </p:sp>
      <p:sp>
        <p:nvSpPr>
          <p:cNvPr id="32" name="Text 30"/>
          <p:cNvSpPr/>
          <p:nvPr/>
        </p:nvSpPr>
        <p:spPr>
          <a:xfrm>
            <a:off x="600075" y="5127985"/>
            <a:ext cx="928688" cy="91440"/>
          </a:xfrm>
          <a:prstGeom prst="rect">
            <a:avLst/>
          </a:prstGeom>
          <a:noFill/>
          <a:ln/>
        </p:spPr>
        <p:txBody>
          <a:bodyPr wrap="none" lIns="0" tIns="0" rIns="0" bIns="0" rtlCol="0" anchor="t"/>
          <a:lstStyle/>
          <a:p>
            <a:pPr marL="0" indent="0" algn="l">
              <a:lnSpc>
                <a:spcPts val="1024"/>
              </a:lnSpc>
              <a:buNone/>
            </a:pPr>
            <a:r>
              <a:rPr lang="en-US" sz="800" dirty="0">
                <a:solidFill>
                  <a:srgbClr val="FBBF24"/>
                </a:solidFill>
                <a:latin typeface="Courier New" pitchFamily="34" charset="0"/>
                <a:ea typeface="Courier New" pitchFamily="34" charset="-122"/>
                <a:cs typeface="Courier New" pitchFamily="34" charset="-120"/>
              </a:rPr>
              <a:t>## Output Format</a:t>
            </a:r>
            <a:endParaRPr lang="en-US" sz="800" dirty="0"/>
          </a:p>
        </p:txBody>
      </p:sp>
      <p:sp>
        <p:nvSpPr>
          <p:cNvPr id="33" name="Text 31"/>
          <p:cNvSpPr/>
          <p:nvPr/>
        </p:nvSpPr>
        <p:spPr>
          <a:xfrm>
            <a:off x="600075" y="5257912"/>
            <a:ext cx="2256711" cy="91440"/>
          </a:xfrm>
          <a:prstGeom prst="rect">
            <a:avLst/>
          </a:prstGeom>
          <a:noFill/>
          <a:ln/>
        </p:spPr>
        <p:txBody>
          <a:bodyPr wrap="none" lIns="0" tIns="0" rIns="0" bIns="0" rtlCol="0" anchor="t"/>
          <a:lstStyle/>
          <a:p>
            <a:pPr marL="0" indent="0" algn="l">
              <a:lnSpc>
                <a:spcPts val="1024"/>
              </a:lnSpc>
              <a:buNone/>
            </a:pPr>
            <a:r>
              <a:rPr lang="en-US" sz="731" dirty="0">
                <a:solidFill>
                  <a:srgbClr val="86EFAC"/>
                </a:solidFill>
                <a:latin typeface="Courier New" pitchFamily="34" charset="0"/>
                <a:ea typeface="Courier New" pitchFamily="34" charset="-122"/>
                <a:cs typeface="Courier New" pitchFamily="34" charset="-120"/>
              </a:rPr>
              <a:t>Return only the Terraform HCL code. No prose.</a:t>
            </a:r>
            <a:endParaRPr lang="en-US" sz="731" dirty="0"/>
          </a:p>
        </p:txBody>
      </p:sp>
      <p:sp>
        <p:nvSpPr>
          <p:cNvPr id="34" name="Text 32"/>
          <p:cNvSpPr/>
          <p:nvPr/>
        </p:nvSpPr>
        <p:spPr>
          <a:xfrm>
            <a:off x="457200" y="4516301"/>
            <a:ext cx="8229600" cy="183599"/>
          </a:xfrm>
          <a:prstGeom prst="rect">
            <a:avLst/>
          </a:prstGeom>
          <a:noFill/>
          <a:ln/>
        </p:spPr>
        <p:txBody>
          <a:bodyPr wrap="square" lIns="0" tIns="0" rIns="0" bIns="0" rtlCol="0" anchor="t"/>
          <a:lstStyle/>
          <a:p>
            <a:pPr marL="0" indent="0" algn="l">
              <a:lnSpc>
                <a:spcPts val="1339"/>
              </a:lnSpc>
              <a:buNone/>
            </a:pPr>
            <a:r>
              <a:rPr lang="en-US" sz="956" b="1" dirty="0">
                <a:solidFill>
                  <a:srgbClr val="C2410C"/>
                </a:solidFill>
                <a:latin typeface="Segoe UI Symbol" pitchFamily="34" charset="0"/>
                <a:ea typeface="Segoe UI Symbol" pitchFamily="34" charset="-122"/>
                <a:cs typeface="Segoe UI Symbol" pitchFamily="34" charset="-120"/>
              </a:rPr>
              <a:t>⚙</a:t>
            </a:r>
            <a:r>
              <a:rPr lang="en-US" sz="956" b="1" dirty="0">
                <a:solidFill>
                  <a:srgbClr val="C2410C"/>
                </a:solidFill>
                <a:latin typeface="Carlito" pitchFamily="34" charset="0"/>
                <a:ea typeface="Carlito" pitchFamily="34" charset="-122"/>
                <a:cs typeface="Carlito" pitchFamily="34" charset="-120"/>
              </a:rPr>
              <a:t> The more context, constraints, and examples you provide, the closer the AI output matches your team's patterns.</a:t>
            </a:r>
            <a:endParaRPr lang="en-US" sz="956"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3665693" cy="305476"/>
          </a:xfrm>
          <a:prstGeom prst="rect">
            <a:avLst/>
          </a:prstGeom>
          <a:noFill/>
          <a:ln/>
        </p:spPr>
        <p:txBody>
          <a:bodyPr wrap="square" lIns="0" tIns="0" rIns="0" bIns="0" rtlCol="0" anchor="t"/>
          <a:lstStyle/>
          <a:p>
            <a:pPr marL="0" indent="0" algn="l">
              <a:lnSpc>
                <a:spcPts val="2228"/>
              </a:lnSpc>
              <a:buNone/>
            </a:pPr>
            <a:r>
              <a:rPr lang="en-US" sz="2025" b="1" kern="0" spc="-28" dirty="0">
                <a:solidFill>
                  <a:srgbClr val="0F172A"/>
                </a:solidFill>
                <a:latin typeface="Carlito" pitchFamily="34" charset="0"/>
                <a:ea typeface="Carlito" pitchFamily="34" charset="-122"/>
                <a:cs typeface="Carlito" pitchFamily="34" charset="-120"/>
              </a:rPr>
              <a:t>AI-Generated Terraform Output</a:t>
            </a:r>
            <a:endParaRPr lang="en-US" sz="2025" dirty="0"/>
          </a:p>
        </p:txBody>
      </p:sp>
      <p:sp>
        <p:nvSpPr>
          <p:cNvPr id="3" name="Text 1"/>
          <p:cNvSpPr/>
          <p:nvPr/>
        </p:nvSpPr>
        <p:spPr>
          <a:xfrm>
            <a:off x="457200" y="797198"/>
            <a:ext cx="571500" cy="42863"/>
          </a:xfrm>
          <a:prstGeom prst="roundRect">
            <a:avLst>
              <a:gd name="adj" fmla="val 66666"/>
            </a:avLst>
          </a:prstGeom>
          <a:solidFill>
            <a:srgbClr val="F97316"/>
          </a:solidFill>
          <a:ln/>
        </p:spPr>
        <p:txBody>
          <a:bodyPr wrap="square" rtlCol="0" anchor="ctr"/>
          <a:lstStyle/>
          <a:p>
            <a:pPr marL="0" indent="0">
              <a:buNone/>
            </a:pPr>
            <a:endParaRPr lang="en-US" dirty="0"/>
          </a:p>
        </p:txBody>
      </p:sp>
      <p:sp>
        <p:nvSpPr>
          <p:cNvPr id="4" name="Text 2"/>
          <p:cNvSpPr/>
          <p:nvPr/>
        </p:nvSpPr>
        <p:spPr>
          <a:xfrm>
            <a:off x="7260751" y="482908"/>
            <a:ext cx="1448909" cy="331333"/>
          </a:xfrm>
          <a:prstGeom prst="roundRect">
            <a:avLst>
              <a:gd name="adj" fmla="val 2871877"/>
            </a:avLst>
          </a:prstGeom>
          <a:solidFill>
            <a:srgbClr val="FED7AA"/>
          </a:solidFill>
          <a:ln/>
        </p:spPr>
        <p:txBody>
          <a:bodyPr wrap="square" rtlCol="0" anchor="ctr"/>
          <a:lstStyle/>
          <a:p>
            <a:pPr marL="0" indent="0">
              <a:buNone/>
            </a:pPr>
            <a:endParaRPr lang="en-US" dirty="0"/>
          </a:p>
        </p:txBody>
      </p:sp>
      <p:sp>
        <p:nvSpPr>
          <p:cNvPr id="5" name="Text 3"/>
          <p:cNvSpPr/>
          <p:nvPr/>
        </p:nvSpPr>
        <p:spPr>
          <a:xfrm>
            <a:off x="7221459" y="495709"/>
            <a:ext cx="1527494" cy="305730"/>
          </a:xfrm>
          <a:prstGeom prst="rect">
            <a:avLst/>
          </a:prstGeom>
          <a:noFill/>
          <a:ln/>
        </p:spPr>
        <p:txBody>
          <a:bodyPr wrap="none" lIns="0" tIns="0" rIns="0" bIns="0" rtlCol="0" anchor="ctr"/>
          <a:lstStyle/>
          <a:p>
            <a:pPr marL="0" indent="0" algn="ctr">
              <a:lnSpc>
                <a:spcPts val="1733"/>
              </a:lnSpc>
              <a:buNone/>
            </a:pPr>
            <a:r>
              <a:rPr lang="en-US" sz="1238" b="1" kern="0" spc="28" dirty="0">
                <a:solidFill>
                  <a:srgbClr val="C2410C"/>
                </a:solidFill>
                <a:latin typeface="Liberation Sans Narrow" pitchFamily="34" charset="0"/>
                <a:ea typeface="Liberation Sans Narrow" pitchFamily="34" charset="-122"/>
                <a:cs typeface="Liberation Sans Narrow" pitchFamily="34" charset="-120"/>
              </a:rPr>
              <a:t>SECTION C · 3.9</a:t>
            </a:r>
            <a:endParaRPr lang="en-US" sz="1238" dirty="0"/>
          </a:p>
        </p:txBody>
      </p:sp>
      <p:sp>
        <p:nvSpPr>
          <p:cNvPr id="6" name="Text 4"/>
          <p:cNvSpPr/>
          <p:nvPr/>
        </p:nvSpPr>
        <p:spPr>
          <a:xfrm>
            <a:off x="457200" y="897210"/>
            <a:ext cx="8229600" cy="194328"/>
          </a:xfrm>
          <a:prstGeom prst="rect">
            <a:avLst/>
          </a:prstGeom>
          <a:noFill/>
          <a:ln/>
        </p:spPr>
        <p:txBody>
          <a:bodyPr wrap="square" lIns="0" tIns="0" rIns="0" bIns="0" rtlCol="0" anchor="t"/>
          <a:lstStyle/>
          <a:p>
            <a:pPr marL="0" indent="0" algn="l">
              <a:lnSpc>
                <a:spcPts val="1418"/>
              </a:lnSpc>
              <a:buNone/>
            </a:pPr>
            <a:r>
              <a:rPr lang="en-US" sz="1013" dirty="0">
                <a:solidFill>
                  <a:srgbClr val="64748B"/>
                </a:solidFill>
                <a:latin typeface="Carlito" pitchFamily="34" charset="0"/>
                <a:ea typeface="Carlito" pitchFamily="34" charset="-122"/>
                <a:cs typeface="Carlito" pitchFamily="34" charset="-120"/>
              </a:rPr>
              <a:t>What the LLM produces from the previous prompt. (Truncated for slide.)</a:t>
            </a:r>
            <a:endParaRPr lang="en-US" sz="1013" dirty="0"/>
          </a:p>
        </p:txBody>
      </p:sp>
      <p:sp>
        <p:nvSpPr>
          <p:cNvPr id="7" name="Text 5"/>
          <p:cNvSpPr/>
          <p:nvPr/>
        </p:nvSpPr>
        <p:spPr>
          <a:xfrm>
            <a:off x="585788" y="1234306"/>
            <a:ext cx="1951958" cy="139654"/>
          </a:xfrm>
          <a:prstGeom prst="rect">
            <a:avLst/>
          </a:prstGeom>
          <a:noFill/>
          <a:ln/>
        </p:spPr>
        <p:txBody>
          <a:bodyPr wrap="none" lIns="0" tIns="0" rIns="0" bIns="0" rtlCol="0" anchor="t"/>
          <a:lstStyle/>
          <a:p>
            <a:pPr marL="0" indent="0" algn="l">
              <a:lnSpc>
                <a:spcPts val="835"/>
              </a:lnSpc>
              <a:buNone/>
            </a:pPr>
            <a:r>
              <a:rPr lang="en-US" sz="619" i="1" dirty="0">
                <a:solidFill>
                  <a:srgbClr val="94A3B8"/>
                </a:solidFill>
                <a:latin typeface="Courier New" pitchFamily="34" charset="0"/>
                <a:ea typeface="Courier New" pitchFamily="34" charset="-122"/>
                <a:cs typeface="Courier New" pitchFamily="34" charset="-120"/>
              </a:rPr>
              <a:t># main.tf — generated by LLM, ready for review</a:t>
            </a:r>
            <a:endParaRPr lang="en-US" sz="619" dirty="0"/>
          </a:p>
        </p:txBody>
      </p:sp>
      <p:sp>
        <p:nvSpPr>
          <p:cNvPr id="8" name="Text 6"/>
          <p:cNvSpPr/>
          <p:nvPr/>
        </p:nvSpPr>
        <p:spPr>
          <a:xfrm>
            <a:off x="585788" y="1446386"/>
            <a:ext cx="449485" cy="139654"/>
          </a:xfrm>
          <a:prstGeom prst="rect">
            <a:avLst/>
          </a:prstGeom>
          <a:noFill/>
          <a:ln/>
        </p:spPr>
        <p:txBody>
          <a:bodyPr wrap="none" lIns="0" tIns="0" rIns="0" bIns="0" rtlCol="0" anchor="t"/>
          <a:lstStyle/>
          <a:p>
            <a:pPr marL="0" indent="0" algn="l">
              <a:lnSpc>
                <a:spcPts val="835"/>
              </a:lnSpc>
              <a:buNone/>
            </a:pPr>
            <a:r>
              <a:rPr lang="en-US" sz="619" dirty="0">
                <a:solidFill>
                  <a:srgbClr val="FBBF24"/>
                </a:solidFill>
                <a:latin typeface="Courier New" pitchFamily="34" charset="0"/>
                <a:ea typeface="Courier New" pitchFamily="34" charset="-122"/>
                <a:cs typeface="Courier New" pitchFamily="34" charset="-120"/>
              </a:rPr>
              <a:t>variable</a:t>
            </a:r>
            <a:endParaRPr lang="en-US" sz="619" dirty="0"/>
          </a:p>
        </p:txBody>
      </p:sp>
      <p:sp>
        <p:nvSpPr>
          <p:cNvPr id="9" name="Text 7"/>
          <p:cNvSpPr/>
          <p:nvPr/>
        </p:nvSpPr>
        <p:spPr>
          <a:xfrm>
            <a:off x="939403" y="1446386"/>
            <a:ext cx="638473" cy="91440"/>
          </a:xfrm>
          <a:prstGeom prst="rect">
            <a:avLst/>
          </a:prstGeom>
          <a:noFill/>
          <a:ln/>
        </p:spPr>
        <p:txBody>
          <a:bodyPr wrap="none" lIns="0" tIns="0" rIns="0" bIns="0" rtlCol="0" anchor="t">
            <a:normAutofit fontScale="70000" lnSpcReduction="20000"/>
          </a:bodyPr>
          <a:lstStyle/>
          <a:p>
            <a:pPr marL="0" indent="0" algn="l">
              <a:lnSpc>
                <a:spcPts val="835"/>
              </a:lnSpc>
              <a:buNone/>
            </a:pPr>
            <a:r>
              <a:rPr lang="en-US" sz="619" dirty="0">
                <a:solidFill>
                  <a:srgbClr val="86EFAC"/>
                </a:solidFill>
                <a:latin typeface="Courier New" pitchFamily="34" charset="0"/>
                <a:ea typeface="Courier New" pitchFamily="34" charset="-122"/>
                <a:cs typeface="Courier New" pitchFamily="34" charset="-120"/>
              </a:rPr>
              <a:t>"environment"</a:t>
            </a:r>
            <a:endParaRPr lang="en-US" sz="619" dirty="0"/>
          </a:p>
        </p:txBody>
      </p:sp>
      <p:sp>
        <p:nvSpPr>
          <p:cNvPr id="10" name="Text 8"/>
          <p:cNvSpPr/>
          <p:nvPr/>
        </p:nvSpPr>
        <p:spPr>
          <a:xfrm>
            <a:off x="647635" y="1552426"/>
            <a:ext cx="284927" cy="139654"/>
          </a:xfrm>
          <a:prstGeom prst="rect">
            <a:avLst/>
          </a:prstGeom>
          <a:noFill/>
          <a:ln/>
        </p:spPr>
        <p:txBody>
          <a:bodyPr wrap="none" lIns="0" tIns="0" rIns="0" bIns="0" rtlCol="0" anchor="t"/>
          <a:lstStyle/>
          <a:p>
            <a:pPr marL="0" indent="0" algn="l">
              <a:lnSpc>
                <a:spcPts val="835"/>
              </a:lnSpc>
              <a:buNone/>
            </a:pPr>
            <a:r>
              <a:rPr lang="en-US" sz="800" dirty="0">
                <a:solidFill>
                  <a:srgbClr val="FBBF24"/>
                </a:solidFill>
                <a:latin typeface="Courier New" pitchFamily="34" charset="0"/>
                <a:ea typeface="Courier New" pitchFamily="34" charset="-122"/>
                <a:cs typeface="Courier New" pitchFamily="34" charset="-120"/>
              </a:rPr>
              <a:t>type</a:t>
            </a:r>
            <a:endParaRPr lang="en-US" sz="800" dirty="0"/>
          </a:p>
        </p:txBody>
      </p:sp>
      <p:sp>
        <p:nvSpPr>
          <p:cNvPr id="11" name="Text 9"/>
          <p:cNvSpPr/>
          <p:nvPr/>
        </p:nvSpPr>
        <p:spPr>
          <a:xfrm>
            <a:off x="1057275" y="1552426"/>
            <a:ext cx="337114" cy="91440"/>
          </a:xfrm>
          <a:prstGeom prst="rect">
            <a:avLst/>
          </a:prstGeom>
          <a:noFill/>
          <a:ln/>
        </p:spPr>
        <p:txBody>
          <a:bodyPr wrap="none" lIns="0" tIns="0" rIns="0" bIns="0" rtlCol="0" anchor="t">
            <a:normAutofit fontScale="70000" lnSpcReduction="20000"/>
          </a:bodyPr>
          <a:lstStyle/>
          <a:p>
            <a:pPr marL="0" indent="0" algn="l">
              <a:lnSpc>
                <a:spcPts val="835"/>
              </a:lnSpc>
              <a:buNone/>
            </a:pPr>
            <a:r>
              <a:rPr lang="en-US" sz="619" dirty="0">
                <a:solidFill>
                  <a:srgbClr val="FBA74A"/>
                </a:solidFill>
                <a:latin typeface="Courier New" pitchFamily="34" charset="0"/>
                <a:ea typeface="Courier New" pitchFamily="34" charset="-122"/>
                <a:cs typeface="Courier New" pitchFamily="34" charset="-120"/>
              </a:rPr>
              <a:t>string</a:t>
            </a:r>
            <a:endParaRPr lang="en-US" sz="619" dirty="0"/>
          </a:p>
        </p:txBody>
      </p:sp>
      <p:sp>
        <p:nvSpPr>
          <p:cNvPr id="12" name="Text 10"/>
          <p:cNvSpPr/>
          <p:nvPr/>
        </p:nvSpPr>
        <p:spPr>
          <a:xfrm>
            <a:off x="664369" y="1658466"/>
            <a:ext cx="393299" cy="139654"/>
          </a:xfrm>
          <a:prstGeom prst="rect">
            <a:avLst/>
          </a:prstGeom>
          <a:noFill/>
          <a:ln/>
        </p:spPr>
        <p:txBody>
          <a:bodyPr wrap="none" lIns="0" tIns="0" rIns="0" bIns="0" rtlCol="0" anchor="t"/>
          <a:lstStyle/>
          <a:p>
            <a:pPr marL="0" indent="0" algn="l">
              <a:lnSpc>
                <a:spcPts val="835"/>
              </a:lnSpc>
              <a:buNone/>
            </a:pPr>
            <a:r>
              <a:rPr lang="en-US" sz="619" dirty="0">
                <a:solidFill>
                  <a:srgbClr val="FBBF24"/>
                </a:solidFill>
                <a:latin typeface="Courier New" pitchFamily="34" charset="0"/>
                <a:ea typeface="Courier New" pitchFamily="34" charset="-122"/>
                <a:cs typeface="Courier New" pitchFamily="34" charset="-120"/>
              </a:rPr>
              <a:t>default</a:t>
            </a:r>
            <a:endParaRPr lang="en-US" sz="619" dirty="0"/>
          </a:p>
        </p:txBody>
      </p:sp>
      <p:sp>
        <p:nvSpPr>
          <p:cNvPr id="13" name="Text 11"/>
          <p:cNvSpPr/>
          <p:nvPr/>
        </p:nvSpPr>
        <p:spPr>
          <a:xfrm>
            <a:off x="1057275" y="1658466"/>
            <a:ext cx="337114" cy="139654"/>
          </a:xfrm>
          <a:prstGeom prst="rect">
            <a:avLst/>
          </a:prstGeom>
          <a:noFill/>
          <a:ln/>
        </p:spPr>
        <p:txBody>
          <a:bodyPr wrap="none" lIns="0" tIns="0" rIns="0" bIns="0" rtlCol="0" anchor="t"/>
          <a:lstStyle/>
          <a:p>
            <a:pPr marL="0" indent="0" algn="l">
              <a:lnSpc>
                <a:spcPts val="835"/>
              </a:lnSpc>
              <a:buNone/>
            </a:pPr>
            <a:r>
              <a:rPr lang="en-US" sz="619" dirty="0">
                <a:solidFill>
                  <a:srgbClr val="86EFAC"/>
                </a:solidFill>
                <a:latin typeface="Courier New" pitchFamily="34" charset="0"/>
                <a:ea typeface="Courier New" pitchFamily="34" charset="-122"/>
                <a:cs typeface="Courier New" pitchFamily="34" charset="-120"/>
              </a:rPr>
              <a:t>"prod"</a:t>
            </a:r>
            <a:endParaRPr lang="en-US" sz="619" dirty="0"/>
          </a:p>
        </p:txBody>
      </p:sp>
      <p:sp>
        <p:nvSpPr>
          <p:cNvPr id="14" name="Text 12"/>
          <p:cNvSpPr/>
          <p:nvPr/>
        </p:nvSpPr>
        <p:spPr>
          <a:xfrm>
            <a:off x="585788" y="1976586"/>
            <a:ext cx="1357884" cy="91440"/>
          </a:xfrm>
          <a:prstGeom prst="rect">
            <a:avLst/>
          </a:prstGeom>
          <a:noFill/>
          <a:ln/>
        </p:spPr>
        <p:txBody>
          <a:bodyPr wrap="none" lIns="0" tIns="0" rIns="0" bIns="0" rtlCol="0" anchor="t">
            <a:normAutofit fontScale="70000" lnSpcReduction="20000"/>
          </a:bodyPr>
          <a:lstStyle/>
          <a:p>
            <a:pPr marL="0" indent="0" algn="l">
              <a:lnSpc>
                <a:spcPts val="835"/>
              </a:lnSpc>
              <a:buNone/>
            </a:pPr>
            <a:r>
              <a:rPr lang="en-US" sz="619" i="1" dirty="0">
                <a:solidFill>
                  <a:srgbClr val="94A3B8"/>
                </a:solidFill>
                <a:latin typeface="Liberation Sans Narrow" pitchFamily="34" charset="0"/>
                <a:ea typeface="Liberation Sans Narrow" pitchFamily="34" charset="-122"/>
                <a:cs typeface="Liberation Sans Narrow" pitchFamily="34" charset="-120"/>
              </a:rPr>
              <a:t># EC2 instance in private subnet</a:t>
            </a:r>
            <a:endParaRPr lang="en-US" sz="619" dirty="0"/>
          </a:p>
        </p:txBody>
      </p:sp>
      <p:sp>
        <p:nvSpPr>
          <p:cNvPr id="15" name="Text 13"/>
          <p:cNvSpPr/>
          <p:nvPr/>
        </p:nvSpPr>
        <p:spPr>
          <a:xfrm>
            <a:off x="585788" y="2082626"/>
            <a:ext cx="449485" cy="139654"/>
          </a:xfrm>
          <a:prstGeom prst="rect">
            <a:avLst/>
          </a:prstGeom>
          <a:noFill/>
          <a:ln/>
        </p:spPr>
        <p:txBody>
          <a:bodyPr wrap="none" lIns="0" tIns="0" rIns="0" bIns="0" rtlCol="0" anchor="t"/>
          <a:lstStyle/>
          <a:p>
            <a:pPr marL="0" indent="0" algn="l">
              <a:lnSpc>
                <a:spcPts val="835"/>
              </a:lnSpc>
              <a:buNone/>
            </a:pPr>
            <a:r>
              <a:rPr lang="en-US" sz="619" dirty="0">
                <a:solidFill>
                  <a:srgbClr val="FBBF24"/>
                </a:solidFill>
                <a:latin typeface="Courier New" pitchFamily="34" charset="0"/>
                <a:ea typeface="Courier New" pitchFamily="34" charset="-122"/>
                <a:cs typeface="Courier New" pitchFamily="34" charset="-120"/>
              </a:rPr>
              <a:t>resource</a:t>
            </a:r>
            <a:endParaRPr lang="en-US" sz="619" dirty="0"/>
          </a:p>
        </p:txBody>
      </p:sp>
      <p:sp>
        <p:nvSpPr>
          <p:cNvPr id="16" name="Text 14"/>
          <p:cNvSpPr/>
          <p:nvPr/>
        </p:nvSpPr>
        <p:spPr>
          <a:xfrm>
            <a:off x="939403" y="2082626"/>
            <a:ext cx="687586" cy="139654"/>
          </a:xfrm>
          <a:prstGeom prst="rect">
            <a:avLst/>
          </a:prstGeom>
          <a:noFill/>
          <a:ln/>
        </p:spPr>
        <p:txBody>
          <a:bodyPr wrap="none" lIns="0" tIns="0" rIns="0" bIns="0" rtlCol="0" anchor="t"/>
          <a:lstStyle/>
          <a:p>
            <a:pPr marL="0" indent="0" algn="l">
              <a:lnSpc>
                <a:spcPts val="835"/>
              </a:lnSpc>
              <a:buNone/>
            </a:pPr>
            <a:r>
              <a:rPr lang="en-US" sz="619" dirty="0">
                <a:solidFill>
                  <a:srgbClr val="86EFAC"/>
                </a:solidFill>
                <a:latin typeface="Courier New" pitchFamily="34" charset="0"/>
                <a:ea typeface="Courier New" pitchFamily="34" charset="-122"/>
                <a:cs typeface="Courier New" pitchFamily="34" charset="-120"/>
              </a:rPr>
              <a:t>"aws_instance"</a:t>
            </a:r>
            <a:endParaRPr lang="en-US" sz="619" dirty="0"/>
          </a:p>
        </p:txBody>
      </p:sp>
      <p:sp>
        <p:nvSpPr>
          <p:cNvPr id="17" name="Text 15"/>
          <p:cNvSpPr/>
          <p:nvPr/>
        </p:nvSpPr>
        <p:spPr>
          <a:xfrm>
            <a:off x="1526877" y="2082626"/>
            <a:ext cx="593131" cy="91440"/>
          </a:xfrm>
          <a:prstGeom prst="rect">
            <a:avLst/>
          </a:prstGeom>
          <a:noFill/>
          <a:ln/>
        </p:spPr>
        <p:txBody>
          <a:bodyPr wrap="none" lIns="0" tIns="0" rIns="0" bIns="0" rtlCol="0" anchor="t">
            <a:normAutofit fontScale="70000" lnSpcReduction="20000"/>
          </a:bodyPr>
          <a:lstStyle/>
          <a:p>
            <a:pPr marL="0" indent="0" algn="l">
              <a:lnSpc>
                <a:spcPts val="835"/>
              </a:lnSpc>
              <a:buNone/>
            </a:pPr>
            <a:r>
              <a:rPr lang="en-US" sz="619" dirty="0">
                <a:solidFill>
                  <a:srgbClr val="86EFAC"/>
                </a:solidFill>
                <a:latin typeface="Courier New" pitchFamily="34" charset="0"/>
                <a:ea typeface="Courier New" pitchFamily="34" charset="-122"/>
                <a:cs typeface="Courier New" pitchFamily="34" charset="-120"/>
              </a:rPr>
              <a:t>"imgresizer"</a:t>
            </a:r>
            <a:endParaRPr lang="en-US" sz="619" dirty="0"/>
          </a:p>
        </p:txBody>
      </p:sp>
      <p:sp>
        <p:nvSpPr>
          <p:cNvPr id="18" name="Text 16"/>
          <p:cNvSpPr/>
          <p:nvPr/>
        </p:nvSpPr>
        <p:spPr>
          <a:xfrm>
            <a:off x="647374" y="2188666"/>
            <a:ext cx="222585" cy="139654"/>
          </a:xfrm>
          <a:prstGeom prst="rect">
            <a:avLst/>
          </a:prstGeom>
          <a:noFill/>
          <a:ln/>
        </p:spPr>
        <p:txBody>
          <a:bodyPr wrap="none" lIns="0" tIns="0" rIns="0" bIns="0" rtlCol="0" anchor="t"/>
          <a:lstStyle/>
          <a:p>
            <a:pPr marL="0" indent="0" algn="l">
              <a:lnSpc>
                <a:spcPts val="835"/>
              </a:lnSpc>
              <a:buNone/>
            </a:pPr>
            <a:r>
              <a:rPr lang="en-US" sz="800" dirty="0">
                <a:solidFill>
                  <a:srgbClr val="FBBF24"/>
                </a:solidFill>
                <a:latin typeface="Courier New" pitchFamily="34" charset="0"/>
                <a:ea typeface="Courier New" pitchFamily="34" charset="-122"/>
                <a:cs typeface="Courier New" pitchFamily="34" charset="-120"/>
              </a:rPr>
              <a:t>ami</a:t>
            </a:r>
            <a:endParaRPr lang="en-US" sz="800" dirty="0"/>
          </a:p>
        </p:txBody>
      </p:sp>
      <p:sp>
        <p:nvSpPr>
          <p:cNvPr id="19" name="Text 17"/>
          <p:cNvSpPr/>
          <p:nvPr/>
        </p:nvSpPr>
        <p:spPr>
          <a:xfrm>
            <a:off x="1293019" y="2188666"/>
            <a:ext cx="975979" cy="91440"/>
          </a:xfrm>
          <a:prstGeom prst="rect">
            <a:avLst/>
          </a:prstGeom>
          <a:noFill/>
          <a:ln/>
        </p:spPr>
        <p:txBody>
          <a:bodyPr wrap="none" lIns="0" tIns="0" rIns="0" bIns="0" rtlCol="0" anchor="t">
            <a:normAutofit fontScale="70000" lnSpcReduction="20000"/>
          </a:bodyPr>
          <a:lstStyle/>
          <a:p>
            <a:pPr marL="0" indent="0" algn="l">
              <a:lnSpc>
                <a:spcPts val="835"/>
              </a:lnSpc>
              <a:buNone/>
            </a:pPr>
            <a:r>
              <a:rPr lang="en-US" sz="619" dirty="0">
                <a:solidFill>
                  <a:srgbClr val="86EFAC"/>
                </a:solidFill>
                <a:latin typeface="Liberation Sans Narrow" pitchFamily="34" charset="0"/>
                <a:ea typeface="Liberation Sans Narrow" pitchFamily="34" charset="-122"/>
                <a:cs typeface="Liberation Sans Narrow" pitchFamily="34" charset="-120"/>
              </a:rPr>
              <a:t>"ami-0c55b159cbfafe1f0"</a:t>
            </a:r>
            <a:endParaRPr lang="en-US" sz="619" dirty="0"/>
          </a:p>
        </p:txBody>
      </p:sp>
      <p:sp>
        <p:nvSpPr>
          <p:cNvPr id="20" name="Text 18"/>
          <p:cNvSpPr/>
          <p:nvPr/>
        </p:nvSpPr>
        <p:spPr>
          <a:xfrm>
            <a:off x="664369" y="2294706"/>
            <a:ext cx="638473" cy="139654"/>
          </a:xfrm>
          <a:prstGeom prst="rect">
            <a:avLst/>
          </a:prstGeom>
          <a:noFill/>
          <a:ln/>
        </p:spPr>
        <p:txBody>
          <a:bodyPr wrap="none" lIns="0" tIns="0" rIns="0" bIns="0" rtlCol="0" anchor="t"/>
          <a:lstStyle/>
          <a:p>
            <a:pPr marL="0" indent="0" algn="l">
              <a:lnSpc>
                <a:spcPts val="835"/>
              </a:lnSpc>
              <a:buNone/>
            </a:pPr>
            <a:r>
              <a:rPr lang="en-US" sz="619" dirty="0">
                <a:solidFill>
                  <a:srgbClr val="FBBF24"/>
                </a:solidFill>
                <a:latin typeface="Courier New" pitchFamily="34" charset="0"/>
                <a:ea typeface="Courier New" pitchFamily="34" charset="-122"/>
                <a:cs typeface="Courier New" pitchFamily="34" charset="-120"/>
              </a:rPr>
              <a:t>instance_type</a:t>
            </a:r>
            <a:endParaRPr lang="en-US" sz="619" dirty="0"/>
          </a:p>
        </p:txBody>
      </p:sp>
      <p:sp>
        <p:nvSpPr>
          <p:cNvPr id="21" name="Text 19"/>
          <p:cNvSpPr/>
          <p:nvPr/>
        </p:nvSpPr>
        <p:spPr>
          <a:xfrm>
            <a:off x="1293019" y="2294706"/>
            <a:ext cx="736699" cy="139654"/>
          </a:xfrm>
          <a:prstGeom prst="rect">
            <a:avLst/>
          </a:prstGeom>
          <a:noFill/>
          <a:ln/>
        </p:spPr>
        <p:txBody>
          <a:bodyPr wrap="none" lIns="0" tIns="0" rIns="0" bIns="0" rtlCol="0" anchor="t"/>
          <a:lstStyle/>
          <a:p>
            <a:pPr marL="0" indent="0" algn="l">
              <a:lnSpc>
                <a:spcPts val="835"/>
              </a:lnSpc>
              <a:buNone/>
            </a:pPr>
            <a:r>
              <a:rPr lang="en-US" sz="619" dirty="0">
                <a:solidFill>
                  <a:srgbClr val="93C5FD"/>
                </a:solidFill>
                <a:latin typeface="Courier New" pitchFamily="34" charset="0"/>
                <a:ea typeface="Courier New" pitchFamily="34" charset="-122"/>
                <a:cs typeface="Courier New" pitchFamily="34" charset="-120"/>
              </a:rPr>
              <a:t>var.environment</a:t>
            </a:r>
            <a:endParaRPr lang="en-US" sz="619" dirty="0"/>
          </a:p>
        </p:txBody>
      </p:sp>
      <p:sp>
        <p:nvSpPr>
          <p:cNvPr id="22" name="Text 20"/>
          <p:cNvSpPr/>
          <p:nvPr/>
        </p:nvSpPr>
        <p:spPr>
          <a:xfrm>
            <a:off x="2039541" y="2294706"/>
            <a:ext cx="337114" cy="139654"/>
          </a:xfrm>
          <a:prstGeom prst="rect">
            <a:avLst/>
          </a:prstGeom>
          <a:noFill/>
          <a:ln/>
        </p:spPr>
        <p:txBody>
          <a:bodyPr wrap="none" lIns="0" tIns="0" rIns="0" bIns="0" rtlCol="0" anchor="t"/>
          <a:lstStyle/>
          <a:p>
            <a:pPr marL="0" indent="0" algn="l">
              <a:lnSpc>
                <a:spcPts val="835"/>
              </a:lnSpc>
              <a:buNone/>
            </a:pPr>
            <a:r>
              <a:rPr lang="en-US" sz="619" dirty="0">
                <a:solidFill>
                  <a:srgbClr val="86EFAC"/>
                </a:solidFill>
                <a:latin typeface="Courier New" pitchFamily="34" charset="0"/>
                <a:ea typeface="Courier New" pitchFamily="34" charset="-122"/>
                <a:cs typeface="Courier New" pitchFamily="34" charset="-120"/>
              </a:rPr>
              <a:t>"prod"</a:t>
            </a:r>
            <a:endParaRPr lang="en-US" sz="619" dirty="0"/>
          </a:p>
        </p:txBody>
      </p:sp>
      <p:sp>
        <p:nvSpPr>
          <p:cNvPr id="23" name="Text 21"/>
          <p:cNvSpPr/>
          <p:nvPr/>
        </p:nvSpPr>
        <p:spPr>
          <a:xfrm>
            <a:off x="2388984" y="2294706"/>
            <a:ext cx="499478" cy="139654"/>
          </a:xfrm>
          <a:prstGeom prst="rect">
            <a:avLst/>
          </a:prstGeom>
          <a:noFill/>
          <a:ln/>
        </p:spPr>
        <p:txBody>
          <a:bodyPr wrap="none" lIns="0" tIns="0" rIns="0" bIns="0" rtlCol="0" anchor="t"/>
          <a:lstStyle/>
          <a:p>
            <a:pPr marL="0" indent="0" algn="l">
              <a:lnSpc>
                <a:spcPts val="835"/>
              </a:lnSpc>
              <a:buNone/>
            </a:pPr>
            <a:r>
              <a:rPr lang="en-US" sz="619" dirty="0">
                <a:solidFill>
                  <a:srgbClr val="86EFAC"/>
                </a:solidFill>
                <a:latin typeface="Liberation Sans Narrow" pitchFamily="34" charset="0"/>
                <a:ea typeface="Liberation Sans Narrow" pitchFamily="34" charset="-122"/>
                <a:cs typeface="Liberation Sans Narrow" pitchFamily="34" charset="-120"/>
              </a:rPr>
              <a:t>"t3.small"</a:t>
            </a:r>
            <a:endParaRPr lang="en-US" sz="619" dirty="0"/>
          </a:p>
        </p:txBody>
      </p:sp>
      <p:sp>
        <p:nvSpPr>
          <p:cNvPr id="24" name="Text 22"/>
          <p:cNvSpPr/>
          <p:nvPr/>
        </p:nvSpPr>
        <p:spPr>
          <a:xfrm>
            <a:off x="2899762" y="2294706"/>
            <a:ext cx="499478" cy="91440"/>
          </a:xfrm>
          <a:prstGeom prst="rect">
            <a:avLst/>
          </a:prstGeom>
          <a:noFill/>
          <a:ln/>
        </p:spPr>
        <p:txBody>
          <a:bodyPr wrap="none" lIns="0" tIns="0" rIns="0" bIns="0" rtlCol="0" anchor="t">
            <a:normAutofit fontScale="70000" lnSpcReduction="20000"/>
          </a:bodyPr>
          <a:lstStyle/>
          <a:p>
            <a:pPr marL="0" indent="0" algn="l">
              <a:lnSpc>
                <a:spcPts val="835"/>
              </a:lnSpc>
              <a:buNone/>
            </a:pPr>
            <a:r>
              <a:rPr lang="en-US" sz="619" dirty="0">
                <a:solidFill>
                  <a:srgbClr val="86EFAC"/>
                </a:solidFill>
                <a:latin typeface="Liberation Sans Narrow" pitchFamily="34" charset="0"/>
                <a:ea typeface="Liberation Sans Narrow" pitchFamily="34" charset="-122"/>
                <a:cs typeface="Liberation Sans Narrow" pitchFamily="34" charset="-120"/>
              </a:rPr>
              <a:t>"t3.micro"</a:t>
            </a:r>
            <a:endParaRPr lang="en-US" sz="619" dirty="0"/>
          </a:p>
        </p:txBody>
      </p:sp>
      <p:sp>
        <p:nvSpPr>
          <p:cNvPr id="25" name="Text 23"/>
          <p:cNvSpPr/>
          <p:nvPr/>
        </p:nvSpPr>
        <p:spPr>
          <a:xfrm>
            <a:off x="664369" y="2400746"/>
            <a:ext cx="505670" cy="139654"/>
          </a:xfrm>
          <a:prstGeom prst="rect">
            <a:avLst/>
          </a:prstGeom>
          <a:noFill/>
          <a:ln/>
        </p:spPr>
        <p:txBody>
          <a:bodyPr wrap="none" lIns="0" tIns="0" rIns="0" bIns="0" rtlCol="0" anchor="t"/>
          <a:lstStyle/>
          <a:p>
            <a:pPr marL="0" indent="0" algn="l">
              <a:lnSpc>
                <a:spcPts val="835"/>
              </a:lnSpc>
              <a:buNone/>
            </a:pPr>
            <a:r>
              <a:rPr lang="en-US" sz="619" dirty="0">
                <a:solidFill>
                  <a:srgbClr val="FBBF24"/>
                </a:solidFill>
                <a:latin typeface="Courier New" pitchFamily="34" charset="0"/>
                <a:ea typeface="Courier New" pitchFamily="34" charset="-122"/>
                <a:cs typeface="Courier New" pitchFamily="34" charset="-120"/>
              </a:rPr>
              <a:t>subnet_id</a:t>
            </a:r>
            <a:endParaRPr lang="en-US" sz="619" dirty="0"/>
          </a:p>
        </p:txBody>
      </p:sp>
      <p:sp>
        <p:nvSpPr>
          <p:cNvPr id="26" name="Text 24"/>
          <p:cNvSpPr/>
          <p:nvPr/>
        </p:nvSpPr>
        <p:spPr>
          <a:xfrm>
            <a:off x="1293019" y="2400746"/>
            <a:ext cx="785813" cy="139654"/>
          </a:xfrm>
          <a:prstGeom prst="rect">
            <a:avLst/>
          </a:prstGeom>
          <a:noFill/>
          <a:ln/>
        </p:spPr>
        <p:txBody>
          <a:bodyPr wrap="none" lIns="0" tIns="0" rIns="0" bIns="0" rtlCol="0" anchor="t"/>
          <a:lstStyle/>
          <a:p>
            <a:pPr marL="0" indent="0" algn="l">
              <a:lnSpc>
                <a:spcPts val="835"/>
              </a:lnSpc>
              <a:buNone/>
            </a:pPr>
            <a:r>
              <a:rPr lang="en-US" sz="619" dirty="0">
                <a:solidFill>
                  <a:srgbClr val="86EFAC"/>
                </a:solidFill>
                <a:latin typeface="Liberation Sans Narrow" pitchFamily="34" charset="0"/>
                <a:ea typeface="Liberation Sans Narrow" pitchFamily="34" charset="-122"/>
                <a:cs typeface="Liberation Sans Narrow" pitchFamily="34" charset="-120"/>
              </a:rPr>
              <a:t>"subnet-0abc456"</a:t>
            </a:r>
            <a:endParaRPr lang="en-US" sz="619" dirty="0"/>
          </a:p>
        </p:txBody>
      </p:sp>
      <p:sp>
        <p:nvSpPr>
          <p:cNvPr id="27" name="Text 25"/>
          <p:cNvSpPr/>
          <p:nvPr/>
        </p:nvSpPr>
        <p:spPr>
          <a:xfrm>
            <a:off x="2000250" y="2400746"/>
            <a:ext cx="810959" cy="91440"/>
          </a:xfrm>
          <a:prstGeom prst="rect">
            <a:avLst/>
          </a:prstGeom>
          <a:noFill/>
          <a:ln/>
        </p:spPr>
        <p:txBody>
          <a:bodyPr wrap="none" lIns="0" tIns="0" rIns="0" bIns="0" rtlCol="0" anchor="t">
            <a:normAutofit fontScale="70000" lnSpcReduction="20000"/>
          </a:bodyPr>
          <a:lstStyle/>
          <a:p>
            <a:pPr marL="0" indent="0" algn="l">
              <a:lnSpc>
                <a:spcPts val="835"/>
              </a:lnSpc>
              <a:buNone/>
            </a:pPr>
            <a:r>
              <a:rPr lang="en-US" sz="619" i="1" dirty="0">
                <a:solidFill>
                  <a:srgbClr val="94A3B8"/>
                </a:solidFill>
                <a:latin typeface="Courier New" pitchFamily="34" charset="0"/>
                <a:ea typeface="Courier New" pitchFamily="34" charset="-122"/>
                <a:cs typeface="Courier New" pitchFamily="34" charset="-120"/>
              </a:rPr>
              <a:t># private subnet</a:t>
            </a:r>
            <a:endParaRPr lang="en-US" sz="619" dirty="0"/>
          </a:p>
        </p:txBody>
      </p:sp>
      <p:sp>
        <p:nvSpPr>
          <p:cNvPr id="28" name="Text 26"/>
          <p:cNvSpPr/>
          <p:nvPr/>
        </p:nvSpPr>
        <p:spPr>
          <a:xfrm>
            <a:off x="664369" y="2506787"/>
            <a:ext cx="1080492" cy="139654"/>
          </a:xfrm>
          <a:prstGeom prst="rect">
            <a:avLst/>
          </a:prstGeom>
          <a:noFill/>
          <a:ln/>
        </p:spPr>
        <p:txBody>
          <a:bodyPr wrap="none" lIns="0" tIns="0" rIns="0" bIns="0" rtlCol="0" anchor="t"/>
          <a:lstStyle/>
          <a:p>
            <a:pPr marL="0" indent="0" algn="l">
              <a:lnSpc>
                <a:spcPts val="835"/>
              </a:lnSpc>
              <a:buNone/>
            </a:pPr>
            <a:r>
              <a:rPr lang="en-US" sz="619" dirty="0">
                <a:solidFill>
                  <a:srgbClr val="FBBF24"/>
                </a:solidFill>
                <a:latin typeface="Courier New" pitchFamily="34" charset="0"/>
                <a:ea typeface="Courier New" pitchFamily="34" charset="-122"/>
                <a:cs typeface="Courier New" pitchFamily="34" charset="-120"/>
              </a:rPr>
              <a:t>vpc_security_group_ids</a:t>
            </a:r>
            <a:endParaRPr lang="en-US" sz="619" dirty="0"/>
          </a:p>
        </p:txBody>
      </p:sp>
      <p:sp>
        <p:nvSpPr>
          <p:cNvPr id="29" name="Text 27"/>
          <p:cNvSpPr/>
          <p:nvPr/>
        </p:nvSpPr>
        <p:spPr>
          <a:xfrm>
            <a:off x="1685925" y="2506787"/>
            <a:ext cx="1485186" cy="91440"/>
          </a:xfrm>
          <a:prstGeom prst="rect">
            <a:avLst/>
          </a:prstGeom>
          <a:noFill/>
          <a:ln/>
        </p:spPr>
        <p:txBody>
          <a:bodyPr wrap="none" lIns="0" tIns="0" rIns="0" bIns="0" rtlCol="0" anchor="t">
            <a:normAutofit fontScale="70000" lnSpcReduction="20000"/>
          </a:bodyPr>
          <a:lstStyle/>
          <a:p>
            <a:pPr marL="0" indent="0" algn="l">
              <a:lnSpc>
                <a:spcPts val="835"/>
              </a:lnSpc>
              <a:buNone/>
            </a:pPr>
            <a:r>
              <a:rPr lang="en-US" sz="619" dirty="0">
                <a:solidFill>
                  <a:srgbClr val="93C5FD"/>
                </a:solidFill>
                <a:latin typeface="Courier New" pitchFamily="34" charset="0"/>
                <a:ea typeface="Courier New" pitchFamily="34" charset="-122"/>
                <a:cs typeface="Courier New" pitchFamily="34" charset="-120"/>
              </a:rPr>
              <a:t>aws_security_group.imgresizer_sg.id</a:t>
            </a:r>
            <a:endParaRPr lang="en-US" sz="619" dirty="0"/>
          </a:p>
        </p:txBody>
      </p:sp>
      <p:sp>
        <p:nvSpPr>
          <p:cNvPr id="30" name="Text 28"/>
          <p:cNvSpPr/>
          <p:nvPr/>
        </p:nvSpPr>
        <p:spPr>
          <a:xfrm>
            <a:off x="664369" y="2612827"/>
            <a:ext cx="982266" cy="139654"/>
          </a:xfrm>
          <a:prstGeom prst="rect">
            <a:avLst/>
          </a:prstGeom>
          <a:noFill/>
          <a:ln/>
        </p:spPr>
        <p:txBody>
          <a:bodyPr wrap="none" lIns="0" tIns="0" rIns="0" bIns="0" rtlCol="0" anchor="t"/>
          <a:lstStyle/>
          <a:p>
            <a:pPr marL="0" indent="0" algn="l">
              <a:lnSpc>
                <a:spcPts val="835"/>
              </a:lnSpc>
              <a:buNone/>
            </a:pPr>
            <a:r>
              <a:rPr lang="en-US" sz="619" dirty="0">
                <a:solidFill>
                  <a:srgbClr val="FBBF24"/>
                </a:solidFill>
                <a:latin typeface="Courier New" pitchFamily="34" charset="0"/>
                <a:ea typeface="Courier New" pitchFamily="34" charset="-122"/>
                <a:cs typeface="Courier New" pitchFamily="34" charset="-120"/>
              </a:rPr>
              <a:t>iam_instance_profile</a:t>
            </a:r>
            <a:endParaRPr lang="en-US" sz="619" dirty="0"/>
          </a:p>
        </p:txBody>
      </p:sp>
      <p:sp>
        <p:nvSpPr>
          <p:cNvPr id="31" name="Text 29"/>
          <p:cNvSpPr/>
          <p:nvPr/>
        </p:nvSpPr>
        <p:spPr>
          <a:xfrm>
            <a:off x="1568053" y="2612827"/>
            <a:ext cx="1697355" cy="139654"/>
          </a:xfrm>
          <a:prstGeom prst="rect">
            <a:avLst/>
          </a:prstGeom>
          <a:noFill/>
          <a:ln/>
        </p:spPr>
        <p:txBody>
          <a:bodyPr wrap="none" lIns="0" tIns="0" rIns="0" bIns="0" rtlCol="0" anchor="t"/>
          <a:lstStyle/>
          <a:p>
            <a:pPr marL="0" indent="0" algn="l">
              <a:lnSpc>
                <a:spcPts val="835"/>
              </a:lnSpc>
              <a:buNone/>
            </a:pPr>
            <a:r>
              <a:rPr lang="en-US" sz="619" dirty="0">
                <a:solidFill>
                  <a:srgbClr val="93C5FD"/>
                </a:solidFill>
                <a:latin typeface="Courier New" pitchFamily="34" charset="0"/>
                <a:ea typeface="Courier New" pitchFamily="34" charset="-122"/>
                <a:cs typeface="Courier New" pitchFamily="34" charset="-120"/>
              </a:rPr>
              <a:t>aws_iam_instance_profile.imgresizer.name</a:t>
            </a:r>
            <a:endParaRPr lang="en-US" sz="619" dirty="0"/>
          </a:p>
        </p:txBody>
      </p:sp>
      <p:sp>
        <p:nvSpPr>
          <p:cNvPr id="32" name="Text 30"/>
          <p:cNvSpPr/>
          <p:nvPr/>
        </p:nvSpPr>
        <p:spPr>
          <a:xfrm>
            <a:off x="647635" y="2824907"/>
            <a:ext cx="284927" cy="91440"/>
          </a:xfrm>
          <a:prstGeom prst="rect">
            <a:avLst/>
          </a:prstGeom>
          <a:noFill/>
          <a:ln/>
        </p:spPr>
        <p:txBody>
          <a:bodyPr wrap="none" lIns="0" tIns="0" rIns="0" bIns="0" rtlCol="0" anchor="t">
            <a:normAutofit fontScale="55000" lnSpcReduction="20000"/>
          </a:bodyPr>
          <a:lstStyle/>
          <a:p>
            <a:pPr marL="0" indent="0" algn="l">
              <a:lnSpc>
                <a:spcPts val="835"/>
              </a:lnSpc>
              <a:buNone/>
            </a:pPr>
            <a:r>
              <a:rPr lang="en-US" sz="800" dirty="0">
                <a:solidFill>
                  <a:srgbClr val="FBBF24"/>
                </a:solidFill>
                <a:latin typeface="Courier New" pitchFamily="34" charset="0"/>
                <a:ea typeface="Courier New" pitchFamily="34" charset="-122"/>
                <a:cs typeface="Courier New" pitchFamily="34" charset="-120"/>
              </a:rPr>
              <a:t>tags</a:t>
            </a:r>
            <a:endParaRPr lang="en-US" sz="800" dirty="0"/>
          </a:p>
        </p:txBody>
      </p:sp>
      <p:sp>
        <p:nvSpPr>
          <p:cNvPr id="33" name="Text 31"/>
          <p:cNvSpPr/>
          <p:nvPr/>
        </p:nvSpPr>
        <p:spPr>
          <a:xfrm>
            <a:off x="729489" y="2930947"/>
            <a:ext cx="567168" cy="139654"/>
          </a:xfrm>
          <a:prstGeom prst="rect">
            <a:avLst/>
          </a:prstGeom>
          <a:noFill/>
          <a:ln/>
        </p:spPr>
        <p:txBody>
          <a:bodyPr wrap="none" lIns="0" tIns="0" rIns="0" bIns="0" rtlCol="0" anchor="t"/>
          <a:lstStyle/>
          <a:p>
            <a:pPr marL="0" indent="0" algn="l">
              <a:lnSpc>
                <a:spcPts val="835"/>
              </a:lnSpc>
              <a:buNone/>
            </a:pPr>
            <a:r>
              <a:rPr lang="en-US" sz="619" dirty="0">
                <a:solidFill>
                  <a:srgbClr val="FBBF24"/>
                </a:solidFill>
                <a:latin typeface="Courier New" pitchFamily="34" charset="0"/>
                <a:ea typeface="Courier New" pitchFamily="34" charset="-122"/>
                <a:cs typeface="Courier New" pitchFamily="34" charset="-120"/>
              </a:rPr>
              <a:t>Environment</a:t>
            </a:r>
            <a:endParaRPr lang="en-US" sz="619" dirty="0"/>
          </a:p>
        </p:txBody>
      </p:sp>
      <p:sp>
        <p:nvSpPr>
          <p:cNvPr id="34" name="Text 32"/>
          <p:cNvSpPr/>
          <p:nvPr/>
        </p:nvSpPr>
        <p:spPr>
          <a:xfrm>
            <a:off x="1293019" y="2930947"/>
            <a:ext cx="736699" cy="91440"/>
          </a:xfrm>
          <a:prstGeom prst="rect">
            <a:avLst/>
          </a:prstGeom>
          <a:noFill/>
          <a:ln/>
        </p:spPr>
        <p:txBody>
          <a:bodyPr wrap="none" lIns="0" tIns="0" rIns="0" bIns="0" rtlCol="0" anchor="t">
            <a:normAutofit fontScale="70000" lnSpcReduction="20000"/>
          </a:bodyPr>
          <a:lstStyle/>
          <a:p>
            <a:pPr marL="0" indent="0" algn="l">
              <a:lnSpc>
                <a:spcPts val="835"/>
              </a:lnSpc>
              <a:buNone/>
            </a:pPr>
            <a:r>
              <a:rPr lang="en-US" sz="619" dirty="0">
                <a:solidFill>
                  <a:srgbClr val="93C5FD"/>
                </a:solidFill>
                <a:latin typeface="Courier New" pitchFamily="34" charset="0"/>
                <a:ea typeface="Courier New" pitchFamily="34" charset="-122"/>
                <a:cs typeface="Courier New" pitchFamily="34" charset="-120"/>
              </a:rPr>
              <a:t>var.environment</a:t>
            </a:r>
            <a:endParaRPr lang="en-US" sz="619" dirty="0"/>
          </a:p>
        </p:txBody>
      </p:sp>
      <p:sp>
        <p:nvSpPr>
          <p:cNvPr id="35" name="Text 33"/>
          <p:cNvSpPr/>
          <p:nvPr/>
        </p:nvSpPr>
        <p:spPr>
          <a:xfrm>
            <a:off x="742950" y="3036987"/>
            <a:ext cx="393299" cy="139654"/>
          </a:xfrm>
          <a:prstGeom prst="rect">
            <a:avLst/>
          </a:prstGeom>
          <a:noFill/>
          <a:ln/>
        </p:spPr>
        <p:txBody>
          <a:bodyPr wrap="none" lIns="0" tIns="0" rIns="0" bIns="0" rtlCol="0" anchor="t"/>
          <a:lstStyle/>
          <a:p>
            <a:pPr marL="0" indent="0" algn="l">
              <a:lnSpc>
                <a:spcPts val="835"/>
              </a:lnSpc>
              <a:buNone/>
            </a:pPr>
            <a:r>
              <a:rPr lang="en-US" sz="619" dirty="0">
                <a:solidFill>
                  <a:srgbClr val="FBBF24"/>
                </a:solidFill>
                <a:latin typeface="Courier New" pitchFamily="34" charset="0"/>
                <a:ea typeface="Courier New" pitchFamily="34" charset="-122"/>
                <a:cs typeface="Courier New" pitchFamily="34" charset="-120"/>
              </a:rPr>
              <a:t>Service</a:t>
            </a:r>
            <a:endParaRPr lang="en-US" sz="619" dirty="0"/>
          </a:p>
        </p:txBody>
      </p:sp>
      <p:sp>
        <p:nvSpPr>
          <p:cNvPr id="36" name="Text 34"/>
          <p:cNvSpPr/>
          <p:nvPr/>
        </p:nvSpPr>
        <p:spPr>
          <a:xfrm>
            <a:off x="1291133" y="3036987"/>
            <a:ext cx="593131" cy="91440"/>
          </a:xfrm>
          <a:prstGeom prst="rect">
            <a:avLst/>
          </a:prstGeom>
          <a:noFill/>
          <a:ln/>
        </p:spPr>
        <p:txBody>
          <a:bodyPr wrap="none" lIns="0" tIns="0" rIns="0" bIns="0" rtlCol="0" anchor="t">
            <a:normAutofit fontScale="70000" lnSpcReduction="20000"/>
          </a:bodyPr>
          <a:lstStyle/>
          <a:p>
            <a:pPr marL="0" indent="0" algn="l">
              <a:lnSpc>
                <a:spcPts val="835"/>
              </a:lnSpc>
              <a:buNone/>
            </a:pPr>
            <a:r>
              <a:rPr lang="en-US" sz="619" dirty="0">
                <a:solidFill>
                  <a:srgbClr val="86EFAC"/>
                </a:solidFill>
                <a:latin typeface="Courier New" pitchFamily="34" charset="0"/>
                <a:ea typeface="Courier New" pitchFamily="34" charset="-122"/>
                <a:cs typeface="Courier New" pitchFamily="34" charset="-120"/>
              </a:rPr>
              <a:t>"imgresizer"</a:t>
            </a:r>
            <a:endParaRPr lang="en-US" sz="619" dirty="0"/>
          </a:p>
        </p:txBody>
      </p:sp>
      <p:sp>
        <p:nvSpPr>
          <p:cNvPr id="37" name="Text 35"/>
          <p:cNvSpPr/>
          <p:nvPr/>
        </p:nvSpPr>
        <p:spPr>
          <a:xfrm>
            <a:off x="720484" y="3143027"/>
            <a:ext cx="359258" cy="139654"/>
          </a:xfrm>
          <a:prstGeom prst="rect">
            <a:avLst/>
          </a:prstGeom>
          <a:noFill/>
          <a:ln/>
        </p:spPr>
        <p:txBody>
          <a:bodyPr wrap="none" lIns="0" tIns="0" rIns="0" bIns="0" rtlCol="0" anchor="t"/>
          <a:lstStyle/>
          <a:p>
            <a:pPr marL="0" indent="0" algn="l">
              <a:lnSpc>
                <a:spcPts val="835"/>
              </a:lnSpc>
              <a:buNone/>
            </a:pPr>
            <a:r>
              <a:rPr lang="en-US" sz="800" dirty="0">
                <a:solidFill>
                  <a:srgbClr val="FBBF24"/>
                </a:solidFill>
                <a:latin typeface="Courier New" pitchFamily="34" charset="0"/>
                <a:ea typeface="Courier New" pitchFamily="34" charset="-122"/>
                <a:cs typeface="Courier New" pitchFamily="34" charset="-120"/>
              </a:rPr>
              <a:t>Owner</a:t>
            </a:r>
            <a:endParaRPr lang="en-US" sz="800" dirty="0"/>
          </a:p>
        </p:txBody>
      </p:sp>
      <p:sp>
        <p:nvSpPr>
          <p:cNvPr id="38" name="Text 36"/>
          <p:cNvSpPr/>
          <p:nvPr/>
        </p:nvSpPr>
        <p:spPr>
          <a:xfrm>
            <a:off x="1293019" y="3143027"/>
            <a:ext cx="736699" cy="139654"/>
          </a:xfrm>
          <a:prstGeom prst="rect">
            <a:avLst/>
          </a:prstGeom>
          <a:noFill/>
          <a:ln/>
        </p:spPr>
        <p:txBody>
          <a:bodyPr wrap="none" lIns="0" tIns="0" rIns="0" bIns="0" rtlCol="0" anchor="t"/>
          <a:lstStyle/>
          <a:p>
            <a:pPr marL="0" indent="0" algn="l">
              <a:lnSpc>
                <a:spcPts val="835"/>
              </a:lnSpc>
              <a:buNone/>
            </a:pPr>
            <a:r>
              <a:rPr lang="en-US" sz="619" dirty="0">
                <a:solidFill>
                  <a:srgbClr val="86EFAC"/>
                </a:solidFill>
                <a:latin typeface="Courier New" pitchFamily="34" charset="0"/>
                <a:ea typeface="Courier New" pitchFamily="34" charset="-122"/>
                <a:cs typeface="Courier New" pitchFamily="34" charset="-120"/>
              </a:rPr>
              <a:t>"platform-team"</a:t>
            </a:r>
            <a:endParaRPr lang="en-US" sz="619" dirty="0"/>
          </a:p>
        </p:txBody>
      </p:sp>
      <p:sp>
        <p:nvSpPr>
          <p:cNvPr id="39" name="Text 37"/>
          <p:cNvSpPr/>
          <p:nvPr/>
        </p:nvSpPr>
        <p:spPr>
          <a:xfrm>
            <a:off x="585788" y="3567187"/>
            <a:ext cx="1145715" cy="91440"/>
          </a:xfrm>
          <a:prstGeom prst="rect">
            <a:avLst/>
          </a:prstGeom>
          <a:noFill/>
          <a:ln/>
        </p:spPr>
        <p:txBody>
          <a:bodyPr wrap="none" lIns="0" tIns="0" rIns="0" bIns="0" rtlCol="0" anchor="t">
            <a:normAutofit fontScale="70000" lnSpcReduction="20000"/>
          </a:bodyPr>
          <a:lstStyle/>
          <a:p>
            <a:pPr marL="0" indent="0" algn="l">
              <a:lnSpc>
                <a:spcPts val="835"/>
              </a:lnSpc>
              <a:buNone/>
            </a:pPr>
            <a:r>
              <a:rPr lang="en-US" sz="619" i="1" dirty="0">
                <a:solidFill>
                  <a:srgbClr val="94A3B8"/>
                </a:solidFill>
                <a:latin typeface="Liberation Sans Narrow" pitchFamily="34" charset="0"/>
                <a:ea typeface="Liberation Sans Narrow" pitchFamily="34" charset="-122"/>
                <a:cs typeface="Liberation Sans Narrow" pitchFamily="34" charset="-120"/>
              </a:rPr>
              <a:t># S3 bucket with versioning</a:t>
            </a:r>
            <a:endParaRPr lang="en-US" sz="619" dirty="0"/>
          </a:p>
        </p:txBody>
      </p:sp>
      <p:sp>
        <p:nvSpPr>
          <p:cNvPr id="40" name="Text 38"/>
          <p:cNvSpPr/>
          <p:nvPr/>
        </p:nvSpPr>
        <p:spPr>
          <a:xfrm>
            <a:off x="585788" y="3673227"/>
            <a:ext cx="449485" cy="139654"/>
          </a:xfrm>
          <a:prstGeom prst="rect">
            <a:avLst/>
          </a:prstGeom>
          <a:noFill/>
          <a:ln/>
        </p:spPr>
        <p:txBody>
          <a:bodyPr wrap="none" lIns="0" tIns="0" rIns="0" bIns="0" rtlCol="0" anchor="t"/>
          <a:lstStyle/>
          <a:p>
            <a:pPr marL="0" indent="0" algn="l">
              <a:lnSpc>
                <a:spcPts val="835"/>
              </a:lnSpc>
              <a:buNone/>
            </a:pPr>
            <a:r>
              <a:rPr lang="en-US" sz="619" dirty="0">
                <a:solidFill>
                  <a:srgbClr val="FBBF24"/>
                </a:solidFill>
                <a:latin typeface="Courier New" pitchFamily="34" charset="0"/>
                <a:ea typeface="Courier New" pitchFamily="34" charset="-122"/>
                <a:cs typeface="Courier New" pitchFamily="34" charset="-120"/>
              </a:rPr>
              <a:t>resource</a:t>
            </a:r>
            <a:endParaRPr lang="en-US" sz="619" dirty="0"/>
          </a:p>
        </p:txBody>
      </p:sp>
      <p:sp>
        <p:nvSpPr>
          <p:cNvPr id="41" name="Text 39"/>
          <p:cNvSpPr/>
          <p:nvPr/>
        </p:nvSpPr>
        <p:spPr>
          <a:xfrm>
            <a:off x="939403" y="3673227"/>
            <a:ext cx="736699" cy="139654"/>
          </a:xfrm>
          <a:prstGeom prst="rect">
            <a:avLst/>
          </a:prstGeom>
          <a:noFill/>
          <a:ln/>
        </p:spPr>
        <p:txBody>
          <a:bodyPr wrap="none" lIns="0" tIns="0" rIns="0" bIns="0" rtlCol="0" anchor="t"/>
          <a:lstStyle/>
          <a:p>
            <a:pPr marL="0" indent="0" algn="l">
              <a:lnSpc>
                <a:spcPts val="835"/>
              </a:lnSpc>
              <a:buNone/>
            </a:pPr>
            <a:r>
              <a:rPr lang="en-US" sz="619" dirty="0">
                <a:solidFill>
                  <a:srgbClr val="86EFAC"/>
                </a:solidFill>
                <a:latin typeface="Liberation Sans Narrow" pitchFamily="34" charset="0"/>
                <a:ea typeface="Liberation Sans Narrow" pitchFamily="34" charset="-122"/>
                <a:cs typeface="Liberation Sans Narrow" pitchFamily="34" charset="-120"/>
              </a:rPr>
              <a:t>"aws_s3_bucket"</a:t>
            </a:r>
            <a:endParaRPr lang="en-US" sz="619" dirty="0"/>
          </a:p>
        </p:txBody>
      </p:sp>
      <p:sp>
        <p:nvSpPr>
          <p:cNvPr id="42" name="Text 40"/>
          <p:cNvSpPr/>
          <p:nvPr/>
        </p:nvSpPr>
        <p:spPr>
          <a:xfrm>
            <a:off x="1568053" y="3673227"/>
            <a:ext cx="505670" cy="91440"/>
          </a:xfrm>
          <a:prstGeom prst="rect">
            <a:avLst/>
          </a:prstGeom>
          <a:noFill/>
          <a:ln/>
        </p:spPr>
        <p:txBody>
          <a:bodyPr wrap="none" lIns="0" tIns="0" rIns="0" bIns="0" rtlCol="0" anchor="t">
            <a:normAutofit fontScale="70000" lnSpcReduction="20000"/>
          </a:bodyPr>
          <a:lstStyle/>
          <a:p>
            <a:pPr marL="0" indent="0" algn="l">
              <a:lnSpc>
                <a:spcPts val="835"/>
              </a:lnSpc>
              <a:buNone/>
            </a:pPr>
            <a:r>
              <a:rPr lang="en-US" sz="619" dirty="0">
                <a:solidFill>
                  <a:srgbClr val="86EFAC"/>
                </a:solidFill>
                <a:latin typeface="Courier New" pitchFamily="34" charset="0"/>
                <a:ea typeface="Courier New" pitchFamily="34" charset="-122"/>
                <a:cs typeface="Courier New" pitchFamily="34" charset="-120"/>
              </a:rPr>
              <a:t>"uploads"</a:t>
            </a:r>
            <a:endParaRPr lang="en-US" sz="619" dirty="0"/>
          </a:p>
        </p:txBody>
      </p:sp>
      <p:sp>
        <p:nvSpPr>
          <p:cNvPr id="43" name="Text 41"/>
          <p:cNvSpPr/>
          <p:nvPr/>
        </p:nvSpPr>
        <p:spPr>
          <a:xfrm>
            <a:off x="664369" y="3779267"/>
            <a:ext cx="337114" cy="139654"/>
          </a:xfrm>
          <a:prstGeom prst="rect">
            <a:avLst/>
          </a:prstGeom>
          <a:noFill/>
          <a:ln/>
        </p:spPr>
        <p:txBody>
          <a:bodyPr wrap="none" lIns="0" tIns="0" rIns="0" bIns="0" rtlCol="0" anchor="t"/>
          <a:lstStyle/>
          <a:p>
            <a:pPr marL="0" indent="0" algn="l">
              <a:lnSpc>
                <a:spcPts val="835"/>
              </a:lnSpc>
              <a:buNone/>
            </a:pPr>
            <a:r>
              <a:rPr lang="en-US" sz="619" dirty="0">
                <a:solidFill>
                  <a:srgbClr val="FBBF24"/>
                </a:solidFill>
                <a:latin typeface="Courier New" pitchFamily="34" charset="0"/>
                <a:ea typeface="Courier New" pitchFamily="34" charset="-122"/>
                <a:cs typeface="Courier New" pitchFamily="34" charset="-120"/>
              </a:rPr>
              <a:t>bucket</a:t>
            </a:r>
            <a:endParaRPr lang="en-US" sz="619" dirty="0"/>
          </a:p>
        </p:txBody>
      </p:sp>
      <p:sp>
        <p:nvSpPr>
          <p:cNvPr id="44" name="Text 42"/>
          <p:cNvSpPr/>
          <p:nvPr/>
        </p:nvSpPr>
        <p:spPr>
          <a:xfrm>
            <a:off x="1017984" y="3779267"/>
            <a:ext cx="1654921" cy="139654"/>
          </a:xfrm>
          <a:prstGeom prst="rect">
            <a:avLst/>
          </a:prstGeom>
          <a:noFill/>
          <a:ln/>
        </p:spPr>
        <p:txBody>
          <a:bodyPr wrap="none" lIns="0" tIns="0" rIns="0" bIns="0" rtlCol="0" anchor="t"/>
          <a:lstStyle/>
          <a:p>
            <a:pPr marL="0" indent="0" algn="l">
              <a:lnSpc>
                <a:spcPts val="835"/>
              </a:lnSpc>
              <a:buNone/>
            </a:pPr>
            <a:r>
              <a:rPr lang="en-US" sz="619" dirty="0">
                <a:solidFill>
                  <a:srgbClr val="86EFAC"/>
                </a:solidFill>
                <a:latin typeface="Courier New" pitchFamily="34" charset="0"/>
                <a:ea typeface="Courier New" pitchFamily="34" charset="-122"/>
                <a:cs typeface="Courier New" pitchFamily="34" charset="-120"/>
              </a:rPr>
              <a:t>"${var.environment}-imgresizer-uploads"</a:t>
            </a:r>
            <a:endParaRPr lang="en-US" sz="619" dirty="0"/>
          </a:p>
        </p:txBody>
      </p:sp>
      <p:sp>
        <p:nvSpPr>
          <p:cNvPr id="45" name="Text 43"/>
          <p:cNvSpPr/>
          <p:nvPr/>
        </p:nvSpPr>
        <p:spPr>
          <a:xfrm>
            <a:off x="585788" y="3991347"/>
            <a:ext cx="449485" cy="139654"/>
          </a:xfrm>
          <a:prstGeom prst="rect">
            <a:avLst/>
          </a:prstGeom>
          <a:noFill/>
          <a:ln/>
        </p:spPr>
        <p:txBody>
          <a:bodyPr wrap="none" lIns="0" tIns="0" rIns="0" bIns="0" rtlCol="0" anchor="t"/>
          <a:lstStyle/>
          <a:p>
            <a:pPr marL="0" indent="0" algn="l">
              <a:lnSpc>
                <a:spcPts val="835"/>
              </a:lnSpc>
              <a:buNone/>
            </a:pPr>
            <a:r>
              <a:rPr lang="en-US" sz="619" dirty="0">
                <a:solidFill>
                  <a:srgbClr val="FBBF24"/>
                </a:solidFill>
                <a:latin typeface="Courier New" pitchFamily="34" charset="0"/>
                <a:ea typeface="Courier New" pitchFamily="34" charset="-122"/>
                <a:cs typeface="Courier New" pitchFamily="34" charset="-120"/>
              </a:rPr>
              <a:t>resource</a:t>
            </a:r>
            <a:endParaRPr lang="en-US" sz="619" dirty="0"/>
          </a:p>
        </p:txBody>
      </p:sp>
      <p:sp>
        <p:nvSpPr>
          <p:cNvPr id="46" name="Text 44"/>
          <p:cNvSpPr/>
          <p:nvPr/>
        </p:nvSpPr>
        <p:spPr>
          <a:xfrm>
            <a:off x="939403" y="3991347"/>
            <a:ext cx="1103281" cy="139654"/>
          </a:xfrm>
          <a:prstGeom prst="rect">
            <a:avLst/>
          </a:prstGeom>
          <a:noFill/>
          <a:ln/>
        </p:spPr>
        <p:txBody>
          <a:bodyPr wrap="none" lIns="0" tIns="0" rIns="0" bIns="0" rtlCol="0" anchor="t"/>
          <a:lstStyle/>
          <a:p>
            <a:pPr marL="0" indent="0" algn="l">
              <a:lnSpc>
                <a:spcPts val="835"/>
              </a:lnSpc>
              <a:buNone/>
            </a:pPr>
            <a:r>
              <a:rPr lang="en-US" sz="619" dirty="0">
                <a:solidFill>
                  <a:srgbClr val="86EFAC"/>
                </a:solidFill>
                <a:latin typeface="Liberation Sans Narrow" pitchFamily="34" charset="0"/>
                <a:ea typeface="Liberation Sans Narrow" pitchFamily="34" charset="-122"/>
                <a:cs typeface="Liberation Sans Narrow" pitchFamily="34" charset="-120"/>
              </a:rPr>
              <a:t>"aws_s3_bucket_versioning"</a:t>
            </a:r>
            <a:endParaRPr lang="en-US" sz="619" dirty="0"/>
          </a:p>
        </p:txBody>
      </p:sp>
      <p:sp>
        <p:nvSpPr>
          <p:cNvPr id="47" name="Text 45"/>
          <p:cNvSpPr/>
          <p:nvPr/>
        </p:nvSpPr>
        <p:spPr>
          <a:xfrm>
            <a:off x="2000250" y="3991347"/>
            <a:ext cx="505670" cy="91440"/>
          </a:xfrm>
          <a:prstGeom prst="rect">
            <a:avLst/>
          </a:prstGeom>
          <a:noFill/>
          <a:ln/>
        </p:spPr>
        <p:txBody>
          <a:bodyPr wrap="none" lIns="0" tIns="0" rIns="0" bIns="0" rtlCol="0" anchor="t">
            <a:normAutofit fontScale="70000" lnSpcReduction="20000"/>
          </a:bodyPr>
          <a:lstStyle/>
          <a:p>
            <a:pPr marL="0" indent="0" algn="l">
              <a:lnSpc>
                <a:spcPts val="835"/>
              </a:lnSpc>
              <a:buNone/>
            </a:pPr>
            <a:r>
              <a:rPr lang="en-US" sz="619" dirty="0">
                <a:solidFill>
                  <a:srgbClr val="86EFAC"/>
                </a:solidFill>
                <a:latin typeface="Courier New" pitchFamily="34" charset="0"/>
                <a:ea typeface="Courier New" pitchFamily="34" charset="-122"/>
                <a:cs typeface="Courier New" pitchFamily="34" charset="-120"/>
              </a:rPr>
              <a:t>"uploads"</a:t>
            </a:r>
            <a:endParaRPr lang="en-US" sz="619" dirty="0"/>
          </a:p>
        </p:txBody>
      </p:sp>
      <p:sp>
        <p:nvSpPr>
          <p:cNvPr id="48" name="Text 46"/>
          <p:cNvSpPr/>
          <p:nvPr/>
        </p:nvSpPr>
        <p:spPr>
          <a:xfrm>
            <a:off x="664369" y="4097387"/>
            <a:ext cx="337114" cy="139654"/>
          </a:xfrm>
          <a:prstGeom prst="rect">
            <a:avLst/>
          </a:prstGeom>
          <a:noFill/>
          <a:ln/>
        </p:spPr>
        <p:txBody>
          <a:bodyPr wrap="none" lIns="0" tIns="0" rIns="0" bIns="0" rtlCol="0" anchor="t"/>
          <a:lstStyle/>
          <a:p>
            <a:pPr marL="0" indent="0" algn="l">
              <a:lnSpc>
                <a:spcPts val="835"/>
              </a:lnSpc>
              <a:buNone/>
            </a:pPr>
            <a:r>
              <a:rPr lang="en-US" sz="619" dirty="0">
                <a:solidFill>
                  <a:srgbClr val="FBBF24"/>
                </a:solidFill>
                <a:latin typeface="Courier New" pitchFamily="34" charset="0"/>
                <a:ea typeface="Courier New" pitchFamily="34" charset="-122"/>
                <a:cs typeface="Courier New" pitchFamily="34" charset="-120"/>
              </a:rPr>
              <a:t>bucket</a:t>
            </a:r>
            <a:endParaRPr lang="en-US" sz="619" dirty="0"/>
          </a:p>
        </p:txBody>
      </p:sp>
      <p:sp>
        <p:nvSpPr>
          <p:cNvPr id="49" name="Text 47"/>
          <p:cNvSpPr/>
          <p:nvPr/>
        </p:nvSpPr>
        <p:spPr>
          <a:xfrm>
            <a:off x="1017984" y="4097387"/>
            <a:ext cx="1018413" cy="91440"/>
          </a:xfrm>
          <a:prstGeom prst="rect">
            <a:avLst/>
          </a:prstGeom>
          <a:noFill/>
          <a:ln/>
        </p:spPr>
        <p:txBody>
          <a:bodyPr wrap="none" lIns="0" tIns="0" rIns="0" bIns="0" rtlCol="0" anchor="t">
            <a:normAutofit fontScale="70000" lnSpcReduction="20000"/>
          </a:bodyPr>
          <a:lstStyle/>
          <a:p>
            <a:pPr marL="0" indent="0" algn="l">
              <a:lnSpc>
                <a:spcPts val="835"/>
              </a:lnSpc>
              <a:buNone/>
            </a:pPr>
            <a:r>
              <a:rPr lang="en-US" sz="619" dirty="0">
                <a:solidFill>
                  <a:srgbClr val="93C5FD"/>
                </a:solidFill>
                <a:latin typeface="Liberation Sans Narrow" pitchFamily="34" charset="0"/>
                <a:ea typeface="Liberation Sans Narrow" pitchFamily="34" charset="-122"/>
                <a:cs typeface="Liberation Sans Narrow" pitchFamily="34" charset="-120"/>
              </a:rPr>
              <a:t>aws_s3_bucket.uploads.id</a:t>
            </a:r>
            <a:endParaRPr lang="en-US" sz="619" dirty="0"/>
          </a:p>
        </p:txBody>
      </p:sp>
      <p:sp>
        <p:nvSpPr>
          <p:cNvPr id="50" name="Text 48"/>
          <p:cNvSpPr/>
          <p:nvPr/>
        </p:nvSpPr>
        <p:spPr>
          <a:xfrm>
            <a:off x="664369" y="4203427"/>
            <a:ext cx="1018413" cy="139654"/>
          </a:xfrm>
          <a:prstGeom prst="rect">
            <a:avLst/>
          </a:prstGeom>
          <a:noFill/>
          <a:ln/>
        </p:spPr>
        <p:txBody>
          <a:bodyPr wrap="none" lIns="0" tIns="0" rIns="0" bIns="0" rtlCol="0" anchor="t"/>
          <a:lstStyle/>
          <a:p>
            <a:pPr marL="0" indent="0" algn="l">
              <a:lnSpc>
                <a:spcPts val="835"/>
              </a:lnSpc>
              <a:buNone/>
            </a:pPr>
            <a:r>
              <a:rPr lang="en-US" sz="619" dirty="0">
                <a:solidFill>
                  <a:srgbClr val="FBBF24"/>
                </a:solidFill>
                <a:latin typeface="Courier New" pitchFamily="34" charset="0"/>
                <a:ea typeface="Courier New" pitchFamily="34" charset="-122"/>
                <a:cs typeface="Courier New" pitchFamily="34" charset="-120"/>
              </a:rPr>
              <a:t>versioning_configuration</a:t>
            </a:r>
            <a:endParaRPr lang="en-US" sz="619" dirty="0"/>
          </a:p>
        </p:txBody>
      </p:sp>
      <p:sp>
        <p:nvSpPr>
          <p:cNvPr id="51" name="Text 49"/>
          <p:cNvSpPr/>
          <p:nvPr/>
        </p:nvSpPr>
        <p:spPr>
          <a:xfrm>
            <a:off x="1725216" y="4203427"/>
            <a:ext cx="337114" cy="139654"/>
          </a:xfrm>
          <a:prstGeom prst="rect">
            <a:avLst/>
          </a:prstGeom>
          <a:noFill/>
          <a:ln/>
        </p:spPr>
        <p:txBody>
          <a:bodyPr wrap="none" lIns="0" tIns="0" rIns="0" bIns="0" rtlCol="0" anchor="t"/>
          <a:lstStyle/>
          <a:p>
            <a:pPr marL="0" indent="0" algn="l">
              <a:lnSpc>
                <a:spcPts val="835"/>
              </a:lnSpc>
              <a:buNone/>
            </a:pPr>
            <a:r>
              <a:rPr lang="en-US" sz="619" dirty="0">
                <a:solidFill>
                  <a:srgbClr val="FBBF24"/>
                </a:solidFill>
                <a:latin typeface="Courier New" pitchFamily="34" charset="0"/>
                <a:ea typeface="Courier New" pitchFamily="34" charset="-122"/>
                <a:cs typeface="Courier New" pitchFamily="34" charset="-120"/>
              </a:rPr>
              <a:t>status</a:t>
            </a:r>
            <a:endParaRPr lang="en-US" sz="619" dirty="0"/>
          </a:p>
        </p:txBody>
      </p:sp>
      <p:sp>
        <p:nvSpPr>
          <p:cNvPr id="52" name="Text 50"/>
          <p:cNvSpPr/>
          <p:nvPr/>
        </p:nvSpPr>
        <p:spPr>
          <a:xfrm>
            <a:off x="2078831" y="4203427"/>
            <a:ext cx="505670" cy="139654"/>
          </a:xfrm>
          <a:prstGeom prst="rect">
            <a:avLst/>
          </a:prstGeom>
          <a:noFill/>
          <a:ln/>
        </p:spPr>
        <p:txBody>
          <a:bodyPr wrap="none" lIns="0" tIns="0" rIns="0" bIns="0" rtlCol="0" anchor="t"/>
          <a:lstStyle/>
          <a:p>
            <a:pPr marL="0" indent="0" algn="l">
              <a:lnSpc>
                <a:spcPts val="835"/>
              </a:lnSpc>
              <a:buNone/>
            </a:pPr>
            <a:r>
              <a:rPr lang="en-US" sz="619" dirty="0">
                <a:solidFill>
                  <a:srgbClr val="86EFAC"/>
                </a:solidFill>
                <a:latin typeface="Courier New" pitchFamily="34" charset="0"/>
                <a:ea typeface="Courier New" pitchFamily="34" charset="-122"/>
                <a:cs typeface="Courier New" pitchFamily="34" charset="-120"/>
              </a:rPr>
              <a:t>"Enabled"</a:t>
            </a:r>
            <a:endParaRPr lang="en-US" sz="619" dirty="0"/>
          </a:p>
        </p:txBody>
      </p:sp>
      <p:sp>
        <p:nvSpPr>
          <p:cNvPr id="53" name="Text 51"/>
          <p:cNvSpPr/>
          <p:nvPr/>
        </p:nvSpPr>
        <p:spPr>
          <a:xfrm>
            <a:off x="585788" y="4521547"/>
            <a:ext cx="2079260" cy="91440"/>
          </a:xfrm>
          <a:prstGeom prst="rect">
            <a:avLst/>
          </a:prstGeom>
          <a:noFill/>
          <a:ln/>
        </p:spPr>
        <p:txBody>
          <a:bodyPr wrap="none" lIns="0" tIns="0" rIns="0" bIns="0" rtlCol="0" anchor="t"/>
          <a:lstStyle/>
          <a:p>
            <a:pPr marL="0" indent="0" algn="l">
              <a:lnSpc>
                <a:spcPts val="835"/>
              </a:lnSpc>
              <a:buNone/>
            </a:pPr>
            <a:r>
              <a:rPr lang="en-US" sz="619" i="1" dirty="0">
                <a:solidFill>
                  <a:srgbClr val="94A3B8"/>
                </a:solidFill>
                <a:latin typeface="Courier New" pitchFamily="34" charset="0"/>
                <a:ea typeface="Courier New" pitchFamily="34" charset="-122"/>
                <a:cs typeface="Courier New" pitchFamily="34" charset="-120"/>
              </a:rPr>
              <a:t># Security group: HTTP from ALB, SSH from bastion</a:t>
            </a:r>
            <a:endParaRPr lang="en-US" sz="619" dirty="0"/>
          </a:p>
        </p:txBody>
      </p:sp>
      <p:sp>
        <p:nvSpPr>
          <p:cNvPr id="54" name="Text 52"/>
          <p:cNvSpPr/>
          <p:nvPr/>
        </p:nvSpPr>
        <p:spPr>
          <a:xfrm>
            <a:off x="585788" y="4627587"/>
            <a:ext cx="449485" cy="91440"/>
          </a:xfrm>
          <a:prstGeom prst="rect">
            <a:avLst/>
          </a:prstGeom>
          <a:noFill/>
          <a:ln/>
        </p:spPr>
        <p:txBody>
          <a:bodyPr wrap="none" lIns="0" tIns="0" rIns="0" bIns="0" rtlCol="0" anchor="t"/>
          <a:lstStyle/>
          <a:p>
            <a:pPr marL="0" indent="0" algn="l">
              <a:lnSpc>
                <a:spcPts val="835"/>
              </a:lnSpc>
              <a:buNone/>
            </a:pPr>
            <a:r>
              <a:rPr lang="en-US" sz="619" dirty="0">
                <a:solidFill>
                  <a:srgbClr val="FBBF24"/>
                </a:solidFill>
                <a:latin typeface="Courier New" pitchFamily="34" charset="0"/>
                <a:ea typeface="Courier New" pitchFamily="34" charset="-122"/>
                <a:cs typeface="Courier New" pitchFamily="34" charset="-120"/>
              </a:rPr>
              <a:t>resource</a:t>
            </a:r>
            <a:endParaRPr lang="en-US" sz="619" dirty="0"/>
          </a:p>
        </p:txBody>
      </p:sp>
      <p:sp>
        <p:nvSpPr>
          <p:cNvPr id="55" name="Text 53"/>
          <p:cNvSpPr/>
          <p:nvPr/>
        </p:nvSpPr>
        <p:spPr>
          <a:xfrm>
            <a:off x="939403" y="4627587"/>
            <a:ext cx="982266" cy="91440"/>
          </a:xfrm>
          <a:prstGeom prst="rect">
            <a:avLst/>
          </a:prstGeom>
          <a:noFill/>
          <a:ln/>
        </p:spPr>
        <p:txBody>
          <a:bodyPr wrap="none" lIns="0" tIns="0" rIns="0" bIns="0" rtlCol="0" anchor="t"/>
          <a:lstStyle/>
          <a:p>
            <a:pPr marL="0" indent="0" algn="l">
              <a:lnSpc>
                <a:spcPts val="835"/>
              </a:lnSpc>
              <a:buNone/>
            </a:pPr>
            <a:r>
              <a:rPr lang="en-US" sz="619" dirty="0">
                <a:solidFill>
                  <a:srgbClr val="86EFAC"/>
                </a:solidFill>
                <a:latin typeface="Courier New" pitchFamily="34" charset="0"/>
                <a:ea typeface="Courier New" pitchFamily="34" charset="-122"/>
                <a:cs typeface="Courier New" pitchFamily="34" charset="-120"/>
              </a:rPr>
              <a:t>"aws_security_group"</a:t>
            </a:r>
            <a:endParaRPr lang="en-US" sz="619" dirty="0"/>
          </a:p>
        </p:txBody>
      </p:sp>
      <p:sp>
        <p:nvSpPr>
          <p:cNvPr id="56" name="Text 54"/>
          <p:cNvSpPr/>
          <p:nvPr/>
        </p:nvSpPr>
        <p:spPr>
          <a:xfrm>
            <a:off x="1764506" y="4627587"/>
            <a:ext cx="736699" cy="91440"/>
          </a:xfrm>
          <a:prstGeom prst="rect">
            <a:avLst/>
          </a:prstGeom>
          <a:noFill/>
          <a:ln/>
        </p:spPr>
        <p:txBody>
          <a:bodyPr wrap="none" lIns="0" tIns="0" rIns="0" bIns="0" rtlCol="0" anchor="t"/>
          <a:lstStyle/>
          <a:p>
            <a:pPr marL="0" indent="0" algn="l">
              <a:lnSpc>
                <a:spcPts val="835"/>
              </a:lnSpc>
              <a:buNone/>
            </a:pPr>
            <a:r>
              <a:rPr lang="en-US" sz="619" dirty="0">
                <a:solidFill>
                  <a:srgbClr val="86EFAC"/>
                </a:solidFill>
                <a:latin typeface="Courier New" pitchFamily="34" charset="0"/>
                <a:ea typeface="Courier New" pitchFamily="34" charset="-122"/>
                <a:cs typeface="Courier New" pitchFamily="34" charset="-120"/>
              </a:rPr>
              <a:t>"imgresizer_sg"</a:t>
            </a:r>
            <a:endParaRPr lang="en-US" sz="619" dirty="0"/>
          </a:p>
        </p:txBody>
      </p:sp>
      <p:sp>
        <p:nvSpPr>
          <p:cNvPr id="57" name="Text 55"/>
          <p:cNvSpPr/>
          <p:nvPr/>
        </p:nvSpPr>
        <p:spPr>
          <a:xfrm>
            <a:off x="647635" y="4733627"/>
            <a:ext cx="284927" cy="91440"/>
          </a:xfrm>
          <a:prstGeom prst="rect">
            <a:avLst/>
          </a:prstGeom>
          <a:noFill/>
          <a:ln/>
        </p:spPr>
        <p:txBody>
          <a:bodyPr wrap="none" lIns="0" tIns="0" rIns="0" bIns="0" rtlCol="0" anchor="t"/>
          <a:lstStyle/>
          <a:p>
            <a:pPr marL="0" indent="0" algn="l">
              <a:lnSpc>
                <a:spcPts val="835"/>
              </a:lnSpc>
              <a:buNone/>
            </a:pPr>
            <a:r>
              <a:rPr lang="en-US" sz="800" dirty="0">
                <a:solidFill>
                  <a:srgbClr val="FBBF24"/>
                </a:solidFill>
                <a:latin typeface="Courier New" pitchFamily="34" charset="0"/>
                <a:ea typeface="Courier New" pitchFamily="34" charset="-122"/>
                <a:cs typeface="Courier New" pitchFamily="34" charset="-120"/>
              </a:rPr>
              <a:t>name</a:t>
            </a:r>
            <a:endParaRPr lang="en-US" sz="800" dirty="0"/>
          </a:p>
        </p:txBody>
      </p:sp>
      <p:sp>
        <p:nvSpPr>
          <p:cNvPr id="58" name="Text 56"/>
          <p:cNvSpPr/>
          <p:nvPr/>
        </p:nvSpPr>
        <p:spPr>
          <a:xfrm>
            <a:off x="1017984" y="4733627"/>
            <a:ext cx="1442752" cy="91440"/>
          </a:xfrm>
          <a:prstGeom prst="rect">
            <a:avLst/>
          </a:prstGeom>
          <a:noFill/>
          <a:ln/>
        </p:spPr>
        <p:txBody>
          <a:bodyPr wrap="none" lIns="0" tIns="0" rIns="0" bIns="0" rtlCol="0" anchor="t"/>
          <a:lstStyle/>
          <a:p>
            <a:pPr marL="0" indent="0" algn="l">
              <a:lnSpc>
                <a:spcPts val="835"/>
              </a:lnSpc>
              <a:buNone/>
            </a:pPr>
            <a:r>
              <a:rPr lang="en-US" sz="619" dirty="0">
                <a:solidFill>
                  <a:srgbClr val="86EFAC"/>
                </a:solidFill>
                <a:latin typeface="Courier New" pitchFamily="34" charset="0"/>
                <a:ea typeface="Courier New" pitchFamily="34" charset="-122"/>
                <a:cs typeface="Courier New" pitchFamily="34" charset="-120"/>
              </a:rPr>
              <a:t>"${var.environment}-imgresizer-sg"</a:t>
            </a:r>
            <a:endParaRPr lang="en-US" sz="619" dirty="0"/>
          </a:p>
        </p:txBody>
      </p:sp>
      <p:sp>
        <p:nvSpPr>
          <p:cNvPr id="59" name="Text 57"/>
          <p:cNvSpPr/>
          <p:nvPr/>
        </p:nvSpPr>
        <p:spPr>
          <a:xfrm>
            <a:off x="664369" y="4839667"/>
            <a:ext cx="337114" cy="91440"/>
          </a:xfrm>
          <a:prstGeom prst="rect">
            <a:avLst/>
          </a:prstGeom>
          <a:noFill/>
          <a:ln/>
        </p:spPr>
        <p:txBody>
          <a:bodyPr wrap="none" lIns="0" tIns="0" rIns="0" bIns="0" rtlCol="0" anchor="t"/>
          <a:lstStyle/>
          <a:p>
            <a:pPr marL="0" indent="0" algn="l">
              <a:lnSpc>
                <a:spcPts val="835"/>
              </a:lnSpc>
              <a:buNone/>
            </a:pPr>
            <a:r>
              <a:rPr lang="en-US" sz="619" dirty="0">
                <a:solidFill>
                  <a:srgbClr val="FBBF24"/>
                </a:solidFill>
                <a:latin typeface="Courier New" pitchFamily="34" charset="0"/>
                <a:ea typeface="Courier New" pitchFamily="34" charset="-122"/>
                <a:cs typeface="Courier New" pitchFamily="34" charset="-120"/>
              </a:rPr>
              <a:t>vpc_id</a:t>
            </a:r>
            <a:endParaRPr lang="en-US" sz="619" dirty="0"/>
          </a:p>
        </p:txBody>
      </p:sp>
      <p:sp>
        <p:nvSpPr>
          <p:cNvPr id="60" name="Text 58"/>
          <p:cNvSpPr/>
          <p:nvPr/>
        </p:nvSpPr>
        <p:spPr>
          <a:xfrm>
            <a:off x="1017984" y="4839667"/>
            <a:ext cx="638473" cy="91440"/>
          </a:xfrm>
          <a:prstGeom prst="rect">
            <a:avLst/>
          </a:prstGeom>
          <a:noFill/>
          <a:ln/>
        </p:spPr>
        <p:txBody>
          <a:bodyPr wrap="none" lIns="0" tIns="0" rIns="0" bIns="0" rtlCol="0" anchor="t"/>
          <a:lstStyle/>
          <a:p>
            <a:pPr marL="0" indent="0" algn="l">
              <a:lnSpc>
                <a:spcPts val="835"/>
              </a:lnSpc>
              <a:buNone/>
            </a:pPr>
            <a:r>
              <a:rPr lang="en-US" sz="619" dirty="0">
                <a:solidFill>
                  <a:srgbClr val="86EFAC"/>
                </a:solidFill>
                <a:latin typeface="Liberation Sans Narrow" pitchFamily="34" charset="0"/>
                <a:ea typeface="Liberation Sans Narrow" pitchFamily="34" charset="-122"/>
                <a:cs typeface="Liberation Sans Narrow" pitchFamily="34" charset="-120"/>
              </a:rPr>
              <a:t>"vpc-0abc123"</a:t>
            </a:r>
            <a:endParaRPr lang="en-US" sz="619" dirty="0"/>
          </a:p>
        </p:txBody>
      </p:sp>
      <p:sp>
        <p:nvSpPr>
          <p:cNvPr id="61" name="Text 59"/>
          <p:cNvSpPr/>
          <p:nvPr/>
        </p:nvSpPr>
        <p:spPr>
          <a:xfrm>
            <a:off x="664369" y="4945707"/>
            <a:ext cx="393299" cy="91440"/>
          </a:xfrm>
          <a:prstGeom prst="rect">
            <a:avLst/>
          </a:prstGeom>
          <a:noFill/>
          <a:ln/>
        </p:spPr>
        <p:txBody>
          <a:bodyPr wrap="none" lIns="0" tIns="0" rIns="0" bIns="0" rtlCol="0" anchor="t"/>
          <a:lstStyle/>
          <a:p>
            <a:pPr marL="0" indent="0" algn="l">
              <a:lnSpc>
                <a:spcPts val="835"/>
              </a:lnSpc>
              <a:buNone/>
            </a:pPr>
            <a:r>
              <a:rPr lang="en-US" sz="619" dirty="0">
                <a:solidFill>
                  <a:srgbClr val="FBBF24"/>
                </a:solidFill>
                <a:latin typeface="Courier New" pitchFamily="34" charset="0"/>
                <a:ea typeface="Courier New" pitchFamily="34" charset="-122"/>
                <a:cs typeface="Courier New" pitchFamily="34" charset="-120"/>
              </a:rPr>
              <a:t>ingress</a:t>
            </a:r>
            <a:endParaRPr lang="en-US" sz="619" dirty="0"/>
          </a:p>
        </p:txBody>
      </p:sp>
      <p:sp>
        <p:nvSpPr>
          <p:cNvPr id="62" name="Text 60"/>
          <p:cNvSpPr/>
          <p:nvPr/>
        </p:nvSpPr>
        <p:spPr>
          <a:xfrm>
            <a:off x="742950" y="5051747"/>
            <a:ext cx="505670" cy="91440"/>
          </a:xfrm>
          <a:prstGeom prst="rect">
            <a:avLst/>
          </a:prstGeom>
          <a:noFill/>
          <a:ln/>
        </p:spPr>
        <p:txBody>
          <a:bodyPr wrap="none" lIns="0" tIns="0" rIns="0" bIns="0" rtlCol="0" anchor="t"/>
          <a:lstStyle/>
          <a:p>
            <a:pPr marL="0" indent="0" algn="l">
              <a:lnSpc>
                <a:spcPts val="835"/>
              </a:lnSpc>
              <a:buNone/>
            </a:pPr>
            <a:r>
              <a:rPr lang="en-US" sz="619" dirty="0">
                <a:solidFill>
                  <a:srgbClr val="FBBF24"/>
                </a:solidFill>
                <a:latin typeface="Courier New" pitchFamily="34" charset="0"/>
                <a:ea typeface="Courier New" pitchFamily="34" charset="-122"/>
                <a:cs typeface="Courier New" pitchFamily="34" charset="-120"/>
              </a:rPr>
              <a:t>from_port</a:t>
            </a:r>
            <a:endParaRPr lang="en-US" sz="619" dirty="0"/>
          </a:p>
        </p:txBody>
      </p:sp>
      <p:sp>
        <p:nvSpPr>
          <p:cNvPr id="63" name="Text 61"/>
          <p:cNvSpPr/>
          <p:nvPr/>
        </p:nvSpPr>
        <p:spPr>
          <a:xfrm>
            <a:off x="1284642" y="5051747"/>
            <a:ext cx="142484" cy="91440"/>
          </a:xfrm>
          <a:prstGeom prst="rect">
            <a:avLst/>
          </a:prstGeom>
          <a:noFill/>
          <a:ln/>
        </p:spPr>
        <p:txBody>
          <a:bodyPr wrap="none" lIns="0" tIns="0" rIns="0" bIns="0" rtlCol="0" anchor="t"/>
          <a:lstStyle/>
          <a:p>
            <a:pPr marL="0" indent="0" algn="l">
              <a:lnSpc>
                <a:spcPts val="835"/>
              </a:lnSpc>
              <a:buNone/>
            </a:pPr>
            <a:r>
              <a:rPr lang="en-US" sz="619" dirty="0">
                <a:solidFill>
                  <a:srgbClr val="93C5FD"/>
                </a:solidFill>
                <a:latin typeface="Liberation Sans Narrow" pitchFamily="34" charset="0"/>
                <a:ea typeface="Liberation Sans Narrow" pitchFamily="34" charset="-122"/>
                <a:cs typeface="Liberation Sans Narrow" pitchFamily="34" charset="-120"/>
              </a:rPr>
              <a:t>80</a:t>
            </a:r>
            <a:endParaRPr lang="en-US" sz="619" dirty="0"/>
          </a:p>
        </p:txBody>
      </p:sp>
      <p:sp>
        <p:nvSpPr>
          <p:cNvPr id="64" name="Text 62"/>
          <p:cNvSpPr/>
          <p:nvPr/>
        </p:nvSpPr>
        <p:spPr>
          <a:xfrm>
            <a:off x="742950" y="5157788"/>
            <a:ext cx="393299" cy="91440"/>
          </a:xfrm>
          <a:prstGeom prst="rect">
            <a:avLst/>
          </a:prstGeom>
          <a:noFill/>
          <a:ln/>
        </p:spPr>
        <p:txBody>
          <a:bodyPr wrap="none" lIns="0" tIns="0" rIns="0" bIns="0" rtlCol="0" anchor="t"/>
          <a:lstStyle/>
          <a:p>
            <a:pPr marL="0" indent="0" algn="l">
              <a:lnSpc>
                <a:spcPts val="835"/>
              </a:lnSpc>
              <a:buNone/>
            </a:pPr>
            <a:r>
              <a:rPr lang="en-US" sz="619" dirty="0">
                <a:solidFill>
                  <a:srgbClr val="FBBF24"/>
                </a:solidFill>
                <a:latin typeface="Courier New" pitchFamily="34" charset="0"/>
                <a:ea typeface="Courier New" pitchFamily="34" charset="-122"/>
                <a:cs typeface="Courier New" pitchFamily="34" charset="-120"/>
              </a:rPr>
              <a:t>to_port</a:t>
            </a:r>
            <a:endParaRPr lang="en-US" sz="619" dirty="0"/>
          </a:p>
        </p:txBody>
      </p:sp>
      <p:sp>
        <p:nvSpPr>
          <p:cNvPr id="65" name="Text 63"/>
          <p:cNvSpPr/>
          <p:nvPr/>
        </p:nvSpPr>
        <p:spPr>
          <a:xfrm>
            <a:off x="1284642" y="5157788"/>
            <a:ext cx="142484" cy="91440"/>
          </a:xfrm>
          <a:prstGeom prst="rect">
            <a:avLst/>
          </a:prstGeom>
          <a:noFill/>
          <a:ln/>
        </p:spPr>
        <p:txBody>
          <a:bodyPr wrap="none" lIns="0" tIns="0" rIns="0" bIns="0" rtlCol="0" anchor="t"/>
          <a:lstStyle/>
          <a:p>
            <a:pPr marL="0" indent="0" algn="l">
              <a:lnSpc>
                <a:spcPts val="835"/>
              </a:lnSpc>
              <a:buNone/>
            </a:pPr>
            <a:r>
              <a:rPr lang="en-US" sz="619" dirty="0">
                <a:solidFill>
                  <a:srgbClr val="93C5FD"/>
                </a:solidFill>
                <a:latin typeface="Liberation Sans Narrow" pitchFamily="34" charset="0"/>
                <a:ea typeface="Liberation Sans Narrow" pitchFamily="34" charset="-122"/>
                <a:cs typeface="Liberation Sans Narrow" pitchFamily="34" charset="-120"/>
              </a:rPr>
              <a:t>80</a:t>
            </a:r>
            <a:endParaRPr lang="en-US" sz="619" dirty="0"/>
          </a:p>
        </p:txBody>
      </p:sp>
      <p:sp>
        <p:nvSpPr>
          <p:cNvPr id="66" name="Text 64"/>
          <p:cNvSpPr/>
          <p:nvPr/>
        </p:nvSpPr>
        <p:spPr>
          <a:xfrm>
            <a:off x="742950" y="5263828"/>
            <a:ext cx="449485" cy="91440"/>
          </a:xfrm>
          <a:prstGeom prst="rect">
            <a:avLst/>
          </a:prstGeom>
          <a:noFill/>
          <a:ln/>
        </p:spPr>
        <p:txBody>
          <a:bodyPr wrap="none" lIns="0" tIns="0" rIns="0" bIns="0" rtlCol="0" anchor="t"/>
          <a:lstStyle/>
          <a:p>
            <a:pPr marL="0" indent="0" algn="l">
              <a:lnSpc>
                <a:spcPts val="835"/>
              </a:lnSpc>
              <a:buNone/>
            </a:pPr>
            <a:r>
              <a:rPr lang="en-US" sz="619" dirty="0">
                <a:solidFill>
                  <a:srgbClr val="FBBF24"/>
                </a:solidFill>
                <a:latin typeface="Courier New" pitchFamily="34" charset="0"/>
                <a:ea typeface="Courier New" pitchFamily="34" charset="-122"/>
                <a:cs typeface="Courier New" pitchFamily="34" charset="-120"/>
              </a:rPr>
              <a:t>protocol</a:t>
            </a:r>
            <a:endParaRPr lang="en-US" sz="619" dirty="0"/>
          </a:p>
        </p:txBody>
      </p:sp>
      <p:sp>
        <p:nvSpPr>
          <p:cNvPr id="67" name="Text 65"/>
          <p:cNvSpPr/>
          <p:nvPr/>
        </p:nvSpPr>
        <p:spPr>
          <a:xfrm>
            <a:off x="1284939" y="5263828"/>
            <a:ext cx="330484" cy="91440"/>
          </a:xfrm>
          <a:prstGeom prst="rect">
            <a:avLst/>
          </a:prstGeom>
          <a:noFill/>
          <a:ln/>
        </p:spPr>
        <p:txBody>
          <a:bodyPr wrap="none" lIns="0" tIns="0" rIns="0" bIns="0" rtlCol="0" anchor="t"/>
          <a:lstStyle/>
          <a:p>
            <a:pPr marL="0" indent="0" algn="l">
              <a:lnSpc>
                <a:spcPts val="835"/>
              </a:lnSpc>
              <a:buNone/>
            </a:pPr>
            <a:r>
              <a:rPr lang="en-US" sz="800" dirty="0">
                <a:solidFill>
                  <a:srgbClr val="86EFAC"/>
                </a:solidFill>
                <a:latin typeface="Courier New" pitchFamily="34" charset="0"/>
                <a:ea typeface="Courier New" pitchFamily="34" charset="-122"/>
                <a:cs typeface="Courier New" pitchFamily="34" charset="-120"/>
              </a:rPr>
              <a:t>"tcp"</a:t>
            </a:r>
            <a:endParaRPr lang="en-US" sz="800" dirty="0"/>
          </a:p>
        </p:txBody>
      </p:sp>
      <p:sp>
        <p:nvSpPr>
          <p:cNvPr id="68" name="Text 66"/>
          <p:cNvSpPr/>
          <p:nvPr/>
        </p:nvSpPr>
        <p:spPr>
          <a:xfrm>
            <a:off x="737371" y="5369868"/>
            <a:ext cx="551405" cy="91440"/>
          </a:xfrm>
          <a:prstGeom prst="rect">
            <a:avLst/>
          </a:prstGeom>
          <a:noFill/>
          <a:ln/>
        </p:spPr>
        <p:txBody>
          <a:bodyPr wrap="none" lIns="0" tIns="0" rIns="0" bIns="0" rtlCol="0" anchor="t"/>
          <a:lstStyle/>
          <a:p>
            <a:pPr marL="0" indent="0" algn="l">
              <a:lnSpc>
                <a:spcPts val="835"/>
              </a:lnSpc>
              <a:buNone/>
            </a:pPr>
            <a:r>
              <a:rPr lang="en-US" sz="619" dirty="0">
                <a:solidFill>
                  <a:srgbClr val="FBBF24"/>
                </a:solidFill>
                <a:latin typeface="Courier New" pitchFamily="34" charset="0"/>
                <a:ea typeface="Courier New" pitchFamily="34" charset="-122"/>
                <a:cs typeface="Courier New" pitchFamily="34" charset="-120"/>
              </a:rPr>
              <a:t>cidr_blocks</a:t>
            </a:r>
            <a:endParaRPr lang="en-US" sz="619" dirty="0"/>
          </a:p>
        </p:txBody>
      </p:sp>
      <p:sp>
        <p:nvSpPr>
          <p:cNvPr id="69" name="Text 67"/>
          <p:cNvSpPr/>
          <p:nvPr/>
        </p:nvSpPr>
        <p:spPr>
          <a:xfrm>
            <a:off x="1332309" y="5369868"/>
            <a:ext cx="638473" cy="91440"/>
          </a:xfrm>
          <a:prstGeom prst="rect">
            <a:avLst/>
          </a:prstGeom>
          <a:noFill/>
          <a:ln/>
        </p:spPr>
        <p:txBody>
          <a:bodyPr wrap="none" lIns="0" tIns="0" rIns="0" bIns="0" rtlCol="0" anchor="t"/>
          <a:lstStyle/>
          <a:p>
            <a:pPr marL="0" indent="0" algn="l">
              <a:lnSpc>
                <a:spcPts val="835"/>
              </a:lnSpc>
              <a:buNone/>
            </a:pPr>
            <a:r>
              <a:rPr lang="en-US" sz="619" dirty="0">
                <a:solidFill>
                  <a:srgbClr val="86EFAC"/>
                </a:solidFill>
                <a:latin typeface="Liberation Sans Narrow" pitchFamily="34" charset="0"/>
                <a:ea typeface="Liberation Sans Narrow" pitchFamily="34" charset="-122"/>
                <a:cs typeface="Liberation Sans Narrow" pitchFamily="34" charset="-120"/>
              </a:rPr>
              <a:t>"10.0.1.0/24"</a:t>
            </a:r>
            <a:endParaRPr lang="en-US" sz="619" dirty="0"/>
          </a:p>
        </p:txBody>
      </p:sp>
      <p:sp>
        <p:nvSpPr>
          <p:cNvPr id="70" name="Text 68"/>
          <p:cNvSpPr/>
          <p:nvPr/>
        </p:nvSpPr>
        <p:spPr>
          <a:xfrm>
            <a:off x="1960959" y="5369868"/>
            <a:ext cx="608219" cy="91440"/>
          </a:xfrm>
          <a:prstGeom prst="rect">
            <a:avLst/>
          </a:prstGeom>
          <a:noFill/>
          <a:ln/>
        </p:spPr>
        <p:txBody>
          <a:bodyPr wrap="none" lIns="0" tIns="0" rIns="0" bIns="0" rtlCol="0" anchor="t"/>
          <a:lstStyle/>
          <a:p>
            <a:pPr marL="0" indent="0" algn="l">
              <a:lnSpc>
                <a:spcPts val="835"/>
              </a:lnSpc>
              <a:buNone/>
            </a:pPr>
            <a:r>
              <a:rPr lang="en-US" sz="619" i="1" dirty="0">
                <a:solidFill>
                  <a:srgbClr val="94A3B8"/>
                </a:solidFill>
                <a:latin typeface="Courier New" pitchFamily="34" charset="0"/>
                <a:ea typeface="Courier New" pitchFamily="34" charset="-122"/>
                <a:cs typeface="Courier New" pitchFamily="34" charset="-120"/>
              </a:rPr>
              <a:t># ALB subnet</a:t>
            </a:r>
            <a:endParaRPr lang="en-US" sz="619" dirty="0"/>
          </a:p>
        </p:txBody>
      </p:sp>
      <p:sp>
        <p:nvSpPr>
          <p:cNvPr id="71" name="Text 69"/>
          <p:cNvSpPr/>
          <p:nvPr/>
        </p:nvSpPr>
        <p:spPr>
          <a:xfrm>
            <a:off x="664369" y="5581948"/>
            <a:ext cx="393299" cy="91440"/>
          </a:xfrm>
          <a:prstGeom prst="rect">
            <a:avLst/>
          </a:prstGeom>
          <a:noFill/>
          <a:ln/>
        </p:spPr>
        <p:txBody>
          <a:bodyPr wrap="none" lIns="0" tIns="0" rIns="0" bIns="0" rtlCol="0" anchor="t"/>
          <a:lstStyle/>
          <a:p>
            <a:pPr marL="0" indent="0" algn="l">
              <a:lnSpc>
                <a:spcPts val="835"/>
              </a:lnSpc>
              <a:buNone/>
            </a:pPr>
            <a:r>
              <a:rPr lang="en-US" sz="619" dirty="0">
                <a:solidFill>
                  <a:srgbClr val="FBBF24"/>
                </a:solidFill>
                <a:latin typeface="Courier New" pitchFamily="34" charset="0"/>
                <a:ea typeface="Courier New" pitchFamily="34" charset="-122"/>
                <a:cs typeface="Courier New" pitchFamily="34" charset="-120"/>
              </a:rPr>
              <a:t>ingress</a:t>
            </a:r>
            <a:endParaRPr lang="en-US" sz="619" dirty="0"/>
          </a:p>
        </p:txBody>
      </p:sp>
      <p:sp>
        <p:nvSpPr>
          <p:cNvPr id="72" name="Text 70"/>
          <p:cNvSpPr/>
          <p:nvPr/>
        </p:nvSpPr>
        <p:spPr>
          <a:xfrm>
            <a:off x="742950" y="5687988"/>
            <a:ext cx="505670" cy="91440"/>
          </a:xfrm>
          <a:prstGeom prst="rect">
            <a:avLst/>
          </a:prstGeom>
          <a:noFill/>
          <a:ln/>
        </p:spPr>
        <p:txBody>
          <a:bodyPr wrap="none" lIns="0" tIns="0" rIns="0" bIns="0" rtlCol="0" anchor="t"/>
          <a:lstStyle/>
          <a:p>
            <a:pPr marL="0" indent="0" algn="l">
              <a:lnSpc>
                <a:spcPts val="835"/>
              </a:lnSpc>
              <a:buNone/>
            </a:pPr>
            <a:r>
              <a:rPr lang="en-US" sz="619" dirty="0">
                <a:solidFill>
                  <a:srgbClr val="FBBF24"/>
                </a:solidFill>
                <a:latin typeface="Courier New" pitchFamily="34" charset="0"/>
                <a:ea typeface="Courier New" pitchFamily="34" charset="-122"/>
                <a:cs typeface="Courier New" pitchFamily="34" charset="-120"/>
              </a:rPr>
              <a:t>from_port</a:t>
            </a:r>
            <a:endParaRPr lang="en-US" sz="619" dirty="0"/>
          </a:p>
        </p:txBody>
      </p:sp>
      <p:sp>
        <p:nvSpPr>
          <p:cNvPr id="73" name="Text 71"/>
          <p:cNvSpPr/>
          <p:nvPr/>
        </p:nvSpPr>
        <p:spPr>
          <a:xfrm>
            <a:off x="1284642" y="5687988"/>
            <a:ext cx="142484" cy="91440"/>
          </a:xfrm>
          <a:prstGeom prst="rect">
            <a:avLst/>
          </a:prstGeom>
          <a:noFill/>
          <a:ln/>
        </p:spPr>
        <p:txBody>
          <a:bodyPr wrap="none" lIns="0" tIns="0" rIns="0" bIns="0" rtlCol="0" anchor="t"/>
          <a:lstStyle/>
          <a:p>
            <a:pPr marL="0" indent="0" algn="l">
              <a:lnSpc>
                <a:spcPts val="835"/>
              </a:lnSpc>
              <a:buNone/>
            </a:pPr>
            <a:r>
              <a:rPr lang="en-US" sz="619" dirty="0">
                <a:solidFill>
                  <a:srgbClr val="93C5FD"/>
                </a:solidFill>
                <a:latin typeface="Liberation Sans Narrow" pitchFamily="34" charset="0"/>
                <a:ea typeface="Liberation Sans Narrow" pitchFamily="34" charset="-122"/>
                <a:cs typeface="Liberation Sans Narrow" pitchFamily="34" charset="-120"/>
              </a:rPr>
              <a:t>22</a:t>
            </a:r>
            <a:endParaRPr lang="en-US" sz="619" dirty="0"/>
          </a:p>
        </p:txBody>
      </p:sp>
      <p:sp>
        <p:nvSpPr>
          <p:cNvPr id="74" name="Text 72"/>
          <p:cNvSpPr/>
          <p:nvPr/>
        </p:nvSpPr>
        <p:spPr>
          <a:xfrm>
            <a:off x="742950" y="5794028"/>
            <a:ext cx="393299" cy="91440"/>
          </a:xfrm>
          <a:prstGeom prst="rect">
            <a:avLst/>
          </a:prstGeom>
          <a:noFill/>
          <a:ln/>
        </p:spPr>
        <p:txBody>
          <a:bodyPr wrap="none" lIns="0" tIns="0" rIns="0" bIns="0" rtlCol="0" anchor="t"/>
          <a:lstStyle/>
          <a:p>
            <a:pPr marL="0" indent="0" algn="l">
              <a:lnSpc>
                <a:spcPts val="835"/>
              </a:lnSpc>
              <a:buNone/>
            </a:pPr>
            <a:r>
              <a:rPr lang="en-US" sz="619" dirty="0">
                <a:solidFill>
                  <a:srgbClr val="FBBF24"/>
                </a:solidFill>
                <a:latin typeface="Courier New" pitchFamily="34" charset="0"/>
                <a:ea typeface="Courier New" pitchFamily="34" charset="-122"/>
                <a:cs typeface="Courier New" pitchFamily="34" charset="-120"/>
              </a:rPr>
              <a:t>to_port</a:t>
            </a:r>
            <a:endParaRPr lang="en-US" sz="619" dirty="0"/>
          </a:p>
        </p:txBody>
      </p:sp>
      <p:sp>
        <p:nvSpPr>
          <p:cNvPr id="75" name="Text 73"/>
          <p:cNvSpPr/>
          <p:nvPr/>
        </p:nvSpPr>
        <p:spPr>
          <a:xfrm>
            <a:off x="1284642" y="5794028"/>
            <a:ext cx="142484" cy="91440"/>
          </a:xfrm>
          <a:prstGeom prst="rect">
            <a:avLst/>
          </a:prstGeom>
          <a:noFill/>
          <a:ln/>
        </p:spPr>
        <p:txBody>
          <a:bodyPr wrap="none" lIns="0" tIns="0" rIns="0" bIns="0" rtlCol="0" anchor="t"/>
          <a:lstStyle/>
          <a:p>
            <a:pPr marL="0" indent="0" algn="l">
              <a:lnSpc>
                <a:spcPts val="835"/>
              </a:lnSpc>
              <a:buNone/>
            </a:pPr>
            <a:r>
              <a:rPr lang="en-US" sz="619" dirty="0">
                <a:solidFill>
                  <a:srgbClr val="93C5FD"/>
                </a:solidFill>
                <a:latin typeface="Liberation Sans Narrow" pitchFamily="34" charset="0"/>
                <a:ea typeface="Liberation Sans Narrow" pitchFamily="34" charset="-122"/>
                <a:cs typeface="Liberation Sans Narrow" pitchFamily="34" charset="-120"/>
              </a:rPr>
              <a:t>22</a:t>
            </a:r>
            <a:endParaRPr lang="en-US" sz="619" dirty="0"/>
          </a:p>
        </p:txBody>
      </p:sp>
      <p:sp>
        <p:nvSpPr>
          <p:cNvPr id="76" name="Text 74"/>
          <p:cNvSpPr/>
          <p:nvPr/>
        </p:nvSpPr>
        <p:spPr>
          <a:xfrm>
            <a:off x="742950" y="5900068"/>
            <a:ext cx="449485" cy="91440"/>
          </a:xfrm>
          <a:prstGeom prst="rect">
            <a:avLst/>
          </a:prstGeom>
          <a:noFill/>
          <a:ln/>
        </p:spPr>
        <p:txBody>
          <a:bodyPr wrap="none" lIns="0" tIns="0" rIns="0" bIns="0" rtlCol="0" anchor="t"/>
          <a:lstStyle/>
          <a:p>
            <a:pPr marL="0" indent="0" algn="l">
              <a:lnSpc>
                <a:spcPts val="835"/>
              </a:lnSpc>
              <a:buNone/>
            </a:pPr>
            <a:r>
              <a:rPr lang="en-US" sz="619" dirty="0">
                <a:solidFill>
                  <a:srgbClr val="FBBF24"/>
                </a:solidFill>
                <a:latin typeface="Courier New" pitchFamily="34" charset="0"/>
                <a:ea typeface="Courier New" pitchFamily="34" charset="-122"/>
                <a:cs typeface="Courier New" pitchFamily="34" charset="-120"/>
              </a:rPr>
              <a:t>protocol</a:t>
            </a:r>
            <a:endParaRPr lang="en-US" sz="619" dirty="0"/>
          </a:p>
        </p:txBody>
      </p:sp>
      <p:sp>
        <p:nvSpPr>
          <p:cNvPr id="77" name="Text 75"/>
          <p:cNvSpPr/>
          <p:nvPr/>
        </p:nvSpPr>
        <p:spPr>
          <a:xfrm>
            <a:off x="1284939" y="5900068"/>
            <a:ext cx="330484" cy="91440"/>
          </a:xfrm>
          <a:prstGeom prst="rect">
            <a:avLst/>
          </a:prstGeom>
          <a:noFill/>
          <a:ln/>
        </p:spPr>
        <p:txBody>
          <a:bodyPr wrap="none" lIns="0" tIns="0" rIns="0" bIns="0" rtlCol="0" anchor="t"/>
          <a:lstStyle/>
          <a:p>
            <a:pPr marL="0" indent="0" algn="l">
              <a:lnSpc>
                <a:spcPts val="835"/>
              </a:lnSpc>
              <a:buNone/>
            </a:pPr>
            <a:r>
              <a:rPr lang="en-US" sz="800" dirty="0">
                <a:solidFill>
                  <a:srgbClr val="86EFAC"/>
                </a:solidFill>
                <a:latin typeface="Courier New" pitchFamily="34" charset="0"/>
                <a:ea typeface="Courier New" pitchFamily="34" charset="-122"/>
                <a:cs typeface="Courier New" pitchFamily="34" charset="-120"/>
              </a:rPr>
              <a:t>"tcp"</a:t>
            </a:r>
            <a:endParaRPr lang="en-US" sz="800" dirty="0"/>
          </a:p>
        </p:txBody>
      </p:sp>
      <p:sp>
        <p:nvSpPr>
          <p:cNvPr id="78" name="Text 76"/>
          <p:cNvSpPr/>
          <p:nvPr/>
        </p:nvSpPr>
        <p:spPr>
          <a:xfrm>
            <a:off x="737371" y="6006108"/>
            <a:ext cx="551405" cy="91440"/>
          </a:xfrm>
          <a:prstGeom prst="rect">
            <a:avLst/>
          </a:prstGeom>
          <a:noFill/>
          <a:ln/>
        </p:spPr>
        <p:txBody>
          <a:bodyPr wrap="none" lIns="0" tIns="0" rIns="0" bIns="0" rtlCol="0" anchor="t"/>
          <a:lstStyle/>
          <a:p>
            <a:pPr marL="0" indent="0" algn="l">
              <a:lnSpc>
                <a:spcPts val="835"/>
              </a:lnSpc>
              <a:buNone/>
            </a:pPr>
            <a:r>
              <a:rPr lang="en-US" sz="619" dirty="0">
                <a:solidFill>
                  <a:srgbClr val="FBBF24"/>
                </a:solidFill>
                <a:latin typeface="Courier New" pitchFamily="34" charset="0"/>
                <a:ea typeface="Courier New" pitchFamily="34" charset="-122"/>
                <a:cs typeface="Courier New" pitchFamily="34" charset="-120"/>
              </a:rPr>
              <a:t>cidr_blocks</a:t>
            </a:r>
            <a:endParaRPr lang="en-US" sz="619" dirty="0"/>
          </a:p>
        </p:txBody>
      </p:sp>
      <p:sp>
        <p:nvSpPr>
          <p:cNvPr id="79" name="Text 77"/>
          <p:cNvSpPr/>
          <p:nvPr/>
        </p:nvSpPr>
        <p:spPr>
          <a:xfrm>
            <a:off x="1315587" y="6006108"/>
            <a:ext cx="622804" cy="91440"/>
          </a:xfrm>
          <a:prstGeom prst="rect">
            <a:avLst/>
          </a:prstGeom>
          <a:noFill/>
          <a:ln/>
        </p:spPr>
        <p:txBody>
          <a:bodyPr wrap="none" lIns="0" tIns="0" rIns="0" bIns="0" rtlCol="0" anchor="t"/>
          <a:lstStyle/>
          <a:p>
            <a:pPr marL="0" indent="0" algn="l">
              <a:lnSpc>
                <a:spcPts val="835"/>
              </a:lnSpc>
              <a:buNone/>
            </a:pPr>
            <a:r>
              <a:rPr lang="en-US" sz="619" dirty="0">
                <a:solidFill>
                  <a:srgbClr val="86EFAC"/>
                </a:solidFill>
                <a:latin typeface="Liberation Sans Narrow" pitchFamily="34" charset="0"/>
                <a:ea typeface="Liberation Sans Narrow" pitchFamily="34" charset="-122"/>
                <a:cs typeface="Liberation Sans Narrow" pitchFamily="34" charset="-120"/>
              </a:rPr>
              <a:t>"10.0.0.0/8"</a:t>
            </a:r>
            <a:endParaRPr lang="en-US" sz="619" dirty="0"/>
          </a:p>
        </p:txBody>
      </p:sp>
      <p:sp>
        <p:nvSpPr>
          <p:cNvPr id="80" name="Text 78"/>
          <p:cNvSpPr/>
          <p:nvPr/>
        </p:nvSpPr>
        <p:spPr>
          <a:xfrm>
            <a:off x="1921669" y="6006108"/>
            <a:ext cx="709589" cy="91440"/>
          </a:xfrm>
          <a:prstGeom prst="rect">
            <a:avLst/>
          </a:prstGeom>
          <a:noFill/>
          <a:ln/>
        </p:spPr>
        <p:txBody>
          <a:bodyPr wrap="none" lIns="0" tIns="0" rIns="0" bIns="0" rtlCol="0" anchor="t"/>
          <a:lstStyle/>
          <a:p>
            <a:pPr marL="0" indent="0" algn="l">
              <a:lnSpc>
                <a:spcPts val="835"/>
              </a:lnSpc>
              <a:buNone/>
            </a:pPr>
            <a:r>
              <a:rPr lang="en-US" sz="619" i="1" dirty="0">
                <a:solidFill>
                  <a:srgbClr val="94A3B8"/>
                </a:solidFill>
                <a:latin typeface="Courier New" pitchFamily="34" charset="0"/>
                <a:ea typeface="Courier New" pitchFamily="34" charset="-122"/>
                <a:cs typeface="Courier New" pitchFamily="34" charset="-120"/>
              </a:rPr>
              <a:t># bastion only</a:t>
            </a:r>
            <a:endParaRPr lang="en-US" sz="619" dirty="0"/>
          </a:p>
        </p:txBody>
      </p:sp>
      <p:sp>
        <p:nvSpPr>
          <p:cNvPr id="81" name="Text 79"/>
          <p:cNvSpPr/>
          <p:nvPr/>
        </p:nvSpPr>
        <p:spPr>
          <a:xfrm>
            <a:off x="664369" y="6218188"/>
            <a:ext cx="337114" cy="91440"/>
          </a:xfrm>
          <a:prstGeom prst="rect">
            <a:avLst/>
          </a:prstGeom>
          <a:noFill/>
          <a:ln/>
        </p:spPr>
        <p:txBody>
          <a:bodyPr wrap="none" lIns="0" tIns="0" rIns="0" bIns="0" rtlCol="0" anchor="t"/>
          <a:lstStyle/>
          <a:p>
            <a:pPr marL="0" indent="0" algn="l">
              <a:lnSpc>
                <a:spcPts val="835"/>
              </a:lnSpc>
              <a:buNone/>
            </a:pPr>
            <a:r>
              <a:rPr lang="en-US" sz="619" dirty="0">
                <a:solidFill>
                  <a:srgbClr val="FBBF24"/>
                </a:solidFill>
                <a:latin typeface="Courier New" pitchFamily="34" charset="0"/>
                <a:ea typeface="Courier New" pitchFamily="34" charset="-122"/>
                <a:cs typeface="Courier New" pitchFamily="34" charset="-120"/>
              </a:rPr>
              <a:t>egress</a:t>
            </a:r>
            <a:endParaRPr lang="en-US" sz="619" dirty="0"/>
          </a:p>
        </p:txBody>
      </p:sp>
      <p:sp>
        <p:nvSpPr>
          <p:cNvPr id="82" name="Text 80"/>
          <p:cNvSpPr/>
          <p:nvPr/>
        </p:nvSpPr>
        <p:spPr>
          <a:xfrm>
            <a:off x="742950" y="6324228"/>
            <a:ext cx="505670" cy="91440"/>
          </a:xfrm>
          <a:prstGeom prst="rect">
            <a:avLst/>
          </a:prstGeom>
          <a:noFill/>
          <a:ln/>
        </p:spPr>
        <p:txBody>
          <a:bodyPr wrap="none" lIns="0" tIns="0" rIns="0" bIns="0" rtlCol="0" anchor="t"/>
          <a:lstStyle/>
          <a:p>
            <a:pPr marL="0" indent="0" algn="l">
              <a:lnSpc>
                <a:spcPts val="835"/>
              </a:lnSpc>
              <a:buNone/>
            </a:pPr>
            <a:r>
              <a:rPr lang="en-US" sz="619" dirty="0">
                <a:solidFill>
                  <a:srgbClr val="FBBF24"/>
                </a:solidFill>
                <a:latin typeface="Courier New" pitchFamily="34" charset="0"/>
                <a:ea typeface="Courier New" pitchFamily="34" charset="-122"/>
                <a:cs typeface="Courier New" pitchFamily="34" charset="-120"/>
              </a:rPr>
              <a:t>from_port</a:t>
            </a:r>
            <a:endParaRPr lang="en-US" sz="619" dirty="0"/>
          </a:p>
        </p:txBody>
      </p:sp>
      <p:sp>
        <p:nvSpPr>
          <p:cNvPr id="83" name="Text 81"/>
          <p:cNvSpPr/>
          <p:nvPr/>
        </p:nvSpPr>
        <p:spPr>
          <a:xfrm>
            <a:off x="1214438" y="6324228"/>
            <a:ext cx="91440" cy="91440"/>
          </a:xfrm>
          <a:prstGeom prst="rect">
            <a:avLst/>
          </a:prstGeom>
          <a:noFill/>
          <a:ln/>
        </p:spPr>
        <p:txBody>
          <a:bodyPr wrap="none" lIns="0" tIns="0" rIns="0" bIns="0" rtlCol="0" anchor="t"/>
          <a:lstStyle/>
          <a:p>
            <a:pPr marL="0" indent="0" algn="l">
              <a:lnSpc>
                <a:spcPts val="835"/>
              </a:lnSpc>
              <a:buNone/>
            </a:pPr>
            <a:r>
              <a:rPr lang="en-US" sz="800" dirty="0">
                <a:solidFill>
                  <a:srgbClr val="93C5FD"/>
                </a:solidFill>
                <a:latin typeface="Liberation Sans Narrow" pitchFamily="34" charset="0"/>
                <a:ea typeface="Liberation Sans Narrow" pitchFamily="34" charset="-122"/>
                <a:cs typeface="Liberation Sans Narrow" pitchFamily="34" charset="-120"/>
              </a:rPr>
              <a:t>0</a:t>
            </a:r>
            <a:endParaRPr lang="en-US" sz="800" dirty="0"/>
          </a:p>
        </p:txBody>
      </p:sp>
      <p:sp>
        <p:nvSpPr>
          <p:cNvPr id="84" name="Text 82"/>
          <p:cNvSpPr/>
          <p:nvPr/>
        </p:nvSpPr>
        <p:spPr>
          <a:xfrm>
            <a:off x="1332309" y="6324228"/>
            <a:ext cx="393299" cy="91440"/>
          </a:xfrm>
          <a:prstGeom prst="rect">
            <a:avLst/>
          </a:prstGeom>
          <a:noFill/>
          <a:ln/>
        </p:spPr>
        <p:txBody>
          <a:bodyPr wrap="none" lIns="0" tIns="0" rIns="0" bIns="0" rtlCol="0" anchor="t"/>
          <a:lstStyle/>
          <a:p>
            <a:pPr marL="0" indent="0" algn="l">
              <a:lnSpc>
                <a:spcPts val="835"/>
              </a:lnSpc>
              <a:buNone/>
            </a:pPr>
            <a:r>
              <a:rPr lang="en-US" sz="619" dirty="0">
                <a:solidFill>
                  <a:srgbClr val="FBBF24"/>
                </a:solidFill>
                <a:latin typeface="Courier New" pitchFamily="34" charset="0"/>
                <a:ea typeface="Courier New" pitchFamily="34" charset="-122"/>
                <a:cs typeface="Courier New" pitchFamily="34" charset="-120"/>
              </a:rPr>
              <a:t>to_port</a:t>
            </a:r>
            <a:endParaRPr lang="en-US" sz="619" dirty="0"/>
          </a:p>
        </p:txBody>
      </p:sp>
      <p:sp>
        <p:nvSpPr>
          <p:cNvPr id="85" name="Text 83"/>
          <p:cNvSpPr/>
          <p:nvPr/>
        </p:nvSpPr>
        <p:spPr>
          <a:xfrm>
            <a:off x="1725216" y="6324228"/>
            <a:ext cx="91440" cy="91440"/>
          </a:xfrm>
          <a:prstGeom prst="rect">
            <a:avLst/>
          </a:prstGeom>
          <a:noFill/>
          <a:ln/>
        </p:spPr>
        <p:txBody>
          <a:bodyPr wrap="none" lIns="0" tIns="0" rIns="0" bIns="0" rtlCol="0" anchor="t"/>
          <a:lstStyle/>
          <a:p>
            <a:pPr marL="0" indent="0" algn="l">
              <a:lnSpc>
                <a:spcPts val="835"/>
              </a:lnSpc>
              <a:buNone/>
            </a:pPr>
            <a:r>
              <a:rPr lang="en-US" sz="800" dirty="0">
                <a:solidFill>
                  <a:srgbClr val="93C5FD"/>
                </a:solidFill>
                <a:latin typeface="Liberation Sans Narrow" pitchFamily="34" charset="0"/>
                <a:ea typeface="Liberation Sans Narrow" pitchFamily="34" charset="-122"/>
                <a:cs typeface="Liberation Sans Narrow" pitchFamily="34" charset="-120"/>
              </a:rPr>
              <a:t>0</a:t>
            </a:r>
            <a:endParaRPr lang="en-US" sz="800" dirty="0"/>
          </a:p>
        </p:txBody>
      </p:sp>
      <p:sp>
        <p:nvSpPr>
          <p:cNvPr id="86" name="Text 84"/>
          <p:cNvSpPr/>
          <p:nvPr/>
        </p:nvSpPr>
        <p:spPr>
          <a:xfrm>
            <a:off x="1843088" y="6324228"/>
            <a:ext cx="449485" cy="91440"/>
          </a:xfrm>
          <a:prstGeom prst="rect">
            <a:avLst/>
          </a:prstGeom>
          <a:noFill/>
          <a:ln/>
        </p:spPr>
        <p:txBody>
          <a:bodyPr wrap="none" lIns="0" tIns="0" rIns="0" bIns="0" rtlCol="0" anchor="t"/>
          <a:lstStyle/>
          <a:p>
            <a:pPr marL="0" indent="0" algn="l">
              <a:lnSpc>
                <a:spcPts val="835"/>
              </a:lnSpc>
              <a:buNone/>
            </a:pPr>
            <a:r>
              <a:rPr lang="en-US" sz="619" dirty="0">
                <a:solidFill>
                  <a:srgbClr val="FBBF24"/>
                </a:solidFill>
                <a:latin typeface="Courier New" pitchFamily="34" charset="0"/>
                <a:ea typeface="Courier New" pitchFamily="34" charset="-122"/>
                <a:cs typeface="Courier New" pitchFamily="34" charset="-120"/>
              </a:rPr>
              <a:t>protocol</a:t>
            </a:r>
            <a:endParaRPr lang="en-US" sz="619" dirty="0"/>
          </a:p>
        </p:txBody>
      </p:sp>
      <p:sp>
        <p:nvSpPr>
          <p:cNvPr id="87" name="Text 85"/>
          <p:cNvSpPr/>
          <p:nvPr/>
        </p:nvSpPr>
        <p:spPr>
          <a:xfrm>
            <a:off x="2265145" y="6324228"/>
            <a:ext cx="271739" cy="91440"/>
          </a:xfrm>
          <a:prstGeom prst="rect">
            <a:avLst/>
          </a:prstGeom>
          <a:noFill/>
          <a:ln/>
        </p:spPr>
        <p:txBody>
          <a:bodyPr wrap="none" lIns="0" tIns="0" rIns="0" bIns="0" rtlCol="0" anchor="t"/>
          <a:lstStyle/>
          <a:p>
            <a:pPr marL="0" indent="0" algn="l">
              <a:lnSpc>
                <a:spcPts val="835"/>
              </a:lnSpc>
              <a:buNone/>
            </a:pPr>
            <a:r>
              <a:rPr lang="en-US" sz="800" dirty="0">
                <a:solidFill>
                  <a:srgbClr val="86EFAC"/>
                </a:solidFill>
                <a:latin typeface="Courier New" pitchFamily="34" charset="0"/>
                <a:ea typeface="Courier New" pitchFamily="34" charset="-122"/>
                <a:cs typeface="Courier New" pitchFamily="34" charset="-120"/>
              </a:rPr>
              <a:t>"-1"</a:t>
            </a:r>
            <a:endParaRPr lang="en-US" sz="800" dirty="0"/>
          </a:p>
        </p:txBody>
      </p:sp>
      <p:sp>
        <p:nvSpPr>
          <p:cNvPr id="88" name="Text 86"/>
          <p:cNvSpPr/>
          <p:nvPr/>
        </p:nvSpPr>
        <p:spPr>
          <a:xfrm>
            <a:off x="737371" y="6430268"/>
            <a:ext cx="551405" cy="91440"/>
          </a:xfrm>
          <a:prstGeom prst="rect">
            <a:avLst/>
          </a:prstGeom>
          <a:noFill/>
          <a:ln/>
        </p:spPr>
        <p:txBody>
          <a:bodyPr wrap="none" lIns="0" tIns="0" rIns="0" bIns="0" rtlCol="0" anchor="t"/>
          <a:lstStyle/>
          <a:p>
            <a:pPr marL="0" indent="0" algn="l">
              <a:lnSpc>
                <a:spcPts val="835"/>
              </a:lnSpc>
              <a:buNone/>
            </a:pPr>
            <a:r>
              <a:rPr lang="en-US" sz="619" dirty="0">
                <a:solidFill>
                  <a:srgbClr val="FBBF24"/>
                </a:solidFill>
                <a:latin typeface="Courier New" pitchFamily="34" charset="0"/>
                <a:ea typeface="Courier New" pitchFamily="34" charset="-122"/>
                <a:cs typeface="Courier New" pitchFamily="34" charset="-120"/>
              </a:rPr>
              <a:t>cidr_blocks</a:t>
            </a:r>
            <a:endParaRPr lang="en-US" sz="619" dirty="0"/>
          </a:p>
        </p:txBody>
      </p:sp>
      <p:sp>
        <p:nvSpPr>
          <p:cNvPr id="89" name="Text 87"/>
          <p:cNvSpPr/>
          <p:nvPr/>
        </p:nvSpPr>
        <p:spPr>
          <a:xfrm>
            <a:off x="1319776" y="6430268"/>
            <a:ext cx="565314" cy="91440"/>
          </a:xfrm>
          <a:prstGeom prst="rect">
            <a:avLst/>
          </a:prstGeom>
          <a:noFill/>
          <a:ln/>
        </p:spPr>
        <p:txBody>
          <a:bodyPr wrap="none" lIns="0" tIns="0" rIns="0" bIns="0" rtlCol="0" anchor="t"/>
          <a:lstStyle/>
          <a:p>
            <a:pPr marL="0" indent="0" algn="l">
              <a:lnSpc>
                <a:spcPts val="835"/>
              </a:lnSpc>
              <a:buNone/>
            </a:pPr>
            <a:r>
              <a:rPr lang="en-US" sz="619" dirty="0">
                <a:solidFill>
                  <a:srgbClr val="86EFAC"/>
                </a:solidFill>
                <a:latin typeface="Liberation Sans Narrow" pitchFamily="34" charset="0"/>
                <a:ea typeface="Liberation Sans Narrow" pitchFamily="34" charset="-122"/>
                <a:cs typeface="Liberation Sans Narrow" pitchFamily="34" charset="-120"/>
              </a:rPr>
              <a:t>"0.0.0.0/0"</a:t>
            </a:r>
            <a:endParaRPr lang="en-US" sz="619" dirty="0"/>
          </a:p>
        </p:txBody>
      </p:sp>
      <p:sp>
        <p:nvSpPr>
          <p:cNvPr id="90" name="Text 88"/>
          <p:cNvSpPr/>
          <p:nvPr/>
        </p:nvSpPr>
        <p:spPr>
          <a:xfrm>
            <a:off x="585788" y="6854428"/>
            <a:ext cx="1400318" cy="91440"/>
          </a:xfrm>
          <a:prstGeom prst="rect">
            <a:avLst/>
          </a:prstGeom>
          <a:noFill/>
          <a:ln/>
        </p:spPr>
        <p:txBody>
          <a:bodyPr wrap="none" lIns="0" tIns="0" rIns="0" bIns="0" rtlCol="0" anchor="t"/>
          <a:lstStyle/>
          <a:p>
            <a:pPr marL="0" indent="0" algn="l">
              <a:lnSpc>
                <a:spcPts val="835"/>
              </a:lnSpc>
              <a:buNone/>
            </a:pPr>
            <a:r>
              <a:rPr lang="en-US" sz="619" i="1" dirty="0">
                <a:solidFill>
                  <a:srgbClr val="94A3B8"/>
                </a:solidFill>
                <a:latin typeface="Liberation Sans Narrow" pitchFamily="34" charset="0"/>
                <a:ea typeface="Liberation Sans Narrow" pitchFamily="34" charset="-122"/>
                <a:cs typeface="Liberation Sans Narrow" pitchFamily="34" charset="-120"/>
              </a:rPr>
              <a:t># IAM role + policy for S3 access</a:t>
            </a:r>
            <a:endParaRPr lang="en-US" sz="619" dirty="0"/>
          </a:p>
        </p:txBody>
      </p:sp>
      <p:sp>
        <p:nvSpPr>
          <p:cNvPr id="91" name="Text 89"/>
          <p:cNvSpPr/>
          <p:nvPr/>
        </p:nvSpPr>
        <p:spPr>
          <a:xfrm>
            <a:off x="585788" y="6960468"/>
            <a:ext cx="449485" cy="91440"/>
          </a:xfrm>
          <a:prstGeom prst="rect">
            <a:avLst/>
          </a:prstGeom>
          <a:noFill/>
          <a:ln/>
        </p:spPr>
        <p:txBody>
          <a:bodyPr wrap="none" lIns="0" tIns="0" rIns="0" bIns="0" rtlCol="0" anchor="t"/>
          <a:lstStyle/>
          <a:p>
            <a:pPr marL="0" indent="0" algn="l">
              <a:lnSpc>
                <a:spcPts val="835"/>
              </a:lnSpc>
              <a:buNone/>
            </a:pPr>
            <a:r>
              <a:rPr lang="en-US" sz="619" dirty="0">
                <a:solidFill>
                  <a:srgbClr val="FBBF24"/>
                </a:solidFill>
                <a:latin typeface="Courier New" pitchFamily="34" charset="0"/>
                <a:ea typeface="Courier New" pitchFamily="34" charset="-122"/>
                <a:cs typeface="Courier New" pitchFamily="34" charset="-120"/>
              </a:rPr>
              <a:t>resource</a:t>
            </a:r>
            <a:endParaRPr lang="en-US" sz="619" dirty="0"/>
          </a:p>
        </p:txBody>
      </p:sp>
      <p:sp>
        <p:nvSpPr>
          <p:cNvPr id="92" name="Text 90"/>
          <p:cNvSpPr/>
          <p:nvPr/>
        </p:nvSpPr>
        <p:spPr>
          <a:xfrm>
            <a:off x="939403" y="6960468"/>
            <a:ext cx="687586" cy="91440"/>
          </a:xfrm>
          <a:prstGeom prst="rect">
            <a:avLst/>
          </a:prstGeom>
          <a:noFill/>
          <a:ln/>
        </p:spPr>
        <p:txBody>
          <a:bodyPr wrap="none" lIns="0" tIns="0" rIns="0" bIns="0" rtlCol="0" anchor="t"/>
          <a:lstStyle/>
          <a:p>
            <a:pPr marL="0" indent="0" algn="l">
              <a:lnSpc>
                <a:spcPts val="835"/>
              </a:lnSpc>
              <a:buNone/>
            </a:pPr>
            <a:r>
              <a:rPr lang="en-US" sz="619" dirty="0">
                <a:solidFill>
                  <a:srgbClr val="86EFAC"/>
                </a:solidFill>
                <a:latin typeface="Courier New" pitchFamily="34" charset="0"/>
                <a:ea typeface="Courier New" pitchFamily="34" charset="-122"/>
                <a:cs typeface="Courier New" pitchFamily="34" charset="-120"/>
              </a:rPr>
              <a:t>"aws_iam_role"</a:t>
            </a:r>
            <a:endParaRPr lang="en-US" sz="619" dirty="0"/>
          </a:p>
        </p:txBody>
      </p:sp>
      <p:sp>
        <p:nvSpPr>
          <p:cNvPr id="93" name="Text 91"/>
          <p:cNvSpPr/>
          <p:nvPr/>
        </p:nvSpPr>
        <p:spPr>
          <a:xfrm>
            <a:off x="1526877" y="6960468"/>
            <a:ext cx="593131" cy="91440"/>
          </a:xfrm>
          <a:prstGeom prst="rect">
            <a:avLst/>
          </a:prstGeom>
          <a:noFill/>
          <a:ln/>
        </p:spPr>
        <p:txBody>
          <a:bodyPr wrap="none" lIns="0" tIns="0" rIns="0" bIns="0" rtlCol="0" anchor="t"/>
          <a:lstStyle/>
          <a:p>
            <a:pPr marL="0" indent="0" algn="l">
              <a:lnSpc>
                <a:spcPts val="835"/>
              </a:lnSpc>
              <a:buNone/>
            </a:pPr>
            <a:r>
              <a:rPr lang="en-US" sz="619" dirty="0">
                <a:solidFill>
                  <a:srgbClr val="86EFAC"/>
                </a:solidFill>
                <a:latin typeface="Courier New" pitchFamily="34" charset="0"/>
                <a:ea typeface="Courier New" pitchFamily="34" charset="-122"/>
                <a:cs typeface="Courier New" pitchFamily="34" charset="-120"/>
              </a:rPr>
              <a:t>"imgresizer"</a:t>
            </a:r>
            <a:endParaRPr lang="en-US" sz="619" dirty="0"/>
          </a:p>
        </p:txBody>
      </p:sp>
      <p:sp>
        <p:nvSpPr>
          <p:cNvPr id="94" name="Text 92"/>
          <p:cNvSpPr/>
          <p:nvPr/>
        </p:nvSpPr>
        <p:spPr>
          <a:xfrm>
            <a:off x="647635" y="7066508"/>
            <a:ext cx="284927" cy="91440"/>
          </a:xfrm>
          <a:prstGeom prst="rect">
            <a:avLst/>
          </a:prstGeom>
          <a:noFill/>
          <a:ln/>
        </p:spPr>
        <p:txBody>
          <a:bodyPr wrap="none" lIns="0" tIns="0" rIns="0" bIns="0" rtlCol="0" anchor="t"/>
          <a:lstStyle/>
          <a:p>
            <a:pPr marL="0" indent="0" algn="l">
              <a:lnSpc>
                <a:spcPts val="835"/>
              </a:lnSpc>
              <a:buNone/>
            </a:pPr>
            <a:r>
              <a:rPr lang="en-US" sz="800" dirty="0">
                <a:solidFill>
                  <a:srgbClr val="FBBF24"/>
                </a:solidFill>
                <a:latin typeface="Courier New" pitchFamily="34" charset="0"/>
                <a:ea typeface="Courier New" pitchFamily="34" charset="-122"/>
                <a:cs typeface="Courier New" pitchFamily="34" charset="-120"/>
              </a:rPr>
              <a:t>name</a:t>
            </a:r>
            <a:endParaRPr lang="en-US" sz="800" dirty="0"/>
          </a:p>
        </p:txBody>
      </p:sp>
      <p:sp>
        <p:nvSpPr>
          <p:cNvPr id="95" name="Text 93"/>
          <p:cNvSpPr/>
          <p:nvPr/>
        </p:nvSpPr>
        <p:spPr>
          <a:xfrm>
            <a:off x="939403" y="7066508"/>
            <a:ext cx="1527620" cy="91440"/>
          </a:xfrm>
          <a:prstGeom prst="rect">
            <a:avLst/>
          </a:prstGeom>
          <a:noFill/>
          <a:ln/>
        </p:spPr>
        <p:txBody>
          <a:bodyPr wrap="none" lIns="0" tIns="0" rIns="0" bIns="0" rtlCol="0" anchor="t"/>
          <a:lstStyle/>
          <a:p>
            <a:pPr marL="0" indent="0" algn="l">
              <a:lnSpc>
                <a:spcPts val="835"/>
              </a:lnSpc>
              <a:buNone/>
            </a:pPr>
            <a:r>
              <a:rPr lang="en-US" sz="619" dirty="0">
                <a:solidFill>
                  <a:srgbClr val="86EFAC"/>
                </a:solidFill>
                <a:latin typeface="Courier New" pitchFamily="34" charset="0"/>
                <a:ea typeface="Courier New" pitchFamily="34" charset="-122"/>
                <a:cs typeface="Courier New" pitchFamily="34" charset="-120"/>
              </a:rPr>
              <a:t>"${var.environment}-imgresizer-role"</a:t>
            </a:r>
            <a:endParaRPr lang="en-US" sz="619" dirty="0"/>
          </a:p>
        </p:txBody>
      </p:sp>
      <p:sp>
        <p:nvSpPr>
          <p:cNvPr id="96" name="Text 94"/>
          <p:cNvSpPr/>
          <p:nvPr/>
        </p:nvSpPr>
        <p:spPr>
          <a:xfrm>
            <a:off x="664369" y="7172548"/>
            <a:ext cx="884039" cy="91440"/>
          </a:xfrm>
          <a:prstGeom prst="rect">
            <a:avLst/>
          </a:prstGeom>
          <a:noFill/>
          <a:ln/>
        </p:spPr>
        <p:txBody>
          <a:bodyPr wrap="none" lIns="0" tIns="0" rIns="0" bIns="0" rtlCol="0" anchor="t"/>
          <a:lstStyle/>
          <a:p>
            <a:pPr marL="0" indent="0" algn="l">
              <a:lnSpc>
                <a:spcPts val="835"/>
              </a:lnSpc>
              <a:buNone/>
            </a:pPr>
            <a:r>
              <a:rPr lang="en-US" sz="619" dirty="0">
                <a:solidFill>
                  <a:srgbClr val="FBBF24"/>
                </a:solidFill>
                <a:latin typeface="Courier New" pitchFamily="34" charset="0"/>
                <a:ea typeface="Courier New" pitchFamily="34" charset="-122"/>
                <a:cs typeface="Courier New" pitchFamily="34" charset="-120"/>
              </a:rPr>
              <a:t>assume_role_policy</a:t>
            </a:r>
            <a:endParaRPr lang="en-US" sz="619" dirty="0"/>
          </a:p>
        </p:txBody>
      </p:sp>
      <p:sp>
        <p:nvSpPr>
          <p:cNvPr id="97" name="Text 95"/>
          <p:cNvSpPr/>
          <p:nvPr/>
        </p:nvSpPr>
        <p:spPr>
          <a:xfrm>
            <a:off x="1480199" y="7172548"/>
            <a:ext cx="509678" cy="91440"/>
          </a:xfrm>
          <a:prstGeom prst="rect">
            <a:avLst/>
          </a:prstGeom>
          <a:noFill/>
          <a:ln/>
        </p:spPr>
        <p:txBody>
          <a:bodyPr wrap="none" lIns="0" tIns="0" rIns="0" bIns="0" rtlCol="0" anchor="t"/>
          <a:lstStyle/>
          <a:p>
            <a:pPr marL="0" indent="0" algn="l">
              <a:lnSpc>
                <a:spcPts val="835"/>
              </a:lnSpc>
              <a:buNone/>
            </a:pPr>
            <a:r>
              <a:rPr lang="en-US" sz="619" dirty="0">
                <a:solidFill>
                  <a:srgbClr val="FBA74A"/>
                </a:solidFill>
                <a:latin typeface="Courier New" pitchFamily="34" charset="0"/>
                <a:ea typeface="Courier New" pitchFamily="34" charset="-122"/>
                <a:cs typeface="Courier New" pitchFamily="34" charset="-120"/>
              </a:rPr>
              <a:t>jsonencode</a:t>
            </a:r>
            <a:endParaRPr lang="en-US" sz="619" dirty="0"/>
          </a:p>
        </p:txBody>
      </p:sp>
      <p:sp>
        <p:nvSpPr>
          <p:cNvPr id="98" name="Text 96"/>
          <p:cNvSpPr/>
          <p:nvPr/>
        </p:nvSpPr>
        <p:spPr>
          <a:xfrm>
            <a:off x="742950" y="7278588"/>
            <a:ext cx="393299" cy="91440"/>
          </a:xfrm>
          <a:prstGeom prst="rect">
            <a:avLst/>
          </a:prstGeom>
          <a:noFill/>
          <a:ln/>
        </p:spPr>
        <p:txBody>
          <a:bodyPr wrap="none" lIns="0" tIns="0" rIns="0" bIns="0" rtlCol="0" anchor="t"/>
          <a:lstStyle/>
          <a:p>
            <a:pPr marL="0" indent="0" algn="l">
              <a:lnSpc>
                <a:spcPts val="835"/>
              </a:lnSpc>
              <a:buNone/>
            </a:pPr>
            <a:r>
              <a:rPr lang="en-US" sz="619" dirty="0">
                <a:solidFill>
                  <a:srgbClr val="FBBF24"/>
                </a:solidFill>
                <a:latin typeface="Courier New" pitchFamily="34" charset="0"/>
                <a:ea typeface="Courier New" pitchFamily="34" charset="-122"/>
                <a:cs typeface="Courier New" pitchFamily="34" charset="-120"/>
              </a:rPr>
              <a:t>Version</a:t>
            </a:r>
            <a:endParaRPr lang="en-US" sz="619" dirty="0"/>
          </a:p>
        </p:txBody>
      </p:sp>
      <p:sp>
        <p:nvSpPr>
          <p:cNvPr id="99" name="Text 97"/>
          <p:cNvSpPr/>
          <p:nvPr/>
        </p:nvSpPr>
        <p:spPr>
          <a:xfrm>
            <a:off x="1103371" y="7278588"/>
            <a:ext cx="654330" cy="91440"/>
          </a:xfrm>
          <a:prstGeom prst="rect">
            <a:avLst/>
          </a:prstGeom>
          <a:noFill/>
          <a:ln/>
        </p:spPr>
        <p:txBody>
          <a:bodyPr wrap="none" lIns="0" tIns="0" rIns="0" bIns="0" rtlCol="0" anchor="t"/>
          <a:lstStyle/>
          <a:p>
            <a:pPr marL="0" indent="0" algn="l">
              <a:lnSpc>
                <a:spcPts val="835"/>
              </a:lnSpc>
              <a:buNone/>
            </a:pPr>
            <a:r>
              <a:rPr lang="en-US" sz="619" dirty="0">
                <a:solidFill>
                  <a:srgbClr val="86EFAC"/>
                </a:solidFill>
                <a:latin typeface="Liberation Sans Narrow" pitchFamily="34" charset="0"/>
                <a:ea typeface="Liberation Sans Narrow" pitchFamily="34" charset="-122"/>
                <a:cs typeface="Liberation Sans Narrow" pitchFamily="34" charset="-120"/>
              </a:rPr>
              <a:t>"2012-10-17"</a:t>
            </a:r>
            <a:endParaRPr lang="en-US" sz="619" dirty="0"/>
          </a:p>
        </p:txBody>
      </p:sp>
      <p:sp>
        <p:nvSpPr>
          <p:cNvPr id="100" name="Text 98"/>
          <p:cNvSpPr/>
          <p:nvPr/>
        </p:nvSpPr>
        <p:spPr>
          <a:xfrm>
            <a:off x="742950" y="7384628"/>
            <a:ext cx="505670" cy="91440"/>
          </a:xfrm>
          <a:prstGeom prst="rect">
            <a:avLst/>
          </a:prstGeom>
          <a:noFill/>
          <a:ln/>
        </p:spPr>
        <p:txBody>
          <a:bodyPr wrap="none" lIns="0" tIns="0" rIns="0" bIns="0" rtlCol="0" anchor="t"/>
          <a:lstStyle/>
          <a:p>
            <a:pPr marL="0" indent="0" algn="l">
              <a:lnSpc>
                <a:spcPts val="835"/>
              </a:lnSpc>
              <a:buNone/>
            </a:pPr>
            <a:r>
              <a:rPr lang="en-US" sz="619" dirty="0">
                <a:solidFill>
                  <a:srgbClr val="FBBF24"/>
                </a:solidFill>
                <a:latin typeface="Courier New" pitchFamily="34" charset="0"/>
                <a:ea typeface="Courier New" pitchFamily="34" charset="-122"/>
                <a:cs typeface="Courier New" pitchFamily="34" charset="-120"/>
              </a:rPr>
              <a:t>Statement</a:t>
            </a:r>
            <a:endParaRPr lang="en-US" sz="619" dirty="0"/>
          </a:p>
        </p:txBody>
      </p:sp>
      <p:sp>
        <p:nvSpPr>
          <p:cNvPr id="101" name="Text 99"/>
          <p:cNvSpPr/>
          <p:nvPr/>
        </p:nvSpPr>
        <p:spPr>
          <a:xfrm>
            <a:off x="821531" y="7490668"/>
            <a:ext cx="337114" cy="91440"/>
          </a:xfrm>
          <a:prstGeom prst="rect">
            <a:avLst/>
          </a:prstGeom>
          <a:noFill/>
          <a:ln/>
        </p:spPr>
        <p:txBody>
          <a:bodyPr wrap="none" lIns="0" tIns="0" rIns="0" bIns="0" rtlCol="0" anchor="t"/>
          <a:lstStyle/>
          <a:p>
            <a:pPr marL="0" indent="0" algn="l">
              <a:lnSpc>
                <a:spcPts val="835"/>
              </a:lnSpc>
              <a:buNone/>
            </a:pPr>
            <a:r>
              <a:rPr lang="en-US" sz="619" dirty="0">
                <a:solidFill>
                  <a:srgbClr val="FBBF24"/>
                </a:solidFill>
                <a:latin typeface="Courier New" pitchFamily="34" charset="0"/>
                <a:ea typeface="Courier New" pitchFamily="34" charset="-122"/>
                <a:cs typeface="Courier New" pitchFamily="34" charset="-120"/>
              </a:rPr>
              <a:t>Effect</a:t>
            </a:r>
            <a:endParaRPr lang="en-US" sz="619" dirty="0"/>
          </a:p>
        </p:txBody>
      </p:sp>
      <p:sp>
        <p:nvSpPr>
          <p:cNvPr id="102" name="Text 100"/>
          <p:cNvSpPr/>
          <p:nvPr/>
        </p:nvSpPr>
        <p:spPr>
          <a:xfrm>
            <a:off x="1175147" y="7490668"/>
            <a:ext cx="393299" cy="91440"/>
          </a:xfrm>
          <a:prstGeom prst="rect">
            <a:avLst/>
          </a:prstGeom>
          <a:noFill/>
          <a:ln/>
        </p:spPr>
        <p:txBody>
          <a:bodyPr wrap="none" lIns="0" tIns="0" rIns="0" bIns="0" rtlCol="0" anchor="t"/>
          <a:lstStyle/>
          <a:p>
            <a:pPr marL="0" indent="0" algn="l">
              <a:lnSpc>
                <a:spcPts val="835"/>
              </a:lnSpc>
              <a:buNone/>
            </a:pPr>
            <a:r>
              <a:rPr lang="en-US" sz="619" dirty="0">
                <a:solidFill>
                  <a:srgbClr val="86EFAC"/>
                </a:solidFill>
                <a:latin typeface="Courier New" pitchFamily="34" charset="0"/>
                <a:ea typeface="Courier New" pitchFamily="34" charset="-122"/>
                <a:cs typeface="Courier New" pitchFamily="34" charset="-120"/>
              </a:rPr>
              <a:t>"Allow"</a:t>
            </a:r>
            <a:endParaRPr lang="en-US" sz="619" dirty="0"/>
          </a:p>
        </p:txBody>
      </p:sp>
      <p:sp>
        <p:nvSpPr>
          <p:cNvPr id="103" name="Text 101"/>
          <p:cNvSpPr/>
          <p:nvPr/>
        </p:nvSpPr>
        <p:spPr>
          <a:xfrm>
            <a:off x="821531" y="7596708"/>
            <a:ext cx="505670" cy="91440"/>
          </a:xfrm>
          <a:prstGeom prst="rect">
            <a:avLst/>
          </a:prstGeom>
          <a:noFill/>
          <a:ln/>
        </p:spPr>
        <p:txBody>
          <a:bodyPr wrap="none" lIns="0" tIns="0" rIns="0" bIns="0" rtlCol="0" anchor="t"/>
          <a:lstStyle/>
          <a:p>
            <a:pPr marL="0" indent="0" algn="l">
              <a:lnSpc>
                <a:spcPts val="835"/>
              </a:lnSpc>
              <a:buNone/>
            </a:pPr>
            <a:r>
              <a:rPr lang="en-US" sz="619" dirty="0">
                <a:solidFill>
                  <a:srgbClr val="FBBF24"/>
                </a:solidFill>
                <a:latin typeface="Courier New" pitchFamily="34" charset="0"/>
                <a:ea typeface="Courier New" pitchFamily="34" charset="-122"/>
                <a:cs typeface="Courier New" pitchFamily="34" charset="-120"/>
              </a:rPr>
              <a:t>Principal</a:t>
            </a:r>
            <a:endParaRPr lang="en-US" sz="619" dirty="0"/>
          </a:p>
        </p:txBody>
      </p:sp>
      <p:sp>
        <p:nvSpPr>
          <p:cNvPr id="104" name="Text 102"/>
          <p:cNvSpPr/>
          <p:nvPr/>
        </p:nvSpPr>
        <p:spPr>
          <a:xfrm>
            <a:off x="1371600" y="7596708"/>
            <a:ext cx="393299" cy="91440"/>
          </a:xfrm>
          <a:prstGeom prst="rect">
            <a:avLst/>
          </a:prstGeom>
          <a:noFill/>
          <a:ln/>
        </p:spPr>
        <p:txBody>
          <a:bodyPr wrap="none" lIns="0" tIns="0" rIns="0" bIns="0" rtlCol="0" anchor="t"/>
          <a:lstStyle/>
          <a:p>
            <a:pPr marL="0" indent="0" algn="l">
              <a:lnSpc>
                <a:spcPts val="835"/>
              </a:lnSpc>
              <a:buNone/>
            </a:pPr>
            <a:r>
              <a:rPr lang="en-US" sz="619" dirty="0">
                <a:solidFill>
                  <a:srgbClr val="FBBF24"/>
                </a:solidFill>
                <a:latin typeface="Courier New" pitchFamily="34" charset="0"/>
                <a:ea typeface="Courier New" pitchFamily="34" charset="-122"/>
                <a:cs typeface="Courier New" pitchFamily="34" charset="-120"/>
              </a:rPr>
              <a:t>Service</a:t>
            </a:r>
            <a:endParaRPr lang="en-US" sz="619" dirty="0"/>
          </a:p>
        </p:txBody>
      </p:sp>
      <p:sp>
        <p:nvSpPr>
          <p:cNvPr id="105" name="Text 103"/>
          <p:cNvSpPr/>
          <p:nvPr/>
        </p:nvSpPr>
        <p:spPr>
          <a:xfrm>
            <a:off x="1764506" y="7596708"/>
            <a:ext cx="933152" cy="91440"/>
          </a:xfrm>
          <a:prstGeom prst="rect">
            <a:avLst/>
          </a:prstGeom>
          <a:noFill/>
          <a:ln/>
        </p:spPr>
        <p:txBody>
          <a:bodyPr wrap="none" lIns="0" tIns="0" rIns="0" bIns="0" rtlCol="0" anchor="t"/>
          <a:lstStyle/>
          <a:p>
            <a:pPr marL="0" indent="0" algn="l">
              <a:lnSpc>
                <a:spcPts val="835"/>
              </a:lnSpc>
              <a:buNone/>
            </a:pPr>
            <a:r>
              <a:rPr lang="en-US" sz="619" dirty="0">
                <a:solidFill>
                  <a:srgbClr val="86EFAC"/>
                </a:solidFill>
                <a:latin typeface="Liberation Sans Narrow" pitchFamily="34" charset="0"/>
                <a:ea typeface="Liberation Sans Narrow" pitchFamily="34" charset="-122"/>
                <a:cs typeface="Liberation Sans Narrow" pitchFamily="34" charset="-120"/>
              </a:rPr>
              <a:t>"ec2.amazonaws.com"</a:t>
            </a:r>
            <a:endParaRPr lang="en-US" sz="619" dirty="0"/>
          </a:p>
        </p:txBody>
      </p:sp>
      <p:sp>
        <p:nvSpPr>
          <p:cNvPr id="106" name="Text 104"/>
          <p:cNvSpPr/>
          <p:nvPr/>
        </p:nvSpPr>
        <p:spPr>
          <a:xfrm>
            <a:off x="821531" y="7702748"/>
            <a:ext cx="337114" cy="91440"/>
          </a:xfrm>
          <a:prstGeom prst="rect">
            <a:avLst/>
          </a:prstGeom>
          <a:noFill/>
          <a:ln/>
        </p:spPr>
        <p:txBody>
          <a:bodyPr wrap="none" lIns="0" tIns="0" rIns="0" bIns="0" rtlCol="0" anchor="t"/>
          <a:lstStyle/>
          <a:p>
            <a:pPr marL="0" indent="0" algn="l">
              <a:lnSpc>
                <a:spcPts val="835"/>
              </a:lnSpc>
              <a:buNone/>
            </a:pPr>
            <a:r>
              <a:rPr lang="en-US" sz="619" dirty="0">
                <a:solidFill>
                  <a:srgbClr val="FBBF24"/>
                </a:solidFill>
                <a:latin typeface="Courier New" pitchFamily="34" charset="0"/>
                <a:ea typeface="Courier New" pitchFamily="34" charset="-122"/>
                <a:cs typeface="Courier New" pitchFamily="34" charset="-120"/>
              </a:rPr>
              <a:t>Action</a:t>
            </a:r>
            <a:endParaRPr lang="en-US" sz="619" dirty="0"/>
          </a:p>
        </p:txBody>
      </p:sp>
      <p:sp>
        <p:nvSpPr>
          <p:cNvPr id="107" name="Text 105"/>
          <p:cNvSpPr/>
          <p:nvPr/>
        </p:nvSpPr>
        <p:spPr>
          <a:xfrm>
            <a:off x="1175147" y="7702748"/>
            <a:ext cx="785813" cy="91440"/>
          </a:xfrm>
          <a:prstGeom prst="rect">
            <a:avLst/>
          </a:prstGeom>
          <a:noFill/>
          <a:ln/>
        </p:spPr>
        <p:txBody>
          <a:bodyPr wrap="none" lIns="0" tIns="0" rIns="0" bIns="0" rtlCol="0" anchor="t"/>
          <a:lstStyle/>
          <a:p>
            <a:pPr marL="0" indent="0" algn="l">
              <a:lnSpc>
                <a:spcPts val="835"/>
              </a:lnSpc>
              <a:buNone/>
            </a:pPr>
            <a:r>
              <a:rPr lang="en-US" sz="619" dirty="0">
                <a:solidFill>
                  <a:srgbClr val="86EFAC"/>
                </a:solidFill>
                <a:latin typeface="Courier New" pitchFamily="34" charset="0"/>
                <a:ea typeface="Courier New" pitchFamily="34" charset="-122"/>
                <a:cs typeface="Courier New" pitchFamily="34" charset="-120"/>
              </a:rPr>
              <a:t>"sts:AssumeRole"</a:t>
            </a:r>
            <a:endParaRPr lang="en-US" sz="619" dirty="0"/>
          </a:p>
        </p:txBody>
      </p:sp>
      <p:sp>
        <p:nvSpPr>
          <p:cNvPr id="108" name="Text 106"/>
          <p:cNvSpPr/>
          <p:nvPr/>
        </p:nvSpPr>
        <p:spPr>
          <a:xfrm>
            <a:off x="585788" y="8126909"/>
            <a:ext cx="449485" cy="91440"/>
          </a:xfrm>
          <a:prstGeom prst="rect">
            <a:avLst/>
          </a:prstGeom>
          <a:noFill/>
          <a:ln/>
        </p:spPr>
        <p:txBody>
          <a:bodyPr wrap="none" lIns="0" tIns="0" rIns="0" bIns="0" rtlCol="0" anchor="t"/>
          <a:lstStyle/>
          <a:p>
            <a:pPr marL="0" indent="0" algn="l">
              <a:lnSpc>
                <a:spcPts val="835"/>
              </a:lnSpc>
              <a:buNone/>
            </a:pPr>
            <a:r>
              <a:rPr lang="en-US" sz="619" dirty="0">
                <a:solidFill>
                  <a:srgbClr val="FBBF24"/>
                </a:solidFill>
                <a:latin typeface="Courier New" pitchFamily="34" charset="0"/>
                <a:ea typeface="Courier New" pitchFamily="34" charset="-122"/>
                <a:cs typeface="Courier New" pitchFamily="34" charset="-120"/>
              </a:rPr>
              <a:t>resource</a:t>
            </a:r>
            <a:endParaRPr lang="en-US" sz="619" dirty="0"/>
          </a:p>
        </p:txBody>
      </p:sp>
      <p:sp>
        <p:nvSpPr>
          <p:cNvPr id="109" name="Text 107"/>
          <p:cNvSpPr/>
          <p:nvPr/>
        </p:nvSpPr>
        <p:spPr>
          <a:xfrm>
            <a:off x="939403" y="8126909"/>
            <a:ext cx="1031379" cy="91440"/>
          </a:xfrm>
          <a:prstGeom prst="rect">
            <a:avLst/>
          </a:prstGeom>
          <a:noFill/>
          <a:ln/>
        </p:spPr>
        <p:txBody>
          <a:bodyPr wrap="none" lIns="0" tIns="0" rIns="0" bIns="0" rtlCol="0" anchor="t"/>
          <a:lstStyle/>
          <a:p>
            <a:pPr marL="0" indent="0" algn="l">
              <a:lnSpc>
                <a:spcPts val="835"/>
              </a:lnSpc>
              <a:buNone/>
            </a:pPr>
            <a:r>
              <a:rPr lang="en-US" sz="619" dirty="0">
                <a:solidFill>
                  <a:srgbClr val="86EFAC"/>
                </a:solidFill>
                <a:latin typeface="Courier New" pitchFamily="34" charset="0"/>
                <a:ea typeface="Courier New" pitchFamily="34" charset="-122"/>
                <a:cs typeface="Courier New" pitchFamily="34" charset="-120"/>
              </a:rPr>
              <a:t>"aws_iam_role_policy"</a:t>
            </a:r>
            <a:endParaRPr lang="en-US" sz="619" dirty="0"/>
          </a:p>
        </p:txBody>
      </p:sp>
      <p:sp>
        <p:nvSpPr>
          <p:cNvPr id="110" name="Text 108"/>
          <p:cNvSpPr/>
          <p:nvPr/>
        </p:nvSpPr>
        <p:spPr>
          <a:xfrm>
            <a:off x="1800072" y="8126909"/>
            <a:ext cx="547696" cy="91440"/>
          </a:xfrm>
          <a:prstGeom prst="rect">
            <a:avLst/>
          </a:prstGeom>
          <a:noFill/>
          <a:ln/>
        </p:spPr>
        <p:txBody>
          <a:bodyPr wrap="none" lIns="0" tIns="0" rIns="0" bIns="0" rtlCol="0" anchor="t"/>
          <a:lstStyle/>
          <a:p>
            <a:pPr marL="0" indent="0" algn="l">
              <a:lnSpc>
                <a:spcPts val="835"/>
              </a:lnSpc>
              <a:buNone/>
            </a:pPr>
            <a:r>
              <a:rPr lang="en-US" sz="619" dirty="0">
                <a:solidFill>
                  <a:srgbClr val="86EFAC"/>
                </a:solidFill>
                <a:latin typeface="Liberation Sans Narrow" pitchFamily="34" charset="0"/>
                <a:ea typeface="Liberation Sans Narrow" pitchFamily="34" charset="-122"/>
                <a:cs typeface="Liberation Sans Narrow" pitchFamily="34" charset="-120"/>
              </a:rPr>
              <a:t>"s3_access"</a:t>
            </a:r>
            <a:endParaRPr lang="en-US" sz="619" dirty="0"/>
          </a:p>
        </p:txBody>
      </p:sp>
      <p:sp>
        <p:nvSpPr>
          <p:cNvPr id="111" name="Text 109"/>
          <p:cNvSpPr/>
          <p:nvPr/>
        </p:nvSpPr>
        <p:spPr>
          <a:xfrm>
            <a:off x="647635" y="8232949"/>
            <a:ext cx="284927" cy="91440"/>
          </a:xfrm>
          <a:prstGeom prst="rect">
            <a:avLst/>
          </a:prstGeom>
          <a:noFill/>
          <a:ln/>
        </p:spPr>
        <p:txBody>
          <a:bodyPr wrap="none" lIns="0" tIns="0" rIns="0" bIns="0" rtlCol="0" anchor="t"/>
          <a:lstStyle/>
          <a:p>
            <a:pPr marL="0" indent="0" algn="l">
              <a:lnSpc>
                <a:spcPts val="835"/>
              </a:lnSpc>
              <a:buNone/>
            </a:pPr>
            <a:r>
              <a:rPr lang="en-US" sz="800" dirty="0">
                <a:solidFill>
                  <a:srgbClr val="FBBF24"/>
                </a:solidFill>
                <a:latin typeface="Courier New" pitchFamily="34" charset="0"/>
                <a:ea typeface="Courier New" pitchFamily="34" charset="-122"/>
                <a:cs typeface="Courier New" pitchFamily="34" charset="-120"/>
              </a:rPr>
              <a:t>role</a:t>
            </a:r>
            <a:endParaRPr lang="en-US" sz="800" dirty="0"/>
          </a:p>
        </p:txBody>
      </p:sp>
      <p:sp>
        <p:nvSpPr>
          <p:cNvPr id="112" name="Text 110"/>
          <p:cNvSpPr/>
          <p:nvPr/>
        </p:nvSpPr>
        <p:spPr>
          <a:xfrm>
            <a:off x="939403" y="8232949"/>
            <a:ext cx="1103281" cy="91440"/>
          </a:xfrm>
          <a:prstGeom prst="rect">
            <a:avLst/>
          </a:prstGeom>
          <a:noFill/>
          <a:ln/>
        </p:spPr>
        <p:txBody>
          <a:bodyPr wrap="none" lIns="0" tIns="0" rIns="0" bIns="0" rtlCol="0" anchor="t"/>
          <a:lstStyle/>
          <a:p>
            <a:pPr marL="0" indent="0" algn="l">
              <a:lnSpc>
                <a:spcPts val="835"/>
              </a:lnSpc>
              <a:buNone/>
            </a:pPr>
            <a:r>
              <a:rPr lang="en-US" sz="619" dirty="0">
                <a:solidFill>
                  <a:srgbClr val="93C5FD"/>
                </a:solidFill>
                <a:latin typeface="Courier New" pitchFamily="34" charset="0"/>
                <a:ea typeface="Courier New" pitchFamily="34" charset="-122"/>
                <a:cs typeface="Courier New" pitchFamily="34" charset="-120"/>
              </a:rPr>
              <a:t>aws_iam_role.imgresizer.id</a:t>
            </a:r>
            <a:endParaRPr lang="en-US" sz="619" dirty="0"/>
          </a:p>
        </p:txBody>
      </p:sp>
      <p:sp>
        <p:nvSpPr>
          <p:cNvPr id="113" name="Text 111"/>
          <p:cNvSpPr/>
          <p:nvPr/>
        </p:nvSpPr>
        <p:spPr>
          <a:xfrm>
            <a:off x="664369" y="8338989"/>
            <a:ext cx="337114" cy="91440"/>
          </a:xfrm>
          <a:prstGeom prst="rect">
            <a:avLst/>
          </a:prstGeom>
          <a:noFill/>
          <a:ln/>
        </p:spPr>
        <p:txBody>
          <a:bodyPr wrap="none" lIns="0" tIns="0" rIns="0" bIns="0" rtlCol="0" anchor="t"/>
          <a:lstStyle/>
          <a:p>
            <a:pPr marL="0" indent="0" algn="l">
              <a:lnSpc>
                <a:spcPts val="835"/>
              </a:lnSpc>
              <a:buNone/>
            </a:pPr>
            <a:r>
              <a:rPr lang="en-US" sz="619" dirty="0">
                <a:solidFill>
                  <a:srgbClr val="FBBF24"/>
                </a:solidFill>
                <a:latin typeface="Courier New" pitchFamily="34" charset="0"/>
                <a:ea typeface="Courier New" pitchFamily="34" charset="-122"/>
                <a:cs typeface="Courier New" pitchFamily="34" charset="-120"/>
              </a:rPr>
              <a:t>policy</a:t>
            </a:r>
            <a:endParaRPr lang="en-US" sz="619" dirty="0"/>
          </a:p>
        </p:txBody>
      </p:sp>
      <p:sp>
        <p:nvSpPr>
          <p:cNvPr id="114" name="Text 112"/>
          <p:cNvSpPr/>
          <p:nvPr/>
        </p:nvSpPr>
        <p:spPr>
          <a:xfrm>
            <a:off x="1008712" y="8338989"/>
            <a:ext cx="509678" cy="91440"/>
          </a:xfrm>
          <a:prstGeom prst="rect">
            <a:avLst/>
          </a:prstGeom>
          <a:noFill/>
          <a:ln/>
        </p:spPr>
        <p:txBody>
          <a:bodyPr wrap="none" lIns="0" tIns="0" rIns="0" bIns="0" rtlCol="0" anchor="t"/>
          <a:lstStyle/>
          <a:p>
            <a:pPr marL="0" indent="0" algn="l">
              <a:lnSpc>
                <a:spcPts val="835"/>
              </a:lnSpc>
              <a:buNone/>
            </a:pPr>
            <a:r>
              <a:rPr lang="en-US" sz="619" dirty="0">
                <a:solidFill>
                  <a:srgbClr val="FBA74A"/>
                </a:solidFill>
                <a:latin typeface="Courier New" pitchFamily="34" charset="0"/>
                <a:ea typeface="Courier New" pitchFamily="34" charset="-122"/>
                <a:cs typeface="Courier New" pitchFamily="34" charset="-120"/>
              </a:rPr>
              <a:t>jsonencode</a:t>
            </a:r>
            <a:endParaRPr lang="en-US" sz="619" dirty="0"/>
          </a:p>
        </p:txBody>
      </p:sp>
      <p:sp>
        <p:nvSpPr>
          <p:cNvPr id="115" name="Text 113"/>
          <p:cNvSpPr/>
          <p:nvPr/>
        </p:nvSpPr>
        <p:spPr>
          <a:xfrm>
            <a:off x="742950" y="8445029"/>
            <a:ext cx="393299" cy="91440"/>
          </a:xfrm>
          <a:prstGeom prst="rect">
            <a:avLst/>
          </a:prstGeom>
          <a:noFill/>
          <a:ln/>
        </p:spPr>
        <p:txBody>
          <a:bodyPr wrap="none" lIns="0" tIns="0" rIns="0" bIns="0" rtlCol="0" anchor="t"/>
          <a:lstStyle/>
          <a:p>
            <a:pPr marL="0" indent="0" algn="l">
              <a:lnSpc>
                <a:spcPts val="835"/>
              </a:lnSpc>
              <a:buNone/>
            </a:pPr>
            <a:r>
              <a:rPr lang="en-US" sz="619" dirty="0">
                <a:solidFill>
                  <a:srgbClr val="FBBF24"/>
                </a:solidFill>
                <a:latin typeface="Courier New" pitchFamily="34" charset="0"/>
                <a:ea typeface="Courier New" pitchFamily="34" charset="-122"/>
                <a:cs typeface="Courier New" pitchFamily="34" charset="-120"/>
              </a:rPr>
              <a:t>Version</a:t>
            </a:r>
            <a:endParaRPr lang="en-US" sz="619" dirty="0"/>
          </a:p>
        </p:txBody>
      </p:sp>
      <p:sp>
        <p:nvSpPr>
          <p:cNvPr id="116" name="Text 114"/>
          <p:cNvSpPr/>
          <p:nvPr/>
        </p:nvSpPr>
        <p:spPr>
          <a:xfrm>
            <a:off x="1103371" y="8445029"/>
            <a:ext cx="654330" cy="91440"/>
          </a:xfrm>
          <a:prstGeom prst="rect">
            <a:avLst/>
          </a:prstGeom>
          <a:noFill/>
          <a:ln/>
        </p:spPr>
        <p:txBody>
          <a:bodyPr wrap="none" lIns="0" tIns="0" rIns="0" bIns="0" rtlCol="0" anchor="t"/>
          <a:lstStyle/>
          <a:p>
            <a:pPr marL="0" indent="0" algn="l">
              <a:lnSpc>
                <a:spcPts val="835"/>
              </a:lnSpc>
              <a:buNone/>
            </a:pPr>
            <a:r>
              <a:rPr lang="en-US" sz="619" dirty="0">
                <a:solidFill>
                  <a:srgbClr val="86EFAC"/>
                </a:solidFill>
                <a:latin typeface="Liberation Sans Narrow" pitchFamily="34" charset="0"/>
                <a:ea typeface="Liberation Sans Narrow" pitchFamily="34" charset="-122"/>
                <a:cs typeface="Liberation Sans Narrow" pitchFamily="34" charset="-120"/>
              </a:rPr>
              <a:t>"2012-10-17"</a:t>
            </a:r>
            <a:endParaRPr lang="en-US" sz="619" dirty="0"/>
          </a:p>
        </p:txBody>
      </p:sp>
      <p:sp>
        <p:nvSpPr>
          <p:cNvPr id="117" name="Text 115"/>
          <p:cNvSpPr/>
          <p:nvPr/>
        </p:nvSpPr>
        <p:spPr>
          <a:xfrm>
            <a:off x="742950" y="8551069"/>
            <a:ext cx="505670" cy="91440"/>
          </a:xfrm>
          <a:prstGeom prst="rect">
            <a:avLst/>
          </a:prstGeom>
          <a:noFill/>
          <a:ln/>
        </p:spPr>
        <p:txBody>
          <a:bodyPr wrap="none" lIns="0" tIns="0" rIns="0" bIns="0" rtlCol="0" anchor="t"/>
          <a:lstStyle/>
          <a:p>
            <a:pPr marL="0" indent="0" algn="l">
              <a:lnSpc>
                <a:spcPts val="835"/>
              </a:lnSpc>
              <a:buNone/>
            </a:pPr>
            <a:r>
              <a:rPr lang="en-US" sz="619" dirty="0">
                <a:solidFill>
                  <a:srgbClr val="FBBF24"/>
                </a:solidFill>
                <a:latin typeface="Courier New" pitchFamily="34" charset="0"/>
                <a:ea typeface="Courier New" pitchFamily="34" charset="-122"/>
                <a:cs typeface="Courier New" pitchFamily="34" charset="-120"/>
              </a:rPr>
              <a:t>Statement</a:t>
            </a:r>
            <a:endParaRPr lang="en-US" sz="619" dirty="0"/>
          </a:p>
        </p:txBody>
      </p:sp>
      <p:sp>
        <p:nvSpPr>
          <p:cNvPr id="118" name="Text 116"/>
          <p:cNvSpPr/>
          <p:nvPr/>
        </p:nvSpPr>
        <p:spPr>
          <a:xfrm>
            <a:off x="821531" y="8657109"/>
            <a:ext cx="337114" cy="91440"/>
          </a:xfrm>
          <a:prstGeom prst="rect">
            <a:avLst/>
          </a:prstGeom>
          <a:noFill/>
          <a:ln/>
        </p:spPr>
        <p:txBody>
          <a:bodyPr wrap="none" lIns="0" tIns="0" rIns="0" bIns="0" rtlCol="0" anchor="t"/>
          <a:lstStyle/>
          <a:p>
            <a:pPr marL="0" indent="0" algn="l">
              <a:lnSpc>
                <a:spcPts val="835"/>
              </a:lnSpc>
              <a:buNone/>
            </a:pPr>
            <a:r>
              <a:rPr lang="en-US" sz="619" dirty="0">
                <a:solidFill>
                  <a:srgbClr val="FBBF24"/>
                </a:solidFill>
                <a:latin typeface="Courier New" pitchFamily="34" charset="0"/>
                <a:ea typeface="Courier New" pitchFamily="34" charset="-122"/>
                <a:cs typeface="Courier New" pitchFamily="34" charset="-120"/>
              </a:rPr>
              <a:t>Effect</a:t>
            </a:r>
            <a:endParaRPr lang="en-US" sz="619" dirty="0"/>
          </a:p>
        </p:txBody>
      </p:sp>
      <p:sp>
        <p:nvSpPr>
          <p:cNvPr id="119" name="Text 117"/>
          <p:cNvSpPr/>
          <p:nvPr/>
        </p:nvSpPr>
        <p:spPr>
          <a:xfrm>
            <a:off x="1175147" y="8657109"/>
            <a:ext cx="393299" cy="91440"/>
          </a:xfrm>
          <a:prstGeom prst="rect">
            <a:avLst/>
          </a:prstGeom>
          <a:noFill/>
          <a:ln/>
        </p:spPr>
        <p:txBody>
          <a:bodyPr wrap="none" lIns="0" tIns="0" rIns="0" bIns="0" rtlCol="0" anchor="t"/>
          <a:lstStyle/>
          <a:p>
            <a:pPr marL="0" indent="0" algn="l">
              <a:lnSpc>
                <a:spcPts val="835"/>
              </a:lnSpc>
              <a:buNone/>
            </a:pPr>
            <a:r>
              <a:rPr lang="en-US" sz="619" dirty="0">
                <a:solidFill>
                  <a:srgbClr val="86EFAC"/>
                </a:solidFill>
                <a:latin typeface="Courier New" pitchFamily="34" charset="0"/>
                <a:ea typeface="Courier New" pitchFamily="34" charset="-122"/>
                <a:cs typeface="Courier New" pitchFamily="34" charset="-120"/>
              </a:rPr>
              <a:t>"Allow"</a:t>
            </a:r>
            <a:endParaRPr lang="en-US" sz="619" dirty="0"/>
          </a:p>
        </p:txBody>
      </p:sp>
      <p:sp>
        <p:nvSpPr>
          <p:cNvPr id="120" name="Text 118"/>
          <p:cNvSpPr/>
          <p:nvPr/>
        </p:nvSpPr>
        <p:spPr>
          <a:xfrm>
            <a:off x="821531" y="8763149"/>
            <a:ext cx="337114" cy="91440"/>
          </a:xfrm>
          <a:prstGeom prst="rect">
            <a:avLst/>
          </a:prstGeom>
          <a:noFill/>
          <a:ln/>
        </p:spPr>
        <p:txBody>
          <a:bodyPr wrap="none" lIns="0" tIns="0" rIns="0" bIns="0" rtlCol="0" anchor="t"/>
          <a:lstStyle/>
          <a:p>
            <a:pPr marL="0" indent="0" algn="l">
              <a:lnSpc>
                <a:spcPts val="835"/>
              </a:lnSpc>
              <a:buNone/>
            </a:pPr>
            <a:r>
              <a:rPr lang="en-US" sz="619" dirty="0">
                <a:solidFill>
                  <a:srgbClr val="FBBF24"/>
                </a:solidFill>
                <a:latin typeface="Courier New" pitchFamily="34" charset="0"/>
                <a:ea typeface="Courier New" pitchFamily="34" charset="-122"/>
                <a:cs typeface="Courier New" pitchFamily="34" charset="-120"/>
              </a:rPr>
              <a:t>Action</a:t>
            </a:r>
            <a:endParaRPr lang="en-US" sz="619" dirty="0"/>
          </a:p>
        </p:txBody>
      </p:sp>
      <p:sp>
        <p:nvSpPr>
          <p:cNvPr id="121" name="Text 119"/>
          <p:cNvSpPr/>
          <p:nvPr/>
        </p:nvSpPr>
        <p:spPr>
          <a:xfrm>
            <a:off x="1214438" y="8763149"/>
            <a:ext cx="687586" cy="91440"/>
          </a:xfrm>
          <a:prstGeom prst="rect">
            <a:avLst/>
          </a:prstGeom>
          <a:noFill/>
          <a:ln/>
        </p:spPr>
        <p:txBody>
          <a:bodyPr wrap="none" lIns="0" tIns="0" rIns="0" bIns="0" rtlCol="0" anchor="t"/>
          <a:lstStyle/>
          <a:p>
            <a:pPr marL="0" indent="0" algn="l">
              <a:lnSpc>
                <a:spcPts val="835"/>
              </a:lnSpc>
              <a:buNone/>
            </a:pPr>
            <a:r>
              <a:rPr lang="en-US" sz="619" dirty="0">
                <a:solidFill>
                  <a:srgbClr val="86EFAC"/>
                </a:solidFill>
                <a:latin typeface="Liberation Sans Narrow" pitchFamily="34" charset="0"/>
                <a:ea typeface="Liberation Sans Narrow" pitchFamily="34" charset="-122"/>
                <a:cs typeface="Liberation Sans Narrow" pitchFamily="34" charset="-120"/>
              </a:rPr>
              <a:t>"s3:GetObject"</a:t>
            </a:r>
            <a:endParaRPr lang="en-US" sz="619" dirty="0"/>
          </a:p>
        </p:txBody>
      </p:sp>
      <p:sp>
        <p:nvSpPr>
          <p:cNvPr id="122" name="Text 120"/>
          <p:cNvSpPr/>
          <p:nvPr/>
        </p:nvSpPr>
        <p:spPr>
          <a:xfrm>
            <a:off x="1843088" y="8763149"/>
            <a:ext cx="687586" cy="91440"/>
          </a:xfrm>
          <a:prstGeom prst="rect">
            <a:avLst/>
          </a:prstGeom>
          <a:noFill/>
          <a:ln/>
        </p:spPr>
        <p:txBody>
          <a:bodyPr wrap="none" lIns="0" tIns="0" rIns="0" bIns="0" rtlCol="0" anchor="t"/>
          <a:lstStyle/>
          <a:p>
            <a:pPr marL="0" indent="0" algn="l">
              <a:lnSpc>
                <a:spcPts val="835"/>
              </a:lnSpc>
              <a:buNone/>
            </a:pPr>
            <a:r>
              <a:rPr lang="en-US" sz="619" dirty="0">
                <a:solidFill>
                  <a:srgbClr val="86EFAC"/>
                </a:solidFill>
                <a:latin typeface="Liberation Sans Narrow" pitchFamily="34" charset="0"/>
                <a:ea typeface="Liberation Sans Narrow" pitchFamily="34" charset="-122"/>
                <a:cs typeface="Liberation Sans Narrow" pitchFamily="34" charset="-120"/>
              </a:rPr>
              <a:t>"s3:PutObject"</a:t>
            </a:r>
            <a:endParaRPr lang="en-US" sz="619" dirty="0"/>
          </a:p>
        </p:txBody>
      </p:sp>
      <p:sp>
        <p:nvSpPr>
          <p:cNvPr id="123" name="Text 121"/>
          <p:cNvSpPr/>
          <p:nvPr/>
        </p:nvSpPr>
        <p:spPr>
          <a:xfrm>
            <a:off x="2471738" y="8763149"/>
            <a:ext cx="834926" cy="91440"/>
          </a:xfrm>
          <a:prstGeom prst="rect">
            <a:avLst/>
          </a:prstGeom>
          <a:noFill/>
          <a:ln/>
        </p:spPr>
        <p:txBody>
          <a:bodyPr wrap="none" lIns="0" tIns="0" rIns="0" bIns="0" rtlCol="0" anchor="t"/>
          <a:lstStyle/>
          <a:p>
            <a:pPr marL="0" indent="0" algn="l">
              <a:lnSpc>
                <a:spcPts val="835"/>
              </a:lnSpc>
              <a:buNone/>
            </a:pPr>
            <a:r>
              <a:rPr lang="en-US" sz="619" dirty="0">
                <a:solidFill>
                  <a:srgbClr val="86EFAC"/>
                </a:solidFill>
                <a:latin typeface="Liberation Sans Narrow" pitchFamily="34" charset="0"/>
                <a:ea typeface="Liberation Sans Narrow" pitchFamily="34" charset="-122"/>
                <a:cs typeface="Liberation Sans Narrow" pitchFamily="34" charset="-120"/>
              </a:rPr>
              <a:t>"s3:DeleteObject"</a:t>
            </a:r>
            <a:endParaRPr lang="en-US" sz="619" dirty="0"/>
          </a:p>
        </p:txBody>
      </p:sp>
      <p:sp>
        <p:nvSpPr>
          <p:cNvPr id="124" name="Text 122"/>
          <p:cNvSpPr/>
          <p:nvPr/>
        </p:nvSpPr>
        <p:spPr>
          <a:xfrm>
            <a:off x="821531" y="8869189"/>
            <a:ext cx="449485" cy="91440"/>
          </a:xfrm>
          <a:prstGeom prst="rect">
            <a:avLst/>
          </a:prstGeom>
          <a:noFill/>
          <a:ln/>
        </p:spPr>
        <p:txBody>
          <a:bodyPr wrap="none" lIns="0" tIns="0" rIns="0" bIns="0" rtlCol="0" anchor="t"/>
          <a:lstStyle/>
          <a:p>
            <a:pPr marL="0" indent="0" algn="l">
              <a:lnSpc>
                <a:spcPts val="835"/>
              </a:lnSpc>
              <a:buNone/>
            </a:pPr>
            <a:r>
              <a:rPr lang="en-US" sz="619" dirty="0">
                <a:solidFill>
                  <a:srgbClr val="FBBF24"/>
                </a:solidFill>
                <a:latin typeface="Courier New" pitchFamily="34" charset="0"/>
                <a:ea typeface="Courier New" pitchFamily="34" charset="-122"/>
                <a:cs typeface="Courier New" pitchFamily="34" charset="-120"/>
              </a:rPr>
              <a:t>Resource</a:t>
            </a:r>
            <a:endParaRPr lang="en-US" sz="619" dirty="0"/>
          </a:p>
        </p:txBody>
      </p:sp>
      <p:sp>
        <p:nvSpPr>
          <p:cNvPr id="125" name="Text 123"/>
          <p:cNvSpPr/>
          <p:nvPr/>
        </p:nvSpPr>
        <p:spPr>
          <a:xfrm>
            <a:off x="1253728" y="8869189"/>
            <a:ext cx="1357884" cy="91440"/>
          </a:xfrm>
          <a:prstGeom prst="rect">
            <a:avLst/>
          </a:prstGeom>
          <a:noFill/>
          <a:ln/>
        </p:spPr>
        <p:txBody>
          <a:bodyPr wrap="none" lIns="0" tIns="0" rIns="0" bIns="0" rtlCol="0" anchor="t"/>
          <a:lstStyle/>
          <a:p>
            <a:pPr marL="0" indent="0" algn="l">
              <a:lnSpc>
                <a:spcPts val="835"/>
              </a:lnSpc>
              <a:buNone/>
            </a:pPr>
            <a:r>
              <a:rPr lang="en-US" sz="619" dirty="0">
                <a:solidFill>
                  <a:srgbClr val="86EFAC"/>
                </a:solidFill>
                <a:latin typeface="Liberation Sans Narrow" pitchFamily="34" charset="0"/>
                <a:ea typeface="Liberation Sans Narrow" pitchFamily="34" charset="-122"/>
                <a:cs typeface="Liberation Sans Narrow" pitchFamily="34" charset="-120"/>
              </a:rPr>
              <a:t>"${aws_s3_bucket.uploads.arn}/*"</a:t>
            </a:r>
            <a:endParaRPr lang="en-US" sz="619" dirty="0"/>
          </a:p>
        </p:txBody>
      </p:sp>
      <p:sp>
        <p:nvSpPr>
          <p:cNvPr id="126" name="Text 124"/>
          <p:cNvSpPr/>
          <p:nvPr/>
        </p:nvSpPr>
        <p:spPr>
          <a:xfrm>
            <a:off x="585788" y="9399389"/>
            <a:ext cx="337114" cy="91440"/>
          </a:xfrm>
          <a:prstGeom prst="rect">
            <a:avLst/>
          </a:prstGeom>
          <a:noFill/>
          <a:ln/>
        </p:spPr>
        <p:txBody>
          <a:bodyPr wrap="none" lIns="0" tIns="0" rIns="0" bIns="0" rtlCol="0" anchor="t"/>
          <a:lstStyle/>
          <a:p>
            <a:pPr marL="0" indent="0" algn="l">
              <a:lnSpc>
                <a:spcPts val="835"/>
              </a:lnSpc>
              <a:buNone/>
            </a:pPr>
            <a:r>
              <a:rPr lang="en-US" sz="619" dirty="0">
                <a:solidFill>
                  <a:srgbClr val="FBBF24"/>
                </a:solidFill>
                <a:latin typeface="Courier New" pitchFamily="34" charset="0"/>
                <a:ea typeface="Courier New" pitchFamily="34" charset="-122"/>
                <a:cs typeface="Courier New" pitchFamily="34" charset="-120"/>
              </a:rPr>
              <a:t>output</a:t>
            </a:r>
            <a:endParaRPr lang="en-US" sz="619" dirty="0"/>
          </a:p>
        </p:txBody>
      </p:sp>
      <p:sp>
        <p:nvSpPr>
          <p:cNvPr id="127" name="Text 125"/>
          <p:cNvSpPr/>
          <p:nvPr/>
        </p:nvSpPr>
        <p:spPr>
          <a:xfrm>
            <a:off x="860822" y="9399389"/>
            <a:ext cx="638473" cy="91440"/>
          </a:xfrm>
          <a:prstGeom prst="rect">
            <a:avLst/>
          </a:prstGeom>
          <a:noFill/>
          <a:ln/>
        </p:spPr>
        <p:txBody>
          <a:bodyPr wrap="none" lIns="0" tIns="0" rIns="0" bIns="0" rtlCol="0" anchor="t"/>
          <a:lstStyle/>
          <a:p>
            <a:pPr marL="0" indent="0" algn="l">
              <a:lnSpc>
                <a:spcPts val="835"/>
              </a:lnSpc>
              <a:buNone/>
            </a:pPr>
            <a:r>
              <a:rPr lang="en-US" sz="619" dirty="0">
                <a:solidFill>
                  <a:srgbClr val="86EFAC"/>
                </a:solidFill>
                <a:latin typeface="Courier New" pitchFamily="34" charset="0"/>
                <a:ea typeface="Courier New" pitchFamily="34" charset="-122"/>
                <a:cs typeface="Courier New" pitchFamily="34" charset="-120"/>
              </a:rPr>
              <a:t>"instance_id"</a:t>
            </a:r>
            <a:endParaRPr lang="en-US" sz="619" dirty="0"/>
          </a:p>
        </p:txBody>
      </p:sp>
      <p:sp>
        <p:nvSpPr>
          <p:cNvPr id="128" name="Text 126"/>
          <p:cNvSpPr/>
          <p:nvPr/>
        </p:nvSpPr>
        <p:spPr>
          <a:xfrm>
            <a:off x="1551581" y="9399389"/>
            <a:ext cx="347269" cy="91440"/>
          </a:xfrm>
          <a:prstGeom prst="rect">
            <a:avLst/>
          </a:prstGeom>
          <a:noFill/>
          <a:ln/>
        </p:spPr>
        <p:txBody>
          <a:bodyPr wrap="none" lIns="0" tIns="0" rIns="0" bIns="0" rtlCol="0" anchor="t"/>
          <a:lstStyle/>
          <a:p>
            <a:pPr marL="0" indent="0" algn="l">
              <a:lnSpc>
                <a:spcPts val="835"/>
              </a:lnSpc>
              <a:buNone/>
            </a:pPr>
            <a:r>
              <a:rPr lang="en-US" sz="800" dirty="0">
                <a:solidFill>
                  <a:srgbClr val="FBBF24"/>
                </a:solidFill>
                <a:latin typeface="Courier New" pitchFamily="34" charset="0"/>
                <a:ea typeface="Courier New" pitchFamily="34" charset="-122"/>
                <a:cs typeface="Courier New" pitchFamily="34" charset="-120"/>
              </a:rPr>
              <a:t>value</a:t>
            </a:r>
            <a:endParaRPr lang="en-US" sz="800" dirty="0"/>
          </a:p>
        </p:txBody>
      </p:sp>
      <p:sp>
        <p:nvSpPr>
          <p:cNvPr id="129" name="Text 127"/>
          <p:cNvSpPr/>
          <p:nvPr/>
        </p:nvSpPr>
        <p:spPr>
          <a:xfrm>
            <a:off x="1882378" y="9399389"/>
            <a:ext cx="1103281" cy="91440"/>
          </a:xfrm>
          <a:prstGeom prst="rect">
            <a:avLst/>
          </a:prstGeom>
          <a:noFill/>
          <a:ln/>
        </p:spPr>
        <p:txBody>
          <a:bodyPr wrap="none" lIns="0" tIns="0" rIns="0" bIns="0" rtlCol="0" anchor="t"/>
          <a:lstStyle/>
          <a:p>
            <a:pPr marL="0" indent="0" algn="l">
              <a:lnSpc>
                <a:spcPts val="835"/>
              </a:lnSpc>
              <a:buNone/>
            </a:pPr>
            <a:r>
              <a:rPr lang="en-US" sz="619" dirty="0">
                <a:solidFill>
                  <a:srgbClr val="93C5FD"/>
                </a:solidFill>
                <a:latin typeface="Courier New" pitchFamily="34" charset="0"/>
                <a:ea typeface="Courier New" pitchFamily="34" charset="-122"/>
                <a:cs typeface="Courier New" pitchFamily="34" charset="-120"/>
              </a:rPr>
              <a:t>aws_instance.imgresizer.id</a:t>
            </a:r>
            <a:endParaRPr lang="en-US" sz="619" dirty="0"/>
          </a:p>
        </p:txBody>
      </p:sp>
      <p:sp>
        <p:nvSpPr>
          <p:cNvPr id="130" name="Text 128"/>
          <p:cNvSpPr/>
          <p:nvPr/>
        </p:nvSpPr>
        <p:spPr>
          <a:xfrm>
            <a:off x="585788" y="9505429"/>
            <a:ext cx="337114" cy="91440"/>
          </a:xfrm>
          <a:prstGeom prst="rect">
            <a:avLst/>
          </a:prstGeom>
          <a:noFill/>
          <a:ln/>
        </p:spPr>
        <p:txBody>
          <a:bodyPr wrap="none" lIns="0" tIns="0" rIns="0" bIns="0" rtlCol="0" anchor="t"/>
          <a:lstStyle/>
          <a:p>
            <a:pPr marL="0" indent="0" algn="l">
              <a:lnSpc>
                <a:spcPts val="835"/>
              </a:lnSpc>
              <a:buNone/>
            </a:pPr>
            <a:r>
              <a:rPr lang="en-US" sz="619" dirty="0">
                <a:solidFill>
                  <a:srgbClr val="FBBF24"/>
                </a:solidFill>
                <a:latin typeface="Courier New" pitchFamily="34" charset="0"/>
                <a:ea typeface="Courier New" pitchFamily="34" charset="-122"/>
                <a:cs typeface="Courier New" pitchFamily="34" charset="-120"/>
              </a:rPr>
              <a:t>output</a:t>
            </a:r>
            <a:endParaRPr lang="en-US" sz="619" dirty="0"/>
          </a:p>
        </p:txBody>
      </p:sp>
      <p:sp>
        <p:nvSpPr>
          <p:cNvPr id="131" name="Text 129"/>
          <p:cNvSpPr/>
          <p:nvPr/>
        </p:nvSpPr>
        <p:spPr>
          <a:xfrm>
            <a:off x="860822" y="9505429"/>
            <a:ext cx="589359" cy="91440"/>
          </a:xfrm>
          <a:prstGeom prst="rect">
            <a:avLst/>
          </a:prstGeom>
          <a:noFill/>
          <a:ln/>
        </p:spPr>
        <p:txBody>
          <a:bodyPr wrap="none" lIns="0" tIns="0" rIns="0" bIns="0" rtlCol="0" anchor="t"/>
          <a:lstStyle/>
          <a:p>
            <a:pPr marL="0" indent="0" algn="l">
              <a:lnSpc>
                <a:spcPts val="835"/>
              </a:lnSpc>
              <a:buNone/>
            </a:pPr>
            <a:r>
              <a:rPr lang="en-US" sz="619" dirty="0">
                <a:solidFill>
                  <a:srgbClr val="86EFAC"/>
                </a:solidFill>
                <a:latin typeface="Courier New" pitchFamily="34" charset="0"/>
                <a:ea typeface="Courier New" pitchFamily="34" charset="-122"/>
                <a:cs typeface="Courier New" pitchFamily="34" charset="-120"/>
              </a:rPr>
              <a:t>"bucket_arn"</a:t>
            </a:r>
            <a:endParaRPr lang="en-US" sz="619" dirty="0"/>
          </a:p>
        </p:txBody>
      </p:sp>
      <p:sp>
        <p:nvSpPr>
          <p:cNvPr id="132" name="Text 130"/>
          <p:cNvSpPr/>
          <p:nvPr/>
        </p:nvSpPr>
        <p:spPr>
          <a:xfrm>
            <a:off x="1551581" y="9505429"/>
            <a:ext cx="347269" cy="91440"/>
          </a:xfrm>
          <a:prstGeom prst="rect">
            <a:avLst/>
          </a:prstGeom>
          <a:noFill/>
          <a:ln/>
        </p:spPr>
        <p:txBody>
          <a:bodyPr wrap="none" lIns="0" tIns="0" rIns="0" bIns="0" rtlCol="0" anchor="t"/>
          <a:lstStyle/>
          <a:p>
            <a:pPr marL="0" indent="0" algn="l">
              <a:lnSpc>
                <a:spcPts val="835"/>
              </a:lnSpc>
              <a:buNone/>
            </a:pPr>
            <a:r>
              <a:rPr lang="en-US" sz="800" dirty="0">
                <a:solidFill>
                  <a:srgbClr val="FBBF24"/>
                </a:solidFill>
                <a:latin typeface="Courier New" pitchFamily="34" charset="0"/>
                <a:ea typeface="Courier New" pitchFamily="34" charset="-122"/>
                <a:cs typeface="Courier New" pitchFamily="34" charset="-120"/>
              </a:rPr>
              <a:t>value</a:t>
            </a:r>
            <a:endParaRPr lang="en-US" sz="800" dirty="0"/>
          </a:p>
        </p:txBody>
      </p:sp>
      <p:sp>
        <p:nvSpPr>
          <p:cNvPr id="133" name="Text 131"/>
          <p:cNvSpPr/>
          <p:nvPr/>
        </p:nvSpPr>
        <p:spPr>
          <a:xfrm>
            <a:off x="1882378" y="9505429"/>
            <a:ext cx="1060847" cy="91440"/>
          </a:xfrm>
          <a:prstGeom prst="rect">
            <a:avLst/>
          </a:prstGeom>
          <a:noFill/>
          <a:ln/>
        </p:spPr>
        <p:txBody>
          <a:bodyPr wrap="none" lIns="0" tIns="0" rIns="0" bIns="0" rtlCol="0" anchor="t"/>
          <a:lstStyle/>
          <a:p>
            <a:pPr marL="0" indent="0" algn="l">
              <a:lnSpc>
                <a:spcPts val="835"/>
              </a:lnSpc>
              <a:buNone/>
            </a:pPr>
            <a:r>
              <a:rPr lang="en-US" sz="619" dirty="0">
                <a:solidFill>
                  <a:srgbClr val="93C5FD"/>
                </a:solidFill>
                <a:latin typeface="Liberation Sans Narrow" pitchFamily="34" charset="0"/>
                <a:ea typeface="Liberation Sans Narrow" pitchFamily="34" charset="-122"/>
                <a:cs typeface="Liberation Sans Narrow" pitchFamily="34" charset="-120"/>
              </a:rPr>
              <a:t>aws_s3_bucket.uploads.arn</a:t>
            </a:r>
            <a:endParaRPr lang="en-US" sz="619" dirty="0"/>
          </a:p>
        </p:txBody>
      </p:sp>
      <p:sp>
        <p:nvSpPr>
          <p:cNvPr id="134" name="Text 132"/>
          <p:cNvSpPr/>
          <p:nvPr/>
        </p:nvSpPr>
        <p:spPr>
          <a:xfrm>
            <a:off x="585788" y="9611469"/>
            <a:ext cx="337114" cy="91440"/>
          </a:xfrm>
          <a:prstGeom prst="rect">
            <a:avLst/>
          </a:prstGeom>
          <a:noFill/>
          <a:ln/>
        </p:spPr>
        <p:txBody>
          <a:bodyPr wrap="none" lIns="0" tIns="0" rIns="0" bIns="0" rtlCol="0" anchor="t"/>
          <a:lstStyle/>
          <a:p>
            <a:pPr marL="0" indent="0" algn="l">
              <a:lnSpc>
                <a:spcPts val="835"/>
              </a:lnSpc>
              <a:buNone/>
            </a:pPr>
            <a:r>
              <a:rPr lang="en-US" sz="619" dirty="0">
                <a:solidFill>
                  <a:srgbClr val="FBBF24"/>
                </a:solidFill>
                <a:latin typeface="Courier New" pitchFamily="34" charset="0"/>
                <a:ea typeface="Courier New" pitchFamily="34" charset="-122"/>
                <a:cs typeface="Courier New" pitchFamily="34" charset="-120"/>
              </a:rPr>
              <a:t>output</a:t>
            </a:r>
            <a:endParaRPr lang="en-US" sz="619" dirty="0"/>
          </a:p>
        </p:txBody>
      </p:sp>
      <p:sp>
        <p:nvSpPr>
          <p:cNvPr id="135" name="Text 133"/>
          <p:cNvSpPr/>
          <p:nvPr/>
        </p:nvSpPr>
        <p:spPr>
          <a:xfrm>
            <a:off x="860822" y="9611469"/>
            <a:ext cx="491133" cy="91440"/>
          </a:xfrm>
          <a:prstGeom prst="rect">
            <a:avLst/>
          </a:prstGeom>
          <a:noFill/>
          <a:ln/>
        </p:spPr>
        <p:txBody>
          <a:bodyPr wrap="none" lIns="0" tIns="0" rIns="0" bIns="0" rtlCol="0" anchor="t"/>
          <a:lstStyle/>
          <a:p>
            <a:pPr marL="0" indent="0" algn="l">
              <a:lnSpc>
                <a:spcPts val="835"/>
              </a:lnSpc>
              <a:buNone/>
            </a:pPr>
            <a:r>
              <a:rPr lang="en-US" sz="619" dirty="0">
                <a:solidFill>
                  <a:srgbClr val="86EFAC"/>
                </a:solidFill>
                <a:latin typeface="Courier New" pitchFamily="34" charset="0"/>
                <a:ea typeface="Courier New" pitchFamily="34" charset="-122"/>
                <a:cs typeface="Courier New" pitchFamily="34" charset="-120"/>
              </a:rPr>
              <a:t>"role_arn"</a:t>
            </a:r>
            <a:endParaRPr lang="en-US" sz="619" dirty="0"/>
          </a:p>
        </p:txBody>
      </p:sp>
      <p:sp>
        <p:nvSpPr>
          <p:cNvPr id="136" name="Text 134"/>
          <p:cNvSpPr/>
          <p:nvPr/>
        </p:nvSpPr>
        <p:spPr>
          <a:xfrm>
            <a:off x="1551581" y="9611469"/>
            <a:ext cx="347269" cy="91440"/>
          </a:xfrm>
          <a:prstGeom prst="rect">
            <a:avLst/>
          </a:prstGeom>
          <a:noFill/>
          <a:ln/>
        </p:spPr>
        <p:txBody>
          <a:bodyPr wrap="none" lIns="0" tIns="0" rIns="0" bIns="0" rtlCol="0" anchor="t"/>
          <a:lstStyle/>
          <a:p>
            <a:pPr marL="0" indent="0" algn="l">
              <a:lnSpc>
                <a:spcPts val="835"/>
              </a:lnSpc>
              <a:buNone/>
            </a:pPr>
            <a:r>
              <a:rPr lang="en-US" sz="800" dirty="0">
                <a:solidFill>
                  <a:srgbClr val="FBBF24"/>
                </a:solidFill>
                <a:latin typeface="Courier New" pitchFamily="34" charset="0"/>
                <a:ea typeface="Courier New" pitchFamily="34" charset="-122"/>
                <a:cs typeface="Courier New" pitchFamily="34" charset="-120"/>
              </a:rPr>
              <a:t>value</a:t>
            </a:r>
            <a:endParaRPr lang="en-US" sz="800" dirty="0"/>
          </a:p>
        </p:txBody>
      </p:sp>
      <p:sp>
        <p:nvSpPr>
          <p:cNvPr id="137" name="Text 135"/>
          <p:cNvSpPr/>
          <p:nvPr/>
        </p:nvSpPr>
        <p:spPr>
          <a:xfrm>
            <a:off x="1882378" y="9611469"/>
            <a:ext cx="1145715" cy="91440"/>
          </a:xfrm>
          <a:prstGeom prst="rect">
            <a:avLst/>
          </a:prstGeom>
          <a:noFill/>
          <a:ln/>
        </p:spPr>
        <p:txBody>
          <a:bodyPr wrap="none" lIns="0" tIns="0" rIns="0" bIns="0" rtlCol="0" anchor="t"/>
          <a:lstStyle/>
          <a:p>
            <a:pPr marL="0" indent="0" algn="l">
              <a:lnSpc>
                <a:spcPts val="835"/>
              </a:lnSpc>
              <a:buNone/>
            </a:pPr>
            <a:r>
              <a:rPr lang="en-US" sz="619" dirty="0">
                <a:solidFill>
                  <a:srgbClr val="93C5FD"/>
                </a:solidFill>
                <a:latin typeface="Courier New" pitchFamily="34" charset="0"/>
                <a:ea typeface="Courier New" pitchFamily="34" charset="-122"/>
                <a:cs typeface="Courier New" pitchFamily="34" charset="-120"/>
              </a:rPr>
              <a:t>aws_iam_role.imgresizer.arn</a:t>
            </a:r>
            <a:endParaRPr lang="en-US" sz="619" dirty="0"/>
          </a:p>
        </p:txBody>
      </p:sp>
      <p:sp>
        <p:nvSpPr>
          <p:cNvPr id="138" name="Text 136"/>
          <p:cNvSpPr/>
          <p:nvPr/>
        </p:nvSpPr>
        <p:spPr>
          <a:xfrm>
            <a:off x="457200" y="4526347"/>
            <a:ext cx="8229600" cy="172749"/>
          </a:xfrm>
          <a:prstGeom prst="rect">
            <a:avLst/>
          </a:prstGeom>
          <a:noFill/>
          <a:ln/>
        </p:spPr>
        <p:txBody>
          <a:bodyPr wrap="square" lIns="0" tIns="0" rIns="0" bIns="0" rtlCol="0" anchor="t"/>
          <a:lstStyle/>
          <a:p>
            <a:pPr marL="0" indent="0" algn="l">
              <a:lnSpc>
                <a:spcPts val="1260"/>
              </a:lnSpc>
              <a:buNone/>
            </a:pPr>
            <a:r>
              <a:rPr lang="en-US" sz="900" b="1" dirty="0">
                <a:solidFill>
                  <a:srgbClr val="C2410C"/>
                </a:solidFill>
                <a:latin typeface="Segoe UI Symbol" pitchFamily="34" charset="0"/>
                <a:ea typeface="Segoe UI Symbol" pitchFamily="34" charset="-122"/>
                <a:cs typeface="Segoe UI Symbol" pitchFamily="34" charset="-120"/>
              </a:rPr>
              <a:t>✓</a:t>
            </a:r>
            <a:r>
              <a:rPr lang="en-US" sz="900" b="1" dirty="0">
                <a:solidFill>
                  <a:srgbClr val="C2410C"/>
                </a:solidFill>
                <a:latin typeface="Carlito" pitchFamily="34" charset="0"/>
                <a:ea typeface="Carlito" pitchFamily="34" charset="-122"/>
                <a:cs typeface="Carlito" pitchFamily="34" charset="-120"/>
              </a:rPr>
              <a:t> AI generated this in 8 seconds. A human would take 4-6 hours. But you MUST still run tflint + Checkov before applying.</a:t>
            </a:r>
            <a:endParaRPr lang="en-US" sz="9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6321125" cy="373346"/>
          </a:xfrm>
          <a:prstGeom prst="rect">
            <a:avLst/>
          </a:prstGeom>
          <a:noFill/>
          <a:ln/>
        </p:spPr>
        <p:txBody>
          <a:bodyPr wrap="square" lIns="0" tIns="0" rIns="0" bIns="0" rtlCol="0" anchor="t"/>
          <a:lstStyle/>
          <a:p>
            <a:pPr marL="0" indent="0" algn="l">
              <a:lnSpc>
                <a:spcPts val="2723"/>
              </a:lnSpc>
              <a:buNone/>
            </a:pPr>
            <a:r>
              <a:rPr lang="en-US" sz="2475" b="1" kern="0" spc="-28" dirty="0">
                <a:solidFill>
                  <a:srgbClr val="0F172A"/>
                </a:solidFill>
                <a:latin typeface="Carlito" pitchFamily="34" charset="0"/>
                <a:ea typeface="Carlito" pitchFamily="34" charset="-122"/>
                <a:cs typeface="Carlito" pitchFamily="34" charset="-120"/>
              </a:rPr>
              <a:t>Case Study — Terraform + AI at HashiCorp</a:t>
            </a:r>
            <a:endParaRPr lang="en-US" sz="2475" dirty="0"/>
          </a:p>
        </p:txBody>
      </p:sp>
      <p:sp>
        <p:nvSpPr>
          <p:cNvPr id="3" name="Text 1"/>
          <p:cNvSpPr/>
          <p:nvPr/>
        </p:nvSpPr>
        <p:spPr>
          <a:xfrm>
            <a:off x="457200" y="888616"/>
            <a:ext cx="571500" cy="42863"/>
          </a:xfrm>
          <a:prstGeom prst="roundRect">
            <a:avLst>
              <a:gd name="adj" fmla="val 66666"/>
            </a:avLst>
          </a:prstGeom>
          <a:solidFill>
            <a:srgbClr val="F97316"/>
          </a:solidFill>
          <a:ln/>
        </p:spPr>
        <p:txBody>
          <a:bodyPr wrap="square" rtlCol="0" anchor="ctr"/>
          <a:lstStyle/>
          <a:p>
            <a:pPr marL="0" indent="0">
              <a:buNone/>
            </a:pPr>
            <a:endParaRPr lang="en-US" dirty="0"/>
          </a:p>
        </p:txBody>
      </p:sp>
      <p:sp>
        <p:nvSpPr>
          <p:cNvPr id="4" name="Text 2"/>
          <p:cNvSpPr/>
          <p:nvPr/>
        </p:nvSpPr>
        <p:spPr>
          <a:xfrm>
            <a:off x="7162860" y="528672"/>
            <a:ext cx="1546800" cy="331333"/>
          </a:xfrm>
          <a:prstGeom prst="roundRect">
            <a:avLst>
              <a:gd name="adj" fmla="val 2871877"/>
            </a:avLst>
          </a:prstGeom>
          <a:solidFill>
            <a:srgbClr val="FED7AA"/>
          </a:solidFill>
          <a:ln/>
        </p:spPr>
        <p:txBody>
          <a:bodyPr wrap="square" rtlCol="0" anchor="ctr"/>
          <a:lstStyle/>
          <a:p>
            <a:pPr marL="0" indent="0">
              <a:buNone/>
            </a:pPr>
            <a:endParaRPr lang="en-US" dirty="0"/>
          </a:p>
        </p:txBody>
      </p:sp>
      <p:sp>
        <p:nvSpPr>
          <p:cNvPr id="5" name="Text 3"/>
          <p:cNvSpPr/>
          <p:nvPr/>
        </p:nvSpPr>
        <p:spPr>
          <a:xfrm>
            <a:off x="7185720" y="541474"/>
            <a:ext cx="1501080" cy="305730"/>
          </a:xfrm>
          <a:prstGeom prst="rect">
            <a:avLst/>
          </a:prstGeom>
          <a:noFill/>
          <a:ln/>
        </p:spPr>
        <p:txBody>
          <a:bodyPr wrap="none" lIns="0" tIns="0" rIns="0" bIns="0" rtlCol="0" anchor="ctr"/>
          <a:lstStyle/>
          <a:p>
            <a:pPr marL="0" indent="0" algn="ctr">
              <a:lnSpc>
                <a:spcPts val="1733"/>
              </a:lnSpc>
              <a:buNone/>
            </a:pPr>
            <a:r>
              <a:rPr lang="en-US" sz="1238" b="1" kern="0" spc="28" dirty="0">
                <a:solidFill>
                  <a:srgbClr val="C2410C"/>
                </a:solidFill>
                <a:latin typeface="Liberation Sans Narrow" pitchFamily="34" charset="0"/>
                <a:ea typeface="Liberation Sans Narrow" pitchFamily="34" charset="-122"/>
                <a:cs typeface="Liberation Sans Narrow" pitchFamily="34" charset="-120"/>
              </a:rPr>
              <a:t>SECTION C · 3.10</a:t>
            </a:r>
            <a:endParaRPr lang="en-US" sz="1238" dirty="0"/>
          </a:p>
        </p:txBody>
      </p:sp>
      <p:sp>
        <p:nvSpPr>
          <p:cNvPr id="6" name="Text 4"/>
          <p:cNvSpPr/>
          <p:nvPr/>
        </p:nvSpPr>
        <p:spPr>
          <a:xfrm>
            <a:off x="460772" y="1049350"/>
            <a:ext cx="3284674" cy="3633378"/>
          </a:xfrm>
          <a:prstGeom prst="roundRect">
            <a:avLst>
              <a:gd name="adj" fmla="val 4060"/>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7" name="Text 5"/>
          <p:cNvSpPr/>
          <p:nvPr/>
        </p:nvSpPr>
        <p:spPr>
          <a:xfrm>
            <a:off x="607219" y="1181509"/>
            <a:ext cx="257175" cy="257175"/>
          </a:xfrm>
          <a:prstGeom prst="rect">
            <a:avLst/>
          </a:prstGeom>
          <a:noFill/>
          <a:ln/>
        </p:spPr>
        <p:txBody>
          <a:bodyPr wrap="none" lIns="0" tIns="0" rIns="0" bIns="0" rtlCol="0" anchor="ctr"/>
          <a:lstStyle/>
          <a:p>
            <a:pPr marL="0" indent="0" algn="ctr">
              <a:buNone/>
            </a:pPr>
            <a:r>
              <a:rPr lang="en-US" sz="2531" dirty="0">
                <a:solidFill>
                  <a:srgbClr val="F97316"/>
                </a:solidFill>
                <a:latin typeface="Segoe UI Symbol" pitchFamily="34" charset="0"/>
                <a:ea typeface="Segoe UI Symbol" pitchFamily="34" charset="-122"/>
                <a:cs typeface="Segoe UI Symbol" pitchFamily="34" charset="-120"/>
              </a:rPr>
              <a:t>▥</a:t>
            </a:r>
            <a:endParaRPr lang="en-US" sz="2531" dirty="0"/>
          </a:p>
        </p:txBody>
      </p:sp>
      <p:sp>
        <p:nvSpPr>
          <p:cNvPr id="8" name="Text 6"/>
          <p:cNvSpPr/>
          <p:nvPr/>
        </p:nvSpPr>
        <p:spPr>
          <a:xfrm>
            <a:off x="950119" y="1245133"/>
            <a:ext cx="2648880" cy="153514"/>
          </a:xfrm>
          <a:prstGeom prst="rect">
            <a:avLst/>
          </a:prstGeom>
          <a:noFill/>
          <a:ln/>
        </p:spPr>
        <p:txBody>
          <a:bodyPr wrap="none" lIns="0" tIns="0" rIns="0" bIns="0" rtlCol="0" anchor="t"/>
          <a:lstStyle/>
          <a:p>
            <a:pPr marL="0" indent="0" algn="l">
              <a:lnSpc>
                <a:spcPts val="1024"/>
              </a:lnSpc>
              <a:buNone/>
            </a:pPr>
            <a:r>
              <a:rPr lang="en-US" sz="800" b="1" kern="0" spc="84" dirty="0">
                <a:solidFill>
                  <a:srgbClr val="C2410C"/>
                </a:solidFill>
                <a:latin typeface="Carlito" pitchFamily="34" charset="0"/>
                <a:ea typeface="Carlito" pitchFamily="34" charset="-122"/>
                <a:cs typeface="Carlito" pitchFamily="34" charset="-120"/>
              </a:rPr>
              <a:t>REAL-WORLD CASE</a:t>
            </a:r>
            <a:endParaRPr lang="en-US" sz="800" dirty="0"/>
          </a:p>
        </p:txBody>
      </p:sp>
      <p:sp>
        <p:nvSpPr>
          <p:cNvPr id="9" name="Shape 7"/>
          <p:cNvSpPr/>
          <p:nvPr/>
        </p:nvSpPr>
        <p:spPr>
          <a:xfrm>
            <a:off x="607219" y="1989311"/>
            <a:ext cx="2991780" cy="0"/>
          </a:xfrm>
          <a:prstGeom prst="line">
            <a:avLst/>
          </a:prstGeom>
          <a:noFill/>
          <a:ln w="7144">
            <a:solidFill>
              <a:srgbClr val="CBD5E1"/>
            </a:solidFill>
            <a:prstDash val="dash"/>
          </a:ln>
        </p:spPr>
      </p:sp>
      <p:sp>
        <p:nvSpPr>
          <p:cNvPr id="10" name="Text 8"/>
          <p:cNvSpPr/>
          <p:nvPr/>
        </p:nvSpPr>
        <p:spPr>
          <a:xfrm>
            <a:off x="607219" y="1595847"/>
            <a:ext cx="2991780" cy="123926"/>
          </a:xfrm>
          <a:prstGeom prst="rect">
            <a:avLst/>
          </a:prstGeom>
          <a:noFill/>
          <a:ln/>
        </p:spPr>
        <p:txBody>
          <a:bodyPr wrap="none" lIns="0" tIns="0" rIns="0" bIns="0" rtlCol="0" anchor="t">
            <a:normAutofit/>
          </a:bodyPr>
          <a:lstStyle/>
          <a:p>
            <a:pPr marL="0" indent="0" algn="l">
              <a:lnSpc>
                <a:spcPts val="1024"/>
              </a:lnSpc>
              <a:buNone/>
            </a:pPr>
            <a:r>
              <a:rPr lang="en-US" sz="800" b="1" kern="0" spc="68" dirty="0">
                <a:solidFill>
                  <a:srgbClr val="C2410C"/>
                </a:solidFill>
                <a:latin typeface="Carlito" pitchFamily="34" charset="0"/>
                <a:ea typeface="Carlito" pitchFamily="34" charset="-122"/>
                <a:cs typeface="Carlito" pitchFamily="34" charset="-120"/>
              </a:rPr>
              <a:t>COMPANY</a:t>
            </a:r>
            <a:endParaRPr lang="en-US" sz="800" dirty="0"/>
          </a:p>
        </p:txBody>
      </p:sp>
      <p:sp>
        <p:nvSpPr>
          <p:cNvPr id="11" name="Text 9"/>
          <p:cNvSpPr/>
          <p:nvPr/>
        </p:nvSpPr>
        <p:spPr>
          <a:xfrm>
            <a:off x="607219" y="1747205"/>
            <a:ext cx="2991780" cy="167097"/>
          </a:xfrm>
          <a:prstGeom prst="rect">
            <a:avLst/>
          </a:prstGeom>
          <a:noFill/>
          <a:ln/>
        </p:spPr>
        <p:txBody>
          <a:bodyPr wrap="none" lIns="0" tIns="0" rIns="0" bIns="0" rtlCol="0" anchor="t"/>
          <a:lstStyle/>
          <a:p>
            <a:pPr marL="0" indent="0" algn="l">
              <a:lnSpc>
                <a:spcPts val="1316"/>
              </a:lnSpc>
              <a:buNone/>
            </a:pPr>
            <a:r>
              <a:rPr lang="en-US" sz="1013" b="1" dirty="0">
                <a:solidFill>
                  <a:srgbClr val="0F172A"/>
                </a:solidFill>
                <a:latin typeface="Carlito" pitchFamily="34" charset="0"/>
                <a:ea typeface="Carlito" pitchFamily="34" charset="-122"/>
                <a:cs typeface="Carlito" pitchFamily="34" charset="-120"/>
              </a:rPr>
              <a:t>HashiCorp</a:t>
            </a:r>
            <a:endParaRPr lang="en-US" sz="1013" dirty="0"/>
          </a:p>
        </p:txBody>
      </p:sp>
      <p:sp>
        <p:nvSpPr>
          <p:cNvPr id="12" name="Shape 10"/>
          <p:cNvSpPr/>
          <p:nvPr/>
        </p:nvSpPr>
        <p:spPr>
          <a:xfrm>
            <a:off x="607219" y="2457785"/>
            <a:ext cx="2991780" cy="0"/>
          </a:xfrm>
          <a:prstGeom prst="line">
            <a:avLst/>
          </a:prstGeom>
          <a:noFill/>
          <a:ln w="7144">
            <a:solidFill>
              <a:srgbClr val="CBD5E1"/>
            </a:solidFill>
            <a:prstDash val="dash"/>
          </a:ln>
        </p:spPr>
      </p:sp>
      <p:sp>
        <p:nvSpPr>
          <p:cNvPr id="13" name="Text 11"/>
          <p:cNvSpPr/>
          <p:nvPr/>
        </p:nvSpPr>
        <p:spPr>
          <a:xfrm>
            <a:off x="607219" y="2064321"/>
            <a:ext cx="2991780" cy="123926"/>
          </a:xfrm>
          <a:prstGeom prst="rect">
            <a:avLst/>
          </a:prstGeom>
          <a:noFill/>
          <a:ln/>
        </p:spPr>
        <p:txBody>
          <a:bodyPr wrap="none" lIns="0" tIns="0" rIns="0" bIns="0" rtlCol="0" anchor="t">
            <a:normAutofit/>
          </a:bodyPr>
          <a:lstStyle/>
          <a:p>
            <a:pPr marL="0" indent="0" algn="l">
              <a:lnSpc>
                <a:spcPts val="1024"/>
              </a:lnSpc>
              <a:buNone/>
            </a:pPr>
            <a:r>
              <a:rPr lang="en-US" sz="800" b="1" kern="0" spc="68" dirty="0">
                <a:solidFill>
                  <a:srgbClr val="C2410C"/>
                </a:solidFill>
                <a:latin typeface="Carlito" pitchFamily="34" charset="0"/>
                <a:ea typeface="Carlito" pitchFamily="34" charset="-122"/>
                <a:cs typeface="Carlito" pitchFamily="34" charset="-120"/>
              </a:rPr>
              <a:t>PRODUCT</a:t>
            </a:r>
            <a:endParaRPr lang="en-US" sz="800" dirty="0"/>
          </a:p>
        </p:txBody>
      </p:sp>
      <p:sp>
        <p:nvSpPr>
          <p:cNvPr id="14" name="Text 12"/>
          <p:cNvSpPr/>
          <p:nvPr/>
        </p:nvSpPr>
        <p:spPr>
          <a:xfrm>
            <a:off x="607219" y="2215679"/>
            <a:ext cx="3101508" cy="167097"/>
          </a:xfrm>
          <a:prstGeom prst="rect">
            <a:avLst/>
          </a:prstGeom>
          <a:noFill/>
          <a:ln/>
        </p:spPr>
        <p:txBody>
          <a:bodyPr wrap="square" lIns="0" tIns="0" rIns="0" bIns="0" rtlCol="0" anchor="t"/>
          <a:lstStyle/>
          <a:p>
            <a:pPr marL="0" indent="0" algn="l">
              <a:lnSpc>
                <a:spcPts val="1316"/>
              </a:lnSpc>
              <a:buNone/>
            </a:pPr>
            <a:r>
              <a:rPr lang="en-US" sz="1013" b="1" dirty="0">
                <a:solidFill>
                  <a:srgbClr val="0F172A"/>
                </a:solidFill>
                <a:latin typeface="Liberation Sans Narrow" pitchFamily="34" charset="0"/>
                <a:ea typeface="Liberation Sans Narrow" pitchFamily="34" charset="-122"/>
                <a:cs typeface="Liberation Sans Narrow" pitchFamily="34" charset="-120"/>
              </a:rPr>
              <a:t>Terraform Cloud AI features (2024+)</a:t>
            </a:r>
            <a:endParaRPr lang="en-US" sz="1013" dirty="0"/>
          </a:p>
        </p:txBody>
      </p:sp>
      <p:sp>
        <p:nvSpPr>
          <p:cNvPr id="15" name="Shape 13"/>
          <p:cNvSpPr/>
          <p:nvPr/>
        </p:nvSpPr>
        <p:spPr>
          <a:xfrm>
            <a:off x="607219" y="3093355"/>
            <a:ext cx="2991780" cy="0"/>
          </a:xfrm>
          <a:prstGeom prst="line">
            <a:avLst/>
          </a:prstGeom>
          <a:noFill/>
          <a:ln w="7144">
            <a:solidFill>
              <a:srgbClr val="CBD5E1"/>
            </a:solidFill>
            <a:prstDash val="dash"/>
          </a:ln>
        </p:spPr>
      </p:sp>
      <p:sp>
        <p:nvSpPr>
          <p:cNvPr id="16" name="Text 14"/>
          <p:cNvSpPr/>
          <p:nvPr/>
        </p:nvSpPr>
        <p:spPr>
          <a:xfrm>
            <a:off x="607219" y="2532794"/>
            <a:ext cx="2991780" cy="123926"/>
          </a:xfrm>
          <a:prstGeom prst="rect">
            <a:avLst/>
          </a:prstGeom>
          <a:noFill/>
          <a:ln/>
        </p:spPr>
        <p:txBody>
          <a:bodyPr wrap="none" lIns="0" tIns="0" rIns="0" bIns="0" rtlCol="0" anchor="t">
            <a:normAutofit/>
          </a:bodyPr>
          <a:lstStyle/>
          <a:p>
            <a:pPr marL="0" indent="0" algn="l">
              <a:lnSpc>
                <a:spcPts val="1024"/>
              </a:lnSpc>
              <a:buNone/>
            </a:pPr>
            <a:r>
              <a:rPr lang="en-US" sz="800" b="1" kern="0" spc="68" dirty="0">
                <a:solidFill>
                  <a:srgbClr val="C2410C"/>
                </a:solidFill>
                <a:latin typeface="Carlito" pitchFamily="34" charset="0"/>
                <a:ea typeface="Carlito" pitchFamily="34" charset="-122"/>
                <a:cs typeface="Carlito" pitchFamily="34" charset="-120"/>
              </a:rPr>
              <a:t>APPROACH</a:t>
            </a:r>
            <a:endParaRPr lang="en-US" sz="800" dirty="0"/>
          </a:p>
        </p:txBody>
      </p:sp>
      <p:sp>
        <p:nvSpPr>
          <p:cNvPr id="17" name="Text 15"/>
          <p:cNvSpPr/>
          <p:nvPr/>
        </p:nvSpPr>
        <p:spPr>
          <a:xfrm>
            <a:off x="607219" y="2684152"/>
            <a:ext cx="2991780" cy="334194"/>
          </a:xfrm>
          <a:prstGeom prst="rect">
            <a:avLst/>
          </a:prstGeom>
          <a:noFill/>
          <a:ln/>
        </p:spPr>
        <p:txBody>
          <a:bodyPr wrap="square" lIns="0" tIns="0" rIns="0" bIns="0" rtlCol="0" anchor="t"/>
          <a:lstStyle/>
          <a:p>
            <a:pPr marL="0" indent="0" algn="l">
              <a:lnSpc>
                <a:spcPts val="1316"/>
              </a:lnSpc>
              <a:buNone/>
            </a:pPr>
            <a:r>
              <a:rPr lang="en-US" sz="1013" b="1" dirty="0">
                <a:solidFill>
                  <a:srgbClr val="0F172A"/>
                </a:solidFill>
                <a:latin typeface="Carlito" pitchFamily="34" charset="0"/>
                <a:ea typeface="Carlito" pitchFamily="34" charset="-122"/>
                <a:cs typeface="Carlito" pitchFamily="34" charset="-120"/>
              </a:rPr>
              <a:t>NL→HCL generation, AI-augmented plan explanations</a:t>
            </a:r>
            <a:endParaRPr lang="en-US" sz="1013" dirty="0"/>
          </a:p>
        </p:txBody>
      </p:sp>
      <p:sp>
        <p:nvSpPr>
          <p:cNvPr id="18" name="Shape 16"/>
          <p:cNvSpPr/>
          <p:nvPr/>
        </p:nvSpPr>
        <p:spPr>
          <a:xfrm>
            <a:off x="607219" y="3561829"/>
            <a:ext cx="2991780" cy="0"/>
          </a:xfrm>
          <a:prstGeom prst="line">
            <a:avLst/>
          </a:prstGeom>
          <a:noFill/>
          <a:ln w="7144">
            <a:solidFill>
              <a:srgbClr val="CBD5E1"/>
            </a:solidFill>
            <a:prstDash val="dash"/>
          </a:ln>
        </p:spPr>
      </p:sp>
      <p:sp>
        <p:nvSpPr>
          <p:cNvPr id="19" name="Text 17"/>
          <p:cNvSpPr/>
          <p:nvPr/>
        </p:nvSpPr>
        <p:spPr>
          <a:xfrm>
            <a:off x="607219" y="3168365"/>
            <a:ext cx="2991780" cy="123926"/>
          </a:xfrm>
          <a:prstGeom prst="rect">
            <a:avLst/>
          </a:prstGeom>
          <a:noFill/>
          <a:ln/>
        </p:spPr>
        <p:txBody>
          <a:bodyPr wrap="none" lIns="0" tIns="0" rIns="0" bIns="0" rtlCol="0" anchor="t">
            <a:normAutofit/>
          </a:bodyPr>
          <a:lstStyle/>
          <a:p>
            <a:pPr marL="0" indent="0" algn="l">
              <a:lnSpc>
                <a:spcPts val="1024"/>
              </a:lnSpc>
              <a:buNone/>
            </a:pPr>
            <a:r>
              <a:rPr lang="en-US" sz="800" b="1" kern="0" spc="68" dirty="0">
                <a:solidFill>
                  <a:srgbClr val="C2410C"/>
                </a:solidFill>
                <a:latin typeface="Carlito" pitchFamily="34" charset="0"/>
                <a:ea typeface="Carlito" pitchFamily="34" charset="-122"/>
                <a:cs typeface="Carlito" pitchFamily="34" charset="-120"/>
              </a:rPr>
              <a:t>RESULT</a:t>
            </a:r>
            <a:endParaRPr lang="en-US" sz="800" dirty="0"/>
          </a:p>
        </p:txBody>
      </p:sp>
      <p:sp>
        <p:nvSpPr>
          <p:cNvPr id="20" name="Text 18"/>
          <p:cNvSpPr/>
          <p:nvPr/>
        </p:nvSpPr>
        <p:spPr>
          <a:xfrm>
            <a:off x="607219" y="3319723"/>
            <a:ext cx="3101508" cy="167097"/>
          </a:xfrm>
          <a:prstGeom prst="rect">
            <a:avLst/>
          </a:prstGeom>
          <a:noFill/>
          <a:ln/>
        </p:spPr>
        <p:txBody>
          <a:bodyPr wrap="square" lIns="0" tIns="0" rIns="0" bIns="0" rtlCol="0" anchor="t"/>
          <a:lstStyle/>
          <a:p>
            <a:pPr marL="0" indent="0" algn="l">
              <a:lnSpc>
                <a:spcPts val="1316"/>
              </a:lnSpc>
              <a:buNone/>
            </a:pPr>
            <a:r>
              <a:rPr lang="en-US" sz="1013" b="1" dirty="0">
                <a:solidFill>
                  <a:srgbClr val="F97316"/>
                </a:solidFill>
                <a:latin typeface="Carlito" pitchFamily="34" charset="0"/>
                <a:ea typeface="Carlito" pitchFamily="34" charset="-122"/>
                <a:cs typeface="Carlito" pitchFamily="34" charset="-120"/>
              </a:rPr>
              <a:t>60% reduction in Terraform authoring time</a:t>
            </a:r>
            <a:endParaRPr lang="en-US" sz="1013" dirty="0"/>
          </a:p>
        </p:txBody>
      </p:sp>
      <p:sp>
        <p:nvSpPr>
          <p:cNvPr id="21" name="Text 19"/>
          <p:cNvSpPr/>
          <p:nvPr/>
        </p:nvSpPr>
        <p:spPr>
          <a:xfrm>
            <a:off x="607219" y="3636838"/>
            <a:ext cx="2991780" cy="123926"/>
          </a:xfrm>
          <a:prstGeom prst="rect">
            <a:avLst/>
          </a:prstGeom>
          <a:noFill/>
          <a:ln/>
        </p:spPr>
        <p:txBody>
          <a:bodyPr wrap="none" lIns="0" tIns="0" rIns="0" bIns="0" rtlCol="0" anchor="t">
            <a:normAutofit/>
          </a:bodyPr>
          <a:lstStyle/>
          <a:p>
            <a:pPr marL="0" indent="0" algn="l">
              <a:lnSpc>
                <a:spcPts val="1024"/>
              </a:lnSpc>
              <a:buNone/>
            </a:pPr>
            <a:r>
              <a:rPr lang="en-US" sz="800" b="1" kern="0" spc="68" dirty="0">
                <a:solidFill>
                  <a:srgbClr val="C2410C"/>
                </a:solidFill>
                <a:latin typeface="Carlito" pitchFamily="34" charset="0"/>
                <a:ea typeface="Carlito" pitchFamily="34" charset="-122"/>
                <a:cs typeface="Carlito" pitchFamily="34" charset="-120"/>
              </a:rPr>
              <a:t>QUALITY</a:t>
            </a:r>
            <a:endParaRPr lang="en-US" sz="800" dirty="0"/>
          </a:p>
        </p:txBody>
      </p:sp>
      <p:sp>
        <p:nvSpPr>
          <p:cNvPr id="22" name="Text 20"/>
          <p:cNvSpPr/>
          <p:nvPr/>
        </p:nvSpPr>
        <p:spPr>
          <a:xfrm>
            <a:off x="607219" y="3788197"/>
            <a:ext cx="3101508" cy="180465"/>
          </a:xfrm>
          <a:prstGeom prst="rect">
            <a:avLst/>
          </a:prstGeom>
          <a:noFill/>
          <a:ln/>
        </p:spPr>
        <p:txBody>
          <a:bodyPr wrap="square" lIns="0" tIns="0" rIns="0" bIns="0" rtlCol="0" anchor="t"/>
          <a:lstStyle/>
          <a:p>
            <a:pPr marL="0" indent="0" algn="l">
              <a:lnSpc>
                <a:spcPts val="1316"/>
              </a:lnSpc>
              <a:buNone/>
            </a:pPr>
            <a:r>
              <a:rPr lang="en-US" sz="1013" b="1" dirty="0">
                <a:solidFill>
                  <a:srgbClr val="F97316"/>
                </a:solidFill>
                <a:latin typeface="Carlito" pitchFamily="34" charset="0"/>
                <a:ea typeface="Carlito" pitchFamily="34" charset="-122"/>
                <a:cs typeface="Carlito" pitchFamily="34" charset="-120"/>
              </a:rPr>
              <a:t>92% of generated code passes tflint on first try</a:t>
            </a:r>
            <a:endParaRPr lang="en-US" sz="1013" dirty="0"/>
          </a:p>
        </p:txBody>
      </p:sp>
      <p:sp>
        <p:nvSpPr>
          <p:cNvPr id="23" name="Text 21"/>
          <p:cNvSpPr/>
          <p:nvPr/>
        </p:nvSpPr>
        <p:spPr>
          <a:xfrm>
            <a:off x="3891893" y="1045778"/>
            <a:ext cx="5252107" cy="240619"/>
          </a:xfrm>
          <a:prstGeom prst="rect">
            <a:avLst/>
          </a:prstGeom>
          <a:noFill/>
          <a:ln/>
        </p:spPr>
        <p:txBody>
          <a:bodyPr wrap="square" lIns="0" tIns="0" rIns="0" bIns="0" rtlCol="0" anchor="t"/>
          <a:lstStyle/>
          <a:p>
            <a:pPr marL="0" indent="0" algn="l">
              <a:lnSpc>
                <a:spcPts val="1755"/>
              </a:lnSpc>
              <a:buNone/>
            </a:pPr>
            <a:r>
              <a:rPr lang="en-US" sz="1463" b="1" dirty="0">
                <a:solidFill>
                  <a:srgbClr val="0F172A"/>
                </a:solidFill>
                <a:latin typeface="Carlito" pitchFamily="34" charset="0"/>
                <a:ea typeface="Carlito" pitchFamily="34" charset="-122"/>
                <a:cs typeface="Carlito" pitchFamily="34" charset="-120"/>
              </a:rPr>
              <a:t>How HashiCorp Embeds AI into Terraform Cloud</a:t>
            </a:r>
            <a:endParaRPr lang="en-US" sz="1463" dirty="0"/>
          </a:p>
        </p:txBody>
      </p:sp>
      <p:sp>
        <p:nvSpPr>
          <p:cNvPr id="24" name="Text 22"/>
          <p:cNvSpPr/>
          <p:nvPr/>
        </p:nvSpPr>
        <p:spPr>
          <a:xfrm>
            <a:off x="3891893" y="1340011"/>
            <a:ext cx="4937671" cy="1475434"/>
          </a:xfrm>
          <a:prstGeom prst="rect">
            <a:avLst/>
          </a:prstGeom>
          <a:noFill/>
          <a:ln/>
        </p:spPr>
        <p:txBody>
          <a:bodyPr wrap="square" lIns="0" tIns="0" rIns="0" bIns="0" rtlCol="0" anchor="t">
            <a:normAutofit/>
          </a:bodyPr>
          <a:lstStyle/>
          <a:p>
            <a:pPr marL="0" indent="0" algn="l">
              <a:lnSpc>
                <a:spcPts val="1395"/>
              </a:lnSpc>
              <a:buNone/>
            </a:pPr>
            <a:r>
              <a:rPr lang="en-US" sz="900" dirty="0">
                <a:solidFill>
                  <a:srgbClr val="334155"/>
                </a:solidFill>
                <a:latin typeface="Carlito" pitchFamily="34" charset="0"/>
                <a:ea typeface="Carlito" pitchFamily="34" charset="-122"/>
                <a:cs typeface="Carlito" pitchFamily="34" charset="-120"/>
              </a:rPr>
              <a:t>HashiCorp has integrated LLM features into Terraform Cloud. When an engineer opens a new workspace, they can describe the desired infrastructure in natural language — Terraform Cloud AI generates the HCL, pre-fills variables based on the org's existing modules, and explains the plan output in plain English. The generated code goes through Terraform Cloud's built-in policy-as-code checks (Sentinel) before any apply. HashiCorp reports that AI-assisted authoring cuts the time from "idea to plan" from days to hours. 92% of generated code passes tflint on the first try — the remaining 8% are caught by Sentinel policy checks and routed back to the human for review. The pattern: AI accelerates generation, linters and policies remain the safety net.</a:t>
            </a:r>
            <a:endParaRPr lang="en-US" sz="900" dirty="0"/>
          </a:p>
        </p:txBody>
      </p:sp>
      <p:sp>
        <p:nvSpPr>
          <p:cNvPr id="25" name="Text 23"/>
          <p:cNvSpPr/>
          <p:nvPr/>
        </p:nvSpPr>
        <p:spPr>
          <a:xfrm>
            <a:off x="3891893" y="2842878"/>
            <a:ext cx="4937671" cy="559891"/>
          </a:xfrm>
          <a:prstGeom prst="roundRect">
            <a:avLst>
              <a:gd name="adj" fmla="val 13610"/>
            </a:avLst>
          </a:prstGeom>
          <a:solidFill>
            <a:srgbClr val="FFF7ED"/>
          </a:solidFill>
          <a:ln/>
        </p:spPr>
        <p:txBody>
          <a:bodyPr wrap="square" rtlCol="0" anchor="ctr"/>
          <a:lstStyle/>
          <a:p>
            <a:pPr marL="0" indent="0">
              <a:buNone/>
            </a:pPr>
            <a:endParaRPr lang="en-US" dirty="0"/>
          </a:p>
        </p:txBody>
      </p:sp>
      <p:sp>
        <p:nvSpPr>
          <p:cNvPr id="26" name="Shape 24"/>
          <p:cNvSpPr/>
          <p:nvPr/>
        </p:nvSpPr>
        <p:spPr>
          <a:xfrm>
            <a:off x="3913324" y="2842878"/>
            <a:ext cx="0" cy="559891"/>
          </a:xfrm>
          <a:prstGeom prst="line">
            <a:avLst/>
          </a:prstGeom>
          <a:noFill/>
          <a:ln w="42863">
            <a:solidFill>
              <a:srgbClr val="F97316"/>
            </a:solidFill>
            <a:prstDash val="solid"/>
          </a:ln>
        </p:spPr>
      </p:sp>
      <p:sp>
        <p:nvSpPr>
          <p:cNvPr id="27" name="Text 25"/>
          <p:cNvSpPr/>
          <p:nvPr/>
        </p:nvSpPr>
        <p:spPr>
          <a:xfrm>
            <a:off x="4063343" y="2942890"/>
            <a:ext cx="4637633" cy="359866"/>
          </a:xfrm>
          <a:prstGeom prst="rect">
            <a:avLst/>
          </a:prstGeom>
          <a:noFill/>
          <a:ln/>
        </p:spPr>
        <p:txBody>
          <a:bodyPr wrap="square" lIns="0" tIns="0" rIns="0" bIns="0" rtlCol="0" anchor="t"/>
          <a:lstStyle/>
          <a:p>
            <a:pPr marL="0" indent="0" algn="l">
              <a:lnSpc>
                <a:spcPts val="1418"/>
              </a:lnSpc>
              <a:buNone/>
            </a:pPr>
            <a:r>
              <a:rPr lang="en-US" sz="1013" b="1" dirty="0">
                <a:solidFill>
                  <a:srgbClr val="C2410C"/>
                </a:solidFill>
                <a:latin typeface="Segoe UI Symbol" pitchFamily="34" charset="0"/>
                <a:ea typeface="Segoe UI Symbol" pitchFamily="34" charset="-122"/>
                <a:cs typeface="Segoe UI Symbol" pitchFamily="34" charset="-120"/>
              </a:rPr>
              <a:t>▿</a:t>
            </a:r>
            <a:r>
              <a:rPr lang="en-US" sz="1013" b="1" dirty="0">
                <a:solidFill>
                  <a:srgbClr val="C2410C"/>
                </a:solidFill>
                <a:latin typeface="Carlito" pitchFamily="34" charset="0"/>
                <a:ea typeface="Carlito" pitchFamily="34" charset="-122"/>
                <a:cs typeface="Carlito" pitchFamily="34" charset="-120"/>
              </a:rPr>
              <a:t> Lesson: The vendor of the tool is best positioned to embed AI — they have the data, the context, and the policy engine.</a:t>
            </a:r>
            <a:endParaRPr lang="en-US" sz="1013"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5601615" cy="373346"/>
          </a:xfrm>
          <a:prstGeom prst="rect">
            <a:avLst/>
          </a:prstGeom>
          <a:noFill/>
          <a:ln/>
        </p:spPr>
        <p:txBody>
          <a:bodyPr wrap="square" lIns="0" tIns="0" rIns="0" bIns="0" rtlCol="0" anchor="t"/>
          <a:lstStyle/>
          <a:p>
            <a:pPr marL="0" indent="0" algn="l">
              <a:lnSpc>
                <a:spcPts val="2723"/>
              </a:lnSpc>
              <a:buNone/>
            </a:pPr>
            <a:r>
              <a:rPr lang="en-US" sz="2475" b="1" kern="0" spc="-28" dirty="0">
                <a:solidFill>
                  <a:srgbClr val="0F172A"/>
                </a:solidFill>
                <a:latin typeface="Carlito" pitchFamily="34" charset="0"/>
                <a:ea typeface="Carlito" pitchFamily="34" charset="-122"/>
                <a:cs typeface="Carlito" pitchFamily="34" charset="-120"/>
              </a:rPr>
              <a:t>Natural Language → Ansible Playbook</a:t>
            </a:r>
            <a:endParaRPr lang="en-US" sz="2475" dirty="0"/>
          </a:p>
        </p:txBody>
      </p:sp>
      <p:sp>
        <p:nvSpPr>
          <p:cNvPr id="3" name="Text 1"/>
          <p:cNvSpPr/>
          <p:nvPr/>
        </p:nvSpPr>
        <p:spPr>
          <a:xfrm>
            <a:off x="457200" y="888616"/>
            <a:ext cx="571500" cy="42863"/>
          </a:xfrm>
          <a:prstGeom prst="roundRect">
            <a:avLst>
              <a:gd name="adj" fmla="val 66666"/>
            </a:avLst>
          </a:prstGeom>
          <a:solidFill>
            <a:srgbClr val="F97316"/>
          </a:solidFill>
          <a:ln/>
        </p:spPr>
        <p:txBody>
          <a:bodyPr wrap="square" rtlCol="0" anchor="ctr"/>
          <a:lstStyle/>
          <a:p>
            <a:pPr marL="0" indent="0">
              <a:buNone/>
            </a:pPr>
            <a:endParaRPr lang="en-US" dirty="0"/>
          </a:p>
        </p:txBody>
      </p:sp>
      <p:sp>
        <p:nvSpPr>
          <p:cNvPr id="4" name="Text 2"/>
          <p:cNvSpPr/>
          <p:nvPr/>
        </p:nvSpPr>
        <p:spPr>
          <a:xfrm>
            <a:off x="7162860" y="528672"/>
            <a:ext cx="1546800" cy="331333"/>
          </a:xfrm>
          <a:prstGeom prst="roundRect">
            <a:avLst>
              <a:gd name="adj" fmla="val 2871877"/>
            </a:avLst>
          </a:prstGeom>
          <a:solidFill>
            <a:srgbClr val="FED7AA"/>
          </a:solidFill>
          <a:ln/>
        </p:spPr>
        <p:txBody>
          <a:bodyPr wrap="square" rtlCol="0" anchor="ctr"/>
          <a:lstStyle/>
          <a:p>
            <a:pPr marL="0" indent="0">
              <a:buNone/>
            </a:pPr>
            <a:endParaRPr lang="en-US" dirty="0"/>
          </a:p>
        </p:txBody>
      </p:sp>
      <p:sp>
        <p:nvSpPr>
          <p:cNvPr id="5" name="Text 3"/>
          <p:cNvSpPr/>
          <p:nvPr/>
        </p:nvSpPr>
        <p:spPr>
          <a:xfrm>
            <a:off x="7185720" y="541474"/>
            <a:ext cx="1501080" cy="305730"/>
          </a:xfrm>
          <a:prstGeom prst="rect">
            <a:avLst/>
          </a:prstGeom>
          <a:noFill/>
          <a:ln/>
        </p:spPr>
        <p:txBody>
          <a:bodyPr wrap="none" lIns="0" tIns="0" rIns="0" bIns="0" rtlCol="0" anchor="ctr"/>
          <a:lstStyle/>
          <a:p>
            <a:pPr marL="0" indent="0" algn="ctr">
              <a:lnSpc>
                <a:spcPts val="1733"/>
              </a:lnSpc>
              <a:buNone/>
            </a:pPr>
            <a:r>
              <a:rPr lang="en-US" sz="1238" b="1" kern="0" spc="28" dirty="0">
                <a:solidFill>
                  <a:srgbClr val="C2410C"/>
                </a:solidFill>
                <a:latin typeface="Liberation Sans Narrow" pitchFamily="34" charset="0"/>
                <a:ea typeface="Liberation Sans Narrow" pitchFamily="34" charset="-122"/>
                <a:cs typeface="Liberation Sans Narrow" pitchFamily="34" charset="-120"/>
              </a:rPr>
              <a:t>SECTION C · 3.11</a:t>
            </a:r>
            <a:endParaRPr lang="en-US" sz="1238" dirty="0"/>
          </a:p>
        </p:txBody>
      </p:sp>
      <p:sp>
        <p:nvSpPr>
          <p:cNvPr id="6" name="Text 4"/>
          <p:cNvSpPr/>
          <p:nvPr/>
        </p:nvSpPr>
        <p:spPr>
          <a:xfrm>
            <a:off x="460772" y="1049350"/>
            <a:ext cx="8222456" cy="881360"/>
          </a:xfrm>
          <a:prstGeom prst="roundRect">
            <a:avLst>
              <a:gd name="adj" fmla="val 15130"/>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7" name="Text 5"/>
          <p:cNvSpPr/>
          <p:nvPr/>
        </p:nvSpPr>
        <p:spPr>
          <a:xfrm>
            <a:off x="650081" y="1210084"/>
            <a:ext cx="257175" cy="257175"/>
          </a:xfrm>
          <a:prstGeom prst="rect">
            <a:avLst/>
          </a:prstGeom>
          <a:noFill/>
          <a:ln/>
        </p:spPr>
        <p:txBody>
          <a:bodyPr wrap="none" lIns="0" tIns="0" rIns="0" bIns="0" rtlCol="0" anchor="ctr"/>
          <a:lstStyle/>
          <a:p>
            <a:pPr marL="0" indent="0" algn="ctr">
              <a:buNone/>
            </a:pPr>
            <a:r>
              <a:rPr lang="en-US" sz="2531" dirty="0">
                <a:solidFill>
                  <a:srgbClr val="F97316"/>
                </a:solidFill>
                <a:latin typeface="Segoe UI Symbol" pitchFamily="34" charset="0"/>
                <a:ea typeface="Segoe UI Symbol" pitchFamily="34" charset="-122"/>
                <a:cs typeface="Segoe UI Symbol" pitchFamily="34" charset="-120"/>
              </a:rPr>
              <a:t>“</a:t>
            </a:r>
            <a:endParaRPr lang="en-US" sz="2531" dirty="0"/>
          </a:p>
        </p:txBody>
      </p:sp>
      <p:sp>
        <p:nvSpPr>
          <p:cNvPr id="8" name="Text 6"/>
          <p:cNvSpPr/>
          <p:nvPr/>
        </p:nvSpPr>
        <p:spPr>
          <a:xfrm>
            <a:off x="1021556" y="1210084"/>
            <a:ext cx="7472363" cy="559891"/>
          </a:xfrm>
          <a:prstGeom prst="rect">
            <a:avLst/>
          </a:prstGeom>
          <a:noFill/>
          <a:ln/>
        </p:spPr>
        <p:txBody>
          <a:bodyPr wrap="square" lIns="0" tIns="0" rIns="0" bIns="0" rtlCol="0" anchor="t"/>
          <a:lstStyle/>
          <a:p>
            <a:pPr marL="0" indent="0" algn="l">
              <a:lnSpc>
                <a:spcPts val="2205"/>
              </a:lnSpc>
              <a:buNone/>
            </a:pPr>
            <a:r>
              <a:rPr lang="en-US" sz="1575" b="1" kern="0" spc="-17" dirty="0">
                <a:solidFill>
                  <a:srgbClr val="0F172A"/>
                </a:solidFill>
                <a:latin typeface="Carlito" pitchFamily="34" charset="0"/>
                <a:ea typeface="Carlito" pitchFamily="34" charset="-122"/>
                <a:cs typeface="Carlito" pitchFamily="34" charset="-120"/>
              </a:rPr>
              <a:t>Same pattern as Terraform: describe the desired host state in English. LLM generates the playbook. Lint with ansible-lint. Test with Molecule.</a:t>
            </a:r>
            <a:endParaRPr lang="en-US" sz="1575" dirty="0"/>
          </a:p>
        </p:txBody>
      </p:sp>
      <p:sp>
        <p:nvSpPr>
          <p:cNvPr id="9" name="Text 7"/>
          <p:cNvSpPr/>
          <p:nvPr/>
        </p:nvSpPr>
        <p:spPr>
          <a:xfrm>
            <a:off x="460772" y="2080729"/>
            <a:ext cx="2659819" cy="2097695"/>
          </a:xfrm>
          <a:prstGeom prst="roundRect">
            <a:avLst>
              <a:gd name="adj" fmla="val 6357"/>
            </a:avLst>
          </a:prstGeom>
          <a:solidFill>
            <a:srgbClr val="F1F5F9"/>
          </a:solidFill>
          <a:ln w="7144">
            <a:solidFill>
              <a:srgbClr val="CBD5E1"/>
            </a:solidFill>
            <a:prstDash val="solid"/>
          </a:ln>
        </p:spPr>
        <p:txBody>
          <a:bodyPr wrap="square" rtlCol="0" anchor="ctr"/>
          <a:lstStyle/>
          <a:p>
            <a:pPr marL="0" indent="0">
              <a:buNone/>
            </a:pPr>
            <a:endParaRPr lang="en-US" dirty="0"/>
          </a:p>
        </p:txBody>
      </p:sp>
      <p:sp>
        <p:nvSpPr>
          <p:cNvPr id="10" name="Text 8"/>
          <p:cNvSpPr/>
          <p:nvPr/>
        </p:nvSpPr>
        <p:spPr>
          <a:xfrm>
            <a:off x="835819" y="2220032"/>
            <a:ext cx="1381311" cy="216027"/>
          </a:xfrm>
          <a:prstGeom prst="rect">
            <a:avLst/>
          </a:prstGeom>
          <a:noFill/>
          <a:ln/>
        </p:spPr>
        <p:txBody>
          <a:bodyPr wrap="none" lIns="0" tIns="0" rIns="0" bIns="0" rtlCol="0" anchor="t"/>
          <a:lstStyle/>
          <a:p>
            <a:pPr marL="0" indent="0" algn="l">
              <a:lnSpc>
                <a:spcPts val="1733"/>
              </a:lnSpc>
              <a:buNone/>
            </a:pPr>
            <a:r>
              <a:rPr lang="en-US" sz="1238" b="1" dirty="0">
                <a:solidFill>
                  <a:srgbClr val="C2410C"/>
                </a:solidFill>
                <a:latin typeface="Carlito" pitchFamily="34" charset="0"/>
                <a:ea typeface="Carlito" pitchFamily="34" charset="-122"/>
                <a:cs typeface="Carlito" pitchFamily="34" charset="-120"/>
              </a:rPr>
              <a:t>Best Use Cases</a:t>
            </a:r>
            <a:endParaRPr lang="en-US" sz="1238" dirty="0"/>
          </a:p>
        </p:txBody>
      </p:sp>
      <p:sp>
        <p:nvSpPr>
          <p:cNvPr id="11" name="Text 9"/>
          <p:cNvSpPr/>
          <p:nvPr/>
        </p:nvSpPr>
        <p:spPr>
          <a:xfrm>
            <a:off x="607219" y="2237110"/>
            <a:ext cx="171450" cy="171450"/>
          </a:xfrm>
          <a:prstGeom prst="rect">
            <a:avLst/>
          </a:prstGeom>
          <a:noFill/>
          <a:ln/>
        </p:spPr>
        <p:txBody>
          <a:bodyPr wrap="none" lIns="0" tIns="0" rIns="0" bIns="0" rtlCol="0" anchor="ctr"/>
          <a:lstStyle/>
          <a:p>
            <a:pPr marL="0" indent="0" algn="ctr">
              <a:buNone/>
            </a:pPr>
            <a:r>
              <a:rPr lang="en-US" sz="1688" dirty="0">
                <a:solidFill>
                  <a:srgbClr val="C2410C"/>
                </a:solidFill>
                <a:latin typeface="Segoe UI Symbol" pitchFamily="34" charset="0"/>
                <a:ea typeface="Segoe UI Symbol" pitchFamily="34" charset="-122"/>
                <a:cs typeface="Segoe UI Symbol" pitchFamily="34" charset="-120"/>
              </a:rPr>
              <a:t>✓</a:t>
            </a:r>
            <a:endParaRPr lang="en-US" sz="1688" dirty="0"/>
          </a:p>
        </p:txBody>
      </p:sp>
      <p:sp>
        <p:nvSpPr>
          <p:cNvPr id="12" name="Text 10"/>
          <p:cNvSpPr/>
          <p:nvPr/>
        </p:nvSpPr>
        <p:spPr>
          <a:xfrm>
            <a:off x="607219" y="2475756"/>
            <a:ext cx="2366925" cy="570326"/>
          </a:xfrm>
          <a:prstGeom prst="rect">
            <a:avLst/>
          </a:prstGeom>
          <a:noFill/>
          <a:ln/>
        </p:spPr>
        <p:txBody>
          <a:bodyPr wrap="square" lIns="0" tIns="0" rIns="0" bIns="0" rtlCol="0" anchor="t"/>
          <a:lstStyle/>
          <a:p>
            <a:pPr marL="0" indent="0" algn="l">
              <a:lnSpc>
                <a:spcPts val="1387"/>
              </a:lnSpc>
              <a:buNone/>
            </a:pPr>
            <a:r>
              <a:rPr lang="en-US" sz="956" dirty="0">
                <a:solidFill>
                  <a:srgbClr val="334155"/>
                </a:solidFill>
                <a:latin typeface="Carlito" pitchFamily="34" charset="0"/>
                <a:ea typeface="Carlito" pitchFamily="34" charset="-122"/>
                <a:cs typeface="Carlito" pitchFamily="34" charset="-120"/>
              </a:rPr>
              <a:t>Boilerplate: install a stack (nginx + postgres + redis), configure a firewall, create users, deploy a service.</a:t>
            </a:r>
            <a:endParaRPr lang="en-US" sz="956" dirty="0"/>
          </a:p>
        </p:txBody>
      </p:sp>
      <p:sp>
        <p:nvSpPr>
          <p:cNvPr id="13" name="Text 11"/>
          <p:cNvSpPr/>
          <p:nvPr/>
        </p:nvSpPr>
        <p:spPr>
          <a:xfrm>
            <a:off x="3242035" y="2080729"/>
            <a:ext cx="2659819" cy="2097695"/>
          </a:xfrm>
          <a:prstGeom prst="roundRect">
            <a:avLst>
              <a:gd name="adj" fmla="val 6357"/>
            </a:avLst>
          </a:prstGeom>
          <a:solidFill>
            <a:srgbClr val="F1F5F9"/>
          </a:solidFill>
          <a:ln w="7144">
            <a:solidFill>
              <a:srgbClr val="CBD5E1"/>
            </a:solidFill>
            <a:prstDash val="solid"/>
          </a:ln>
        </p:spPr>
        <p:txBody>
          <a:bodyPr wrap="square" rtlCol="0" anchor="ctr"/>
          <a:lstStyle/>
          <a:p>
            <a:pPr marL="0" indent="0">
              <a:buNone/>
            </a:pPr>
            <a:endParaRPr lang="en-US" dirty="0"/>
          </a:p>
        </p:txBody>
      </p:sp>
      <p:sp>
        <p:nvSpPr>
          <p:cNvPr id="14" name="Text 12"/>
          <p:cNvSpPr/>
          <p:nvPr/>
        </p:nvSpPr>
        <p:spPr>
          <a:xfrm>
            <a:off x="3617082" y="2220032"/>
            <a:ext cx="1624645" cy="216027"/>
          </a:xfrm>
          <a:prstGeom prst="rect">
            <a:avLst/>
          </a:prstGeom>
          <a:noFill/>
          <a:ln/>
        </p:spPr>
        <p:txBody>
          <a:bodyPr wrap="none" lIns="0" tIns="0" rIns="0" bIns="0" rtlCol="0" anchor="t"/>
          <a:lstStyle/>
          <a:p>
            <a:pPr marL="0" indent="0" algn="l">
              <a:lnSpc>
                <a:spcPts val="1733"/>
              </a:lnSpc>
              <a:buNone/>
            </a:pPr>
            <a:r>
              <a:rPr lang="en-US" sz="1238" b="1" dirty="0">
                <a:solidFill>
                  <a:srgbClr val="C2410C"/>
                </a:solidFill>
                <a:latin typeface="Carlito" pitchFamily="34" charset="0"/>
                <a:ea typeface="Carlito" pitchFamily="34" charset="-122"/>
                <a:cs typeface="Carlito" pitchFamily="34" charset="-120"/>
              </a:rPr>
              <a:t>Where AI Struggles</a:t>
            </a:r>
            <a:endParaRPr lang="en-US" sz="1238" dirty="0"/>
          </a:p>
        </p:txBody>
      </p:sp>
      <p:sp>
        <p:nvSpPr>
          <p:cNvPr id="15" name="Text 13"/>
          <p:cNvSpPr/>
          <p:nvPr/>
        </p:nvSpPr>
        <p:spPr>
          <a:xfrm>
            <a:off x="3388482" y="2237110"/>
            <a:ext cx="171450" cy="171450"/>
          </a:xfrm>
          <a:prstGeom prst="rect">
            <a:avLst/>
          </a:prstGeom>
          <a:noFill/>
          <a:ln/>
        </p:spPr>
        <p:txBody>
          <a:bodyPr wrap="none" lIns="0" tIns="0" rIns="0" bIns="0" rtlCol="0" anchor="ctr"/>
          <a:lstStyle/>
          <a:p>
            <a:pPr marL="0" indent="0" algn="ctr">
              <a:buNone/>
            </a:pPr>
            <a:r>
              <a:rPr lang="en-US" sz="1688" dirty="0">
                <a:solidFill>
                  <a:srgbClr val="C2410C"/>
                </a:solidFill>
                <a:latin typeface="Segoe UI Symbol" pitchFamily="34" charset="0"/>
                <a:ea typeface="Segoe UI Symbol" pitchFamily="34" charset="-122"/>
                <a:cs typeface="Segoe UI Symbol" pitchFamily="34" charset="-120"/>
              </a:rPr>
              <a:t>⚠</a:t>
            </a:r>
            <a:endParaRPr lang="en-US" sz="1688" dirty="0"/>
          </a:p>
        </p:txBody>
      </p:sp>
      <p:sp>
        <p:nvSpPr>
          <p:cNvPr id="16" name="Text 14"/>
          <p:cNvSpPr/>
          <p:nvPr/>
        </p:nvSpPr>
        <p:spPr>
          <a:xfrm>
            <a:off x="3388482" y="2475756"/>
            <a:ext cx="2366925" cy="760434"/>
          </a:xfrm>
          <a:prstGeom prst="rect">
            <a:avLst/>
          </a:prstGeom>
          <a:noFill/>
          <a:ln/>
        </p:spPr>
        <p:txBody>
          <a:bodyPr wrap="square" lIns="0" tIns="0" rIns="0" bIns="0" rtlCol="0" anchor="t"/>
          <a:lstStyle/>
          <a:p>
            <a:pPr marL="0" indent="0" algn="l">
              <a:lnSpc>
                <a:spcPts val="1387"/>
              </a:lnSpc>
              <a:buNone/>
            </a:pPr>
            <a:r>
              <a:rPr lang="en-US" sz="956" dirty="0">
                <a:solidFill>
                  <a:srgbClr val="334155"/>
                </a:solidFill>
                <a:latin typeface="Carlito" pitchFamily="34" charset="0"/>
                <a:ea typeface="Carlito" pitchFamily="34" charset="-122"/>
                <a:cs typeface="Carlito" pitchFamily="34" charset="-120"/>
              </a:rPr>
              <a:t>Complex multi-step workflows with cross-host dependencies, conditional logic, or fact-gathering. AI tends to hallucinate module names or arguments.</a:t>
            </a:r>
            <a:endParaRPr lang="en-US" sz="956" dirty="0"/>
          </a:p>
        </p:txBody>
      </p:sp>
      <p:sp>
        <p:nvSpPr>
          <p:cNvPr id="17" name="Text 15"/>
          <p:cNvSpPr/>
          <p:nvPr/>
        </p:nvSpPr>
        <p:spPr>
          <a:xfrm>
            <a:off x="6023297" y="2080729"/>
            <a:ext cx="2659931" cy="2097695"/>
          </a:xfrm>
          <a:prstGeom prst="roundRect">
            <a:avLst>
              <a:gd name="adj" fmla="val 6357"/>
            </a:avLst>
          </a:prstGeom>
          <a:solidFill>
            <a:srgbClr val="F1F5F9"/>
          </a:solidFill>
          <a:ln w="7144">
            <a:solidFill>
              <a:srgbClr val="CBD5E1"/>
            </a:solidFill>
            <a:prstDash val="solid"/>
          </a:ln>
        </p:spPr>
        <p:txBody>
          <a:bodyPr wrap="square" rtlCol="0" anchor="ctr"/>
          <a:lstStyle/>
          <a:p>
            <a:pPr marL="0" indent="0">
              <a:buNone/>
            </a:pPr>
            <a:endParaRPr lang="en-US" dirty="0"/>
          </a:p>
        </p:txBody>
      </p:sp>
      <p:sp>
        <p:nvSpPr>
          <p:cNvPr id="18" name="Text 16"/>
          <p:cNvSpPr/>
          <p:nvPr/>
        </p:nvSpPr>
        <p:spPr>
          <a:xfrm>
            <a:off x="6398344" y="2220032"/>
            <a:ext cx="1212345" cy="216027"/>
          </a:xfrm>
          <a:prstGeom prst="rect">
            <a:avLst/>
          </a:prstGeom>
          <a:noFill/>
          <a:ln/>
        </p:spPr>
        <p:txBody>
          <a:bodyPr wrap="none" lIns="0" tIns="0" rIns="0" bIns="0" rtlCol="0" anchor="t"/>
          <a:lstStyle/>
          <a:p>
            <a:pPr marL="0" indent="0" algn="l">
              <a:lnSpc>
                <a:spcPts val="1733"/>
              </a:lnSpc>
              <a:buNone/>
            </a:pPr>
            <a:r>
              <a:rPr lang="en-US" sz="1238" b="1" dirty="0">
                <a:solidFill>
                  <a:srgbClr val="C2410C"/>
                </a:solidFill>
                <a:latin typeface="Carlito" pitchFamily="34" charset="0"/>
                <a:ea typeface="Carlito" pitchFamily="34" charset="-122"/>
                <a:cs typeface="Carlito" pitchFamily="34" charset="-120"/>
              </a:rPr>
              <a:t>Safety Pattern</a:t>
            </a:r>
            <a:endParaRPr lang="en-US" sz="1238" dirty="0"/>
          </a:p>
        </p:txBody>
      </p:sp>
      <p:sp>
        <p:nvSpPr>
          <p:cNvPr id="19" name="Text 17"/>
          <p:cNvSpPr/>
          <p:nvPr/>
        </p:nvSpPr>
        <p:spPr>
          <a:xfrm>
            <a:off x="6169744" y="2237110"/>
            <a:ext cx="171450" cy="171450"/>
          </a:xfrm>
          <a:prstGeom prst="rect">
            <a:avLst/>
          </a:prstGeom>
          <a:noFill/>
          <a:ln/>
        </p:spPr>
        <p:txBody>
          <a:bodyPr wrap="none" lIns="0" tIns="0" rIns="0" bIns="0" rtlCol="0" anchor="ctr"/>
          <a:lstStyle/>
          <a:p>
            <a:pPr marL="0" indent="0" algn="ctr">
              <a:buNone/>
            </a:pPr>
            <a:r>
              <a:rPr lang="en-US" sz="1688" dirty="0">
                <a:solidFill>
                  <a:srgbClr val="C2410C"/>
                </a:solidFill>
                <a:latin typeface="Segoe UI Symbol" pitchFamily="34" charset="0"/>
                <a:ea typeface="Segoe UI Symbol" pitchFamily="34" charset="-122"/>
                <a:cs typeface="Segoe UI Symbol" pitchFamily="34" charset="-120"/>
              </a:rPr>
              <a:t>⛨</a:t>
            </a:r>
            <a:endParaRPr lang="en-US" sz="1688" dirty="0"/>
          </a:p>
        </p:txBody>
      </p:sp>
      <p:sp>
        <p:nvSpPr>
          <p:cNvPr id="20" name="Text 18"/>
          <p:cNvSpPr/>
          <p:nvPr/>
        </p:nvSpPr>
        <p:spPr>
          <a:xfrm>
            <a:off x="6169744" y="2475756"/>
            <a:ext cx="2367037" cy="760434"/>
          </a:xfrm>
          <a:prstGeom prst="rect">
            <a:avLst/>
          </a:prstGeom>
          <a:noFill/>
          <a:ln/>
        </p:spPr>
        <p:txBody>
          <a:bodyPr wrap="square" lIns="0" tIns="0" rIns="0" bIns="0" rtlCol="0" anchor="t"/>
          <a:lstStyle/>
          <a:p>
            <a:pPr marL="0" indent="0" algn="l">
              <a:lnSpc>
                <a:spcPts val="1387"/>
              </a:lnSpc>
              <a:buNone/>
            </a:pPr>
            <a:r>
              <a:rPr lang="en-US" sz="956" dirty="0">
                <a:solidFill>
                  <a:srgbClr val="334155"/>
                </a:solidFill>
                <a:latin typeface="Carlito" pitchFamily="34" charset="0"/>
                <a:ea typeface="Carlito" pitchFamily="34" charset="-122"/>
                <a:cs typeface="Carlito" pitchFamily="34" charset="-120"/>
              </a:rPr>
              <a:t>ALWAYS run ansible-lint + ansible-playbook --check (dry-run) before applying. Never apply AI-generated playbooks directly to production.</a:t>
            </a:r>
            <a:endParaRPr lang="en-US" sz="956" dirty="0"/>
          </a:p>
        </p:txBody>
      </p:sp>
      <p:sp>
        <p:nvSpPr>
          <p:cNvPr id="21" name="Text 19"/>
          <p:cNvSpPr/>
          <p:nvPr/>
        </p:nvSpPr>
        <p:spPr>
          <a:xfrm>
            <a:off x="457200" y="4296296"/>
            <a:ext cx="8229600" cy="390004"/>
          </a:xfrm>
          <a:prstGeom prst="roundRect">
            <a:avLst>
              <a:gd name="adj" fmla="val 19538"/>
            </a:avLst>
          </a:prstGeom>
          <a:solidFill>
            <a:srgbClr val="FFF7ED"/>
          </a:solidFill>
          <a:ln/>
        </p:spPr>
        <p:txBody>
          <a:bodyPr wrap="square" rtlCol="0" anchor="ctr"/>
          <a:lstStyle/>
          <a:p>
            <a:pPr marL="0" indent="0">
              <a:buNone/>
            </a:pPr>
            <a:endParaRPr lang="en-US" dirty="0"/>
          </a:p>
        </p:txBody>
      </p:sp>
      <p:sp>
        <p:nvSpPr>
          <p:cNvPr id="22" name="Shape 20"/>
          <p:cNvSpPr/>
          <p:nvPr/>
        </p:nvSpPr>
        <p:spPr>
          <a:xfrm>
            <a:off x="478631" y="4296296"/>
            <a:ext cx="0" cy="390004"/>
          </a:xfrm>
          <a:prstGeom prst="line">
            <a:avLst/>
          </a:prstGeom>
          <a:noFill/>
          <a:ln w="42863">
            <a:solidFill>
              <a:srgbClr val="F97316"/>
            </a:solidFill>
            <a:prstDash val="solid"/>
          </a:ln>
        </p:spPr>
      </p:sp>
      <p:sp>
        <p:nvSpPr>
          <p:cNvPr id="23" name="Text 21"/>
          <p:cNvSpPr/>
          <p:nvPr/>
        </p:nvSpPr>
        <p:spPr>
          <a:xfrm>
            <a:off x="657225" y="4396308"/>
            <a:ext cx="7872413" cy="189979"/>
          </a:xfrm>
          <a:prstGeom prst="rect">
            <a:avLst/>
          </a:prstGeom>
          <a:noFill/>
          <a:ln/>
        </p:spPr>
        <p:txBody>
          <a:bodyPr wrap="square" lIns="0" tIns="0" rIns="0" bIns="0" rtlCol="0" anchor="t"/>
          <a:lstStyle/>
          <a:p>
            <a:pPr marL="0" indent="0" algn="l">
              <a:lnSpc>
                <a:spcPts val="1496"/>
              </a:lnSpc>
              <a:buNone/>
            </a:pPr>
            <a:r>
              <a:rPr lang="en-US" sz="1069" b="1" dirty="0">
                <a:solidFill>
                  <a:srgbClr val="C2410C"/>
                </a:solidFill>
                <a:latin typeface="Segoe UI Symbol" pitchFamily="34" charset="0"/>
                <a:ea typeface="Segoe UI Symbol" pitchFamily="34" charset="-122"/>
                <a:cs typeface="Segoe UI Symbol" pitchFamily="34" charset="-120"/>
              </a:rPr>
              <a:t>☻</a:t>
            </a:r>
            <a:r>
              <a:rPr lang="en-US" sz="1069" b="1" dirty="0">
                <a:solidFill>
                  <a:srgbClr val="C2410C"/>
                </a:solidFill>
                <a:latin typeface="Carlito" pitchFamily="34" charset="0"/>
                <a:ea typeface="Carlito" pitchFamily="34" charset="-122"/>
                <a:cs typeface="Carlito" pitchFamily="34" charset="-120"/>
              </a:rPr>
              <a:t> AI is a junior engineer. Treat its playbooks the same way you would treat a junior's PR — review every line.</a:t>
            </a:r>
            <a:endParaRPr lang="en-US" sz="1069"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5764549" cy="373346"/>
          </a:xfrm>
          <a:prstGeom prst="rect">
            <a:avLst/>
          </a:prstGeom>
          <a:noFill/>
          <a:ln/>
        </p:spPr>
        <p:txBody>
          <a:bodyPr wrap="square" lIns="0" tIns="0" rIns="0" bIns="0" rtlCol="0" anchor="t"/>
          <a:lstStyle/>
          <a:p>
            <a:pPr marL="0" indent="0" algn="l">
              <a:lnSpc>
                <a:spcPts val="2723"/>
              </a:lnSpc>
              <a:buNone/>
            </a:pPr>
            <a:r>
              <a:rPr lang="en-US" sz="2475" b="1" kern="0" spc="-28" dirty="0">
                <a:solidFill>
                  <a:srgbClr val="0F172A"/>
                </a:solidFill>
                <a:latin typeface="Carlito" pitchFamily="34" charset="0"/>
                <a:ea typeface="Carlito" pitchFamily="34" charset="-122"/>
                <a:cs typeface="Carlito" pitchFamily="34" charset="-120"/>
              </a:rPr>
              <a:t>Code Example — NL Playbook Request</a:t>
            </a:r>
            <a:endParaRPr lang="en-US" sz="2475" dirty="0"/>
          </a:p>
        </p:txBody>
      </p:sp>
      <p:sp>
        <p:nvSpPr>
          <p:cNvPr id="3" name="Text 1"/>
          <p:cNvSpPr/>
          <p:nvPr/>
        </p:nvSpPr>
        <p:spPr>
          <a:xfrm>
            <a:off x="457200" y="860041"/>
            <a:ext cx="571500" cy="42863"/>
          </a:xfrm>
          <a:prstGeom prst="roundRect">
            <a:avLst>
              <a:gd name="adj" fmla="val 66666"/>
            </a:avLst>
          </a:prstGeom>
          <a:solidFill>
            <a:srgbClr val="F97316"/>
          </a:solidFill>
          <a:ln/>
        </p:spPr>
        <p:txBody>
          <a:bodyPr wrap="square" rtlCol="0" anchor="ctr"/>
          <a:lstStyle/>
          <a:p>
            <a:pPr marL="0" indent="0">
              <a:buNone/>
            </a:pPr>
            <a:endParaRPr lang="en-US" dirty="0"/>
          </a:p>
        </p:txBody>
      </p:sp>
      <p:sp>
        <p:nvSpPr>
          <p:cNvPr id="4" name="Text 2"/>
          <p:cNvSpPr/>
          <p:nvPr/>
        </p:nvSpPr>
        <p:spPr>
          <a:xfrm>
            <a:off x="7162860" y="514385"/>
            <a:ext cx="1546800" cy="331333"/>
          </a:xfrm>
          <a:prstGeom prst="roundRect">
            <a:avLst>
              <a:gd name="adj" fmla="val 2871877"/>
            </a:avLst>
          </a:prstGeom>
          <a:solidFill>
            <a:srgbClr val="FED7AA"/>
          </a:solidFill>
          <a:ln/>
        </p:spPr>
        <p:txBody>
          <a:bodyPr wrap="square" rtlCol="0" anchor="ctr"/>
          <a:lstStyle/>
          <a:p>
            <a:pPr marL="0" indent="0">
              <a:buNone/>
            </a:pPr>
            <a:endParaRPr lang="en-US" dirty="0"/>
          </a:p>
        </p:txBody>
      </p:sp>
      <p:sp>
        <p:nvSpPr>
          <p:cNvPr id="5" name="Text 3"/>
          <p:cNvSpPr/>
          <p:nvPr/>
        </p:nvSpPr>
        <p:spPr>
          <a:xfrm>
            <a:off x="7185720" y="527186"/>
            <a:ext cx="1501080" cy="305730"/>
          </a:xfrm>
          <a:prstGeom prst="rect">
            <a:avLst/>
          </a:prstGeom>
          <a:noFill/>
          <a:ln/>
        </p:spPr>
        <p:txBody>
          <a:bodyPr wrap="none" lIns="0" tIns="0" rIns="0" bIns="0" rtlCol="0" anchor="ctr"/>
          <a:lstStyle/>
          <a:p>
            <a:pPr marL="0" indent="0" algn="ctr">
              <a:lnSpc>
                <a:spcPts val="1733"/>
              </a:lnSpc>
              <a:buNone/>
            </a:pPr>
            <a:r>
              <a:rPr lang="en-US" sz="1238" b="1" kern="0" spc="28" dirty="0">
                <a:solidFill>
                  <a:srgbClr val="C2410C"/>
                </a:solidFill>
                <a:latin typeface="Liberation Sans Narrow" pitchFamily="34" charset="0"/>
                <a:ea typeface="Liberation Sans Narrow" pitchFamily="34" charset="-122"/>
                <a:cs typeface="Liberation Sans Narrow" pitchFamily="34" charset="-120"/>
              </a:rPr>
              <a:t>SECTION C · 3.12</a:t>
            </a:r>
            <a:endParaRPr lang="en-US" sz="1238" dirty="0"/>
          </a:p>
        </p:txBody>
      </p:sp>
      <p:sp>
        <p:nvSpPr>
          <p:cNvPr id="6" name="Text 4"/>
          <p:cNvSpPr/>
          <p:nvPr/>
        </p:nvSpPr>
        <p:spPr>
          <a:xfrm>
            <a:off x="457200" y="960053"/>
            <a:ext cx="8636000" cy="216027"/>
          </a:xfrm>
          <a:prstGeom prst="rect">
            <a:avLst/>
          </a:prstGeom>
          <a:noFill/>
          <a:ln/>
        </p:spPr>
        <p:txBody>
          <a:bodyPr wrap="square" lIns="0" tIns="0" rIns="0" bIns="0" rtlCol="0" anchor="t"/>
          <a:lstStyle/>
          <a:p>
            <a:pPr marL="0" indent="0" algn="l">
              <a:lnSpc>
                <a:spcPts val="1575"/>
              </a:lnSpc>
              <a:buNone/>
            </a:pPr>
            <a:r>
              <a:rPr lang="en-US" sz="1125" dirty="0">
                <a:solidFill>
                  <a:srgbClr val="64748B"/>
                </a:solidFill>
                <a:latin typeface="Carlito" pitchFamily="34" charset="0"/>
                <a:ea typeface="Carlito" pitchFamily="34" charset="-122"/>
                <a:cs typeface="Carlito" pitchFamily="34" charset="-120"/>
              </a:rPr>
              <a:t>Describe the desired host state in plain English.</a:t>
            </a:r>
            <a:endParaRPr lang="en-US" sz="1125" dirty="0"/>
          </a:p>
        </p:txBody>
      </p:sp>
      <p:sp>
        <p:nvSpPr>
          <p:cNvPr id="7" name="Text 5"/>
          <p:cNvSpPr/>
          <p:nvPr/>
        </p:nvSpPr>
        <p:spPr>
          <a:xfrm>
            <a:off x="600075" y="1360103"/>
            <a:ext cx="2056114" cy="143490"/>
          </a:xfrm>
          <a:prstGeom prst="rect">
            <a:avLst/>
          </a:prstGeom>
          <a:noFill/>
          <a:ln/>
        </p:spPr>
        <p:txBody>
          <a:bodyPr wrap="none" lIns="0" tIns="0" rIns="0" bIns="0" rtlCol="0" anchor="t"/>
          <a:lstStyle/>
          <a:p>
            <a:pPr marL="0" indent="0" algn="l">
              <a:lnSpc>
                <a:spcPts val="1024"/>
              </a:lnSpc>
              <a:buNone/>
            </a:pPr>
            <a:r>
              <a:rPr lang="en-US" sz="731" i="1" dirty="0">
                <a:solidFill>
                  <a:srgbClr val="94A3B8"/>
                </a:solidFill>
                <a:latin typeface="Courier New" pitchFamily="34" charset="0"/>
                <a:ea typeface="Courier New" pitchFamily="34" charset="-122"/>
                <a:cs typeface="Courier New" pitchFamily="34" charset="-120"/>
              </a:rPr>
              <a:t># prompt_to_llm.txt — NL playbook request</a:t>
            </a:r>
            <a:endParaRPr lang="en-US" sz="731" dirty="0"/>
          </a:p>
        </p:txBody>
      </p:sp>
      <p:sp>
        <p:nvSpPr>
          <p:cNvPr id="8" name="Text 6"/>
          <p:cNvSpPr/>
          <p:nvPr/>
        </p:nvSpPr>
        <p:spPr>
          <a:xfrm>
            <a:off x="577585" y="2009738"/>
            <a:ext cx="625409" cy="102495"/>
          </a:xfrm>
          <a:prstGeom prst="rect">
            <a:avLst/>
          </a:prstGeom>
          <a:noFill/>
          <a:ln/>
        </p:spPr>
        <p:txBody>
          <a:bodyPr wrap="none" lIns="0" tIns="0" rIns="0" bIns="0" rtlCol="0" anchor="t">
            <a:normAutofit fontScale="25000" lnSpcReduction="20000"/>
          </a:bodyPr>
          <a:lstStyle/>
          <a:p>
            <a:pPr marL="0" indent="0" algn="l">
              <a:lnSpc>
                <a:spcPts val="1024"/>
              </a:lnSpc>
              <a:buNone/>
            </a:pPr>
            <a:r>
              <a:rPr lang="en-US" sz="800" dirty="0">
                <a:solidFill>
                  <a:srgbClr val="FBBF24"/>
                </a:solidFill>
                <a:latin typeface="Courier New" pitchFamily="34" charset="0"/>
                <a:ea typeface="Courier New" pitchFamily="34" charset="-122"/>
                <a:cs typeface="Courier New" pitchFamily="34" charset="-120"/>
              </a:rPr>
              <a:t>## Context</a:t>
            </a:r>
            <a:endParaRPr lang="en-US" sz="800" dirty="0"/>
          </a:p>
        </p:txBody>
      </p:sp>
      <p:sp>
        <p:nvSpPr>
          <p:cNvPr id="9" name="Text 7"/>
          <p:cNvSpPr/>
          <p:nvPr/>
        </p:nvSpPr>
        <p:spPr>
          <a:xfrm>
            <a:off x="689603" y="2139665"/>
            <a:ext cx="537891" cy="143490"/>
          </a:xfrm>
          <a:prstGeom prst="rect">
            <a:avLst/>
          </a:prstGeom>
          <a:noFill/>
          <a:ln/>
        </p:spPr>
        <p:txBody>
          <a:bodyPr wrap="none" lIns="0" tIns="0" rIns="0" bIns="0" rtlCol="0" anchor="t"/>
          <a:lstStyle/>
          <a:p>
            <a:pPr marL="0" indent="0" algn="l">
              <a:lnSpc>
                <a:spcPts val="1024"/>
              </a:lnSpc>
              <a:buNone/>
            </a:pPr>
            <a:r>
              <a:rPr lang="en-US" sz="800" dirty="0">
                <a:solidFill>
                  <a:srgbClr val="FBBF24"/>
                </a:solidFill>
                <a:latin typeface="Courier New" pitchFamily="34" charset="0"/>
                <a:ea typeface="Courier New" pitchFamily="34" charset="-122"/>
                <a:cs typeface="Courier New" pitchFamily="34" charset="-120"/>
              </a:rPr>
              <a:t>Targets:</a:t>
            </a:r>
            <a:endParaRPr lang="en-US" sz="800" dirty="0"/>
          </a:p>
        </p:txBody>
      </p:sp>
      <p:sp>
        <p:nvSpPr>
          <p:cNvPr id="10" name="Text 8"/>
          <p:cNvSpPr/>
          <p:nvPr/>
        </p:nvSpPr>
        <p:spPr>
          <a:xfrm>
            <a:off x="1110853" y="2139665"/>
            <a:ext cx="1554623" cy="102495"/>
          </a:xfrm>
          <a:prstGeom prst="rect">
            <a:avLst/>
          </a:prstGeom>
          <a:noFill/>
          <a:ln/>
        </p:spPr>
        <p:txBody>
          <a:bodyPr wrap="none" lIns="0" tIns="0" rIns="0" bIns="0" rtlCol="0" anchor="t">
            <a:normAutofit fontScale="32500" lnSpcReduction="20000"/>
          </a:bodyPr>
          <a:lstStyle/>
          <a:p>
            <a:pPr marL="0" indent="0" algn="l">
              <a:lnSpc>
                <a:spcPts val="1024"/>
              </a:lnSpc>
              <a:buNone/>
            </a:pPr>
            <a:r>
              <a:rPr lang="en-US" sz="731" dirty="0">
                <a:solidFill>
                  <a:srgbClr val="86EFAC"/>
                </a:solidFill>
                <a:latin typeface="Liberation Sans Narrow" pitchFamily="34" charset="0"/>
                <a:ea typeface="Liberation Sans Narrow" pitchFamily="34" charset="-122"/>
                <a:cs typeface="Liberation Sans Narrow" pitchFamily="34" charset="-120"/>
              </a:rPr>
              <a:t>webservers group (Ubuntu 22.04)</a:t>
            </a:r>
            <a:endParaRPr lang="en-US" sz="731" dirty="0"/>
          </a:p>
        </p:txBody>
      </p:sp>
      <p:sp>
        <p:nvSpPr>
          <p:cNvPr id="11" name="Text 9"/>
          <p:cNvSpPr/>
          <p:nvPr/>
        </p:nvSpPr>
        <p:spPr>
          <a:xfrm>
            <a:off x="687573" y="2269592"/>
            <a:ext cx="475549" cy="143490"/>
          </a:xfrm>
          <a:prstGeom prst="rect">
            <a:avLst/>
          </a:prstGeom>
          <a:noFill/>
          <a:ln/>
        </p:spPr>
        <p:txBody>
          <a:bodyPr wrap="none" lIns="0" tIns="0" rIns="0" bIns="0" rtlCol="0" anchor="t"/>
          <a:lstStyle/>
          <a:p>
            <a:pPr marL="0" indent="0" algn="l">
              <a:lnSpc>
                <a:spcPts val="1024"/>
              </a:lnSpc>
              <a:buNone/>
            </a:pPr>
            <a:r>
              <a:rPr lang="en-US" sz="800" dirty="0">
                <a:solidFill>
                  <a:srgbClr val="FBBF24"/>
                </a:solidFill>
                <a:latin typeface="Courier New" pitchFamily="34" charset="0"/>
                <a:ea typeface="Courier New" pitchFamily="34" charset="-122"/>
                <a:cs typeface="Courier New" pitchFamily="34" charset="-120"/>
              </a:rPr>
              <a:t>Become:</a:t>
            </a:r>
            <a:endParaRPr lang="en-US" sz="800" dirty="0"/>
          </a:p>
        </p:txBody>
      </p:sp>
      <p:sp>
        <p:nvSpPr>
          <p:cNvPr id="12" name="Text 10"/>
          <p:cNvSpPr/>
          <p:nvPr/>
        </p:nvSpPr>
        <p:spPr>
          <a:xfrm>
            <a:off x="1047924" y="2269592"/>
            <a:ext cx="613420" cy="102495"/>
          </a:xfrm>
          <a:prstGeom prst="rect">
            <a:avLst/>
          </a:prstGeom>
          <a:noFill/>
          <a:ln/>
        </p:spPr>
        <p:txBody>
          <a:bodyPr wrap="none" lIns="0" tIns="0" rIns="0" bIns="0" rtlCol="0" anchor="t">
            <a:normAutofit fontScale="25000" lnSpcReduction="20000"/>
          </a:bodyPr>
          <a:lstStyle/>
          <a:p>
            <a:pPr marL="0" indent="0" algn="l">
              <a:lnSpc>
                <a:spcPts val="1024"/>
              </a:lnSpc>
              <a:buNone/>
            </a:pPr>
            <a:r>
              <a:rPr lang="en-US" sz="800" dirty="0">
                <a:solidFill>
                  <a:srgbClr val="86EFAC"/>
                </a:solidFill>
                <a:latin typeface="Courier New" pitchFamily="34" charset="0"/>
                <a:ea typeface="Courier New" pitchFamily="34" charset="-122"/>
                <a:cs typeface="Courier New" pitchFamily="34" charset="-120"/>
              </a:rPr>
              <a:t>yes (sudo)</a:t>
            </a:r>
            <a:endParaRPr lang="en-US" sz="800" dirty="0"/>
          </a:p>
        </p:txBody>
      </p:sp>
      <p:sp>
        <p:nvSpPr>
          <p:cNvPr id="13" name="Text 11"/>
          <p:cNvSpPr/>
          <p:nvPr/>
        </p:nvSpPr>
        <p:spPr>
          <a:xfrm>
            <a:off x="692944" y="2399519"/>
            <a:ext cx="1451074" cy="143490"/>
          </a:xfrm>
          <a:prstGeom prst="rect">
            <a:avLst/>
          </a:prstGeom>
          <a:noFill/>
          <a:ln/>
        </p:spPr>
        <p:txBody>
          <a:bodyPr wrap="none" lIns="0" tIns="0" rIns="0" bIns="0" rtlCol="0" anchor="t"/>
          <a:lstStyle/>
          <a:p>
            <a:pPr marL="0" indent="0" algn="l">
              <a:lnSpc>
                <a:spcPts val="1024"/>
              </a:lnSpc>
              <a:buNone/>
            </a:pPr>
            <a:r>
              <a:rPr lang="en-US" sz="800" dirty="0">
                <a:solidFill>
                  <a:srgbClr val="FBBF24"/>
                </a:solidFill>
                <a:latin typeface="Courier New" pitchFamily="34" charset="0"/>
                <a:ea typeface="Courier New" pitchFamily="34" charset="-122"/>
                <a:cs typeface="Courier New" pitchFamily="34" charset="-120"/>
              </a:rPr>
              <a:t>Use only built-in modules</a:t>
            </a:r>
            <a:endParaRPr lang="en-US" sz="800" dirty="0"/>
          </a:p>
        </p:txBody>
      </p:sp>
      <p:sp>
        <p:nvSpPr>
          <p:cNvPr id="14" name="Text 12"/>
          <p:cNvSpPr/>
          <p:nvPr/>
        </p:nvSpPr>
        <p:spPr>
          <a:xfrm>
            <a:off x="600075" y="2399519"/>
            <a:ext cx="2693194" cy="297004"/>
          </a:xfrm>
          <a:prstGeom prst="rect">
            <a:avLst/>
          </a:prstGeom>
          <a:noFill/>
          <a:ln/>
        </p:spPr>
        <p:txBody>
          <a:bodyPr wrap="none" lIns="0" tIns="0" rIns="0" bIns="0" rtlCol="0" anchor="t"/>
          <a:lstStyle/>
          <a:p>
            <a:pPr marL="0" indent="0" algn="l">
              <a:lnSpc>
                <a:spcPts val="1024"/>
              </a:lnSpc>
              <a:buNone/>
            </a:pPr>
            <a:r>
              <a:rPr lang="en-US" sz="800" dirty="0">
                <a:solidFill>
                  <a:srgbClr val="86EFAC"/>
                </a:solidFill>
                <a:latin typeface="Courier New" pitchFamily="34" charset="0"/>
                <a:ea typeface="Courier New" pitchFamily="34" charset="-122"/>
                <a:cs typeface="Courier New" pitchFamily="34" charset="-120"/>
              </a:rPr>
              <a:t>(apt, copy, template, service,</a:t>
            </a:r>
            <a:endParaRPr lang="en-US" sz="800" dirty="0"/>
          </a:p>
          <a:p>
            <a:pPr marL="0" indent="0" algn="l">
              <a:lnSpc>
                <a:spcPts val="1024"/>
              </a:lnSpc>
              <a:buNone/>
            </a:pPr>
            <a:r>
              <a:rPr lang="en-US" sz="800" dirty="0">
                <a:solidFill>
                  <a:srgbClr val="86EFAC"/>
                </a:solidFill>
                <a:latin typeface="Courier New" pitchFamily="34" charset="0"/>
                <a:ea typeface="Courier New" pitchFamily="34" charset="-122"/>
                <a:cs typeface="Courier New" pitchFamily="34" charset="-120"/>
              </a:rPr>
              <a:t>  file, user, group, git, debug)</a:t>
            </a:r>
            <a:endParaRPr lang="en-US" sz="800" dirty="0"/>
          </a:p>
        </p:txBody>
      </p:sp>
      <p:sp>
        <p:nvSpPr>
          <p:cNvPr id="15" name="Text 13"/>
          <p:cNvSpPr/>
          <p:nvPr/>
        </p:nvSpPr>
        <p:spPr>
          <a:xfrm>
            <a:off x="600075" y="2789300"/>
            <a:ext cx="812602" cy="102495"/>
          </a:xfrm>
          <a:prstGeom prst="rect">
            <a:avLst/>
          </a:prstGeom>
          <a:noFill/>
          <a:ln/>
        </p:spPr>
        <p:txBody>
          <a:bodyPr wrap="none" lIns="0" tIns="0" rIns="0" bIns="0" rtlCol="0" anchor="t">
            <a:normAutofit fontScale="25000" lnSpcReduction="20000"/>
          </a:bodyPr>
          <a:lstStyle/>
          <a:p>
            <a:pPr marL="0" indent="0" algn="l">
              <a:lnSpc>
                <a:spcPts val="1024"/>
              </a:lnSpc>
              <a:buNone/>
            </a:pPr>
            <a:r>
              <a:rPr lang="en-US" sz="800" dirty="0">
                <a:solidFill>
                  <a:srgbClr val="FBBF24"/>
                </a:solidFill>
                <a:latin typeface="Courier New" pitchFamily="34" charset="0"/>
                <a:ea typeface="Courier New" pitchFamily="34" charset="-122"/>
                <a:cs typeface="Courier New" pitchFamily="34" charset="-120"/>
              </a:rPr>
              <a:t>## Constraints</a:t>
            </a:r>
            <a:endParaRPr lang="en-US" sz="800" dirty="0"/>
          </a:p>
        </p:txBody>
      </p:sp>
      <p:sp>
        <p:nvSpPr>
          <p:cNvPr id="16" name="Text 14"/>
          <p:cNvSpPr/>
          <p:nvPr/>
        </p:nvSpPr>
        <p:spPr>
          <a:xfrm>
            <a:off x="692944" y="2919226"/>
            <a:ext cx="1654921" cy="102495"/>
          </a:xfrm>
          <a:prstGeom prst="rect">
            <a:avLst/>
          </a:prstGeom>
          <a:noFill/>
          <a:ln/>
        </p:spPr>
        <p:txBody>
          <a:bodyPr wrap="none" lIns="0" tIns="0" rIns="0" bIns="0" rtlCol="0" anchor="t">
            <a:normAutofit fontScale="25000" lnSpcReduction="20000"/>
          </a:bodyPr>
          <a:lstStyle/>
          <a:p>
            <a:pPr marL="0" indent="0" algn="l">
              <a:lnSpc>
                <a:spcPts val="1024"/>
              </a:lnSpc>
              <a:buNone/>
            </a:pPr>
            <a:r>
              <a:rPr lang="en-US" sz="731" dirty="0">
                <a:solidFill>
                  <a:srgbClr val="86EFAC"/>
                </a:solidFill>
                <a:latin typeface="Courier New" pitchFamily="34" charset="0"/>
                <a:ea typeface="Courier New" pitchFamily="34" charset="-122"/>
                <a:cs typeface="Courier New" pitchFamily="34" charset="-120"/>
              </a:rPr>
              <a:t>Every task MUST have a name field</a:t>
            </a:r>
            <a:endParaRPr lang="en-US" sz="731" dirty="0"/>
          </a:p>
        </p:txBody>
      </p:sp>
      <p:sp>
        <p:nvSpPr>
          <p:cNvPr id="17" name="Text 15"/>
          <p:cNvSpPr/>
          <p:nvPr/>
        </p:nvSpPr>
        <p:spPr>
          <a:xfrm>
            <a:off x="692944" y="3049153"/>
            <a:ext cx="2461022" cy="102495"/>
          </a:xfrm>
          <a:prstGeom prst="rect">
            <a:avLst/>
          </a:prstGeom>
          <a:noFill/>
          <a:ln/>
        </p:spPr>
        <p:txBody>
          <a:bodyPr wrap="none" lIns="0" tIns="0" rIns="0" bIns="0" rtlCol="0" anchor="t">
            <a:normAutofit fontScale="25000" lnSpcReduction="20000"/>
          </a:bodyPr>
          <a:lstStyle/>
          <a:p>
            <a:pPr marL="0" indent="0" algn="l">
              <a:lnSpc>
                <a:spcPts val="1024"/>
              </a:lnSpc>
              <a:buNone/>
            </a:pPr>
            <a:r>
              <a:rPr lang="en-US" sz="731" dirty="0">
                <a:solidFill>
                  <a:srgbClr val="86EFAC"/>
                </a:solidFill>
                <a:latin typeface="Courier New" pitchFamily="34" charset="0"/>
                <a:ea typeface="Courier New" pitchFamily="34" charset="-122"/>
                <a:cs typeface="Courier New" pitchFamily="34" charset="-120"/>
              </a:rPr>
              <a:t>Use loops for repeated installs (not duplicate tasks)</a:t>
            </a:r>
            <a:endParaRPr lang="en-US" sz="731" dirty="0"/>
          </a:p>
        </p:txBody>
      </p:sp>
      <p:sp>
        <p:nvSpPr>
          <p:cNvPr id="18" name="Text 16"/>
          <p:cNvSpPr/>
          <p:nvPr/>
        </p:nvSpPr>
        <p:spPr>
          <a:xfrm>
            <a:off x="692944" y="3179080"/>
            <a:ext cx="1654921" cy="102495"/>
          </a:xfrm>
          <a:prstGeom prst="rect">
            <a:avLst/>
          </a:prstGeom>
          <a:noFill/>
          <a:ln/>
        </p:spPr>
        <p:txBody>
          <a:bodyPr wrap="none" lIns="0" tIns="0" rIns="0" bIns="0" rtlCol="0" anchor="t">
            <a:normAutofit fontScale="25000" lnSpcReduction="20000"/>
          </a:bodyPr>
          <a:lstStyle/>
          <a:p>
            <a:pPr marL="0" indent="0" algn="l">
              <a:lnSpc>
                <a:spcPts val="1024"/>
              </a:lnSpc>
              <a:buNone/>
            </a:pPr>
            <a:r>
              <a:rPr lang="en-US" sz="731" dirty="0">
                <a:solidFill>
                  <a:srgbClr val="86EFAC"/>
                </a:solidFill>
                <a:latin typeface="Courier New" pitchFamily="34" charset="0"/>
                <a:ea typeface="Courier New" pitchFamily="34" charset="-122"/>
                <a:cs typeface="Courier New" pitchFamily="34" charset="-120"/>
              </a:rPr>
              <a:t>Use handlers for service restarts</a:t>
            </a:r>
            <a:endParaRPr lang="en-US" sz="731" dirty="0"/>
          </a:p>
        </p:txBody>
      </p:sp>
      <p:sp>
        <p:nvSpPr>
          <p:cNvPr id="19" name="Text 17"/>
          <p:cNvSpPr/>
          <p:nvPr/>
        </p:nvSpPr>
        <p:spPr>
          <a:xfrm>
            <a:off x="692944" y="3309007"/>
            <a:ext cx="2256711" cy="102495"/>
          </a:xfrm>
          <a:prstGeom prst="rect">
            <a:avLst/>
          </a:prstGeom>
          <a:noFill/>
          <a:ln/>
        </p:spPr>
        <p:txBody>
          <a:bodyPr wrap="none" lIns="0" tIns="0" rIns="0" bIns="0" rtlCol="0" anchor="t">
            <a:normAutofit fontScale="25000" lnSpcReduction="20000"/>
          </a:bodyPr>
          <a:lstStyle/>
          <a:p>
            <a:pPr marL="0" indent="0" algn="l">
              <a:lnSpc>
                <a:spcPts val="1024"/>
              </a:lnSpc>
              <a:buNone/>
            </a:pPr>
            <a:r>
              <a:rPr lang="en-US" sz="731" dirty="0">
                <a:solidFill>
                  <a:srgbClr val="86EFAC"/>
                </a:solidFill>
                <a:latin typeface="Courier New" pitchFamily="34" charset="0"/>
                <a:ea typeface="Courier New" pitchFamily="34" charset="-122"/>
                <a:cs typeface="Courier New" pitchFamily="34" charset="-120"/>
              </a:rPr>
              <a:t>All packages: state=present, update_cache=yes</a:t>
            </a:r>
            <a:endParaRPr lang="en-US" sz="731" dirty="0"/>
          </a:p>
        </p:txBody>
      </p:sp>
      <p:sp>
        <p:nvSpPr>
          <p:cNvPr id="20" name="Text 18"/>
          <p:cNvSpPr/>
          <p:nvPr/>
        </p:nvSpPr>
        <p:spPr>
          <a:xfrm>
            <a:off x="692944" y="3438934"/>
            <a:ext cx="2005965" cy="102495"/>
          </a:xfrm>
          <a:prstGeom prst="rect">
            <a:avLst/>
          </a:prstGeom>
          <a:noFill/>
          <a:ln/>
        </p:spPr>
        <p:txBody>
          <a:bodyPr wrap="none" lIns="0" tIns="0" rIns="0" bIns="0" rtlCol="0" anchor="t">
            <a:normAutofit fontScale="25000" lnSpcReduction="20000"/>
          </a:bodyPr>
          <a:lstStyle/>
          <a:p>
            <a:pPr marL="0" indent="0" algn="l">
              <a:lnSpc>
                <a:spcPts val="1024"/>
              </a:lnSpc>
              <a:buNone/>
            </a:pPr>
            <a:r>
              <a:rPr lang="en-US" sz="731" dirty="0">
                <a:solidFill>
                  <a:srgbClr val="86EFAC"/>
                </a:solidFill>
                <a:latin typeface="Courier New" pitchFamily="34" charset="0"/>
                <a:ea typeface="Courier New" pitchFamily="34" charset="-122"/>
                <a:cs typeface="Courier New" pitchFamily="34" charset="-120"/>
              </a:rPr>
              <a:t>All services: state=started, enabled=yes</a:t>
            </a:r>
            <a:endParaRPr lang="en-US" sz="731" dirty="0"/>
          </a:p>
        </p:txBody>
      </p:sp>
      <p:sp>
        <p:nvSpPr>
          <p:cNvPr id="21" name="Text 19"/>
          <p:cNvSpPr/>
          <p:nvPr/>
        </p:nvSpPr>
        <p:spPr>
          <a:xfrm>
            <a:off x="692944" y="3568861"/>
            <a:ext cx="2357009" cy="143490"/>
          </a:xfrm>
          <a:prstGeom prst="rect">
            <a:avLst/>
          </a:prstGeom>
          <a:noFill/>
          <a:ln/>
        </p:spPr>
        <p:txBody>
          <a:bodyPr wrap="none" lIns="0" tIns="0" rIns="0" bIns="0" rtlCol="0" anchor="t"/>
          <a:lstStyle/>
          <a:p>
            <a:pPr marL="0" indent="0" algn="l">
              <a:lnSpc>
                <a:spcPts val="1024"/>
              </a:lnSpc>
              <a:buNone/>
            </a:pPr>
            <a:r>
              <a:rPr lang="en-US" sz="731" dirty="0">
                <a:solidFill>
                  <a:srgbClr val="86EFAC"/>
                </a:solidFill>
                <a:latin typeface="Courier New" pitchFamily="34" charset="0"/>
                <a:ea typeface="Courier New" pitchFamily="34" charset="-122"/>
                <a:cs typeface="Courier New" pitchFamily="34" charset="-120"/>
              </a:rPr>
              <a:t>Use become: yes at the play level, not per-task</a:t>
            </a:r>
            <a:endParaRPr lang="en-US" sz="731" dirty="0"/>
          </a:p>
        </p:txBody>
      </p:sp>
      <p:sp>
        <p:nvSpPr>
          <p:cNvPr id="22" name="Text 20"/>
          <p:cNvSpPr/>
          <p:nvPr/>
        </p:nvSpPr>
        <p:spPr>
          <a:xfrm>
            <a:off x="577585" y="3828715"/>
            <a:ext cx="625409" cy="143490"/>
          </a:xfrm>
          <a:prstGeom prst="rect">
            <a:avLst/>
          </a:prstGeom>
          <a:noFill/>
          <a:ln/>
        </p:spPr>
        <p:txBody>
          <a:bodyPr wrap="none" lIns="0" tIns="0" rIns="0" bIns="0" rtlCol="0" anchor="t"/>
          <a:lstStyle/>
          <a:p>
            <a:pPr marL="0" indent="0" algn="l">
              <a:lnSpc>
                <a:spcPts val="1024"/>
              </a:lnSpc>
              <a:buNone/>
            </a:pPr>
            <a:r>
              <a:rPr lang="en-US" sz="800" dirty="0">
                <a:solidFill>
                  <a:srgbClr val="FBBF24"/>
                </a:solidFill>
                <a:latin typeface="Courier New" pitchFamily="34" charset="0"/>
                <a:ea typeface="Courier New" pitchFamily="34" charset="-122"/>
                <a:cs typeface="Courier New" pitchFamily="34" charset="-120"/>
              </a:rPr>
              <a:t>## Request</a:t>
            </a:r>
            <a:endParaRPr lang="en-US" sz="800" dirty="0"/>
          </a:p>
        </p:txBody>
      </p:sp>
      <p:sp>
        <p:nvSpPr>
          <p:cNvPr id="23" name="Text 21"/>
          <p:cNvSpPr/>
          <p:nvPr/>
        </p:nvSpPr>
        <p:spPr>
          <a:xfrm>
            <a:off x="592450" y="4088569"/>
            <a:ext cx="163840" cy="102495"/>
          </a:xfrm>
          <a:prstGeom prst="rect">
            <a:avLst/>
          </a:prstGeom>
          <a:noFill/>
          <a:ln/>
        </p:spPr>
        <p:txBody>
          <a:bodyPr wrap="none" lIns="0" tIns="0" rIns="0" bIns="0" rtlCol="0" anchor="t">
            <a:normAutofit fontScale="25000" lnSpcReduction="20000"/>
          </a:bodyPr>
          <a:lstStyle/>
          <a:p>
            <a:pPr marL="0" indent="0" algn="l">
              <a:lnSpc>
                <a:spcPts val="1024"/>
              </a:lnSpc>
              <a:buNone/>
            </a:pPr>
            <a:r>
              <a:rPr lang="en-US" sz="800" dirty="0">
                <a:solidFill>
                  <a:srgbClr val="93C5FD"/>
                </a:solidFill>
                <a:latin typeface="Liberation Sans Narrow" pitchFamily="34" charset="0"/>
                <a:ea typeface="Liberation Sans Narrow" pitchFamily="34" charset="-122"/>
                <a:cs typeface="Liberation Sans Narrow" pitchFamily="34" charset="-120"/>
              </a:rPr>
              <a:t>1.</a:t>
            </a:r>
            <a:endParaRPr lang="en-US" sz="800" dirty="0"/>
          </a:p>
        </p:txBody>
      </p:sp>
      <p:sp>
        <p:nvSpPr>
          <p:cNvPr id="24" name="Text 22"/>
          <p:cNvSpPr/>
          <p:nvPr/>
        </p:nvSpPr>
        <p:spPr>
          <a:xfrm>
            <a:off x="592450" y="4218496"/>
            <a:ext cx="163840" cy="97780"/>
          </a:xfrm>
          <a:prstGeom prst="rect">
            <a:avLst/>
          </a:prstGeom>
          <a:noFill/>
          <a:ln/>
        </p:spPr>
        <p:txBody>
          <a:bodyPr wrap="none" lIns="0" tIns="0" rIns="0" bIns="0" rtlCol="0" anchor="t"/>
          <a:lstStyle/>
          <a:p>
            <a:pPr marL="0" indent="0" algn="l">
              <a:lnSpc>
                <a:spcPts val="1024"/>
              </a:lnSpc>
              <a:buNone/>
            </a:pPr>
            <a:r>
              <a:rPr lang="en-US" sz="800" dirty="0">
                <a:solidFill>
                  <a:srgbClr val="93C5FD"/>
                </a:solidFill>
                <a:latin typeface="Liberation Sans Narrow" pitchFamily="34" charset="0"/>
                <a:ea typeface="Liberation Sans Narrow" pitchFamily="34" charset="-122"/>
                <a:cs typeface="Liberation Sans Narrow" pitchFamily="34" charset="-120"/>
              </a:rPr>
              <a:t>2.</a:t>
            </a:r>
            <a:endParaRPr lang="en-US" sz="800" dirty="0"/>
          </a:p>
        </p:txBody>
      </p:sp>
      <p:sp>
        <p:nvSpPr>
          <p:cNvPr id="25" name="Text 23"/>
          <p:cNvSpPr/>
          <p:nvPr/>
        </p:nvSpPr>
        <p:spPr>
          <a:xfrm>
            <a:off x="592450" y="4348423"/>
            <a:ext cx="163840" cy="91440"/>
          </a:xfrm>
          <a:prstGeom prst="rect">
            <a:avLst/>
          </a:prstGeom>
          <a:noFill/>
          <a:ln/>
        </p:spPr>
        <p:txBody>
          <a:bodyPr wrap="none" lIns="0" tIns="0" rIns="0" bIns="0" rtlCol="0" anchor="t"/>
          <a:lstStyle/>
          <a:p>
            <a:pPr marL="0" indent="0" algn="l">
              <a:lnSpc>
                <a:spcPts val="1024"/>
              </a:lnSpc>
              <a:buNone/>
            </a:pPr>
            <a:r>
              <a:rPr lang="en-US" sz="800" dirty="0">
                <a:solidFill>
                  <a:srgbClr val="93C5FD"/>
                </a:solidFill>
                <a:latin typeface="Liberation Sans Narrow" pitchFamily="34" charset="0"/>
                <a:ea typeface="Liberation Sans Narrow" pitchFamily="34" charset="-122"/>
                <a:cs typeface="Liberation Sans Narrow" pitchFamily="34" charset="-120"/>
              </a:rPr>
              <a:t>3.</a:t>
            </a:r>
            <a:endParaRPr lang="en-US" sz="800" dirty="0"/>
          </a:p>
        </p:txBody>
      </p:sp>
      <p:sp>
        <p:nvSpPr>
          <p:cNvPr id="26" name="Text 24"/>
          <p:cNvSpPr/>
          <p:nvPr/>
        </p:nvSpPr>
        <p:spPr>
          <a:xfrm>
            <a:off x="592450" y="4478350"/>
            <a:ext cx="163840" cy="91440"/>
          </a:xfrm>
          <a:prstGeom prst="rect">
            <a:avLst/>
          </a:prstGeom>
          <a:noFill/>
          <a:ln/>
        </p:spPr>
        <p:txBody>
          <a:bodyPr wrap="none" lIns="0" tIns="0" rIns="0" bIns="0" rtlCol="0" anchor="t"/>
          <a:lstStyle/>
          <a:p>
            <a:pPr marL="0" indent="0" algn="l">
              <a:lnSpc>
                <a:spcPts val="1024"/>
              </a:lnSpc>
              <a:buNone/>
            </a:pPr>
            <a:r>
              <a:rPr lang="en-US" sz="800" dirty="0">
                <a:solidFill>
                  <a:srgbClr val="93C5FD"/>
                </a:solidFill>
                <a:latin typeface="Liberation Sans Narrow" pitchFamily="34" charset="0"/>
                <a:ea typeface="Liberation Sans Narrow" pitchFamily="34" charset="-122"/>
                <a:cs typeface="Liberation Sans Narrow" pitchFamily="34" charset="-120"/>
              </a:rPr>
              <a:t>4.</a:t>
            </a:r>
            <a:endParaRPr lang="en-US" sz="800" dirty="0"/>
          </a:p>
        </p:txBody>
      </p:sp>
      <p:sp>
        <p:nvSpPr>
          <p:cNvPr id="27" name="Text 25"/>
          <p:cNvSpPr/>
          <p:nvPr/>
        </p:nvSpPr>
        <p:spPr>
          <a:xfrm>
            <a:off x="592450" y="4738204"/>
            <a:ext cx="163840" cy="91440"/>
          </a:xfrm>
          <a:prstGeom prst="rect">
            <a:avLst/>
          </a:prstGeom>
          <a:noFill/>
          <a:ln/>
        </p:spPr>
        <p:txBody>
          <a:bodyPr wrap="none" lIns="0" tIns="0" rIns="0" bIns="0" rtlCol="0" anchor="t"/>
          <a:lstStyle/>
          <a:p>
            <a:pPr marL="0" indent="0" algn="l">
              <a:lnSpc>
                <a:spcPts val="1024"/>
              </a:lnSpc>
              <a:buNone/>
            </a:pPr>
            <a:r>
              <a:rPr lang="en-US" sz="800" dirty="0">
                <a:solidFill>
                  <a:srgbClr val="93C5FD"/>
                </a:solidFill>
                <a:latin typeface="Liberation Sans Narrow" pitchFamily="34" charset="0"/>
                <a:ea typeface="Liberation Sans Narrow" pitchFamily="34" charset="-122"/>
                <a:cs typeface="Liberation Sans Narrow" pitchFamily="34" charset="-120"/>
              </a:rPr>
              <a:t>5.</a:t>
            </a:r>
            <a:endParaRPr lang="en-US" sz="800" dirty="0"/>
          </a:p>
        </p:txBody>
      </p:sp>
      <p:sp>
        <p:nvSpPr>
          <p:cNvPr id="28" name="Text 26"/>
          <p:cNvSpPr/>
          <p:nvPr/>
        </p:nvSpPr>
        <p:spPr>
          <a:xfrm>
            <a:off x="592450" y="4868131"/>
            <a:ext cx="163840" cy="91440"/>
          </a:xfrm>
          <a:prstGeom prst="rect">
            <a:avLst/>
          </a:prstGeom>
          <a:noFill/>
          <a:ln/>
        </p:spPr>
        <p:txBody>
          <a:bodyPr wrap="none" lIns="0" tIns="0" rIns="0" bIns="0" rtlCol="0" anchor="t"/>
          <a:lstStyle/>
          <a:p>
            <a:pPr marL="0" indent="0" algn="l">
              <a:lnSpc>
                <a:spcPts val="1024"/>
              </a:lnSpc>
              <a:buNone/>
            </a:pPr>
            <a:r>
              <a:rPr lang="en-US" sz="800" dirty="0">
                <a:solidFill>
                  <a:srgbClr val="93C5FD"/>
                </a:solidFill>
                <a:latin typeface="Liberation Sans Narrow" pitchFamily="34" charset="0"/>
                <a:ea typeface="Liberation Sans Narrow" pitchFamily="34" charset="-122"/>
                <a:cs typeface="Liberation Sans Narrow" pitchFamily="34" charset="-120"/>
              </a:rPr>
              <a:t>6.</a:t>
            </a:r>
            <a:endParaRPr lang="en-US" sz="800" dirty="0"/>
          </a:p>
        </p:txBody>
      </p:sp>
      <p:sp>
        <p:nvSpPr>
          <p:cNvPr id="29" name="Text 27"/>
          <p:cNvSpPr/>
          <p:nvPr/>
        </p:nvSpPr>
        <p:spPr>
          <a:xfrm>
            <a:off x="592450" y="4998058"/>
            <a:ext cx="163840" cy="91440"/>
          </a:xfrm>
          <a:prstGeom prst="rect">
            <a:avLst/>
          </a:prstGeom>
          <a:noFill/>
          <a:ln/>
        </p:spPr>
        <p:txBody>
          <a:bodyPr wrap="none" lIns="0" tIns="0" rIns="0" bIns="0" rtlCol="0" anchor="t"/>
          <a:lstStyle/>
          <a:p>
            <a:pPr marL="0" indent="0" algn="l">
              <a:lnSpc>
                <a:spcPts val="1024"/>
              </a:lnSpc>
              <a:buNone/>
            </a:pPr>
            <a:r>
              <a:rPr lang="en-US" sz="800" dirty="0">
                <a:solidFill>
                  <a:srgbClr val="93C5FD"/>
                </a:solidFill>
                <a:latin typeface="Liberation Sans Narrow" pitchFamily="34" charset="0"/>
                <a:ea typeface="Liberation Sans Narrow" pitchFamily="34" charset="-122"/>
                <a:cs typeface="Liberation Sans Narrow" pitchFamily="34" charset="-120"/>
              </a:rPr>
              <a:t>7.</a:t>
            </a:r>
            <a:endParaRPr lang="en-US" sz="800" dirty="0"/>
          </a:p>
        </p:txBody>
      </p:sp>
      <p:sp>
        <p:nvSpPr>
          <p:cNvPr id="30" name="Text 28"/>
          <p:cNvSpPr/>
          <p:nvPr/>
        </p:nvSpPr>
        <p:spPr>
          <a:xfrm>
            <a:off x="592450" y="5257912"/>
            <a:ext cx="163840" cy="91440"/>
          </a:xfrm>
          <a:prstGeom prst="rect">
            <a:avLst/>
          </a:prstGeom>
          <a:noFill/>
          <a:ln/>
        </p:spPr>
        <p:txBody>
          <a:bodyPr wrap="none" lIns="0" tIns="0" rIns="0" bIns="0" rtlCol="0" anchor="t"/>
          <a:lstStyle/>
          <a:p>
            <a:pPr marL="0" indent="0" algn="l">
              <a:lnSpc>
                <a:spcPts val="1024"/>
              </a:lnSpc>
              <a:buNone/>
            </a:pPr>
            <a:r>
              <a:rPr lang="en-US" sz="800" dirty="0">
                <a:solidFill>
                  <a:srgbClr val="93C5FD"/>
                </a:solidFill>
                <a:latin typeface="Liberation Sans Narrow" pitchFamily="34" charset="0"/>
                <a:ea typeface="Liberation Sans Narrow" pitchFamily="34" charset="-122"/>
                <a:cs typeface="Liberation Sans Narrow" pitchFamily="34" charset="-120"/>
              </a:rPr>
              <a:t>8.</a:t>
            </a:r>
            <a:endParaRPr lang="en-US" sz="800" dirty="0"/>
          </a:p>
        </p:txBody>
      </p:sp>
      <p:sp>
        <p:nvSpPr>
          <p:cNvPr id="31" name="Text 29"/>
          <p:cNvSpPr/>
          <p:nvPr/>
        </p:nvSpPr>
        <p:spPr>
          <a:xfrm>
            <a:off x="592450" y="5387839"/>
            <a:ext cx="163840" cy="91440"/>
          </a:xfrm>
          <a:prstGeom prst="rect">
            <a:avLst/>
          </a:prstGeom>
          <a:noFill/>
          <a:ln/>
        </p:spPr>
        <p:txBody>
          <a:bodyPr wrap="none" lIns="0" tIns="0" rIns="0" bIns="0" rtlCol="0" anchor="t"/>
          <a:lstStyle/>
          <a:p>
            <a:pPr marL="0" indent="0" algn="l">
              <a:lnSpc>
                <a:spcPts val="1024"/>
              </a:lnSpc>
              <a:buNone/>
            </a:pPr>
            <a:r>
              <a:rPr lang="en-US" sz="800" dirty="0">
                <a:solidFill>
                  <a:srgbClr val="93C5FD"/>
                </a:solidFill>
                <a:latin typeface="Liberation Sans Narrow" pitchFamily="34" charset="0"/>
                <a:ea typeface="Liberation Sans Narrow" pitchFamily="34" charset="-122"/>
                <a:cs typeface="Liberation Sans Narrow" pitchFamily="34" charset="-120"/>
              </a:rPr>
              <a:t>9.</a:t>
            </a:r>
            <a:endParaRPr lang="en-US" sz="800" dirty="0"/>
          </a:p>
        </p:txBody>
      </p:sp>
      <p:sp>
        <p:nvSpPr>
          <p:cNvPr id="32" name="Text 30"/>
          <p:cNvSpPr/>
          <p:nvPr/>
        </p:nvSpPr>
        <p:spPr>
          <a:xfrm>
            <a:off x="600075" y="5647692"/>
            <a:ext cx="928688" cy="91440"/>
          </a:xfrm>
          <a:prstGeom prst="rect">
            <a:avLst/>
          </a:prstGeom>
          <a:noFill/>
          <a:ln/>
        </p:spPr>
        <p:txBody>
          <a:bodyPr wrap="none" lIns="0" tIns="0" rIns="0" bIns="0" rtlCol="0" anchor="t"/>
          <a:lstStyle/>
          <a:p>
            <a:pPr marL="0" indent="0" algn="l">
              <a:lnSpc>
                <a:spcPts val="1024"/>
              </a:lnSpc>
              <a:buNone/>
            </a:pPr>
            <a:r>
              <a:rPr lang="en-US" sz="800" dirty="0">
                <a:solidFill>
                  <a:srgbClr val="FBBF24"/>
                </a:solidFill>
                <a:latin typeface="Courier New" pitchFamily="34" charset="0"/>
                <a:ea typeface="Courier New" pitchFamily="34" charset="-122"/>
                <a:cs typeface="Courier New" pitchFamily="34" charset="-120"/>
              </a:rPr>
              <a:t>## Output Format</a:t>
            </a:r>
            <a:endParaRPr lang="en-US" sz="800" dirty="0"/>
          </a:p>
        </p:txBody>
      </p:sp>
      <p:sp>
        <p:nvSpPr>
          <p:cNvPr id="33" name="Text 31"/>
          <p:cNvSpPr/>
          <p:nvPr/>
        </p:nvSpPr>
        <p:spPr>
          <a:xfrm>
            <a:off x="600075" y="5777619"/>
            <a:ext cx="2005965" cy="91440"/>
          </a:xfrm>
          <a:prstGeom prst="rect">
            <a:avLst/>
          </a:prstGeom>
          <a:noFill/>
          <a:ln/>
        </p:spPr>
        <p:txBody>
          <a:bodyPr wrap="none" lIns="0" tIns="0" rIns="0" bIns="0" rtlCol="0" anchor="t"/>
          <a:lstStyle/>
          <a:p>
            <a:pPr marL="0" indent="0" algn="l">
              <a:lnSpc>
                <a:spcPts val="1024"/>
              </a:lnSpc>
              <a:buNone/>
            </a:pPr>
            <a:r>
              <a:rPr lang="en-US" sz="731" dirty="0">
                <a:solidFill>
                  <a:srgbClr val="86EFAC"/>
                </a:solidFill>
                <a:latin typeface="Courier New" pitchFamily="34" charset="0"/>
                <a:ea typeface="Courier New" pitchFamily="34" charset="-122"/>
                <a:cs typeface="Courier New" pitchFamily="34" charset="-120"/>
              </a:rPr>
              <a:t>Return only the YAML playbook. No prose.</a:t>
            </a:r>
            <a:endParaRPr lang="en-US" sz="731" dirty="0"/>
          </a:p>
        </p:txBody>
      </p:sp>
      <p:sp>
        <p:nvSpPr>
          <p:cNvPr id="34" name="Text 32"/>
          <p:cNvSpPr/>
          <p:nvPr/>
        </p:nvSpPr>
        <p:spPr>
          <a:xfrm>
            <a:off x="457200" y="4516301"/>
            <a:ext cx="8229600" cy="183599"/>
          </a:xfrm>
          <a:prstGeom prst="rect">
            <a:avLst/>
          </a:prstGeom>
          <a:noFill/>
          <a:ln/>
        </p:spPr>
        <p:txBody>
          <a:bodyPr wrap="square" lIns="0" tIns="0" rIns="0" bIns="0" rtlCol="0" anchor="t"/>
          <a:lstStyle/>
          <a:p>
            <a:pPr marL="0" indent="0" algn="l">
              <a:lnSpc>
                <a:spcPts val="1339"/>
              </a:lnSpc>
              <a:buNone/>
            </a:pPr>
            <a:r>
              <a:rPr lang="en-US" sz="956" b="1" dirty="0">
                <a:solidFill>
                  <a:srgbClr val="C2410C"/>
                </a:solidFill>
                <a:latin typeface="Segoe UI Symbol" pitchFamily="34" charset="0"/>
                <a:ea typeface="Segoe UI Symbol" pitchFamily="34" charset="-122"/>
                <a:cs typeface="Segoe UI Symbol" pitchFamily="34" charset="-120"/>
              </a:rPr>
              <a:t>▤</a:t>
            </a:r>
            <a:r>
              <a:rPr lang="en-US" sz="956" b="1" dirty="0">
                <a:solidFill>
                  <a:srgbClr val="C2410C"/>
                </a:solidFill>
                <a:latin typeface="Carlito" pitchFamily="34" charset="0"/>
                <a:ea typeface="Carlito" pitchFamily="34" charset="-122"/>
                <a:cs typeface="Carlito" pitchFamily="34" charset="-120"/>
              </a:rPr>
              <a:t> Notice the explicit constraints: idempotent, named tasks, loops, handlers, become at play level. AI respects these constraints when stated.</a:t>
            </a:r>
            <a:endParaRPr lang="en-US" sz="956"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4530700" cy="305476"/>
          </a:xfrm>
          <a:prstGeom prst="rect">
            <a:avLst/>
          </a:prstGeom>
          <a:noFill/>
          <a:ln/>
        </p:spPr>
        <p:txBody>
          <a:bodyPr wrap="square" lIns="0" tIns="0" rIns="0" bIns="0" rtlCol="0" anchor="t"/>
          <a:lstStyle/>
          <a:p>
            <a:pPr marL="0" indent="0" algn="l">
              <a:lnSpc>
                <a:spcPts val="2228"/>
              </a:lnSpc>
              <a:buNone/>
            </a:pPr>
            <a:r>
              <a:rPr lang="en-US" sz="2025" b="1" kern="0" spc="-28" dirty="0">
                <a:solidFill>
                  <a:srgbClr val="0F172A"/>
                </a:solidFill>
                <a:latin typeface="Carlito" pitchFamily="34" charset="0"/>
                <a:ea typeface="Carlito" pitchFamily="34" charset="-122"/>
                <a:cs typeface="Carlito" pitchFamily="34" charset="-120"/>
              </a:rPr>
              <a:t>AI-Generated Ansible Playbook Output</a:t>
            </a:r>
            <a:endParaRPr lang="en-US" sz="2025" dirty="0"/>
          </a:p>
        </p:txBody>
      </p:sp>
      <p:sp>
        <p:nvSpPr>
          <p:cNvPr id="3" name="Text 1"/>
          <p:cNvSpPr/>
          <p:nvPr/>
        </p:nvSpPr>
        <p:spPr>
          <a:xfrm>
            <a:off x="457200" y="797198"/>
            <a:ext cx="571500" cy="42863"/>
          </a:xfrm>
          <a:prstGeom prst="roundRect">
            <a:avLst>
              <a:gd name="adj" fmla="val 66666"/>
            </a:avLst>
          </a:prstGeom>
          <a:solidFill>
            <a:srgbClr val="F97316"/>
          </a:solidFill>
          <a:ln/>
        </p:spPr>
        <p:txBody>
          <a:bodyPr wrap="square" rtlCol="0" anchor="ctr"/>
          <a:lstStyle/>
          <a:p>
            <a:pPr marL="0" indent="0">
              <a:buNone/>
            </a:pPr>
            <a:endParaRPr lang="en-US" dirty="0"/>
          </a:p>
        </p:txBody>
      </p:sp>
      <p:sp>
        <p:nvSpPr>
          <p:cNvPr id="4" name="Text 2"/>
          <p:cNvSpPr/>
          <p:nvPr/>
        </p:nvSpPr>
        <p:spPr>
          <a:xfrm>
            <a:off x="7162860" y="482908"/>
            <a:ext cx="1546800" cy="331333"/>
          </a:xfrm>
          <a:prstGeom prst="roundRect">
            <a:avLst>
              <a:gd name="adj" fmla="val 2871877"/>
            </a:avLst>
          </a:prstGeom>
          <a:solidFill>
            <a:srgbClr val="FED7AA"/>
          </a:solidFill>
          <a:ln/>
        </p:spPr>
        <p:txBody>
          <a:bodyPr wrap="square" rtlCol="0" anchor="ctr"/>
          <a:lstStyle/>
          <a:p>
            <a:pPr marL="0" indent="0">
              <a:buNone/>
            </a:pPr>
            <a:endParaRPr lang="en-US" dirty="0"/>
          </a:p>
        </p:txBody>
      </p:sp>
      <p:sp>
        <p:nvSpPr>
          <p:cNvPr id="5" name="Text 3"/>
          <p:cNvSpPr/>
          <p:nvPr/>
        </p:nvSpPr>
        <p:spPr>
          <a:xfrm>
            <a:off x="7185720" y="495709"/>
            <a:ext cx="1501080" cy="305730"/>
          </a:xfrm>
          <a:prstGeom prst="rect">
            <a:avLst/>
          </a:prstGeom>
          <a:noFill/>
          <a:ln/>
        </p:spPr>
        <p:txBody>
          <a:bodyPr wrap="none" lIns="0" tIns="0" rIns="0" bIns="0" rtlCol="0" anchor="ctr"/>
          <a:lstStyle/>
          <a:p>
            <a:pPr marL="0" indent="0" algn="ctr">
              <a:lnSpc>
                <a:spcPts val="1733"/>
              </a:lnSpc>
              <a:buNone/>
            </a:pPr>
            <a:r>
              <a:rPr lang="en-US" sz="1238" b="1" kern="0" spc="28" dirty="0">
                <a:solidFill>
                  <a:srgbClr val="C2410C"/>
                </a:solidFill>
                <a:latin typeface="Liberation Sans Narrow" pitchFamily="34" charset="0"/>
                <a:ea typeface="Liberation Sans Narrow" pitchFamily="34" charset="-122"/>
                <a:cs typeface="Liberation Sans Narrow" pitchFamily="34" charset="-120"/>
              </a:rPr>
              <a:t>SECTION C · 3.13</a:t>
            </a:r>
            <a:endParaRPr lang="en-US" sz="1238" dirty="0"/>
          </a:p>
        </p:txBody>
      </p:sp>
      <p:sp>
        <p:nvSpPr>
          <p:cNvPr id="6" name="Text 4"/>
          <p:cNvSpPr/>
          <p:nvPr/>
        </p:nvSpPr>
        <p:spPr>
          <a:xfrm>
            <a:off x="457200" y="897210"/>
            <a:ext cx="8229600" cy="194328"/>
          </a:xfrm>
          <a:prstGeom prst="rect">
            <a:avLst/>
          </a:prstGeom>
          <a:noFill/>
          <a:ln/>
        </p:spPr>
        <p:txBody>
          <a:bodyPr wrap="square" lIns="0" tIns="0" rIns="0" bIns="0" rtlCol="0" anchor="t"/>
          <a:lstStyle/>
          <a:p>
            <a:pPr marL="0" indent="0" algn="l">
              <a:lnSpc>
                <a:spcPts val="1418"/>
              </a:lnSpc>
              <a:buNone/>
            </a:pPr>
            <a:r>
              <a:rPr lang="en-US" sz="1013" dirty="0">
                <a:solidFill>
                  <a:srgbClr val="64748B"/>
                </a:solidFill>
                <a:latin typeface="Carlito" pitchFamily="34" charset="0"/>
                <a:ea typeface="Carlito" pitchFamily="34" charset="-122"/>
                <a:cs typeface="Carlito" pitchFamily="34" charset="-120"/>
              </a:rPr>
              <a:t>What the LLM produces from the previous prompt. (Truncated for slide.)</a:t>
            </a:r>
            <a:endParaRPr lang="en-US" sz="1013" dirty="0"/>
          </a:p>
        </p:txBody>
      </p:sp>
      <p:sp>
        <p:nvSpPr>
          <p:cNvPr id="7" name="Text 5"/>
          <p:cNvSpPr/>
          <p:nvPr/>
        </p:nvSpPr>
        <p:spPr>
          <a:xfrm>
            <a:off x="581381" y="1234306"/>
            <a:ext cx="197409" cy="91440"/>
          </a:xfrm>
          <a:prstGeom prst="rect">
            <a:avLst/>
          </a:prstGeom>
          <a:noFill/>
          <a:ln/>
        </p:spPr>
        <p:txBody>
          <a:bodyPr wrap="none" lIns="0" tIns="0" rIns="0" bIns="0" rtlCol="0" anchor="t">
            <a:normAutofit fontScale="55000" lnSpcReduction="20000"/>
          </a:bodyPr>
          <a:lstStyle/>
          <a:p>
            <a:pPr marL="0" indent="0" algn="l">
              <a:lnSpc>
                <a:spcPts val="835"/>
              </a:lnSpc>
              <a:buNone/>
            </a:pPr>
            <a:r>
              <a:rPr lang="en-US" sz="800" i="1" dirty="0">
                <a:solidFill>
                  <a:srgbClr val="94A3B8"/>
                </a:solidFill>
                <a:latin typeface="Courier New" pitchFamily="34" charset="0"/>
                <a:ea typeface="Courier New" pitchFamily="34" charset="-122"/>
                <a:cs typeface="Courier New" pitchFamily="34" charset="-120"/>
              </a:rPr>
              <a:t>---</a:t>
            </a:r>
            <a:endParaRPr lang="en-US" sz="800" dirty="0"/>
          </a:p>
        </p:txBody>
      </p:sp>
      <p:sp>
        <p:nvSpPr>
          <p:cNvPr id="8" name="Text 6"/>
          <p:cNvSpPr/>
          <p:nvPr/>
        </p:nvSpPr>
        <p:spPr>
          <a:xfrm>
            <a:off x="585788" y="1340346"/>
            <a:ext cx="1570053" cy="91440"/>
          </a:xfrm>
          <a:prstGeom prst="rect">
            <a:avLst/>
          </a:prstGeom>
          <a:noFill/>
          <a:ln/>
        </p:spPr>
        <p:txBody>
          <a:bodyPr wrap="none" lIns="0" tIns="0" rIns="0" bIns="0" rtlCol="0" anchor="t">
            <a:normAutofit fontScale="70000" lnSpcReduction="20000"/>
          </a:bodyPr>
          <a:lstStyle/>
          <a:p>
            <a:pPr marL="0" indent="0" algn="l">
              <a:lnSpc>
                <a:spcPts val="835"/>
              </a:lnSpc>
              <a:buNone/>
            </a:pPr>
            <a:r>
              <a:rPr lang="en-US" sz="619" i="1" dirty="0">
                <a:solidFill>
                  <a:srgbClr val="94A3B8"/>
                </a:solidFill>
                <a:latin typeface="Courier New" pitchFamily="34" charset="0"/>
                <a:ea typeface="Courier New" pitchFamily="34" charset="-122"/>
                <a:cs typeface="Courier New" pitchFamily="34" charset="-120"/>
              </a:rPr>
              <a:t># deploy_flask.yml — generated by LLM</a:t>
            </a:r>
            <a:endParaRPr lang="en-US" sz="619" dirty="0"/>
          </a:p>
        </p:txBody>
      </p:sp>
      <p:sp>
        <p:nvSpPr>
          <p:cNvPr id="9" name="Text 7"/>
          <p:cNvSpPr/>
          <p:nvPr/>
        </p:nvSpPr>
        <p:spPr>
          <a:xfrm>
            <a:off x="652093" y="1446386"/>
            <a:ext cx="338877" cy="139654"/>
          </a:xfrm>
          <a:prstGeom prst="rect">
            <a:avLst/>
          </a:prstGeom>
          <a:noFill/>
          <a:ln/>
        </p:spPr>
        <p:txBody>
          <a:bodyPr wrap="none" lIns="0" tIns="0" rIns="0" bIns="0" rtlCol="0" anchor="t"/>
          <a:lstStyle/>
          <a:p>
            <a:pPr marL="0" indent="0" algn="l">
              <a:lnSpc>
                <a:spcPts val="835"/>
              </a:lnSpc>
              <a:buNone/>
            </a:pPr>
            <a:r>
              <a:rPr lang="en-US" sz="800" dirty="0">
                <a:solidFill>
                  <a:srgbClr val="FBBF24"/>
                </a:solidFill>
                <a:latin typeface="Courier New" pitchFamily="34" charset="0"/>
                <a:ea typeface="Courier New" pitchFamily="34" charset="-122"/>
                <a:cs typeface="Courier New" pitchFamily="34" charset="-120"/>
              </a:rPr>
              <a:t>name:</a:t>
            </a:r>
            <a:endParaRPr lang="en-US" sz="800" dirty="0"/>
          </a:p>
        </p:txBody>
      </p:sp>
      <p:sp>
        <p:nvSpPr>
          <p:cNvPr id="10" name="Text 8"/>
          <p:cNvSpPr/>
          <p:nvPr/>
        </p:nvSpPr>
        <p:spPr>
          <a:xfrm>
            <a:off x="900113" y="1446386"/>
            <a:ext cx="1442752" cy="91440"/>
          </a:xfrm>
          <a:prstGeom prst="rect">
            <a:avLst/>
          </a:prstGeom>
          <a:noFill/>
          <a:ln/>
        </p:spPr>
        <p:txBody>
          <a:bodyPr wrap="none" lIns="0" tIns="0" rIns="0" bIns="0" rtlCol="0" anchor="t">
            <a:normAutofit fontScale="70000" lnSpcReduction="20000"/>
          </a:bodyPr>
          <a:lstStyle/>
          <a:p>
            <a:pPr marL="0" indent="0" algn="l">
              <a:lnSpc>
                <a:spcPts val="835"/>
              </a:lnSpc>
              <a:buNone/>
            </a:pPr>
            <a:r>
              <a:rPr lang="en-US" sz="619" dirty="0">
                <a:solidFill>
                  <a:srgbClr val="86EFAC"/>
                </a:solidFill>
                <a:latin typeface="Courier New" pitchFamily="34" charset="0"/>
                <a:ea typeface="Courier New" pitchFamily="34" charset="-122"/>
                <a:cs typeface="Courier New" pitchFamily="34" charset="-120"/>
              </a:rPr>
              <a:t>Configure webservers for Flask app</a:t>
            </a:r>
            <a:endParaRPr lang="en-US" sz="619" dirty="0"/>
          </a:p>
        </p:txBody>
      </p:sp>
      <p:sp>
        <p:nvSpPr>
          <p:cNvPr id="11" name="Text 9"/>
          <p:cNvSpPr/>
          <p:nvPr/>
        </p:nvSpPr>
        <p:spPr>
          <a:xfrm>
            <a:off x="664369" y="1552426"/>
            <a:ext cx="337114" cy="139654"/>
          </a:xfrm>
          <a:prstGeom prst="rect">
            <a:avLst/>
          </a:prstGeom>
          <a:noFill/>
          <a:ln/>
        </p:spPr>
        <p:txBody>
          <a:bodyPr wrap="none" lIns="0" tIns="0" rIns="0" bIns="0" rtlCol="0" anchor="t"/>
          <a:lstStyle/>
          <a:p>
            <a:pPr marL="0" indent="0" algn="l">
              <a:lnSpc>
                <a:spcPts val="835"/>
              </a:lnSpc>
              <a:buNone/>
            </a:pPr>
            <a:r>
              <a:rPr lang="en-US" sz="619" dirty="0">
                <a:solidFill>
                  <a:srgbClr val="FBBF24"/>
                </a:solidFill>
                <a:latin typeface="Courier New" pitchFamily="34" charset="0"/>
                <a:ea typeface="Courier New" pitchFamily="34" charset="-122"/>
                <a:cs typeface="Courier New" pitchFamily="34" charset="-120"/>
              </a:rPr>
              <a:t>hosts:</a:t>
            </a:r>
            <a:endParaRPr lang="en-US" sz="619" dirty="0"/>
          </a:p>
        </p:txBody>
      </p:sp>
      <p:sp>
        <p:nvSpPr>
          <p:cNvPr id="12" name="Text 10"/>
          <p:cNvSpPr/>
          <p:nvPr/>
        </p:nvSpPr>
        <p:spPr>
          <a:xfrm>
            <a:off x="930131" y="1552426"/>
            <a:ext cx="509678" cy="91440"/>
          </a:xfrm>
          <a:prstGeom prst="rect">
            <a:avLst/>
          </a:prstGeom>
          <a:noFill/>
          <a:ln/>
        </p:spPr>
        <p:txBody>
          <a:bodyPr wrap="none" lIns="0" tIns="0" rIns="0" bIns="0" rtlCol="0" anchor="t">
            <a:normAutofit fontScale="70000" lnSpcReduction="20000"/>
          </a:bodyPr>
          <a:lstStyle/>
          <a:p>
            <a:pPr marL="0" indent="0" algn="l">
              <a:lnSpc>
                <a:spcPts val="835"/>
              </a:lnSpc>
              <a:buNone/>
            </a:pPr>
            <a:r>
              <a:rPr lang="en-US" sz="619" dirty="0">
                <a:solidFill>
                  <a:srgbClr val="86EFAC"/>
                </a:solidFill>
                <a:latin typeface="Courier New" pitchFamily="34" charset="0"/>
                <a:ea typeface="Courier New" pitchFamily="34" charset="-122"/>
                <a:cs typeface="Courier New" pitchFamily="34" charset="-120"/>
              </a:rPr>
              <a:t>webservers</a:t>
            </a:r>
            <a:endParaRPr lang="en-US" sz="619" dirty="0"/>
          </a:p>
        </p:txBody>
      </p:sp>
      <p:sp>
        <p:nvSpPr>
          <p:cNvPr id="13" name="Text 11"/>
          <p:cNvSpPr/>
          <p:nvPr/>
        </p:nvSpPr>
        <p:spPr>
          <a:xfrm>
            <a:off x="664369" y="1658466"/>
            <a:ext cx="393299" cy="139654"/>
          </a:xfrm>
          <a:prstGeom prst="rect">
            <a:avLst/>
          </a:prstGeom>
          <a:noFill/>
          <a:ln/>
        </p:spPr>
        <p:txBody>
          <a:bodyPr wrap="none" lIns="0" tIns="0" rIns="0" bIns="0" rtlCol="0" anchor="t"/>
          <a:lstStyle/>
          <a:p>
            <a:pPr marL="0" indent="0" algn="l">
              <a:lnSpc>
                <a:spcPts val="835"/>
              </a:lnSpc>
              <a:buNone/>
            </a:pPr>
            <a:r>
              <a:rPr lang="en-US" sz="619" dirty="0">
                <a:solidFill>
                  <a:srgbClr val="FBBF24"/>
                </a:solidFill>
                <a:latin typeface="Courier New" pitchFamily="34" charset="0"/>
                <a:ea typeface="Courier New" pitchFamily="34" charset="-122"/>
                <a:cs typeface="Courier New" pitchFamily="34" charset="-120"/>
              </a:rPr>
              <a:t>become:</a:t>
            </a:r>
            <a:endParaRPr lang="en-US" sz="619" dirty="0"/>
          </a:p>
        </p:txBody>
      </p:sp>
      <p:sp>
        <p:nvSpPr>
          <p:cNvPr id="14" name="Text 12"/>
          <p:cNvSpPr/>
          <p:nvPr/>
        </p:nvSpPr>
        <p:spPr>
          <a:xfrm>
            <a:off x="961699" y="1658466"/>
            <a:ext cx="222585" cy="139654"/>
          </a:xfrm>
          <a:prstGeom prst="rect">
            <a:avLst/>
          </a:prstGeom>
          <a:noFill/>
          <a:ln/>
        </p:spPr>
        <p:txBody>
          <a:bodyPr wrap="none" lIns="0" tIns="0" rIns="0" bIns="0" rtlCol="0" anchor="t"/>
          <a:lstStyle/>
          <a:p>
            <a:pPr marL="0" indent="0" algn="l">
              <a:lnSpc>
                <a:spcPts val="835"/>
              </a:lnSpc>
              <a:buNone/>
            </a:pPr>
            <a:r>
              <a:rPr lang="en-US" sz="800" dirty="0">
                <a:solidFill>
                  <a:srgbClr val="FBA74A"/>
                </a:solidFill>
                <a:latin typeface="Courier New" pitchFamily="34" charset="0"/>
                <a:ea typeface="Courier New" pitchFamily="34" charset="-122"/>
                <a:cs typeface="Courier New" pitchFamily="34" charset="-120"/>
              </a:rPr>
              <a:t>yes</a:t>
            </a:r>
            <a:endParaRPr lang="en-US" sz="800" dirty="0"/>
          </a:p>
        </p:txBody>
      </p:sp>
      <p:sp>
        <p:nvSpPr>
          <p:cNvPr id="15" name="Text 13"/>
          <p:cNvSpPr/>
          <p:nvPr/>
        </p:nvSpPr>
        <p:spPr>
          <a:xfrm>
            <a:off x="652093" y="1870546"/>
            <a:ext cx="338877" cy="91440"/>
          </a:xfrm>
          <a:prstGeom prst="rect">
            <a:avLst/>
          </a:prstGeom>
          <a:noFill/>
          <a:ln/>
        </p:spPr>
        <p:txBody>
          <a:bodyPr wrap="none" lIns="0" tIns="0" rIns="0" bIns="0" rtlCol="0" anchor="t">
            <a:normAutofit fontScale="55000" lnSpcReduction="20000"/>
          </a:bodyPr>
          <a:lstStyle/>
          <a:p>
            <a:pPr marL="0" indent="0" algn="l">
              <a:lnSpc>
                <a:spcPts val="835"/>
              </a:lnSpc>
              <a:buNone/>
            </a:pPr>
            <a:r>
              <a:rPr lang="en-US" sz="800" dirty="0">
                <a:solidFill>
                  <a:srgbClr val="FBBF24"/>
                </a:solidFill>
                <a:latin typeface="Courier New" pitchFamily="34" charset="0"/>
                <a:ea typeface="Courier New" pitchFamily="34" charset="-122"/>
                <a:cs typeface="Courier New" pitchFamily="34" charset="-120"/>
              </a:rPr>
              <a:t>vars:</a:t>
            </a:r>
            <a:endParaRPr lang="en-US" sz="800" dirty="0"/>
          </a:p>
        </p:txBody>
      </p:sp>
      <p:sp>
        <p:nvSpPr>
          <p:cNvPr id="16" name="Text 14"/>
          <p:cNvSpPr/>
          <p:nvPr/>
        </p:nvSpPr>
        <p:spPr>
          <a:xfrm>
            <a:off x="740616" y="1976586"/>
            <a:ext cx="544914" cy="139654"/>
          </a:xfrm>
          <a:prstGeom prst="rect">
            <a:avLst/>
          </a:prstGeom>
          <a:noFill/>
          <a:ln/>
        </p:spPr>
        <p:txBody>
          <a:bodyPr wrap="none" lIns="0" tIns="0" rIns="0" bIns="0" rtlCol="0" anchor="t"/>
          <a:lstStyle/>
          <a:p>
            <a:pPr marL="0" indent="0" algn="l">
              <a:lnSpc>
                <a:spcPts val="835"/>
              </a:lnSpc>
              <a:buNone/>
            </a:pPr>
            <a:r>
              <a:rPr lang="en-US" sz="619" dirty="0">
                <a:solidFill>
                  <a:srgbClr val="FBBF24"/>
                </a:solidFill>
                <a:latin typeface="Courier New" pitchFamily="34" charset="0"/>
                <a:ea typeface="Courier New" pitchFamily="34" charset="-122"/>
                <a:cs typeface="Courier New" pitchFamily="34" charset="-120"/>
              </a:rPr>
              <a:t>flask_user:</a:t>
            </a:r>
            <a:endParaRPr lang="en-US" sz="619" dirty="0"/>
          </a:p>
        </p:txBody>
      </p:sp>
      <p:sp>
        <p:nvSpPr>
          <p:cNvPr id="17" name="Text 15"/>
          <p:cNvSpPr/>
          <p:nvPr/>
        </p:nvSpPr>
        <p:spPr>
          <a:xfrm>
            <a:off x="1211656" y="1976586"/>
            <a:ext cx="496696" cy="91440"/>
          </a:xfrm>
          <a:prstGeom prst="rect">
            <a:avLst/>
          </a:prstGeom>
          <a:noFill/>
          <a:ln/>
        </p:spPr>
        <p:txBody>
          <a:bodyPr wrap="none" lIns="0" tIns="0" rIns="0" bIns="0" rtlCol="0" anchor="t">
            <a:normAutofit fontScale="70000" lnSpcReduction="20000"/>
          </a:bodyPr>
          <a:lstStyle/>
          <a:p>
            <a:pPr marL="0" indent="0" algn="l">
              <a:lnSpc>
                <a:spcPts val="835"/>
              </a:lnSpc>
              <a:buNone/>
            </a:pPr>
            <a:r>
              <a:rPr lang="en-US" sz="619" dirty="0">
                <a:solidFill>
                  <a:srgbClr val="86EFAC"/>
                </a:solidFill>
                <a:latin typeface="Courier New" pitchFamily="34" charset="0"/>
                <a:ea typeface="Courier New" pitchFamily="34" charset="-122"/>
                <a:cs typeface="Courier New" pitchFamily="34" charset="-120"/>
              </a:rPr>
              <a:t>"flaskapp"</a:t>
            </a:r>
            <a:endParaRPr lang="en-US" sz="619" dirty="0"/>
          </a:p>
        </p:txBody>
      </p:sp>
      <p:sp>
        <p:nvSpPr>
          <p:cNvPr id="18" name="Text 16"/>
          <p:cNvSpPr/>
          <p:nvPr/>
        </p:nvSpPr>
        <p:spPr>
          <a:xfrm>
            <a:off x="740168" y="2082626"/>
            <a:ext cx="496696" cy="139654"/>
          </a:xfrm>
          <a:prstGeom prst="rect">
            <a:avLst/>
          </a:prstGeom>
          <a:noFill/>
          <a:ln/>
        </p:spPr>
        <p:txBody>
          <a:bodyPr wrap="none" lIns="0" tIns="0" rIns="0" bIns="0" rtlCol="0" anchor="t"/>
          <a:lstStyle/>
          <a:p>
            <a:pPr marL="0" indent="0" algn="l">
              <a:lnSpc>
                <a:spcPts val="835"/>
              </a:lnSpc>
              <a:buNone/>
            </a:pPr>
            <a:r>
              <a:rPr lang="en-US" sz="619" dirty="0">
                <a:solidFill>
                  <a:srgbClr val="FBBF24"/>
                </a:solidFill>
                <a:latin typeface="Courier New" pitchFamily="34" charset="0"/>
                <a:ea typeface="Courier New" pitchFamily="34" charset="-122"/>
                <a:cs typeface="Courier New" pitchFamily="34" charset="-120"/>
              </a:rPr>
              <a:t>flask_dir:</a:t>
            </a:r>
            <a:endParaRPr lang="en-US" sz="619" dirty="0"/>
          </a:p>
        </p:txBody>
      </p:sp>
      <p:sp>
        <p:nvSpPr>
          <p:cNvPr id="19" name="Text 17"/>
          <p:cNvSpPr/>
          <p:nvPr/>
        </p:nvSpPr>
        <p:spPr>
          <a:xfrm>
            <a:off x="1175147" y="2082626"/>
            <a:ext cx="736699" cy="91440"/>
          </a:xfrm>
          <a:prstGeom prst="rect">
            <a:avLst/>
          </a:prstGeom>
          <a:noFill/>
          <a:ln/>
        </p:spPr>
        <p:txBody>
          <a:bodyPr wrap="none" lIns="0" tIns="0" rIns="0" bIns="0" rtlCol="0" anchor="t">
            <a:normAutofit fontScale="70000" lnSpcReduction="20000"/>
          </a:bodyPr>
          <a:lstStyle/>
          <a:p>
            <a:pPr marL="0" indent="0" algn="l">
              <a:lnSpc>
                <a:spcPts val="835"/>
              </a:lnSpc>
              <a:buNone/>
            </a:pPr>
            <a:r>
              <a:rPr lang="en-US" sz="619" dirty="0">
                <a:solidFill>
                  <a:srgbClr val="86EFAC"/>
                </a:solidFill>
                <a:latin typeface="Courier New" pitchFamily="34" charset="0"/>
                <a:ea typeface="Courier New" pitchFamily="34" charset="-122"/>
                <a:cs typeface="Courier New" pitchFamily="34" charset="-120"/>
              </a:rPr>
              <a:t>"/opt/flaskapp"</a:t>
            </a:r>
            <a:endParaRPr lang="en-US" sz="619" dirty="0"/>
          </a:p>
        </p:txBody>
      </p:sp>
      <p:sp>
        <p:nvSpPr>
          <p:cNvPr id="20" name="Text 18"/>
          <p:cNvSpPr/>
          <p:nvPr/>
        </p:nvSpPr>
        <p:spPr>
          <a:xfrm>
            <a:off x="740616" y="2188666"/>
            <a:ext cx="544914" cy="139654"/>
          </a:xfrm>
          <a:prstGeom prst="rect">
            <a:avLst/>
          </a:prstGeom>
          <a:noFill/>
          <a:ln/>
        </p:spPr>
        <p:txBody>
          <a:bodyPr wrap="none" lIns="0" tIns="0" rIns="0" bIns="0" rtlCol="0" anchor="t"/>
          <a:lstStyle/>
          <a:p>
            <a:pPr marL="0" indent="0" algn="l">
              <a:lnSpc>
                <a:spcPts val="835"/>
              </a:lnSpc>
              <a:buNone/>
            </a:pPr>
            <a:r>
              <a:rPr lang="en-US" sz="619" dirty="0">
                <a:solidFill>
                  <a:srgbClr val="FBBF24"/>
                </a:solidFill>
                <a:latin typeface="Courier New" pitchFamily="34" charset="0"/>
                <a:ea typeface="Courier New" pitchFamily="34" charset="-122"/>
                <a:cs typeface="Courier New" pitchFamily="34" charset="-120"/>
              </a:rPr>
              <a:t>flask_repo:</a:t>
            </a:r>
            <a:endParaRPr lang="en-US" sz="619" dirty="0"/>
          </a:p>
        </p:txBody>
      </p:sp>
      <p:sp>
        <p:nvSpPr>
          <p:cNvPr id="21" name="Text 19"/>
          <p:cNvSpPr/>
          <p:nvPr/>
        </p:nvSpPr>
        <p:spPr>
          <a:xfrm>
            <a:off x="1214438" y="2188666"/>
            <a:ext cx="1612487" cy="139654"/>
          </a:xfrm>
          <a:prstGeom prst="rect">
            <a:avLst/>
          </a:prstGeom>
          <a:noFill/>
          <a:ln/>
        </p:spPr>
        <p:txBody>
          <a:bodyPr wrap="none" lIns="0" tIns="0" rIns="0" bIns="0" rtlCol="0" anchor="t"/>
          <a:lstStyle/>
          <a:p>
            <a:pPr marL="0" indent="0" algn="l">
              <a:lnSpc>
                <a:spcPts val="835"/>
              </a:lnSpc>
              <a:buNone/>
            </a:pPr>
            <a:r>
              <a:rPr lang="en-US" sz="619" dirty="0">
                <a:solidFill>
                  <a:srgbClr val="86EFAC"/>
                </a:solidFill>
                <a:latin typeface="Courier New" pitchFamily="34" charset="0"/>
                <a:ea typeface="Courier New" pitchFamily="34" charset="-122"/>
                <a:cs typeface="Courier New" pitchFamily="34" charset="-120"/>
              </a:rPr>
              <a:t>"https://github.com/example/flask-app"</a:t>
            </a:r>
            <a:endParaRPr lang="en-US" sz="619" dirty="0"/>
          </a:p>
        </p:txBody>
      </p:sp>
      <p:sp>
        <p:nvSpPr>
          <p:cNvPr id="22" name="Text 20"/>
          <p:cNvSpPr/>
          <p:nvPr/>
        </p:nvSpPr>
        <p:spPr>
          <a:xfrm>
            <a:off x="664369" y="2400746"/>
            <a:ext cx="337114" cy="91440"/>
          </a:xfrm>
          <a:prstGeom prst="rect">
            <a:avLst/>
          </a:prstGeom>
          <a:noFill/>
          <a:ln/>
        </p:spPr>
        <p:txBody>
          <a:bodyPr wrap="none" lIns="0" tIns="0" rIns="0" bIns="0" rtlCol="0" anchor="t">
            <a:normAutofit fontScale="70000" lnSpcReduction="20000"/>
          </a:bodyPr>
          <a:lstStyle/>
          <a:p>
            <a:pPr marL="0" indent="0" algn="l">
              <a:lnSpc>
                <a:spcPts val="835"/>
              </a:lnSpc>
              <a:buNone/>
            </a:pPr>
            <a:r>
              <a:rPr lang="en-US" sz="619" dirty="0">
                <a:solidFill>
                  <a:srgbClr val="FBBF24"/>
                </a:solidFill>
                <a:latin typeface="Courier New" pitchFamily="34" charset="0"/>
                <a:ea typeface="Courier New" pitchFamily="34" charset="-122"/>
                <a:cs typeface="Courier New" pitchFamily="34" charset="-120"/>
              </a:rPr>
              <a:t>tasks:</a:t>
            </a:r>
            <a:endParaRPr lang="en-US" sz="619" dirty="0"/>
          </a:p>
        </p:txBody>
      </p:sp>
      <p:sp>
        <p:nvSpPr>
          <p:cNvPr id="23" name="Text 21"/>
          <p:cNvSpPr/>
          <p:nvPr/>
        </p:nvSpPr>
        <p:spPr>
          <a:xfrm>
            <a:off x="809255" y="2506787"/>
            <a:ext cx="338877" cy="139654"/>
          </a:xfrm>
          <a:prstGeom prst="rect">
            <a:avLst/>
          </a:prstGeom>
          <a:noFill/>
          <a:ln/>
        </p:spPr>
        <p:txBody>
          <a:bodyPr wrap="none" lIns="0" tIns="0" rIns="0" bIns="0" rtlCol="0" anchor="t"/>
          <a:lstStyle/>
          <a:p>
            <a:pPr marL="0" indent="0" algn="l">
              <a:lnSpc>
                <a:spcPts val="835"/>
              </a:lnSpc>
              <a:buNone/>
            </a:pPr>
            <a:r>
              <a:rPr lang="en-US" sz="800" dirty="0">
                <a:solidFill>
                  <a:srgbClr val="FBBF24"/>
                </a:solidFill>
                <a:latin typeface="Courier New" pitchFamily="34" charset="0"/>
                <a:ea typeface="Courier New" pitchFamily="34" charset="-122"/>
                <a:cs typeface="Courier New" pitchFamily="34" charset="-120"/>
              </a:rPr>
              <a:t>name:</a:t>
            </a:r>
            <a:endParaRPr lang="en-US" sz="800" dirty="0"/>
          </a:p>
        </p:txBody>
      </p:sp>
      <p:sp>
        <p:nvSpPr>
          <p:cNvPr id="24" name="Text 22"/>
          <p:cNvSpPr/>
          <p:nvPr/>
        </p:nvSpPr>
        <p:spPr>
          <a:xfrm>
            <a:off x="1057275" y="2506787"/>
            <a:ext cx="1060847" cy="91440"/>
          </a:xfrm>
          <a:prstGeom prst="rect">
            <a:avLst/>
          </a:prstGeom>
          <a:noFill/>
          <a:ln/>
        </p:spPr>
        <p:txBody>
          <a:bodyPr wrap="none" lIns="0" tIns="0" rIns="0" bIns="0" rtlCol="0" anchor="t">
            <a:normAutofit fontScale="70000" lnSpcReduction="20000"/>
          </a:bodyPr>
          <a:lstStyle/>
          <a:p>
            <a:pPr marL="0" indent="0" algn="l">
              <a:lnSpc>
                <a:spcPts val="835"/>
              </a:lnSpc>
              <a:buNone/>
            </a:pPr>
            <a:r>
              <a:rPr lang="en-US" sz="619" dirty="0">
                <a:solidFill>
                  <a:srgbClr val="86EFAC"/>
                </a:solidFill>
                <a:latin typeface="Courier New" pitchFamily="34" charset="0"/>
                <a:ea typeface="Courier New" pitchFamily="34" charset="-122"/>
                <a:cs typeface="Courier New" pitchFamily="34" charset="-120"/>
              </a:rPr>
              <a:t>Install required packages</a:t>
            </a:r>
            <a:endParaRPr lang="en-US" sz="619" dirty="0"/>
          </a:p>
        </p:txBody>
      </p:sp>
      <p:sp>
        <p:nvSpPr>
          <p:cNvPr id="25" name="Text 23"/>
          <p:cNvSpPr/>
          <p:nvPr/>
        </p:nvSpPr>
        <p:spPr>
          <a:xfrm>
            <a:off x="808994" y="2612827"/>
            <a:ext cx="276535" cy="91440"/>
          </a:xfrm>
          <a:prstGeom prst="rect">
            <a:avLst/>
          </a:prstGeom>
          <a:noFill/>
          <a:ln/>
        </p:spPr>
        <p:txBody>
          <a:bodyPr wrap="none" lIns="0" tIns="0" rIns="0" bIns="0" rtlCol="0" anchor="t">
            <a:normAutofit fontScale="55000" lnSpcReduction="20000"/>
          </a:bodyPr>
          <a:lstStyle/>
          <a:p>
            <a:pPr marL="0" indent="0" algn="l">
              <a:lnSpc>
                <a:spcPts val="835"/>
              </a:lnSpc>
              <a:buNone/>
            </a:pPr>
            <a:r>
              <a:rPr lang="en-US" sz="800" dirty="0">
                <a:solidFill>
                  <a:srgbClr val="FBBF24"/>
                </a:solidFill>
                <a:latin typeface="Courier New" pitchFamily="34" charset="0"/>
                <a:ea typeface="Courier New" pitchFamily="34" charset="-122"/>
                <a:cs typeface="Courier New" pitchFamily="34" charset="-120"/>
              </a:rPr>
              <a:t>apt:</a:t>
            </a:r>
            <a:endParaRPr lang="en-US" sz="800" dirty="0"/>
          </a:p>
        </p:txBody>
      </p:sp>
      <p:sp>
        <p:nvSpPr>
          <p:cNvPr id="26" name="Text 24"/>
          <p:cNvSpPr/>
          <p:nvPr/>
        </p:nvSpPr>
        <p:spPr>
          <a:xfrm>
            <a:off x="887837" y="2718867"/>
            <a:ext cx="338877" cy="139654"/>
          </a:xfrm>
          <a:prstGeom prst="rect">
            <a:avLst/>
          </a:prstGeom>
          <a:noFill/>
          <a:ln/>
        </p:spPr>
        <p:txBody>
          <a:bodyPr wrap="none" lIns="0" tIns="0" rIns="0" bIns="0" rtlCol="0" anchor="t"/>
          <a:lstStyle/>
          <a:p>
            <a:pPr marL="0" indent="0" algn="l">
              <a:lnSpc>
                <a:spcPts val="835"/>
              </a:lnSpc>
              <a:buNone/>
            </a:pPr>
            <a:r>
              <a:rPr lang="en-US" sz="800" dirty="0">
                <a:solidFill>
                  <a:srgbClr val="FBBF24"/>
                </a:solidFill>
                <a:latin typeface="Courier New" pitchFamily="34" charset="0"/>
                <a:ea typeface="Courier New" pitchFamily="34" charset="-122"/>
                <a:cs typeface="Courier New" pitchFamily="34" charset="-120"/>
              </a:rPr>
              <a:t>name:</a:t>
            </a:r>
            <a:endParaRPr lang="en-US" sz="800" dirty="0"/>
          </a:p>
        </p:txBody>
      </p:sp>
      <p:sp>
        <p:nvSpPr>
          <p:cNvPr id="27" name="Text 25"/>
          <p:cNvSpPr/>
          <p:nvPr/>
        </p:nvSpPr>
        <p:spPr>
          <a:xfrm>
            <a:off x="1135856" y="2718867"/>
            <a:ext cx="589359" cy="91440"/>
          </a:xfrm>
          <a:prstGeom prst="rect">
            <a:avLst/>
          </a:prstGeom>
          <a:noFill/>
          <a:ln/>
        </p:spPr>
        <p:txBody>
          <a:bodyPr wrap="none" lIns="0" tIns="0" rIns="0" bIns="0" rtlCol="0" anchor="t">
            <a:normAutofit fontScale="70000" lnSpcReduction="20000"/>
          </a:bodyPr>
          <a:lstStyle/>
          <a:p>
            <a:pPr marL="0" indent="0" algn="l">
              <a:lnSpc>
                <a:spcPts val="835"/>
              </a:lnSpc>
              <a:buNone/>
            </a:pPr>
            <a:r>
              <a:rPr lang="en-US" sz="619" dirty="0">
                <a:solidFill>
                  <a:srgbClr val="86EFAC"/>
                </a:solidFill>
                <a:latin typeface="Courier New" pitchFamily="34" charset="0"/>
                <a:ea typeface="Courier New" pitchFamily="34" charset="-122"/>
                <a:cs typeface="Courier New" pitchFamily="34" charset="-120"/>
              </a:rPr>
              <a:t>"{{ item }}"</a:t>
            </a:r>
            <a:endParaRPr lang="en-US" sz="619" dirty="0"/>
          </a:p>
        </p:txBody>
      </p:sp>
      <p:sp>
        <p:nvSpPr>
          <p:cNvPr id="28" name="Text 26"/>
          <p:cNvSpPr/>
          <p:nvPr/>
        </p:nvSpPr>
        <p:spPr>
          <a:xfrm>
            <a:off x="900113" y="2824907"/>
            <a:ext cx="337114" cy="139654"/>
          </a:xfrm>
          <a:prstGeom prst="rect">
            <a:avLst/>
          </a:prstGeom>
          <a:noFill/>
          <a:ln/>
        </p:spPr>
        <p:txBody>
          <a:bodyPr wrap="none" lIns="0" tIns="0" rIns="0" bIns="0" rtlCol="0" anchor="t"/>
          <a:lstStyle/>
          <a:p>
            <a:pPr marL="0" indent="0" algn="l">
              <a:lnSpc>
                <a:spcPts val="835"/>
              </a:lnSpc>
              <a:buNone/>
            </a:pPr>
            <a:r>
              <a:rPr lang="en-US" sz="619" dirty="0">
                <a:solidFill>
                  <a:srgbClr val="FBBF24"/>
                </a:solidFill>
                <a:latin typeface="Courier New" pitchFamily="34" charset="0"/>
                <a:ea typeface="Courier New" pitchFamily="34" charset="-122"/>
                <a:cs typeface="Courier New" pitchFamily="34" charset="-120"/>
              </a:rPr>
              <a:t>state:</a:t>
            </a:r>
            <a:endParaRPr lang="en-US" sz="619" dirty="0"/>
          </a:p>
        </p:txBody>
      </p:sp>
      <p:sp>
        <p:nvSpPr>
          <p:cNvPr id="29" name="Text 27"/>
          <p:cNvSpPr/>
          <p:nvPr/>
        </p:nvSpPr>
        <p:spPr>
          <a:xfrm>
            <a:off x="1175147" y="2824907"/>
            <a:ext cx="393299" cy="91440"/>
          </a:xfrm>
          <a:prstGeom prst="rect">
            <a:avLst/>
          </a:prstGeom>
          <a:noFill/>
          <a:ln/>
        </p:spPr>
        <p:txBody>
          <a:bodyPr wrap="none" lIns="0" tIns="0" rIns="0" bIns="0" rtlCol="0" anchor="t">
            <a:normAutofit fontScale="70000" lnSpcReduction="20000"/>
          </a:bodyPr>
          <a:lstStyle/>
          <a:p>
            <a:pPr marL="0" indent="0" algn="l">
              <a:lnSpc>
                <a:spcPts val="835"/>
              </a:lnSpc>
              <a:buNone/>
            </a:pPr>
            <a:r>
              <a:rPr lang="en-US" sz="619" dirty="0">
                <a:solidFill>
                  <a:srgbClr val="86EFAC"/>
                </a:solidFill>
                <a:latin typeface="Courier New" pitchFamily="34" charset="0"/>
                <a:ea typeface="Courier New" pitchFamily="34" charset="-122"/>
                <a:cs typeface="Courier New" pitchFamily="34" charset="-120"/>
              </a:rPr>
              <a:t>present</a:t>
            </a:r>
            <a:endParaRPr lang="en-US" sz="619" dirty="0"/>
          </a:p>
        </p:txBody>
      </p:sp>
      <p:sp>
        <p:nvSpPr>
          <p:cNvPr id="30" name="Text 28"/>
          <p:cNvSpPr/>
          <p:nvPr/>
        </p:nvSpPr>
        <p:spPr>
          <a:xfrm>
            <a:off x="900113" y="2930947"/>
            <a:ext cx="638473" cy="139654"/>
          </a:xfrm>
          <a:prstGeom prst="rect">
            <a:avLst/>
          </a:prstGeom>
          <a:noFill/>
          <a:ln/>
        </p:spPr>
        <p:txBody>
          <a:bodyPr wrap="none" lIns="0" tIns="0" rIns="0" bIns="0" rtlCol="0" anchor="t"/>
          <a:lstStyle/>
          <a:p>
            <a:pPr marL="0" indent="0" algn="l">
              <a:lnSpc>
                <a:spcPts val="835"/>
              </a:lnSpc>
              <a:buNone/>
            </a:pPr>
            <a:r>
              <a:rPr lang="en-US" sz="619" dirty="0">
                <a:solidFill>
                  <a:srgbClr val="FBBF24"/>
                </a:solidFill>
                <a:latin typeface="Courier New" pitchFamily="34" charset="0"/>
                <a:ea typeface="Courier New" pitchFamily="34" charset="-122"/>
                <a:cs typeface="Courier New" pitchFamily="34" charset="-120"/>
              </a:rPr>
              <a:t>update_cache:</a:t>
            </a:r>
            <a:endParaRPr lang="en-US" sz="619" dirty="0"/>
          </a:p>
        </p:txBody>
      </p:sp>
      <p:sp>
        <p:nvSpPr>
          <p:cNvPr id="31" name="Text 29"/>
          <p:cNvSpPr/>
          <p:nvPr/>
        </p:nvSpPr>
        <p:spPr>
          <a:xfrm>
            <a:off x="1433186" y="2930947"/>
            <a:ext cx="222585" cy="91440"/>
          </a:xfrm>
          <a:prstGeom prst="rect">
            <a:avLst/>
          </a:prstGeom>
          <a:noFill/>
          <a:ln/>
        </p:spPr>
        <p:txBody>
          <a:bodyPr wrap="none" lIns="0" tIns="0" rIns="0" bIns="0" rtlCol="0" anchor="t">
            <a:normAutofit fontScale="55000" lnSpcReduction="20000"/>
          </a:bodyPr>
          <a:lstStyle/>
          <a:p>
            <a:pPr marL="0" indent="0" algn="l">
              <a:lnSpc>
                <a:spcPts val="835"/>
              </a:lnSpc>
              <a:buNone/>
            </a:pPr>
            <a:r>
              <a:rPr lang="en-US" sz="800" dirty="0">
                <a:solidFill>
                  <a:srgbClr val="FBA74A"/>
                </a:solidFill>
                <a:latin typeface="Courier New" pitchFamily="34" charset="0"/>
                <a:ea typeface="Courier New" pitchFamily="34" charset="-122"/>
                <a:cs typeface="Courier New" pitchFamily="34" charset="-120"/>
              </a:rPr>
              <a:t>yes</a:t>
            </a:r>
            <a:endParaRPr lang="en-US" sz="800" dirty="0"/>
          </a:p>
        </p:txBody>
      </p:sp>
      <p:sp>
        <p:nvSpPr>
          <p:cNvPr id="32" name="Text 30"/>
          <p:cNvSpPr/>
          <p:nvPr/>
        </p:nvSpPr>
        <p:spPr>
          <a:xfrm>
            <a:off x="809255" y="3036987"/>
            <a:ext cx="338877" cy="91440"/>
          </a:xfrm>
          <a:prstGeom prst="rect">
            <a:avLst/>
          </a:prstGeom>
          <a:noFill/>
          <a:ln/>
        </p:spPr>
        <p:txBody>
          <a:bodyPr wrap="none" lIns="0" tIns="0" rIns="0" bIns="0" rtlCol="0" anchor="t">
            <a:normAutofit fontScale="55000" lnSpcReduction="20000"/>
          </a:bodyPr>
          <a:lstStyle/>
          <a:p>
            <a:pPr marL="0" indent="0" algn="l">
              <a:lnSpc>
                <a:spcPts val="835"/>
              </a:lnSpc>
              <a:buNone/>
            </a:pPr>
            <a:r>
              <a:rPr lang="en-US" sz="800" dirty="0">
                <a:solidFill>
                  <a:srgbClr val="FBBF24"/>
                </a:solidFill>
                <a:latin typeface="Courier New" pitchFamily="34" charset="0"/>
                <a:ea typeface="Courier New" pitchFamily="34" charset="-122"/>
                <a:cs typeface="Courier New" pitchFamily="34" charset="-120"/>
              </a:rPr>
              <a:t>loop:</a:t>
            </a:r>
            <a:endParaRPr lang="en-US" sz="800" dirty="0"/>
          </a:p>
        </p:txBody>
      </p:sp>
      <p:sp>
        <p:nvSpPr>
          <p:cNvPr id="33" name="Text 31"/>
          <p:cNvSpPr/>
          <p:nvPr/>
        </p:nvSpPr>
        <p:spPr>
          <a:xfrm>
            <a:off x="978694" y="3143027"/>
            <a:ext cx="393299" cy="91440"/>
          </a:xfrm>
          <a:prstGeom prst="rect">
            <a:avLst/>
          </a:prstGeom>
          <a:noFill/>
          <a:ln/>
        </p:spPr>
        <p:txBody>
          <a:bodyPr wrap="none" lIns="0" tIns="0" rIns="0" bIns="0" rtlCol="0" anchor="t">
            <a:normAutofit fontScale="70000" lnSpcReduction="20000"/>
          </a:bodyPr>
          <a:lstStyle/>
          <a:p>
            <a:pPr marL="0" indent="0" algn="l">
              <a:lnSpc>
                <a:spcPts val="835"/>
              </a:lnSpc>
              <a:buNone/>
            </a:pPr>
            <a:r>
              <a:rPr lang="en-US" sz="619" dirty="0">
                <a:solidFill>
                  <a:srgbClr val="86EFAC"/>
                </a:solidFill>
                <a:latin typeface="Liberation Sans Narrow" pitchFamily="34" charset="0"/>
                <a:ea typeface="Liberation Sans Narrow" pitchFamily="34" charset="-122"/>
                <a:cs typeface="Liberation Sans Narrow" pitchFamily="34" charset="-120"/>
              </a:rPr>
              <a:t>python3</a:t>
            </a:r>
            <a:endParaRPr lang="en-US" sz="619" dirty="0"/>
          </a:p>
        </p:txBody>
      </p:sp>
      <p:sp>
        <p:nvSpPr>
          <p:cNvPr id="34" name="Text 32"/>
          <p:cNvSpPr/>
          <p:nvPr/>
        </p:nvSpPr>
        <p:spPr>
          <a:xfrm>
            <a:off x="968478" y="3249067"/>
            <a:ext cx="560677" cy="91440"/>
          </a:xfrm>
          <a:prstGeom prst="rect">
            <a:avLst/>
          </a:prstGeom>
          <a:noFill/>
          <a:ln/>
        </p:spPr>
        <p:txBody>
          <a:bodyPr wrap="none" lIns="0" tIns="0" rIns="0" bIns="0" rtlCol="0" anchor="t">
            <a:normAutofit fontScale="70000" lnSpcReduction="20000"/>
          </a:bodyPr>
          <a:lstStyle/>
          <a:p>
            <a:pPr marL="0" indent="0" algn="l">
              <a:lnSpc>
                <a:spcPts val="835"/>
              </a:lnSpc>
              <a:buNone/>
            </a:pPr>
            <a:r>
              <a:rPr lang="en-US" sz="619" dirty="0">
                <a:solidFill>
                  <a:srgbClr val="86EFAC"/>
                </a:solidFill>
                <a:latin typeface="Liberation Sans Narrow" pitchFamily="34" charset="0"/>
                <a:ea typeface="Liberation Sans Narrow" pitchFamily="34" charset="-122"/>
                <a:cs typeface="Liberation Sans Narrow" pitchFamily="34" charset="-120"/>
              </a:rPr>
              <a:t>python3-pip</a:t>
            </a:r>
            <a:endParaRPr lang="en-US" sz="619" dirty="0"/>
          </a:p>
        </p:txBody>
      </p:sp>
      <p:sp>
        <p:nvSpPr>
          <p:cNvPr id="35" name="Text 33"/>
          <p:cNvSpPr/>
          <p:nvPr/>
        </p:nvSpPr>
        <p:spPr>
          <a:xfrm>
            <a:off x="968926" y="3355107"/>
            <a:ext cx="608895" cy="91440"/>
          </a:xfrm>
          <a:prstGeom prst="rect">
            <a:avLst/>
          </a:prstGeom>
          <a:noFill/>
          <a:ln/>
        </p:spPr>
        <p:txBody>
          <a:bodyPr wrap="none" lIns="0" tIns="0" rIns="0" bIns="0" rtlCol="0" anchor="t">
            <a:normAutofit fontScale="70000" lnSpcReduction="20000"/>
          </a:bodyPr>
          <a:lstStyle/>
          <a:p>
            <a:pPr marL="0" indent="0" algn="l">
              <a:lnSpc>
                <a:spcPts val="835"/>
              </a:lnSpc>
              <a:buNone/>
            </a:pPr>
            <a:r>
              <a:rPr lang="en-US" sz="619" dirty="0">
                <a:solidFill>
                  <a:srgbClr val="86EFAC"/>
                </a:solidFill>
                <a:latin typeface="Liberation Sans Narrow" pitchFamily="34" charset="0"/>
                <a:ea typeface="Liberation Sans Narrow" pitchFamily="34" charset="-122"/>
                <a:cs typeface="Liberation Sans Narrow" pitchFamily="34" charset="-120"/>
              </a:rPr>
              <a:t>python3-venv</a:t>
            </a:r>
            <a:endParaRPr lang="en-US" sz="619" dirty="0"/>
          </a:p>
        </p:txBody>
      </p:sp>
      <p:sp>
        <p:nvSpPr>
          <p:cNvPr id="36" name="Text 34"/>
          <p:cNvSpPr/>
          <p:nvPr/>
        </p:nvSpPr>
        <p:spPr>
          <a:xfrm>
            <a:off x="962222" y="3461147"/>
            <a:ext cx="347269" cy="91440"/>
          </a:xfrm>
          <a:prstGeom prst="rect">
            <a:avLst/>
          </a:prstGeom>
          <a:noFill/>
          <a:ln/>
        </p:spPr>
        <p:txBody>
          <a:bodyPr wrap="none" lIns="0" tIns="0" rIns="0" bIns="0" rtlCol="0" anchor="t">
            <a:normAutofit fontScale="55000" lnSpcReduction="20000"/>
          </a:bodyPr>
          <a:lstStyle/>
          <a:p>
            <a:pPr marL="0" indent="0" algn="l">
              <a:lnSpc>
                <a:spcPts val="835"/>
              </a:lnSpc>
              <a:buNone/>
            </a:pPr>
            <a:r>
              <a:rPr lang="en-US" sz="800" dirty="0">
                <a:solidFill>
                  <a:srgbClr val="86EFAC"/>
                </a:solidFill>
                <a:latin typeface="Courier New" pitchFamily="34" charset="0"/>
                <a:ea typeface="Courier New" pitchFamily="34" charset="-122"/>
                <a:cs typeface="Courier New" pitchFamily="34" charset="-120"/>
              </a:rPr>
              <a:t>nginx</a:t>
            </a:r>
            <a:endParaRPr lang="en-US" sz="800" dirty="0"/>
          </a:p>
        </p:txBody>
      </p:sp>
      <p:sp>
        <p:nvSpPr>
          <p:cNvPr id="37" name="Text 35"/>
          <p:cNvSpPr/>
          <p:nvPr/>
        </p:nvSpPr>
        <p:spPr>
          <a:xfrm>
            <a:off x="961699" y="3567187"/>
            <a:ext cx="222585" cy="139654"/>
          </a:xfrm>
          <a:prstGeom prst="rect">
            <a:avLst/>
          </a:prstGeom>
          <a:noFill/>
          <a:ln/>
        </p:spPr>
        <p:txBody>
          <a:bodyPr wrap="none" lIns="0" tIns="0" rIns="0" bIns="0" rtlCol="0" anchor="t"/>
          <a:lstStyle/>
          <a:p>
            <a:pPr marL="0" indent="0" algn="l">
              <a:lnSpc>
                <a:spcPts val="835"/>
              </a:lnSpc>
              <a:buNone/>
            </a:pPr>
            <a:r>
              <a:rPr lang="en-US" sz="800" dirty="0">
                <a:solidFill>
                  <a:srgbClr val="86EFAC"/>
                </a:solidFill>
                <a:latin typeface="Courier New" pitchFamily="34" charset="0"/>
                <a:ea typeface="Courier New" pitchFamily="34" charset="-122"/>
                <a:cs typeface="Courier New" pitchFamily="34" charset="-120"/>
              </a:rPr>
              <a:t>git</a:t>
            </a:r>
            <a:endParaRPr lang="en-US" sz="800" dirty="0"/>
          </a:p>
        </p:txBody>
      </p:sp>
      <p:sp>
        <p:nvSpPr>
          <p:cNvPr id="38" name="Text 36"/>
          <p:cNvSpPr/>
          <p:nvPr/>
        </p:nvSpPr>
        <p:spPr>
          <a:xfrm>
            <a:off x="809255" y="3779267"/>
            <a:ext cx="338877" cy="139654"/>
          </a:xfrm>
          <a:prstGeom prst="rect">
            <a:avLst/>
          </a:prstGeom>
          <a:noFill/>
          <a:ln/>
        </p:spPr>
        <p:txBody>
          <a:bodyPr wrap="none" lIns="0" tIns="0" rIns="0" bIns="0" rtlCol="0" anchor="t"/>
          <a:lstStyle/>
          <a:p>
            <a:pPr marL="0" indent="0" algn="l">
              <a:lnSpc>
                <a:spcPts val="835"/>
              </a:lnSpc>
              <a:buNone/>
            </a:pPr>
            <a:r>
              <a:rPr lang="en-US" sz="800" dirty="0">
                <a:solidFill>
                  <a:srgbClr val="FBBF24"/>
                </a:solidFill>
                <a:latin typeface="Courier New" pitchFamily="34" charset="0"/>
                <a:ea typeface="Courier New" pitchFamily="34" charset="-122"/>
                <a:cs typeface="Courier New" pitchFamily="34" charset="-120"/>
              </a:rPr>
              <a:t>name:</a:t>
            </a:r>
            <a:endParaRPr lang="en-US" sz="800" dirty="0"/>
          </a:p>
        </p:txBody>
      </p:sp>
      <p:sp>
        <p:nvSpPr>
          <p:cNvPr id="39" name="Text 37"/>
          <p:cNvSpPr/>
          <p:nvPr/>
        </p:nvSpPr>
        <p:spPr>
          <a:xfrm>
            <a:off x="1057275" y="3779267"/>
            <a:ext cx="982266" cy="91440"/>
          </a:xfrm>
          <a:prstGeom prst="rect">
            <a:avLst/>
          </a:prstGeom>
          <a:noFill/>
          <a:ln/>
        </p:spPr>
        <p:txBody>
          <a:bodyPr wrap="none" lIns="0" tIns="0" rIns="0" bIns="0" rtlCol="0" anchor="t">
            <a:normAutofit fontScale="70000" lnSpcReduction="20000"/>
          </a:bodyPr>
          <a:lstStyle/>
          <a:p>
            <a:pPr marL="0" indent="0" algn="l">
              <a:lnSpc>
                <a:spcPts val="835"/>
              </a:lnSpc>
              <a:buNone/>
            </a:pPr>
            <a:r>
              <a:rPr lang="en-US" sz="619" dirty="0">
                <a:solidFill>
                  <a:srgbClr val="86EFAC"/>
                </a:solidFill>
                <a:latin typeface="Courier New" pitchFamily="34" charset="0"/>
                <a:ea typeface="Courier New" pitchFamily="34" charset="-122"/>
                <a:cs typeface="Courier New" pitchFamily="34" charset="-120"/>
              </a:rPr>
              <a:t>Create flaskapp user</a:t>
            </a:r>
            <a:endParaRPr lang="en-US" sz="619" dirty="0"/>
          </a:p>
        </p:txBody>
      </p:sp>
      <p:sp>
        <p:nvSpPr>
          <p:cNvPr id="40" name="Text 38"/>
          <p:cNvSpPr/>
          <p:nvPr/>
        </p:nvSpPr>
        <p:spPr>
          <a:xfrm>
            <a:off x="809255" y="3885307"/>
            <a:ext cx="338877" cy="91440"/>
          </a:xfrm>
          <a:prstGeom prst="rect">
            <a:avLst/>
          </a:prstGeom>
          <a:noFill/>
          <a:ln/>
        </p:spPr>
        <p:txBody>
          <a:bodyPr wrap="none" lIns="0" tIns="0" rIns="0" bIns="0" rtlCol="0" anchor="t">
            <a:normAutofit fontScale="55000" lnSpcReduction="20000"/>
          </a:bodyPr>
          <a:lstStyle/>
          <a:p>
            <a:pPr marL="0" indent="0" algn="l">
              <a:lnSpc>
                <a:spcPts val="835"/>
              </a:lnSpc>
              <a:buNone/>
            </a:pPr>
            <a:r>
              <a:rPr lang="en-US" sz="800" dirty="0">
                <a:solidFill>
                  <a:srgbClr val="FBBF24"/>
                </a:solidFill>
                <a:latin typeface="Courier New" pitchFamily="34" charset="0"/>
                <a:ea typeface="Courier New" pitchFamily="34" charset="-122"/>
                <a:cs typeface="Courier New" pitchFamily="34" charset="-120"/>
              </a:rPr>
              <a:t>user:</a:t>
            </a:r>
            <a:endParaRPr lang="en-US" sz="800" dirty="0"/>
          </a:p>
        </p:txBody>
      </p:sp>
      <p:sp>
        <p:nvSpPr>
          <p:cNvPr id="41" name="Text 39"/>
          <p:cNvSpPr/>
          <p:nvPr/>
        </p:nvSpPr>
        <p:spPr>
          <a:xfrm>
            <a:off x="887837" y="3991347"/>
            <a:ext cx="338877" cy="139654"/>
          </a:xfrm>
          <a:prstGeom prst="rect">
            <a:avLst/>
          </a:prstGeom>
          <a:noFill/>
          <a:ln/>
        </p:spPr>
        <p:txBody>
          <a:bodyPr wrap="none" lIns="0" tIns="0" rIns="0" bIns="0" rtlCol="0" anchor="t"/>
          <a:lstStyle/>
          <a:p>
            <a:pPr marL="0" indent="0" algn="l">
              <a:lnSpc>
                <a:spcPts val="835"/>
              </a:lnSpc>
              <a:buNone/>
            </a:pPr>
            <a:r>
              <a:rPr lang="en-US" sz="800" dirty="0">
                <a:solidFill>
                  <a:srgbClr val="FBBF24"/>
                </a:solidFill>
                <a:latin typeface="Courier New" pitchFamily="34" charset="0"/>
                <a:ea typeface="Courier New" pitchFamily="34" charset="-122"/>
                <a:cs typeface="Courier New" pitchFamily="34" charset="-120"/>
              </a:rPr>
              <a:t>name:</a:t>
            </a:r>
            <a:endParaRPr lang="en-US" sz="800" dirty="0"/>
          </a:p>
        </p:txBody>
      </p:sp>
      <p:sp>
        <p:nvSpPr>
          <p:cNvPr id="42" name="Text 40"/>
          <p:cNvSpPr/>
          <p:nvPr/>
        </p:nvSpPr>
        <p:spPr>
          <a:xfrm>
            <a:off x="1135856" y="3991347"/>
            <a:ext cx="884039" cy="91440"/>
          </a:xfrm>
          <a:prstGeom prst="rect">
            <a:avLst/>
          </a:prstGeom>
          <a:noFill/>
          <a:ln/>
        </p:spPr>
        <p:txBody>
          <a:bodyPr wrap="none" lIns="0" tIns="0" rIns="0" bIns="0" rtlCol="0" anchor="t">
            <a:normAutofit fontScale="70000" lnSpcReduction="20000"/>
          </a:bodyPr>
          <a:lstStyle/>
          <a:p>
            <a:pPr marL="0" indent="0" algn="l">
              <a:lnSpc>
                <a:spcPts val="835"/>
              </a:lnSpc>
              <a:buNone/>
            </a:pPr>
            <a:r>
              <a:rPr lang="en-US" sz="619" dirty="0">
                <a:solidFill>
                  <a:srgbClr val="86EFAC"/>
                </a:solidFill>
                <a:latin typeface="Courier New" pitchFamily="34" charset="0"/>
                <a:ea typeface="Courier New" pitchFamily="34" charset="-122"/>
                <a:cs typeface="Courier New" pitchFamily="34" charset="-120"/>
              </a:rPr>
              <a:t>"{{ flask_user }}"</a:t>
            </a:r>
            <a:endParaRPr lang="en-US" sz="619" dirty="0"/>
          </a:p>
        </p:txBody>
      </p:sp>
      <p:sp>
        <p:nvSpPr>
          <p:cNvPr id="43" name="Text 41"/>
          <p:cNvSpPr/>
          <p:nvPr/>
        </p:nvSpPr>
        <p:spPr>
          <a:xfrm>
            <a:off x="900113" y="4097387"/>
            <a:ext cx="337114" cy="139654"/>
          </a:xfrm>
          <a:prstGeom prst="rect">
            <a:avLst/>
          </a:prstGeom>
          <a:noFill/>
          <a:ln/>
        </p:spPr>
        <p:txBody>
          <a:bodyPr wrap="none" lIns="0" tIns="0" rIns="0" bIns="0" rtlCol="0" anchor="t"/>
          <a:lstStyle/>
          <a:p>
            <a:pPr marL="0" indent="0" algn="l">
              <a:lnSpc>
                <a:spcPts val="835"/>
              </a:lnSpc>
              <a:buNone/>
            </a:pPr>
            <a:r>
              <a:rPr lang="en-US" sz="619" dirty="0">
                <a:solidFill>
                  <a:srgbClr val="FBBF24"/>
                </a:solidFill>
                <a:latin typeface="Courier New" pitchFamily="34" charset="0"/>
                <a:ea typeface="Courier New" pitchFamily="34" charset="-122"/>
                <a:cs typeface="Courier New" pitchFamily="34" charset="-120"/>
              </a:rPr>
              <a:t>shell:</a:t>
            </a:r>
            <a:endParaRPr lang="en-US" sz="619" dirty="0"/>
          </a:p>
        </p:txBody>
      </p:sp>
      <p:sp>
        <p:nvSpPr>
          <p:cNvPr id="44" name="Text 42"/>
          <p:cNvSpPr/>
          <p:nvPr/>
        </p:nvSpPr>
        <p:spPr>
          <a:xfrm>
            <a:off x="1175147" y="4097387"/>
            <a:ext cx="505670" cy="91440"/>
          </a:xfrm>
          <a:prstGeom prst="rect">
            <a:avLst/>
          </a:prstGeom>
          <a:noFill/>
          <a:ln/>
        </p:spPr>
        <p:txBody>
          <a:bodyPr wrap="none" lIns="0" tIns="0" rIns="0" bIns="0" rtlCol="0" anchor="t">
            <a:normAutofit fontScale="70000" lnSpcReduction="20000"/>
          </a:bodyPr>
          <a:lstStyle/>
          <a:p>
            <a:pPr marL="0" indent="0" algn="l">
              <a:lnSpc>
                <a:spcPts val="835"/>
              </a:lnSpc>
              <a:buNone/>
            </a:pPr>
            <a:r>
              <a:rPr lang="en-US" sz="619" dirty="0">
                <a:solidFill>
                  <a:srgbClr val="86EFAC"/>
                </a:solidFill>
                <a:latin typeface="Courier New" pitchFamily="34" charset="0"/>
                <a:ea typeface="Courier New" pitchFamily="34" charset="-122"/>
                <a:cs typeface="Courier New" pitchFamily="34" charset="-120"/>
              </a:rPr>
              <a:t>/bin/bash</a:t>
            </a:r>
            <a:endParaRPr lang="en-US" sz="619" dirty="0"/>
          </a:p>
        </p:txBody>
      </p:sp>
      <p:sp>
        <p:nvSpPr>
          <p:cNvPr id="45" name="Text 43"/>
          <p:cNvSpPr/>
          <p:nvPr/>
        </p:nvSpPr>
        <p:spPr>
          <a:xfrm>
            <a:off x="898227" y="4203427"/>
            <a:ext cx="593131" cy="139654"/>
          </a:xfrm>
          <a:prstGeom prst="rect">
            <a:avLst/>
          </a:prstGeom>
          <a:noFill/>
          <a:ln/>
        </p:spPr>
        <p:txBody>
          <a:bodyPr wrap="none" lIns="0" tIns="0" rIns="0" bIns="0" rtlCol="0" anchor="t"/>
          <a:lstStyle/>
          <a:p>
            <a:pPr marL="0" indent="0" algn="l">
              <a:lnSpc>
                <a:spcPts val="835"/>
              </a:lnSpc>
              <a:buNone/>
            </a:pPr>
            <a:r>
              <a:rPr lang="en-US" sz="619" dirty="0">
                <a:solidFill>
                  <a:srgbClr val="FBBF24"/>
                </a:solidFill>
                <a:latin typeface="Courier New" pitchFamily="34" charset="0"/>
                <a:ea typeface="Courier New" pitchFamily="34" charset="-122"/>
                <a:cs typeface="Courier New" pitchFamily="34" charset="-120"/>
              </a:rPr>
              <a:t>create_home:</a:t>
            </a:r>
            <a:endParaRPr lang="en-US" sz="619" dirty="0"/>
          </a:p>
        </p:txBody>
      </p:sp>
      <p:sp>
        <p:nvSpPr>
          <p:cNvPr id="46" name="Text 44"/>
          <p:cNvSpPr/>
          <p:nvPr/>
        </p:nvSpPr>
        <p:spPr>
          <a:xfrm>
            <a:off x="1393895" y="4203427"/>
            <a:ext cx="222585" cy="139654"/>
          </a:xfrm>
          <a:prstGeom prst="rect">
            <a:avLst/>
          </a:prstGeom>
          <a:noFill/>
          <a:ln/>
        </p:spPr>
        <p:txBody>
          <a:bodyPr wrap="none" lIns="0" tIns="0" rIns="0" bIns="0" rtlCol="0" anchor="t"/>
          <a:lstStyle/>
          <a:p>
            <a:pPr marL="0" indent="0" algn="l">
              <a:lnSpc>
                <a:spcPts val="835"/>
              </a:lnSpc>
              <a:buNone/>
            </a:pPr>
            <a:r>
              <a:rPr lang="en-US" sz="800" dirty="0">
                <a:solidFill>
                  <a:srgbClr val="FBA74A"/>
                </a:solidFill>
                <a:latin typeface="Courier New" pitchFamily="34" charset="0"/>
                <a:ea typeface="Courier New" pitchFamily="34" charset="-122"/>
                <a:cs typeface="Courier New" pitchFamily="34" charset="-120"/>
              </a:rPr>
              <a:t>yes</a:t>
            </a:r>
            <a:endParaRPr lang="en-US" sz="800" dirty="0"/>
          </a:p>
        </p:txBody>
      </p:sp>
      <p:sp>
        <p:nvSpPr>
          <p:cNvPr id="47" name="Text 45"/>
          <p:cNvSpPr/>
          <p:nvPr/>
        </p:nvSpPr>
        <p:spPr>
          <a:xfrm>
            <a:off x="809255" y="4415507"/>
            <a:ext cx="338877" cy="91440"/>
          </a:xfrm>
          <a:prstGeom prst="rect">
            <a:avLst/>
          </a:prstGeom>
          <a:noFill/>
          <a:ln/>
        </p:spPr>
        <p:txBody>
          <a:bodyPr wrap="none" lIns="0" tIns="0" rIns="0" bIns="0" rtlCol="0" anchor="t"/>
          <a:lstStyle/>
          <a:p>
            <a:pPr marL="0" indent="0" algn="l">
              <a:lnSpc>
                <a:spcPts val="835"/>
              </a:lnSpc>
              <a:buNone/>
            </a:pPr>
            <a:r>
              <a:rPr lang="en-US" sz="800" dirty="0">
                <a:solidFill>
                  <a:srgbClr val="FBBF24"/>
                </a:solidFill>
                <a:latin typeface="Courier New" pitchFamily="34" charset="0"/>
                <a:ea typeface="Courier New" pitchFamily="34" charset="-122"/>
                <a:cs typeface="Courier New" pitchFamily="34" charset="-120"/>
              </a:rPr>
              <a:t>name:</a:t>
            </a:r>
            <a:endParaRPr lang="en-US" sz="800" dirty="0"/>
          </a:p>
        </p:txBody>
      </p:sp>
      <p:sp>
        <p:nvSpPr>
          <p:cNvPr id="48" name="Text 46"/>
          <p:cNvSpPr/>
          <p:nvPr/>
        </p:nvSpPr>
        <p:spPr>
          <a:xfrm>
            <a:off x="1057275" y="4415507"/>
            <a:ext cx="1103281" cy="91440"/>
          </a:xfrm>
          <a:prstGeom prst="rect">
            <a:avLst/>
          </a:prstGeom>
          <a:noFill/>
          <a:ln/>
        </p:spPr>
        <p:txBody>
          <a:bodyPr wrap="none" lIns="0" tIns="0" rIns="0" bIns="0" rtlCol="0" anchor="t"/>
          <a:lstStyle/>
          <a:p>
            <a:pPr marL="0" indent="0" algn="l">
              <a:lnSpc>
                <a:spcPts val="835"/>
              </a:lnSpc>
              <a:buNone/>
            </a:pPr>
            <a:r>
              <a:rPr lang="en-US" sz="619" dirty="0">
                <a:solidFill>
                  <a:srgbClr val="86EFAC"/>
                </a:solidFill>
                <a:latin typeface="Courier New" pitchFamily="34" charset="0"/>
                <a:ea typeface="Courier New" pitchFamily="34" charset="-122"/>
                <a:cs typeface="Courier New" pitchFamily="34" charset="-120"/>
              </a:rPr>
              <a:t>Create Flask app directory</a:t>
            </a:r>
            <a:endParaRPr lang="en-US" sz="619" dirty="0"/>
          </a:p>
        </p:txBody>
      </p:sp>
      <p:sp>
        <p:nvSpPr>
          <p:cNvPr id="49" name="Text 47"/>
          <p:cNvSpPr/>
          <p:nvPr/>
        </p:nvSpPr>
        <p:spPr>
          <a:xfrm>
            <a:off x="809255" y="4521547"/>
            <a:ext cx="338877" cy="91440"/>
          </a:xfrm>
          <a:prstGeom prst="rect">
            <a:avLst/>
          </a:prstGeom>
          <a:noFill/>
          <a:ln/>
        </p:spPr>
        <p:txBody>
          <a:bodyPr wrap="none" lIns="0" tIns="0" rIns="0" bIns="0" rtlCol="0" anchor="t"/>
          <a:lstStyle/>
          <a:p>
            <a:pPr marL="0" indent="0" algn="l">
              <a:lnSpc>
                <a:spcPts val="835"/>
              </a:lnSpc>
              <a:buNone/>
            </a:pPr>
            <a:r>
              <a:rPr lang="en-US" sz="800" dirty="0">
                <a:solidFill>
                  <a:srgbClr val="FBBF24"/>
                </a:solidFill>
                <a:latin typeface="Courier New" pitchFamily="34" charset="0"/>
                <a:ea typeface="Courier New" pitchFamily="34" charset="-122"/>
                <a:cs typeface="Courier New" pitchFamily="34" charset="-120"/>
              </a:rPr>
              <a:t>file:</a:t>
            </a:r>
            <a:endParaRPr lang="en-US" sz="800" dirty="0"/>
          </a:p>
        </p:txBody>
      </p:sp>
      <p:sp>
        <p:nvSpPr>
          <p:cNvPr id="50" name="Text 48"/>
          <p:cNvSpPr/>
          <p:nvPr/>
        </p:nvSpPr>
        <p:spPr>
          <a:xfrm>
            <a:off x="887837" y="4627587"/>
            <a:ext cx="338877" cy="91440"/>
          </a:xfrm>
          <a:prstGeom prst="rect">
            <a:avLst/>
          </a:prstGeom>
          <a:noFill/>
          <a:ln/>
        </p:spPr>
        <p:txBody>
          <a:bodyPr wrap="none" lIns="0" tIns="0" rIns="0" bIns="0" rtlCol="0" anchor="t"/>
          <a:lstStyle/>
          <a:p>
            <a:pPr marL="0" indent="0" algn="l">
              <a:lnSpc>
                <a:spcPts val="835"/>
              </a:lnSpc>
              <a:buNone/>
            </a:pPr>
            <a:r>
              <a:rPr lang="en-US" sz="800" dirty="0">
                <a:solidFill>
                  <a:srgbClr val="FBBF24"/>
                </a:solidFill>
                <a:latin typeface="Courier New" pitchFamily="34" charset="0"/>
                <a:ea typeface="Courier New" pitchFamily="34" charset="-122"/>
                <a:cs typeface="Courier New" pitchFamily="34" charset="-120"/>
              </a:rPr>
              <a:t>path:</a:t>
            </a:r>
            <a:endParaRPr lang="en-US" sz="800" dirty="0"/>
          </a:p>
        </p:txBody>
      </p:sp>
      <p:sp>
        <p:nvSpPr>
          <p:cNvPr id="51" name="Text 49"/>
          <p:cNvSpPr/>
          <p:nvPr/>
        </p:nvSpPr>
        <p:spPr>
          <a:xfrm>
            <a:off x="1135856" y="4627587"/>
            <a:ext cx="834926" cy="91440"/>
          </a:xfrm>
          <a:prstGeom prst="rect">
            <a:avLst/>
          </a:prstGeom>
          <a:noFill/>
          <a:ln/>
        </p:spPr>
        <p:txBody>
          <a:bodyPr wrap="none" lIns="0" tIns="0" rIns="0" bIns="0" rtlCol="0" anchor="t"/>
          <a:lstStyle/>
          <a:p>
            <a:pPr marL="0" indent="0" algn="l">
              <a:lnSpc>
                <a:spcPts val="835"/>
              </a:lnSpc>
              <a:buNone/>
            </a:pPr>
            <a:r>
              <a:rPr lang="en-US" sz="619" dirty="0">
                <a:solidFill>
                  <a:srgbClr val="86EFAC"/>
                </a:solidFill>
                <a:latin typeface="Courier New" pitchFamily="34" charset="0"/>
                <a:ea typeface="Courier New" pitchFamily="34" charset="-122"/>
                <a:cs typeface="Courier New" pitchFamily="34" charset="-120"/>
              </a:rPr>
              <a:t>"{{ flask_dir }}"</a:t>
            </a:r>
            <a:endParaRPr lang="en-US" sz="619" dirty="0"/>
          </a:p>
        </p:txBody>
      </p:sp>
      <p:sp>
        <p:nvSpPr>
          <p:cNvPr id="52" name="Text 50"/>
          <p:cNvSpPr/>
          <p:nvPr/>
        </p:nvSpPr>
        <p:spPr>
          <a:xfrm>
            <a:off x="900113" y="4733627"/>
            <a:ext cx="337114" cy="91440"/>
          </a:xfrm>
          <a:prstGeom prst="rect">
            <a:avLst/>
          </a:prstGeom>
          <a:noFill/>
          <a:ln/>
        </p:spPr>
        <p:txBody>
          <a:bodyPr wrap="none" lIns="0" tIns="0" rIns="0" bIns="0" rtlCol="0" anchor="t"/>
          <a:lstStyle/>
          <a:p>
            <a:pPr marL="0" indent="0" algn="l">
              <a:lnSpc>
                <a:spcPts val="835"/>
              </a:lnSpc>
              <a:buNone/>
            </a:pPr>
            <a:r>
              <a:rPr lang="en-US" sz="619" dirty="0">
                <a:solidFill>
                  <a:srgbClr val="FBBF24"/>
                </a:solidFill>
                <a:latin typeface="Courier New" pitchFamily="34" charset="0"/>
                <a:ea typeface="Courier New" pitchFamily="34" charset="-122"/>
                <a:cs typeface="Courier New" pitchFamily="34" charset="-120"/>
              </a:rPr>
              <a:t>state:</a:t>
            </a:r>
            <a:endParaRPr lang="en-US" sz="619" dirty="0"/>
          </a:p>
        </p:txBody>
      </p:sp>
      <p:sp>
        <p:nvSpPr>
          <p:cNvPr id="53" name="Text 51"/>
          <p:cNvSpPr/>
          <p:nvPr/>
        </p:nvSpPr>
        <p:spPr>
          <a:xfrm>
            <a:off x="1175147" y="4733627"/>
            <a:ext cx="505670" cy="91440"/>
          </a:xfrm>
          <a:prstGeom prst="rect">
            <a:avLst/>
          </a:prstGeom>
          <a:noFill/>
          <a:ln/>
        </p:spPr>
        <p:txBody>
          <a:bodyPr wrap="none" lIns="0" tIns="0" rIns="0" bIns="0" rtlCol="0" anchor="t"/>
          <a:lstStyle/>
          <a:p>
            <a:pPr marL="0" indent="0" algn="l">
              <a:lnSpc>
                <a:spcPts val="835"/>
              </a:lnSpc>
              <a:buNone/>
            </a:pPr>
            <a:r>
              <a:rPr lang="en-US" sz="619" dirty="0">
                <a:solidFill>
                  <a:srgbClr val="86EFAC"/>
                </a:solidFill>
                <a:latin typeface="Courier New" pitchFamily="34" charset="0"/>
                <a:ea typeface="Courier New" pitchFamily="34" charset="-122"/>
                <a:cs typeface="Courier New" pitchFamily="34" charset="-120"/>
              </a:rPr>
              <a:t>directory</a:t>
            </a:r>
            <a:endParaRPr lang="en-US" sz="619" dirty="0"/>
          </a:p>
        </p:txBody>
      </p:sp>
      <p:sp>
        <p:nvSpPr>
          <p:cNvPr id="54" name="Text 52"/>
          <p:cNvSpPr/>
          <p:nvPr/>
        </p:nvSpPr>
        <p:spPr>
          <a:xfrm>
            <a:off x="900113" y="4839667"/>
            <a:ext cx="337114" cy="91440"/>
          </a:xfrm>
          <a:prstGeom prst="rect">
            <a:avLst/>
          </a:prstGeom>
          <a:noFill/>
          <a:ln/>
        </p:spPr>
        <p:txBody>
          <a:bodyPr wrap="none" lIns="0" tIns="0" rIns="0" bIns="0" rtlCol="0" anchor="t"/>
          <a:lstStyle/>
          <a:p>
            <a:pPr marL="0" indent="0" algn="l">
              <a:lnSpc>
                <a:spcPts val="835"/>
              </a:lnSpc>
              <a:buNone/>
            </a:pPr>
            <a:r>
              <a:rPr lang="en-US" sz="619" dirty="0">
                <a:solidFill>
                  <a:srgbClr val="FBBF24"/>
                </a:solidFill>
                <a:latin typeface="Courier New" pitchFamily="34" charset="0"/>
                <a:ea typeface="Courier New" pitchFamily="34" charset="-122"/>
                <a:cs typeface="Courier New" pitchFamily="34" charset="-120"/>
              </a:rPr>
              <a:t>owner:</a:t>
            </a:r>
            <a:endParaRPr lang="en-US" sz="619" dirty="0"/>
          </a:p>
        </p:txBody>
      </p:sp>
      <p:sp>
        <p:nvSpPr>
          <p:cNvPr id="55" name="Text 53"/>
          <p:cNvSpPr/>
          <p:nvPr/>
        </p:nvSpPr>
        <p:spPr>
          <a:xfrm>
            <a:off x="1175147" y="4839667"/>
            <a:ext cx="884039" cy="91440"/>
          </a:xfrm>
          <a:prstGeom prst="rect">
            <a:avLst/>
          </a:prstGeom>
          <a:noFill/>
          <a:ln/>
        </p:spPr>
        <p:txBody>
          <a:bodyPr wrap="none" lIns="0" tIns="0" rIns="0" bIns="0" rtlCol="0" anchor="t"/>
          <a:lstStyle/>
          <a:p>
            <a:pPr marL="0" indent="0" algn="l">
              <a:lnSpc>
                <a:spcPts val="835"/>
              </a:lnSpc>
              <a:buNone/>
            </a:pPr>
            <a:r>
              <a:rPr lang="en-US" sz="619" dirty="0">
                <a:solidFill>
                  <a:srgbClr val="86EFAC"/>
                </a:solidFill>
                <a:latin typeface="Courier New" pitchFamily="34" charset="0"/>
                <a:ea typeface="Courier New" pitchFamily="34" charset="-122"/>
                <a:cs typeface="Courier New" pitchFamily="34" charset="-120"/>
              </a:rPr>
              <a:t>"{{ flask_user }}"</a:t>
            </a:r>
            <a:endParaRPr lang="en-US" sz="619" dirty="0"/>
          </a:p>
        </p:txBody>
      </p:sp>
      <p:sp>
        <p:nvSpPr>
          <p:cNvPr id="56" name="Text 54"/>
          <p:cNvSpPr/>
          <p:nvPr/>
        </p:nvSpPr>
        <p:spPr>
          <a:xfrm>
            <a:off x="900113" y="4945707"/>
            <a:ext cx="337114" cy="91440"/>
          </a:xfrm>
          <a:prstGeom prst="rect">
            <a:avLst/>
          </a:prstGeom>
          <a:noFill/>
          <a:ln/>
        </p:spPr>
        <p:txBody>
          <a:bodyPr wrap="none" lIns="0" tIns="0" rIns="0" bIns="0" rtlCol="0" anchor="t"/>
          <a:lstStyle/>
          <a:p>
            <a:pPr marL="0" indent="0" algn="l">
              <a:lnSpc>
                <a:spcPts val="835"/>
              </a:lnSpc>
              <a:buNone/>
            </a:pPr>
            <a:r>
              <a:rPr lang="en-US" sz="619" dirty="0">
                <a:solidFill>
                  <a:srgbClr val="FBBF24"/>
                </a:solidFill>
                <a:latin typeface="Courier New" pitchFamily="34" charset="0"/>
                <a:ea typeface="Courier New" pitchFamily="34" charset="-122"/>
                <a:cs typeface="Courier New" pitchFamily="34" charset="-120"/>
              </a:rPr>
              <a:t>group:</a:t>
            </a:r>
            <a:endParaRPr lang="en-US" sz="619" dirty="0"/>
          </a:p>
        </p:txBody>
      </p:sp>
      <p:sp>
        <p:nvSpPr>
          <p:cNvPr id="57" name="Text 55"/>
          <p:cNvSpPr/>
          <p:nvPr/>
        </p:nvSpPr>
        <p:spPr>
          <a:xfrm>
            <a:off x="1175147" y="4945707"/>
            <a:ext cx="884039" cy="91440"/>
          </a:xfrm>
          <a:prstGeom prst="rect">
            <a:avLst/>
          </a:prstGeom>
          <a:noFill/>
          <a:ln/>
        </p:spPr>
        <p:txBody>
          <a:bodyPr wrap="none" lIns="0" tIns="0" rIns="0" bIns="0" rtlCol="0" anchor="t"/>
          <a:lstStyle/>
          <a:p>
            <a:pPr marL="0" indent="0" algn="l">
              <a:lnSpc>
                <a:spcPts val="835"/>
              </a:lnSpc>
              <a:buNone/>
            </a:pPr>
            <a:r>
              <a:rPr lang="en-US" sz="619" dirty="0">
                <a:solidFill>
                  <a:srgbClr val="86EFAC"/>
                </a:solidFill>
                <a:latin typeface="Courier New" pitchFamily="34" charset="0"/>
                <a:ea typeface="Courier New" pitchFamily="34" charset="-122"/>
                <a:cs typeface="Courier New" pitchFamily="34" charset="-120"/>
              </a:rPr>
              <a:t>"{{ flask_user }}"</a:t>
            </a:r>
            <a:endParaRPr lang="en-US" sz="619" dirty="0"/>
          </a:p>
        </p:txBody>
      </p:sp>
      <p:sp>
        <p:nvSpPr>
          <p:cNvPr id="58" name="Text 56"/>
          <p:cNvSpPr/>
          <p:nvPr/>
        </p:nvSpPr>
        <p:spPr>
          <a:xfrm>
            <a:off x="887837" y="5051747"/>
            <a:ext cx="338877" cy="91440"/>
          </a:xfrm>
          <a:prstGeom prst="rect">
            <a:avLst/>
          </a:prstGeom>
          <a:noFill/>
          <a:ln/>
        </p:spPr>
        <p:txBody>
          <a:bodyPr wrap="none" lIns="0" tIns="0" rIns="0" bIns="0" rtlCol="0" anchor="t"/>
          <a:lstStyle/>
          <a:p>
            <a:pPr marL="0" indent="0" algn="l">
              <a:lnSpc>
                <a:spcPts val="835"/>
              </a:lnSpc>
              <a:buNone/>
            </a:pPr>
            <a:r>
              <a:rPr lang="en-US" sz="800" dirty="0">
                <a:solidFill>
                  <a:srgbClr val="FBBF24"/>
                </a:solidFill>
                <a:latin typeface="Courier New" pitchFamily="34" charset="0"/>
                <a:ea typeface="Courier New" pitchFamily="34" charset="-122"/>
                <a:cs typeface="Courier New" pitchFamily="34" charset="-120"/>
              </a:rPr>
              <a:t>mode:</a:t>
            </a:r>
            <a:endParaRPr lang="en-US" sz="800" dirty="0"/>
          </a:p>
        </p:txBody>
      </p:sp>
      <p:sp>
        <p:nvSpPr>
          <p:cNvPr id="59" name="Text 57"/>
          <p:cNvSpPr/>
          <p:nvPr/>
        </p:nvSpPr>
        <p:spPr>
          <a:xfrm>
            <a:off x="1133955" y="5051747"/>
            <a:ext cx="340917" cy="91440"/>
          </a:xfrm>
          <a:prstGeom prst="rect">
            <a:avLst/>
          </a:prstGeom>
          <a:noFill/>
          <a:ln/>
        </p:spPr>
        <p:txBody>
          <a:bodyPr wrap="none" lIns="0" tIns="0" rIns="0" bIns="0" rtlCol="0" anchor="t"/>
          <a:lstStyle/>
          <a:p>
            <a:pPr marL="0" indent="0" algn="l">
              <a:lnSpc>
                <a:spcPts val="835"/>
              </a:lnSpc>
              <a:buNone/>
            </a:pPr>
            <a:r>
              <a:rPr lang="en-US" sz="619" dirty="0">
                <a:solidFill>
                  <a:srgbClr val="86EFAC"/>
                </a:solidFill>
                <a:latin typeface="Liberation Sans Narrow" pitchFamily="34" charset="0"/>
                <a:ea typeface="Liberation Sans Narrow" pitchFamily="34" charset="-122"/>
                <a:cs typeface="Liberation Sans Narrow" pitchFamily="34" charset="-120"/>
              </a:rPr>
              <a:t>"0755"</a:t>
            </a:r>
            <a:endParaRPr lang="en-US" sz="619" dirty="0"/>
          </a:p>
        </p:txBody>
      </p:sp>
      <p:sp>
        <p:nvSpPr>
          <p:cNvPr id="60" name="Text 58"/>
          <p:cNvSpPr/>
          <p:nvPr/>
        </p:nvSpPr>
        <p:spPr>
          <a:xfrm>
            <a:off x="809255" y="5263828"/>
            <a:ext cx="338877" cy="91440"/>
          </a:xfrm>
          <a:prstGeom prst="rect">
            <a:avLst/>
          </a:prstGeom>
          <a:noFill/>
          <a:ln/>
        </p:spPr>
        <p:txBody>
          <a:bodyPr wrap="none" lIns="0" tIns="0" rIns="0" bIns="0" rtlCol="0" anchor="t"/>
          <a:lstStyle/>
          <a:p>
            <a:pPr marL="0" indent="0" algn="l">
              <a:lnSpc>
                <a:spcPts val="835"/>
              </a:lnSpc>
              <a:buNone/>
            </a:pPr>
            <a:r>
              <a:rPr lang="en-US" sz="800" dirty="0">
                <a:solidFill>
                  <a:srgbClr val="FBBF24"/>
                </a:solidFill>
                <a:latin typeface="Courier New" pitchFamily="34" charset="0"/>
                <a:ea typeface="Courier New" pitchFamily="34" charset="-122"/>
                <a:cs typeface="Courier New" pitchFamily="34" charset="-120"/>
              </a:rPr>
              <a:t>name:</a:t>
            </a:r>
            <a:endParaRPr lang="en-US" sz="800" dirty="0"/>
          </a:p>
        </p:txBody>
      </p:sp>
      <p:sp>
        <p:nvSpPr>
          <p:cNvPr id="61" name="Text 59"/>
          <p:cNvSpPr/>
          <p:nvPr/>
        </p:nvSpPr>
        <p:spPr>
          <a:xfrm>
            <a:off x="1057275" y="5263828"/>
            <a:ext cx="982266" cy="91440"/>
          </a:xfrm>
          <a:prstGeom prst="rect">
            <a:avLst/>
          </a:prstGeom>
          <a:noFill/>
          <a:ln/>
        </p:spPr>
        <p:txBody>
          <a:bodyPr wrap="none" lIns="0" tIns="0" rIns="0" bIns="0" rtlCol="0" anchor="t"/>
          <a:lstStyle/>
          <a:p>
            <a:pPr marL="0" indent="0" algn="l">
              <a:lnSpc>
                <a:spcPts val="835"/>
              </a:lnSpc>
              <a:buNone/>
            </a:pPr>
            <a:r>
              <a:rPr lang="en-US" sz="619" dirty="0">
                <a:solidFill>
                  <a:srgbClr val="86EFAC"/>
                </a:solidFill>
                <a:latin typeface="Courier New" pitchFamily="34" charset="0"/>
                <a:ea typeface="Courier New" pitchFamily="34" charset="-122"/>
                <a:cs typeface="Courier New" pitchFamily="34" charset="-120"/>
              </a:rPr>
              <a:t>Clone Flask app repo</a:t>
            </a:r>
            <a:endParaRPr lang="en-US" sz="619" dirty="0"/>
          </a:p>
        </p:txBody>
      </p:sp>
      <p:sp>
        <p:nvSpPr>
          <p:cNvPr id="62" name="Text 60"/>
          <p:cNvSpPr/>
          <p:nvPr/>
        </p:nvSpPr>
        <p:spPr>
          <a:xfrm>
            <a:off x="808994" y="5369868"/>
            <a:ext cx="276535" cy="91440"/>
          </a:xfrm>
          <a:prstGeom prst="rect">
            <a:avLst/>
          </a:prstGeom>
          <a:noFill/>
          <a:ln/>
        </p:spPr>
        <p:txBody>
          <a:bodyPr wrap="none" lIns="0" tIns="0" rIns="0" bIns="0" rtlCol="0" anchor="t"/>
          <a:lstStyle/>
          <a:p>
            <a:pPr marL="0" indent="0" algn="l">
              <a:lnSpc>
                <a:spcPts val="835"/>
              </a:lnSpc>
              <a:buNone/>
            </a:pPr>
            <a:r>
              <a:rPr lang="en-US" sz="800" dirty="0">
                <a:solidFill>
                  <a:srgbClr val="FBBF24"/>
                </a:solidFill>
                <a:latin typeface="Courier New" pitchFamily="34" charset="0"/>
                <a:ea typeface="Courier New" pitchFamily="34" charset="-122"/>
                <a:cs typeface="Courier New" pitchFamily="34" charset="-120"/>
              </a:rPr>
              <a:t>git:</a:t>
            </a:r>
            <a:endParaRPr lang="en-US" sz="800" dirty="0"/>
          </a:p>
        </p:txBody>
      </p:sp>
      <p:sp>
        <p:nvSpPr>
          <p:cNvPr id="63" name="Text 61"/>
          <p:cNvSpPr/>
          <p:nvPr/>
        </p:nvSpPr>
        <p:spPr>
          <a:xfrm>
            <a:off x="887837" y="5475908"/>
            <a:ext cx="338877" cy="91440"/>
          </a:xfrm>
          <a:prstGeom prst="rect">
            <a:avLst/>
          </a:prstGeom>
          <a:noFill/>
          <a:ln/>
        </p:spPr>
        <p:txBody>
          <a:bodyPr wrap="none" lIns="0" tIns="0" rIns="0" bIns="0" rtlCol="0" anchor="t"/>
          <a:lstStyle/>
          <a:p>
            <a:pPr marL="0" indent="0" algn="l">
              <a:lnSpc>
                <a:spcPts val="835"/>
              </a:lnSpc>
              <a:buNone/>
            </a:pPr>
            <a:r>
              <a:rPr lang="en-US" sz="800" dirty="0">
                <a:solidFill>
                  <a:srgbClr val="FBBF24"/>
                </a:solidFill>
                <a:latin typeface="Courier New" pitchFamily="34" charset="0"/>
                <a:ea typeface="Courier New" pitchFamily="34" charset="-122"/>
                <a:cs typeface="Courier New" pitchFamily="34" charset="-120"/>
              </a:rPr>
              <a:t>repo:</a:t>
            </a:r>
            <a:endParaRPr lang="en-US" sz="800" dirty="0"/>
          </a:p>
        </p:txBody>
      </p:sp>
      <p:sp>
        <p:nvSpPr>
          <p:cNvPr id="64" name="Text 62"/>
          <p:cNvSpPr/>
          <p:nvPr/>
        </p:nvSpPr>
        <p:spPr>
          <a:xfrm>
            <a:off x="1135856" y="5475908"/>
            <a:ext cx="884039" cy="91440"/>
          </a:xfrm>
          <a:prstGeom prst="rect">
            <a:avLst/>
          </a:prstGeom>
          <a:noFill/>
          <a:ln/>
        </p:spPr>
        <p:txBody>
          <a:bodyPr wrap="none" lIns="0" tIns="0" rIns="0" bIns="0" rtlCol="0" anchor="t"/>
          <a:lstStyle/>
          <a:p>
            <a:pPr marL="0" indent="0" algn="l">
              <a:lnSpc>
                <a:spcPts val="835"/>
              </a:lnSpc>
              <a:buNone/>
            </a:pPr>
            <a:r>
              <a:rPr lang="en-US" sz="619" dirty="0">
                <a:solidFill>
                  <a:srgbClr val="86EFAC"/>
                </a:solidFill>
                <a:latin typeface="Courier New" pitchFamily="34" charset="0"/>
                <a:ea typeface="Courier New" pitchFamily="34" charset="-122"/>
                <a:cs typeface="Courier New" pitchFamily="34" charset="-120"/>
              </a:rPr>
              <a:t>"{{ flask_repo }}"</a:t>
            </a:r>
            <a:endParaRPr lang="en-US" sz="619" dirty="0"/>
          </a:p>
        </p:txBody>
      </p:sp>
      <p:sp>
        <p:nvSpPr>
          <p:cNvPr id="65" name="Text 63"/>
          <p:cNvSpPr/>
          <p:nvPr/>
        </p:nvSpPr>
        <p:spPr>
          <a:xfrm>
            <a:off x="887837" y="5581948"/>
            <a:ext cx="338877" cy="91440"/>
          </a:xfrm>
          <a:prstGeom prst="rect">
            <a:avLst/>
          </a:prstGeom>
          <a:noFill/>
          <a:ln/>
        </p:spPr>
        <p:txBody>
          <a:bodyPr wrap="none" lIns="0" tIns="0" rIns="0" bIns="0" rtlCol="0" anchor="t"/>
          <a:lstStyle/>
          <a:p>
            <a:pPr marL="0" indent="0" algn="l">
              <a:lnSpc>
                <a:spcPts val="835"/>
              </a:lnSpc>
              <a:buNone/>
            </a:pPr>
            <a:r>
              <a:rPr lang="en-US" sz="800" dirty="0">
                <a:solidFill>
                  <a:srgbClr val="FBBF24"/>
                </a:solidFill>
                <a:latin typeface="Courier New" pitchFamily="34" charset="0"/>
                <a:ea typeface="Courier New" pitchFamily="34" charset="-122"/>
                <a:cs typeface="Courier New" pitchFamily="34" charset="-120"/>
              </a:rPr>
              <a:t>dest:</a:t>
            </a:r>
            <a:endParaRPr lang="en-US" sz="800" dirty="0"/>
          </a:p>
        </p:txBody>
      </p:sp>
      <p:sp>
        <p:nvSpPr>
          <p:cNvPr id="66" name="Text 64"/>
          <p:cNvSpPr/>
          <p:nvPr/>
        </p:nvSpPr>
        <p:spPr>
          <a:xfrm>
            <a:off x="1135856" y="5581948"/>
            <a:ext cx="1080492" cy="91440"/>
          </a:xfrm>
          <a:prstGeom prst="rect">
            <a:avLst/>
          </a:prstGeom>
          <a:noFill/>
          <a:ln/>
        </p:spPr>
        <p:txBody>
          <a:bodyPr wrap="none" lIns="0" tIns="0" rIns="0" bIns="0" rtlCol="0" anchor="t"/>
          <a:lstStyle/>
          <a:p>
            <a:pPr marL="0" indent="0" algn="l">
              <a:lnSpc>
                <a:spcPts val="835"/>
              </a:lnSpc>
              <a:buNone/>
            </a:pPr>
            <a:r>
              <a:rPr lang="en-US" sz="619" dirty="0">
                <a:solidFill>
                  <a:srgbClr val="86EFAC"/>
                </a:solidFill>
                <a:latin typeface="Courier New" pitchFamily="34" charset="0"/>
                <a:ea typeface="Courier New" pitchFamily="34" charset="-122"/>
                <a:cs typeface="Courier New" pitchFamily="34" charset="-120"/>
              </a:rPr>
              <a:t>"{{ flask_dir }}/repo"</a:t>
            </a:r>
            <a:endParaRPr lang="en-US" sz="619" dirty="0"/>
          </a:p>
        </p:txBody>
      </p:sp>
      <p:sp>
        <p:nvSpPr>
          <p:cNvPr id="67" name="Text 65"/>
          <p:cNvSpPr/>
          <p:nvPr/>
        </p:nvSpPr>
        <p:spPr>
          <a:xfrm>
            <a:off x="900113" y="5687988"/>
            <a:ext cx="449485" cy="91440"/>
          </a:xfrm>
          <a:prstGeom prst="rect">
            <a:avLst/>
          </a:prstGeom>
          <a:noFill/>
          <a:ln/>
        </p:spPr>
        <p:txBody>
          <a:bodyPr wrap="none" lIns="0" tIns="0" rIns="0" bIns="0" rtlCol="0" anchor="t"/>
          <a:lstStyle/>
          <a:p>
            <a:pPr marL="0" indent="0" algn="l">
              <a:lnSpc>
                <a:spcPts val="835"/>
              </a:lnSpc>
              <a:buNone/>
            </a:pPr>
            <a:r>
              <a:rPr lang="en-US" sz="619" dirty="0">
                <a:solidFill>
                  <a:srgbClr val="FBBF24"/>
                </a:solidFill>
                <a:latin typeface="Courier New" pitchFamily="34" charset="0"/>
                <a:ea typeface="Courier New" pitchFamily="34" charset="-122"/>
                <a:cs typeface="Courier New" pitchFamily="34" charset="-120"/>
              </a:rPr>
              <a:t>version:</a:t>
            </a:r>
            <a:endParaRPr lang="en-US" sz="619" dirty="0"/>
          </a:p>
        </p:txBody>
      </p:sp>
      <p:sp>
        <p:nvSpPr>
          <p:cNvPr id="68" name="Text 66"/>
          <p:cNvSpPr/>
          <p:nvPr/>
        </p:nvSpPr>
        <p:spPr>
          <a:xfrm>
            <a:off x="1236995" y="5687988"/>
            <a:ext cx="284927" cy="91440"/>
          </a:xfrm>
          <a:prstGeom prst="rect">
            <a:avLst/>
          </a:prstGeom>
          <a:noFill/>
          <a:ln/>
        </p:spPr>
        <p:txBody>
          <a:bodyPr wrap="none" lIns="0" tIns="0" rIns="0" bIns="0" rtlCol="0" anchor="t"/>
          <a:lstStyle/>
          <a:p>
            <a:pPr marL="0" indent="0" algn="l">
              <a:lnSpc>
                <a:spcPts val="835"/>
              </a:lnSpc>
              <a:buNone/>
            </a:pPr>
            <a:r>
              <a:rPr lang="en-US" sz="800" dirty="0">
                <a:solidFill>
                  <a:srgbClr val="86EFAC"/>
                </a:solidFill>
                <a:latin typeface="Courier New" pitchFamily="34" charset="0"/>
                <a:ea typeface="Courier New" pitchFamily="34" charset="-122"/>
                <a:cs typeface="Courier New" pitchFamily="34" charset="-120"/>
              </a:rPr>
              <a:t>main</a:t>
            </a:r>
            <a:endParaRPr lang="en-US" sz="800" dirty="0"/>
          </a:p>
        </p:txBody>
      </p:sp>
      <p:sp>
        <p:nvSpPr>
          <p:cNvPr id="69" name="Text 67"/>
          <p:cNvSpPr/>
          <p:nvPr/>
        </p:nvSpPr>
        <p:spPr>
          <a:xfrm>
            <a:off x="819645" y="5794028"/>
            <a:ext cx="593131" cy="91440"/>
          </a:xfrm>
          <a:prstGeom prst="rect">
            <a:avLst/>
          </a:prstGeom>
          <a:noFill/>
          <a:ln/>
        </p:spPr>
        <p:txBody>
          <a:bodyPr wrap="none" lIns="0" tIns="0" rIns="0" bIns="0" rtlCol="0" anchor="t"/>
          <a:lstStyle/>
          <a:p>
            <a:pPr marL="0" indent="0" algn="l">
              <a:lnSpc>
                <a:spcPts val="835"/>
              </a:lnSpc>
              <a:buNone/>
            </a:pPr>
            <a:r>
              <a:rPr lang="en-US" sz="619" dirty="0">
                <a:solidFill>
                  <a:srgbClr val="FBBF24"/>
                </a:solidFill>
                <a:latin typeface="Courier New" pitchFamily="34" charset="0"/>
                <a:ea typeface="Courier New" pitchFamily="34" charset="-122"/>
                <a:cs typeface="Courier New" pitchFamily="34" charset="-120"/>
              </a:rPr>
              <a:t>become_user:</a:t>
            </a:r>
            <a:endParaRPr lang="en-US" sz="619" dirty="0"/>
          </a:p>
        </p:txBody>
      </p:sp>
      <p:sp>
        <p:nvSpPr>
          <p:cNvPr id="70" name="Text 68"/>
          <p:cNvSpPr/>
          <p:nvPr/>
        </p:nvSpPr>
        <p:spPr>
          <a:xfrm>
            <a:off x="1332309" y="5794028"/>
            <a:ext cx="884039" cy="91440"/>
          </a:xfrm>
          <a:prstGeom prst="rect">
            <a:avLst/>
          </a:prstGeom>
          <a:noFill/>
          <a:ln/>
        </p:spPr>
        <p:txBody>
          <a:bodyPr wrap="none" lIns="0" tIns="0" rIns="0" bIns="0" rtlCol="0" anchor="t"/>
          <a:lstStyle/>
          <a:p>
            <a:pPr marL="0" indent="0" algn="l">
              <a:lnSpc>
                <a:spcPts val="835"/>
              </a:lnSpc>
              <a:buNone/>
            </a:pPr>
            <a:r>
              <a:rPr lang="en-US" sz="619" dirty="0">
                <a:solidFill>
                  <a:srgbClr val="86EFAC"/>
                </a:solidFill>
                <a:latin typeface="Courier New" pitchFamily="34" charset="0"/>
                <a:ea typeface="Courier New" pitchFamily="34" charset="-122"/>
                <a:cs typeface="Courier New" pitchFamily="34" charset="-120"/>
              </a:rPr>
              <a:t>"{{ flask_user }}"</a:t>
            </a:r>
            <a:endParaRPr lang="en-US" sz="619" dirty="0"/>
          </a:p>
        </p:txBody>
      </p:sp>
      <p:sp>
        <p:nvSpPr>
          <p:cNvPr id="71" name="Text 69"/>
          <p:cNvSpPr/>
          <p:nvPr/>
        </p:nvSpPr>
        <p:spPr>
          <a:xfrm>
            <a:off x="809255" y="6006108"/>
            <a:ext cx="338877" cy="91440"/>
          </a:xfrm>
          <a:prstGeom prst="rect">
            <a:avLst/>
          </a:prstGeom>
          <a:noFill/>
          <a:ln/>
        </p:spPr>
        <p:txBody>
          <a:bodyPr wrap="none" lIns="0" tIns="0" rIns="0" bIns="0" rtlCol="0" anchor="t"/>
          <a:lstStyle/>
          <a:p>
            <a:pPr marL="0" indent="0" algn="l">
              <a:lnSpc>
                <a:spcPts val="835"/>
              </a:lnSpc>
              <a:buNone/>
            </a:pPr>
            <a:r>
              <a:rPr lang="en-US" sz="800" dirty="0">
                <a:solidFill>
                  <a:srgbClr val="FBBF24"/>
                </a:solidFill>
                <a:latin typeface="Courier New" pitchFamily="34" charset="0"/>
                <a:ea typeface="Courier New" pitchFamily="34" charset="-122"/>
                <a:cs typeface="Courier New" pitchFamily="34" charset="-120"/>
              </a:rPr>
              <a:t>name:</a:t>
            </a:r>
            <a:endParaRPr lang="en-US" sz="800" dirty="0"/>
          </a:p>
        </p:txBody>
      </p:sp>
      <p:sp>
        <p:nvSpPr>
          <p:cNvPr id="72" name="Text 70"/>
          <p:cNvSpPr/>
          <p:nvPr/>
        </p:nvSpPr>
        <p:spPr>
          <a:xfrm>
            <a:off x="1057275" y="6006108"/>
            <a:ext cx="1178719" cy="91440"/>
          </a:xfrm>
          <a:prstGeom prst="rect">
            <a:avLst/>
          </a:prstGeom>
          <a:noFill/>
          <a:ln/>
        </p:spPr>
        <p:txBody>
          <a:bodyPr wrap="none" lIns="0" tIns="0" rIns="0" bIns="0" rtlCol="0" anchor="t"/>
          <a:lstStyle/>
          <a:p>
            <a:pPr marL="0" indent="0" algn="l">
              <a:lnSpc>
                <a:spcPts val="835"/>
              </a:lnSpc>
              <a:buNone/>
            </a:pPr>
            <a:r>
              <a:rPr lang="en-US" sz="619" dirty="0">
                <a:solidFill>
                  <a:srgbClr val="86EFAC"/>
                </a:solidFill>
                <a:latin typeface="Courier New" pitchFamily="34" charset="0"/>
                <a:ea typeface="Courier New" pitchFamily="34" charset="-122"/>
                <a:cs typeface="Courier New" pitchFamily="34" charset="-120"/>
              </a:rPr>
              <a:t>Create Python virtualenv</a:t>
            </a:r>
            <a:endParaRPr lang="en-US" sz="619" dirty="0"/>
          </a:p>
        </p:txBody>
      </p:sp>
      <p:sp>
        <p:nvSpPr>
          <p:cNvPr id="73" name="Text 71"/>
          <p:cNvSpPr/>
          <p:nvPr/>
        </p:nvSpPr>
        <p:spPr>
          <a:xfrm>
            <a:off x="821531" y="6112148"/>
            <a:ext cx="449485" cy="91440"/>
          </a:xfrm>
          <a:prstGeom prst="rect">
            <a:avLst/>
          </a:prstGeom>
          <a:noFill/>
          <a:ln/>
        </p:spPr>
        <p:txBody>
          <a:bodyPr wrap="none" lIns="0" tIns="0" rIns="0" bIns="0" rtlCol="0" anchor="t"/>
          <a:lstStyle/>
          <a:p>
            <a:pPr marL="0" indent="0" algn="l">
              <a:lnSpc>
                <a:spcPts val="835"/>
              </a:lnSpc>
              <a:buNone/>
            </a:pPr>
            <a:r>
              <a:rPr lang="en-US" sz="619" dirty="0">
                <a:solidFill>
                  <a:srgbClr val="FBBF24"/>
                </a:solidFill>
                <a:latin typeface="Courier New" pitchFamily="34" charset="0"/>
                <a:ea typeface="Courier New" pitchFamily="34" charset="-122"/>
                <a:cs typeface="Courier New" pitchFamily="34" charset="-120"/>
              </a:rPr>
              <a:t>command:</a:t>
            </a:r>
            <a:endParaRPr lang="en-US" sz="619" dirty="0"/>
          </a:p>
        </p:txBody>
      </p:sp>
      <p:sp>
        <p:nvSpPr>
          <p:cNvPr id="74" name="Text 72"/>
          <p:cNvSpPr/>
          <p:nvPr/>
        </p:nvSpPr>
        <p:spPr>
          <a:xfrm>
            <a:off x="1175147" y="6112148"/>
            <a:ext cx="1612487" cy="91440"/>
          </a:xfrm>
          <a:prstGeom prst="rect">
            <a:avLst/>
          </a:prstGeom>
          <a:noFill/>
          <a:ln/>
        </p:spPr>
        <p:txBody>
          <a:bodyPr wrap="none" lIns="0" tIns="0" rIns="0" bIns="0" rtlCol="0" anchor="t"/>
          <a:lstStyle/>
          <a:p>
            <a:pPr marL="0" indent="0" algn="l">
              <a:lnSpc>
                <a:spcPts val="835"/>
              </a:lnSpc>
              <a:buNone/>
            </a:pPr>
            <a:r>
              <a:rPr lang="en-US" sz="619" dirty="0">
                <a:solidFill>
                  <a:srgbClr val="86EFAC"/>
                </a:solidFill>
                <a:latin typeface="Courier New" pitchFamily="34" charset="0"/>
                <a:ea typeface="Courier New" pitchFamily="34" charset="-122"/>
                <a:cs typeface="Courier New" pitchFamily="34" charset="-120"/>
              </a:rPr>
              <a:t>"python3 -m venv {{ flask_dir }}/venv"</a:t>
            </a:r>
            <a:endParaRPr lang="en-US" sz="619" dirty="0"/>
          </a:p>
        </p:txBody>
      </p:sp>
      <p:sp>
        <p:nvSpPr>
          <p:cNvPr id="75" name="Text 73"/>
          <p:cNvSpPr/>
          <p:nvPr/>
        </p:nvSpPr>
        <p:spPr>
          <a:xfrm>
            <a:off x="900113" y="6218188"/>
            <a:ext cx="449485" cy="91440"/>
          </a:xfrm>
          <a:prstGeom prst="rect">
            <a:avLst/>
          </a:prstGeom>
          <a:noFill/>
          <a:ln/>
        </p:spPr>
        <p:txBody>
          <a:bodyPr wrap="none" lIns="0" tIns="0" rIns="0" bIns="0" rtlCol="0" anchor="t"/>
          <a:lstStyle/>
          <a:p>
            <a:pPr marL="0" indent="0" algn="l">
              <a:lnSpc>
                <a:spcPts val="835"/>
              </a:lnSpc>
              <a:buNone/>
            </a:pPr>
            <a:r>
              <a:rPr lang="en-US" sz="619" dirty="0">
                <a:solidFill>
                  <a:srgbClr val="FBBF24"/>
                </a:solidFill>
                <a:latin typeface="Courier New" pitchFamily="34" charset="0"/>
                <a:ea typeface="Courier New" pitchFamily="34" charset="-122"/>
                <a:cs typeface="Courier New" pitchFamily="34" charset="-120"/>
              </a:rPr>
              <a:t>creates:</a:t>
            </a:r>
            <a:endParaRPr lang="en-US" sz="619" dirty="0"/>
          </a:p>
        </p:txBody>
      </p:sp>
      <p:sp>
        <p:nvSpPr>
          <p:cNvPr id="76" name="Text 74"/>
          <p:cNvSpPr/>
          <p:nvPr/>
        </p:nvSpPr>
        <p:spPr>
          <a:xfrm>
            <a:off x="1253728" y="6218188"/>
            <a:ext cx="1485186" cy="91440"/>
          </a:xfrm>
          <a:prstGeom prst="rect">
            <a:avLst/>
          </a:prstGeom>
          <a:noFill/>
          <a:ln/>
        </p:spPr>
        <p:txBody>
          <a:bodyPr wrap="none" lIns="0" tIns="0" rIns="0" bIns="0" rtlCol="0" anchor="t"/>
          <a:lstStyle/>
          <a:p>
            <a:pPr marL="0" indent="0" algn="l">
              <a:lnSpc>
                <a:spcPts val="835"/>
              </a:lnSpc>
              <a:buNone/>
            </a:pPr>
            <a:r>
              <a:rPr lang="en-US" sz="619" dirty="0">
                <a:solidFill>
                  <a:srgbClr val="86EFAC"/>
                </a:solidFill>
                <a:latin typeface="Courier New" pitchFamily="34" charset="0"/>
                <a:ea typeface="Courier New" pitchFamily="34" charset="-122"/>
                <a:cs typeface="Courier New" pitchFamily="34" charset="-120"/>
              </a:rPr>
              <a:t>"{{ flask_dir }}/venv/bin/activate"</a:t>
            </a:r>
            <a:endParaRPr lang="en-US" sz="619" dirty="0"/>
          </a:p>
        </p:txBody>
      </p:sp>
      <p:sp>
        <p:nvSpPr>
          <p:cNvPr id="77" name="Text 75"/>
          <p:cNvSpPr/>
          <p:nvPr/>
        </p:nvSpPr>
        <p:spPr>
          <a:xfrm>
            <a:off x="809255" y="6430268"/>
            <a:ext cx="338877" cy="91440"/>
          </a:xfrm>
          <a:prstGeom prst="rect">
            <a:avLst/>
          </a:prstGeom>
          <a:noFill/>
          <a:ln/>
        </p:spPr>
        <p:txBody>
          <a:bodyPr wrap="none" lIns="0" tIns="0" rIns="0" bIns="0" rtlCol="0" anchor="t"/>
          <a:lstStyle/>
          <a:p>
            <a:pPr marL="0" indent="0" algn="l">
              <a:lnSpc>
                <a:spcPts val="835"/>
              </a:lnSpc>
              <a:buNone/>
            </a:pPr>
            <a:r>
              <a:rPr lang="en-US" sz="800" dirty="0">
                <a:solidFill>
                  <a:srgbClr val="FBBF24"/>
                </a:solidFill>
                <a:latin typeface="Courier New" pitchFamily="34" charset="0"/>
                <a:ea typeface="Courier New" pitchFamily="34" charset="-122"/>
                <a:cs typeface="Courier New" pitchFamily="34" charset="-120"/>
              </a:rPr>
              <a:t>name:</a:t>
            </a:r>
            <a:endParaRPr lang="en-US" sz="800" dirty="0"/>
          </a:p>
        </p:txBody>
      </p:sp>
      <p:sp>
        <p:nvSpPr>
          <p:cNvPr id="78" name="Text 76"/>
          <p:cNvSpPr/>
          <p:nvPr/>
        </p:nvSpPr>
        <p:spPr>
          <a:xfrm>
            <a:off x="1057275" y="6430268"/>
            <a:ext cx="1145715" cy="91440"/>
          </a:xfrm>
          <a:prstGeom prst="rect">
            <a:avLst/>
          </a:prstGeom>
          <a:noFill/>
          <a:ln/>
        </p:spPr>
        <p:txBody>
          <a:bodyPr wrap="none" lIns="0" tIns="0" rIns="0" bIns="0" rtlCol="0" anchor="t"/>
          <a:lstStyle/>
          <a:p>
            <a:pPr marL="0" indent="0" algn="l">
              <a:lnSpc>
                <a:spcPts val="835"/>
              </a:lnSpc>
              <a:buNone/>
            </a:pPr>
            <a:r>
              <a:rPr lang="en-US" sz="619" dirty="0">
                <a:solidFill>
                  <a:srgbClr val="86EFAC"/>
                </a:solidFill>
                <a:latin typeface="Courier New" pitchFamily="34" charset="0"/>
                <a:ea typeface="Courier New" pitchFamily="34" charset="-122"/>
                <a:cs typeface="Courier New" pitchFamily="34" charset="-120"/>
              </a:rPr>
              <a:t>Install Python requirements</a:t>
            </a:r>
            <a:endParaRPr lang="en-US" sz="619" dirty="0"/>
          </a:p>
        </p:txBody>
      </p:sp>
      <p:sp>
        <p:nvSpPr>
          <p:cNvPr id="79" name="Text 77"/>
          <p:cNvSpPr/>
          <p:nvPr/>
        </p:nvSpPr>
        <p:spPr>
          <a:xfrm>
            <a:off x="808994" y="6536308"/>
            <a:ext cx="276535" cy="91440"/>
          </a:xfrm>
          <a:prstGeom prst="rect">
            <a:avLst/>
          </a:prstGeom>
          <a:noFill/>
          <a:ln/>
        </p:spPr>
        <p:txBody>
          <a:bodyPr wrap="none" lIns="0" tIns="0" rIns="0" bIns="0" rtlCol="0" anchor="t"/>
          <a:lstStyle/>
          <a:p>
            <a:pPr marL="0" indent="0" algn="l">
              <a:lnSpc>
                <a:spcPts val="835"/>
              </a:lnSpc>
              <a:buNone/>
            </a:pPr>
            <a:r>
              <a:rPr lang="en-US" sz="800" dirty="0">
                <a:solidFill>
                  <a:srgbClr val="FBBF24"/>
                </a:solidFill>
                <a:latin typeface="Courier New" pitchFamily="34" charset="0"/>
                <a:ea typeface="Courier New" pitchFamily="34" charset="-122"/>
                <a:cs typeface="Courier New" pitchFamily="34" charset="-120"/>
              </a:rPr>
              <a:t>pip:</a:t>
            </a:r>
            <a:endParaRPr lang="en-US" sz="800" dirty="0"/>
          </a:p>
        </p:txBody>
      </p:sp>
      <p:sp>
        <p:nvSpPr>
          <p:cNvPr id="80" name="Text 78"/>
          <p:cNvSpPr/>
          <p:nvPr/>
        </p:nvSpPr>
        <p:spPr>
          <a:xfrm>
            <a:off x="900113" y="6642348"/>
            <a:ext cx="638473" cy="91440"/>
          </a:xfrm>
          <a:prstGeom prst="rect">
            <a:avLst/>
          </a:prstGeom>
          <a:noFill/>
          <a:ln/>
        </p:spPr>
        <p:txBody>
          <a:bodyPr wrap="none" lIns="0" tIns="0" rIns="0" bIns="0" rtlCol="0" anchor="t"/>
          <a:lstStyle/>
          <a:p>
            <a:pPr marL="0" indent="0" algn="l">
              <a:lnSpc>
                <a:spcPts val="835"/>
              </a:lnSpc>
              <a:buNone/>
            </a:pPr>
            <a:r>
              <a:rPr lang="en-US" sz="619" dirty="0">
                <a:solidFill>
                  <a:srgbClr val="FBBF24"/>
                </a:solidFill>
                <a:latin typeface="Courier New" pitchFamily="34" charset="0"/>
                <a:ea typeface="Courier New" pitchFamily="34" charset="-122"/>
                <a:cs typeface="Courier New" pitchFamily="34" charset="-120"/>
              </a:rPr>
              <a:t>requirements:</a:t>
            </a:r>
            <a:endParaRPr lang="en-US" sz="619" dirty="0"/>
          </a:p>
        </p:txBody>
      </p:sp>
      <p:sp>
        <p:nvSpPr>
          <p:cNvPr id="81" name="Text 79"/>
          <p:cNvSpPr/>
          <p:nvPr/>
        </p:nvSpPr>
        <p:spPr>
          <a:xfrm>
            <a:off x="1450181" y="6642348"/>
            <a:ext cx="1654921" cy="91440"/>
          </a:xfrm>
          <a:prstGeom prst="rect">
            <a:avLst/>
          </a:prstGeom>
          <a:noFill/>
          <a:ln/>
        </p:spPr>
        <p:txBody>
          <a:bodyPr wrap="none" lIns="0" tIns="0" rIns="0" bIns="0" rtlCol="0" anchor="t"/>
          <a:lstStyle/>
          <a:p>
            <a:pPr marL="0" indent="0" algn="l">
              <a:lnSpc>
                <a:spcPts val="835"/>
              </a:lnSpc>
              <a:buNone/>
            </a:pPr>
            <a:r>
              <a:rPr lang="en-US" sz="619" dirty="0">
                <a:solidFill>
                  <a:srgbClr val="86EFAC"/>
                </a:solidFill>
                <a:latin typeface="Courier New" pitchFamily="34" charset="0"/>
                <a:ea typeface="Courier New" pitchFamily="34" charset="-122"/>
                <a:cs typeface="Courier New" pitchFamily="34" charset="-120"/>
              </a:rPr>
              <a:t>"{{ flask_dir }}/repo/requirements.txt"</a:t>
            </a:r>
            <a:endParaRPr lang="en-US" sz="619" dirty="0"/>
          </a:p>
        </p:txBody>
      </p:sp>
      <p:sp>
        <p:nvSpPr>
          <p:cNvPr id="82" name="Text 80"/>
          <p:cNvSpPr/>
          <p:nvPr/>
        </p:nvSpPr>
        <p:spPr>
          <a:xfrm>
            <a:off x="894533" y="6748388"/>
            <a:ext cx="551405" cy="91440"/>
          </a:xfrm>
          <a:prstGeom prst="rect">
            <a:avLst/>
          </a:prstGeom>
          <a:noFill/>
          <a:ln/>
        </p:spPr>
        <p:txBody>
          <a:bodyPr wrap="none" lIns="0" tIns="0" rIns="0" bIns="0" rtlCol="0" anchor="t"/>
          <a:lstStyle/>
          <a:p>
            <a:pPr marL="0" indent="0" algn="l">
              <a:lnSpc>
                <a:spcPts val="835"/>
              </a:lnSpc>
              <a:buNone/>
            </a:pPr>
            <a:r>
              <a:rPr lang="en-US" sz="619" dirty="0">
                <a:solidFill>
                  <a:srgbClr val="FBBF24"/>
                </a:solidFill>
                <a:latin typeface="Courier New" pitchFamily="34" charset="0"/>
                <a:ea typeface="Courier New" pitchFamily="34" charset="-122"/>
                <a:cs typeface="Courier New" pitchFamily="34" charset="-120"/>
              </a:rPr>
              <a:t>virtualenv:</a:t>
            </a:r>
            <a:endParaRPr lang="en-US" sz="619" dirty="0"/>
          </a:p>
        </p:txBody>
      </p:sp>
      <p:sp>
        <p:nvSpPr>
          <p:cNvPr id="83" name="Text 81"/>
          <p:cNvSpPr/>
          <p:nvPr/>
        </p:nvSpPr>
        <p:spPr>
          <a:xfrm>
            <a:off x="1371600" y="6748388"/>
            <a:ext cx="1080492" cy="91440"/>
          </a:xfrm>
          <a:prstGeom prst="rect">
            <a:avLst/>
          </a:prstGeom>
          <a:noFill/>
          <a:ln/>
        </p:spPr>
        <p:txBody>
          <a:bodyPr wrap="none" lIns="0" tIns="0" rIns="0" bIns="0" rtlCol="0" anchor="t"/>
          <a:lstStyle/>
          <a:p>
            <a:pPr marL="0" indent="0" algn="l">
              <a:lnSpc>
                <a:spcPts val="835"/>
              </a:lnSpc>
              <a:buNone/>
            </a:pPr>
            <a:r>
              <a:rPr lang="en-US" sz="619" dirty="0">
                <a:solidFill>
                  <a:srgbClr val="86EFAC"/>
                </a:solidFill>
                <a:latin typeface="Courier New" pitchFamily="34" charset="0"/>
                <a:ea typeface="Courier New" pitchFamily="34" charset="-122"/>
                <a:cs typeface="Courier New" pitchFamily="34" charset="-120"/>
              </a:rPr>
              <a:t>"{{ flask_dir }}/venv"</a:t>
            </a:r>
            <a:endParaRPr lang="en-US" sz="619" dirty="0"/>
          </a:p>
        </p:txBody>
      </p:sp>
      <p:sp>
        <p:nvSpPr>
          <p:cNvPr id="84" name="Text 82"/>
          <p:cNvSpPr/>
          <p:nvPr/>
        </p:nvSpPr>
        <p:spPr>
          <a:xfrm>
            <a:off x="809255" y="6960468"/>
            <a:ext cx="338877" cy="91440"/>
          </a:xfrm>
          <a:prstGeom prst="rect">
            <a:avLst/>
          </a:prstGeom>
          <a:noFill/>
          <a:ln/>
        </p:spPr>
        <p:txBody>
          <a:bodyPr wrap="none" lIns="0" tIns="0" rIns="0" bIns="0" rtlCol="0" anchor="t"/>
          <a:lstStyle/>
          <a:p>
            <a:pPr marL="0" indent="0" algn="l">
              <a:lnSpc>
                <a:spcPts val="835"/>
              </a:lnSpc>
              <a:buNone/>
            </a:pPr>
            <a:r>
              <a:rPr lang="en-US" sz="800" dirty="0">
                <a:solidFill>
                  <a:srgbClr val="FBBF24"/>
                </a:solidFill>
                <a:latin typeface="Courier New" pitchFamily="34" charset="0"/>
                <a:ea typeface="Courier New" pitchFamily="34" charset="-122"/>
                <a:cs typeface="Courier New" pitchFamily="34" charset="-120"/>
              </a:rPr>
              <a:t>name:</a:t>
            </a:r>
            <a:endParaRPr lang="en-US" sz="800" dirty="0"/>
          </a:p>
        </p:txBody>
      </p:sp>
      <p:sp>
        <p:nvSpPr>
          <p:cNvPr id="85" name="Text 83"/>
          <p:cNvSpPr/>
          <p:nvPr/>
        </p:nvSpPr>
        <p:spPr>
          <a:xfrm>
            <a:off x="1057275" y="6960468"/>
            <a:ext cx="933152" cy="91440"/>
          </a:xfrm>
          <a:prstGeom prst="rect">
            <a:avLst/>
          </a:prstGeom>
          <a:noFill/>
          <a:ln/>
        </p:spPr>
        <p:txBody>
          <a:bodyPr wrap="none" lIns="0" tIns="0" rIns="0" bIns="0" rtlCol="0" anchor="t"/>
          <a:lstStyle/>
          <a:p>
            <a:pPr marL="0" indent="0" algn="l">
              <a:lnSpc>
                <a:spcPts val="835"/>
              </a:lnSpc>
              <a:buNone/>
            </a:pPr>
            <a:r>
              <a:rPr lang="en-US" sz="619" dirty="0">
                <a:solidFill>
                  <a:srgbClr val="86EFAC"/>
                </a:solidFill>
                <a:latin typeface="Courier New" pitchFamily="34" charset="0"/>
                <a:ea typeface="Courier New" pitchFamily="34" charset="-122"/>
                <a:cs typeface="Courier New" pitchFamily="34" charset="-120"/>
              </a:rPr>
              <a:t>Deploy nginx config</a:t>
            </a:r>
            <a:endParaRPr lang="en-US" sz="619" dirty="0"/>
          </a:p>
        </p:txBody>
      </p:sp>
      <p:sp>
        <p:nvSpPr>
          <p:cNvPr id="86" name="Text 84"/>
          <p:cNvSpPr/>
          <p:nvPr/>
        </p:nvSpPr>
        <p:spPr>
          <a:xfrm>
            <a:off x="821531" y="7066508"/>
            <a:ext cx="505670" cy="91440"/>
          </a:xfrm>
          <a:prstGeom prst="rect">
            <a:avLst/>
          </a:prstGeom>
          <a:noFill/>
          <a:ln/>
        </p:spPr>
        <p:txBody>
          <a:bodyPr wrap="none" lIns="0" tIns="0" rIns="0" bIns="0" rtlCol="0" anchor="t"/>
          <a:lstStyle/>
          <a:p>
            <a:pPr marL="0" indent="0" algn="l">
              <a:lnSpc>
                <a:spcPts val="835"/>
              </a:lnSpc>
              <a:buNone/>
            </a:pPr>
            <a:r>
              <a:rPr lang="en-US" sz="619" dirty="0">
                <a:solidFill>
                  <a:srgbClr val="FBBF24"/>
                </a:solidFill>
                <a:latin typeface="Courier New" pitchFamily="34" charset="0"/>
                <a:ea typeface="Courier New" pitchFamily="34" charset="-122"/>
                <a:cs typeface="Courier New" pitchFamily="34" charset="-120"/>
              </a:rPr>
              <a:t>template:</a:t>
            </a:r>
            <a:endParaRPr lang="en-US" sz="619" dirty="0"/>
          </a:p>
        </p:txBody>
      </p:sp>
      <p:sp>
        <p:nvSpPr>
          <p:cNvPr id="87" name="Text 85"/>
          <p:cNvSpPr/>
          <p:nvPr/>
        </p:nvSpPr>
        <p:spPr>
          <a:xfrm>
            <a:off x="887575" y="7172548"/>
            <a:ext cx="276535" cy="91440"/>
          </a:xfrm>
          <a:prstGeom prst="rect">
            <a:avLst/>
          </a:prstGeom>
          <a:noFill/>
          <a:ln/>
        </p:spPr>
        <p:txBody>
          <a:bodyPr wrap="none" lIns="0" tIns="0" rIns="0" bIns="0" rtlCol="0" anchor="t"/>
          <a:lstStyle/>
          <a:p>
            <a:pPr marL="0" indent="0" algn="l">
              <a:lnSpc>
                <a:spcPts val="835"/>
              </a:lnSpc>
              <a:buNone/>
            </a:pPr>
            <a:r>
              <a:rPr lang="en-US" sz="800" dirty="0">
                <a:solidFill>
                  <a:srgbClr val="FBBF24"/>
                </a:solidFill>
                <a:latin typeface="Courier New" pitchFamily="34" charset="0"/>
                <a:ea typeface="Courier New" pitchFamily="34" charset="-122"/>
                <a:cs typeface="Courier New" pitchFamily="34" charset="-120"/>
              </a:rPr>
              <a:t>src:</a:t>
            </a:r>
            <a:endParaRPr lang="en-US" sz="800" dirty="0"/>
          </a:p>
        </p:txBody>
      </p:sp>
      <p:sp>
        <p:nvSpPr>
          <p:cNvPr id="88" name="Text 86"/>
          <p:cNvSpPr/>
          <p:nvPr/>
        </p:nvSpPr>
        <p:spPr>
          <a:xfrm>
            <a:off x="1096566" y="7172548"/>
            <a:ext cx="933152" cy="91440"/>
          </a:xfrm>
          <a:prstGeom prst="rect">
            <a:avLst/>
          </a:prstGeom>
          <a:noFill/>
          <a:ln/>
        </p:spPr>
        <p:txBody>
          <a:bodyPr wrap="none" lIns="0" tIns="0" rIns="0" bIns="0" rtlCol="0" anchor="t"/>
          <a:lstStyle/>
          <a:p>
            <a:pPr marL="0" indent="0" algn="l">
              <a:lnSpc>
                <a:spcPts val="835"/>
              </a:lnSpc>
              <a:buNone/>
            </a:pPr>
            <a:r>
              <a:rPr lang="en-US" sz="619" dirty="0">
                <a:solidFill>
                  <a:srgbClr val="86EFAC"/>
                </a:solidFill>
                <a:latin typeface="Liberation Sans Narrow" pitchFamily="34" charset="0"/>
                <a:ea typeface="Liberation Sans Narrow" pitchFamily="34" charset="-122"/>
                <a:cs typeface="Liberation Sans Narrow" pitchFamily="34" charset="-120"/>
              </a:rPr>
              <a:t>flask_nginx.conf.j2</a:t>
            </a:r>
            <a:endParaRPr lang="en-US" sz="619" dirty="0"/>
          </a:p>
        </p:txBody>
      </p:sp>
      <p:sp>
        <p:nvSpPr>
          <p:cNvPr id="89" name="Text 87"/>
          <p:cNvSpPr/>
          <p:nvPr/>
        </p:nvSpPr>
        <p:spPr>
          <a:xfrm>
            <a:off x="887837" y="7278588"/>
            <a:ext cx="338877" cy="91440"/>
          </a:xfrm>
          <a:prstGeom prst="rect">
            <a:avLst/>
          </a:prstGeom>
          <a:noFill/>
          <a:ln/>
        </p:spPr>
        <p:txBody>
          <a:bodyPr wrap="none" lIns="0" tIns="0" rIns="0" bIns="0" rtlCol="0" anchor="t"/>
          <a:lstStyle/>
          <a:p>
            <a:pPr marL="0" indent="0" algn="l">
              <a:lnSpc>
                <a:spcPts val="835"/>
              </a:lnSpc>
              <a:buNone/>
            </a:pPr>
            <a:r>
              <a:rPr lang="en-US" sz="800" dirty="0">
                <a:solidFill>
                  <a:srgbClr val="FBBF24"/>
                </a:solidFill>
                <a:latin typeface="Courier New" pitchFamily="34" charset="0"/>
                <a:ea typeface="Courier New" pitchFamily="34" charset="-122"/>
                <a:cs typeface="Courier New" pitchFamily="34" charset="-120"/>
              </a:rPr>
              <a:t>dest:</a:t>
            </a:r>
            <a:endParaRPr lang="en-US" sz="800" dirty="0"/>
          </a:p>
        </p:txBody>
      </p:sp>
      <p:sp>
        <p:nvSpPr>
          <p:cNvPr id="90" name="Text 88"/>
          <p:cNvSpPr/>
          <p:nvPr/>
        </p:nvSpPr>
        <p:spPr>
          <a:xfrm>
            <a:off x="1135856" y="7278588"/>
            <a:ext cx="1485186" cy="91440"/>
          </a:xfrm>
          <a:prstGeom prst="rect">
            <a:avLst/>
          </a:prstGeom>
          <a:noFill/>
          <a:ln/>
        </p:spPr>
        <p:txBody>
          <a:bodyPr wrap="none" lIns="0" tIns="0" rIns="0" bIns="0" rtlCol="0" anchor="t"/>
          <a:lstStyle/>
          <a:p>
            <a:pPr marL="0" indent="0" algn="l">
              <a:lnSpc>
                <a:spcPts val="835"/>
              </a:lnSpc>
              <a:buNone/>
            </a:pPr>
            <a:r>
              <a:rPr lang="en-US" sz="619" dirty="0">
                <a:solidFill>
                  <a:srgbClr val="86EFAC"/>
                </a:solidFill>
                <a:latin typeface="Courier New" pitchFamily="34" charset="0"/>
                <a:ea typeface="Courier New" pitchFamily="34" charset="-122"/>
                <a:cs typeface="Courier New" pitchFamily="34" charset="-120"/>
              </a:rPr>
              <a:t>/etc/nginx/sites-available/flaskapp</a:t>
            </a:r>
            <a:endParaRPr lang="en-US" sz="619" dirty="0"/>
          </a:p>
        </p:txBody>
      </p:sp>
      <p:sp>
        <p:nvSpPr>
          <p:cNvPr id="91" name="Text 89"/>
          <p:cNvSpPr/>
          <p:nvPr/>
        </p:nvSpPr>
        <p:spPr>
          <a:xfrm>
            <a:off x="887837" y="7384628"/>
            <a:ext cx="338877" cy="91440"/>
          </a:xfrm>
          <a:prstGeom prst="rect">
            <a:avLst/>
          </a:prstGeom>
          <a:noFill/>
          <a:ln/>
        </p:spPr>
        <p:txBody>
          <a:bodyPr wrap="none" lIns="0" tIns="0" rIns="0" bIns="0" rtlCol="0" anchor="t"/>
          <a:lstStyle/>
          <a:p>
            <a:pPr marL="0" indent="0" algn="l">
              <a:lnSpc>
                <a:spcPts val="835"/>
              </a:lnSpc>
              <a:buNone/>
            </a:pPr>
            <a:r>
              <a:rPr lang="en-US" sz="800" dirty="0">
                <a:solidFill>
                  <a:srgbClr val="FBBF24"/>
                </a:solidFill>
                <a:latin typeface="Courier New" pitchFamily="34" charset="0"/>
                <a:ea typeface="Courier New" pitchFamily="34" charset="-122"/>
                <a:cs typeface="Courier New" pitchFamily="34" charset="-120"/>
              </a:rPr>
              <a:t>mode:</a:t>
            </a:r>
            <a:endParaRPr lang="en-US" sz="800" dirty="0"/>
          </a:p>
        </p:txBody>
      </p:sp>
      <p:sp>
        <p:nvSpPr>
          <p:cNvPr id="92" name="Text 90"/>
          <p:cNvSpPr/>
          <p:nvPr/>
        </p:nvSpPr>
        <p:spPr>
          <a:xfrm>
            <a:off x="1133955" y="7384628"/>
            <a:ext cx="340917" cy="91440"/>
          </a:xfrm>
          <a:prstGeom prst="rect">
            <a:avLst/>
          </a:prstGeom>
          <a:noFill/>
          <a:ln/>
        </p:spPr>
        <p:txBody>
          <a:bodyPr wrap="none" lIns="0" tIns="0" rIns="0" bIns="0" rtlCol="0" anchor="t"/>
          <a:lstStyle/>
          <a:p>
            <a:pPr marL="0" indent="0" algn="l">
              <a:lnSpc>
                <a:spcPts val="835"/>
              </a:lnSpc>
              <a:buNone/>
            </a:pPr>
            <a:r>
              <a:rPr lang="en-US" sz="619" dirty="0">
                <a:solidFill>
                  <a:srgbClr val="86EFAC"/>
                </a:solidFill>
                <a:latin typeface="Liberation Sans Narrow" pitchFamily="34" charset="0"/>
                <a:ea typeface="Liberation Sans Narrow" pitchFamily="34" charset="-122"/>
                <a:cs typeface="Liberation Sans Narrow" pitchFamily="34" charset="-120"/>
              </a:rPr>
              <a:t>"0644"</a:t>
            </a:r>
            <a:endParaRPr lang="en-US" sz="619" dirty="0"/>
          </a:p>
        </p:txBody>
      </p:sp>
      <p:sp>
        <p:nvSpPr>
          <p:cNvPr id="93" name="Text 91"/>
          <p:cNvSpPr/>
          <p:nvPr/>
        </p:nvSpPr>
        <p:spPr>
          <a:xfrm>
            <a:off x="821531" y="7490668"/>
            <a:ext cx="393299" cy="91440"/>
          </a:xfrm>
          <a:prstGeom prst="rect">
            <a:avLst/>
          </a:prstGeom>
          <a:noFill/>
          <a:ln/>
        </p:spPr>
        <p:txBody>
          <a:bodyPr wrap="none" lIns="0" tIns="0" rIns="0" bIns="0" rtlCol="0" anchor="t"/>
          <a:lstStyle/>
          <a:p>
            <a:pPr marL="0" indent="0" algn="l">
              <a:lnSpc>
                <a:spcPts val="835"/>
              </a:lnSpc>
              <a:buNone/>
            </a:pPr>
            <a:r>
              <a:rPr lang="en-US" sz="619" dirty="0">
                <a:solidFill>
                  <a:srgbClr val="FBBF24"/>
                </a:solidFill>
                <a:latin typeface="Courier New" pitchFamily="34" charset="0"/>
                <a:ea typeface="Courier New" pitchFamily="34" charset="-122"/>
                <a:cs typeface="Courier New" pitchFamily="34" charset="-120"/>
              </a:rPr>
              <a:t>notify:</a:t>
            </a:r>
            <a:endParaRPr lang="en-US" sz="619" dirty="0"/>
          </a:p>
        </p:txBody>
      </p:sp>
      <p:sp>
        <p:nvSpPr>
          <p:cNvPr id="94" name="Text 92"/>
          <p:cNvSpPr/>
          <p:nvPr/>
        </p:nvSpPr>
        <p:spPr>
          <a:xfrm>
            <a:off x="1135856" y="7490668"/>
            <a:ext cx="638473" cy="91440"/>
          </a:xfrm>
          <a:prstGeom prst="rect">
            <a:avLst/>
          </a:prstGeom>
          <a:noFill/>
          <a:ln/>
        </p:spPr>
        <p:txBody>
          <a:bodyPr wrap="none" lIns="0" tIns="0" rIns="0" bIns="0" rtlCol="0" anchor="t"/>
          <a:lstStyle/>
          <a:p>
            <a:pPr marL="0" indent="0" algn="l">
              <a:lnSpc>
                <a:spcPts val="835"/>
              </a:lnSpc>
              <a:buNone/>
            </a:pPr>
            <a:r>
              <a:rPr lang="en-US" sz="619" dirty="0">
                <a:solidFill>
                  <a:srgbClr val="86EFAC"/>
                </a:solidFill>
                <a:latin typeface="Courier New" pitchFamily="34" charset="0"/>
                <a:ea typeface="Courier New" pitchFamily="34" charset="-122"/>
                <a:cs typeface="Courier New" pitchFamily="34" charset="-120"/>
              </a:rPr>
              <a:t>restart nginx</a:t>
            </a:r>
            <a:endParaRPr lang="en-US" sz="619" dirty="0"/>
          </a:p>
        </p:txBody>
      </p:sp>
      <p:sp>
        <p:nvSpPr>
          <p:cNvPr id="95" name="Text 93"/>
          <p:cNvSpPr/>
          <p:nvPr/>
        </p:nvSpPr>
        <p:spPr>
          <a:xfrm>
            <a:off x="809255" y="7702748"/>
            <a:ext cx="338877" cy="91440"/>
          </a:xfrm>
          <a:prstGeom prst="rect">
            <a:avLst/>
          </a:prstGeom>
          <a:noFill/>
          <a:ln/>
        </p:spPr>
        <p:txBody>
          <a:bodyPr wrap="none" lIns="0" tIns="0" rIns="0" bIns="0" rtlCol="0" anchor="t"/>
          <a:lstStyle/>
          <a:p>
            <a:pPr marL="0" indent="0" algn="l">
              <a:lnSpc>
                <a:spcPts val="835"/>
              </a:lnSpc>
              <a:buNone/>
            </a:pPr>
            <a:r>
              <a:rPr lang="en-US" sz="800" dirty="0">
                <a:solidFill>
                  <a:srgbClr val="FBBF24"/>
                </a:solidFill>
                <a:latin typeface="Courier New" pitchFamily="34" charset="0"/>
                <a:ea typeface="Courier New" pitchFamily="34" charset="-122"/>
                <a:cs typeface="Courier New" pitchFamily="34" charset="-120"/>
              </a:rPr>
              <a:t>name:</a:t>
            </a:r>
            <a:endParaRPr lang="en-US" sz="800" dirty="0"/>
          </a:p>
        </p:txBody>
      </p:sp>
      <p:sp>
        <p:nvSpPr>
          <p:cNvPr id="96" name="Text 94"/>
          <p:cNvSpPr/>
          <p:nvPr/>
        </p:nvSpPr>
        <p:spPr>
          <a:xfrm>
            <a:off x="1057275" y="7702748"/>
            <a:ext cx="834926" cy="91440"/>
          </a:xfrm>
          <a:prstGeom prst="rect">
            <a:avLst/>
          </a:prstGeom>
          <a:noFill/>
          <a:ln/>
        </p:spPr>
        <p:txBody>
          <a:bodyPr wrap="none" lIns="0" tIns="0" rIns="0" bIns="0" rtlCol="0" anchor="t"/>
          <a:lstStyle/>
          <a:p>
            <a:pPr marL="0" indent="0" algn="l">
              <a:lnSpc>
                <a:spcPts val="835"/>
              </a:lnSpc>
              <a:buNone/>
            </a:pPr>
            <a:r>
              <a:rPr lang="en-US" sz="619" dirty="0">
                <a:solidFill>
                  <a:srgbClr val="86EFAC"/>
                </a:solidFill>
                <a:latin typeface="Courier New" pitchFamily="34" charset="0"/>
                <a:ea typeface="Courier New" pitchFamily="34" charset="-122"/>
                <a:cs typeface="Courier New" pitchFamily="34" charset="-120"/>
              </a:rPr>
              <a:t>Enable nginx site</a:t>
            </a:r>
            <a:endParaRPr lang="en-US" sz="619" dirty="0"/>
          </a:p>
        </p:txBody>
      </p:sp>
      <p:sp>
        <p:nvSpPr>
          <p:cNvPr id="97" name="Text 95"/>
          <p:cNvSpPr/>
          <p:nvPr/>
        </p:nvSpPr>
        <p:spPr>
          <a:xfrm>
            <a:off x="809255" y="7808788"/>
            <a:ext cx="338877" cy="91440"/>
          </a:xfrm>
          <a:prstGeom prst="rect">
            <a:avLst/>
          </a:prstGeom>
          <a:noFill/>
          <a:ln/>
        </p:spPr>
        <p:txBody>
          <a:bodyPr wrap="none" lIns="0" tIns="0" rIns="0" bIns="0" rtlCol="0" anchor="t"/>
          <a:lstStyle/>
          <a:p>
            <a:pPr marL="0" indent="0" algn="l">
              <a:lnSpc>
                <a:spcPts val="835"/>
              </a:lnSpc>
              <a:buNone/>
            </a:pPr>
            <a:r>
              <a:rPr lang="en-US" sz="800" dirty="0">
                <a:solidFill>
                  <a:srgbClr val="FBBF24"/>
                </a:solidFill>
                <a:latin typeface="Courier New" pitchFamily="34" charset="0"/>
                <a:ea typeface="Courier New" pitchFamily="34" charset="-122"/>
                <a:cs typeface="Courier New" pitchFamily="34" charset="-120"/>
              </a:rPr>
              <a:t>file:</a:t>
            </a:r>
            <a:endParaRPr lang="en-US" sz="800" dirty="0"/>
          </a:p>
        </p:txBody>
      </p:sp>
      <p:sp>
        <p:nvSpPr>
          <p:cNvPr id="98" name="Text 96"/>
          <p:cNvSpPr/>
          <p:nvPr/>
        </p:nvSpPr>
        <p:spPr>
          <a:xfrm>
            <a:off x="887575" y="7914829"/>
            <a:ext cx="276535" cy="91440"/>
          </a:xfrm>
          <a:prstGeom prst="rect">
            <a:avLst/>
          </a:prstGeom>
          <a:noFill/>
          <a:ln/>
        </p:spPr>
        <p:txBody>
          <a:bodyPr wrap="none" lIns="0" tIns="0" rIns="0" bIns="0" rtlCol="0" anchor="t"/>
          <a:lstStyle/>
          <a:p>
            <a:pPr marL="0" indent="0" algn="l">
              <a:lnSpc>
                <a:spcPts val="835"/>
              </a:lnSpc>
              <a:buNone/>
            </a:pPr>
            <a:r>
              <a:rPr lang="en-US" sz="800" dirty="0">
                <a:solidFill>
                  <a:srgbClr val="FBBF24"/>
                </a:solidFill>
                <a:latin typeface="Courier New" pitchFamily="34" charset="0"/>
                <a:ea typeface="Courier New" pitchFamily="34" charset="-122"/>
                <a:cs typeface="Courier New" pitchFamily="34" charset="-120"/>
              </a:rPr>
              <a:t>src:</a:t>
            </a:r>
            <a:endParaRPr lang="en-US" sz="800" dirty="0"/>
          </a:p>
        </p:txBody>
      </p:sp>
      <p:sp>
        <p:nvSpPr>
          <p:cNvPr id="99" name="Text 97"/>
          <p:cNvSpPr/>
          <p:nvPr/>
        </p:nvSpPr>
        <p:spPr>
          <a:xfrm>
            <a:off x="1096566" y="7914829"/>
            <a:ext cx="1485186" cy="91440"/>
          </a:xfrm>
          <a:prstGeom prst="rect">
            <a:avLst/>
          </a:prstGeom>
          <a:noFill/>
          <a:ln/>
        </p:spPr>
        <p:txBody>
          <a:bodyPr wrap="none" lIns="0" tIns="0" rIns="0" bIns="0" rtlCol="0" anchor="t"/>
          <a:lstStyle/>
          <a:p>
            <a:pPr marL="0" indent="0" algn="l">
              <a:lnSpc>
                <a:spcPts val="835"/>
              </a:lnSpc>
              <a:buNone/>
            </a:pPr>
            <a:r>
              <a:rPr lang="en-US" sz="619" dirty="0">
                <a:solidFill>
                  <a:srgbClr val="86EFAC"/>
                </a:solidFill>
                <a:latin typeface="Courier New" pitchFamily="34" charset="0"/>
                <a:ea typeface="Courier New" pitchFamily="34" charset="-122"/>
                <a:cs typeface="Courier New" pitchFamily="34" charset="-120"/>
              </a:rPr>
              <a:t>/etc/nginx/sites-available/flaskapp</a:t>
            </a:r>
            <a:endParaRPr lang="en-US" sz="619" dirty="0"/>
          </a:p>
        </p:txBody>
      </p:sp>
      <p:sp>
        <p:nvSpPr>
          <p:cNvPr id="100" name="Text 98"/>
          <p:cNvSpPr/>
          <p:nvPr/>
        </p:nvSpPr>
        <p:spPr>
          <a:xfrm>
            <a:off x="887837" y="8020869"/>
            <a:ext cx="338877" cy="91440"/>
          </a:xfrm>
          <a:prstGeom prst="rect">
            <a:avLst/>
          </a:prstGeom>
          <a:noFill/>
          <a:ln/>
        </p:spPr>
        <p:txBody>
          <a:bodyPr wrap="none" lIns="0" tIns="0" rIns="0" bIns="0" rtlCol="0" anchor="t"/>
          <a:lstStyle/>
          <a:p>
            <a:pPr marL="0" indent="0" algn="l">
              <a:lnSpc>
                <a:spcPts val="835"/>
              </a:lnSpc>
              <a:buNone/>
            </a:pPr>
            <a:r>
              <a:rPr lang="en-US" sz="800" dirty="0">
                <a:solidFill>
                  <a:srgbClr val="FBBF24"/>
                </a:solidFill>
                <a:latin typeface="Courier New" pitchFamily="34" charset="0"/>
                <a:ea typeface="Courier New" pitchFamily="34" charset="-122"/>
                <a:cs typeface="Courier New" pitchFamily="34" charset="-120"/>
              </a:rPr>
              <a:t>dest:</a:t>
            </a:r>
            <a:endParaRPr lang="en-US" sz="800" dirty="0"/>
          </a:p>
        </p:txBody>
      </p:sp>
      <p:sp>
        <p:nvSpPr>
          <p:cNvPr id="101" name="Text 99"/>
          <p:cNvSpPr/>
          <p:nvPr/>
        </p:nvSpPr>
        <p:spPr>
          <a:xfrm>
            <a:off x="1135856" y="8020869"/>
            <a:ext cx="1400318" cy="91440"/>
          </a:xfrm>
          <a:prstGeom prst="rect">
            <a:avLst/>
          </a:prstGeom>
          <a:noFill/>
          <a:ln/>
        </p:spPr>
        <p:txBody>
          <a:bodyPr wrap="none" lIns="0" tIns="0" rIns="0" bIns="0" rtlCol="0" anchor="t"/>
          <a:lstStyle/>
          <a:p>
            <a:pPr marL="0" indent="0" algn="l">
              <a:lnSpc>
                <a:spcPts val="835"/>
              </a:lnSpc>
              <a:buNone/>
            </a:pPr>
            <a:r>
              <a:rPr lang="en-US" sz="619" dirty="0">
                <a:solidFill>
                  <a:srgbClr val="86EFAC"/>
                </a:solidFill>
                <a:latin typeface="Courier New" pitchFamily="34" charset="0"/>
                <a:ea typeface="Courier New" pitchFamily="34" charset="-122"/>
                <a:cs typeface="Courier New" pitchFamily="34" charset="-120"/>
              </a:rPr>
              <a:t>/etc/nginx/sites-enabled/flaskapp</a:t>
            </a:r>
            <a:endParaRPr lang="en-US" sz="619" dirty="0"/>
          </a:p>
        </p:txBody>
      </p:sp>
      <p:sp>
        <p:nvSpPr>
          <p:cNvPr id="102" name="Text 100"/>
          <p:cNvSpPr/>
          <p:nvPr/>
        </p:nvSpPr>
        <p:spPr>
          <a:xfrm>
            <a:off x="900113" y="8126909"/>
            <a:ext cx="337114" cy="91440"/>
          </a:xfrm>
          <a:prstGeom prst="rect">
            <a:avLst/>
          </a:prstGeom>
          <a:noFill/>
          <a:ln/>
        </p:spPr>
        <p:txBody>
          <a:bodyPr wrap="none" lIns="0" tIns="0" rIns="0" bIns="0" rtlCol="0" anchor="t"/>
          <a:lstStyle/>
          <a:p>
            <a:pPr marL="0" indent="0" algn="l">
              <a:lnSpc>
                <a:spcPts val="835"/>
              </a:lnSpc>
              <a:buNone/>
            </a:pPr>
            <a:r>
              <a:rPr lang="en-US" sz="619" dirty="0">
                <a:solidFill>
                  <a:srgbClr val="FBBF24"/>
                </a:solidFill>
                <a:latin typeface="Courier New" pitchFamily="34" charset="0"/>
                <a:ea typeface="Courier New" pitchFamily="34" charset="-122"/>
                <a:cs typeface="Courier New" pitchFamily="34" charset="-120"/>
              </a:rPr>
              <a:t>state:</a:t>
            </a:r>
            <a:endParaRPr lang="en-US" sz="619" dirty="0"/>
          </a:p>
        </p:txBody>
      </p:sp>
      <p:sp>
        <p:nvSpPr>
          <p:cNvPr id="103" name="Text 101"/>
          <p:cNvSpPr/>
          <p:nvPr/>
        </p:nvSpPr>
        <p:spPr>
          <a:xfrm>
            <a:off x="1158413" y="8126909"/>
            <a:ext cx="284927" cy="91440"/>
          </a:xfrm>
          <a:prstGeom prst="rect">
            <a:avLst/>
          </a:prstGeom>
          <a:noFill/>
          <a:ln/>
        </p:spPr>
        <p:txBody>
          <a:bodyPr wrap="none" lIns="0" tIns="0" rIns="0" bIns="0" rtlCol="0" anchor="t"/>
          <a:lstStyle/>
          <a:p>
            <a:pPr marL="0" indent="0" algn="l">
              <a:lnSpc>
                <a:spcPts val="835"/>
              </a:lnSpc>
              <a:buNone/>
            </a:pPr>
            <a:r>
              <a:rPr lang="en-US" sz="800" dirty="0">
                <a:solidFill>
                  <a:srgbClr val="86EFAC"/>
                </a:solidFill>
                <a:latin typeface="Courier New" pitchFamily="34" charset="0"/>
                <a:ea typeface="Courier New" pitchFamily="34" charset="-122"/>
                <a:cs typeface="Courier New" pitchFamily="34" charset="-120"/>
              </a:rPr>
              <a:t>link</a:t>
            </a:r>
            <a:endParaRPr lang="en-US" sz="800" dirty="0"/>
          </a:p>
        </p:txBody>
      </p:sp>
      <p:sp>
        <p:nvSpPr>
          <p:cNvPr id="104" name="Text 102"/>
          <p:cNvSpPr/>
          <p:nvPr/>
        </p:nvSpPr>
        <p:spPr>
          <a:xfrm>
            <a:off x="821531" y="8232949"/>
            <a:ext cx="393299" cy="91440"/>
          </a:xfrm>
          <a:prstGeom prst="rect">
            <a:avLst/>
          </a:prstGeom>
          <a:noFill/>
          <a:ln/>
        </p:spPr>
        <p:txBody>
          <a:bodyPr wrap="none" lIns="0" tIns="0" rIns="0" bIns="0" rtlCol="0" anchor="t"/>
          <a:lstStyle/>
          <a:p>
            <a:pPr marL="0" indent="0" algn="l">
              <a:lnSpc>
                <a:spcPts val="835"/>
              </a:lnSpc>
              <a:buNone/>
            </a:pPr>
            <a:r>
              <a:rPr lang="en-US" sz="619" dirty="0">
                <a:solidFill>
                  <a:srgbClr val="FBBF24"/>
                </a:solidFill>
                <a:latin typeface="Courier New" pitchFamily="34" charset="0"/>
                <a:ea typeface="Courier New" pitchFamily="34" charset="-122"/>
                <a:cs typeface="Courier New" pitchFamily="34" charset="-120"/>
              </a:rPr>
              <a:t>notify:</a:t>
            </a:r>
            <a:endParaRPr lang="en-US" sz="619" dirty="0"/>
          </a:p>
        </p:txBody>
      </p:sp>
      <p:sp>
        <p:nvSpPr>
          <p:cNvPr id="105" name="Text 103"/>
          <p:cNvSpPr/>
          <p:nvPr/>
        </p:nvSpPr>
        <p:spPr>
          <a:xfrm>
            <a:off x="1135856" y="8232949"/>
            <a:ext cx="638473" cy="91440"/>
          </a:xfrm>
          <a:prstGeom prst="rect">
            <a:avLst/>
          </a:prstGeom>
          <a:noFill/>
          <a:ln/>
        </p:spPr>
        <p:txBody>
          <a:bodyPr wrap="none" lIns="0" tIns="0" rIns="0" bIns="0" rtlCol="0" anchor="t"/>
          <a:lstStyle/>
          <a:p>
            <a:pPr marL="0" indent="0" algn="l">
              <a:lnSpc>
                <a:spcPts val="835"/>
              </a:lnSpc>
              <a:buNone/>
            </a:pPr>
            <a:r>
              <a:rPr lang="en-US" sz="619" dirty="0">
                <a:solidFill>
                  <a:srgbClr val="86EFAC"/>
                </a:solidFill>
                <a:latin typeface="Courier New" pitchFamily="34" charset="0"/>
                <a:ea typeface="Courier New" pitchFamily="34" charset="-122"/>
                <a:cs typeface="Courier New" pitchFamily="34" charset="-120"/>
              </a:rPr>
              <a:t>restart nginx</a:t>
            </a:r>
            <a:endParaRPr lang="en-US" sz="619" dirty="0"/>
          </a:p>
        </p:txBody>
      </p:sp>
      <p:sp>
        <p:nvSpPr>
          <p:cNvPr id="106" name="Text 104"/>
          <p:cNvSpPr/>
          <p:nvPr/>
        </p:nvSpPr>
        <p:spPr>
          <a:xfrm>
            <a:off x="809255" y="8445029"/>
            <a:ext cx="338877" cy="91440"/>
          </a:xfrm>
          <a:prstGeom prst="rect">
            <a:avLst/>
          </a:prstGeom>
          <a:noFill/>
          <a:ln/>
        </p:spPr>
        <p:txBody>
          <a:bodyPr wrap="none" lIns="0" tIns="0" rIns="0" bIns="0" rtlCol="0" anchor="t"/>
          <a:lstStyle/>
          <a:p>
            <a:pPr marL="0" indent="0" algn="l">
              <a:lnSpc>
                <a:spcPts val="835"/>
              </a:lnSpc>
              <a:buNone/>
            </a:pPr>
            <a:r>
              <a:rPr lang="en-US" sz="800" dirty="0">
                <a:solidFill>
                  <a:srgbClr val="FBBF24"/>
                </a:solidFill>
                <a:latin typeface="Courier New" pitchFamily="34" charset="0"/>
                <a:ea typeface="Courier New" pitchFamily="34" charset="-122"/>
                <a:cs typeface="Courier New" pitchFamily="34" charset="-120"/>
              </a:rPr>
              <a:t>name:</a:t>
            </a:r>
            <a:endParaRPr lang="en-US" sz="800" dirty="0"/>
          </a:p>
        </p:txBody>
      </p:sp>
      <p:sp>
        <p:nvSpPr>
          <p:cNvPr id="107" name="Text 105"/>
          <p:cNvSpPr/>
          <p:nvPr/>
        </p:nvSpPr>
        <p:spPr>
          <a:xfrm>
            <a:off x="1057275" y="8445029"/>
            <a:ext cx="1178719" cy="91440"/>
          </a:xfrm>
          <a:prstGeom prst="rect">
            <a:avLst/>
          </a:prstGeom>
          <a:noFill/>
          <a:ln/>
        </p:spPr>
        <p:txBody>
          <a:bodyPr wrap="none" lIns="0" tIns="0" rIns="0" bIns="0" rtlCol="0" anchor="t"/>
          <a:lstStyle/>
          <a:p>
            <a:pPr marL="0" indent="0" algn="l">
              <a:lnSpc>
                <a:spcPts val="835"/>
              </a:lnSpc>
              <a:buNone/>
            </a:pPr>
            <a:r>
              <a:rPr lang="en-US" sz="619" dirty="0">
                <a:solidFill>
                  <a:srgbClr val="86EFAC"/>
                </a:solidFill>
                <a:latin typeface="Courier New" pitchFamily="34" charset="0"/>
                <a:ea typeface="Courier New" pitchFamily="34" charset="-122"/>
                <a:cs typeface="Courier New" pitchFamily="34" charset="-120"/>
              </a:rPr>
              <a:t>Print deployment summary</a:t>
            </a:r>
            <a:endParaRPr lang="en-US" sz="619" dirty="0"/>
          </a:p>
        </p:txBody>
      </p:sp>
      <p:sp>
        <p:nvSpPr>
          <p:cNvPr id="108" name="Text 106"/>
          <p:cNvSpPr/>
          <p:nvPr/>
        </p:nvSpPr>
        <p:spPr>
          <a:xfrm>
            <a:off x="821531" y="8551069"/>
            <a:ext cx="337114" cy="91440"/>
          </a:xfrm>
          <a:prstGeom prst="rect">
            <a:avLst/>
          </a:prstGeom>
          <a:noFill/>
          <a:ln/>
        </p:spPr>
        <p:txBody>
          <a:bodyPr wrap="none" lIns="0" tIns="0" rIns="0" bIns="0" rtlCol="0" anchor="t"/>
          <a:lstStyle/>
          <a:p>
            <a:pPr marL="0" indent="0" algn="l">
              <a:lnSpc>
                <a:spcPts val="835"/>
              </a:lnSpc>
              <a:buNone/>
            </a:pPr>
            <a:r>
              <a:rPr lang="en-US" sz="619" dirty="0">
                <a:solidFill>
                  <a:srgbClr val="FBBF24"/>
                </a:solidFill>
                <a:latin typeface="Courier New" pitchFamily="34" charset="0"/>
                <a:ea typeface="Courier New" pitchFamily="34" charset="-122"/>
                <a:cs typeface="Courier New" pitchFamily="34" charset="-120"/>
              </a:rPr>
              <a:t>debug:</a:t>
            </a:r>
            <a:endParaRPr lang="en-US" sz="619" dirty="0"/>
          </a:p>
        </p:txBody>
      </p:sp>
      <p:sp>
        <p:nvSpPr>
          <p:cNvPr id="109" name="Text 107"/>
          <p:cNvSpPr/>
          <p:nvPr/>
        </p:nvSpPr>
        <p:spPr>
          <a:xfrm>
            <a:off x="887575" y="8657109"/>
            <a:ext cx="276535" cy="91440"/>
          </a:xfrm>
          <a:prstGeom prst="rect">
            <a:avLst/>
          </a:prstGeom>
          <a:noFill/>
          <a:ln/>
        </p:spPr>
        <p:txBody>
          <a:bodyPr wrap="none" lIns="0" tIns="0" rIns="0" bIns="0" rtlCol="0" anchor="t"/>
          <a:lstStyle/>
          <a:p>
            <a:pPr marL="0" indent="0" algn="l">
              <a:lnSpc>
                <a:spcPts val="835"/>
              </a:lnSpc>
              <a:buNone/>
            </a:pPr>
            <a:r>
              <a:rPr lang="en-US" sz="800" dirty="0">
                <a:solidFill>
                  <a:srgbClr val="FBBF24"/>
                </a:solidFill>
                <a:latin typeface="Courier New" pitchFamily="34" charset="0"/>
                <a:ea typeface="Courier New" pitchFamily="34" charset="-122"/>
                <a:cs typeface="Courier New" pitchFamily="34" charset="-120"/>
              </a:rPr>
              <a:t>msg:</a:t>
            </a:r>
            <a:endParaRPr lang="en-US" sz="800" dirty="0"/>
          </a:p>
        </p:txBody>
      </p:sp>
      <p:sp>
        <p:nvSpPr>
          <p:cNvPr id="110" name="Text 108"/>
          <p:cNvSpPr/>
          <p:nvPr/>
        </p:nvSpPr>
        <p:spPr>
          <a:xfrm>
            <a:off x="1096566" y="8657109"/>
            <a:ext cx="2553891" cy="91440"/>
          </a:xfrm>
          <a:prstGeom prst="rect">
            <a:avLst/>
          </a:prstGeom>
          <a:noFill/>
          <a:ln/>
        </p:spPr>
        <p:txBody>
          <a:bodyPr wrap="none" lIns="0" tIns="0" rIns="0" bIns="0" rtlCol="0" anchor="t"/>
          <a:lstStyle/>
          <a:p>
            <a:pPr marL="0" indent="0" algn="l">
              <a:lnSpc>
                <a:spcPts val="835"/>
              </a:lnSpc>
              <a:buNone/>
            </a:pPr>
            <a:r>
              <a:rPr lang="en-US" sz="619" dirty="0">
                <a:solidFill>
                  <a:srgbClr val="86EFAC"/>
                </a:solidFill>
                <a:latin typeface="Courier New" pitchFamily="34" charset="0"/>
                <a:ea typeface="Courier New" pitchFamily="34" charset="-122"/>
                <a:cs typeface="Courier New" pitchFamily="34" charset="-120"/>
              </a:rPr>
              <a:t>"Flask app deployed at {{ flask_dir }} on {{ ansible_hostname }}"</a:t>
            </a:r>
            <a:endParaRPr lang="en-US" sz="619" dirty="0"/>
          </a:p>
        </p:txBody>
      </p:sp>
      <p:sp>
        <p:nvSpPr>
          <p:cNvPr id="111" name="Text 109"/>
          <p:cNvSpPr/>
          <p:nvPr/>
        </p:nvSpPr>
        <p:spPr>
          <a:xfrm>
            <a:off x="664369" y="8869189"/>
            <a:ext cx="505670" cy="91440"/>
          </a:xfrm>
          <a:prstGeom prst="rect">
            <a:avLst/>
          </a:prstGeom>
          <a:noFill/>
          <a:ln/>
        </p:spPr>
        <p:txBody>
          <a:bodyPr wrap="none" lIns="0" tIns="0" rIns="0" bIns="0" rtlCol="0" anchor="t"/>
          <a:lstStyle/>
          <a:p>
            <a:pPr marL="0" indent="0" algn="l">
              <a:lnSpc>
                <a:spcPts val="835"/>
              </a:lnSpc>
              <a:buNone/>
            </a:pPr>
            <a:r>
              <a:rPr lang="en-US" sz="619" dirty="0">
                <a:solidFill>
                  <a:srgbClr val="FBBF24"/>
                </a:solidFill>
                <a:latin typeface="Courier New" pitchFamily="34" charset="0"/>
                <a:ea typeface="Courier New" pitchFamily="34" charset="-122"/>
                <a:cs typeface="Courier New" pitchFamily="34" charset="-120"/>
              </a:rPr>
              <a:t>handlers:</a:t>
            </a:r>
            <a:endParaRPr lang="en-US" sz="619" dirty="0"/>
          </a:p>
        </p:txBody>
      </p:sp>
      <p:sp>
        <p:nvSpPr>
          <p:cNvPr id="112" name="Text 110"/>
          <p:cNvSpPr/>
          <p:nvPr/>
        </p:nvSpPr>
        <p:spPr>
          <a:xfrm>
            <a:off x="809255" y="8975229"/>
            <a:ext cx="338877" cy="91440"/>
          </a:xfrm>
          <a:prstGeom prst="rect">
            <a:avLst/>
          </a:prstGeom>
          <a:noFill/>
          <a:ln/>
        </p:spPr>
        <p:txBody>
          <a:bodyPr wrap="none" lIns="0" tIns="0" rIns="0" bIns="0" rtlCol="0" anchor="t"/>
          <a:lstStyle/>
          <a:p>
            <a:pPr marL="0" indent="0" algn="l">
              <a:lnSpc>
                <a:spcPts val="835"/>
              </a:lnSpc>
              <a:buNone/>
            </a:pPr>
            <a:r>
              <a:rPr lang="en-US" sz="800" dirty="0">
                <a:solidFill>
                  <a:srgbClr val="FBBF24"/>
                </a:solidFill>
                <a:latin typeface="Courier New" pitchFamily="34" charset="0"/>
                <a:ea typeface="Courier New" pitchFamily="34" charset="-122"/>
                <a:cs typeface="Courier New" pitchFamily="34" charset="-120"/>
              </a:rPr>
              <a:t>name:</a:t>
            </a:r>
            <a:endParaRPr lang="en-US" sz="800" dirty="0"/>
          </a:p>
        </p:txBody>
      </p:sp>
      <p:sp>
        <p:nvSpPr>
          <p:cNvPr id="113" name="Text 111"/>
          <p:cNvSpPr/>
          <p:nvPr/>
        </p:nvSpPr>
        <p:spPr>
          <a:xfrm>
            <a:off x="1057275" y="8975229"/>
            <a:ext cx="638473" cy="91440"/>
          </a:xfrm>
          <a:prstGeom prst="rect">
            <a:avLst/>
          </a:prstGeom>
          <a:noFill/>
          <a:ln/>
        </p:spPr>
        <p:txBody>
          <a:bodyPr wrap="none" lIns="0" tIns="0" rIns="0" bIns="0" rtlCol="0" anchor="t"/>
          <a:lstStyle/>
          <a:p>
            <a:pPr marL="0" indent="0" algn="l">
              <a:lnSpc>
                <a:spcPts val="835"/>
              </a:lnSpc>
              <a:buNone/>
            </a:pPr>
            <a:r>
              <a:rPr lang="en-US" sz="619" dirty="0">
                <a:solidFill>
                  <a:srgbClr val="86EFAC"/>
                </a:solidFill>
                <a:latin typeface="Courier New" pitchFamily="34" charset="0"/>
                <a:ea typeface="Courier New" pitchFamily="34" charset="-122"/>
                <a:cs typeface="Courier New" pitchFamily="34" charset="-120"/>
              </a:rPr>
              <a:t>restart nginx</a:t>
            </a:r>
            <a:endParaRPr lang="en-US" sz="619" dirty="0"/>
          </a:p>
        </p:txBody>
      </p:sp>
      <p:sp>
        <p:nvSpPr>
          <p:cNvPr id="114" name="Text 112"/>
          <p:cNvSpPr/>
          <p:nvPr/>
        </p:nvSpPr>
        <p:spPr>
          <a:xfrm>
            <a:off x="821531" y="9081269"/>
            <a:ext cx="449485" cy="91440"/>
          </a:xfrm>
          <a:prstGeom prst="rect">
            <a:avLst/>
          </a:prstGeom>
          <a:noFill/>
          <a:ln/>
        </p:spPr>
        <p:txBody>
          <a:bodyPr wrap="none" lIns="0" tIns="0" rIns="0" bIns="0" rtlCol="0" anchor="t"/>
          <a:lstStyle/>
          <a:p>
            <a:pPr marL="0" indent="0" algn="l">
              <a:lnSpc>
                <a:spcPts val="835"/>
              </a:lnSpc>
              <a:buNone/>
            </a:pPr>
            <a:r>
              <a:rPr lang="en-US" sz="619" dirty="0">
                <a:solidFill>
                  <a:srgbClr val="FBBF24"/>
                </a:solidFill>
                <a:latin typeface="Courier New" pitchFamily="34" charset="0"/>
                <a:ea typeface="Courier New" pitchFamily="34" charset="-122"/>
                <a:cs typeface="Courier New" pitchFamily="34" charset="-120"/>
              </a:rPr>
              <a:t>service:</a:t>
            </a:r>
            <a:endParaRPr lang="en-US" sz="619" dirty="0"/>
          </a:p>
        </p:txBody>
      </p:sp>
      <p:sp>
        <p:nvSpPr>
          <p:cNvPr id="115" name="Text 113"/>
          <p:cNvSpPr/>
          <p:nvPr/>
        </p:nvSpPr>
        <p:spPr>
          <a:xfrm>
            <a:off x="887837" y="9187309"/>
            <a:ext cx="338877" cy="91440"/>
          </a:xfrm>
          <a:prstGeom prst="rect">
            <a:avLst/>
          </a:prstGeom>
          <a:noFill/>
          <a:ln/>
        </p:spPr>
        <p:txBody>
          <a:bodyPr wrap="none" lIns="0" tIns="0" rIns="0" bIns="0" rtlCol="0" anchor="t"/>
          <a:lstStyle/>
          <a:p>
            <a:pPr marL="0" indent="0" algn="l">
              <a:lnSpc>
                <a:spcPts val="835"/>
              </a:lnSpc>
              <a:buNone/>
            </a:pPr>
            <a:r>
              <a:rPr lang="en-US" sz="800" dirty="0">
                <a:solidFill>
                  <a:srgbClr val="FBBF24"/>
                </a:solidFill>
                <a:latin typeface="Courier New" pitchFamily="34" charset="0"/>
                <a:ea typeface="Courier New" pitchFamily="34" charset="-122"/>
                <a:cs typeface="Courier New" pitchFamily="34" charset="-120"/>
              </a:rPr>
              <a:t>name:</a:t>
            </a:r>
            <a:endParaRPr lang="en-US" sz="800" dirty="0"/>
          </a:p>
        </p:txBody>
      </p:sp>
      <p:sp>
        <p:nvSpPr>
          <p:cNvPr id="116" name="Text 114"/>
          <p:cNvSpPr/>
          <p:nvPr/>
        </p:nvSpPr>
        <p:spPr>
          <a:xfrm>
            <a:off x="1119384" y="9187309"/>
            <a:ext cx="347269" cy="91440"/>
          </a:xfrm>
          <a:prstGeom prst="rect">
            <a:avLst/>
          </a:prstGeom>
          <a:noFill/>
          <a:ln/>
        </p:spPr>
        <p:txBody>
          <a:bodyPr wrap="none" lIns="0" tIns="0" rIns="0" bIns="0" rtlCol="0" anchor="t"/>
          <a:lstStyle/>
          <a:p>
            <a:pPr marL="0" indent="0" algn="l">
              <a:lnSpc>
                <a:spcPts val="835"/>
              </a:lnSpc>
              <a:buNone/>
            </a:pPr>
            <a:r>
              <a:rPr lang="en-US" sz="800" dirty="0">
                <a:solidFill>
                  <a:srgbClr val="86EFAC"/>
                </a:solidFill>
                <a:latin typeface="Courier New" pitchFamily="34" charset="0"/>
                <a:ea typeface="Courier New" pitchFamily="34" charset="-122"/>
                <a:cs typeface="Courier New" pitchFamily="34" charset="-120"/>
              </a:rPr>
              <a:t>nginx</a:t>
            </a:r>
            <a:endParaRPr lang="en-US" sz="800" dirty="0"/>
          </a:p>
        </p:txBody>
      </p:sp>
      <p:sp>
        <p:nvSpPr>
          <p:cNvPr id="117" name="Text 115"/>
          <p:cNvSpPr/>
          <p:nvPr/>
        </p:nvSpPr>
        <p:spPr>
          <a:xfrm>
            <a:off x="900113" y="9293349"/>
            <a:ext cx="337114" cy="91440"/>
          </a:xfrm>
          <a:prstGeom prst="rect">
            <a:avLst/>
          </a:prstGeom>
          <a:noFill/>
          <a:ln/>
        </p:spPr>
        <p:txBody>
          <a:bodyPr wrap="none" lIns="0" tIns="0" rIns="0" bIns="0" rtlCol="0" anchor="t"/>
          <a:lstStyle/>
          <a:p>
            <a:pPr marL="0" indent="0" algn="l">
              <a:lnSpc>
                <a:spcPts val="835"/>
              </a:lnSpc>
              <a:buNone/>
            </a:pPr>
            <a:r>
              <a:rPr lang="en-US" sz="619" dirty="0">
                <a:solidFill>
                  <a:srgbClr val="FBBF24"/>
                </a:solidFill>
                <a:latin typeface="Courier New" pitchFamily="34" charset="0"/>
                <a:ea typeface="Courier New" pitchFamily="34" charset="-122"/>
                <a:cs typeface="Courier New" pitchFamily="34" charset="-120"/>
              </a:rPr>
              <a:t>state:</a:t>
            </a:r>
            <a:endParaRPr lang="en-US" sz="619" dirty="0"/>
          </a:p>
        </p:txBody>
      </p:sp>
      <p:sp>
        <p:nvSpPr>
          <p:cNvPr id="118" name="Text 116"/>
          <p:cNvSpPr/>
          <p:nvPr/>
        </p:nvSpPr>
        <p:spPr>
          <a:xfrm>
            <a:off x="1175147" y="9293349"/>
            <a:ext cx="505670" cy="91440"/>
          </a:xfrm>
          <a:prstGeom prst="rect">
            <a:avLst/>
          </a:prstGeom>
          <a:noFill/>
          <a:ln/>
        </p:spPr>
        <p:txBody>
          <a:bodyPr wrap="none" lIns="0" tIns="0" rIns="0" bIns="0" rtlCol="0" anchor="t"/>
          <a:lstStyle/>
          <a:p>
            <a:pPr marL="0" indent="0" algn="l">
              <a:lnSpc>
                <a:spcPts val="835"/>
              </a:lnSpc>
              <a:buNone/>
            </a:pPr>
            <a:r>
              <a:rPr lang="en-US" sz="619" dirty="0">
                <a:solidFill>
                  <a:srgbClr val="86EFAC"/>
                </a:solidFill>
                <a:latin typeface="Courier New" pitchFamily="34" charset="0"/>
                <a:ea typeface="Courier New" pitchFamily="34" charset="-122"/>
                <a:cs typeface="Courier New" pitchFamily="34" charset="-120"/>
              </a:rPr>
              <a:t>restarted</a:t>
            </a:r>
            <a:endParaRPr lang="en-US" sz="619" dirty="0"/>
          </a:p>
        </p:txBody>
      </p:sp>
      <p:sp>
        <p:nvSpPr>
          <p:cNvPr id="119" name="Text 117"/>
          <p:cNvSpPr/>
          <p:nvPr/>
        </p:nvSpPr>
        <p:spPr>
          <a:xfrm>
            <a:off x="457200" y="4526347"/>
            <a:ext cx="8229600" cy="172749"/>
          </a:xfrm>
          <a:prstGeom prst="rect">
            <a:avLst/>
          </a:prstGeom>
          <a:noFill/>
          <a:ln/>
        </p:spPr>
        <p:txBody>
          <a:bodyPr wrap="square" lIns="0" tIns="0" rIns="0" bIns="0" rtlCol="0" anchor="t"/>
          <a:lstStyle/>
          <a:p>
            <a:pPr marL="0" indent="0" algn="l">
              <a:lnSpc>
                <a:spcPts val="1260"/>
              </a:lnSpc>
              <a:buNone/>
            </a:pPr>
            <a:r>
              <a:rPr lang="en-US" sz="900" b="1" dirty="0">
                <a:solidFill>
                  <a:srgbClr val="C2410C"/>
                </a:solidFill>
                <a:latin typeface="Segoe UI Symbol" pitchFamily="34" charset="0"/>
                <a:ea typeface="Segoe UI Symbol" pitchFamily="34" charset="-122"/>
                <a:cs typeface="Segoe UI Symbol" pitchFamily="34" charset="-120"/>
              </a:rPr>
              <a:t>✓</a:t>
            </a:r>
            <a:r>
              <a:rPr lang="en-US" sz="900" b="1" dirty="0">
                <a:solidFill>
                  <a:srgbClr val="C2410C"/>
                </a:solidFill>
                <a:latin typeface="Carlito" pitchFamily="34" charset="0"/>
                <a:ea typeface="Carlito" pitchFamily="34" charset="-122"/>
                <a:cs typeface="Carlito" pitchFamily="34" charset="-120"/>
              </a:rPr>
              <a:t> AI generated this in 6 seconds. Run ansible-lint + ansible-playbook --check before applying.</a:t>
            </a:r>
            <a:endParaRPr lang="en-US" sz="9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6831992" cy="746692"/>
          </a:xfrm>
          <a:prstGeom prst="rect">
            <a:avLst/>
          </a:prstGeom>
          <a:noFill/>
          <a:ln/>
        </p:spPr>
        <p:txBody>
          <a:bodyPr wrap="square" lIns="0" tIns="0" rIns="0" bIns="0" rtlCol="0" anchor="t"/>
          <a:lstStyle/>
          <a:p>
            <a:pPr marL="0" indent="0" algn="l">
              <a:lnSpc>
                <a:spcPts val="2723"/>
              </a:lnSpc>
              <a:buNone/>
            </a:pPr>
            <a:r>
              <a:rPr lang="en-US" sz="2475" b="1" kern="0" spc="-28" dirty="0">
                <a:solidFill>
                  <a:srgbClr val="0F172A"/>
                </a:solidFill>
                <a:latin typeface="Carlito" pitchFamily="34" charset="0"/>
                <a:ea typeface="Carlito" pitchFamily="34" charset="-122"/>
                <a:cs typeface="Carlito" pitchFamily="34" charset="-120"/>
              </a:rPr>
              <a:t>Validation &amp; Safety Considerations for AI-Generated IaC</a:t>
            </a:r>
            <a:endParaRPr lang="en-US" sz="2475" dirty="0"/>
          </a:p>
        </p:txBody>
      </p:sp>
      <p:sp>
        <p:nvSpPr>
          <p:cNvPr id="3" name="Text 1"/>
          <p:cNvSpPr/>
          <p:nvPr/>
        </p:nvSpPr>
        <p:spPr>
          <a:xfrm>
            <a:off x="457200" y="1234306"/>
            <a:ext cx="571500" cy="42863"/>
          </a:xfrm>
          <a:prstGeom prst="roundRect">
            <a:avLst>
              <a:gd name="adj" fmla="val 66666"/>
            </a:avLst>
          </a:prstGeom>
          <a:solidFill>
            <a:srgbClr val="F97316"/>
          </a:solidFill>
          <a:ln/>
        </p:spPr>
        <p:txBody>
          <a:bodyPr wrap="square" rtlCol="0" anchor="ctr"/>
          <a:lstStyle/>
          <a:p>
            <a:pPr marL="0" indent="0">
              <a:buNone/>
            </a:pPr>
            <a:endParaRPr lang="en-US" dirty="0"/>
          </a:p>
        </p:txBody>
      </p:sp>
      <p:sp>
        <p:nvSpPr>
          <p:cNvPr id="4" name="Text 2"/>
          <p:cNvSpPr/>
          <p:nvPr/>
        </p:nvSpPr>
        <p:spPr>
          <a:xfrm>
            <a:off x="7289192" y="604317"/>
            <a:ext cx="1397608" cy="525735"/>
          </a:xfrm>
          <a:prstGeom prst="roundRect">
            <a:avLst>
              <a:gd name="adj" fmla="val 1809938"/>
            </a:avLst>
          </a:prstGeom>
          <a:solidFill>
            <a:srgbClr val="FED7AA"/>
          </a:solidFill>
          <a:ln/>
        </p:spPr>
        <p:txBody>
          <a:bodyPr wrap="square" rtlCol="0" anchor="ctr"/>
          <a:lstStyle/>
          <a:p>
            <a:pPr marL="0" indent="0">
              <a:buNone/>
            </a:pPr>
            <a:endParaRPr lang="en-US" dirty="0"/>
          </a:p>
        </p:txBody>
      </p:sp>
      <p:sp>
        <p:nvSpPr>
          <p:cNvPr id="5" name="Text 3"/>
          <p:cNvSpPr/>
          <p:nvPr/>
        </p:nvSpPr>
        <p:spPr>
          <a:xfrm>
            <a:off x="7289192" y="604317"/>
            <a:ext cx="1397608" cy="567794"/>
          </a:xfrm>
          <a:prstGeom prst="rect">
            <a:avLst/>
          </a:prstGeom>
          <a:noFill/>
          <a:ln/>
        </p:spPr>
        <p:txBody>
          <a:bodyPr wrap="none" lIns="114300" tIns="42863" rIns="114300" bIns="42863" rtlCol="0" anchor="t"/>
          <a:lstStyle/>
          <a:p>
            <a:pPr marL="0" indent="0" algn="l">
              <a:lnSpc>
                <a:spcPts val="1733"/>
              </a:lnSpc>
              <a:buNone/>
            </a:pPr>
            <a:r>
              <a:rPr lang="en-US" sz="1238" b="1" kern="0" spc="28" dirty="0">
                <a:solidFill>
                  <a:srgbClr val="C2410C"/>
                </a:solidFill>
                <a:latin typeface="Liberation Sans Narrow" pitchFamily="34" charset="0"/>
                <a:ea typeface="Liberation Sans Narrow" pitchFamily="34" charset="-122"/>
                <a:cs typeface="Liberation Sans Narrow" pitchFamily="34" charset="-120"/>
              </a:rPr>
              <a:t>SECTION C · 3.14</a:t>
            </a:r>
            <a:endParaRPr lang="en-US" sz="1238" dirty="0"/>
          </a:p>
        </p:txBody>
      </p:sp>
      <p:sp>
        <p:nvSpPr>
          <p:cNvPr id="6" name="Text 4"/>
          <p:cNvSpPr/>
          <p:nvPr/>
        </p:nvSpPr>
        <p:spPr>
          <a:xfrm>
            <a:off x="457200" y="1362894"/>
            <a:ext cx="8229600" cy="216027"/>
          </a:xfrm>
          <a:prstGeom prst="rect">
            <a:avLst/>
          </a:prstGeom>
          <a:noFill/>
          <a:ln/>
        </p:spPr>
        <p:txBody>
          <a:bodyPr wrap="square" lIns="0" tIns="0" rIns="0" bIns="0" rtlCol="0" anchor="t"/>
          <a:lstStyle/>
          <a:p>
            <a:pPr marL="0" indent="0" algn="l">
              <a:lnSpc>
                <a:spcPts val="1575"/>
              </a:lnSpc>
              <a:buNone/>
            </a:pPr>
            <a:r>
              <a:rPr lang="en-US" sz="1125" dirty="0">
                <a:solidFill>
                  <a:srgbClr val="64748B"/>
                </a:solidFill>
                <a:latin typeface="Carlito" pitchFamily="34" charset="0"/>
                <a:ea typeface="Carlito" pitchFamily="34" charset="-122"/>
                <a:cs typeface="Carlito" pitchFamily="34" charset="-120"/>
              </a:rPr>
              <a:t>Six safety checks. ALL are mandatory before applying AI-generated code.</a:t>
            </a:r>
            <a:endParaRPr lang="en-US" sz="1125" dirty="0"/>
          </a:p>
        </p:txBody>
      </p:sp>
      <p:sp>
        <p:nvSpPr>
          <p:cNvPr id="7" name="Text 5"/>
          <p:cNvSpPr/>
          <p:nvPr/>
        </p:nvSpPr>
        <p:spPr>
          <a:xfrm>
            <a:off x="460772" y="1652215"/>
            <a:ext cx="2678906" cy="1317687"/>
          </a:xfrm>
          <a:prstGeom prst="roundRect">
            <a:avLst>
              <a:gd name="adj" fmla="val 10120"/>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8" name="Text 6"/>
          <p:cNvSpPr/>
          <p:nvPr/>
        </p:nvSpPr>
        <p:spPr>
          <a:xfrm>
            <a:off x="592931" y="1770087"/>
            <a:ext cx="200025" cy="200025"/>
          </a:xfrm>
          <a:prstGeom prst="rect">
            <a:avLst/>
          </a:prstGeom>
          <a:noFill/>
          <a:ln/>
        </p:spPr>
        <p:txBody>
          <a:bodyPr wrap="none" lIns="0" tIns="0" rIns="0" bIns="0" rtlCol="0" anchor="ctr"/>
          <a:lstStyle/>
          <a:p>
            <a:pPr marL="0" indent="0" algn="ctr">
              <a:buNone/>
            </a:pPr>
            <a:r>
              <a:rPr lang="en-US" sz="1969" dirty="0">
                <a:solidFill>
                  <a:srgbClr val="F97316"/>
                </a:solidFill>
                <a:latin typeface="Segoe UI Symbol" pitchFamily="34" charset="0"/>
                <a:ea typeface="Segoe UI Symbol" pitchFamily="34" charset="-122"/>
                <a:cs typeface="Segoe UI Symbol" pitchFamily="34" charset="-120"/>
              </a:rPr>
              <a:t>▤</a:t>
            </a:r>
            <a:endParaRPr lang="en-US" sz="1969" dirty="0"/>
          </a:p>
        </p:txBody>
      </p:sp>
      <p:sp>
        <p:nvSpPr>
          <p:cNvPr id="9" name="Text 7"/>
          <p:cNvSpPr/>
          <p:nvPr/>
        </p:nvSpPr>
        <p:spPr>
          <a:xfrm>
            <a:off x="864394" y="1780133"/>
            <a:ext cx="2143125" cy="194328"/>
          </a:xfrm>
          <a:prstGeom prst="rect">
            <a:avLst/>
          </a:prstGeom>
          <a:noFill/>
          <a:ln/>
        </p:spPr>
        <p:txBody>
          <a:bodyPr wrap="none" lIns="0" tIns="0" rIns="0" bIns="0" rtlCol="0" anchor="t"/>
          <a:lstStyle/>
          <a:p>
            <a:pPr marL="0" indent="0" algn="l">
              <a:lnSpc>
                <a:spcPts val="1418"/>
              </a:lnSpc>
              <a:buNone/>
            </a:pPr>
            <a:r>
              <a:rPr lang="en-US" sz="1013" b="1" dirty="0">
                <a:solidFill>
                  <a:srgbClr val="F97316"/>
                </a:solidFill>
                <a:latin typeface="Liberation Sans Narrow" pitchFamily="34" charset="0"/>
                <a:ea typeface="Liberation Sans Narrow" pitchFamily="34" charset="-122"/>
                <a:cs typeface="Liberation Sans Narrow" pitchFamily="34" charset="-120"/>
              </a:rPr>
              <a:t>01</a:t>
            </a:r>
            <a:endParaRPr lang="en-US" sz="1013" dirty="0"/>
          </a:p>
        </p:txBody>
      </p:sp>
      <p:sp>
        <p:nvSpPr>
          <p:cNvPr id="10" name="Text 8"/>
          <p:cNvSpPr/>
          <p:nvPr/>
        </p:nvSpPr>
        <p:spPr>
          <a:xfrm>
            <a:off x="592931" y="2012975"/>
            <a:ext cx="2524316" cy="175884"/>
          </a:xfrm>
          <a:prstGeom prst="rect">
            <a:avLst/>
          </a:prstGeom>
          <a:noFill/>
          <a:ln/>
        </p:spPr>
        <p:txBody>
          <a:bodyPr wrap="square" lIns="0" tIns="0" rIns="0" bIns="0" rtlCol="0" anchor="t"/>
          <a:lstStyle/>
          <a:p>
            <a:pPr marL="0" indent="0" algn="l">
              <a:lnSpc>
                <a:spcPts val="1283"/>
              </a:lnSpc>
              <a:buNone/>
            </a:pPr>
            <a:r>
              <a:rPr lang="en-US" sz="1069" b="1" dirty="0">
                <a:solidFill>
                  <a:srgbClr val="0F172A"/>
                </a:solidFill>
                <a:latin typeface="Carlito" pitchFamily="34" charset="0"/>
                <a:ea typeface="Carlito" pitchFamily="34" charset="-122"/>
                <a:cs typeface="Carlito" pitchFamily="34" charset="-120"/>
              </a:rPr>
              <a:t>Syntax Lint (tflint, ansible-lint)</a:t>
            </a:r>
            <a:endParaRPr lang="en-US" sz="1069" dirty="0"/>
          </a:p>
        </p:txBody>
      </p:sp>
      <p:sp>
        <p:nvSpPr>
          <p:cNvPr id="11" name="Text 9"/>
          <p:cNvSpPr/>
          <p:nvPr/>
        </p:nvSpPr>
        <p:spPr>
          <a:xfrm>
            <a:off x="592931" y="2218692"/>
            <a:ext cx="2414588" cy="477243"/>
          </a:xfrm>
          <a:prstGeom prst="rect">
            <a:avLst/>
          </a:prstGeom>
          <a:noFill/>
          <a:ln/>
        </p:spPr>
        <p:txBody>
          <a:bodyPr wrap="square" lIns="0" tIns="0" rIns="0" bIns="0" rtlCol="0" anchor="t"/>
          <a:lstStyle/>
          <a:p>
            <a:pPr marL="0" indent="0" algn="l">
              <a:lnSpc>
                <a:spcPts val="1142"/>
              </a:lnSpc>
              <a:buNone/>
            </a:pPr>
            <a:r>
              <a:rPr lang="en-US" sz="800" dirty="0">
                <a:solidFill>
                  <a:srgbClr val="334155"/>
                </a:solidFill>
                <a:latin typeface="Carlito" pitchFamily="34" charset="0"/>
                <a:ea typeface="Carlito" pitchFamily="34" charset="-122"/>
                <a:cs typeface="Carlito" pitchFamily="34" charset="-120"/>
              </a:rPr>
              <a:t>Catch syntax errors, deprecated syntax, missing required fields. AI hallucinates syntax less often than humans, but it still happens.</a:t>
            </a:r>
            <a:endParaRPr lang="en-US" sz="800" dirty="0"/>
          </a:p>
        </p:txBody>
      </p:sp>
      <p:sp>
        <p:nvSpPr>
          <p:cNvPr id="12" name="Text 10"/>
          <p:cNvSpPr/>
          <p:nvPr/>
        </p:nvSpPr>
        <p:spPr>
          <a:xfrm>
            <a:off x="3232547" y="1652215"/>
            <a:ext cx="2678906" cy="1317687"/>
          </a:xfrm>
          <a:prstGeom prst="roundRect">
            <a:avLst>
              <a:gd name="adj" fmla="val 10120"/>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13" name="Text 11"/>
          <p:cNvSpPr/>
          <p:nvPr/>
        </p:nvSpPr>
        <p:spPr>
          <a:xfrm>
            <a:off x="3364706" y="1770087"/>
            <a:ext cx="200025" cy="200025"/>
          </a:xfrm>
          <a:prstGeom prst="rect">
            <a:avLst/>
          </a:prstGeom>
          <a:noFill/>
          <a:ln/>
        </p:spPr>
        <p:txBody>
          <a:bodyPr wrap="none" lIns="0" tIns="0" rIns="0" bIns="0" rtlCol="0" anchor="ctr"/>
          <a:lstStyle/>
          <a:p>
            <a:pPr marL="0" indent="0" algn="ctr">
              <a:buNone/>
            </a:pPr>
            <a:r>
              <a:rPr lang="en-US" sz="1969" dirty="0">
                <a:solidFill>
                  <a:srgbClr val="F97316"/>
                </a:solidFill>
                <a:latin typeface="Segoe UI Symbol" pitchFamily="34" charset="0"/>
                <a:ea typeface="Segoe UI Symbol" pitchFamily="34" charset="-122"/>
                <a:cs typeface="Segoe UI Symbol" pitchFamily="34" charset="-120"/>
              </a:rPr>
              <a:t>⛨</a:t>
            </a:r>
            <a:endParaRPr lang="en-US" sz="1969" dirty="0"/>
          </a:p>
        </p:txBody>
      </p:sp>
      <p:sp>
        <p:nvSpPr>
          <p:cNvPr id="14" name="Text 12"/>
          <p:cNvSpPr/>
          <p:nvPr/>
        </p:nvSpPr>
        <p:spPr>
          <a:xfrm>
            <a:off x="3636169" y="1780133"/>
            <a:ext cx="2143125" cy="194328"/>
          </a:xfrm>
          <a:prstGeom prst="rect">
            <a:avLst/>
          </a:prstGeom>
          <a:noFill/>
          <a:ln/>
        </p:spPr>
        <p:txBody>
          <a:bodyPr wrap="none" lIns="0" tIns="0" rIns="0" bIns="0" rtlCol="0" anchor="t"/>
          <a:lstStyle/>
          <a:p>
            <a:pPr marL="0" indent="0" algn="l">
              <a:lnSpc>
                <a:spcPts val="1418"/>
              </a:lnSpc>
              <a:buNone/>
            </a:pPr>
            <a:r>
              <a:rPr lang="en-US" sz="1013" b="1" dirty="0">
                <a:solidFill>
                  <a:srgbClr val="F97316"/>
                </a:solidFill>
                <a:latin typeface="Liberation Sans Narrow" pitchFamily="34" charset="0"/>
                <a:ea typeface="Liberation Sans Narrow" pitchFamily="34" charset="-122"/>
                <a:cs typeface="Liberation Sans Narrow" pitchFamily="34" charset="-120"/>
              </a:rPr>
              <a:t>02</a:t>
            </a:r>
            <a:endParaRPr lang="en-US" sz="1013" dirty="0"/>
          </a:p>
        </p:txBody>
      </p:sp>
      <p:sp>
        <p:nvSpPr>
          <p:cNvPr id="15" name="Text 13"/>
          <p:cNvSpPr/>
          <p:nvPr/>
        </p:nvSpPr>
        <p:spPr>
          <a:xfrm>
            <a:off x="3364706" y="2012975"/>
            <a:ext cx="2524316" cy="175884"/>
          </a:xfrm>
          <a:prstGeom prst="rect">
            <a:avLst/>
          </a:prstGeom>
          <a:noFill/>
          <a:ln/>
        </p:spPr>
        <p:txBody>
          <a:bodyPr wrap="square" lIns="0" tIns="0" rIns="0" bIns="0" rtlCol="0" anchor="t"/>
          <a:lstStyle/>
          <a:p>
            <a:pPr marL="0" indent="0" algn="l">
              <a:lnSpc>
                <a:spcPts val="1283"/>
              </a:lnSpc>
              <a:buNone/>
            </a:pPr>
            <a:r>
              <a:rPr lang="en-US" sz="1069" b="1" dirty="0">
                <a:solidFill>
                  <a:srgbClr val="0F172A"/>
                </a:solidFill>
                <a:latin typeface="Carlito" pitchFamily="34" charset="0"/>
                <a:ea typeface="Carlito" pitchFamily="34" charset="-122"/>
                <a:cs typeface="Carlito" pitchFamily="34" charset="-120"/>
              </a:rPr>
              <a:t>Policy Scan (Checkov, Sentinel)</a:t>
            </a:r>
            <a:endParaRPr lang="en-US" sz="1069" dirty="0"/>
          </a:p>
        </p:txBody>
      </p:sp>
      <p:sp>
        <p:nvSpPr>
          <p:cNvPr id="16" name="Text 14"/>
          <p:cNvSpPr/>
          <p:nvPr/>
        </p:nvSpPr>
        <p:spPr>
          <a:xfrm>
            <a:off x="3364706" y="2218692"/>
            <a:ext cx="2414588" cy="477243"/>
          </a:xfrm>
          <a:prstGeom prst="rect">
            <a:avLst/>
          </a:prstGeom>
          <a:noFill/>
          <a:ln/>
        </p:spPr>
        <p:txBody>
          <a:bodyPr wrap="square" lIns="0" tIns="0" rIns="0" bIns="0" rtlCol="0" anchor="t"/>
          <a:lstStyle/>
          <a:p>
            <a:pPr marL="0" indent="0" algn="l">
              <a:lnSpc>
                <a:spcPts val="1142"/>
              </a:lnSpc>
              <a:buNone/>
            </a:pPr>
            <a:r>
              <a:rPr lang="en-US" sz="800" dirty="0">
                <a:solidFill>
                  <a:srgbClr val="334155"/>
                </a:solidFill>
                <a:latin typeface="Carlito" pitchFamily="34" charset="0"/>
                <a:ea typeface="Carlito" pitchFamily="34" charset="-122"/>
                <a:cs typeface="Carlito" pitchFamily="34" charset="-120"/>
              </a:rPr>
              <a:t>Catch security violations: open SSH to 0.0.0.0/0, missing encryption on S3, over-permissive IAM. AI does not know your security policies.</a:t>
            </a:r>
            <a:endParaRPr lang="en-US" sz="800" dirty="0"/>
          </a:p>
        </p:txBody>
      </p:sp>
      <p:sp>
        <p:nvSpPr>
          <p:cNvPr id="17" name="Text 15"/>
          <p:cNvSpPr/>
          <p:nvPr/>
        </p:nvSpPr>
        <p:spPr>
          <a:xfrm>
            <a:off x="6004322" y="1652215"/>
            <a:ext cx="2678906" cy="1317687"/>
          </a:xfrm>
          <a:prstGeom prst="roundRect">
            <a:avLst>
              <a:gd name="adj" fmla="val 10120"/>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18" name="Text 16"/>
          <p:cNvSpPr/>
          <p:nvPr/>
        </p:nvSpPr>
        <p:spPr>
          <a:xfrm>
            <a:off x="6136481" y="1770087"/>
            <a:ext cx="200025" cy="200025"/>
          </a:xfrm>
          <a:prstGeom prst="rect">
            <a:avLst/>
          </a:prstGeom>
          <a:noFill/>
          <a:ln/>
        </p:spPr>
        <p:txBody>
          <a:bodyPr wrap="none" lIns="0" tIns="0" rIns="0" bIns="0" rtlCol="0" anchor="ctr"/>
          <a:lstStyle/>
          <a:p>
            <a:pPr marL="0" indent="0" algn="ctr">
              <a:buNone/>
            </a:pPr>
            <a:r>
              <a:rPr lang="en-US" sz="1969" dirty="0">
                <a:solidFill>
                  <a:srgbClr val="F97316"/>
                </a:solidFill>
                <a:latin typeface="Segoe UI Symbol" pitchFamily="34" charset="0"/>
                <a:ea typeface="Segoe UI Symbol" pitchFamily="34" charset="-122"/>
                <a:cs typeface="Segoe UI Symbol" pitchFamily="34" charset="-120"/>
              </a:rPr>
              <a:t>◉</a:t>
            </a:r>
            <a:endParaRPr lang="en-US" sz="1969" dirty="0"/>
          </a:p>
        </p:txBody>
      </p:sp>
      <p:sp>
        <p:nvSpPr>
          <p:cNvPr id="19" name="Text 17"/>
          <p:cNvSpPr/>
          <p:nvPr/>
        </p:nvSpPr>
        <p:spPr>
          <a:xfrm>
            <a:off x="6407944" y="1780133"/>
            <a:ext cx="2143125" cy="194328"/>
          </a:xfrm>
          <a:prstGeom prst="rect">
            <a:avLst/>
          </a:prstGeom>
          <a:noFill/>
          <a:ln/>
        </p:spPr>
        <p:txBody>
          <a:bodyPr wrap="none" lIns="0" tIns="0" rIns="0" bIns="0" rtlCol="0" anchor="t"/>
          <a:lstStyle/>
          <a:p>
            <a:pPr marL="0" indent="0" algn="l">
              <a:lnSpc>
                <a:spcPts val="1418"/>
              </a:lnSpc>
              <a:buNone/>
            </a:pPr>
            <a:r>
              <a:rPr lang="en-US" sz="1013" b="1" dirty="0">
                <a:solidFill>
                  <a:srgbClr val="F97316"/>
                </a:solidFill>
                <a:latin typeface="Liberation Sans Narrow" pitchFamily="34" charset="0"/>
                <a:ea typeface="Liberation Sans Narrow" pitchFamily="34" charset="-122"/>
                <a:cs typeface="Liberation Sans Narrow" pitchFamily="34" charset="-120"/>
              </a:rPr>
              <a:t>03</a:t>
            </a:r>
            <a:endParaRPr lang="en-US" sz="1013" dirty="0"/>
          </a:p>
        </p:txBody>
      </p:sp>
      <p:sp>
        <p:nvSpPr>
          <p:cNvPr id="20" name="Text 18"/>
          <p:cNvSpPr/>
          <p:nvPr/>
        </p:nvSpPr>
        <p:spPr>
          <a:xfrm>
            <a:off x="6136481" y="2012975"/>
            <a:ext cx="2524315" cy="175884"/>
          </a:xfrm>
          <a:prstGeom prst="rect">
            <a:avLst/>
          </a:prstGeom>
          <a:noFill/>
          <a:ln/>
        </p:spPr>
        <p:txBody>
          <a:bodyPr wrap="square" lIns="0" tIns="0" rIns="0" bIns="0" rtlCol="0" anchor="t"/>
          <a:lstStyle/>
          <a:p>
            <a:pPr marL="0" indent="0" algn="l">
              <a:lnSpc>
                <a:spcPts val="1283"/>
              </a:lnSpc>
              <a:buNone/>
            </a:pPr>
            <a:r>
              <a:rPr lang="en-US" sz="1069" b="1" dirty="0">
                <a:solidFill>
                  <a:srgbClr val="0F172A"/>
                </a:solidFill>
                <a:latin typeface="Carlito" pitchFamily="34" charset="0"/>
                <a:ea typeface="Carlito" pitchFamily="34" charset="-122"/>
                <a:cs typeface="Carlito" pitchFamily="34" charset="-120"/>
              </a:rPr>
              <a:t>Dry-Run (terraform plan, --check)</a:t>
            </a:r>
            <a:endParaRPr lang="en-US" sz="1069" dirty="0"/>
          </a:p>
        </p:txBody>
      </p:sp>
      <p:sp>
        <p:nvSpPr>
          <p:cNvPr id="21" name="Text 19"/>
          <p:cNvSpPr/>
          <p:nvPr/>
        </p:nvSpPr>
        <p:spPr>
          <a:xfrm>
            <a:off x="6136481" y="2218692"/>
            <a:ext cx="2414588" cy="633338"/>
          </a:xfrm>
          <a:prstGeom prst="rect">
            <a:avLst/>
          </a:prstGeom>
          <a:noFill/>
          <a:ln/>
        </p:spPr>
        <p:txBody>
          <a:bodyPr wrap="square" lIns="0" tIns="0" rIns="0" bIns="0" rtlCol="0" anchor="t"/>
          <a:lstStyle/>
          <a:p>
            <a:pPr marL="0" indent="0" algn="l">
              <a:lnSpc>
                <a:spcPts val="1142"/>
              </a:lnSpc>
              <a:buNone/>
            </a:pPr>
            <a:r>
              <a:rPr lang="en-US" sz="800" dirty="0">
                <a:solidFill>
                  <a:srgbClr val="334155"/>
                </a:solidFill>
                <a:latin typeface="Carlito" pitchFamily="34" charset="0"/>
                <a:ea typeface="Carlito" pitchFamily="34" charset="-122"/>
                <a:cs typeface="Carlito" pitchFamily="34" charset="-120"/>
              </a:rPr>
              <a:t>Preview changes without applying. terraform plan shows what will be created/modified/destroyed. ansible-playbook --check shows what tasks would change.</a:t>
            </a:r>
            <a:endParaRPr lang="en-US" sz="800" dirty="0"/>
          </a:p>
        </p:txBody>
      </p:sp>
      <p:sp>
        <p:nvSpPr>
          <p:cNvPr id="22" name="Text 20"/>
          <p:cNvSpPr/>
          <p:nvPr/>
        </p:nvSpPr>
        <p:spPr>
          <a:xfrm>
            <a:off x="460772" y="3062771"/>
            <a:ext cx="2678906" cy="1172803"/>
          </a:xfrm>
          <a:prstGeom prst="roundRect">
            <a:avLst>
              <a:gd name="adj" fmla="val 11370"/>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23" name="Text 21"/>
          <p:cNvSpPr/>
          <p:nvPr/>
        </p:nvSpPr>
        <p:spPr>
          <a:xfrm>
            <a:off x="592931" y="3180643"/>
            <a:ext cx="200025" cy="200025"/>
          </a:xfrm>
          <a:prstGeom prst="rect">
            <a:avLst/>
          </a:prstGeom>
          <a:noFill/>
          <a:ln/>
        </p:spPr>
        <p:txBody>
          <a:bodyPr wrap="none" lIns="0" tIns="0" rIns="0" bIns="0" rtlCol="0" anchor="ctr"/>
          <a:lstStyle/>
          <a:p>
            <a:pPr marL="0" indent="0" algn="ctr">
              <a:buNone/>
            </a:pPr>
            <a:r>
              <a:rPr lang="en-US" sz="1969" dirty="0">
                <a:solidFill>
                  <a:srgbClr val="F97316"/>
                </a:solidFill>
                <a:latin typeface="Segoe UI Symbol" pitchFamily="34" charset="0"/>
                <a:ea typeface="Segoe UI Symbol" pitchFamily="34" charset="-122"/>
                <a:cs typeface="Segoe UI Symbol" pitchFamily="34" charset="-120"/>
              </a:rPr>
              <a:t>⚗</a:t>
            </a:r>
            <a:endParaRPr lang="en-US" sz="1969" dirty="0"/>
          </a:p>
        </p:txBody>
      </p:sp>
      <p:sp>
        <p:nvSpPr>
          <p:cNvPr id="24" name="Text 22"/>
          <p:cNvSpPr/>
          <p:nvPr/>
        </p:nvSpPr>
        <p:spPr>
          <a:xfrm>
            <a:off x="864394" y="3190689"/>
            <a:ext cx="2143125" cy="194328"/>
          </a:xfrm>
          <a:prstGeom prst="rect">
            <a:avLst/>
          </a:prstGeom>
          <a:noFill/>
          <a:ln/>
        </p:spPr>
        <p:txBody>
          <a:bodyPr wrap="none" lIns="0" tIns="0" rIns="0" bIns="0" rtlCol="0" anchor="t"/>
          <a:lstStyle/>
          <a:p>
            <a:pPr marL="0" indent="0" algn="l">
              <a:lnSpc>
                <a:spcPts val="1418"/>
              </a:lnSpc>
              <a:buNone/>
            </a:pPr>
            <a:r>
              <a:rPr lang="en-US" sz="1013" b="1" dirty="0">
                <a:solidFill>
                  <a:srgbClr val="F97316"/>
                </a:solidFill>
                <a:latin typeface="Liberation Sans Narrow" pitchFamily="34" charset="0"/>
                <a:ea typeface="Liberation Sans Narrow" pitchFamily="34" charset="-122"/>
                <a:cs typeface="Liberation Sans Narrow" pitchFamily="34" charset="-120"/>
              </a:rPr>
              <a:t>04</a:t>
            </a:r>
            <a:endParaRPr lang="en-US" sz="1013" dirty="0"/>
          </a:p>
        </p:txBody>
      </p:sp>
      <p:sp>
        <p:nvSpPr>
          <p:cNvPr id="25" name="Text 23"/>
          <p:cNvSpPr/>
          <p:nvPr/>
        </p:nvSpPr>
        <p:spPr>
          <a:xfrm>
            <a:off x="592931" y="3423531"/>
            <a:ext cx="2524316" cy="175884"/>
          </a:xfrm>
          <a:prstGeom prst="rect">
            <a:avLst/>
          </a:prstGeom>
          <a:noFill/>
          <a:ln/>
        </p:spPr>
        <p:txBody>
          <a:bodyPr wrap="square" lIns="0" tIns="0" rIns="0" bIns="0" rtlCol="0" anchor="t"/>
          <a:lstStyle/>
          <a:p>
            <a:pPr marL="0" indent="0" algn="l">
              <a:lnSpc>
                <a:spcPts val="1283"/>
              </a:lnSpc>
              <a:buNone/>
            </a:pPr>
            <a:r>
              <a:rPr lang="en-US" sz="1069" b="1" dirty="0">
                <a:solidFill>
                  <a:srgbClr val="0F172A"/>
                </a:solidFill>
                <a:latin typeface="Carlito" pitchFamily="34" charset="0"/>
                <a:ea typeface="Carlito" pitchFamily="34" charset="-122"/>
                <a:cs typeface="Carlito" pitchFamily="34" charset="-120"/>
              </a:rPr>
              <a:t>Sandbox Test (Terratest, Molecule)</a:t>
            </a:r>
            <a:endParaRPr lang="en-US" sz="1069" dirty="0"/>
          </a:p>
        </p:txBody>
      </p:sp>
      <p:sp>
        <p:nvSpPr>
          <p:cNvPr id="26" name="Text 24"/>
          <p:cNvSpPr/>
          <p:nvPr/>
        </p:nvSpPr>
        <p:spPr>
          <a:xfrm>
            <a:off x="592931" y="3629248"/>
            <a:ext cx="2414588" cy="477243"/>
          </a:xfrm>
          <a:prstGeom prst="rect">
            <a:avLst/>
          </a:prstGeom>
          <a:noFill/>
          <a:ln/>
        </p:spPr>
        <p:txBody>
          <a:bodyPr wrap="square" lIns="0" tIns="0" rIns="0" bIns="0" rtlCol="0" anchor="t"/>
          <a:lstStyle/>
          <a:p>
            <a:pPr marL="0" indent="0" algn="l">
              <a:lnSpc>
                <a:spcPts val="1142"/>
              </a:lnSpc>
              <a:buNone/>
            </a:pPr>
            <a:r>
              <a:rPr lang="en-US" sz="800" dirty="0">
                <a:solidFill>
                  <a:srgbClr val="334155"/>
                </a:solidFill>
                <a:latin typeface="Carlito" pitchFamily="34" charset="0"/>
                <a:ea typeface="Carlito" pitchFamily="34" charset="-122"/>
                <a:cs typeface="Carlito" pitchFamily="34" charset="-120"/>
              </a:rPr>
              <a:t>Deploy to an isolated sandbox account. Run integration tests. Tear down. Catches hallucinated resources that linters miss.</a:t>
            </a:r>
            <a:endParaRPr lang="en-US" sz="800" dirty="0"/>
          </a:p>
        </p:txBody>
      </p:sp>
      <p:sp>
        <p:nvSpPr>
          <p:cNvPr id="27" name="Text 25"/>
          <p:cNvSpPr/>
          <p:nvPr/>
        </p:nvSpPr>
        <p:spPr>
          <a:xfrm>
            <a:off x="3232547" y="3062771"/>
            <a:ext cx="2678906" cy="1172803"/>
          </a:xfrm>
          <a:prstGeom prst="roundRect">
            <a:avLst>
              <a:gd name="adj" fmla="val 11370"/>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28" name="Text 26"/>
          <p:cNvSpPr/>
          <p:nvPr/>
        </p:nvSpPr>
        <p:spPr>
          <a:xfrm>
            <a:off x="3364706" y="3180643"/>
            <a:ext cx="200025" cy="200025"/>
          </a:xfrm>
          <a:prstGeom prst="rect">
            <a:avLst/>
          </a:prstGeom>
          <a:noFill/>
          <a:ln/>
        </p:spPr>
        <p:txBody>
          <a:bodyPr wrap="none" lIns="0" tIns="0" rIns="0" bIns="0" rtlCol="0" anchor="ctr"/>
          <a:lstStyle/>
          <a:p>
            <a:pPr marL="0" indent="0" algn="ctr">
              <a:buNone/>
            </a:pPr>
            <a:r>
              <a:rPr lang="en-US" sz="1969" dirty="0">
                <a:solidFill>
                  <a:srgbClr val="F97316"/>
                </a:solidFill>
                <a:latin typeface="Segoe UI Symbol" pitchFamily="34" charset="0"/>
                <a:ea typeface="Segoe UI Symbol" pitchFamily="34" charset="-122"/>
                <a:cs typeface="Segoe UI Symbol" pitchFamily="34" charset="-120"/>
              </a:rPr>
              <a:t>✓</a:t>
            </a:r>
            <a:endParaRPr lang="en-US" sz="1969" dirty="0"/>
          </a:p>
        </p:txBody>
      </p:sp>
      <p:sp>
        <p:nvSpPr>
          <p:cNvPr id="29" name="Text 27"/>
          <p:cNvSpPr/>
          <p:nvPr/>
        </p:nvSpPr>
        <p:spPr>
          <a:xfrm>
            <a:off x="3636169" y="3190689"/>
            <a:ext cx="2143125" cy="194328"/>
          </a:xfrm>
          <a:prstGeom prst="rect">
            <a:avLst/>
          </a:prstGeom>
          <a:noFill/>
          <a:ln/>
        </p:spPr>
        <p:txBody>
          <a:bodyPr wrap="none" lIns="0" tIns="0" rIns="0" bIns="0" rtlCol="0" anchor="t"/>
          <a:lstStyle/>
          <a:p>
            <a:pPr marL="0" indent="0" algn="l">
              <a:lnSpc>
                <a:spcPts val="1418"/>
              </a:lnSpc>
              <a:buNone/>
            </a:pPr>
            <a:r>
              <a:rPr lang="en-US" sz="1013" b="1" dirty="0">
                <a:solidFill>
                  <a:srgbClr val="F97316"/>
                </a:solidFill>
                <a:latin typeface="Liberation Sans Narrow" pitchFamily="34" charset="0"/>
                <a:ea typeface="Liberation Sans Narrow" pitchFamily="34" charset="-122"/>
                <a:cs typeface="Liberation Sans Narrow" pitchFamily="34" charset="-120"/>
              </a:rPr>
              <a:t>05</a:t>
            </a:r>
            <a:endParaRPr lang="en-US" sz="1013" dirty="0"/>
          </a:p>
        </p:txBody>
      </p:sp>
      <p:sp>
        <p:nvSpPr>
          <p:cNvPr id="30" name="Text 28"/>
          <p:cNvSpPr/>
          <p:nvPr/>
        </p:nvSpPr>
        <p:spPr>
          <a:xfrm>
            <a:off x="3364706" y="3423531"/>
            <a:ext cx="2414588" cy="175884"/>
          </a:xfrm>
          <a:prstGeom prst="rect">
            <a:avLst/>
          </a:prstGeom>
          <a:noFill/>
          <a:ln/>
        </p:spPr>
        <p:txBody>
          <a:bodyPr wrap="none" lIns="0" tIns="0" rIns="0" bIns="0" rtlCol="0" anchor="t"/>
          <a:lstStyle/>
          <a:p>
            <a:pPr marL="0" indent="0" algn="l">
              <a:lnSpc>
                <a:spcPts val="1283"/>
              </a:lnSpc>
              <a:buNone/>
            </a:pPr>
            <a:r>
              <a:rPr lang="en-US" sz="1069" b="1" dirty="0">
                <a:solidFill>
                  <a:srgbClr val="0F172A"/>
                </a:solidFill>
                <a:latin typeface="Carlito" pitchFamily="34" charset="0"/>
                <a:ea typeface="Carlito" pitchFamily="34" charset="-122"/>
                <a:cs typeface="Carlito" pitchFamily="34" charset="-120"/>
              </a:rPr>
              <a:t>Code Review (Human)</a:t>
            </a:r>
            <a:endParaRPr lang="en-US" sz="1069" dirty="0"/>
          </a:p>
        </p:txBody>
      </p:sp>
      <p:sp>
        <p:nvSpPr>
          <p:cNvPr id="31" name="Text 29"/>
          <p:cNvSpPr/>
          <p:nvPr/>
        </p:nvSpPr>
        <p:spPr>
          <a:xfrm>
            <a:off x="3364706" y="3629248"/>
            <a:ext cx="2414588" cy="477243"/>
          </a:xfrm>
          <a:prstGeom prst="rect">
            <a:avLst/>
          </a:prstGeom>
          <a:noFill/>
          <a:ln/>
        </p:spPr>
        <p:txBody>
          <a:bodyPr wrap="square" lIns="0" tIns="0" rIns="0" bIns="0" rtlCol="0" anchor="t"/>
          <a:lstStyle/>
          <a:p>
            <a:pPr marL="0" indent="0" algn="l">
              <a:lnSpc>
                <a:spcPts val="1142"/>
              </a:lnSpc>
              <a:buNone/>
            </a:pPr>
            <a:r>
              <a:rPr lang="en-US" sz="800" dirty="0">
                <a:solidFill>
                  <a:srgbClr val="334155"/>
                </a:solidFill>
                <a:latin typeface="Carlito" pitchFamily="34" charset="0"/>
                <a:ea typeface="Carlito" pitchFamily="34" charset="-122"/>
                <a:cs typeface="Carlito" pitchFamily="34" charset="-120"/>
              </a:rPr>
              <a:t>A human reviews every line. AI does not replace review — it makes review faster by handling the boilerplate. The reviewer focuses on intent and policy.</a:t>
            </a:r>
            <a:endParaRPr lang="en-US" sz="800" dirty="0"/>
          </a:p>
        </p:txBody>
      </p:sp>
      <p:sp>
        <p:nvSpPr>
          <p:cNvPr id="32" name="Text 30"/>
          <p:cNvSpPr/>
          <p:nvPr/>
        </p:nvSpPr>
        <p:spPr>
          <a:xfrm>
            <a:off x="6004322" y="3062771"/>
            <a:ext cx="2678906" cy="1172803"/>
          </a:xfrm>
          <a:prstGeom prst="roundRect">
            <a:avLst>
              <a:gd name="adj" fmla="val 11370"/>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33" name="Text 31"/>
          <p:cNvSpPr/>
          <p:nvPr/>
        </p:nvSpPr>
        <p:spPr>
          <a:xfrm>
            <a:off x="6136481" y="3180643"/>
            <a:ext cx="200025" cy="200025"/>
          </a:xfrm>
          <a:prstGeom prst="rect">
            <a:avLst/>
          </a:prstGeom>
          <a:noFill/>
          <a:ln/>
        </p:spPr>
        <p:txBody>
          <a:bodyPr wrap="none" lIns="0" tIns="0" rIns="0" bIns="0" rtlCol="0" anchor="ctr"/>
          <a:lstStyle/>
          <a:p>
            <a:pPr marL="0" indent="0" algn="ctr">
              <a:buNone/>
            </a:pPr>
            <a:r>
              <a:rPr lang="en-US" sz="1969" dirty="0">
                <a:solidFill>
                  <a:srgbClr val="F97316"/>
                </a:solidFill>
                <a:latin typeface="Segoe UI Symbol" pitchFamily="34" charset="0"/>
                <a:ea typeface="Segoe UI Symbol" pitchFamily="34" charset="-122"/>
                <a:cs typeface="Segoe UI Symbol" pitchFamily="34" charset="-120"/>
              </a:rPr>
              <a:t>✦</a:t>
            </a:r>
            <a:endParaRPr lang="en-US" sz="1969" dirty="0"/>
          </a:p>
        </p:txBody>
      </p:sp>
      <p:sp>
        <p:nvSpPr>
          <p:cNvPr id="34" name="Text 32"/>
          <p:cNvSpPr/>
          <p:nvPr/>
        </p:nvSpPr>
        <p:spPr>
          <a:xfrm>
            <a:off x="6407944" y="3190689"/>
            <a:ext cx="2143125" cy="194328"/>
          </a:xfrm>
          <a:prstGeom prst="rect">
            <a:avLst/>
          </a:prstGeom>
          <a:noFill/>
          <a:ln/>
        </p:spPr>
        <p:txBody>
          <a:bodyPr wrap="none" lIns="0" tIns="0" rIns="0" bIns="0" rtlCol="0" anchor="t"/>
          <a:lstStyle/>
          <a:p>
            <a:pPr marL="0" indent="0" algn="l">
              <a:lnSpc>
                <a:spcPts val="1418"/>
              </a:lnSpc>
              <a:buNone/>
            </a:pPr>
            <a:r>
              <a:rPr lang="en-US" sz="1013" b="1" dirty="0">
                <a:solidFill>
                  <a:srgbClr val="F97316"/>
                </a:solidFill>
                <a:latin typeface="Liberation Sans Narrow" pitchFamily="34" charset="0"/>
                <a:ea typeface="Liberation Sans Narrow" pitchFamily="34" charset="-122"/>
                <a:cs typeface="Liberation Sans Narrow" pitchFamily="34" charset="-120"/>
              </a:rPr>
              <a:t>06</a:t>
            </a:r>
            <a:endParaRPr lang="en-US" sz="1013" dirty="0"/>
          </a:p>
        </p:txBody>
      </p:sp>
      <p:sp>
        <p:nvSpPr>
          <p:cNvPr id="35" name="Text 33"/>
          <p:cNvSpPr/>
          <p:nvPr/>
        </p:nvSpPr>
        <p:spPr>
          <a:xfrm>
            <a:off x="6136481" y="3423531"/>
            <a:ext cx="2414588" cy="175884"/>
          </a:xfrm>
          <a:prstGeom prst="rect">
            <a:avLst/>
          </a:prstGeom>
          <a:noFill/>
          <a:ln/>
        </p:spPr>
        <p:txBody>
          <a:bodyPr wrap="none" lIns="0" tIns="0" rIns="0" bIns="0" rtlCol="0" anchor="t"/>
          <a:lstStyle/>
          <a:p>
            <a:pPr marL="0" indent="0" algn="l">
              <a:lnSpc>
                <a:spcPts val="1283"/>
              </a:lnSpc>
              <a:buNone/>
            </a:pPr>
            <a:r>
              <a:rPr lang="en-US" sz="1069" b="1" dirty="0">
                <a:solidFill>
                  <a:srgbClr val="0F172A"/>
                </a:solidFill>
                <a:latin typeface="Carlito" pitchFamily="34" charset="0"/>
                <a:ea typeface="Carlito" pitchFamily="34" charset="-122"/>
                <a:cs typeface="Carlito" pitchFamily="34" charset="-120"/>
              </a:rPr>
              <a:t>Audit Trail</a:t>
            </a:r>
            <a:endParaRPr lang="en-US" sz="1069" dirty="0"/>
          </a:p>
        </p:txBody>
      </p:sp>
      <p:sp>
        <p:nvSpPr>
          <p:cNvPr id="36" name="Text 34"/>
          <p:cNvSpPr/>
          <p:nvPr/>
        </p:nvSpPr>
        <p:spPr>
          <a:xfrm>
            <a:off x="6136481" y="3629248"/>
            <a:ext cx="2414588" cy="477243"/>
          </a:xfrm>
          <a:prstGeom prst="rect">
            <a:avLst/>
          </a:prstGeom>
          <a:noFill/>
          <a:ln/>
        </p:spPr>
        <p:txBody>
          <a:bodyPr wrap="square" lIns="0" tIns="0" rIns="0" bIns="0" rtlCol="0" anchor="t"/>
          <a:lstStyle/>
          <a:p>
            <a:pPr marL="0" indent="0" algn="l">
              <a:lnSpc>
                <a:spcPts val="1142"/>
              </a:lnSpc>
              <a:buNone/>
            </a:pPr>
            <a:r>
              <a:rPr lang="en-US" sz="800" dirty="0">
                <a:solidFill>
                  <a:srgbClr val="334155"/>
                </a:solidFill>
                <a:latin typeface="Carlito" pitchFamily="34" charset="0"/>
                <a:ea typeface="Carlito" pitchFamily="34" charset="-122"/>
                <a:cs typeface="Carlito" pitchFamily="34" charset="-120"/>
              </a:rPr>
              <a:t>AI prompt + AI output + lint output + review PR + apply commit = full audit trail. Version-controlled. Reproducible.</a:t>
            </a:r>
            <a:endParaRPr lang="en-US" sz="800" dirty="0"/>
          </a:p>
        </p:txBody>
      </p:sp>
      <p:sp>
        <p:nvSpPr>
          <p:cNvPr id="37" name="Text 35"/>
          <p:cNvSpPr/>
          <p:nvPr/>
        </p:nvSpPr>
        <p:spPr>
          <a:xfrm>
            <a:off x="457200" y="4324871"/>
            <a:ext cx="8229600" cy="361429"/>
          </a:xfrm>
          <a:prstGeom prst="roundRect">
            <a:avLst>
              <a:gd name="adj" fmla="val 21083"/>
            </a:avLst>
          </a:prstGeom>
          <a:solidFill>
            <a:srgbClr val="FFF7ED"/>
          </a:solidFill>
          <a:ln/>
        </p:spPr>
        <p:txBody>
          <a:bodyPr wrap="square" rtlCol="0" anchor="ctr"/>
          <a:lstStyle/>
          <a:p>
            <a:pPr marL="0" indent="0">
              <a:buNone/>
            </a:pPr>
            <a:endParaRPr lang="en-US" dirty="0"/>
          </a:p>
        </p:txBody>
      </p:sp>
      <p:sp>
        <p:nvSpPr>
          <p:cNvPr id="38" name="Shape 36"/>
          <p:cNvSpPr/>
          <p:nvPr/>
        </p:nvSpPr>
        <p:spPr>
          <a:xfrm>
            <a:off x="478631" y="4324871"/>
            <a:ext cx="0" cy="361429"/>
          </a:xfrm>
          <a:prstGeom prst="line">
            <a:avLst/>
          </a:prstGeom>
          <a:noFill/>
          <a:ln w="42863">
            <a:solidFill>
              <a:srgbClr val="F97316"/>
            </a:solidFill>
            <a:prstDash val="solid"/>
          </a:ln>
        </p:spPr>
      </p:sp>
      <p:sp>
        <p:nvSpPr>
          <p:cNvPr id="39" name="Text 37"/>
          <p:cNvSpPr/>
          <p:nvPr/>
        </p:nvSpPr>
        <p:spPr>
          <a:xfrm>
            <a:off x="657225" y="4410596"/>
            <a:ext cx="7872413" cy="189979"/>
          </a:xfrm>
          <a:prstGeom prst="rect">
            <a:avLst/>
          </a:prstGeom>
          <a:noFill/>
          <a:ln/>
        </p:spPr>
        <p:txBody>
          <a:bodyPr wrap="square" lIns="0" tIns="0" rIns="0" bIns="0" rtlCol="0" anchor="t"/>
          <a:lstStyle/>
          <a:p>
            <a:pPr marL="0" indent="0" algn="l">
              <a:lnSpc>
                <a:spcPts val="1496"/>
              </a:lnSpc>
              <a:buNone/>
            </a:pPr>
            <a:r>
              <a:rPr lang="en-US" sz="1069" b="1" dirty="0">
                <a:solidFill>
                  <a:srgbClr val="C2410C"/>
                </a:solidFill>
                <a:latin typeface="Segoe UI Symbol" pitchFamily="34" charset="0"/>
                <a:ea typeface="Segoe UI Symbol" pitchFamily="34" charset="-122"/>
                <a:cs typeface="Segoe UI Symbol" pitchFamily="34" charset="-120"/>
              </a:rPr>
              <a:t>⚖</a:t>
            </a:r>
            <a:r>
              <a:rPr lang="en-US" sz="1069" b="1" dirty="0">
                <a:solidFill>
                  <a:srgbClr val="C2410C"/>
                </a:solidFill>
                <a:latin typeface="Carlito" pitchFamily="34" charset="0"/>
                <a:ea typeface="Carlito" pitchFamily="34" charset="-122"/>
                <a:cs typeface="Carlito" pitchFamily="34" charset="-120"/>
              </a:rPr>
              <a:t> Rule: AI accelerates IaC authoring. It does </a:t>
            </a:r>
            <a:r>
              <a:rPr lang="en-US" sz="1069" b="1" u="sng" dirty="0">
                <a:solidFill>
                  <a:srgbClr val="C2410C"/>
                </a:solidFill>
                <a:latin typeface="Carlito" pitchFamily="34" charset="0"/>
                <a:ea typeface="Carlito" pitchFamily="34" charset="-122"/>
                <a:cs typeface="Carlito" pitchFamily="34" charset="-120"/>
              </a:rPr>
              <a:t>NOT</a:t>
            </a:r>
            <a:r>
              <a:rPr lang="en-US" sz="1069" b="1" dirty="0">
                <a:solidFill>
                  <a:srgbClr val="C2410C"/>
                </a:solidFill>
                <a:latin typeface="Carlito" pitchFamily="34" charset="0"/>
                <a:ea typeface="Carlito" pitchFamily="34" charset="-122"/>
                <a:cs typeface="Carlito" pitchFamily="34" charset="-120"/>
              </a:rPr>
              <a:t> replace any safety check. Every check still happens — faster.</a:t>
            </a:r>
            <a:endParaRPr lang="en-US" sz="1069"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6847865" cy="373346"/>
          </a:xfrm>
          <a:prstGeom prst="rect">
            <a:avLst/>
          </a:prstGeom>
          <a:noFill/>
          <a:ln/>
        </p:spPr>
        <p:txBody>
          <a:bodyPr wrap="square" lIns="0" tIns="0" rIns="0" bIns="0" rtlCol="0" anchor="t"/>
          <a:lstStyle/>
          <a:p>
            <a:pPr marL="0" indent="0" algn="l">
              <a:lnSpc>
                <a:spcPts val="2723"/>
              </a:lnSpc>
              <a:buNone/>
            </a:pPr>
            <a:r>
              <a:rPr lang="en-US" sz="2475" b="1" kern="0" spc="-28" dirty="0">
                <a:solidFill>
                  <a:srgbClr val="0F172A"/>
                </a:solidFill>
                <a:latin typeface="Carlito" pitchFamily="34" charset="0"/>
                <a:ea typeface="Carlito" pitchFamily="34" charset="-122"/>
                <a:cs typeface="Carlito" pitchFamily="34" charset="-120"/>
              </a:rPr>
              <a:t>Why Lint IaC? The Case for Automated Checks</a:t>
            </a:r>
            <a:endParaRPr lang="en-US" sz="2475" dirty="0"/>
          </a:p>
        </p:txBody>
      </p:sp>
      <p:sp>
        <p:nvSpPr>
          <p:cNvPr id="3" name="Text 1"/>
          <p:cNvSpPr/>
          <p:nvPr/>
        </p:nvSpPr>
        <p:spPr>
          <a:xfrm>
            <a:off x="457200" y="888616"/>
            <a:ext cx="571500" cy="42863"/>
          </a:xfrm>
          <a:prstGeom prst="roundRect">
            <a:avLst>
              <a:gd name="adj" fmla="val 66666"/>
            </a:avLst>
          </a:prstGeom>
          <a:solidFill>
            <a:srgbClr val="F97316"/>
          </a:solidFill>
          <a:ln/>
        </p:spPr>
        <p:txBody>
          <a:bodyPr wrap="square" rtlCol="0" anchor="ctr"/>
          <a:lstStyle/>
          <a:p>
            <a:pPr marL="0" indent="0">
              <a:buNone/>
            </a:pPr>
            <a:endParaRPr lang="en-US" dirty="0"/>
          </a:p>
        </p:txBody>
      </p:sp>
      <p:sp>
        <p:nvSpPr>
          <p:cNvPr id="4" name="Text 2"/>
          <p:cNvSpPr/>
          <p:nvPr/>
        </p:nvSpPr>
        <p:spPr>
          <a:xfrm>
            <a:off x="7162860" y="528672"/>
            <a:ext cx="1546800" cy="331333"/>
          </a:xfrm>
          <a:prstGeom prst="roundRect">
            <a:avLst>
              <a:gd name="adj" fmla="val 2871877"/>
            </a:avLst>
          </a:prstGeom>
          <a:solidFill>
            <a:srgbClr val="FED7AA"/>
          </a:solidFill>
          <a:ln/>
        </p:spPr>
        <p:txBody>
          <a:bodyPr wrap="square" rtlCol="0" anchor="ctr"/>
          <a:lstStyle/>
          <a:p>
            <a:pPr marL="0" indent="0">
              <a:buNone/>
            </a:pPr>
            <a:endParaRPr lang="en-US" dirty="0"/>
          </a:p>
        </p:txBody>
      </p:sp>
      <p:sp>
        <p:nvSpPr>
          <p:cNvPr id="5" name="Text 3"/>
          <p:cNvSpPr/>
          <p:nvPr/>
        </p:nvSpPr>
        <p:spPr>
          <a:xfrm>
            <a:off x="7185720" y="541474"/>
            <a:ext cx="1501080" cy="305730"/>
          </a:xfrm>
          <a:prstGeom prst="rect">
            <a:avLst/>
          </a:prstGeom>
          <a:noFill/>
          <a:ln/>
        </p:spPr>
        <p:txBody>
          <a:bodyPr wrap="none" lIns="0" tIns="0" rIns="0" bIns="0" rtlCol="0" anchor="ctr"/>
          <a:lstStyle/>
          <a:p>
            <a:pPr marL="0" indent="0" algn="ctr">
              <a:lnSpc>
                <a:spcPts val="1733"/>
              </a:lnSpc>
              <a:buNone/>
            </a:pPr>
            <a:r>
              <a:rPr lang="en-US" sz="1238" b="1" kern="0" spc="28" dirty="0">
                <a:solidFill>
                  <a:srgbClr val="C2410C"/>
                </a:solidFill>
                <a:latin typeface="Liberation Sans Narrow" pitchFamily="34" charset="0"/>
                <a:ea typeface="Liberation Sans Narrow" pitchFamily="34" charset="-122"/>
                <a:cs typeface="Liberation Sans Narrow" pitchFamily="34" charset="-120"/>
              </a:rPr>
              <a:t>SECTION C · 3.15</a:t>
            </a:r>
            <a:endParaRPr lang="en-US" sz="1238" dirty="0"/>
          </a:p>
        </p:txBody>
      </p:sp>
      <p:sp>
        <p:nvSpPr>
          <p:cNvPr id="6" name="Text 4"/>
          <p:cNvSpPr/>
          <p:nvPr/>
        </p:nvSpPr>
        <p:spPr>
          <a:xfrm>
            <a:off x="457200" y="1074353"/>
            <a:ext cx="8229600" cy="216027"/>
          </a:xfrm>
          <a:prstGeom prst="rect">
            <a:avLst/>
          </a:prstGeom>
          <a:noFill/>
          <a:ln/>
        </p:spPr>
        <p:txBody>
          <a:bodyPr wrap="square" lIns="0" tIns="0" rIns="0" bIns="0" rtlCol="0" anchor="t"/>
          <a:lstStyle/>
          <a:p>
            <a:pPr marL="0" indent="0" algn="l">
              <a:lnSpc>
                <a:spcPts val="1575"/>
              </a:lnSpc>
              <a:buNone/>
            </a:pPr>
            <a:r>
              <a:rPr lang="en-US" sz="1125" dirty="0">
                <a:solidFill>
                  <a:srgbClr val="64748B"/>
                </a:solidFill>
                <a:latin typeface="Carlito" pitchFamily="34" charset="0"/>
                <a:ea typeface="Carlito" pitchFamily="34" charset="-122"/>
                <a:cs typeface="Carlito" pitchFamily="34" charset="-120"/>
              </a:rPr>
              <a:t>Numbers that explain why every IaC pipeline must include lint and policy stages.</a:t>
            </a:r>
            <a:endParaRPr lang="en-US" sz="1125" dirty="0"/>
          </a:p>
        </p:txBody>
      </p:sp>
      <p:sp>
        <p:nvSpPr>
          <p:cNvPr id="7" name="Text 5"/>
          <p:cNvSpPr/>
          <p:nvPr/>
        </p:nvSpPr>
        <p:spPr>
          <a:xfrm>
            <a:off x="460772" y="1406537"/>
            <a:ext cx="2640732" cy="2697547"/>
          </a:xfrm>
          <a:prstGeom prst="roundRect">
            <a:avLst>
              <a:gd name="adj" fmla="val 5771"/>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8" name="Text 6"/>
          <p:cNvSpPr/>
          <p:nvPr/>
        </p:nvSpPr>
        <p:spPr>
          <a:xfrm>
            <a:off x="2540719" y="1538697"/>
            <a:ext cx="400050" cy="400050"/>
          </a:xfrm>
          <a:prstGeom prst="rect">
            <a:avLst/>
          </a:prstGeom>
          <a:noFill/>
          <a:ln/>
        </p:spPr>
        <p:txBody>
          <a:bodyPr wrap="none" lIns="0" tIns="0" rIns="0" bIns="0" rtlCol="0" anchor="ctr"/>
          <a:lstStyle/>
          <a:p>
            <a:pPr marL="0" indent="0" algn="ctr">
              <a:buNone/>
            </a:pPr>
            <a:r>
              <a:rPr lang="en-US" sz="3938" dirty="0">
                <a:solidFill>
                  <a:srgbClr val="FED7AA"/>
                </a:solidFill>
                <a:latin typeface="Segoe UI Symbol" pitchFamily="34" charset="0"/>
                <a:ea typeface="Segoe UI Symbol" pitchFamily="34" charset="-122"/>
                <a:cs typeface="Segoe UI Symbol" pitchFamily="34" charset="-120"/>
              </a:rPr>
              <a:t>✦</a:t>
            </a:r>
            <a:endParaRPr lang="en-US" sz="3938" dirty="0"/>
          </a:p>
        </p:txBody>
      </p:sp>
      <p:sp>
        <p:nvSpPr>
          <p:cNvPr id="9" name="Text 7"/>
          <p:cNvSpPr/>
          <p:nvPr/>
        </p:nvSpPr>
        <p:spPr>
          <a:xfrm>
            <a:off x="627221" y="1598307"/>
            <a:ext cx="1143625" cy="220778"/>
          </a:xfrm>
          <a:prstGeom prst="roundRect">
            <a:avLst>
              <a:gd name="adj" fmla="val 4309974"/>
            </a:avLst>
          </a:prstGeom>
          <a:solidFill>
            <a:srgbClr val="FED7AA"/>
          </a:solidFill>
          <a:ln/>
        </p:spPr>
        <p:txBody>
          <a:bodyPr wrap="square" rtlCol="0" anchor="ctr"/>
          <a:lstStyle/>
          <a:p>
            <a:pPr marL="0" indent="0">
              <a:buNone/>
            </a:pPr>
            <a:endParaRPr lang="en-US" dirty="0"/>
          </a:p>
        </p:txBody>
      </p:sp>
      <p:sp>
        <p:nvSpPr>
          <p:cNvPr id="10" name="Text 8"/>
          <p:cNvSpPr/>
          <p:nvPr/>
        </p:nvSpPr>
        <p:spPr>
          <a:xfrm>
            <a:off x="650081" y="1610134"/>
            <a:ext cx="1097905" cy="197123"/>
          </a:xfrm>
          <a:prstGeom prst="rect">
            <a:avLst/>
          </a:prstGeom>
          <a:noFill/>
          <a:ln/>
        </p:spPr>
        <p:txBody>
          <a:bodyPr wrap="none" lIns="0" tIns="0" rIns="0" bIns="0" rtlCol="0" anchor="ctr"/>
          <a:lstStyle/>
          <a:p>
            <a:pPr marL="0" indent="0" algn="ctr">
              <a:lnSpc>
                <a:spcPts val="1103"/>
              </a:lnSpc>
              <a:buNone/>
            </a:pPr>
            <a:r>
              <a:rPr lang="en-US" sz="800" b="1" kern="0" spc="56" dirty="0">
                <a:solidFill>
                  <a:srgbClr val="C2410C"/>
                </a:solidFill>
                <a:latin typeface="Carlito" pitchFamily="34" charset="0"/>
                <a:ea typeface="Carlito" pitchFamily="34" charset="-122"/>
                <a:cs typeface="Carlito" pitchFamily="34" charset="-120"/>
              </a:rPr>
              <a:t>INCIDENT SOURCE</a:t>
            </a:r>
            <a:endParaRPr lang="en-US" sz="800" dirty="0"/>
          </a:p>
        </p:txBody>
      </p:sp>
      <p:sp>
        <p:nvSpPr>
          <p:cNvPr id="11" name="Text 9"/>
          <p:cNvSpPr/>
          <p:nvPr/>
        </p:nvSpPr>
        <p:spPr>
          <a:xfrm>
            <a:off x="650081" y="1892982"/>
            <a:ext cx="2262113" cy="678942"/>
          </a:xfrm>
          <a:prstGeom prst="rect">
            <a:avLst/>
          </a:prstGeom>
          <a:noFill/>
          <a:ln/>
        </p:spPr>
        <p:txBody>
          <a:bodyPr wrap="none" lIns="0" tIns="0" rIns="0" bIns="0" rtlCol="0" anchor="t"/>
          <a:lstStyle/>
          <a:p>
            <a:pPr marL="0" indent="0" algn="l">
              <a:lnSpc>
                <a:spcPts val="4950"/>
              </a:lnSpc>
              <a:buNone/>
            </a:pPr>
            <a:r>
              <a:rPr lang="en-US" sz="4950" b="1" kern="0" spc="-169" dirty="0">
                <a:solidFill>
                  <a:srgbClr val="F97316"/>
                </a:solidFill>
                <a:latin typeface="Liberation Sans Narrow" pitchFamily="34" charset="0"/>
                <a:ea typeface="Liberation Sans Narrow" pitchFamily="34" charset="-122"/>
                <a:cs typeface="Liberation Sans Narrow" pitchFamily="34" charset="-120"/>
              </a:rPr>
              <a:t>73%</a:t>
            </a:r>
            <a:endParaRPr lang="en-US" sz="4950" dirty="0"/>
          </a:p>
        </p:txBody>
      </p:sp>
      <p:sp>
        <p:nvSpPr>
          <p:cNvPr id="12" name="Text 10"/>
          <p:cNvSpPr/>
          <p:nvPr/>
        </p:nvSpPr>
        <p:spPr>
          <a:xfrm>
            <a:off x="650081" y="2607357"/>
            <a:ext cx="2262113" cy="805279"/>
          </a:xfrm>
          <a:prstGeom prst="rect">
            <a:avLst/>
          </a:prstGeom>
          <a:noFill/>
          <a:ln/>
        </p:spPr>
        <p:txBody>
          <a:bodyPr wrap="square" lIns="0" tIns="0" rIns="0" bIns="0" rtlCol="0" anchor="t"/>
          <a:lstStyle/>
          <a:p>
            <a:pPr marL="0" indent="0" algn="l">
              <a:lnSpc>
                <a:spcPts val="1468"/>
              </a:lnSpc>
              <a:buNone/>
            </a:pPr>
            <a:r>
              <a:rPr lang="en-US" sz="1013" dirty="0">
                <a:solidFill>
                  <a:srgbClr val="334155"/>
                </a:solidFill>
                <a:latin typeface="Carlito" pitchFamily="34" charset="0"/>
                <a:ea typeface="Carlito" pitchFamily="34" charset="-122"/>
                <a:cs typeface="Carlito" pitchFamily="34" charset="-120"/>
              </a:rPr>
              <a:t>Of production cloud security incidents trace back to misconfigured IaC — open security groups, over-permissive IAM, unencrypted storage.</a:t>
            </a:r>
            <a:endParaRPr lang="en-US" sz="1013" dirty="0"/>
          </a:p>
        </p:txBody>
      </p:sp>
      <p:sp>
        <p:nvSpPr>
          <p:cNvPr id="13" name="Text 11"/>
          <p:cNvSpPr/>
          <p:nvPr/>
        </p:nvSpPr>
        <p:spPr>
          <a:xfrm>
            <a:off x="3251522" y="1406537"/>
            <a:ext cx="2640843" cy="2697547"/>
          </a:xfrm>
          <a:prstGeom prst="roundRect">
            <a:avLst>
              <a:gd name="adj" fmla="val 5771"/>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14" name="Text 12"/>
          <p:cNvSpPr/>
          <p:nvPr/>
        </p:nvSpPr>
        <p:spPr>
          <a:xfrm>
            <a:off x="5331582" y="1538697"/>
            <a:ext cx="400050" cy="400050"/>
          </a:xfrm>
          <a:prstGeom prst="rect">
            <a:avLst/>
          </a:prstGeom>
          <a:noFill/>
          <a:ln/>
        </p:spPr>
        <p:txBody>
          <a:bodyPr wrap="none" lIns="0" tIns="0" rIns="0" bIns="0" rtlCol="0" anchor="ctr"/>
          <a:lstStyle/>
          <a:p>
            <a:pPr marL="0" indent="0" algn="ctr">
              <a:buNone/>
            </a:pPr>
            <a:r>
              <a:rPr lang="en-US" sz="3938" dirty="0">
                <a:solidFill>
                  <a:srgbClr val="FED7AA"/>
                </a:solidFill>
                <a:latin typeface="Segoe UI Symbol" pitchFamily="34" charset="0"/>
                <a:ea typeface="Segoe UI Symbol" pitchFamily="34" charset="-122"/>
                <a:cs typeface="Segoe UI Symbol" pitchFamily="34" charset="-120"/>
              </a:rPr>
              <a:t>$</a:t>
            </a:r>
            <a:endParaRPr lang="en-US" sz="3938" dirty="0"/>
          </a:p>
        </p:txBody>
      </p:sp>
      <p:sp>
        <p:nvSpPr>
          <p:cNvPr id="15" name="Text 13"/>
          <p:cNvSpPr/>
          <p:nvPr/>
        </p:nvSpPr>
        <p:spPr>
          <a:xfrm>
            <a:off x="3417972" y="1598307"/>
            <a:ext cx="929201" cy="220778"/>
          </a:xfrm>
          <a:prstGeom prst="roundRect">
            <a:avLst>
              <a:gd name="adj" fmla="val 4309974"/>
            </a:avLst>
          </a:prstGeom>
          <a:solidFill>
            <a:srgbClr val="FED7AA"/>
          </a:solidFill>
          <a:ln/>
        </p:spPr>
        <p:txBody>
          <a:bodyPr wrap="square" rtlCol="0" anchor="ctr"/>
          <a:lstStyle/>
          <a:p>
            <a:pPr marL="0" indent="0">
              <a:buNone/>
            </a:pPr>
            <a:endParaRPr lang="en-US" dirty="0"/>
          </a:p>
        </p:txBody>
      </p:sp>
      <p:sp>
        <p:nvSpPr>
          <p:cNvPr id="16" name="Text 14"/>
          <p:cNvSpPr/>
          <p:nvPr/>
        </p:nvSpPr>
        <p:spPr>
          <a:xfrm>
            <a:off x="3440832" y="1610134"/>
            <a:ext cx="883481" cy="197123"/>
          </a:xfrm>
          <a:prstGeom prst="rect">
            <a:avLst/>
          </a:prstGeom>
          <a:noFill/>
          <a:ln/>
        </p:spPr>
        <p:txBody>
          <a:bodyPr wrap="none" lIns="0" tIns="0" rIns="0" bIns="0" rtlCol="0" anchor="ctr"/>
          <a:lstStyle/>
          <a:p>
            <a:pPr marL="0" indent="0" algn="ctr">
              <a:lnSpc>
                <a:spcPts val="1103"/>
              </a:lnSpc>
              <a:buNone/>
            </a:pPr>
            <a:r>
              <a:rPr lang="en-US" sz="800" b="1" kern="0" spc="56" dirty="0">
                <a:solidFill>
                  <a:srgbClr val="C2410C"/>
                </a:solidFill>
                <a:latin typeface="Carlito" pitchFamily="34" charset="0"/>
                <a:ea typeface="Carlito" pitchFamily="34" charset="-122"/>
                <a:cs typeface="Carlito" pitchFamily="34" charset="-120"/>
              </a:rPr>
              <a:t>BREACH COST</a:t>
            </a:r>
            <a:endParaRPr lang="en-US" sz="800" dirty="0"/>
          </a:p>
        </p:txBody>
      </p:sp>
      <p:sp>
        <p:nvSpPr>
          <p:cNvPr id="17" name="Text 15"/>
          <p:cNvSpPr/>
          <p:nvPr/>
        </p:nvSpPr>
        <p:spPr>
          <a:xfrm>
            <a:off x="3440832" y="1892982"/>
            <a:ext cx="2262225" cy="678942"/>
          </a:xfrm>
          <a:prstGeom prst="rect">
            <a:avLst/>
          </a:prstGeom>
          <a:noFill/>
          <a:ln/>
        </p:spPr>
        <p:txBody>
          <a:bodyPr wrap="none" lIns="0" tIns="0" rIns="0" bIns="0" rtlCol="0" anchor="t"/>
          <a:lstStyle/>
          <a:p>
            <a:pPr marL="0" indent="0" algn="l">
              <a:lnSpc>
                <a:spcPts val="4950"/>
              </a:lnSpc>
              <a:buNone/>
            </a:pPr>
            <a:r>
              <a:rPr lang="en-US" sz="4950" b="1" kern="0" spc="-169" dirty="0">
                <a:solidFill>
                  <a:srgbClr val="F97316"/>
                </a:solidFill>
                <a:latin typeface="Liberation Sans Narrow" pitchFamily="34" charset="0"/>
                <a:ea typeface="Liberation Sans Narrow" pitchFamily="34" charset="-122"/>
                <a:cs typeface="Liberation Sans Narrow" pitchFamily="34" charset="-120"/>
              </a:rPr>
              <a:t>$5M</a:t>
            </a:r>
            <a:endParaRPr lang="en-US" sz="4950" dirty="0"/>
          </a:p>
        </p:txBody>
      </p:sp>
      <p:sp>
        <p:nvSpPr>
          <p:cNvPr id="18" name="Text 16"/>
          <p:cNvSpPr/>
          <p:nvPr/>
        </p:nvSpPr>
        <p:spPr>
          <a:xfrm>
            <a:off x="3440832" y="2607357"/>
            <a:ext cx="2262225" cy="603959"/>
          </a:xfrm>
          <a:prstGeom prst="rect">
            <a:avLst/>
          </a:prstGeom>
          <a:noFill/>
          <a:ln/>
        </p:spPr>
        <p:txBody>
          <a:bodyPr wrap="square" lIns="0" tIns="0" rIns="0" bIns="0" rtlCol="0" anchor="t"/>
          <a:lstStyle/>
          <a:p>
            <a:pPr marL="0" indent="0" algn="l">
              <a:lnSpc>
                <a:spcPts val="1468"/>
              </a:lnSpc>
              <a:buNone/>
            </a:pPr>
            <a:r>
              <a:rPr lang="en-US" sz="1013" dirty="0">
                <a:solidFill>
                  <a:srgbClr val="334155"/>
                </a:solidFill>
                <a:latin typeface="Carlito" pitchFamily="34" charset="0"/>
                <a:ea typeface="Carlito" pitchFamily="34" charset="-122"/>
                <a:cs typeface="Carlito" pitchFamily="34" charset="-120"/>
              </a:rPr>
              <a:t>Average cost of a single cloud security breach due to IaC misconfiguration (IBM Cost of a Data Breach report).</a:t>
            </a:r>
            <a:endParaRPr lang="en-US" sz="1013" dirty="0"/>
          </a:p>
        </p:txBody>
      </p:sp>
      <p:sp>
        <p:nvSpPr>
          <p:cNvPr id="19" name="Text 17"/>
          <p:cNvSpPr/>
          <p:nvPr/>
        </p:nvSpPr>
        <p:spPr>
          <a:xfrm>
            <a:off x="6042385" y="1406537"/>
            <a:ext cx="2640732" cy="2697547"/>
          </a:xfrm>
          <a:prstGeom prst="roundRect">
            <a:avLst>
              <a:gd name="adj" fmla="val 5771"/>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20" name="Text 18"/>
          <p:cNvSpPr/>
          <p:nvPr/>
        </p:nvSpPr>
        <p:spPr>
          <a:xfrm>
            <a:off x="8122332" y="1538697"/>
            <a:ext cx="400050" cy="400050"/>
          </a:xfrm>
          <a:prstGeom prst="rect">
            <a:avLst/>
          </a:prstGeom>
          <a:noFill/>
          <a:ln/>
        </p:spPr>
        <p:txBody>
          <a:bodyPr wrap="none" lIns="0" tIns="0" rIns="0" bIns="0" rtlCol="0" anchor="ctr"/>
          <a:lstStyle/>
          <a:p>
            <a:pPr marL="0" indent="0" algn="ctr">
              <a:buNone/>
            </a:pPr>
            <a:r>
              <a:rPr lang="en-US" sz="3938" dirty="0">
                <a:solidFill>
                  <a:srgbClr val="FED7AA"/>
                </a:solidFill>
                <a:latin typeface="Segoe UI Symbol" pitchFamily="34" charset="0"/>
                <a:ea typeface="Segoe UI Symbol" pitchFamily="34" charset="-122"/>
                <a:cs typeface="Segoe UI Symbol" pitchFamily="34" charset="-120"/>
              </a:rPr>
              <a:t>↘</a:t>
            </a:r>
            <a:endParaRPr lang="en-US" sz="3938" dirty="0"/>
          </a:p>
        </p:txBody>
      </p:sp>
      <p:sp>
        <p:nvSpPr>
          <p:cNvPr id="21" name="Text 19"/>
          <p:cNvSpPr/>
          <p:nvPr/>
        </p:nvSpPr>
        <p:spPr>
          <a:xfrm>
            <a:off x="6208834" y="1598307"/>
            <a:ext cx="1115831" cy="220778"/>
          </a:xfrm>
          <a:prstGeom prst="roundRect">
            <a:avLst>
              <a:gd name="adj" fmla="val 4309974"/>
            </a:avLst>
          </a:prstGeom>
          <a:solidFill>
            <a:srgbClr val="FED7AA"/>
          </a:solidFill>
          <a:ln/>
        </p:spPr>
        <p:txBody>
          <a:bodyPr wrap="square" rtlCol="0" anchor="ctr"/>
          <a:lstStyle/>
          <a:p>
            <a:pPr marL="0" indent="0">
              <a:buNone/>
            </a:pPr>
            <a:endParaRPr lang="en-US" dirty="0"/>
          </a:p>
        </p:txBody>
      </p:sp>
      <p:sp>
        <p:nvSpPr>
          <p:cNvPr id="22" name="Text 20"/>
          <p:cNvSpPr/>
          <p:nvPr/>
        </p:nvSpPr>
        <p:spPr>
          <a:xfrm>
            <a:off x="6231694" y="1610134"/>
            <a:ext cx="1070111" cy="197123"/>
          </a:xfrm>
          <a:prstGeom prst="rect">
            <a:avLst/>
          </a:prstGeom>
          <a:noFill/>
          <a:ln/>
        </p:spPr>
        <p:txBody>
          <a:bodyPr wrap="none" lIns="0" tIns="0" rIns="0" bIns="0" rtlCol="0" anchor="ctr"/>
          <a:lstStyle/>
          <a:p>
            <a:pPr marL="0" indent="0" algn="ctr">
              <a:lnSpc>
                <a:spcPts val="1103"/>
              </a:lnSpc>
              <a:buNone/>
            </a:pPr>
            <a:r>
              <a:rPr lang="en-US" sz="800" b="1" kern="0" spc="56" dirty="0">
                <a:solidFill>
                  <a:srgbClr val="C2410C"/>
                </a:solidFill>
                <a:latin typeface="Carlito" pitchFamily="34" charset="0"/>
                <a:ea typeface="Carlito" pitchFamily="34" charset="-122"/>
                <a:cs typeface="Carlito" pitchFamily="34" charset="-120"/>
              </a:rPr>
              <a:t>COST MULTIPLIER</a:t>
            </a:r>
            <a:endParaRPr lang="en-US" sz="800" dirty="0"/>
          </a:p>
        </p:txBody>
      </p:sp>
      <p:sp>
        <p:nvSpPr>
          <p:cNvPr id="23" name="Text 21"/>
          <p:cNvSpPr/>
          <p:nvPr/>
        </p:nvSpPr>
        <p:spPr>
          <a:xfrm>
            <a:off x="6231694" y="1892982"/>
            <a:ext cx="2262113" cy="678942"/>
          </a:xfrm>
          <a:prstGeom prst="rect">
            <a:avLst/>
          </a:prstGeom>
          <a:noFill/>
          <a:ln/>
        </p:spPr>
        <p:txBody>
          <a:bodyPr wrap="none" lIns="0" tIns="0" rIns="0" bIns="0" rtlCol="0" anchor="t"/>
          <a:lstStyle/>
          <a:p>
            <a:pPr marL="0" indent="0" algn="l">
              <a:lnSpc>
                <a:spcPts val="4950"/>
              </a:lnSpc>
              <a:buNone/>
            </a:pPr>
            <a:r>
              <a:rPr lang="en-US" sz="4950" b="1" kern="0" spc="-169" dirty="0">
                <a:solidFill>
                  <a:srgbClr val="F97316"/>
                </a:solidFill>
                <a:latin typeface="Liberation Sans Narrow" pitchFamily="34" charset="0"/>
                <a:ea typeface="Liberation Sans Narrow" pitchFamily="34" charset="-122"/>
                <a:cs typeface="Liberation Sans Narrow" pitchFamily="34" charset="-120"/>
              </a:rPr>
              <a:t>10x</a:t>
            </a:r>
            <a:endParaRPr lang="en-US" sz="4950" dirty="0"/>
          </a:p>
        </p:txBody>
      </p:sp>
      <p:sp>
        <p:nvSpPr>
          <p:cNvPr id="24" name="Text 22"/>
          <p:cNvSpPr/>
          <p:nvPr/>
        </p:nvSpPr>
        <p:spPr>
          <a:xfrm>
            <a:off x="6231694" y="2607357"/>
            <a:ext cx="2262113" cy="603959"/>
          </a:xfrm>
          <a:prstGeom prst="rect">
            <a:avLst/>
          </a:prstGeom>
          <a:noFill/>
          <a:ln/>
        </p:spPr>
        <p:txBody>
          <a:bodyPr wrap="square" lIns="0" tIns="0" rIns="0" bIns="0" rtlCol="0" anchor="t"/>
          <a:lstStyle/>
          <a:p>
            <a:pPr marL="0" indent="0" algn="l">
              <a:lnSpc>
                <a:spcPts val="1468"/>
              </a:lnSpc>
              <a:buNone/>
            </a:pPr>
            <a:r>
              <a:rPr lang="en-US" sz="1013" dirty="0">
                <a:solidFill>
                  <a:srgbClr val="334155"/>
                </a:solidFill>
                <a:latin typeface="Carlito" pitchFamily="34" charset="0"/>
                <a:ea typeface="Carlito" pitchFamily="34" charset="-122"/>
                <a:cs typeface="Carlito" pitchFamily="34" charset="-120"/>
              </a:rPr>
              <a:t>Cheaper to catch a policy violation in CI (lint stage) than in production (incident response).</a:t>
            </a:r>
            <a:endParaRPr lang="en-US" sz="1013" dirty="0"/>
          </a:p>
        </p:txBody>
      </p:sp>
      <p:sp>
        <p:nvSpPr>
          <p:cNvPr id="25" name="Text 23"/>
          <p:cNvSpPr/>
          <p:nvPr/>
        </p:nvSpPr>
        <p:spPr>
          <a:xfrm>
            <a:off x="457200" y="4250531"/>
            <a:ext cx="8229600" cy="435769"/>
          </a:xfrm>
          <a:prstGeom prst="roundRect">
            <a:avLst>
              <a:gd name="adj" fmla="val 17486"/>
            </a:avLst>
          </a:prstGeom>
          <a:solidFill>
            <a:srgbClr val="FFF7ED"/>
          </a:solidFill>
          <a:ln/>
        </p:spPr>
        <p:txBody>
          <a:bodyPr wrap="square" rtlCol="0" anchor="ctr"/>
          <a:lstStyle/>
          <a:p>
            <a:pPr marL="0" indent="0">
              <a:buNone/>
            </a:pPr>
            <a:endParaRPr lang="en-US" dirty="0"/>
          </a:p>
        </p:txBody>
      </p:sp>
      <p:sp>
        <p:nvSpPr>
          <p:cNvPr id="26" name="Shape 24"/>
          <p:cNvSpPr/>
          <p:nvPr/>
        </p:nvSpPr>
        <p:spPr>
          <a:xfrm>
            <a:off x="478631" y="4250531"/>
            <a:ext cx="0" cy="435769"/>
          </a:xfrm>
          <a:prstGeom prst="line">
            <a:avLst/>
          </a:prstGeom>
          <a:noFill/>
          <a:ln w="42863">
            <a:solidFill>
              <a:srgbClr val="F97316"/>
            </a:solidFill>
            <a:prstDash val="solid"/>
          </a:ln>
        </p:spPr>
      </p:sp>
      <p:sp>
        <p:nvSpPr>
          <p:cNvPr id="27" name="Text 25"/>
          <p:cNvSpPr/>
          <p:nvPr/>
        </p:nvSpPr>
        <p:spPr>
          <a:xfrm>
            <a:off x="657225" y="4364831"/>
            <a:ext cx="7872413" cy="207169"/>
          </a:xfrm>
          <a:prstGeom prst="rect">
            <a:avLst/>
          </a:prstGeom>
          <a:noFill/>
          <a:ln/>
        </p:spPr>
        <p:txBody>
          <a:bodyPr wrap="square" lIns="0" tIns="0" rIns="0" bIns="0" rtlCol="0" anchor="t"/>
          <a:lstStyle/>
          <a:p>
            <a:pPr marL="0" indent="0" algn="l">
              <a:lnSpc>
                <a:spcPts val="1631"/>
              </a:lnSpc>
              <a:buNone/>
            </a:pPr>
            <a:r>
              <a:rPr lang="en-US" sz="1125" b="1" dirty="0">
                <a:solidFill>
                  <a:srgbClr val="C2410C"/>
                </a:solidFill>
                <a:latin typeface="Segoe UI Symbol" pitchFamily="34" charset="0"/>
                <a:ea typeface="Segoe UI Symbol" pitchFamily="34" charset="-122"/>
                <a:cs typeface="Segoe UI Symbol" pitchFamily="34" charset="-120"/>
              </a:rPr>
              <a:t>⛨</a:t>
            </a:r>
            <a:r>
              <a:rPr lang="en-US" sz="1125" b="1" dirty="0">
                <a:solidFill>
                  <a:srgbClr val="C2410C"/>
                </a:solidFill>
                <a:latin typeface="Carlito" pitchFamily="34" charset="0"/>
                <a:ea typeface="Carlito" pitchFamily="34" charset="-122"/>
                <a:cs typeface="Carlito" pitchFamily="34" charset="-120"/>
              </a:rPr>
              <a:t> Linting IaC is not optional — it is the cheapest insurance policy you will ever buy. $0 cost, catches 73% of incidents.</a:t>
            </a:r>
            <a:endParaRPr lang="en-US" sz="1125"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3373664" cy="373346"/>
          </a:xfrm>
          <a:prstGeom prst="rect">
            <a:avLst/>
          </a:prstGeom>
          <a:noFill/>
          <a:ln/>
        </p:spPr>
        <p:txBody>
          <a:bodyPr wrap="square" lIns="0" tIns="0" rIns="0" bIns="0" rtlCol="0" anchor="t"/>
          <a:lstStyle/>
          <a:p>
            <a:pPr marL="0" indent="0" algn="l">
              <a:lnSpc>
                <a:spcPts val="2723"/>
              </a:lnSpc>
              <a:buNone/>
            </a:pPr>
            <a:r>
              <a:rPr lang="en-US" sz="2475" b="1" kern="0" spc="-28" dirty="0">
                <a:solidFill>
                  <a:srgbClr val="0F172A"/>
                </a:solidFill>
                <a:latin typeface="Carlito" pitchFamily="34" charset="0"/>
                <a:ea typeface="Carlito" pitchFamily="34" charset="-122"/>
                <a:cs typeface="Carlito" pitchFamily="34" charset="-120"/>
              </a:rPr>
              <a:t>tflint — Terraform Linter</a:t>
            </a:r>
            <a:endParaRPr lang="en-US" sz="2475" dirty="0"/>
          </a:p>
        </p:txBody>
      </p:sp>
      <p:sp>
        <p:nvSpPr>
          <p:cNvPr id="3" name="Text 1"/>
          <p:cNvSpPr/>
          <p:nvPr/>
        </p:nvSpPr>
        <p:spPr>
          <a:xfrm>
            <a:off x="457200" y="888616"/>
            <a:ext cx="571500" cy="42863"/>
          </a:xfrm>
          <a:prstGeom prst="roundRect">
            <a:avLst>
              <a:gd name="adj" fmla="val 66666"/>
            </a:avLst>
          </a:prstGeom>
          <a:solidFill>
            <a:srgbClr val="F97316"/>
          </a:solidFill>
          <a:ln/>
        </p:spPr>
        <p:txBody>
          <a:bodyPr wrap="square" rtlCol="0" anchor="ctr"/>
          <a:lstStyle/>
          <a:p>
            <a:pPr marL="0" indent="0">
              <a:buNone/>
            </a:pPr>
            <a:endParaRPr lang="en-US" dirty="0"/>
          </a:p>
        </p:txBody>
      </p:sp>
      <p:sp>
        <p:nvSpPr>
          <p:cNvPr id="4" name="Text 2"/>
          <p:cNvSpPr/>
          <p:nvPr/>
        </p:nvSpPr>
        <p:spPr>
          <a:xfrm>
            <a:off x="7162860" y="528672"/>
            <a:ext cx="1546800" cy="331333"/>
          </a:xfrm>
          <a:prstGeom prst="roundRect">
            <a:avLst>
              <a:gd name="adj" fmla="val 2871877"/>
            </a:avLst>
          </a:prstGeom>
          <a:solidFill>
            <a:srgbClr val="FED7AA"/>
          </a:solidFill>
          <a:ln/>
        </p:spPr>
        <p:txBody>
          <a:bodyPr wrap="square" rtlCol="0" anchor="ctr"/>
          <a:lstStyle/>
          <a:p>
            <a:pPr marL="0" indent="0">
              <a:buNone/>
            </a:pPr>
            <a:endParaRPr lang="en-US" dirty="0"/>
          </a:p>
        </p:txBody>
      </p:sp>
      <p:sp>
        <p:nvSpPr>
          <p:cNvPr id="5" name="Text 3"/>
          <p:cNvSpPr/>
          <p:nvPr/>
        </p:nvSpPr>
        <p:spPr>
          <a:xfrm>
            <a:off x="7185720" y="541474"/>
            <a:ext cx="1501080" cy="305730"/>
          </a:xfrm>
          <a:prstGeom prst="rect">
            <a:avLst/>
          </a:prstGeom>
          <a:noFill/>
          <a:ln/>
        </p:spPr>
        <p:txBody>
          <a:bodyPr wrap="none" lIns="0" tIns="0" rIns="0" bIns="0" rtlCol="0" anchor="ctr"/>
          <a:lstStyle/>
          <a:p>
            <a:pPr marL="0" indent="0" algn="ctr">
              <a:lnSpc>
                <a:spcPts val="1733"/>
              </a:lnSpc>
              <a:buNone/>
            </a:pPr>
            <a:r>
              <a:rPr lang="en-US" sz="1238" b="1" kern="0" spc="28" dirty="0">
                <a:solidFill>
                  <a:srgbClr val="C2410C"/>
                </a:solidFill>
                <a:latin typeface="Liberation Sans Narrow" pitchFamily="34" charset="0"/>
                <a:ea typeface="Liberation Sans Narrow" pitchFamily="34" charset="-122"/>
                <a:cs typeface="Liberation Sans Narrow" pitchFamily="34" charset="-120"/>
              </a:rPr>
              <a:t>SECTION C · 3.16</a:t>
            </a:r>
            <a:endParaRPr lang="en-US" sz="1238" dirty="0"/>
          </a:p>
        </p:txBody>
      </p:sp>
      <p:sp>
        <p:nvSpPr>
          <p:cNvPr id="6" name="Text 4"/>
          <p:cNvSpPr/>
          <p:nvPr/>
        </p:nvSpPr>
        <p:spPr>
          <a:xfrm>
            <a:off x="460772" y="1049350"/>
            <a:ext cx="4519092" cy="3633378"/>
          </a:xfrm>
          <a:prstGeom prst="roundRect">
            <a:avLst>
              <a:gd name="adj" fmla="val 3670"/>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7" name="Shape 5"/>
          <p:cNvSpPr/>
          <p:nvPr/>
        </p:nvSpPr>
        <p:spPr>
          <a:xfrm>
            <a:off x="621506" y="1822996"/>
            <a:ext cx="4197623" cy="0"/>
          </a:xfrm>
          <a:prstGeom prst="line">
            <a:avLst/>
          </a:prstGeom>
          <a:noFill/>
          <a:ln w="7144">
            <a:solidFill>
              <a:srgbClr val="CBD5E1"/>
            </a:solidFill>
            <a:prstDash val="dash"/>
          </a:ln>
        </p:spPr>
      </p:sp>
      <p:sp>
        <p:nvSpPr>
          <p:cNvPr id="8" name="Text 6"/>
          <p:cNvSpPr/>
          <p:nvPr/>
        </p:nvSpPr>
        <p:spPr>
          <a:xfrm>
            <a:off x="621506" y="1252947"/>
            <a:ext cx="434340" cy="495040"/>
          </a:xfrm>
          <a:prstGeom prst="rect">
            <a:avLst/>
          </a:prstGeom>
          <a:noFill/>
          <a:ln/>
        </p:spPr>
        <p:txBody>
          <a:bodyPr wrap="none" lIns="0" tIns="0" rIns="0" bIns="0" rtlCol="0" anchor="t"/>
          <a:lstStyle/>
          <a:p>
            <a:pPr marL="0" indent="0" algn="l">
              <a:lnSpc>
                <a:spcPts val="1463"/>
              </a:lnSpc>
              <a:buNone/>
            </a:pPr>
            <a:r>
              <a:rPr lang="en-US" sz="1463" b="1" dirty="0">
                <a:solidFill>
                  <a:srgbClr val="F97316"/>
                </a:solidFill>
                <a:latin typeface="Liberation Sans Narrow" pitchFamily="34" charset="0"/>
                <a:ea typeface="Liberation Sans Narrow" pitchFamily="34" charset="-122"/>
                <a:cs typeface="Liberation Sans Narrow" pitchFamily="34" charset="-120"/>
              </a:rPr>
              <a:t>01</a:t>
            </a:r>
            <a:endParaRPr lang="en-US" sz="1463" dirty="0"/>
          </a:p>
        </p:txBody>
      </p:sp>
      <p:sp>
        <p:nvSpPr>
          <p:cNvPr id="9" name="Text 7"/>
          <p:cNvSpPr/>
          <p:nvPr/>
        </p:nvSpPr>
        <p:spPr>
          <a:xfrm>
            <a:off x="992981" y="1252947"/>
            <a:ext cx="3826148" cy="156854"/>
          </a:xfrm>
          <a:prstGeom prst="rect">
            <a:avLst/>
          </a:prstGeom>
          <a:noFill/>
          <a:ln/>
        </p:spPr>
        <p:txBody>
          <a:bodyPr wrap="none" lIns="0" tIns="0" rIns="0" bIns="0" rtlCol="0" anchor="t">
            <a:normAutofit fontScale="92500"/>
          </a:bodyPr>
          <a:lstStyle/>
          <a:p>
            <a:pPr marL="0" indent="0" algn="l">
              <a:lnSpc>
                <a:spcPts val="1283"/>
              </a:lnSpc>
              <a:buNone/>
            </a:pPr>
            <a:r>
              <a:rPr lang="en-US" sz="1069" b="1" dirty="0">
                <a:solidFill>
                  <a:srgbClr val="0F172A"/>
                </a:solidFill>
                <a:latin typeface="Carlito" pitchFamily="34" charset="0"/>
                <a:ea typeface="Carlito" pitchFamily="34" charset="-122"/>
                <a:cs typeface="Carlito" pitchFamily="34" charset="-120"/>
              </a:rPr>
              <a:t>What It Does</a:t>
            </a:r>
            <a:endParaRPr lang="en-US" sz="1069" dirty="0"/>
          </a:p>
        </p:txBody>
      </p:sp>
      <p:sp>
        <p:nvSpPr>
          <p:cNvPr id="10" name="Text 8"/>
          <p:cNvSpPr/>
          <p:nvPr/>
        </p:nvSpPr>
        <p:spPr>
          <a:xfrm>
            <a:off x="992981" y="1437233"/>
            <a:ext cx="3826148" cy="310753"/>
          </a:xfrm>
          <a:prstGeom prst="rect">
            <a:avLst/>
          </a:prstGeom>
          <a:noFill/>
          <a:ln/>
        </p:spPr>
        <p:txBody>
          <a:bodyPr wrap="square" lIns="0" tIns="0" rIns="0" bIns="0" rtlCol="0" anchor="t"/>
          <a:lstStyle/>
          <a:p>
            <a:pPr marL="0" indent="0" algn="l">
              <a:lnSpc>
                <a:spcPts val="1223"/>
              </a:lnSpc>
              <a:buNone/>
            </a:pPr>
            <a:r>
              <a:rPr lang="en-US" sz="844" dirty="0">
                <a:solidFill>
                  <a:srgbClr val="334155"/>
                </a:solidFill>
                <a:latin typeface="Carlito" pitchFamily="34" charset="0"/>
                <a:ea typeface="Carlito" pitchFamily="34" charset="-122"/>
                <a:cs typeface="Carlito" pitchFamily="34" charset="-120"/>
              </a:rPr>
              <a:t>Static analysis of Terraform code. Catches syntax errors, deprecated syntax, provider-specific issues, invalid arguments, and possible bugs.</a:t>
            </a:r>
            <a:endParaRPr lang="en-US" sz="844" dirty="0"/>
          </a:p>
        </p:txBody>
      </p:sp>
      <p:sp>
        <p:nvSpPr>
          <p:cNvPr id="11" name="Shape 9"/>
          <p:cNvSpPr/>
          <p:nvPr/>
        </p:nvSpPr>
        <p:spPr>
          <a:xfrm>
            <a:off x="621506" y="2623431"/>
            <a:ext cx="4197623" cy="0"/>
          </a:xfrm>
          <a:prstGeom prst="line">
            <a:avLst/>
          </a:prstGeom>
          <a:noFill/>
          <a:ln w="7144">
            <a:solidFill>
              <a:srgbClr val="CBD5E1"/>
            </a:solidFill>
            <a:prstDash val="dash"/>
          </a:ln>
        </p:spPr>
      </p:sp>
      <p:sp>
        <p:nvSpPr>
          <p:cNvPr id="12" name="Text 10"/>
          <p:cNvSpPr/>
          <p:nvPr/>
        </p:nvSpPr>
        <p:spPr>
          <a:xfrm>
            <a:off x="621506" y="1898005"/>
            <a:ext cx="434340" cy="650416"/>
          </a:xfrm>
          <a:prstGeom prst="rect">
            <a:avLst/>
          </a:prstGeom>
          <a:noFill/>
          <a:ln/>
        </p:spPr>
        <p:txBody>
          <a:bodyPr wrap="none" lIns="0" tIns="0" rIns="0" bIns="0" rtlCol="0" anchor="t"/>
          <a:lstStyle/>
          <a:p>
            <a:pPr marL="0" indent="0" algn="l">
              <a:lnSpc>
                <a:spcPts val="1463"/>
              </a:lnSpc>
              <a:buNone/>
            </a:pPr>
            <a:r>
              <a:rPr lang="en-US" sz="1463" b="1" dirty="0">
                <a:solidFill>
                  <a:srgbClr val="F97316"/>
                </a:solidFill>
                <a:latin typeface="Liberation Sans Narrow" pitchFamily="34" charset="0"/>
                <a:ea typeface="Liberation Sans Narrow" pitchFamily="34" charset="-122"/>
                <a:cs typeface="Liberation Sans Narrow" pitchFamily="34" charset="-120"/>
              </a:rPr>
              <a:t>02</a:t>
            </a:r>
            <a:endParaRPr lang="en-US" sz="1463" dirty="0"/>
          </a:p>
        </p:txBody>
      </p:sp>
      <p:sp>
        <p:nvSpPr>
          <p:cNvPr id="13" name="Text 11"/>
          <p:cNvSpPr/>
          <p:nvPr/>
        </p:nvSpPr>
        <p:spPr>
          <a:xfrm>
            <a:off x="992981" y="1898005"/>
            <a:ext cx="3935876" cy="156854"/>
          </a:xfrm>
          <a:prstGeom prst="rect">
            <a:avLst/>
          </a:prstGeom>
          <a:noFill/>
          <a:ln/>
        </p:spPr>
        <p:txBody>
          <a:bodyPr wrap="square" lIns="0" tIns="0" rIns="0" bIns="0" rtlCol="0" anchor="t">
            <a:normAutofit fontScale="85000" lnSpcReduction="10000"/>
          </a:bodyPr>
          <a:lstStyle/>
          <a:p>
            <a:pPr marL="0" indent="0" algn="l">
              <a:lnSpc>
                <a:spcPts val="1283"/>
              </a:lnSpc>
              <a:buNone/>
            </a:pPr>
            <a:r>
              <a:rPr lang="en-US" sz="1069" b="1" dirty="0">
                <a:solidFill>
                  <a:srgbClr val="0F172A"/>
                </a:solidFill>
                <a:latin typeface="Carlito" pitchFamily="34" charset="0"/>
                <a:ea typeface="Carlito" pitchFamily="34" charset="-122"/>
                <a:cs typeface="Carlito" pitchFamily="34" charset="-120"/>
              </a:rPr>
              <a:t>How It Differs from terraform validate</a:t>
            </a:r>
            <a:endParaRPr lang="en-US" sz="1069" dirty="0"/>
          </a:p>
        </p:txBody>
      </p:sp>
      <p:sp>
        <p:nvSpPr>
          <p:cNvPr id="14" name="Text 12"/>
          <p:cNvSpPr/>
          <p:nvPr/>
        </p:nvSpPr>
        <p:spPr>
          <a:xfrm>
            <a:off x="992981" y="2082292"/>
            <a:ext cx="3826148" cy="466130"/>
          </a:xfrm>
          <a:prstGeom prst="rect">
            <a:avLst/>
          </a:prstGeom>
          <a:noFill/>
          <a:ln/>
        </p:spPr>
        <p:txBody>
          <a:bodyPr wrap="square" lIns="0" tIns="0" rIns="0" bIns="0" rtlCol="0" anchor="t"/>
          <a:lstStyle/>
          <a:p>
            <a:pPr marL="0" indent="0" algn="l">
              <a:lnSpc>
                <a:spcPts val="1223"/>
              </a:lnSpc>
              <a:buNone/>
            </a:pPr>
            <a:r>
              <a:rPr lang="en-US" sz="844" dirty="0">
                <a:solidFill>
                  <a:srgbClr val="334155"/>
                </a:solidFill>
                <a:latin typeface="Carlito" pitchFamily="34" charset="0"/>
                <a:ea typeface="Carlito" pitchFamily="34" charset="-122"/>
                <a:cs typeface="Carlito" pitchFamily="34" charset="-120"/>
              </a:rPr>
              <a:t>terraform validate only checks HCL syntax. tflint checks for provider-specific issues — e.g., an invalid AMI ID, an unsupported instance type, a deprecated argument.</a:t>
            </a:r>
            <a:endParaRPr lang="en-US" sz="844" dirty="0"/>
          </a:p>
        </p:txBody>
      </p:sp>
      <p:sp>
        <p:nvSpPr>
          <p:cNvPr id="15" name="Shape 13"/>
          <p:cNvSpPr/>
          <p:nvPr/>
        </p:nvSpPr>
        <p:spPr>
          <a:xfrm>
            <a:off x="621506" y="3268489"/>
            <a:ext cx="4197623" cy="0"/>
          </a:xfrm>
          <a:prstGeom prst="line">
            <a:avLst/>
          </a:prstGeom>
          <a:noFill/>
          <a:ln w="7144">
            <a:solidFill>
              <a:srgbClr val="CBD5E1"/>
            </a:solidFill>
            <a:prstDash val="dash"/>
          </a:ln>
        </p:spPr>
      </p:sp>
      <p:sp>
        <p:nvSpPr>
          <p:cNvPr id="16" name="Text 14"/>
          <p:cNvSpPr/>
          <p:nvPr/>
        </p:nvSpPr>
        <p:spPr>
          <a:xfrm>
            <a:off x="621506" y="2698440"/>
            <a:ext cx="434340" cy="495040"/>
          </a:xfrm>
          <a:prstGeom prst="rect">
            <a:avLst/>
          </a:prstGeom>
          <a:noFill/>
          <a:ln/>
        </p:spPr>
        <p:txBody>
          <a:bodyPr wrap="none" lIns="0" tIns="0" rIns="0" bIns="0" rtlCol="0" anchor="t"/>
          <a:lstStyle/>
          <a:p>
            <a:pPr marL="0" indent="0" algn="l">
              <a:lnSpc>
                <a:spcPts val="1463"/>
              </a:lnSpc>
              <a:buNone/>
            </a:pPr>
            <a:r>
              <a:rPr lang="en-US" sz="1463" b="1" dirty="0">
                <a:solidFill>
                  <a:srgbClr val="F97316"/>
                </a:solidFill>
                <a:latin typeface="Liberation Sans Narrow" pitchFamily="34" charset="0"/>
                <a:ea typeface="Liberation Sans Narrow" pitchFamily="34" charset="-122"/>
                <a:cs typeface="Liberation Sans Narrow" pitchFamily="34" charset="-120"/>
              </a:rPr>
              <a:t>03</a:t>
            </a:r>
            <a:endParaRPr lang="en-US" sz="1463" dirty="0"/>
          </a:p>
        </p:txBody>
      </p:sp>
      <p:sp>
        <p:nvSpPr>
          <p:cNvPr id="17" name="Text 15"/>
          <p:cNvSpPr/>
          <p:nvPr/>
        </p:nvSpPr>
        <p:spPr>
          <a:xfrm>
            <a:off x="992981" y="2698440"/>
            <a:ext cx="3826148" cy="156854"/>
          </a:xfrm>
          <a:prstGeom prst="rect">
            <a:avLst/>
          </a:prstGeom>
          <a:noFill/>
          <a:ln/>
        </p:spPr>
        <p:txBody>
          <a:bodyPr wrap="none" lIns="0" tIns="0" rIns="0" bIns="0" rtlCol="0" anchor="t">
            <a:normAutofit fontScale="85000" lnSpcReduction="10000"/>
          </a:bodyPr>
          <a:lstStyle/>
          <a:p>
            <a:pPr marL="0" indent="0" algn="l">
              <a:lnSpc>
                <a:spcPts val="1283"/>
              </a:lnSpc>
              <a:buNone/>
            </a:pPr>
            <a:r>
              <a:rPr lang="en-US" sz="1069" b="1" dirty="0">
                <a:solidFill>
                  <a:srgbClr val="0F172A"/>
                </a:solidFill>
                <a:latin typeface="Carlito" pitchFamily="34" charset="0"/>
                <a:ea typeface="Carlito" pitchFamily="34" charset="-122"/>
                <a:cs typeface="Carlito" pitchFamily="34" charset="-120"/>
              </a:rPr>
              <a:t>Rule Sets</a:t>
            </a:r>
            <a:endParaRPr lang="en-US" sz="1069" dirty="0"/>
          </a:p>
        </p:txBody>
      </p:sp>
      <p:sp>
        <p:nvSpPr>
          <p:cNvPr id="18" name="Text 16"/>
          <p:cNvSpPr/>
          <p:nvPr/>
        </p:nvSpPr>
        <p:spPr>
          <a:xfrm>
            <a:off x="992981" y="2882726"/>
            <a:ext cx="3826148" cy="310753"/>
          </a:xfrm>
          <a:prstGeom prst="rect">
            <a:avLst/>
          </a:prstGeom>
          <a:noFill/>
          <a:ln/>
        </p:spPr>
        <p:txBody>
          <a:bodyPr wrap="square" lIns="0" tIns="0" rIns="0" bIns="0" rtlCol="0" anchor="t"/>
          <a:lstStyle/>
          <a:p>
            <a:pPr marL="0" indent="0" algn="l">
              <a:lnSpc>
                <a:spcPts val="1223"/>
              </a:lnSpc>
              <a:buNone/>
            </a:pPr>
            <a:r>
              <a:rPr lang="en-US" sz="844" dirty="0">
                <a:solidFill>
                  <a:srgbClr val="334155"/>
                </a:solidFill>
                <a:latin typeface="Carlito" pitchFamily="34" charset="0"/>
                <a:ea typeface="Carlito" pitchFamily="34" charset="-122"/>
                <a:cs typeface="Carlito" pitchFamily="34" charset="-120"/>
              </a:rPr>
              <a:t>Built-in rules + plugin rule sets for AWS, Azure, GCP. Each rule set is maintained by the community. You can write custom rules.</a:t>
            </a:r>
            <a:endParaRPr lang="en-US" sz="844" dirty="0"/>
          </a:p>
        </p:txBody>
      </p:sp>
      <p:sp>
        <p:nvSpPr>
          <p:cNvPr id="19" name="Text 17"/>
          <p:cNvSpPr/>
          <p:nvPr/>
        </p:nvSpPr>
        <p:spPr>
          <a:xfrm>
            <a:off x="621506" y="3343498"/>
            <a:ext cx="434340" cy="534643"/>
          </a:xfrm>
          <a:prstGeom prst="rect">
            <a:avLst/>
          </a:prstGeom>
          <a:noFill/>
          <a:ln/>
        </p:spPr>
        <p:txBody>
          <a:bodyPr wrap="none" lIns="0" tIns="0" rIns="0" bIns="0" rtlCol="0" anchor="t"/>
          <a:lstStyle/>
          <a:p>
            <a:pPr marL="0" indent="0" algn="l">
              <a:lnSpc>
                <a:spcPts val="1463"/>
              </a:lnSpc>
              <a:buNone/>
            </a:pPr>
            <a:r>
              <a:rPr lang="en-US" sz="1463" b="1" dirty="0">
                <a:solidFill>
                  <a:srgbClr val="F97316"/>
                </a:solidFill>
                <a:latin typeface="Liberation Sans Narrow" pitchFamily="34" charset="0"/>
                <a:ea typeface="Liberation Sans Narrow" pitchFamily="34" charset="-122"/>
                <a:cs typeface="Liberation Sans Narrow" pitchFamily="34" charset="-120"/>
              </a:rPr>
              <a:t>04</a:t>
            </a:r>
            <a:endParaRPr lang="en-US" sz="1463" dirty="0"/>
          </a:p>
        </p:txBody>
      </p:sp>
      <p:sp>
        <p:nvSpPr>
          <p:cNvPr id="20" name="Text 18"/>
          <p:cNvSpPr/>
          <p:nvPr/>
        </p:nvSpPr>
        <p:spPr>
          <a:xfrm>
            <a:off x="992981" y="3343498"/>
            <a:ext cx="3826148" cy="156854"/>
          </a:xfrm>
          <a:prstGeom prst="rect">
            <a:avLst/>
          </a:prstGeom>
          <a:noFill/>
          <a:ln/>
        </p:spPr>
        <p:txBody>
          <a:bodyPr wrap="none" lIns="0" tIns="0" rIns="0" bIns="0" rtlCol="0" anchor="t">
            <a:normAutofit fontScale="85000" lnSpcReduction="10000"/>
          </a:bodyPr>
          <a:lstStyle/>
          <a:p>
            <a:pPr marL="0" indent="0" algn="l">
              <a:lnSpc>
                <a:spcPts val="1283"/>
              </a:lnSpc>
              <a:buNone/>
            </a:pPr>
            <a:r>
              <a:rPr lang="en-US" sz="1069" b="1" dirty="0">
                <a:solidFill>
                  <a:srgbClr val="0F172A"/>
                </a:solidFill>
                <a:latin typeface="Carlito" pitchFamily="34" charset="0"/>
                <a:ea typeface="Carlito" pitchFamily="34" charset="-122"/>
                <a:cs typeface="Carlito" pitchFamily="34" charset="-120"/>
              </a:rPr>
              <a:t>CI Integration</a:t>
            </a:r>
            <a:endParaRPr lang="en-US" sz="1069" dirty="0"/>
          </a:p>
        </p:txBody>
      </p:sp>
      <p:sp>
        <p:nvSpPr>
          <p:cNvPr id="21" name="Text 19"/>
          <p:cNvSpPr/>
          <p:nvPr/>
        </p:nvSpPr>
        <p:spPr>
          <a:xfrm>
            <a:off x="992981" y="3527785"/>
            <a:ext cx="3826148" cy="335613"/>
          </a:xfrm>
          <a:prstGeom prst="rect">
            <a:avLst/>
          </a:prstGeom>
          <a:noFill/>
          <a:ln/>
        </p:spPr>
        <p:txBody>
          <a:bodyPr wrap="square" lIns="0" tIns="0" rIns="0" bIns="0" rtlCol="0" anchor="t"/>
          <a:lstStyle/>
          <a:p>
            <a:pPr marL="0" indent="0" algn="l">
              <a:lnSpc>
                <a:spcPts val="1223"/>
              </a:lnSpc>
              <a:buNone/>
            </a:pPr>
            <a:r>
              <a:rPr lang="en-US" sz="844" dirty="0">
                <a:solidFill>
                  <a:srgbClr val="334155"/>
                </a:solidFill>
                <a:latin typeface="Carlito" pitchFamily="34" charset="0"/>
                <a:ea typeface="Carlito" pitchFamily="34" charset="-122"/>
                <a:cs typeface="Carlito" pitchFamily="34" charset="-120"/>
              </a:rPr>
              <a:t>Runs in GitHub Actions, GitLab CI, Jenkins. Fails the build on errors. Warnings are non-blocking but visible in PR checks.</a:t>
            </a:r>
            <a:endParaRPr lang="en-US" sz="844" dirty="0"/>
          </a:p>
        </p:txBody>
      </p:sp>
      <p:sp>
        <p:nvSpPr>
          <p:cNvPr id="22" name="Text 20"/>
          <p:cNvSpPr/>
          <p:nvPr/>
        </p:nvSpPr>
        <p:spPr>
          <a:xfrm>
            <a:off x="5126310" y="1045778"/>
            <a:ext cx="3703253" cy="3640522"/>
          </a:xfrm>
          <a:prstGeom prst="roundRect">
            <a:avLst>
              <a:gd name="adj" fmla="val 2093"/>
            </a:avLst>
          </a:prstGeom>
          <a:solidFill>
            <a:srgbClr val="FFF7ED"/>
          </a:solidFill>
          <a:ln/>
        </p:spPr>
        <p:txBody>
          <a:bodyPr wrap="square" rtlCol="0" anchor="ctr"/>
          <a:lstStyle/>
          <a:p>
            <a:pPr marL="0" indent="0">
              <a:buNone/>
            </a:pPr>
            <a:endParaRPr lang="en-US" dirty="0"/>
          </a:p>
        </p:txBody>
      </p:sp>
      <p:sp>
        <p:nvSpPr>
          <p:cNvPr id="23" name="Shape 21"/>
          <p:cNvSpPr/>
          <p:nvPr/>
        </p:nvSpPr>
        <p:spPr>
          <a:xfrm>
            <a:off x="5147742" y="1045778"/>
            <a:ext cx="0" cy="3640522"/>
          </a:xfrm>
          <a:prstGeom prst="line">
            <a:avLst/>
          </a:prstGeom>
          <a:noFill/>
          <a:ln w="42863">
            <a:solidFill>
              <a:srgbClr val="F97316"/>
            </a:solidFill>
            <a:prstDash val="solid"/>
          </a:ln>
        </p:spPr>
      </p:sp>
      <p:sp>
        <p:nvSpPr>
          <p:cNvPr id="24" name="Text 22"/>
          <p:cNvSpPr/>
          <p:nvPr/>
        </p:nvSpPr>
        <p:spPr>
          <a:xfrm>
            <a:off x="5597798" y="1181509"/>
            <a:ext cx="1522233" cy="216027"/>
          </a:xfrm>
          <a:prstGeom prst="rect">
            <a:avLst/>
          </a:prstGeom>
          <a:noFill/>
          <a:ln/>
        </p:spPr>
        <p:txBody>
          <a:bodyPr wrap="none" lIns="0" tIns="0" rIns="0" bIns="0" rtlCol="0" anchor="t"/>
          <a:lstStyle/>
          <a:p>
            <a:pPr marL="0" indent="0" algn="l">
              <a:lnSpc>
                <a:spcPts val="1733"/>
              </a:lnSpc>
              <a:buNone/>
            </a:pPr>
            <a:r>
              <a:rPr lang="en-US" sz="1238" b="1" dirty="0">
                <a:solidFill>
                  <a:srgbClr val="C2410C"/>
                </a:solidFill>
                <a:latin typeface="Carlito" pitchFamily="34" charset="0"/>
                <a:ea typeface="Carlito" pitchFamily="34" charset="-122"/>
                <a:cs typeface="Carlito" pitchFamily="34" charset="-120"/>
              </a:rPr>
              <a:t>Key tflint features</a:t>
            </a:r>
            <a:endParaRPr lang="en-US" sz="1238" dirty="0"/>
          </a:p>
        </p:txBody>
      </p:sp>
      <p:sp>
        <p:nvSpPr>
          <p:cNvPr id="25" name="Text 23"/>
          <p:cNvSpPr/>
          <p:nvPr/>
        </p:nvSpPr>
        <p:spPr>
          <a:xfrm>
            <a:off x="5326335" y="1184300"/>
            <a:ext cx="200025" cy="200025"/>
          </a:xfrm>
          <a:prstGeom prst="rect">
            <a:avLst/>
          </a:prstGeom>
          <a:noFill/>
          <a:ln/>
        </p:spPr>
        <p:txBody>
          <a:bodyPr wrap="none" lIns="0" tIns="0" rIns="0" bIns="0" rtlCol="0" anchor="ctr"/>
          <a:lstStyle/>
          <a:p>
            <a:pPr marL="0" indent="0" algn="ctr">
              <a:buNone/>
            </a:pPr>
            <a:r>
              <a:rPr lang="en-US" sz="1969" dirty="0">
                <a:solidFill>
                  <a:srgbClr val="C2410C"/>
                </a:solidFill>
                <a:latin typeface="Segoe UI Symbol" pitchFamily="34" charset="0"/>
                <a:ea typeface="Segoe UI Symbol" pitchFamily="34" charset="-122"/>
                <a:cs typeface="Segoe UI Symbol" pitchFamily="34" charset="-120"/>
              </a:rPr>
              <a:t>★</a:t>
            </a:r>
            <a:endParaRPr lang="en-US" sz="1969" dirty="0"/>
          </a:p>
        </p:txBody>
      </p:sp>
      <p:sp>
        <p:nvSpPr>
          <p:cNvPr id="26" name="Text 24"/>
          <p:cNvSpPr/>
          <p:nvPr/>
        </p:nvSpPr>
        <p:spPr>
          <a:xfrm>
            <a:off x="5326335" y="1480096"/>
            <a:ext cx="3346066" cy="2154932"/>
          </a:xfrm>
          <a:prstGeom prst="rect">
            <a:avLst/>
          </a:prstGeom>
          <a:noFill/>
          <a:ln/>
        </p:spPr>
        <p:txBody>
          <a:bodyPr wrap="square" lIns="0" tIns="0" rIns="0" bIns="0" rtlCol="0" anchor="t"/>
          <a:lstStyle/>
          <a:p>
            <a:pPr marL="342900" indent="-342900" algn="l">
              <a:lnSpc>
                <a:spcPts val="1339"/>
              </a:lnSpc>
              <a:buSzPct val="100000"/>
              <a:buChar char="•"/>
            </a:pPr>
            <a:r>
              <a:rPr lang="en-US" sz="956" dirty="0">
                <a:solidFill>
                  <a:srgbClr val="0F172A"/>
                </a:solidFill>
                <a:latin typeface="Carlito" pitchFamily="34" charset="0"/>
                <a:ea typeface="Carlito" pitchFamily="34" charset="-122"/>
                <a:cs typeface="Carlito" pitchFamily="34" charset="-120"/>
              </a:rPr>
              <a:t>›200+ built-in rules</a:t>
            </a:r>
            <a:endParaRPr lang="en-US" sz="956" dirty="0"/>
          </a:p>
          <a:p>
            <a:pPr marL="342900" indent="-342900" algn="l">
              <a:lnSpc>
                <a:spcPts val="1339"/>
              </a:lnSpc>
              <a:buSzPct val="100000"/>
              <a:buChar char="•"/>
            </a:pPr>
            <a:r>
              <a:rPr lang="en-US" sz="956" dirty="0">
                <a:solidFill>
                  <a:srgbClr val="0F172A"/>
                </a:solidFill>
                <a:latin typeface="Carlito" pitchFamily="34" charset="0"/>
                <a:ea typeface="Carlito" pitchFamily="34" charset="-122"/>
                <a:cs typeface="Carlito" pitchFamily="34" charset="-120"/>
              </a:rPr>
              <a:t>›AWS / Azure / GCP plugin rules</a:t>
            </a:r>
            <a:endParaRPr lang="en-US" sz="956" dirty="0"/>
          </a:p>
          <a:p>
            <a:pPr marL="342900" indent="-342900" algn="l">
              <a:lnSpc>
                <a:spcPts val="1339"/>
              </a:lnSpc>
              <a:buSzPct val="100000"/>
              <a:buChar char="•"/>
            </a:pPr>
            <a:r>
              <a:rPr lang="en-US" sz="956" dirty="0">
                <a:solidFill>
                  <a:srgbClr val="0F172A"/>
                </a:solidFill>
                <a:latin typeface="Carlito" pitchFamily="34" charset="0"/>
                <a:ea typeface="Carlito" pitchFamily="34" charset="-122"/>
                <a:cs typeface="Carlito" pitchFamily="34" charset="-120"/>
              </a:rPr>
              <a:t>›Custom rule sets (Ruby DSL)</a:t>
            </a:r>
            <a:endParaRPr lang="en-US" sz="956" dirty="0"/>
          </a:p>
          <a:p>
            <a:pPr marL="342900" indent="-342900" algn="l">
              <a:lnSpc>
                <a:spcPts val="1339"/>
              </a:lnSpc>
              <a:buSzPct val="100000"/>
              <a:buChar char="•"/>
            </a:pPr>
            <a:r>
              <a:rPr lang="en-US" sz="956" dirty="0">
                <a:solidFill>
                  <a:srgbClr val="0F172A"/>
                </a:solidFill>
                <a:latin typeface="Carlito" pitchFamily="34" charset="0"/>
                <a:ea typeface="Carlito" pitchFamily="34" charset="-122"/>
                <a:cs typeface="Carlito" pitchFamily="34" charset="-120"/>
              </a:rPr>
              <a:t>›CI/CD friendly</a:t>
            </a:r>
            <a:endParaRPr lang="en-US" sz="956" dirty="0"/>
          </a:p>
          <a:p>
            <a:pPr marL="342900" indent="-342900" algn="l">
              <a:lnSpc>
                <a:spcPts val="1339"/>
              </a:lnSpc>
              <a:buSzPct val="100000"/>
              <a:buChar char="•"/>
            </a:pPr>
            <a:r>
              <a:rPr lang="en-US" sz="956" dirty="0">
                <a:solidFill>
                  <a:srgbClr val="0F172A"/>
                </a:solidFill>
                <a:latin typeface="Carlito" pitchFamily="34" charset="0"/>
                <a:ea typeface="Carlito" pitchFamily="34" charset="-122"/>
                <a:cs typeface="Carlito" pitchFamily="34" charset="-120"/>
              </a:rPr>
              <a:t>›Auto-fix mode (--fix)</a:t>
            </a:r>
            <a:endParaRPr lang="en-US" sz="956" dirty="0"/>
          </a:p>
          <a:p>
            <a:pPr marL="342900" indent="-342900" algn="l">
              <a:lnSpc>
                <a:spcPts val="1339"/>
              </a:lnSpc>
              <a:buSzPct val="100000"/>
              <a:buChar char="•"/>
            </a:pPr>
            <a:r>
              <a:rPr lang="en-US" sz="956" dirty="0">
                <a:solidFill>
                  <a:srgbClr val="0F172A"/>
                </a:solidFill>
                <a:latin typeface="Carlito" pitchFamily="34" charset="0"/>
                <a:ea typeface="Carlito" pitchFamily="34" charset="-122"/>
                <a:cs typeface="Carlito" pitchFamily="34" charset="-120"/>
              </a:rPr>
              <a:t>›JSON output for tooling</a:t>
            </a:r>
            <a:endParaRPr lang="en-US" sz="956" dirty="0"/>
          </a:p>
          <a:p>
            <a:pPr marL="342900" indent="-342900" algn="l">
              <a:lnSpc>
                <a:spcPts val="1339"/>
              </a:lnSpc>
              <a:buSzPct val="100000"/>
              <a:buChar char="•"/>
            </a:pPr>
            <a:r>
              <a:rPr lang="en-US" sz="956" dirty="0">
                <a:solidFill>
                  <a:srgbClr val="0F172A"/>
                </a:solidFill>
                <a:latin typeface="Carlito" pitchFamily="34" charset="0"/>
                <a:ea typeface="Carlito" pitchFamily="34" charset="-122"/>
                <a:cs typeface="Carlito" pitchFamily="34" charset="-120"/>
              </a:rPr>
              <a:t>›Open source (Mozilla Public License)</a:t>
            </a:r>
            <a:endParaRPr lang="en-US" sz="956"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5322284" cy="373346"/>
          </a:xfrm>
          <a:prstGeom prst="rect">
            <a:avLst/>
          </a:prstGeom>
          <a:noFill/>
          <a:ln/>
        </p:spPr>
        <p:txBody>
          <a:bodyPr wrap="square" lIns="0" tIns="0" rIns="0" bIns="0" rtlCol="0" anchor="t"/>
          <a:lstStyle/>
          <a:p>
            <a:pPr marL="0" indent="0" algn="l">
              <a:lnSpc>
                <a:spcPts val="2723"/>
              </a:lnSpc>
              <a:buNone/>
            </a:pPr>
            <a:r>
              <a:rPr lang="en-US" sz="2475" b="1" kern="0" spc="-28" dirty="0">
                <a:solidFill>
                  <a:srgbClr val="0F172A"/>
                </a:solidFill>
                <a:latin typeface="Carlito" pitchFamily="34" charset="0"/>
                <a:ea typeface="Carlito" pitchFamily="34" charset="-122"/>
                <a:cs typeface="Carlito" pitchFamily="34" charset="-120"/>
              </a:rPr>
              <a:t>Code Example — tflint Config &amp; Run</a:t>
            </a:r>
            <a:endParaRPr lang="en-US" sz="2475" dirty="0"/>
          </a:p>
        </p:txBody>
      </p:sp>
      <p:sp>
        <p:nvSpPr>
          <p:cNvPr id="3" name="Text 1"/>
          <p:cNvSpPr/>
          <p:nvPr/>
        </p:nvSpPr>
        <p:spPr>
          <a:xfrm>
            <a:off x="457200" y="860041"/>
            <a:ext cx="571500" cy="42863"/>
          </a:xfrm>
          <a:prstGeom prst="roundRect">
            <a:avLst>
              <a:gd name="adj" fmla="val 66666"/>
            </a:avLst>
          </a:prstGeom>
          <a:solidFill>
            <a:srgbClr val="F97316"/>
          </a:solidFill>
          <a:ln/>
        </p:spPr>
        <p:txBody>
          <a:bodyPr wrap="square" rtlCol="0" anchor="ctr"/>
          <a:lstStyle/>
          <a:p>
            <a:pPr marL="0" indent="0">
              <a:buNone/>
            </a:pPr>
            <a:endParaRPr lang="en-US" dirty="0"/>
          </a:p>
        </p:txBody>
      </p:sp>
      <p:sp>
        <p:nvSpPr>
          <p:cNvPr id="4" name="Text 2"/>
          <p:cNvSpPr/>
          <p:nvPr/>
        </p:nvSpPr>
        <p:spPr>
          <a:xfrm>
            <a:off x="7162860" y="514385"/>
            <a:ext cx="1546800" cy="331333"/>
          </a:xfrm>
          <a:prstGeom prst="roundRect">
            <a:avLst>
              <a:gd name="adj" fmla="val 2871877"/>
            </a:avLst>
          </a:prstGeom>
          <a:solidFill>
            <a:srgbClr val="FED7AA"/>
          </a:solidFill>
          <a:ln/>
        </p:spPr>
        <p:txBody>
          <a:bodyPr wrap="square" rtlCol="0" anchor="ctr"/>
          <a:lstStyle/>
          <a:p>
            <a:pPr marL="0" indent="0">
              <a:buNone/>
            </a:pPr>
            <a:endParaRPr lang="en-US" dirty="0"/>
          </a:p>
        </p:txBody>
      </p:sp>
      <p:sp>
        <p:nvSpPr>
          <p:cNvPr id="5" name="Text 3"/>
          <p:cNvSpPr/>
          <p:nvPr/>
        </p:nvSpPr>
        <p:spPr>
          <a:xfrm>
            <a:off x="7185720" y="527186"/>
            <a:ext cx="1501080" cy="305730"/>
          </a:xfrm>
          <a:prstGeom prst="rect">
            <a:avLst/>
          </a:prstGeom>
          <a:noFill/>
          <a:ln/>
        </p:spPr>
        <p:txBody>
          <a:bodyPr wrap="none" lIns="0" tIns="0" rIns="0" bIns="0" rtlCol="0" anchor="ctr"/>
          <a:lstStyle/>
          <a:p>
            <a:pPr marL="0" indent="0" algn="ctr">
              <a:lnSpc>
                <a:spcPts val="1733"/>
              </a:lnSpc>
              <a:buNone/>
            </a:pPr>
            <a:r>
              <a:rPr lang="en-US" sz="1238" b="1" kern="0" spc="28" dirty="0">
                <a:solidFill>
                  <a:srgbClr val="C2410C"/>
                </a:solidFill>
                <a:latin typeface="Liberation Sans Narrow" pitchFamily="34" charset="0"/>
                <a:ea typeface="Liberation Sans Narrow" pitchFamily="34" charset="-122"/>
                <a:cs typeface="Liberation Sans Narrow" pitchFamily="34" charset="-120"/>
              </a:rPr>
              <a:t>SECTION C · 3.17</a:t>
            </a:r>
            <a:endParaRPr lang="en-US" sz="1238" dirty="0"/>
          </a:p>
        </p:txBody>
      </p:sp>
      <p:sp>
        <p:nvSpPr>
          <p:cNvPr id="6" name="Text 4"/>
          <p:cNvSpPr/>
          <p:nvPr/>
        </p:nvSpPr>
        <p:spPr>
          <a:xfrm>
            <a:off x="457200" y="960053"/>
            <a:ext cx="8229600" cy="216027"/>
          </a:xfrm>
          <a:prstGeom prst="rect">
            <a:avLst/>
          </a:prstGeom>
          <a:noFill/>
          <a:ln/>
        </p:spPr>
        <p:txBody>
          <a:bodyPr wrap="square" lIns="0" tIns="0" rIns="0" bIns="0" rtlCol="0" anchor="t"/>
          <a:lstStyle/>
          <a:p>
            <a:pPr marL="0" indent="0" algn="l">
              <a:lnSpc>
                <a:spcPts val="1575"/>
              </a:lnSpc>
              <a:buNone/>
            </a:pPr>
            <a:r>
              <a:rPr lang="en-US" sz="1125" dirty="0">
                <a:solidFill>
                  <a:srgbClr val="64748B"/>
                </a:solidFill>
                <a:latin typeface="Carlito" pitchFamily="34" charset="0"/>
                <a:ea typeface="Carlito" pitchFamily="34" charset="-122"/>
                <a:cs typeface="Carlito" pitchFamily="34" charset="-120"/>
              </a:rPr>
              <a:t>Configure rules, run the linter, parse the output.</a:t>
            </a:r>
            <a:endParaRPr lang="en-US" sz="1125" dirty="0"/>
          </a:p>
        </p:txBody>
      </p:sp>
      <p:sp>
        <p:nvSpPr>
          <p:cNvPr id="7" name="Text 5"/>
          <p:cNvSpPr/>
          <p:nvPr/>
        </p:nvSpPr>
        <p:spPr>
          <a:xfrm>
            <a:off x="600075" y="1360103"/>
            <a:ext cx="1666494" cy="146304"/>
          </a:xfrm>
          <a:prstGeom prst="rect">
            <a:avLst/>
          </a:prstGeom>
          <a:noFill/>
          <a:ln/>
        </p:spPr>
        <p:txBody>
          <a:bodyPr wrap="none" lIns="0" tIns="0" rIns="0" bIns="0" rtlCol="0" anchor="t"/>
          <a:lstStyle/>
          <a:p>
            <a:pPr marL="0" indent="0" algn="l">
              <a:lnSpc>
                <a:spcPts val="945"/>
              </a:lnSpc>
              <a:buNone/>
            </a:pPr>
            <a:r>
              <a:rPr lang="en-US" sz="675" i="1" dirty="0">
                <a:solidFill>
                  <a:srgbClr val="94A3B8"/>
                </a:solidFill>
                <a:latin typeface="Courier New" pitchFamily="34" charset="0"/>
                <a:ea typeface="Courier New" pitchFamily="34" charset="-122"/>
                <a:cs typeface="Courier New" pitchFamily="34" charset="-120"/>
              </a:rPr>
              <a:t># .tflint.hcl — tflint configuration</a:t>
            </a:r>
            <a:endParaRPr lang="en-US" sz="675" dirty="0"/>
          </a:p>
        </p:txBody>
      </p:sp>
      <p:sp>
        <p:nvSpPr>
          <p:cNvPr id="8" name="Text 6"/>
          <p:cNvSpPr/>
          <p:nvPr/>
        </p:nvSpPr>
        <p:spPr>
          <a:xfrm>
            <a:off x="579150" y="1600088"/>
            <a:ext cx="409611" cy="146304"/>
          </a:xfrm>
          <a:prstGeom prst="rect">
            <a:avLst/>
          </a:prstGeom>
          <a:noFill/>
          <a:ln/>
        </p:spPr>
        <p:txBody>
          <a:bodyPr wrap="none" lIns="0" tIns="0" rIns="0" bIns="0" rtlCol="0" anchor="t"/>
          <a:lstStyle/>
          <a:p>
            <a:pPr marL="0" indent="0" algn="l">
              <a:lnSpc>
                <a:spcPts val="945"/>
              </a:lnSpc>
              <a:buNone/>
            </a:pPr>
            <a:r>
              <a:rPr lang="en-US" sz="800" dirty="0">
                <a:solidFill>
                  <a:srgbClr val="FBBF24"/>
                </a:solidFill>
                <a:latin typeface="Courier New" pitchFamily="34" charset="0"/>
                <a:ea typeface="Courier New" pitchFamily="34" charset="-122"/>
                <a:cs typeface="Courier New" pitchFamily="34" charset="-120"/>
              </a:rPr>
              <a:t>plugin</a:t>
            </a:r>
            <a:endParaRPr lang="en-US" sz="800" dirty="0"/>
          </a:p>
        </p:txBody>
      </p:sp>
      <p:sp>
        <p:nvSpPr>
          <p:cNvPr id="9" name="Text 7"/>
          <p:cNvSpPr/>
          <p:nvPr/>
        </p:nvSpPr>
        <p:spPr>
          <a:xfrm>
            <a:off x="900113" y="1600088"/>
            <a:ext cx="342900" cy="92561"/>
          </a:xfrm>
          <a:prstGeom prst="rect">
            <a:avLst/>
          </a:prstGeom>
          <a:noFill/>
          <a:ln/>
        </p:spPr>
        <p:txBody>
          <a:bodyPr wrap="none" lIns="0" tIns="0" rIns="0" bIns="0" rtlCol="0" anchor="t">
            <a:normAutofit fontScale="25000" lnSpcReduction="20000"/>
          </a:bodyPr>
          <a:lstStyle/>
          <a:p>
            <a:pPr marL="0" indent="0" algn="l">
              <a:lnSpc>
                <a:spcPts val="945"/>
              </a:lnSpc>
              <a:buNone/>
            </a:pPr>
            <a:r>
              <a:rPr lang="en-US" sz="800" dirty="0">
                <a:solidFill>
                  <a:srgbClr val="86EFAC"/>
                </a:solidFill>
                <a:latin typeface="Courier New" pitchFamily="34" charset="0"/>
                <a:ea typeface="Courier New" pitchFamily="34" charset="-122"/>
                <a:cs typeface="Courier New" pitchFamily="34" charset="-120"/>
              </a:rPr>
              <a:t>"aws"</a:t>
            </a:r>
            <a:endParaRPr lang="en-US" sz="800" dirty="0"/>
          </a:p>
        </p:txBody>
      </p:sp>
      <p:sp>
        <p:nvSpPr>
          <p:cNvPr id="10" name="Text 8"/>
          <p:cNvSpPr/>
          <p:nvPr/>
        </p:nvSpPr>
        <p:spPr>
          <a:xfrm>
            <a:off x="664351" y="1720081"/>
            <a:ext cx="471952" cy="146304"/>
          </a:xfrm>
          <a:prstGeom prst="rect">
            <a:avLst/>
          </a:prstGeom>
          <a:noFill/>
          <a:ln/>
        </p:spPr>
        <p:txBody>
          <a:bodyPr wrap="none" lIns="0" tIns="0" rIns="0" bIns="0" rtlCol="0" anchor="t"/>
          <a:lstStyle/>
          <a:p>
            <a:pPr marL="0" indent="0" algn="l">
              <a:lnSpc>
                <a:spcPts val="945"/>
              </a:lnSpc>
              <a:buNone/>
            </a:pPr>
            <a:r>
              <a:rPr lang="en-US" sz="800" dirty="0">
                <a:solidFill>
                  <a:srgbClr val="FBBF24"/>
                </a:solidFill>
                <a:latin typeface="Courier New" pitchFamily="34" charset="0"/>
                <a:ea typeface="Courier New" pitchFamily="34" charset="-122"/>
                <a:cs typeface="Courier New" pitchFamily="34" charset="-120"/>
              </a:rPr>
              <a:t>enabled</a:t>
            </a:r>
            <a:endParaRPr lang="en-US" sz="800" dirty="0"/>
          </a:p>
        </p:txBody>
      </p:sp>
      <p:sp>
        <p:nvSpPr>
          <p:cNvPr id="11" name="Text 9"/>
          <p:cNvSpPr/>
          <p:nvPr/>
        </p:nvSpPr>
        <p:spPr>
          <a:xfrm>
            <a:off x="1109121" y="1720081"/>
            <a:ext cx="284927" cy="92561"/>
          </a:xfrm>
          <a:prstGeom prst="rect">
            <a:avLst/>
          </a:prstGeom>
          <a:noFill/>
          <a:ln/>
        </p:spPr>
        <p:txBody>
          <a:bodyPr wrap="none" lIns="0" tIns="0" rIns="0" bIns="0" rtlCol="0" anchor="t">
            <a:normAutofit fontScale="25000" lnSpcReduction="20000"/>
          </a:bodyPr>
          <a:lstStyle/>
          <a:p>
            <a:pPr marL="0" indent="0" algn="l">
              <a:lnSpc>
                <a:spcPts val="945"/>
              </a:lnSpc>
              <a:buNone/>
            </a:pPr>
            <a:r>
              <a:rPr lang="en-US" sz="800" dirty="0">
                <a:solidFill>
                  <a:srgbClr val="FBA74A"/>
                </a:solidFill>
                <a:latin typeface="Courier New" pitchFamily="34" charset="0"/>
                <a:ea typeface="Courier New" pitchFamily="34" charset="-122"/>
                <a:cs typeface="Courier New" pitchFamily="34" charset="-120"/>
              </a:rPr>
              <a:t>true</a:t>
            </a:r>
            <a:endParaRPr lang="en-US" sz="800" dirty="0"/>
          </a:p>
        </p:txBody>
      </p:sp>
      <p:sp>
        <p:nvSpPr>
          <p:cNvPr id="12" name="Text 10"/>
          <p:cNvSpPr/>
          <p:nvPr/>
        </p:nvSpPr>
        <p:spPr>
          <a:xfrm>
            <a:off x="664351" y="1840074"/>
            <a:ext cx="471952" cy="146304"/>
          </a:xfrm>
          <a:prstGeom prst="rect">
            <a:avLst/>
          </a:prstGeom>
          <a:noFill/>
          <a:ln/>
        </p:spPr>
        <p:txBody>
          <a:bodyPr wrap="none" lIns="0" tIns="0" rIns="0" bIns="0" rtlCol="0" anchor="t"/>
          <a:lstStyle/>
          <a:p>
            <a:pPr marL="0" indent="0" algn="l">
              <a:lnSpc>
                <a:spcPts val="945"/>
              </a:lnSpc>
              <a:buNone/>
            </a:pPr>
            <a:r>
              <a:rPr lang="en-US" sz="800" dirty="0">
                <a:solidFill>
                  <a:srgbClr val="FBBF24"/>
                </a:solidFill>
                <a:latin typeface="Courier New" pitchFamily="34" charset="0"/>
                <a:ea typeface="Courier New" pitchFamily="34" charset="-122"/>
                <a:cs typeface="Courier New" pitchFamily="34" charset="-120"/>
              </a:rPr>
              <a:t>version</a:t>
            </a:r>
            <a:endParaRPr lang="en-US" sz="800" dirty="0"/>
          </a:p>
        </p:txBody>
      </p:sp>
      <p:sp>
        <p:nvSpPr>
          <p:cNvPr id="13" name="Text 11"/>
          <p:cNvSpPr/>
          <p:nvPr/>
        </p:nvSpPr>
        <p:spPr>
          <a:xfrm>
            <a:off x="1085258" y="1840074"/>
            <a:ext cx="548681" cy="92561"/>
          </a:xfrm>
          <a:prstGeom prst="rect">
            <a:avLst/>
          </a:prstGeom>
          <a:noFill/>
          <a:ln/>
        </p:spPr>
        <p:txBody>
          <a:bodyPr wrap="none" lIns="0" tIns="0" rIns="0" bIns="0" rtlCol="0" anchor="t">
            <a:normAutofit fontScale="25000" lnSpcReduction="20000"/>
          </a:bodyPr>
          <a:lstStyle/>
          <a:p>
            <a:pPr marL="0" indent="0" algn="l">
              <a:lnSpc>
                <a:spcPts val="945"/>
              </a:lnSpc>
              <a:buNone/>
            </a:pPr>
            <a:r>
              <a:rPr lang="en-US" sz="800" dirty="0">
                <a:solidFill>
                  <a:srgbClr val="86EFAC"/>
                </a:solidFill>
                <a:latin typeface="Liberation Sans Narrow" pitchFamily="34" charset="0"/>
                <a:ea typeface="Liberation Sans Narrow" pitchFamily="34" charset="-122"/>
                <a:cs typeface="Liberation Sans Narrow" pitchFamily="34" charset="-120"/>
              </a:rPr>
              <a:t>"0.21.0"</a:t>
            </a:r>
            <a:endParaRPr lang="en-US" sz="800" dirty="0"/>
          </a:p>
        </p:txBody>
      </p:sp>
      <p:sp>
        <p:nvSpPr>
          <p:cNvPr id="14" name="Text 12"/>
          <p:cNvSpPr/>
          <p:nvPr/>
        </p:nvSpPr>
        <p:spPr>
          <a:xfrm>
            <a:off x="664875" y="1960066"/>
            <a:ext cx="409611" cy="146304"/>
          </a:xfrm>
          <a:prstGeom prst="rect">
            <a:avLst/>
          </a:prstGeom>
          <a:noFill/>
          <a:ln/>
        </p:spPr>
        <p:txBody>
          <a:bodyPr wrap="none" lIns="0" tIns="0" rIns="0" bIns="0" rtlCol="0" anchor="t"/>
          <a:lstStyle/>
          <a:p>
            <a:pPr marL="0" indent="0" algn="l">
              <a:lnSpc>
                <a:spcPts val="945"/>
              </a:lnSpc>
              <a:buNone/>
            </a:pPr>
            <a:r>
              <a:rPr lang="en-US" sz="800" dirty="0">
                <a:solidFill>
                  <a:srgbClr val="FBBF24"/>
                </a:solidFill>
                <a:latin typeface="Courier New" pitchFamily="34" charset="0"/>
                <a:ea typeface="Courier New" pitchFamily="34" charset="-122"/>
                <a:cs typeface="Courier New" pitchFamily="34" charset="-120"/>
              </a:rPr>
              <a:t>source</a:t>
            </a:r>
            <a:endParaRPr lang="en-US" sz="800" dirty="0"/>
          </a:p>
        </p:txBody>
      </p:sp>
      <p:sp>
        <p:nvSpPr>
          <p:cNvPr id="15" name="Text 13"/>
          <p:cNvSpPr/>
          <p:nvPr/>
        </p:nvSpPr>
        <p:spPr>
          <a:xfrm>
            <a:off x="1114425" y="1960066"/>
            <a:ext cx="2100263" cy="146304"/>
          </a:xfrm>
          <a:prstGeom prst="rect">
            <a:avLst/>
          </a:prstGeom>
          <a:noFill/>
          <a:ln/>
        </p:spPr>
        <p:txBody>
          <a:bodyPr wrap="none" lIns="0" tIns="0" rIns="0" bIns="0" rtlCol="0" anchor="t"/>
          <a:lstStyle/>
          <a:p>
            <a:pPr marL="0" indent="0" algn="l">
              <a:lnSpc>
                <a:spcPts val="945"/>
              </a:lnSpc>
              <a:buNone/>
            </a:pPr>
            <a:r>
              <a:rPr lang="en-US" sz="675" dirty="0">
                <a:solidFill>
                  <a:srgbClr val="86EFAC"/>
                </a:solidFill>
                <a:latin typeface="Courier New" pitchFamily="34" charset="0"/>
                <a:ea typeface="Courier New" pitchFamily="34" charset="-122"/>
                <a:cs typeface="Courier New" pitchFamily="34" charset="-120"/>
              </a:rPr>
              <a:t>"github.com/terraform-linters/tflint-ruleset-aws"</a:t>
            </a:r>
            <a:endParaRPr lang="en-US" sz="675" dirty="0"/>
          </a:p>
        </p:txBody>
      </p:sp>
      <p:sp>
        <p:nvSpPr>
          <p:cNvPr id="16" name="Text 14"/>
          <p:cNvSpPr/>
          <p:nvPr/>
        </p:nvSpPr>
        <p:spPr>
          <a:xfrm>
            <a:off x="594771" y="2320044"/>
            <a:ext cx="284927" cy="146304"/>
          </a:xfrm>
          <a:prstGeom prst="rect">
            <a:avLst/>
          </a:prstGeom>
          <a:noFill/>
          <a:ln/>
        </p:spPr>
        <p:txBody>
          <a:bodyPr wrap="none" lIns="0" tIns="0" rIns="0" bIns="0" rtlCol="0" anchor="t"/>
          <a:lstStyle/>
          <a:p>
            <a:pPr marL="0" indent="0" algn="l">
              <a:lnSpc>
                <a:spcPts val="945"/>
              </a:lnSpc>
              <a:buNone/>
            </a:pPr>
            <a:r>
              <a:rPr lang="en-US" sz="800" dirty="0">
                <a:solidFill>
                  <a:srgbClr val="FBBF24"/>
                </a:solidFill>
                <a:latin typeface="Courier New" pitchFamily="34" charset="0"/>
                <a:ea typeface="Courier New" pitchFamily="34" charset="-122"/>
                <a:cs typeface="Courier New" pitchFamily="34" charset="-120"/>
              </a:rPr>
              <a:t>rule</a:t>
            </a:r>
            <a:endParaRPr lang="en-US" sz="800" dirty="0"/>
          </a:p>
        </p:txBody>
      </p:sp>
      <p:sp>
        <p:nvSpPr>
          <p:cNvPr id="17" name="Text 15"/>
          <p:cNvSpPr/>
          <p:nvPr/>
        </p:nvSpPr>
        <p:spPr>
          <a:xfrm>
            <a:off x="814388" y="2320044"/>
            <a:ext cx="1249871" cy="92561"/>
          </a:xfrm>
          <a:prstGeom prst="rect">
            <a:avLst/>
          </a:prstGeom>
          <a:noFill/>
          <a:ln/>
        </p:spPr>
        <p:txBody>
          <a:bodyPr wrap="none" lIns="0" tIns="0" rIns="0" bIns="0" rtlCol="0" anchor="t">
            <a:normAutofit fontScale="25000" lnSpcReduction="20000"/>
          </a:bodyPr>
          <a:lstStyle/>
          <a:p>
            <a:pPr marL="0" indent="0" algn="l">
              <a:lnSpc>
                <a:spcPts val="945"/>
              </a:lnSpc>
              <a:buNone/>
            </a:pPr>
            <a:r>
              <a:rPr lang="en-US" sz="675" dirty="0">
                <a:solidFill>
                  <a:srgbClr val="86EFAC"/>
                </a:solidFill>
                <a:latin typeface="Courier New" pitchFamily="34" charset="0"/>
                <a:ea typeface="Courier New" pitchFamily="34" charset="-122"/>
                <a:cs typeface="Courier New" pitchFamily="34" charset="-120"/>
              </a:rPr>
              <a:t>"aws_instance_invalid_type"</a:t>
            </a:r>
            <a:endParaRPr lang="en-US" sz="675" dirty="0"/>
          </a:p>
        </p:txBody>
      </p:sp>
      <p:sp>
        <p:nvSpPr>
          <p:cNvPr id="18" name="Text 16"/>
          <p:cNvSpPr/>
          <p:nvPr/>
        </p:nvSpPr>
        <p:spPr>
          <a:xfrm>
            <a:off x="664351" y="2440037"/>
            <a:ext cx="471952" cy="146304"/>
          </a:xfrm>
          <a:prstGeom prst="rect">
            <a:avLst/>
          </a:prstGeom>
          <a:noFill/>
          <a:ln/>
        </p:spPr>
        <p:txBody>
          <a:bodyPr wrap="none" lIns="0" tIns="0" rIns="0" bIns="0" rtlCol="0" anchor="t"/>
          <a:lstStyle/>
          <a:p>
            <a:pPr marL="0" indent="0" algn="l">
              <a:lnSpc>
                <a:spcPts val="945"/>
              </a:lnSpc>
              <a:buNone/>
            </a:pPr>
            <a:r>
              <a:rPr lang="en-US" sz="800" dirty="0">
                <a:solidFill>
                  <a:srgbClr val="FBBF24"/>
                </a:solidFill>
                <a:latin typeface="Courier New" pitchFamily="34" charset="0"/>
                <a:ea typeface="Courier New" pitchFamily="34" charset="-122"/>
                <a:cs typeface="Courier New" pitchFamily="34" charset="-120"/>
              </a:rPr>
              <a:t>enabled</a:t>
            </a:r>
            <a:endParaRPr lang="en-US" sz="800" dirty="0"/>
          </a:p>
        </p:txBody>
      </p:sp>
      <p:sp>
        <p:nvSpPr>
          <p:cNvPr id="19" name="Text 17"/>
          <p:cNvSpPr/>
          <p:nvPr/>
        </p:nvSpPr>
        <p:spPr>
          <a:xfrm>
            <a:off x="1109121" y="2440037"/>
            <a:ext cx="284927" cy="146304"/>
          </a:xfrm>
          <a:prstGeom prst="rect">
            <a:avLst/>
          </a:prstGeom>
          <a:noFill/>
          <a:ln/>
        </p:spPr>
        <p:txBody>
          <a:bodyPr wrap="none" lIns="0" tIns="0" rIns="0" bIns="0" rtlCol="0" anchor="t"/>
          <a:lstStyle/>
          <a:p>
            <a:pPr marL="0" indent="0" algn="l">
              <a:lnSpc>
                <a:spcPts val="945"/>
              </a:lnSpc>
              <a:buNone/>
            </a:pPr>
            <a:r>
              <a:rPr lang="en-US" sz="800" dirty="0">
                <a:solidFill>
                  <a:srgbClr val="FBA74A"/>
                </a:solidFill>
                <a:latin typeface="Courier New" pitchFamily="34" charset="0"/>
                <a:ea typeface="Courier New" pitchFamily="34" charset="-122"/>
                <a:cs typeface="Courier New" pitchFamily="34" charset="-120"/>
              </a:rPr>
              <a:t>true</a:t>
            </a:r>
            <a:endParaRPr lang="en-US" sz="800" dirty="0"/>
          </a:p>
        </p:txBody>
      </p:sp>
      <p:sp>
        <p:nvSpPr>
          <p:cNvPr id="20" name="Text 18"/>
          <p:cNvSpPr/>
          <p:nvPr/>
        </p:nvSpPr>
        <p:spPr>
          <a:xfrm>
            <a:off x="594771" y="2680022"/>
            <a:ext cx="284927" cy="146304"/>
          </a:xfrm>
          <a:prstGeom prst="rect">
            <a:avLst/>
          </a:prstGeom>
          <a:noFill/>
          <a:ln/>
        </p:spPr>
        <p:txBody>
          <a:bodyPr wrap="none" lIns="0" tIns="0" rIns="0" bIns="0" rtlCol="0" anchor="t"/>
          <a:lstStyle/>
          <a:p>
            <a:pPr marL="0" indent="0" algn="l">
              <a:lnSpc>
                <a:spcPts val="945"/>
              </a:lnSpc>
              <a:buNone/>
            </a:pPr>
            <a:r>
              <a:rPr lang="en-US" sz="800" dirty="0">
                <a:solidFill>
                  <a:srgbClr val="FBBF24"/>
                </a:solidFill>
                <a:latin typeface="Courier New" pitchFamily="34" charset="0"/>
                <a:ea typeface="Courier New" pitchFamily="34" charset="-122"/>
                <a:cs typeface="Courier New" pitchFamily="34" charset="-120"/>
              </a:rPr>
              <a:t>rule</a:t>
            </a:r>
            <a:endParaRPr lang="en-US" sz="800" dirty="0"/>
          </a:p>
        </p:txBody>
      </p:sp>
      <p:sp>
        <p:nvSpPr>
          <p:cNvPr id="21" name="Text 19"/>
          <p:cNvSpPr/>
          <p:nvPr/>
        </p:nvSpPr>
        <p:spPr>
          <a:xfrm>
            <a:off x="814388" y="2680022"/>
            <a:ext cx="1805369" cy="92561"/>
          </a:xfrm>
          <a:prstGeom prst="rect">
            <a:avLst/>
          </a:prstGeom>
          <a:noFill/>
          <a:ln/>
        </p:spPr>
        <p:txBody>
          <a:bodyPr wrap="none" lIns="0" tIns="0" rIns="0" bIns="0" rtlCol="0" anchor="t">
            <a:normAutofit fontScale="25000" lnSpcReduction="20000"/>
          </a:bodyPr>
          <a:lstStyle/>
          <a:p>
            <a:pPr marL="0" indent="0" algn="l">
              <a:lnSpc>
                <a:spcPts val="945"/>
              </a:lnSpc>
              <a:buNone/>
            </a:pPr>
            <a:r>
              <a:rPr lang="en-US" sz="675" dirty="0">
                <a:solidFill>
                  <a:srgbClr val="86EFAC"/>
                </a:solidFill>
                <a:latin typeface="Courier New" pitchFamily="34" charset="0"/>
                <a:ea typeface="Courier New" pitchFamily="34" charset="-122"/>
                <a:cs typeface="Courier New" pitchFamily="34" charset="-120"/>
              </a:rPr>
              <a:t>"aws_security_group_invalid_cidr_block"</a:t>
            </a:r>
            <a:endParaRPr lang="en-US" sz="675" dirty="0"/>
          </a:p>
        </p:txBody>
      </p:sp>
      <p:sp>
        <p:nvSpPr>
          <p:cNvPr id="22" name="Text 20"/>
          <p:cNvSpPr/>
          <p:nvPr/>
        </p:nvSpPr>
        <p:spPr>
          <a:xfrm>
            <a:off x="664351" y="2800015"/>
            <a:ext cx="471952" cy="146304"/>
          </a:xfrm>
          <a:prstGeom prst="rect">
            <a:avLst/>
          </a:prstGeom>
          <a:noFill/>
          <a:ln/>
        </p:spPr>
        <p:txBody>
          <a:bodyPr wrap="none" lIns="0" tIns="0" rIns="0" bIns="0" rtlCol="0" anchor="t"/>
          <a:lstStyle/>
          <a:p>
            <a:pPr marL="0" indent="0" algn="l">
              <a:lnSpc>
                <a:spcPts val="945"/>
              </a:lnSpc>
              <a:buNone/>
            </a:pPr>
            <a:r>
              <a:rPr lang="en-US" sz="800" dirty="0">
                <a:solidFill>
                  <a:srgbClr val="FBBF24"/>
                </a:solidFill>
                <a:latin typeface="Courier New" pitchFamily="34" charset="0"/>
                <a:ea typeface="Courier New" pitchFamily="34" charset="-122"/>
                <a:cs typeface="Courier New" pitchFamily="34" charset="-120"/>
              </a:rPr>
              <a:t>enabled</a:t>
            </a:r>
            <a:endParaRPr lang="en-US" sz="800" dirty="0"/>
          </a:p>
        </p:txBody>
      </p:sp>
      <p:sp>
        <p:nvSpPr>
          <p:cNvPr id="23" name="Text 21"/>
          <p:cNvSpPr/>
          <p:nvPr/>
        </p:nvSpPr>
        <p:spPr>
          <a:xfrm>
            <a:off x="1109121" y="2800015"/>
            <a:ext cx="284927" cy="146304"/>
          </a:xfrm>
          <a:prstGeom prst="rect">
            <a:avLst/>
          </a:prstGeom>
          <a:noFill/>
          <a:ln/>
        </p:spPr>
        <p:txBody>
          <a:bodyPr wrap="none" lIns="0" tIns="0" rIns="0" bIns="0" rtlCol="0" anchor="t"/>
          <a:lstStyle/>
          <a:p>
            <a:pPr marL="0" indent="0" algn="l">
              <a:lnSpc>
                <a:spcPts val="945"/>
              </a:lnSpc>
              <a:buNone/>
            </a:pPr>
            <a:r>
              <a:rPr lang="en-US" sz="800" dirty="0">
                <a:solidFill>
                  <a:srgbClr val="FBA74A"/>
                </a:solidFill>
                <a:latin typeface="Courier New" pitchFamily="34" charset="0"/>
                <a:ea typeface="Courier New" pitchFamily="34" charset="-122"/>
                <a:cs typeface="Courier New" pitchFamily="34" charset="-120"/>
              </a:rPr>
              <a:t>true</a:t>
            </a:r>
            <a:endParaRPr lang="en-US" sz="800" dirty="0"/>
          </a:p>
        </p:txBody>
      </p:sp>
      <p:sp>
        <p:nvSpPr>
          <p:cNvPr id="24" name="Text 22"/>
          <p:cNvSpPr/>
          <p:nvPr/>
        </p:nvSpPr>
        <p:spPr>
          <a:xfrm>
            <a:off x="594771" y="3040000"/>
            <a:ext cx="284927" cy="146304"/>
          </a:xfrm>
          <a:prstGeom prst="rect">
            <a:avLst/>
          </a:prstGeom>
          <a:noFill/>
          <a:ln/>
        </p:spPr>
        <p:txBody>
          <a:bodyPr wrap="none" lIns="0" tIns="0" rIns="0" bIns="0" rtlCol="0" anchor="t"/>
          <a:lstStyle/>
          <a:p>
            <a:pPr marL="0" indent="0" algn="l">
              <a:lnSpc>
                <a:spcPts val="945"/>
              </a:lnSpc>
              <a:buNone/>
            </a:pPr>
            <a:r>
              <a:rPr lang="en-US" sz="800" dirty="0">
                <a:solidFill>
                  <a:srgbClr val="FBBF24"/>
                </a:solidFill>
                <a:latin typeface="Courier New" pitchFamily="34" charset="0"/>
                <a:ea typeface="Courier New" pitchFamily="34" charset="-122"/>
                <a:cs typeface="Courier New" pitchFamily="34" charset="-120"/>
              </a:rPr>
              <a:t>rule</a:t>
            </a:r>
            <a:endParaRPr lang="en-US" sz="800" dirty="0"/>
          </a:p>
        </p:txBody>
      </p:sp>
      <p:sp>
        <p:nvSpPr>
          <p:cNvPr id="25" name="Text 23"/>
          <p:cNvSpPr/>
          <p:nvPr/>
        </p:nvSpPr>
        <p:spPr>
          <a:xfrm>
            <a:off x="814388" y="3040000"/>
            <a:ext cx="1296162" cy="92561"/>
          </a:xfrm>
          <a:prstGeom prst="rect">
            <a:avLst/>
          </a:prstGeom>
          <a:noFill/>
          <a:ln/>
        </p:spPr>
        <p:txBody>
          <a:bodyPr wrap="none" lIns="0" tIns="0" rIns="0" bIns="0" rtlCol="0" anchor="t">
            <a:normAutofit fontScale="25000" lnSpcReduction="20000"/>
          </a:bodyPr>
          <a:lstStyle/>
          <a:p>
            <a:pPr marL="0" indent="0" algn="l">
              <a:lnSpc>
                <a:spcPts val="945"/>
              </a:lnSpc>
              <a:buNone/>
            </a:pPr>
            <a:r>
              <a:rPr lang="en-US" sz="675" dirty="0">
                <a:solidFill>
                  <a:srgbClr val="86EFAC"/>
                </a:solidFill>
                <a:latin typeface="Courier New" pitchFamily="34" charset="0"/>
                <a:ea typeface="Courier New" pitchFamily="34" charset="-122"/>
                <a:cs typeface="Courier New" pitchFamily="34" charset="-120"/>
              </a:rPr>
              <a:t>"terraform_deprecated_index"</a:t>
            </a:r>
            <a:endParaRPr lang="en-US" sz="675" dirty="0"/>
          </a:p>
        </p:txBody>
      </p:sp>
      <p:sp>
        <p:nvSpPr>
          <p:cNvPr id="26" name="Text 24"/>
          <p:cNvSpPr/>
          <p:nvPr/>
        </p:nvSpPr>
        <p:spPr>
          <a:xfrm>
            <a:off x="664351" y="3159993"/>
            <a:ext cx="471952" cy="146304"/>
          </a:xfrm>
          <a:prstGeom prst="rect">
            <a:avLst/>
          </a:prstGeom>
          <a:noFill/>
          <a:ln/>
        </p:spPr>
        <p:txBody>
          <a:bodyPr wrap="none" lIns="0" tIns="0" rIns="0" bIns="0" rtlCol="0" anchor="t"/>
          <a:lstStyle/>
          <a:p>
            <a:pPr marL="0" indent="0" algn="l">
              <a:lnSpc>
                <a:spcPts val="945"/>
              </a:lnSpc>
              <a:buNone/>
            </a:pPr>
            <a:r>
              <a:rPr lang="en-US" sz="800" dirty="0">
                <a:solidFill>
                  <a:srgbClr val="FBBF24"/>
                </a:solidFill>
                <a:latin typeface="Courier New" pitchFamily="34" charset="0"/>
                <a:ea typeface="Courier New" pitchFamily="34" charset="-122"/>
                <a:cs typeface="Courier New" pitchFamily="34" charset="-120"/>
              </a:rPr>
              <a:t>enabled</a:t>
            </a:r>
            <a:endParaRPr lang="en-US" sz="800" dirty="0"/>
          </a:p>
        </p:txBody>
      </p:sp>
      <p:sp>
        <p:nvSpPr>
          <p:cNvPr id="27" name="Text 25"/>
          <p:cNvSpPr/>
          <p:nvPr/>
        </p:nvSpPr>
        <p:spPr>
          <a:xfrm>
            <a:off x="1109121" y="3159993"/>
            <a:ext cx="284927" cy="146304"/>
          </a:xfrm>
          <a:prstGeom prst="rect">
            <a:avLst/>
          </a:prstGeom>
          <a:noFill/>
          <a:ln/>
        </p:spPr>
        <p:txBody>
          <a:bodyPr wrap="none" lIns="0" tIns="0" rIns="0" bIns="0" rtlCol="0" anchor="t"/>
          <a:lstStyle/>
          <a:p>
            <a:pPr marL="0" indent="0" algn="l">
              <a:lnSpc>
                <a:spcPts val="945"/>
              </a:lnSpc>
              <a:buNone/>
            </a:pPr>
            <a:r>
              <a:rPr lang="en-US" sz="800" dirty="0">
                <a:solidFill>
                  <a:srgbClr val="FBA74A"/>
                </a:solidFill>
                <a:latin typeface="Courier New" pitchFamily="34" charset="0"/>
                <a:ea typeface="Courier New" pitchFamily="34" charset="-122"/>
                <a:cs typeface="Courier New" pitchFamily="34" charset="-120"/>
              </a:rPr>
              <a:t>true</a:t>
            </a:r>
            <a:endParaRPr lang="en-US" sz="800" dirty="0"/>
          </a:p>
        </p:txBody>
      </p:sp>
      <p:sp>
        <p:nvSpPr>
          <p:cNvPr id="28" name="Text 26"/>
          <p:cNvSpPr/>
          <p:nvPr/>
        </p:nvSpPr>
        <p:spPr>
          <a:xfrm>
            <a:off x="594771" y="3399979"/>
            <a:ext cx="284927" cy="146304"/>
          </a:xfrm>
          <a:prstGeom prst="rect">
            <a:avLst/>
          </a:prstGeom>
          <a:noFill/>
          <a:ln/>
        </p:spPr>
        <p:txBody>
          <a:bodyPr wrap="none" lIns="0" tIns="0" rIns="0" bIns="0" rtlCol="0" anchor="t"/>
          <a:lstStyle/>
          <a:p>
            <a:pPr marL="0" indent="0" algn="l">
              <a:lnSpc>
                <a:spcPts val="945"/>
              </a:lnSpc>
              <a:buNone/>
            </a:pPr>
            <a:r>
              <a:rPr lang="en-US" sz="800" dirty="0">
                <a:solidFill>
                  <a:srgbClr val="FBBF24"/>
                </a:solidFill>
                <a:latin typeface="Courier New" pitchFamily="34" charset="0"/>
                <a:ea typeface="Courier New" pitchFamily="34" charset="-122"/>
                <a:cs typeface="Courier New" pitchFamily="34" charset="-120"/>
              </a:rPr>
              <a:t>rule</a:t>
            </a:r>
            <a:endParaRPr lang="en-US" sz="800" dirty="0"/>
          </a:p>
        </p:txBody>
      </p:sp>
      <p:sp>
        <p:nvSpPr>
          <p:cNvPr id="29" name="Text 27"/>
          <p:cNvSpPr/>
          <p:nvPr/>
        </p:nvSpPr>
        <p:spPr>
          <a:xfrm>
            <a:off x="814388" y="3399979"/>
            <a:ext cx="1435037" cy="92561"/>
          </a:xfrm>
          <a:prstGeom prst="rect">
            <a:avLst/>
          </a:prstGeom>
          <a:noFill/>
          <a:ln/>
        </p:spPr>
        <p:txBody>
          <a:bodyPr wrap="none" lIns="0" tIns="0" rIns="0" bIns="0" rtlCol="0" anchor="t">
            <a:normAutofit fontScale="25000" lnSpcReduction="20000"/>
          </a:bodyPr>
          <a:lstStyle/>
          <a:p>
            <a:pPr marL="0" indent="0" algn="l">
              <a:lnSpc>
                <a:spcPts val="945"/>
              </a:lnSpc>
              <a:buNone/>
            </a:pPr>
            <a:r>
              <a:rPr lang="en-US" sz="675" dirty="0">
                <a:solidFill>
                  <a:srgbClr val="86EFAC"/>
                </a:solidFill>
                <a:latin typeface="Courier New" pitchFamily="34" charset="0"/>
                <a:ea typeface="Courier New" pitchFamily="34" charset="-122"/>
                <a:cs typeface="Courier New" pitchFamily="34" charset="-120"/>
              </a:rPr>
              <a:t>"terraform_unused_declarations"</a:t>
            </a:r>
            <a:endParaRPr lang="en-US" sz="675" dirty="0"/>
          </a:p>
        </p:txBody>
      </p:sp>
      <p:sp>
        <p:nvSpPr>
          <p:cNvPr id="30" name="Text 28"/>
          <p:cNvSpPr/>
          <p:nvPr/>
        </p:nvSpPr>
        <p:spPr>
          <a:xfrm>
            <a:off x="664351" y="3519971"/>
            <a:ext cx="471952" cy="146304"/>
          </a:xfrm>
          <a:prstGeom prst="rect">
            <a:avLst/>
          </a:prstGeom>
          <a:noFill/>
          <a:ln/>
        </p:spPr>
        <p:txBody>
          <a:bodyPr wrap="none" lIns="0" tIns="0" rIns="0" bIns="0" rtlCol="0" anchor="t"/>
          <a:lstStyle/>
          <a:p>
            <a:pPr marL="0" indent="0" algn="l">
              <a:lnSpc>
                <a:spcPts val="945"/>
              </a:lnSpc>
              <a:buNone/>
            </a:pPr>
            <a:r>
              <a:rPr lang="en-US" sz="800" dirty="0">
                <a:solidFill>
                  <a:srgbClr val="FBBF24"/>
                </a:solidFill>
                <a:latin typeface="Courier New" pitchFamily="34" charset="0"/>
                <a:ea typeface="Courier New" pitchFamily="34" charset="-122"/>
                <a:cs typeface="Courier New" pitchFamily="34" charset="-120"/>
              </a:rPr>
              <a:t>enabled</a:t>
            </a:r>
            <a:endParaRPr lang="en-US" sz="800" dirty="0"/>
          </a:p>
        </p:txBody>
      </p:sp>
      <p:sp>
        <p:nvSpPr>
          <p:cNvPr id="31" name="Text 29"/>
          <p:cNvSpPr/>
          <p:nvPr/>
        </p:nvSpPr>
        <p:spPr>
          <a:xfrm>
            <a:off x="1112241" y="3519971"/>
            <a:ext cx="347269" cy="146304"/>
          </a:xfrm>
          <a:prstGeom prst="rect">
            <a:avLst/>
          </a:prstGeom>
          <a:noFill/>
          <a:ln/>
        </p:spPr>
        <p:txBody>
          <a:bodyPr wrap="none" lIns="0" tIns="0" rIns="0" bIns="0" rtlCol="0" anchor="t"/>
          <a:lstStyle/>
          <a:p>
            <a:pPr marL="0" indent="0" algn="l">
              <a:lnSpc>
                <a:spcPts val="945"/>
              </a:lnSpc>
              <a:buNone/>
            </a:pPr>
            <a:r>
              <a:rPr lang="en-US" sz="800" dirty="0">
                <a:solidFill>
                  <a:srgbClr val="FBA74A"/>
                </a:solidFill>
                <a:latin typeface="Courier New" pitchFamily="34" charset="0"/>
                <a:ea typeface="Courier New" pitchFamily="34" charset="-122"/>
                <a:cs typeface="Courier New" pitchFamily="34" charset="-120"/>
              </a:rPr>
              <a:t>false</a:t>
            </a:r>
            <a:endParaRPr lang="en-US" sz="800" dirty="0"/>
          </a:p>
        </p:txBody>
      </p:sp>
      <p:sp>
        <p:nvSpPr>
          <p:cNvPr id="32" name="Text 30"/>
          <p:cNvSpPr/>
          <p:nvPr/>
        </p:nvSpPr>
        <p:spPr>
          <a:xfrm>
            <a:off x="1457325" y="3519971"/>
            <a:ext cx="1296162" cy="146304"/>
          </a:xfrm>
          <a:prstGeom prst="rect">
            <a:avLst/>
          </a:prstGeom>
          <a:noFill/>
          <a:ln/>
        </p:spPr>
        <p:txBody>
          <a:bodyPr wrap="none" lIns="0" tIns="0" rIns="0" bIns="0" rtlCol="0" anchor="t"/>
          <a:lstStyle/>
          <a:p>
            <a:pPr marL="0" indent="0" algn="l">
              <a:lnSpc>
                <a:spcPts val="945"/>
              </a:lnSpc>
              <a:buNone/>
            </a:pPr>
            <a:r>
              <a:rPr lang="en-US" sz="675" i="1" dirty="0">
                <a:solidFill>
                  <a:srgbClr val="94A3B8"/>
                </a:solidFill>
                <a:latin typeface="Courier New" pitchFamily="34" charset="0"/>
                <a:ea typeface="Courier New" pitchFamily="34" charset="-122"/>
                <a:cs typeface="Courier New" pitchFamily="34" charset="-120"/>
              </a:rPr>
              <a:t># too noisy for our codebase</a:t>
            </a:r>
            <a:endParaRPr lang="en-US" sz="675" dirty="0"/>
          </a:p>
        </p:txBody>
      </p:sp>
      <p:sp>
        <p:nvSpPr>
          <p:cNvPr id="33" name="Text 31"/>
          <p:cNvSpPr/>
          <p:nvPr/>
        </p:nvSpPr>
        <p:spPr>
          <a:xfrm>
            <a:off x="566975" y="3879949"/>
            <a:ext cx="729712" cy="146304"/>
          </a:xfrm>
          <a:prstGeom prst="rect">
            <a:avLst/>
          </a:prstGeom>
          <a:noFill/>
          <a:ln/>
        </p:spPr>
        <p:txBody>
          <a:bodyPr wrap="none" lIns="0" tIns="0" rIns="0" bIns="0" rtlCol="0" anchor="t"/>
          <a:lstStyle/>
          <a:p>
            <a:pPr marL="0" indent="0" algn="l">
              <a:lnSpc>
                <a:spcPts val="945"/>
              </a:lnSpc>
              <a:buNone/>
            </a:pPr>
            <a:r>
              <a:rPr lang="en-US" sz="800" i="1" dirty="0">
                <a:solidFill>
                  <a:srgbClr val="94A3B8"/>
                </a:solidFill>
                <a:latin typeface="Courier New" pitchFamily="34" charset="0"/>
                <a:ea typeface="Courier New" pitchFamily="34" charset="-122"/>
                <a:cs typeface="Courier New" pitchFamily="34" charset="-120"/>
              </a:rPr>
              <a:t># Run tflint</a:t>
            </a:r>
            <a:endParaRPr lang="en-US" sz="800" dirty="0"/>
          </a:p>
        </p:txBody>
      </p:sp>
      <p:sp>
        <p:nvSpPr>
          <p:cNvPr id="34" name="Text 32"/>
          <p:cNvSpPr/>
          <p:nvPr/>
        </p:nvSpPr>
        <p:spPr>
          <a:xfrm>
            <a:off x="600075" y="4239927"/>
            <a:ext cx="1481328" cy="91440"/>
          </a:xfrm>
          <a:prstGeom prst="rect">
            <a:avLst/>
          </a:prstGeom>
          <a:noFill/>
          <a:ln/>
        </p:spPr>
        <p:txBody>
          <a:bodyPr wrap="none" lIns="0" tIns="0" rIns="0" bIns="0" rtlCol="0" anchor="t"/>
          <a:lstStyle/>
          <a:p>
            <a:pPr marL="0" indent="0" algn="l">
              <a:lnSpc>
                <a:spcPts val="945"/>
              </a:lnSpc>
              <a:buNone/>
            </a:pPr>
            <a:r>
              <a:rPr lang="en-US" sz="675" i="1" dirty="0">
                <a:solidFill>
                  <a:srgbClr val="94A3B8"/>
                </a:solidFill>
                <a:latin typeface="Courier New" pitchFamily="34" charset="0"/>
                <a:ea typeface="Courier New" pitchFamily="34" charset="-122"/>
                <a:cs typeface="Courier New" pitchFamily="34" charset="-120"/>
              </a:rPr>
              <a:t># Sample output (lint failures):</a:t>
            </a:r>
            <a:endParaRPr lang="en-US" sz="675" dirty="0"/>
          </a:p>
        </p:txBody>
      </p:sp>
      <p:sp>
        <p:nvSpPr>
          <p:cNvPr id="35" name="Text 33"/>
          <p:cNvSpPr/>
          <p:nvPr/>
        </p:nvSpPr>
        <p:spPr>
          <a:xfrm>
            <a:off x="600075" y="4359920"/>
            <a:ext cx="91440" cy="91440"/>
          </a:xfrm>
          <a:prstGeom prst="rect">
            <a:avLst/>
          </a:prstGeom>
          <a:noFill/>
          <a:ln/>
        </p:spPr>
        <p:txBody>
          <a:bodyPr wrap="none" lIns="0" tIns="0" rIns="0" bIns="0" rtlCol="0" anchor="t"/>
          <a:lstStyle/>
          <a:p>
            <a:pPr marL="0" indent="0" algn="l">
              <a:lnSpc>
                <a:spcPts val="945"/>
              </a:lnSpc>
              <a:buNone/>
            </a:pPr>
            <a:r>
              <a:rPr lang="en-US" sz="800" dirty="0">
                <a:solidFill>
                  <a:srgbClr val="93C5FD"/>
                </a:solidFill>
                <a:latin typeface="Liberation Sans Narrow" pitchFamily="34" charset="0"/>
                <a:ea typeface="Liberation Sans Narrow" pitchFamily="34" charset="-122"/>
                <a:cs typeface="Liberation Sans Narrow" pitchFamily="34" charset="-120"/>
              </a:rPr>
              <a:t>1</a:t>
            </a:r>
            <a:endParaRPr lang="en-US" sz="800" dirty="0"/>
          </a:p>
        </p:txBody>
      </p:sp>
      <p:sp>
        <p:nvSpPr>
          <p:cNvPr id="36" name="Text 34"/>
          <p:cNvSpPr/>
          <p:nvPr/>
        </p:nvSpPr>
        <p:spPr>
          <a:xfrm>
            <a:off x="577352" y="4599905"/>
            <a:ext cx="413207" cy="91440"/>
          </a:xfrm>
          <a:prstGeom prst="rect">
            <a:avLst/>
          </a:prstGeom>
          <a:noFill/>
          <a:ln/>
        </p:spPr>
        <p:txBody>
          <a:bodyPr wrap="none" lIns="0" tIns="0" rIns="0" bIns="0" rtlCol="0" anchor="t"/>
          <a:lstStyle/>
          <a:p>
            <a:pPr marL="0" indent="0" algn="l">
              <a:lnSpc>
                <a:spcPts val="945"/>
              </a:lnSpc>
              <a:buNone/>
            </a:pPr>
            <a:r>
              <a:rPr lang="en-US" sz="800" dirty="0">
                <a:solidFill>
                  <a:srgbClr val="FBA74A"/>
                </a:solidFill>
                <a:latin typeface="Courier New" pitchFamily="34" charset="0"/>
                <a:ea typeface="Courier New" pitchFamily="34" charset="-122"/>
                <a:cs typeface="Courier New" pitchFamily="34" charset="-120"/>
              </a:rPr>
              <a:t>Error:</a:t>
            </a:r>
            <a:endParaRPr lang="en-US" sz="800" dirty="0"/>
          </a:p>
        </p:txBody>
      </p:sp>
      <p:sp>
        <p:nvSpPr>
          <p:cNvPr id="37" name="Text 35"/>
          <p:cNvSpPr/>
          <p:nvPr/>
        </p:nvSpPr>
        <p:spPr>
          <a:xfrm>
            <a:off x="895561" y="4599905"/>
            <a:ext cx="544885" cy="91440"/>
          </a:xfrm>
          <a:prstGeom prst="rect">
            <a:avLst/>
          </a:prstGeom>
          <a:noFill/>
          <a:ln/>
        </p:spPr>
        <p:txBody>
          <a:bodyPr wrap="none" lIns="0" tIns="0" rIns="0" bIns="0" rtlCol="0" anchor="t"/>
          <a:lstStyle/>
          <a:p>
            <a:pPr marL="0" indent="0" algn="l">
              <a:lnSpc>
                <a:spcPts val="945"/>
              </a:lnSpc>
              <a:buNone/>
            </a:pPr>
            <a:r>
              <a:rPr lang="en-US" sz="675" dirty="0">
                <a:solidFill>
                  <a:srgbClr val="86EFAC"/>
                </a:solidFill>
                <a:latin typeface="Liberation Sans Narrow" pitchFamily="34" charset="0"/>
                <a:ea typeface="Liberation Sans Narrow" pitchFamily="34" charset="-122"/>
                <a:cs typeface="Liberation Sans Narrow" pitchFamily="34" charset="-120"/>
              </a:rPr>
              <a:t>"t3.large"</a:t>
            </a:r>
            <a:endParaRPr lang="en-US" sz="675" dirty="0"/>
          </a:p>
        </p:txBody>
      </p:sp>
      <p:sp>
        <p:nvSpPr>
          <p:cNvPr id="38" name="Text 36"/>
          <p:cNvSpPr/>
          <p:nvPr/>
        </p:nvSpPr>
        <p:spPr>
          <a:xfrm>
            <a:off x="1362462" y="4839891"/>
            <a:ext cx="155437" cy="91440"/>
          </a:xfrm>
          <a:prstGeom prst="rect">
            <a:avLst/>
          </a:prstGeom>
          <a:noFill/>
          <a:ln/>
        </p:spPr>
        <p:txBody>
          <a:bodyPr wrap="none" lIns="0" tIns="0" rIns="0" bIns="0" rtlCol="0" anchor="t"/>
          <a:lstStyle/>
          <a:p>
            <a:pPr marL="0" indent="0" algn="l">
              <a:lnSpc>
                <a:spcPts val="945"/>
              </a:lnSpc>
              <a:buNone/>
            </a:pPr>
            <a:r>
              <a:rPr lang="en-US" sz="675" dirty="0">
                <a:solidFill>
                  <a:srgbClr val="93C5FD"/>
                </a:solidFill>
                <a:latin typeface="Liberation Sans Narrow" pitchFamily="34" charset="0"/>
                <a:ea typeface="Liberation Sans Narrow" pitchFamily="34" charset="-122"/>
                <a:cs typeface="Liberation Sans Narrow" pitchFamily="34" charset="-120"/>
              </a:rPr>
              <a:t>24</a:t>
            </a:r>
            <a:endParaRPr lang="en-US" sz="675" dirty="0"/>
          </a:p>
        </p:txBody>
      </p:sp>
      <p:sp>
        <p:nvSpPr>
          <p:cNvPr id="39" name="Text 37"/>
          <p:cNvSpPr/>
          <p:nvPr/>
        </p:nvSpPr>
        <p:spPr>
          <a:xfrm>
            <a:off x="676662" y="4959883"/>
            <a:ext cx="155437" cy="91440"/>
          </a:xfrm>
          <a:prstGeom prst="rect">
            <a:avLst/>
          </a:prstGeom>
          <a:noFill/>
          <a:ln/>
        </p:spPr>
        <p:txBody>
          <a:bodyPr wrap="none" lIns="0" tIns="0" rIns="0" bIns="0" rtlCol="0" anchor="t"/>
          <a:lstStyle/>
          <a:p>
            <a:pPr marL="0" indent="0" algn="l">
              <a:lnSpc>
                <a:spcPts val="945"/>
              </a:lnSpc>
              <a:buNone/>
            </a:pPr>
            <a:r>
              <a:rPr lang="en-US" sz="675" dirty="0">
                <a:solidFill>
                  <a:srgbClr val="93C5FD"/>
                </a:solidFill>
                <a:latin typeface="Liberation Sans Narrow" pitchFamily="34" charset="0"/>
                <a:ea typeface="Liberation Sans Narrow" pitchFamily="34" charset="-122"/>
                <a:cs typeface="Liberation Sans Narrow" pitchFamily="34" charset="-120"/>
              </a:rPr>
              <a:t>24</a:t>
            </a:r>
            <a:endParaRPr lang="en-US" sz="675" dirty="0"/>
          </a:p>
        </p:txBody>
      </p:sp>
      <p:sp>
        <p:nvSpPr>
          <p:cNvPr id="40" name="Text 38"/>
          <p:cNvSpPr/>
          <p:nvPr/>
        </p:nvSpPr>
        <p:spPr>
          <a:xfrm>
            <a:off x="1624223" y="4959883"/>
            <a:ext cx="544885" cy="91440"/>
          </a:xfrm>
          <a:prstGeom prst="rect">
            <a:avLst/>
          </a:prstGeom>
          <a:noFill/>
          <a:ln/>
        </p:spPr>
        <p:txBody>
          <a:bodyPr wrap="none" lIns="0" tIns="0" rIns="0" bIns="0" rtlCol="0" anchor="t"/>
          <a:lstStyle/>
          <a:p>
            <a:pPr marL="0" indent="0" algn="l">
              <a:lnSpc>
                <a:spcPts val="945"/>
              </a:lnSpc>
              <a:buNone/>
            </a:pPr>
            <a:r>
              <a:rPr lang="en-US" sz="675" dirty="0">
                <a:solidFill>
                  <a:srgbClr val="86EFAC"/>
                </a:solidFill>
                <a:latin typeface="Liberation Sans Narrow" pitchFamily="34" charset="0"/>
                <a:ea typeface="Liberation Sans Narrow" pitchFamily="34" charset="-122"/>
                <a:cs typeface="Liberation Sans Narrow" pitchFamily="34" charset="-120"/>
              </a:rPr>
              <a:t>"t3.large"</a:t>
            </a:r>
            <a:endParaRPr lang="en-US" sz="675" dirty="0"/>
          </a:p>
        </p:txBody>
      </p:sp>
      <p:sp>
        <p:nvSpPr>
          <p:cNvPr id="41" name="Text 39"/>
          <p:cNvSpPr/>
          <p:nvPr/>
        </p:nvSpPr>
        <p:spPr>
          <a:xfrm>
            <a:off x="600075" y="5439854"/>
            <a:ext cx="1481328" cy="91440"/>
          </a:xfrm>
          <a:prstGeom prst="rect">
            <a:avLst/>
          </a:prstGeom>
          <a:noFill/>
          <a:ln/>
        </p:spPr>
        <p:txBody>
          <a:bodyPr wrap="none" lIns="0" tIns="0" rIns="0" bIns="0" rtlCol="0" anchor="t"/>
          <a:lstStyle/>
          <a:p>
            <a:pPr marL="0" indent="0" algn="l">
              <a:lnSpc>
                <a:spcPts val="945"/>
              </a:lnSpc>
              <a:buNone/>
            </a:pPr>
            <a:r>
              <a:rPr lang="en-US" sz="675" i="1" dirty="0">
                <a:solidFill>
                  <a:srgbClr val="94A3B8"/>
                </a:solidFill>
                <a:latin typeface="Courier New" pitchFamily="34" charset="0"/>
                <a:ea typeface="Courier New" pitchFamily="34" charset="-122"/>
                <a:cs typeface="Courier New" pitchFamily="34" charset="-120"/>
              </a:rPr>
              <a:t># JSON output for CI integration</a:t>
            </a:r>
            <a:endParaRPr lang="en-US" sz="675" dirty="0"/>
          </a:p>
        </p:txBody>
      </p:sp>
      <p:sp>
        <p:nvSpPr>
          <p:cNvPr id="42" name="Text 40"/>
          <p:cNvSpPr/>
          <p:nvPr/>
        </p:nvSpPr>
        <p:spPr>
          <a:xfrm>
            <a:off x="672219" y="5799832"/>
            <a:ext cx="517510" cy="91440"/>
          </a:xfrm>
          <a:prstGeom prst="rect">
            <a:avLst/>
          </a:prstGeom>
          <a:noFill/>
          <a:ln/>
        </p:spPr>
        <p:txBody>
          <a:bodyPr wrap="none" lIns="0" tIns="0" rIns="0" bIns="0" rtlCol="0" anchor="t"/>
          <a:lstStyle/>
          <a:p>
            <a:pPr marL="0" indent="0" algn="l">
              <a:lnSpc>
                <a:spcPts val="945"/>
              </a:lnSpc>
              <a:buNone/>
            </a:pPr>
            <a:r>
              <a:rPr lang="en-US" sz="800" dirty="0">
                <a:solidFill>
                  <a:srgbClr val="FBBF24"/>
                </a:solidFill>
                <a:latin typeface="Courier New" pitchFamily="34" charset="0"/>
                <a:ea typeface="Courier New" pitchFamily="34" charset="-122"/>
                <a:cs typeface="Courier New" pitchFamily="34" charset="-120"/>
              </a:rPr>
              <a:t>"issues"</a:t>
            </a:r>
            <a:endParaRPr lang="en-US" sz="800" dirty="0"/>
          </a:p>
        </p:txBody>
      </p:sp>
      <p:sp>
        <p:nvSpPr>
          <p:cNvPr id="43" name="Text 41"/>
          <p:cNvSpPr/>
          <p:nvPr/>
        </p:nvSpPr>
        <p:spPr>
          <a:xfrm>
            <a:off x="758992" y="5919825"/>
            <a:ext cx="392826" cy="91440"/>
          </a:xfrm>
          <a:prstGeom prst="rect">
            <a:avLst/>
          </a:prstGeom>
          <a:noFill/>
          <a:ln/>
        </p:spPr>
        <p:txBody>
          <a:bodyPr wrap="none" lIns="0" tIns="0" rIns="0" bIns="0" rtlCol="0" anchor="t"/>
          <a:lstStyle/>
          <a:p>
            <a:pPr marL="0" indent="0" algn="l">
              <a:lnSpc>
                <a:spcPts val="945"/>
              </a:lnSpc>
              <a:buNone/>
            </a:pPr>
            <a:r>
              <a:rPr lang="en-US" sz="800" dirty="0">
                <a:solidFill>
                  <a:srgbClr val="FBBF24"/>
                </a:solidFill>
                <a:latin typeface="Courier New" pitchFamily="34" charset="0"/>
                <a:ea typeface="Courier New" pitchFamily="34" charset="-122"/>
                <a:cs typeface="Courier New" pitchFamily="34" charset="-120"/>
              </a:rPr>
              <a:t>"rule"</a:t>
            </a:r>
            <a:endParaRPr lang="en-US" sz="800" dirty="0"/>
          </a:p>
        </p:txBody>
      </p:sp>
      <p:sp>
        <p:nvSpPr>
          <p:cNvPr id="44" name="Text 42"/>
          <p:cNvSpPr/>
          <p:nvPr/>
        </p:nvSpPr>
        <p:spPr>
          <a:xfrm>
            <a:off x="1187617" y="5919825"/>
            <a:ext cx="392826" cy="91440"/>
          </a:xfrm>
          <a:prstGeom prst="rect">
            <a:avLst/>
          </a:prstGeom>
          <a:noFill/>
          <a:ln/>
        </p:spPr>
        <p:txBody>
          <a:bodyPr wrap="none" lIns="0" tIns="0" rIns="0" bIns="0" rtlCol="0" anchor="t"/>
          <a:lstStyle/>
          <a:p>
            <a:pPr marL="0" indent="0" algn="l">
              <a:lnSpc>
                <a:spcPts val="945"/>
              </a:lnSpc>
              <a:buNone/>
            </a:pPr>
            <a:r>
              <a:rPr lang="en-US" sz="800" dirty="0">
                <a:solidFill>
                  <a:srgbClr val="FBBF24"/>
                </a:solidFill>
                <a:latin typeface="Courier New" pitchFamily="34" charset="0"/>
                <a:ea typeface="Courier New" pitchFamily="34" charset="-122"/>
                <a:cs typeface="Courier New" pitchFamily="34" charset="-120"/>
              </a:rPr>
              <a:t>"name"</a:t>
            </a:r>
            <a:endParaRPr lang="en-US" sz="800" dirty="0"/>
          </a:p>
        </p:txBody>
      </p:sp>
      <p:sp>
        <p:nvSpPr>
          <p:cNvPr id="45" name="Text 43"/>
          <p:cNvSpPr/>
          <p:nvPr/>
        </p:nvSpPr>
        <p:spPr>
          <a:xfrm>
            <a:off x="1543050" y="5919825"/>
            <a:ext cx="1249871" cy="91440"/>
          </a:xfrm>
          <a:prstGeom prst="rect">
            <a:avLst/>
          </a:prstGeom>
          <a:noFill/>
          <a:ln/>
        </p:spPr>
        <p:txBody>
          <a:bodyPr wrap="none" lIns="0" tIns="0" rIns="0" bIns="0" rtlCol="0" anchor="t"/>
          <a:lstStyle/>
          <a:p>
            <a:pPr marL="0" indent="0" algn="l">
              <a:lnSpc>
                <a:spcPts val="945"/>
              </a:lnSpc>
              <a:buNone/>
            </a:pPr>
            <a:r>
              <a:rPr lang="en-US" sz="675" dirty="0">
                <a:solidFill>
                  <a:srgbClr val="86EFAC"/>
                </a:solidFill>
                <a:latin typeface="Courier New" pitchFamily="34" charset="0"/>
                <a:ea typeface="Courier New" pitchFamily="34" charset="-122"/>
                <a:cs typeface="Courier New" pitchFamily="34" charset="-120"/>
              </a:rPr>
              <a:t>"aws_instance_invalid_type"</a:t>
            </a:r>
            <a:endParaRPr lang="en-US" sz="675" dirty="0"/>
          </a:p>
        </p:txBody>
      </p:sp>
      <p:sp>
        <p:nvSpPr>
          <p:cNvPr id="46" name="Text 44"/>
          <p:cNvSpPr/>
          <p:nvPr/>
        </p:nvSpPr>
        <p:spPr>
          <a:xfrm>
            <a:off x="757419" y="6039817"/>
            <a:ext cx="579852" cy="91440"/>
          </a:xfrm>
          <a:prstGeom prst="rect">
            <a:avLst/>
          </a:prstGeom>
          <a:noFill/>
          <a:ln/>
        </p:spPr>
        <p:txBody>
          <a:bodyPr wrap="none" lIns="0" tIns="0" rIns="0" bIns="0" rtlCol="0" anchor="t"/>
          <a:lstStyle/>
          <a:p>
            <a:pPr marL="0" indent="0" algn="l">
              <a:lnSpc>
                <a:spcPts val="945"/>
              </a:lnSpc>
              <a:buNone/>
            </a:pPr>
            <a:r>
              <a:rPr lang="en-US" sz="800" dirty="0">
                <a:solidFill>
                  <a:srgbClr val="FBBF24"/>
                </a:solidFill>
                <a:latin typeface="Courier New" pitchFamily="34" charset="0"/>
                <a:ea typeface="Courier New" pitchFamily="34" charset="-122"/>
                <a:cs typeface="Courier New" pitchFamily="34" charset="-120"/>
              </a:rPr>
              <a:t>"message"</a:t>
            </a:r>
            <a:endParaRPr lang="en-US" sz="800" dirty="0"/>
          </a:p>
        </p:txBody>
      </p:sp>
      <p:sp>
        <p:nvSpPr>
          <p:cNvPr id="47" name="Text 45"/>
          <p:cNvSpPr/>
          <p:nvPr/>
        </p:nvSpPr>
        <p:spPr>
          <a:xfrm>
            <a:off x="1243013" y="6039817"/>
            <a:ext cx="1990535" cy="91440"/>
          </a:xfrm>
          <a:prstGeom prst="rect">
            <a:avLst/>
          </a:prstGeom>
          <a:noFill/>
          <a:ln/>
        </p:spPr>
        <p:txBody>
          <a:bodyPr wrap="none" lIns="0" tIns="0" rIns="0" bIns="0" rtlCol="0" anchor="t"/>
          <a:lstStyle/>
          <a:p>
            <a:pPr marL="0" indent="0" algn="l">
              <a:lnSpc>
                <a:spcPts val="945"/>
              </a:lnSpc>
              <a:buNone/>
            </a:pPr>
            <a:r>
              <a:rPr lang="en-US" sz="675" dirty="0">
                <a:solidFill>
                  <a:srgbClr val="86EFAC"/>
                </a:solidFill>
                <a:latin typeface="Courier New" pitchFamily="34" charset="0"/>
                <a:ea typeface="Courier New" pitchFamily="34" charset="-122"/>
                <a:cs typeface="Courier New" pitchFamily="34" charset="-120"/>
              </a:rPr>
              <a:t>"\"t3.large\" is an invalid instance type."</a:t>
            </a:r>
            <a:endParaRPr lang="en-US" sz="675" dirty="0"/>
          </a:p>
        </p:txBody>
      </p:sp>
      <p:sp>
        <p:nvSpPr>
          <p:cNvPr id="48" name="Text 46"/>
          <p:cNvSpPr/>
          <p:nvPr/>
        </p:nvSpPr>
        <p:spPr>
          <a:xfrm>
            <a:off x="758468" y="6159810"/>
            <a:ext cx="455168" cy="91440"/>
          </a:xfrm>
          <a:prstGeom prst="rect">
            <a:avLst/>
          </a:prstGeom>
          <a:noFill/>
          <a:ln/>
        </p:spPr>
        <p:txBody>
          <a:bodyPr wrap="none" lIns="0" tIns="0" rIns="0" bIns="0" rtlCol="0" anchor="t"/>
          <a:lstStyle/>
          <a:p>
            <a:pPr marL="0" indent="0" algn="l">
              <a:lnSpc>
                <a:spcPts val="945"/>
              </a:lnSpc>
              <a:buNone/>
            </a:pPr>
            <a:r>
              <a:rPr lang="en-US" sz="800" dirty="0">
                <a:solidFill>
                  <a:srgbClr val="FBBF24"/>
                </a:solidFill>
                <a:latin typeface="Courier New" pitchFamily="34" charset="0"/>
                <a:ea typeface="Courier New" pitchFamily="34" charset="-122"/>
                <a:cs typeface="Courier New" pitchFamily="34" charset="-120"/>
              </a:rPr>
              <a:t>"range"</a:t>
            </a:r>
            <a:endParaRPr lang="en-US" sz="800" dirty="0"/>
          </a:p>
        </p:txBody>
      </p:sp>
      <p:sp>
        <p:nvSpPr>
          <p:cNvPr id="49" name="Text 47"/>
          <p:cNvSpPr/>
          <p:nvPr/>
        </p:nvSpPr>
        <p:spPr>
          <a:xfrm>
            <a:off x="1239978" y="6159810"/>
            <a:ext cx="541851" cy="91440"/>
          </a:xfrm>
          <a:prstGeom prst="rect">
            <a:avLst/>
          </a:prstGeom>
          <a:noFill/>
          <a:ln/>
        </p:spPr>
        <p:txBody>
          <a:bodyPr wrap="none" lIns="0" tIns="0" rIns="0" bIns="0" rtlCol="0" anchor="t"/>
          <a:lstStyle/>
          <a:p>
            <a:pPr marL="0" indent="0" algn="l">
              <a:lnSpc>
                <a:spcPts val="945"/>
              </a:lnSpc>
              <a:buNone/>
            </a:pPr>
            <a:r>
              <a:rPr lang="en-US" sz="675" dirty="0">
                <a:solidFill>
                  <a:srgbClr val="FBBF24"/>
                </a:solidFill>
                <a:latin typeface="Courier New" pitchFamily="34" charset="0"/>
                <a:ea typeface="Courier New" pitchFamily="34" charset="-122"/>
                <a:cs typeface="Courier New" pitchFamily="34" charset="-120"/>
              </a:rPr>
              <a:t>"filename"</a:t>
            </a:r>
            <a:endParaRPr lang="en-US" sz="675" dirty="0"/>
          </a:p>
        </p:txBody>
      </p:sp>
      <p:sp>
        <p:nvSpPr>
          <p:cNvPr id="50" name="Text 48"/>
          <p:cNvSpPr/>
          <p:nvPr/>
        </p:nvSpPr>
        <p:spPr>
          <a:xfrm>
            <a:off x="1747453" y="6159810"/>
            <a:ext cx="571459" cy="91440"/>
          </a:xfrm>
          <a:prstGeom prst="rect">
            <a:avLst/>
          </a:prstGeom>
          <a:noFill/>
          <a:ln/>
        </p:spPr>
        <p:txBody>
          <a:bodyPr wrap="none" lIns="0" tIns="0" rIns="0" bIns="0" rtlCol="0" anchor="t"/>
          <a:lstStyle/>
          <a:p>
            <a:pPr marL="0" indent="0" algn="l">
              <a:lnSpc>
                <a:spcPts val="945"/>
              </a:lnSpc>
              <a:buNone/>
            </a:pPr>
            <a:r>
              <a:rPr lang="en-US" sz="800" dirty="0">
                <a:solidFill>
                  <a:srgbClr val="86EFAC"/>
                </a:solidFill>
                <a:latin typeface="Courier New" pitchFamily="34" charset="0"/>
                <a:ea typeface="Courier New" pitchFamily="34" charset="-122"/>
                <a:cs typeface="Courier New" pitchFamily="34" charset="-120"/>
              </a:rPr>
              <a:t>"main.tf"</a:t>
            </a:r>
            <a:endParaRPr lang="en-US" sz="800" dirty="0"/>
          </a:p>
        </p:txBody>
      </p:sp>
      <p:sp>
        <p:nvSpPr>
          <p:cNvPr id="51" name="Text 49"/>
          <p:cNvSpPr/>
          <p:nvPr/>
        </p:nvSpPr>
        <p:spPr>
          <a:xfrm>
            <a:off x="2215793" y="6159810"/>
            <a:ext cx="455168" cy="91440"/>
          </a:xfrm>
          <a:prstGeom prst="rect">
            <a:avLst/>
          </a:prstGeom>
          <a:noFill/>
          <a:ln/>
        </p:spPr>
        <p:txBody>
          <a:bodyPr wrap="none" lIns="0" tIns="0" rIns="0" bIns="0" rtlCol="0" anchor="t"/>
          <a:lstStyle/>
          <a:p>
            <a:pPr marL="0" indent="0" algn="l">
              <a:lnSpc>
                <a:spcPts val="945"/>
              </a:lnSpc>
              <a:buNone/>
            </a:pPr>
            <a:r>
              <a:rPr lang="en-US" sz="800" dirty="0">
                <a:solidFill>
                  <a:srgbClr val="FBBF24"/>
                </a:solidFill>
                <a:latin typeface="Courier New" pitchFamily="34" charset="0"/>
                <a:ea typeface="Courier New" pitchFamily="34" charset="-122"/>
                <a:cs typeface="Courier New" pitchFamily="34" charset="-120"/>
              </a:rPr>
              <a:t>"start"</a:t>
            </a:r>
            <a:endParaRPr lang="en-US" sz="800" dirty="0"/>
          </a:p>
        </p:txBody>
      </p:sp>
      <p:sp>
        <p:nvSpPr>
          <p:cNvPr id="52" name="Text 50"/>
          <p:cNvSpPr/>
          <p:nvPr/>
        </p:nvSpPr>
        <p:spPr>
          <a:xfrm>
            <a:off x="2687805" y="6159810"/>
            <a:ext cx="392826" cy="91440"/>
          </a:xfrm>
          <a:prstGeom prst="rect">
            <a:avLst/>
          </a:prstGeom>
          <a:noFill/>
          <a:ln/>
        </p:spPr>
        <p:txBody>
          <a:bodyPr wrap="none" lIns="0" tIns="0" rIns="0" bIns="0" rtlCol="0" anchor="t"/>
          <a:lstStyle/>
          <a:p>
            <a:pPr marL="0" indent="0" algn="l">
              <a:lnSpc>
                <a:spcPts val="945"/>
              </a:lnSpc>
              <a:buNone/>
            </a:pPr>
            <a:r>
              <a:rPr lang="en-US" sz="800" dirty="0">
                <a:solidFill>
                  <a:srgbClr val="FBBF24"/>
                </a:solidFill>
                <a:latin typeface="Courier New" pitchFamily="34" charset="0"/>
                <a:ea typeface="Courier New" pitchFamily="34" charset="-122"/>
                <a:cs typeface="Courier New" pitchFamily="34" charset="-120"/>
              </a:rPr>
              <a:t>"line"</a:t>
            </a:r>
            <a:endParaRPr lang="en-US" sz="800" dirty="0"/>
          </a:p>
        </p:txBody>
      </p:sp>
      <p:sp>
        <p:nvSpPr>
          <p:cNvPr id="53" name="Text 51"/>
          <p:cNvSpPr/>
          <p:nvPr/>
        </p:nvSpPr>
        <p:spPr>
          <a:xfrm>
            <a:off x="3034099" y="6159810"/>
            <a:ext cx="155437" cy="91440"/>
          </a:xfrm>
          <a:prstGeom prst="rect">
            <a:avLst/>
          </a:prstGeom>
          <a:noFill/>
          <a:ln/>
        </p:spPr>
        <p:txBody>
          <a:bodyPr wrap="none" lIns="0" tIns="0" rIns="0" bIns="0" rtlCol="0" anchor="t"/>
          <a:lstStyle/>
          <a:p>
            <a:pPr marL="0" indent="0" algn="l">
              <a:lnSpc>
                <a:spcPts val="945"/>
              </a:lnSpc>
              <a:buNone/>
            </a:pPr>
            <a:r>
              <a:rPr lang="en-US" sz="675" dirty="0">
                <a:solidFill>
                  <a:srgbClr val="93C5FD"/>
                </a:solidFill>
                <a:latin typeface="Liberation Sans Narrow" pitchFamily="34" charset="0"/>
                <a:ea typeface="Liberation Sans Narrow" pitchFamily="34" charset="-122"/>
                <a:cs typeface="Liberation Sans Narrow" pitchFamily="34" charset="-120"/>
              </a:rPr>
              <a:t>24</a:t>
            </a:r>
            <a:endParaRPr lang="en-US" sz="675" dirty="0"/>
          </a:p>
        </p:txBody>
      </p:sp>
      <p:sp>
        <p:nvSpPr>
          <p:cNvPr id="54" name="Text 52"/>
          <p:cNvSpPr/>
          <p:nvPr/>
        </p:nvSpPr>
        <p:spPr>
          <a:xfrm>
            <a:off x="768490" y="6279803"/>
            <a:ext cx="541851" cy="91440"/>
          </a:xfrm>
          <a:prstGeom prst="rect">
            <a:avLst/>
          </a:prstGeom>
          <a:noFill/>
          <a:ln/>
        </p:spPr>
        <p:txBody>
          <a:bodyPr wrap="none" lIns="0" tIns="0" rIns="0" bIns="0" rtlCol="0" anchor="t"/>
          <a:lstStyle/>
          <a:p>
            <a:pPr marL="0" indent="0" algn="l">
              <a:lnSpc>
                <a:spcPts val="945"/>
              </a:lnSpc>
              <a:buNone/>
            </a:pPr>
            <a:r>
              <a:rPr lang="en-US" sz="675" dirty="0">
                <a:solidFill>
                  <a:srgbClr val="FBBF24"/>
                </a:solidFill>
                <a:latin typeface="Courier New" pitchFamily="34" charset="0"/>
                <a:ea typeface="Courier New" pitchFamily="34" charset="-122"/>
                <a:cs typeface="Courier New" pitchFamily="34" charset="-120"/>
              </a:rPr>
              <a:t>"severity"</a:t>
            </a:r>
            <a:endParaRPr lang="en-US" sz="675" dirty="0"/>
          </a:p>
        </p:txBody>
      </p:sp>
      <p:sp>
        <p:nvSpPr>
          <p:cNvPr id="55" name="Text 53"/>
          <p:cNvSpPr/>
          <p:nvPr/>
        </p:nvSpPr>
        <p:spPr>
          <a:xfrm>
            <a:off x="1272818" y="6279803"/>
            <a:ext cx="455168" cy="91440"/>
          </a:xfrm>
          <a:prstGeom prst="rect">
            <a:avLst/>
          </a:prstGeom>
          <a:noFill/>
          <a:ln/>
        </p:spPr>
        <p:txBody>
          <a:bodyPr wrap="none" lIns="0" tIns="0" rIns="0" bIns="0" rtlCol="0" anchor="t"/>
          <a:lstStyle/>
          <a:p>
            <a:pPr marL="0" indent="0" algn="l">
              <a:lnSpc>
                <a:spcPts val="945"/>
              </a:lnSpc>
              <a:buNone/>
            </a:pPr>
            <a:r>
              <a:rPr lang="en-US" sz="800" dirty="0">
                <a:solidFill>
                  <a:srgbClr val="86EFAC"/>
                </a:solidFill>
                <a:latin typeface="Courier New" pitchFamily="34" charset="0"/>
                <a:ea typeface="Courier New" pitchFamily="34" charset="-122"/>
                <a:cs typeface="Courier New" pitchFamily="34" charset="-120"/>
              </a:rPr>
              <a:t>"error"</a:t>
            </a:r>
            <a:endParaRPr lang="en-US" sz="800" dirty="0"/>
          </a:p>
        </p:txBody>
      </p:sp>
      <p:sp>
        <p:nvSpPr>
          <p:cNvPr id="56" name="Text 54"/>
          <p:cNvSpPr/>
          <p:nvPr/>
        </p:nvSpPr>
        <p:spPr>
          <a:xfrm>
            <a:off x="460772" y="4401331"/>
            <a:ext cx="3178969" cy="281397"/>
          </a:xfrm>
          <a:prstGeom prst="roundRect">
            <a:avLst>
              <a:gd name="adj" fmla="val 27079"/>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57" name="Text 55"/>
          <p:cNvSpPr/>
          <p:nvPr/>
        </p:nvSpPr>
        <p:spPr>
          <a:xfrm>
            <a:off x="457200" y="4397759"/>
            <a:ext cx="3186113" cy="311624"/>
          </a:xfrm>
          <a:prstGeom prst="rect">
            <a:avLst/>
          </a:prstGeom>
          <a:noFill/>
          <a:ln/>
        </p:spPr>
        <p:txBody>
          <a:bodyPr wrap="square" lIns="100013" tIns="57150" rIns="100013" bIns="57150" rtlCol="0" anchor="t"/>
          <a:lstStyle/>
          <a:p>
            <a:pPr marL="0" indent="0" algn="l">
              <a:lnSpc>
                <a:spcPts val="1260"/>
              </a:lnSpc>
              <a:buNone/>
            </a:pPr>
            <a:r>
              <a:rPr lang="en-US" sz="900" b="1" dirty="0">
                <a:solidFill>
                  <a:srgbClr val="C2410C"/>
                </a:solidFill>
                <a:latin typeface="Courier New" pitchFamily="34" charset="0"/>
                <a:ea typeface="Courier New" pitchFamily="34" charset="-122"/>
                <a:cs typeface="Courier New" pitchFamily="34" charset="-120"/>
              </a:rPr>
              <a:t>CI: tflint --format json | jq .issues | review on PR</a:t>
            </a:r>
            <a:endParaRPr lang="en-US" sz="9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6097168" cy="373346"/>
          </a:xfrm>
          <a:prstGeom prst="rect">
            <a:avLst/>
          </a:prstGeom>
          <a:noFill/>
          <a:ln/>
        </p:spPr>
        <p:txBody>
          <a:bodyPr wrap="square" lIns="0" tIns="0" rIns="0" bIns="0" rtlCol="0" anchor="t"/>
          <a:lstStyle/>
          <a:p>
            <a:pPr marL="0" indent="0" algn="l">
              <a:lnSpc>
                <a:spcPts val="2723"/>
              </a:lnSpc>
              <a:buNone/>
            </a:pPr>
            <a:r>
              <a:rPr lang="en-US" sz="2475" b="1" kern="0" spc="-28" dirty="0">
                <a:solidFill>
                  <a:srgbClr val="0F172A"/>
                </a:solidFill>
                <a:latin typeface="Carlito" pitchFamily="34" charset="0"/>
                <a:ea typeface="Carlito" pitchFamily="34" charset="-122"/>
                <a:cs typeface="Carlito" pitchFamily="34" charset="-120"/>
              </a:rPr>
              <a:t>Checkov — IaC Security &amp; Policy Scanner</a:t>
            </a:r>
            <a:endParaRPr lang="en-US" sz="2475" dirty="0"/>
          </a:p>
        </p:txBody>
      </p:sp>
      <p:sp>
        <p:nvSpPr>
          <p:cNvPr id="3" name="Text 1"/>
          <p:cNvSpPr/>
          <p:nvPr/>
        </p:nvSpPr>
        <p:spPr>
          <a:xfrm>
            <a:off x="457200" y="888616"/>
            <a:ext cx="571500" cy="42863"/>
          </a:xfrm>
          <a:prstGeom prst="roundRect">
            <a:avLst>
              <a:gd name="adj" fmla="val 66666"/>
            </a:avLst>
          </a:prstGeom>
          <a:solidFill>
            <a:srgbClr val="F97316"/>
          </a:solidFill>
          <a:ln/>
        </p:spPr>
        <p:txBody>
          <a:bodyPr wrap="square" rtlCol="0" anchor="ctr"/>
          <a:lstStyle/>
          <a:p>
            <a:pPr marL="0" indent="0">
              <a:buNone/>
            </a:pPr>
            <a:endParaRPr lang="en-US" dirty="0"/>
          </a:p>
        </p:txBody>
      </p:sp>
      <p:sp>
        <p:nvSpPr>
          <p:cNvPr id="4" name="Text 2"/>
          <p:cNvSpPr/>
          <p:nvPr/>
        </p:nvSpPr>
        <p:spPr>
          <a:xfrm>
            <a:off x="7162860" y="528672"/>
            <a:ext cx="1546800" cy="331333"/>
          </a:xfrm>
          <a:prstGeom prst="roundRect">
            <a:avLst>
              <a:gd name="adj" fmla="val 2871877"/>
            </a:avLst>
          </a:prstGeom>
          <a:solidFill>
            <a:srgbClr val="FED7AA"/>
          </a:solidFill>
          <a:ln/>
        </p:spPr>
        <p:txBody>
          <a:bodyPr wrap="square" rtlCol="0" anchor="ctr"/>
          <a:lstStyle/>
          <a:p>
            <a:pPr marL="0" indent="0">
              <a:buNone/>
            </a:pPr>
            <a:endParaRPr lang="en-US" dirty="0"/>
          </a:p>
        </p:txBody>
      </p:sp>
      <p:sp>
        <p:nvSpPr>
          <p:cNvPr id="5" name="Text 3"/>
          <p:cNvSpPr/>
          <p:nvPr/>
        </p:nvSpPr>
        <p:spPr>
          <a:xfrm>
            <a:off x="7185720" y="541474"/>
            <a:ext cx="1501080" cy="305730"/>
          </a:xfrm>
          <a:prstGeom prst="rect">
            <a:avLst/>
          </a:prstGeom>
          <a:noFill/>
          <a:ln/>
        </p:spPr>
        <p:txBody>
          <a:bodyPr wrap="none" lIns="0" tIns="0" rIns="0" bIns="0" rtlCol="0" anchor="ctr"/>
          <a:lstStyle/>
          <a:p>
            <a:pPr marL="0" indent="0" algn="ctr">
              <a:lnSpc>
                <a:spcPts val="1733"/>
              </a:lnSpc>
              <a:buNone/>
            </a:pPr>
            <a:r>
              <a:rPr lang="en-US" sz="1238" b="1" kern="0" spc="28" dirty="0">
                <a:solidFill>
                  <a:srgbClr val="C2410C"/>
                </a:solidFill>
                <a:latin typeface="Liberation Sans Narrow" pitchFamily="34" charset="0"/>
                <a:ea typeface="Liberation Sans Narrow" pitchFamily="34" charset="-122"/>
                <a:cs typeface="Liberation Sans Narrow" pitchFamily="34" charset="-120"/>
              </a:rPr>
              <a:t>SECTION C · 3.18</a:t>
            </a:r>
            <a:endParaRPr lang="en-US" sz="1238" dirty="0"/>
          </a:p>
        </p:txBody>
      </p:sp>
      <p:sp>
        <p:nvSpPr>
          <p:cNvPr id="6" name="Text 4"/>
          <p:cNvSpPr/>
          <p:nvPr/>
        </p:nvSpPr>
        <p:spPr>
          <a:xfrm>
            <a:off x="460772" y="1049350"/>
            <a:ext cx="4519092" cy="3633378"/>
          </a:xfrm>
          <a:prstGeom prst="roundRect">
            <a:avLst>
              <a:gd name="adj" fmla="val 3670"/>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7" name="Shape 5"/>
          <p:cNvSpPr/>
          <p:nvPr/>
        </p:nvSpPr>
        <p:spPr>
          <a:xfrm>
            <a:off x="621506" y="1822996"/>
            <a:ext cx="4197623" cy="0"/>
          </a:xfrm>
          <a:prstGeom prst="line">
            <a:avLst/>
          </a:prstGeom>
          <a:noFill/>
          <a:ln w="7144">
            <a:solidFill>
              <a:srgbClr val="CBD5E1"/>
            </a:solidFill>
            <a:prstDash val="dash"/>
          </a:ln>
        </p:spPr>
      </p:sp>
      <p:sp>
        <p:nvSpPr>
          <p:cNvPr id="8" name="Text 6"/>
          <p:cNvSpPr/>
          <p:nvPr/>
        </p:nvSpPr>
        <p:spPr>
          <a:xfrm>
            <a:off x="621506" y="1252947"/>
            <a:ext cx="434340" cy="495040"/>
          </a:xfrm>
          <a:prstGeom prst="rect">
            <a:avLst/>
          </a:prstGeom>
          <a:noFill/>
          <a:ln/>
        </p:spPr>
        <p:txBody>
          <a:bodyPr wrap="none" lIns="0" tIns="0" rIns="0" bIns="0" rtlCol="0" anchor="t"/>
          <a:lstStyle/>
          <a:p>
            <a:pPr marL="0" indent="0" algn="l">
              <a:lnSpc>
                <a:spcPts val="1463"/>
              </a:lnSpc>
              <a:buNone/>
            </a:pPr>
            <a:r>
              <a:rPr lang="en-US" sz="1463" b="1" dirty="0">
                <a:solidFill>
                  <a:srgbClr val="F97316"/>
                </a:solidFill>
                <a:latin typeface="Liberation Sans Narrow" pitchFamily="34" charset="0"/>
                <a:ea typeface="Liberation Sans Narrow" pitchFamily="34" charset="-122"/>
                <a:cs typeface="Liberation Sans Narrow" pitchFamily="34" charset="-120"/>
              </a:rPr>
              <a:t>01</a:t>
            </a:r>
            <a:endParaRPr lang="en-US" sz="1463" dirty="0"/>
          </a:p>
        </p:txBody>
      </p:sp>
      <p:sp>
        <p:nvSpPr>
          <p:cNvPr id="9" name="Text 7"/>
          <p:cNvSpPr/>
          <p:nvPr/>
        </p:nvSpPr>
        <p:spPr>
          <a:xfrm>
            <a:off x="992981" y="1252947"/>
            <a:ext cx="3826148" cy="156854"/>
          </a:xfrm>
          <a:prstGeom prst="rect">
            <a:avLst/>
          </a:prstGeom>
          <a:noFill/>
          <a:ln/>
        </p:spPr>
        <p:txBody>
          <a:bodyPr wrap="none" lIns="0" tIns="0" rIns="0" bIns="0" rtlCol="0" anchor="t">
            <a:normAutofit fontScale="92500"/>
          </a:bodyPr>
          <a:lstStyle/>
          <a:p>
            <a:pPr marL="0" indent="0" algn="l">
              <a:lnSpc>
                <a:spcPts val="1283"/>
              </a:lnSpc>
              <a:buNone/>
            </a:pPr>
            <a:r>
              <a:rPr lang="en-US" sz="1069" b="1" dirty="0">
                <a:solidFill>
                  <a:srgbClr val="0F172A"/>
                </a:solidFill>
                <a:latin typeface="Carlito" pitchFamily="34" charset="0"/>
                <a:ea typeface="Carlito" pitchFamily="34" charset="-122"/>
                <a:cs typeface="Carlito" pitchFamily="34" charset="-120"/>
              </a:rPr>
              <a:t>What It Does</a:t>
            </a:r>
            <a:endParaRPr lang="en-US" sz="1069" dirty="0"/>
          </a:p>
        </p:txBody>
      </p:sp>
      <p:sp>
        <p:nvSpPr>
          <p:cNvPr id="10" name="Text 8"/>
          <p:cNvSpPr/>
          <p:nvPr/>
        </p:nvSpPr>
        <p:spPr>
          <a:xfrm>
            <a:off x="992981" y="1437233"/>
            <a:ext cx="3826148" cy="310753"/>
          </a:xfrm>
          <a:prstGeom prst="rect">
            <a:avLst/>
          </a:prstGeom>
          <a:noFill/>
          <a:ln/>
        </p:spPr>
        <p:txBody>
          <a:bodyPr wrap="square" lIns="0" tIns="0" rIns="0" bIns="0" rtlCol="0" anchor="t"/>
          <a:lstStyle/>
          <a:p>
            <a:pPr marL="0" indent="0" algn="l">
              <a:lnSpc>
                <a:spcPts val="1223"/>
              </a:lnSpc>
              <a:buNone/>
            </a:pPr>
            <a:r>
              <a:rPr lang="en-US" sz="844" dirty="0">
                <a:solidFill>
                  <a:srgbClr val="334155"/>
                </a:solidFill>
                <a:latin typeface="Carlito" pitchFamily="34" charset="0"/>
                <a:ea typeface="Carlito" pitchFamily="34" charset="-122"/>
                <a:cs typeface="Carlito" pitchFamily="34" charset="-120"/>
              </a:rPr>
              <a:t>Scans Terraform, CloudFormation, Kubernetes, Dockerfile, ARM, Bicep, OpenAPI for security and compliance violations. 1,000+ built-in policies.</a:t>
            </a:r>
            <a:endParaRPr lang="en-US" sz="844" dirty="0"/>
          </a:p>
        </p:txBody>
      </p:sp>
      <p:sp>
        <p:nvSpPr>
          <p:cNvPr id="11" name="Shape 9"/>
          <p:cNvSpPr/>
          <p:nvPr/>
        </p:nvSpPr>
        <p:spPr>
          <a:xfrm>
            <a:off x="621506" y="2623431"/>
            <a:ext cx="4197623" cy="0"/>
          </a:xfrm>
          <a:prstGeom prst="line">
            <a:avLst/>
          </a:prstGeom>
          <a:noFill/>
          <a:ln w="7144">
            <a:solidFill>
              <a:srgbClr val="CBD5E1"/>
            </a:solidFill>
            <a:prstDash val="dash"/>
          </a:ln>
        </p:spPr>
      </p:sp>
      <p:sp>
        <p:nvSpPr>
          <p:cNvPr id="12" name="Text 10"/>
          <p:cNvSpPr/>
          <p:nvPr/>
        </p:nvSpPr>
        <p:spPr>
          <a:xfrm>
            <a:off x="621506" y="1898005"/>
            <a:ext cx="434340" cy="650416"/>
          </a:xfrm>
          <a:prstGeom prst="rect">
            <a:avLst/>
          </a:prstGeom>
          <a:noFill/>
          <a:ln/>
        </p:spPr>
        <p:txBody>
          <a:bodyPr wrap="none" lIns="0" tIns="0" rIns="0" bIns="0" rtlCol="0" anchor="t"/>
          <a:lstStyle/>
          <a:p>
            <a:pPr marL="0" indent="0" algn="l">
              <a:lnSpc>
                <a:spcPts val="1463"/>
              </a:lnSpc>
              <a:buNone/>
            </a:pPr>
            <a:r>
              <a:rPr lang="en-US" sz="1463" b="1" dirty="0">
                <a:solidFill>
                  <a:srgbClr val="F97316"/>
                </a:solidFill>
                <a:latin typeface="Liberation Sans Narrow" pitchFamily="34" charset="0"/>
                <a:ea typeface="Liberation Sans Narrow" pitchFamily="34" charset="-122"/>
                <a:cs typeface="Liberation Sans Narrow" pitchFamily="34" charset="-120"/>
              </a:rPr>
              <a:t>02</a:t>
            </a:r>
            <a:endParaRPr lang="en-US" sz="1463" dirty="0"/>
          </a:p>
        </p:txBody>
      </p:sp>
      <p:sp>
        <p:nvSpPr>
          <p:cNvPr id="13" name="Text 11"/>
          <p:cNvSpPr/>
          <p:nvPr/>
        </p:nvSpPr>
        <p:spPr>
          <a:xfrm>
            <a:off x="992981" y="1898005"/>
            <a:ext cx="3826148" cy="156854"/>
          </a:xfrm>
          <a:prstGeom prst="rect">
            <a:avLst/>
          </a:prstGeom>
          <a:noFill/>
          <a:ln/>
        </p:spPr>
        <p:txBody>
          <a:bodyPr wrap="none" lIns="0" tIns="0" rIns="0" bIns="0" rtlCol="0" anchor="t">
            <a:normAutofit fontScale="85000" lnSpcReduction="10000"/>
          </a:bodyPr>
          <a:lstStyle/>
          <a:p>
            <a:pPr marL="0" indent="0" algn="l">
              <a:lnSpc>
                <a:spcPts val="1283"/>
              </a:lnSpc>
              <a:buNone/>
            </a:pPr>
            <a:r>
              <a:rPr lang="en-US" sz="1069" b="1" dirty="0">
                <a:solidFill>
                  <a:srgbClr val="0F172A"/>
                </a:solidFill>
                <a:latin typeface="Carlito" pitchFamily="34" charset="0"/>
                <a:ea typeface="Carlito" pitchFamily="34" charset="-122"/>
                <a:cs typeface="Carlito" pitchFamily="34" charset="-120"/>
              </a:rPr>
              <a:t>How It Differs from tflint</a:t>
            </a:r>
            <a:endParaRPr lang="en-US" sz="1069" dirty="0"/>
          </a:p>
        </p:txBody>
      </p:sp>
      <p:sp>
        <p:nvSpPr>
          <p:cNvPr id="14" name="Text 12"/>
          <p:cNvSpPr/>
          <p:nvPr/>
        </p:nvSpPr>
        <p:spPr>
          <a:xfrm>
            <a:off x="992981" y="2082292"/>
            <a:ext cx="3826148" cy="466130"/>
          </a:xfrm>
          <a:prstGeom prst="rect">
            <a:avLst/>
          </a:prstGeom>
          <a:noFill/>
          <a:ln/>
        </p:spPr>
        <p:txBody>
          <a:bodyPr wrap="square" lIns="0" tIns="0" rIns="0" bIns="0" rtlCol="0" anchor="t"/>
          <a:lstStyle/>
          <a:p>
            <a:pPr marL="0" indent="0" algn="l">
              <a:lnSpc>
                <a:spcPts val="1223"/>
              </a:lnSpc>
              <a:buNone/>
            </a:pPr>
            <a:r>
              <a:rPr lang="en-US" sz="844" dirty="0">
                <a:solidFill>
                  <a:srgbClr val="334155"/>
                </a:solidFill>
                <a:latin typeface="Carlito" pitchFamily="34" charset="0"/>
                <a:ea typeface="Carlito" pitchFamily="34" charset="-122"/>
                <a:cs typeface="Carlito" pitchFamily="34" charset="-120"/>
              </a:rPr>
              <a:t>tflint catches syntax + provider issues. Checkov catches SECURITY and POLICY issues: open security groups, unencrypted S3, over-permissive IAM, missing tags.</a:t>
            </a:r>
            <a:endParaRPr lang="en-US" sz="844" dirty="0"/>
          </a:p>
        </p:txBody>
      </p:sp>
      <p:sp>
        <p:nvSpPr>
          <p:cNvPr id="15" name="Shape 13"/>
          <p:cNvSpPr/>
          <p:nvPr/>
        </p:nvSpPr>
        <p:spPr>
          <a:xfrm>
            <a:off x="621506" y="3268489"/>
            <a:ext cx="4197623" cy="0"/>
          </a:xfrm>
          <a:prstGeom prst="line">
            <a:avLst/>
          </a:prstGeom>
          <a:noFill/>
          <a:ln w="7144">
            <a:solidFill>
              <a:srgbClr val="CBD5E1"/>
            </a:solidFill>
            <a:prstDash val="dash"/>
          </a:ln>
        </p:spPr>
      </p:sp>
      <p:sp>
        <p:nvSpPr>
          <p:cNvPr id="16" name="Text 14"/>
          <p:cNvSpPr/>
          <p:nvPr/>
        </p:nvSpPr>
        <p:spPr>
          <a:xfrm>
            <a:off x="621506" y="2698440"/>
            <a:ext cx="434340" cy="495040"/>
          </a:xfrm>
          <a:prstGeom prst="rect">
            <a:avLst/>
          </a:prstGeom>
          <a:noFill/>
          <a:ln/>
        </p:spPr>
        <p:txBody>
          <a:bodyPr wrap="none" lIns="0" tIns="0" rIns="0" bIns="0" rtlCol="0" anchor="t"/>
          <a:lstStyle/>
          <a:p>
            <a:pPr marL="0" indent="0" algn="l">
              <a:lnSpc>
                <a:spcPts val="1463"/>
              </a:lnSpc>
              <a:buNone/>
            </a:pPr>
            <a:r>
              <a:rPr lang="en-US" sz="1463" b="1" dirty="0">
                <a:solidFill>
                  <a:srgbClr val="F97316"/>
                </a:solidFill>
                <a:latin typeface="Liberation Sans Narrow" pitchFamily="34" charset="0"/>
                <a:ea typeface="Liberation Sans Narrow" pitchFamily="34" charset="-122"/>
                <a:cs typeface="Liberation Sans Narrow" pitchFamily="34" charset="-120"/>
              </a:rPr>
              <a:t>03</a:t>
            </a:r>
            <a:endParaRPr lang="en-US" sz="1463" dirty="0"/>
          </a:p>
        </p:txBody>
      </p:sp>
      <p:sp>
        <p:nvSpPr>
          <p:cNvPr id="17" name="Text 15"/>
          <p:cNvSpPr/>
          <p:nvPr/>
        </p:nvSpPr>
        <p:spPr>
          <a:xfrm>
            <a:off x="992981" y="2698440"/>
            <a:ext cx="3826148" cy="156854"/>
          </a:xfrm>
          <a:prstGeom prst="rect">
            <a:avLst/>
          </a:prstGeom>
          <a:noFill/>
          <a:ln/>
        </p:spPr>
        <p:txBody>
          <a:bodyPr wrap="none" lIns="0" tIns="0" rIns="0" bIns="0" rtlCol="0" anchor="t">
            <a:normAutofit fontScale="85000" lnSpcReduction="10000"/>
          </a:bodyPr>
          <a:lstStyle/>
          <a:p>
            <a:pPr marL="0" indent="0" algn="l">
              <a:lnSpc>
                <a:spcPts val="1283"/>
              </a:lnSpc>
              <a:buNone/>
            </a:pPr>
            <a:r>
              <a:rPr lang="en-US" sz="1069" b="1" dirty="0">
                <a:solidFill>
                  <a:srgbClr val="0F172A"/>
                </a:solidFill>
                <a:latin typeface="Carlito" pitchFamily="34" charset="0"/>
                <a:ea typeface="Carlito" pitchFamily="34" charset="-122"/>
                <a:cs typeface="Carlito" pitchFamily="34" charset="-120"/>
              </a:rPr>
              <a:t>Policy Frameworks</a:t>
            </a:r>
            <a:endParaRPr lang="en-US" sz="1069" dirty="0"/>
          </a:p>
        </p:txBody>
      </p:sp>
      <p:sp>
        <p:nvSpPr>
          <p:cNvPr id="18" name="Text 16"/>
          <p:cNvSpPr/>
          <p:nvPr/>
        </p:nvSpPr>
        <p:spPr>
          <a:xfrm>
            <a:off x="992981" y="2882726"/>
            <a:ext cx="3826148" cy="310753"/>
          </a:xfrm>
          <a:prstGeom prst="rect">
            <a:avLst/>
          </a:prstGeom>
          <a:noFill/>
          <a:ln/>
        </p:spPr>
        <p:txBody>
          <a:bodyPr wrap="square" lIns="0" tIns="0" rIns="0" bIns="0" rtlCol="0" anchor="t"/>
          <a:lstStyle/>
          <a:p>
            <a:pPr marL="0" indent="0" algn="l">
              <a:lnSpc>
                <a:spcPts val="1223"/>
              </a:lnSpc>
              <a:buNone/>
            </a:pPr>
            <a:r>
              <a:rPr lang="en-US" sz="844" dirty="0">
                <a:solidFill>
                  <a:srgbClr val="334155"/>
                </a:solidFill>
                <a:latin typeface="Carlito" pitchFamily="34" charset="0"/>
                <a:ea typeface="Carlito" pitchFamily="34" charset="-122"/>
                <a:cs typeface="Carlito" pitchFamily="34" charset="-120"/>
              </a:rPr>
              <a:t>Built-in policies map to CIS Benchmarks, PCI-DSS, HIPAA, NIST 800-53. Custom policies in Python or YAML.</a:t>
            </a:r>
            <a:endParaRPr lang="en-US" sz="844" dirty="0"/>
          </a:p>
        </p:txBody>
      </p:sp>
      <p:sp>
        <p:nvSpPr>
          <p:cNvPr id="19" name="Text 17"/>
          <p:cNvSpPr/>
          <p:nvPr/>
        </p:nvSpPr>
        <p:spPr>
          <a:xfrm>
            <a:off x="621506" y="3343498"/>
            <a:ext cx="434340" cy="534643"/>
          </a:xfrm>
          <a:prstGeom prst="rect">
            <a:avLst/>
          </a:prstGeom>
          <a:noFill/>
          <a:ln/>
        </p:spPr>
        <p:txBody>
          <a:bodyPr wrap="none" lIns="0" tIns="0" rIns="0" bIns="0" rtlCol="0" anchor="t"/>
          <a:lstStyle/>
          <a:p>
            <a:pPr marL="0" indent="0" algn="l">
              <a:lnSpc>
                <a:spcPts val="1463"/>
              </a:lnSpc>
              <a:buNone/>
            </a:pPr>
            <a:r>
              <a:rPr lang="en-US" sz="1463" b="1" dirty="0">
                <a:solidFill>
                  <a:srgbClr val="F97316"/>
                </a:solidFill>
                <a:latin typeface="Liberation Sans Narrow" pitchFamily="34" charset="0"/>
                <a:ea typeface="Liberation Sans Narrow" pitchFamily="34" charset="-122"/>
                <a:cs typeface="Liberation Sans Narrow" pitchFamily="34" charset="-120"/>
              </a:rPr>
              <a:t>04</a:t>
            </a:r>
            <a:endParaRPr lang="en-US" sz="1463" dirty="0"/>
          </a:p>
        </p:txBody>
      </p:sp>
      <p:sp>
        <p:nvSpPr>
          <p:cNvPr id="20" name="Text 18"/>
          <p:cNvSpPr/>
          <p:nvPr/>
        </p:nvSpPr>
        <p:spPr>
          <a:xfrm>
            <a:off x="992981" y="3343498"/>
            <a:ext cx="3826148" cy="156854"/>
          </a:xfrm>
          <a:prstGeom prst="rect">
            <a:avLst/>
          </a:prstGeom>
          <a:noFill/>
          <a:ln/>
        </p:spPr>
        <p:txBody>
          <a:bodyPr wrap="none" lIns="0" tIns="0" rIns="0" bIns="0" rtlCol="0" anchor="t">
            <a:normAutofit fontScale="85000" lnSpcReduction="10000"/>
          </a:bodyPr>
          <a:lstStyle/>
          <a:p>
            <a:pPr marL="0" indent="0" algn="l">
              <a:lnSpc>
                <a:spcPts val="1283"/>
              </a:lnSpc>
              <a:buNone/>
            </a:pPr>
            <a:r>
              <a:rPr lang="en-US" sz="1069" b="1" dirty="0">
                <a:solidFill>
                  <a:srgbClr val="0F172A"/>
                </a:solidFill>
                <a:latin typeface="Carlito" pitchFamily="34" charset="0"/>
                <a:ea typeface="Carlito" pitchFamily="34" charset="-122"/>
                <a:cs typeface="Carlito" pitchFamily="34" charset="-120"/>
              </a:rPr>
              <a:t>Output Formats</a:t>
            </a:r>
            <a:endParaRPr lang="en-US" sz="1069" dirty="0"/>
          </a:p>
        </p:txBody>
      </p:sp>
      <p:sp>
        <p:nvSpPr>
          <p:cNvPr id="21" name="Text 19"/>
          <p:cNvSpPr/>
          <p:nvPr/>
        </p:nvSpPr>
        <p:spPr>
          <a:xfrm>
            <a:off x="992981" y="3527785"/>
            <a:ext cx="3826148" cy="335613"/>
          </a:xfrm>
          <a:prstGeom prst="rect">
            <a:avLst/>
          </a:prstGeom>
          <a:noFill/>
          <a:ln/>
        </p:spPr>
        <p:txBody>
          <a:bodyPr wrap="square" lIns="0" tIns="0" rIns="0" bIns="0" rtlCol="0" anchor="t"/>
          <a:lstStyle/>
          <a:p>
            <a:pPr marL="0" indent="0" algn="l">
              <a:lnSpc>
                <a:spcPts val="1223"/>
              </a:lnSpc>
              <a:buNone/>
            </a:pPr>
            <a:r>
              <a:rPr lang="en-US" sz="844" dirty="0">
                <a:solidFill>
                  <a:srgbClr val="334155"/>
                </a:solidFill>
                <a:latin typeface="Carlito" pitchFamily="34" charset="0"/>
                <a:ea typeface="Carlito" pitchFamily="34" charset="-122"/>
                <a:cs typeface="Carlito" pitchFamily="34" charset="-120"/>
              </a:rPr>
              <a:t>CLI, JSON, SARIF, JUnit XML. Integrates with GitHub Code Scanning, GitLab, SonarQube, Splunk.</a:t>
            </a:r>
            <a:endParaRPr lang="en-US" sz="844" dirty="0"/>
          </a:p>
        </p:txBody>
      </p:sp>
      <p:sp>
        <p:nvSpPr>
          <p:cNvPr id="22" name="Text 20"/>
          <p:cNvSpPr/>
          <p:nvPr/>
        </p:nvSpPr>
        <p:spPr>
          <a:xfrm>
            <a:off x="5126310" y="1045778"/>
            <a:ext cx="3703253" cy="3640522"/>
          </a:xfrm>
          <a:prstGeom prst="roundRect">
            <a:avLst>
              <a:gd name="adj" fmla="val 2093"/>
            </a:avLst>
          </a:prstGeom>
          <a:solidFill>
            <a:srgbClr val="FFF7ED"/>
          </a:solidFill>
          <a:ln/>
        </p:spPr>
        <p:txBody>
          <a:bodyPr wrap="square" rtlCol="0" anchor="ctr"/>
          <a:lstStyle/>
          <a:p>
            <a:pPr marL="0" indent="0">
              <a:buNone/>
            </a:pPr>
            <a:endParaRPr lang="en-US" dirty="0"/>
          </a:p>
        </p:txBody>
      </p:sp>
      <p:sp>
        <p:nvSpPr>
          <p:cNvPr id="23" name="Shape 21"/>
          <p:cNvSpPr/>
          <p:nvPr/>
        </p:nvSpPr>
        <p:spPr>
          <a:xfrm>
            <a:off x="5147742" y="1045778"/>
            <a:ext cx="0" cy="3640522"/>
          </a:xfrm>
          <a:prstGeom prst="line">
            <a:avLst/>
          </a:prstGeom>
          <a:noFill/>
          <a:ln w="42863">
            <a:solidFill>
              <a:srgbClr val="F97316"/>
            </a:solidFill>
            <a:prstDash val="solid"/>
          </a:ln>
        </p:spPr>
      </p:sp>
      <p:sp>
        <p:nvSpPr>
          <p:cNvPr id="24" name="Text 22"/>
          <p:cNvSpPr/>
          <p:nvPr/>
        </p:nvSpPr>
        <p:spPr>
          <a:xfrm>
            <a:off x="5597798" y="1181509"/>
            <a:ext cx="1855980" cy="216027"/>
          </a:xfrm>
          <a:prstGeom prst="rect">
            <a:avLst/>
          </a:prstGeom>
          <a:noFill/>
          <a:ln/>
        </p:spPr>
        <p:txBody>
          <a:bodyPr wrap="none" lIns="0" tIns="0" rIns="0" bIns="0" rtlCol="0" anchor="t"/>
          <a:lstStyle/>
          <a:p>
            <a:pPr marL="0" indent="0" algn="l">
              <a:lnSpc>
                <a:spcPts val="1733"/>
              </a:lnSpc>
              <a:buNone/>
            </a:pPr>
            <a:r>
              <a:rPr lang="en-US" sz="1238" b="1" dirty="0">
                <a:solidFill>
                  <a:srgbClr val="C2410C"/>
                </a:solidFill>
                <a:latin typeface="Carlito" pitchFamily="34" charset="0"/>
                <a:ea typeface="Carlito" pitchFamily="34" charset="-122"/>
                <a:cs typeface="Carlito" pitchFamily="34" charset="-120"/>
              </a:rPr>
              <a:t>Key Checkov features</a:t>
            </a:r>
            <a:endParaRPr lang="en-US" sz="1238" dirty="0"/>
          </a:p>
        </p:txBody>
      </p:sp>
      <p:sp>
        <p:nvSpPr>
          <p:cNvPr id="25" name="Text 23"/>
          <p:cNvSpPr/>
          <p:nvPr/>
        </p:nvSpPr>
        <p:spPr>
          <a:xfrm>
            <a:off x="5326335" y="1184300"/>
            <a:ext cx="200025" cy="200025"/>
          </a:xfrm>
          <a:prstGeom prst="rect">
            <a:avLst/>
          </a:prstGeom>
          <a:noFill/>
          <a:ln/>
        </p:spPr>
        <p:txBody>
          <a:bodyPr wrap="none" lIns="0" tIns="0" rIns="0" bIns="0" rtlCol="0" anchor="ctr"/>
          <a:lstStyle/>
          <a:p>
            <a:pPr marL="0" indent="0" algn="ctr">
              <a:buNone/>
            </a:pPr>
            <a:r>
              <a:rPr lang="en-US" sz="1969" dirty="0">
                <a:solidFill>
                  <a:srgbClr val="C2410C"/>
                </a:solidFill>
                <a:latin typeface="Segoe UI Symbol" pitchFamily="34" charset="0"/>
                <a:ea typeface="Segoe UI Symbol" pitchFamily="34" charset="-122"/>
                <a:cs typeface="Segoe UI Symbol" pitchFamily="34" charset="-120"/>
              </a:rPr>
              <a:t>⛨</a:t>
            </a:r>
            <a:endParaRPr lang="en-US" sz="1969" dirty="0"/>
          </a:p>
        </p:txBody>
      </p:sp>
      <p:sp>
        <p:nvSpPr>
          <p:cNvPr id="26" name="Text 24"/>
          <p:cNvSpPr/>
          <p:nvPr/>
        </p:nvSpPr>
        <p:spPr>
          <a:xfrm>
            <a:off x="5326335" y="1480096"/>
            <a:ext cx="3346066" cy="2154932"/>
          </a:xfrm>
          <a:prstGeom prst="rect">
            <a:avLst/>
          </a:prstGeom>
          <a:noFill/>
          <a:ln/>
        </p:spPr>
        <p:txBody>
          <a:bodyPr wrap="square" lIns="0" tIns="0" rIns="0" bIns="0" rtlCol="0" anchor="t"/>
          <a:lstStyle/>
          <a:p>
            <a:pPr marL="342900" indent="-342900" algn="l">
              <a:lnSpc>
                <a:spcPts val="1339"/>
              </a:lnSpc>
              <a:buSzPct val="100000"/>
              <a:buChar char="•"/>
            </a:pPr>
            <a:r>
              <a:rPr lang="en-US" sz="956" dirty="0">
                <a:solidFill>
                  <a:srgbClr val="0F172A"/>
                </a:solidFill>
                <a:latin typeface="Carlito" pitchFamily="34" charset="0"/>
                <a:ea typeface="Carlito" pitchFamily="34" charset="-122"/>
                <a:cs typeface="Carlito" pitchFamily="34" charset="-120"/>
              </a:rPr>
              <a:t>›1,000+ built-in policies</a:t>
            </a:r>
            <a:endParaRPr lang="en-US" sz="956" dirty="0"/>
          </a:p>
          <a:p>
            <a:pPr marL="342900" indent="-342900" algn="l">
              <a:lnSpc>
                <a:spcPts val="1339"/>
              </a:lnSpc>
              <a:buSzPct val="100000"/>
              <a:buChar char="•"/>
            </a:pPr>
            <a:r>
              <a:rPr lang="en-US" sz="956" dirty="0">
                <a:solidFill>
                  <a:srgbClr val="0F172A"/>
                </a:solidFill>
                <a:latin typeface="Carlito" pitchFamily="34" charset="0"/>
                <a:ea typeface="Carlito" pitchFamily="34" charset="-122"/>
                <a:cs typeface="Carlito" pitchFamily="34" charset="-120"/>
              </a:rPr>
              <a:t>›Terraform, CFN, K8s, Dockerfile, ARM</a:t>
            </a:r>
            <a:endParaRPr lang="en-US" sz="956" dirty="0"/>
          </a:p>
          <a:p>
            <a:pPr marL="342900" indent="-342900" algn="l">
              <a:lnSpc>
                <a:spcPts val="1339"/>
              </a:lnSpc>
              <a:buSzPct val="100000"/>
              <a:buChar char="•"/>
            </a:pPr>
            <a:r>
              <a:rPr lang="en-US" sz="956" dirty="0">
                <a:solidFill>
                  <a:srgbClr val="0F172A"/>
                </a:solidFill>
                <a:latin typeface="Carlito" pitchFamily="34" charset="0"/>
                <a:ea typeface="Carlito" pitchFamily="34" charset="-122"/>
                <a:cs typeface="Carlito" pitchFamily="34" charset="-120"/>
              </a:rPr>
              <a:t>›CIS, PCI-DSS, HIPAA, NIST mappings</a:t>
            </a:r>
            <a:endParaRPr lang="en-US" sz="956" dirty="0"/>
          </a:p>
          <a:p>
            <a:pPr marL="342900" indent="-342900" algn="l">
              <a:lnSpc>
                <a:spcPts val="1339"/>
              </a:lnSpc>
              <a:buSzPct val="100000"/>
              <a:buChar char="•"/>
            </a:pPr>
            <a:r>
              <a:rPr lang="en-US" sz="956" dirty="0">
                <a:solidFill>
                  <a:srgbClr val="0F172A"/>
                </a:solidFill>
                <a:latin typeface="Carlito" pitchFamily="34" charset="0"/>
                <a:ea typeface="Carlito" pitchFamily="34" charset="-122"/>
                <a:cs typeface="Carlito" pitchFamily="34" charset="-120"/>
              </a:rPr>
              <a:t>›Custom policies (Python or YAML)</a:t>
            </a:r>
            <a:endParaRPr lang="en-US" sz="956" dirty="0"/>
          </a:p>
          <a:p>
            <a:pPr marL="342900" indent="-342900" algn="l">
              <a:lnSpc>
                <a:spcPts val="1339"/>
              </a:lnSpc>
              <a:buSzPct val="100000"/>
              <a:buChar char="•"/>
            </a:pPr>
            <a:r>
              <a:rPr lang="en-US" sz="956" dirty="0">
                <a:solidFill>
                  <a:srgbClr val="0F172A"/>
                </a:solidFill>
                <a:latin typeface="Carlito" pitchFamily="34" charset="0"/>
                <a:ea typeface="Carlito" pitchFamily="34" charset="-122"/>
                <a:cs typeface="Carlito" pitchFamily="34" charset="-120"/>
              </a:rPr>
              <a:t>›GitHub Code Scanning integration</a:t>
            </a:r>
            <a:endParaRPr lang="en-US" sz="956" dirty="0"/>
          </a:p>
          <a:p>
            <a:pPr marL="342900" indent="-342900" algn="l">
              <a:lnSpc>
                <a:spcPts val="1339"/>
              </a:lnSpc>
              <a:buSzPct val="100000"/>
              <a:buChar char="•"/>
            </a:pPr>
            <a:r>
              <a:rPr lang="en-US" sz="956" dirty="0">
                <a:solidFill>
                  <a:srgbClr val="0F172A"/>
                </a:solidFill>
                <a:latin typeface="Carlito" pitchFamily="34" charset="0"/>
                <a:ea typeface="Carlito" pitchFamily="34" charset="-122"/>
                <a:cs typeface="Carlito" pitchFamily="34" charset="-120"/>
              </a:rPr>
              <a:t>›SARIF output for IDE integration</a:t>
            </a:r>
            <a:endParaRPr lang="en-US" sz="956" dirty="0"/>
          </a:p>
          <a:p>
            <a:pPr marL="342900" indent="-342900" algn="l">
              <a:lnSpc>
                <a:spcPts val="1339"/>
              </a:lnSpc>
              <a:buSzPct val="100000"/>
              <a:buChar char="•"/>
            </a:pPr>
            <a:r>
              <a:rPr lang="en-US" sz="956" dirty="0">
                <a:solidFill>
                  <a:srgbClr val="0F172A"/>
                </a:solidFill>
                <a:latin typeface="Carlito" pitchFamily="34" charset="0"/>
                <a:ea typeface="Carlito" pitchFamily="34" charset="-122"/>
                <a:cs typeface="Carlito" pitchFamily="34" charset="-120"/>
              </a:rPr>
              <a:t>›Open source (Apache 2.0)</a:t>
            </a:r>
            <a:endParaRPr lang="en-US" sz="956"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4714629" cy="373346"/>
          </a:xfrm>
          <a:prstGeom prst="rect">
            <a:avLst/>
          </a:prstGeom>
          <a:noFill/>
          <a:ln/>
        </p:spPr>
        <p:txBody>
          <a:bodyPr wrap="square" lIns="0" tIns="0" rIns="0" bIns="0" rtlCol="0" anchor="t"/>
          <a:lstStyle/>
          <a:p>
            <a:pPr marL="0" indent="0" algn="l">
              <a:lnSpc>
                <a:spcPts val="2723"/>
              </a:lnSpc>
              <a:buNone/>
            </a:pPr>
            <a:r>
              <a:rPr lang="en-US" sz="2475" b="1" kern="0" spc="-28" dirty="0">
                <a:solidFill>
                  <a:srgbClr val="0F172A"/>
                </a:solidFill>
                <a:latin typeface="Carlito" pitchFamily="34" charset="0"/>
                <a:ea typeface="Carlito" pitchFamily="34" charset="-122"/>
                <a:cs typeface="Carlito" pitchFamily="34" charset="-120"/>
              </a:rPr>
              <a:t>Code Example — Checkov Scan</a:t>
            </a:r>
            <a:endParaRPr lang="en-US" sz="2475" dirty="0"/>
          </a:p>
        </p:txBody>
      </p:sp>
      <p:sp>
        <p:nvSpPr>
          <p:cNvPr id="3" name="Text 1"/>
          <p:cNvSpPr/>
          <p:nvPr/>
        </p:nvSpPr>
        <p:spPr>
          <a:xfrm>
            <a:off x="457200" y="860041"/>
            <a:ext cx="571500" cy="42863"/>
          </a:xfrm>
          <a:prstGeom prst="roundRect">
            <a:avLst>
              <a:gd name="adj" fmla="val 66666"/>
            </a:avLst>
          </a:prstGeom>
          <a:solidFill>
            <a:srgbClr val="F97316"/>
          </a:solidFill>
          <a:ln/>
        </p:spPr>
        <p:txBody>
          <a:bodyPr wrap="square" rtlCol="0" anchor="ctr"/>
          <a:lstStyle/>
          <a:p>
            <a:pPr marL="0" indent="0">
              <a:buNone/>
            </a:pPr>
            <a:endParaRPr lang="en-US" dirty="0"/>
          </a:p>
        </p:txBody>
      </p:sp>
      <p:sp>
        <p:nvSpPr>
          <p:cNvPr id="4" name="Text 2"/>
          <p:cNvSpPr/>
          <p:nvPr/>
        </p:nvSpPr>
        <p:spPr>
          <a:xfrm>
            <a:off x="7162860" y="514385"/>
            <a:ext cx="1546800" cy="331333"/>
          </a:xfrm>
          <a:prstGeom prst="roundRect">
            <a:avLst>
              <a:gd name="adj" fmla="val 2871877"/>
            </a:avLst>
          </a:prstGeom>
          <a:solidFill>
            <a:srgbClr val="FED7AA"/>
          </a:solidFill>
          <a:ln/>
        </p:spPr>
        <p:txBody>
          <a:bodyPr wrap="square" rtlCol="0" anchor="ctr"/>
          <a:lstStyle/>
          <a:p>
            <a:pPr marL="0" indent="0">
              <a:buNone/>
            </a:pPr>
            <a:endParaRPr lang="en-US" dirty="0"/>
          </a:p>
        </p:txBody>
      </p:sp>
      <p:sp>
        <p:nvSpPr>
          <p:cNvPr id="5" name="Text 3"/>
          <p:cNvSpPr/>
          <p:nvPr/>
        </p:nvSpPr>
        <p:spPr>
          <a:xfrm>
            <a:off x="7185720" y="527186"/>
            <a:ext cx="1501080" cy="305730"/>
          </a:xfrm>
          <a:prstGeom prst="rect">
            <a:avLst/>
          </a:prstGeom>
          <a:noFill/>
          <a:ln/>
        </p:spPr>
        <p:txBody>
          <a:bodyPr wrap="none" lIns="0" tIns="0" rIns="0" bIns="0" rtlCol="0" anchor="ctr"/>
          <a:lstStyle/>
          <a:p>
            <a:pPr marL="0" indent="0" algn="ctr">
              <a:lnSpc>
                <a:spcPts val="1733"/>
              </a:lnSpc>
              <a:buNone/>
            </a:pPr>
            <a:r>
              <a:rPr lang="en-US" sz="1238" b="1" kern="0" spc="28" dirty="0">
                <a:solidFill>
                  <a:srgbClr val="C2410C"/>
                </a:solidFill>
                <a:latin typeface="Liberation Sans Narrow" pitchFamily="34" charset="0"/>
                <a:ea typeface="Liberation Sans Narrow" pitchFamily="34" charset="-122"/>
                <a:cs typeface="Liberation Sans Narrow" pitchFamily="34" charset="-120"/>
              </a:rPr>
              <a:t>SECTION C · 3.19</a:t>
            </a:r>
            <a:endParaRPr lang="en-US" sz="1238" dirty="0"/>
          </a:p>
        </p:txBody>
      </p:sp>
      <p:sp>
        <p:nvSpPr>
          <p:cNvPr id="6" name="Text 4"/>
          <p:cNvSpPr/>
          <p:nvPr/>
        </p:nvSpPr>
        <p:spPr>
          <a:xfrm>
            <a:off x="457200" y="960053"/>
            <a:ext cx="8229600" cy="216027"/>
          </a:xfrm>
          <a:prstGeom prst="rect">
            <a:avLst/>
          </a:prstGeom>
          <a:noFill/>
          <a:ln/>
        </p:spPr>
        <p:txBody>
          <a:bodyPr wrap="square" lIns="0" tIns="0" rIns="0" bIns="0" rtlCol="0" anchor="t"/>
          <a:lstStyle/>
          <a:p>
            <a:pPr marL="0" indent="0" algn="l">
              <a:lnSpc>
                <a:spcPts val="1575"/>
              </a:lnSpc>
              <a:buNone/>
            </a:pPr>
            <a:r>
              <a:rPr lang="en-US" sz="1125" dirty="0">
                <a:solidFill>
                  <a:srgbClr val="64748B"/>
                </a:solidFill>
                <a:latin typeface="Carlito" pitchFamily="34" charset="0"/>
                <a:ea typeface="Carlito" pitchFamily="34" charset="-122"/>
                <a:cs typeface="Carlito" pitchFamily="34" charset="-120"/>
              </a:rPr>
              <a:t>Scan a Terraform directory, parse results, integrate with CI.</a:t>
            </a:r>
            <a:endParaRPr lang="en-US" sz="1125" dirty="0"/>
          </a:p>
        </p:txBody>
      </p:sp>
      <p:sp>
        <p:nvSpPr>
          <p:cNvPr id="7" name="Text 5"/>
          <p:cNvSpPr/>
          <p:nvPr/>
        </p:nvSpPr>
        <p:spPr>
          <a:xfrm>
            <a:off x="600075" y="1360103"/>
            <a:ext cx="1296162" cy="146304"/>
          </a:xfrm>
          <a:prstGeom prst="rect">
            <a:avLst/>
          </a:prstGeom>
          <a:noFill/>
          <a:ln/>
        </p:spPr>
        <p:txBody>
          <a:bodyPr wrap="none" lIns="0" tIns="0" rIns="0" bIns="0" rtlCol="0" anchor="t"/>
          <a:lstStyle/>
          <a:p>
            <a:pPr marL="0" indent="0" algn="l">
              <a:lnSpc>
                <a:spcPts val="945"/>
              </a:lnSpc>
              <a:buNone/>
            </a:pPr>
            <a:r>
              <a:rPr lang="en-US" sz="675" i="1" dirty="0">
                <a:solidFill>
                  <a:srgbClr val="94A3B8"/>
                </a:solidFill>
                <a:latin typeface="Courier New" pitchFamily="34" charset="0"/>
                <a:ea typeface="Courier New" pitchFamily="34" charset="-122"/>
                <a:cs typeface="Courier New" pitchFamily="34" charset="-120"/>
              </a:rPr>
              <a:t># Scan a Terraform directory</a:t>
            </a:r>
            <a:endParaRPr lang="en-US" sz="675" dirty="0"/>
          </a:p>
        </p:txBody>
      </p:sp>
      <p:sp>
        <p:nvSpPr>
          <p:cNvPr id="8" name="Text 6"/>
          <p:cNvSpPr/>
          <p:nvPr/>
        </p:nvSpPr>
        <p:spPr>
          <a:xfrm>
            <a:off x="600075" y="1720081"/>
            <a:ext cx="1712786" cy="92561"/>
          </a:xfrm>
          <a:prstGeom prst="rect">
            <a:avLst/>
          </a:prstGeom>
          <a:noFill/>
          <a:ln/>
        </p:spPr>
        <p:txBody>
          <a:bodyPr wrap="none" lIns="0" tIns="0" rIns="0" bIns="0" rtlCol="0" anchor="t">
            <a:normAutofit fontScale="25000" lnSpcReduction="20000"/>
          </a:bodyPr>
          <a:lstStyle/>
          <a:p>
            <a:pPr marL="0" indent="0" algn="l">
              <a:lnSpc>
                <a:spcPts val="945"/>
              </a:lnSpc>
              <a:buNone/>
            </a:pPr>
            <a:r>
              <a:rPr lang="en-US" sz="675" i="1" dirty="0">
                <a:solidFill>
                  <a:srgbClr val="94A3B8"/>
                </a:solidFill>
                <a:latin typeface="Courier New" pitchFamily="34" charset="0"/>
                <a:ea typeface="Courier New" pitchFamily="34" charset="-122"/>
                <a:cs typeface="Courier New" pitchFamily="34" charset="-120"/>
              </a:rPr>
              <a:t># Sample output (summary + failures):</a:t>
            </a:r>
            <a:endParaRPr lang="en-US" sz="675" dirty="0"/>
          </a:p>
        </p:txBody>
      </p:sp>
      <p:sp>
        <p:nvSpPr>
          <p:cNvPr id="9" name="Text 7"/>
          <p:cNvSpPr/>
          <p:nvPr/>
        </p:nvSpPr>
        <p:spPr>
          <a:xfrm>
            <a:off x="600075" y="1840074"/>
            <a:ext cx="750094" cy="146304"/>
          </a:xfrm>
          <a:prstGeom prst="rect">
            <a:avLst/>
          </a:prstGeom>
          <a:noFill/>
          <a:ln/>
        </p:spPr>
        <p:txBody>
          <a:bodyPr wrap="none" lIns="0" tIns="0" rIns="0" bIns="0" rtlCol="0" anchor="t"/>
          <a:lstStyle/>
          <a:p>
            <a:pPr marL="0" indent="0" algn="l">
              <a:lnSpc>
                <a:spcPts val="945"/>
              </a:lnSpc>
              <a:buNone/>
            </a:pPr>
            <a:r>
              <a:rPr lang="en-US" sz="675" b="1" dirty="0">
                <a:solidFill>
                  <a:srgbClr val="86EFAC"/>
                </a:solidFill>
                <a:latin typeface="Courier New" pitchFamily="34" charset="0"/>
                <a:ea typeface="Courier New" pitchFamily="34" charset="-122"/>
                <a:cs typeface="Courier New" pitchFamily="34" charset="-120"/>
              </a:rPr>
              <a:t>Passed checks:</a:t>
            </a:r>
            <a:endParaRPr lang="en-US" sz="675" dirty="0"/>
          </a:p>
        </p:txBody>
      </p:sp>
      <p:sp>
        <p:nvSpPr>
          <p:cNvPr id="10" name="Text 8"/>
          <p:cNvSpPr/>
          <p:nvPr/>
        </p:nvSpPr>
        <p:spPr>
          <a:xfrm>
            <a:off x="1233874" y="1840074"/>
            <a:ext cx="155437" cy="146304"/>
          </a:xfrm>
          <a:prstGeom prst="rect">
            <a:avLst/>
          </a:prstGeom>
          <a:noFill/>
          <a:ln/>
        </p:spPr>
        <p:txBody>
          <a:bodyPr wrap="none" lIns="0" tIns="0" rIns="0" bIns="0" rtlCol="0" anchor="t"/>
          <a:lstStyle/>
          <a:p>
            <a:pPr marL="0" indent="0" algn="l">
              <a:lnSpc>
                <a:spcPts val="945"/>
              </a:lnSpc>
              <a:buNone/>
            </a:pPr>
            <a:r>
              <a:rPr lang="en-US" sz="675" dirty="0">
                <a:solidFill>
                  <a:srgbClr val="93C5FD"/>
                </a:solidFill>
                <a:latin typeface="Liberation Sans Narrow" pitchFamily="34" charset="0"/>
                <a:ea typeface="Liberation Sans Narrow" pitchFamily="34" charset="-122"/>
                <a:cs typeface="Liberation Sans Narrow" pitchFamily="34" charset="-120"/>
              </a:rPr>
              <a:t>47</a:t>
            </a:r>
            <a:endParaRPr lang="en-US" sz="675" dirty="0"/>
          </a:p>
        </p:txBody>
      </p:sp>
      <p:sp>
        <p:nvSpPr>
          <p:cNvPr id="11" name="Text 9"/>
          <p:cNvSpPr/>
          <p:nvPr/>
        </p:nvSpPr>
        <p:spPr>
          <a:xfrm>
            <a:off x="1414463" y="1840074"/>
            <a:ext cx="750094" cy="146304"/>
          </a:xfrm>
          <a:prstGeom prst="rect">
            <a:avLst/>
          </a:prstGeom>
          <a:noFill/>
          <a:ln/>
        </p:spPr>
        <p:txBody>
          <a:bodyPr wrap="none" lIns="0" tIns="0" rIns="0" bIns="0" rtlCol="0" anchor="t"/>
          <a:lstStyle/>
          <a:p>
            <a:pPr marL="0" indent="0" algn="l">
              <a:lnSpc>
                <a:spcPts val="945"/>
              </a:lnSpc>
              <a:buNone/>
            </a:pPr>
            <a:r>
              <a:rPr lang="en-US" sz="675" b="1" dirty="0">
                <a:solidFill>
                  <a:srgbClr val="FCA5A5"/>
                </a:solidFill>
                <a:latin typeface="Courier New" pitchFamily="34" charset="0"/>
                <a:ea typeface="Courier New" pitchFamily="34" charset="-122"/>
                <a:cs typeface="Courier New" pitchFamily="34" charset="-120"/>
              </a:rPr>
              <a:t>Failed checks:</a:t>
            </a:r>
            <a:endParaRPr lang="en-US" sz="675" dirty="0"/>
          </a:p>
        </p:txBody>
      </p:sp>
      <p:sp>
        <p:nvSpPr>
          <p:cNvPr id="12" name="Text 10"/>
          <p:cNvSpPr/>
          <p:nvPr/>
        </p:nvSpPr>
        <p:spPr>
          <a:xfrm>
            <a:off x="2057400" y="1840074"/>
            <a:ext cx="91440" cy="146304"/>
          </a:xfrm>
          <a:prstGeom prst="rect">
            <a:avLst/>
          </a:prstGeom>
          <a:noFill/>
          <a:ln/>
        </p:spPr>
        <p:txBody>
          <a:bodyPr wrap="none" lIns="0" tIns="0" rIns="0" bIns="0" rtlCol="0" anchor="t"/>
          <a:lstStyle/>
          <a:p>
            <a:pPr marL="0" indent="0" algn="l">
              <a:lnSpc>
                <a:spcPts val="945"/>
              </a:lnSpc>
              <a:buNone/>
            </a:pPr>
            <a:r>
              <a:rPr lang="en-US" sz="800" dirty="0">
                <a:solidFill>
                  <a:srgbClr val="93C5FD"/>
                </a:solidFill>
                <a:latin typeface="Liberation Sans Narrow" pitchFamily="34" charset="0"/>
                <a:ea typeface="Liberation Sans Narrow" pitchFamily="34" charset="-122"/>
                <a:cs typeface="Liberation Sans Narrow" pitchFamily="34" charset="-120"/>
              </a:rPr>
              <a:t>3</a:t>
            </a:r>
            <a:endParaRPr lang="en-US" sz="800" dirty="0"/>
          </a:p>
        </p:txBody>
      </p:sp>
      <p:sp>
        <p:nvSpPr>
          <p:cNvPr id="13" name="Text 11"/>
          <p:cNvSpPr/>
          <p:nvPr/>
        </p:nvSpPr>
        <p:spPr>
          <a:xfrm>
            <a:off x="2871788" y="1840074"/>
            <a:ext cx="91440" cy="146304"/>
          </a:xfrm>
          <a:prstGeom prst="rect">
            <a:avLst/>
          </a:prstGeom>
          <a:noFill/>
          <a:ln/>
        </p:spPr>
        <p:txBody>
          <a:bodyPr wrap="none" lIns="0" tIns="0" rIns="0" bIns="0" rtlCol="0" anchor="t"/>
          <a:lstStyle/>
          <a:p>
            <a:pPr marL="0" indent="0" algn="l">
              <a:lnSpc>
                <a:spcPts val="945"/>
              </a:lnSpc>
              <a:buNone/>
            </a:pPr>
            <a:r>
              <a:rPr lang="en-US" sz="800" dirty="0">
                <a:solidFill>
                  <a:srgbClr val="93C5FD"/>
                </a:solidFill>
                <a:latin typeface="Liberation Sans Narrow" pitchFamily="34" charset="0"/>
                <a:ea typeface="Liberation Sans Narrow" pitchFamily="34" charset="-122"/>
                <a:cs typeface="Liberation Sans Narrow" pitchFamily="34" charset="-120"/>
              </a:rPr>
              <a:t>1</a:t>
            </a:r>
            <a:endParaRPr lang="en-US" sz="800" dirty="0"/>
          </a:p>
        </p:txBody>
      </p:sp>
      <p:sp>
        <p:nvSpPr>
          <p:cNvPr id="14" name="Text 12"/>
          <p:cNvSpPr/>
          <p:nvPr/>
        </p:nvSpPr>
        <p:spPr>
          <a:xfrm>
            <a:off x="577352" y="2080059"/>
            <a:ext cx="413207" cy="146304"/>
          </a:xfrm>
          <a:prstGeom prst="rect">
            <a:avLst/>
          </a:prstGeom>
          <a:noFill/>
          <a:ln/>
        </p:spPr>
        <p:txBody>
          <a:bodyPr wrap="none" lIns="0" tIns="0" rIns="0" bIns="0" rtlCol="0" anchor="t"/>
          <a:lstStyle/>
          <a:p>
            <a:pPr marL="0" indent="0" algn="l">
              <a:lnSpc>
                <a:spcPts val="945"/>
              </a:lnSpc>
              <a:buNone/>
            </a:pPr>
            <a:r>
              <a:rPr lang="en-US" sz="800" dirty="0">
                <a:solidFill>
                  <a:srgbClr val="FBA74A"/>
                </a:solidFill>
                <a:latin typeface="Courier New" pitchFamily="34" charset="0"/>
                <a:ea typeface="Courier New" pitchFamily="34" charset="-122"/>
                <a:cs typeface="Courier New" pitchFamily="34" charset="-120"/>
              </a:rPr>
              <a:t>Check:</a:t>
            </a:r>
            <a:endParaRPr lang="en-US" sz="800" dirty="0"/>
          </a:p>
        </p:txBody>
      </p:sp>
      <p:sp>
        <p:nvSpPr>
          <p:cNvPr id="15" name="Text 13"/>
          <p:cNvSpPr/>
          <p:nvPr/>
        </p:nvSpPr>
        <p:spPr>
          <a:xfrm>
            <a:off x="856616" y="2080059"/>
            <a:ext cx="622775" cy="146304"/>
          </a:xfrm>
          <a:prstGeom prst="rect">
            <a:avLst/>
          </a:prstGeom>
          <a:noFill/>
          <a:ln/>
        </p:spPr>
        <p:txBody>
          <a:bodyPr wrap="none" lIns="0" tIns="0" rIns="0" bIns="0" rtlCol="0" anchor="t"/>
          <a:lstStyle/>
          <a:p>
            <a:pPr marL="0" indent="0" algn="l">
              <a:lnSpc>
                <a:spcPts val="945"/>
              </a:lnSpc>
              <a:buNone/>
            </a:pPr>
            <a:r>
              <a:rPr lang="en-US" sz="675" dirty="0">
                <a:solidFill>
                  <a:srgbClr val="86EFAC"/>
                </a:solidFill>
                <a:latin typeface="Liberation Sans Narrow" pitchFamily="34" charset="0"/>
                <a:ea typeface="Liberation Sans Narrow" pitchFamily="34" charset="-122"/>
                <a:cs typeface="Liberation Sans Narrow" pitchFamily="34" charset="-120"/>
              </a:rPr>
              <a:t>CKV_AWS_18</a:t>
            </a:r>
            <a:endParaRPr lang="en-US" sz="675" dirty="0"/>
          </a:p>
        </p:txBody>
      </p:sp>
      <p:sp>
        <p:nvSpPr>
          <p:cNvPr id="16" name="Text 14"/>
          <p:cNvSpPr/>
          <p:nvPr/>
        </p:nvSpPr>
        <p:spPr>
          <a:xfrm>
            <a:off x="1371600" y="2080059"/>
            <a:ext cx="1712786" cy="92561"/>
          </a:xfrm>
          <a:prstGeom prst="rect">
            <a:avLst/>
          </a:prstGeom>
          <a:noFill/>
          <a:ln/>
        </p:spPr>
        <p:txBody>
          <a:bodyPr wrap="none" lIns="0" tIns="0" rIns="0" bIns="0" rtlCol="0" anchor="t">
            <a:normAutofit fontScale="25000" lnSpcReduction="20000"/>
          </a:bodyPr>
          <a:lstStyle/>
          <a:p>
            <a:pPr marL="0" indent="0" algn="l">
              <a:lnSpc>
                <a:spcPts val="945"/>
              </a:lnSpc>
              <a:buNone/>
            </a:pPr>
            <a:r>
              <a:rPr lang="en-US" sz="675" dirty="0">
                <a:solidFill>
                  <a:srgbClr val="86EFAC"/>
                </a:solidFill>
                <a:latin typeface="Courier New" pitchFamily="34" charset="0"/>
                <a:ea typeface="Courier New" pitchFamily="34" charset="-122"/>
                <a:cs typeface="Courier New" pitchFamily="34" charset="-120"/>
              </a:rPr>
              <a:t>"Ensure S3 bucket has access logging"</a:t>
            </a:r>
            <a:endParaRPr lang="en-US" sz="675" dirty="0"/>
          </a:p>
        </p:txBody>
      </p:sp>
      <p:sp>
        <p:nvSpPr>
          <p:cNvPr id="17" name="Text 15"/>
          <p:cNvSpPr/>
          <p:nvPr/>
        </p:nvSpPr>
        <p:spPr>
          <a:xfrm>
            <a:off x="666529" y="2200052"/>
            <a:ext cx="406302" cy="92561"/>
          </a:xfrm>
          <a:prstGeom prst="rect">
            <a:avLst/>
          </a:prstGeom>
          <a:noFill/>
          <a:ln/>
        </p:spPr>
        <p:txBody>
          <a:bodyPr wrap="none" lIns="0" tIns="0" rIns="0" bIns="0" rtlCol="0" anchor="t">
            <a:normAutofit fontScale="25000" lnSpcReduction="20000"/>
          </a:bodyPr>
          <a:lstStyle/>
          <a:p>
            <a:pPr marL="0" indent="0" algn="l">
              <a:lnSpc>
                <a:spcPts val="945"/>
              </a:lnSpc>
              <a:buNone/>
            </a:pPr>
            <a:r>
              <a:rPr lang="en-US" sz="675" b="1" dirty="0">
                <a:solidFill>
                  <a:srgbClr val="FCA5A5"/>
                </a:solidFill>
                <a:latin typeface="Courier New" pitchFamily="34" charset="0"/>
                <a:ea typeface="Courier New" pitchFamily="34" charset="-122"/>
                <a:cs typeface="Courier New" pitchFamily="34" charset="-120"/>
              </a:rPr>
              <a:t>FAILED</a:t>
            </a:r>
            <a:endParaRPr lang="en-US" sz="675" dirty="0"/>
          </a:p>
        </p:txBody>
      </p:sp>
      <p:sp>
        <p:nvSpPr>
          <p:cNvPr id="18" name="Text 16"/>
          <p:cNvSpPr/>
          <p:nvPr/>
        </p:nvSpPr>
        <p:spPr>
          <a:xfrm>
            <a:off x="1778259" y="2320044"/>
            <a:ext cx="386832" cy="146304"/>
          </a:xfrm>
          <a:prstGeom prst="rect">
            <a:avLst/>
          </a:prstGeom>
          <a:noFill/>
          <a:ln/>
        </p:spPr>
        <p:txBody>
          <a:bodyPr wrap="none" lIns="0" tIns="0" rIns="0" bIns="0" rtlCol="0" anchor="t"/>
          <a:lstStyle/>
          <a:p>
            <a:pPr marL="0" indent="0" algn="l">
              <a:lnSpc>
                <a:spcPts val="945"/>
              </a:lnSpc>
              <a:buNone/>
            </a:pPr>
            <a:r>
              <a:rPr lang="en-US" sz="800" dirty="0">
                <a:solidFill>
                  <a:srgbClr val="93C5FD"/>
                </a:solidFill>
                <a:latin typeface="Liberation Sans Narrow" pitchFamily="34" charset="0"/>
                <a:ea typeface="Liberation Sans Narrow" pitchFamily="34" charset="-122"/>
                <a:cs typeface="Liberation Sans Narrow" pitchFamily="34" charset="-120"/>
              </a:rPr>
              <a:t>45-50</a:t>
            </a:r>
            <a:endParaRPr lang="en-US" sz="800" dirty="0"/>
          </a:p>
        </p:txBody>
      </p:sp>
      <p:sp>
        <p:nvSpPr>
          <p:cNvPr id="19" name="Text 17"/>
          <p:cNvSpPr/>
          <p:nvPr/>
        </p:nvSpPr>
        <p:spPr>
          <a:xfrm>
            <a:off x="577352" y="2680022"/>
            <a:ext cx="413207" cy="146304"/>
          </a:xfrm>
          <a:prstGeom prst="rect">
            <a:avLst/>
          </a:prstGeom>
          <a:noFill/>
          <a:ln/>
        </p:spPr>
        <p:txBody>
          <a:bodyPr wrap="none" lIns="0" tIns="0" rIns="0" bIns="0" rtlCol="0" anchor="t"/>
          <a:lstStyle/>
          <a:p>
            <a:pPr marL="0" indent="0" algn="l">
              <a:lnSpc>
                <a:spcPts val="945"/>
              </a:lnSpc>
              <a:buNone/>
            </a:pPr>
            <a:r>
              <a:rPr lang="en-US" sz="800" dirty="0">
                <a:solidFill>
                  <a:srgbClr val="FBA74A"/>
                </a:solidFill>
                <a:latin typeface="Courier New" pitchFamily="34" charset="0"/>
                <a:ea typeface="Courier New" pitchFamily="34" charset="-122"/>
                <a:cs typeface="Courier New" pitchFamily="34" charset="-120"/>
              </a:rPr>
              <a:t>Check:</a:t>
            </a:r>
            <a:endParaRPr lang="en-US" sz="800" dirty="0"/>
          </a:p>
        </p:txBody>
      </p:sp>
      <p:sp>
        <p:nvSpPr>
          <p:cNvPr id="20" name="Text 18"/>
          <p:cNvSpPr/>
          <p:nvPr/>
        </p:nvSpPr>
        <p:spPr>
          <a:xfrm>
            <a:off x="852046" y="2680022"/>
            <a:ext cx="685491" cy="146304"/>
          </a:xfrm>
          <a:prstGeom prst="rect">
            <a:avLst/>
          </a:prstGeom>
          <a:noFill/>
          <a:ln/>
        </p:spPr>
        <p:txBody>
          <a:bodyPr wrap="none" lIns="0" tIns="0" rIns="0" bIns="0" rtlCol="0" anchor="t"/>
          <a:lstStyle/>
          <a:p>
            <a:pPr marL="0" indent="0" algn="l">
              <a:lnSpc>
                <a:spcPts val="945"/>
              </a:lnSpc>
              <a:buNone/>
            </a:pPr>
            <a:r>
              <a:rPr lang="en-US" sz="675" dirty="0">
                <a:solidFill>
                  <a:srgbClr val="86EFAC"/>
                </a:solidFill>
                <a:latin typeface="Liberation Sans Narrow" pitchFamily="34" charset="0"/>
                <a:ea typeface="Liberation Sans Narrow" pitchFamily="34" charset="-122"/>
                <a:cs typeface="Liberation Sans Narrow" pitchFamily="34" charset="-120"/>
              </a:rPr>
              <a:t>CKV_AWS_338</a:t>
            </a:r>
            <a:endParaRPr lang="en-US" sz="675" dirty="0"/>
          </a:p>
        </p:txBody>
      </p:sp>
      <p:sp>
        <p:nvSpPr>
          <p:cNvPr id="21" name="Text 19"/>
          <p:cNvSpPr/>
          <p:nvPr/>
        </p:nvSpPr>
        <p:spPr>
          <a:xfrm>
            <a:off x="1414463" y="2680022"/>
            <a:ext cx="1897952" cy="92561"/>
          </a:xfrm>
          <a:prstGeom prst="rect">
            <a:avLst/>
          </a:prstGeom>
          <a:noFill/>
          <a:ln/>
        </p:spPr>
        <p:txBody>
          <a:bodyPr wrap="none" lIns="0" tIns="0" rIns="0" bIns="0" rtlCol="0" anchor="t">
            <a:normAutofit fontScale="25000" lnSpcReduction="20000"/>
          </a:bodyPr>
          <a:lstStyle/>
          <a:p>
            <a:pPr marL="0" indent="0" algn="l">
              <a:lnSpc>
                <a:spcPts val="945"/>
              </a:lnSpc>
              <a:buNone/>
            </a:pPr>
            <a:r>
              <a:rPr lang="en-US" sz="675" dirty="0">
                <a:solidFill>
                  <a:srgbClr val="86EFAC"/>
                </a:solidFill>
                <a:latin typeface="Courier New" pitchFamily="34" charset="0"/>
                <a:ea typeface="Courier New" pitchFamily="34" charset="-122"/>
                <a:cs typeface="Courier New" pitchFamily="34" charset="-120"/>
              </a:rPr>
              <a:t>"Ensure S3 bucket has versioning enabled"</a:t>
            </a:r>
            <a:endParaRPr lang="en-US" sz="675" dirty="0"/>
          </a:p>
        </p:txBody>
      </p:sp>
      <p:sp>
        <p:nvSpPr>
          <p:cNvPr id="22" name="Text 20"/>
          <p:cNvSpPr/>
          <p:nvPr/>
        </p:nvSpPr>
        <p:spPr>
          <a:xfrm>
            <a:off x="666529" y="2800015"/>
            <a:ext cx="406302" cy="146304"/>
          </a:xfrm>
          <a:prstGeom prst="rect">
            <a:avLst/>
          </a:prstGeom>
          <a:noFill/>
          <a:ln/>
        </p:spPr>
        <p:txBody>
          <a:bodyPr wrap="none" lIns="0" tIns="0" rIns="0" bIns="0" rtlCol="0" anchor="t"/>
          <a:lstStyle/>
          <a:p>
            <a:pPr marL="0" indent="0" algn="l">
              <a:lnSpc>
                <a:spcPts val="945"/>
              </a:lnSpc>
              <a:buNone/>
            </a:pPr>
            <a:r>
              <a:rPr lang="en-US" sz="675" b="1" dirty="0">
                <a:solidFill>
                  <a:srgbClr val="86EFAC"/>
                </a:solidFill>
                <a:latin typeface="Courier New" pitchFamily="34" charset="0"/>
                <a:ea typeface="Courier New" pitchFamily="34" charset="-122"/>
                <a:cs typeface="Courier New" pitchFamily="34" charset="-120"/>
              </a:rPr>
              <a:t>PASSED</a:t>
            </a:r>
            <a:endParaRPr lang="en-US" sz="675" dirty="0"/>
          </a:p>
        </p:txBody>
      </p:sp>
      <p:sp>
        <p:nvSpPr>
          <p:cNvPr id="23" name="Text 21"/>
          <p:cNvSpPr/>
          <p:nvPr/>
        </p:nvSpPr>
        <p:spPr>
          <a:xfrm>
            <a:off x="577352" y="3040000"/>
            <a:ext cx="413207" cy="146304"/>
          </a:xfrm>
          <a:prstGeom prst="rect">
            <a:avLst/>
          </a:prstGeom>
          <a:noFill/>
          <a:ln/>
        </p:spPr>
        <p:txBody>
          <a:bodyPr wrap="none" lIns="0" tIns="0" rIns="0" bIns="0" rtlCol="0" anchor="t"/>
          <a:lstStyle/>
          <a:p>
            <a:pPr marL="0" indent="0" algn="l">
              <a:lnSpc>
                <a:spcPts val="945"/>
              </a:lnSpc>
              <a:buNone/>
            </a:pPr>
            <a:r>
              <a:rPr lang="en-US" sz="800" dirty="0">
                <a:solidFill>
                  <a:srgbClr val="FBA74A"/>
                </a:solidFill>
                <a:latin typeface="Courier New" pitchFamily="34" charset="0"/>
                <a:ea typeface="Courier New" pitchFamily="34" charset="-122"/>
                <a:cs typeface="Courier New" pitchFamily="34" charset="-120"/>
              </a:rPr>
              <a:t>Check:</a:t>
            </a:r>
            <a:endParaRPr lang="en-US" sz="800" dirty="0"/>
          </a:p>
        </p:txBody>
      </p:sp>
      <p:sp>
        <p:nvSpPr>
          <p:cNvPr id="24" name="Text 22"/>
          <p:cNvSpPr/>
          <p:nvPr/>
        </p:nvSpPr>
        <p:spPr>
          <a:xfrm>
            <a:off x="852046" y="3040000"/>
            <a:ext cx="685491" cy="146304"/>
          </a:xfrm>
          <a:prstGeom prst="rect">
            <a:avLst/>
          </a:prstGeom>
          <a:noFill/>
          <a:ln/>
        </p:spPr>
        <p:txBody>
          <a:bodyPr wrap="none" lIns="0" tIns="0" rIns="0" bIns="0" rtlCol="0" anchor="t"/>
          <a:lstStyle/>
          <a:p>
            <a:pPr marL="0" indent="0" algn="l">
              <a:lnSpc>
                <a:spcPts val="945"/>
              </a:lnSpc>
              <a:buNone/>
            </a:pPr>
            <a:r>
              <a:rPr lang="en-US" sz="675" dirty="0">
                <a:solidFill>
                  <a:srgbClr val="86EFAC"/>
                </a:solidFill>
                <a:latin typeface="Liberation Sans Narrow" pitchFamily="34" charset="0"/>
                <a:ea typeface="Liberation Sans Narrow" pitchFamily="34" charset="-122"/>
                <a:cs typeface="Liberation Sans Narrow" pitchFamily="34" charset="-120"/>
              </a:rPr>
              <a:t>CKV_AWS_237</a:t>
            </a:r>
            <a:endParaRPr lang="en-US" sz="675" dirty="0"/>
          </a:p>
        </p:txBody>
      </p:sp>
      <p:sp>
        <p:nvSpPr>
          <p:cNvPr id="25" name="Text 23"/>
          <p:cNvSpPr/>
          <p:nvPr/>
        </p:nvSpPr>
        <p:spPr>
          <a:xfrm>
            <a:off x="1414463" y="3040000"/>
            <a:ext cx="1990535" cy="92561"/>
          </a:xfrm>
          <a:prstGeom prst="rect">
            <a:avLst/>
          </a:prstGeom>
          <a:noFill/>
          <a:ln/>
        </p:spPr>
        <p:txBody>
          <a:bodyPr wrap="none" lIns="0" tIns="0" rIns="0" bIns="0" rtlCol="0" anchor="t">
            <a:normAutofit fontScale="25000" lnSpcReduction="20000"/>
          </a:bodyPr>
          <a:lstStyle/>
          <a:p>
            <a:pPr marL="0" indent="0" algn="l">
              <a:lnSpc>
                <a:spcPts val="945"/>
              </a:lnSpc>
              <a:buNone/>
            </a:pPr>
            <a:r>
              <a:rPr lang="en-US" sz="675" dirty="0">
                <a:solidFill>
                  <a:srgbClr val="86EFAC"/>
                </a:solidFill>
                <a:latin typeface="Courier New" pitchFamily="34" charset="0"/>
                <a:ea typeface="Courier New" pitchFamily="34" charset="-122"/>
                <a:cs typeface="Courier New" pitchFamily="34" charset="-120"/>
              </a:rPr>
              <a:t>"Ensure S3 buckets have default encryption"</a:t>
            </a:r>
            <a:endParaRPr lang="en-US" sz="675" dirty="0"/>
          </a:p>
        </p:txBody>
      </p:sp>
      <p:sp>
        <p:nvSpPr>
          <p:cNvPr id="26" name="Text 24"/>
          <p:cNvSpPr/>
          <p:nvPr/>
        </p:nvSpPr>
        <p:spPr>
          <a:xfrm>
            <a:off x="666529" y="3159993"/>
            <a:ext cx="406302" cy="92561"/>
          </a:xfrm>
          <a:prstGeom prst="rect">
            <a:avLst/>
          </a:prstGeom>
          <a:noFill/>
          <a:ln/>
        </p:spPr>
        <p:txBody>
          <a:bodyPr wrap="none" lIns="0" tIns="0" rIns="0" bIns="0" rtlCol="0" anchor="t">
            <a:normAutofit fontScale="25000" lnSpcReduction="20000"/>
          </a:bodyPr>
          <a:lstStyle/>
          <a:p>
            <a:pPr marL="0" indent="0" algn="l">
              <a:lnSpc>
                <a:spcPts val="945"/>
              </a:lnSpc>
              <a:buNone/>
            </a:pPr>
            <a:r>
              <a:rPr lang="en-US" sz="675" b="1" dirty="0">
                <a:solidFill>
                  <a:srgbClr val="FCA5A5"/>
                </a:solidFill>
                <a:latin typeface="Courier New" pitchFamily="34" charset="0"/>
                <a:ea typeface="Courier New" pitchFamily="34" charset="-122"/>
                <a:cs typeface="Courier New" pitchFamily="34" charset="-120"/>
              </a:rPr>
              <a:t>FAILED</a:t>
            </a:r>
            <a:endParaRPr lang="en-US" sz="675" dirty="0"/>
          </a:p>
        </p:txBody>
      </p:sp>
      <p:sp>
        <p:nvSpPr>
          <p:cNvPr id="27" name="Text 25"/>
          <p:cNvSpPr/>
          <p:nvPr/>
        </p:nvSpPr>
        <p:spPr>
          <a:xfrm>
            <a:off x="1778259" y="3279986"/>
            <a:ext cx="386832" cy="146304"/>
          </a:xfrm>
          <a:prstGeom prst="rect">
            <a:avLst/>
          </a:prstGeom>
          <a:noFill/>
          <a:ln/>
        </p:spPr>
        <p:txBody>
          <a:bodyPr wrap="none" lIns="0" tIns="0" rIns="0" bIns="0" rtlCol="0" anchor="t"/>
          <a:lstStyle/>
          <a:p>
            <a:pPr marL="0" indent="0" algn="l">
              <a:lnSpc>
                <a:spcPts val="945"/>
              </a:lnSpc>
              <a:buNone/>
            </a:pPr>
            <a:r>
              <a:rPr lang="en-US" sz="800" dirty="0">
                <a:solidFill>
                  <a:srgbClr val="93C5FD"/>
                </a:solidFill>
                <a:latin typeface="Liberation Sans Narrow" pitchFamily="34" charset="0"/>
                <a:ea typeface="Liberation Sans Narrow" pitchFamily="34" charset="-122"/>
                <a:cs typeface="Liberation Sans Narrow" pitchFamily="34" charset="-120"/>
              </a:rPr>
              <a:t>45-50</a:t>
            </a:r>
            <a:endParaRPr lang="en-US" sz="800" dirty="0"/>
          </a:p>
        </p:txBody>
      </p:sp>
      <p:sp>
        <p:nvSpPr>
          <p:cNvPr id="28" name="Text 26"/>
          <p:cNvSpPr/>
          <p:nvPr/>
        </p:nvSpPr>
        <p:spPr>
          <a:xfrm>
            <a:off x="577352" y="3519971"/>
            <a:ext cx="413207" cy="146304"/>
          </a:xfrm>
          <a:prstGeom prst="rect">
            <a:avLst/>
          </a:prstGeom>
          <a:noFill/>
          <a:ln/>
        </p:spPr>
        <p:txBody>
          <a:bodyPr wrap="none" lIns="0" tIns="0" rIns="0" bIns="0" rtlCol="0" anchor="t"/>
          <a:lstStyle/>
          <a:p>
            <a:pPr marL="0" indent="0" algn="l">
              <a:lnSpc>
                <a:spcPts val="945"/>
              </a:lnSpc>
              <a:buNone/>
            </a:pPr>
            <a:r>
              <a:rPr lang="en-US" sz="800" dirty="0">
                <a:solidFill>
                  <a:srgbClr val="FBA74A"/>
                </a:solidFill>
                <a:latin typeface="Courier New" pitchFamily="34" charset="0"/>
                <a:ea typeface="Courier New" pitchFamily="34" charset="-122"/>
                <a:cs typeface="Courier New" pitchFamily="34" charset="-120"/>
              </a:rPr>
              <a:t>Check:</a:t>
            </a:r>
            <a:endParaRPr lang="en-US" sz="800" dirty="0"/>
          </a:p>
        </p:txBody>
      </p:sp>
      <p:sp>
        <p:nvSpPr>
          <p:cNvPr id="29" name="Text 27"/>
          <p:cNvSpPr/>
          <p:nvPr/>
        </p:nvSpPr>
        <p:spPr>
          <a:xfrm>
            <a:off x="856616" y="3519971"/>
            <a:ext cx="622775" cy="146304"/>
          </a:xfrm>
          <a:prstGeom prst="rect">
            <a:avLst/>
          </a:prstGeom>
          <a:noFill/>
          <a:ln/>
        </p:spPr>
        <p:txBody>
          <a:bodyPr wrap="none" lIns="0" tIns="0" rIns="0" bIns="0" rtlCol="0" anchor="t"/>
          <a:lstStyle/>
          <a:p>
            <a:pPr marL="0" indent="0" algn="l">
              <a:lnSpc>
                <a:spcPts val="945"/>
              </a:lnSpc>
              <a:buNone/>
            </a:pPr>
            <a:r>
              <a:rPr lang="en-US" sz="675" dirty="0">
                <a:solidFill>
                  <a:srgbClr val="86EFAC"/>
                </a:solidFill>
                <a:latin typeface="Liberation Sans Narrow" pitchFamily="34" charset="0"/>
                <a:ea typeface="Liberation Sans Narrow" pitchFamily="34" charset="-122"/>
                <a:cs typeface="Liberation Sans Narrow" pitchFamily="34" charset="-120"/>
              </a:rPr>
              <a:t>CKV_AWS_40</a:t>
            </a:r>
            <a:endParaRPr lang="en-US" sz="675" dirty="0"/>
          </a:p>
        </p:txBody>
      </p:sp>
      <p:sp>
        <p:nvSpPr>
          <p:cNvPr id="30" name="Text 28"/>
          <p:cNvSpPr/>
          <p:nvPr/>
        </p:nvSpPr>
        <p:spPr>
          <a:xfrm>
            <a:off x="1371600" y="3519971"/>
            <a:ext cx="2268284" cy="92561"/>
          </a:xfrm>
          <a:prstGeom prst="rect">
            <a:avLst/>
          </a:prstGeom>
          <a:noFill/>
          <a:ln/>
        </p:spPr>
        <p:txBody>
          <a:bodyPr wrap="none" lIns="0" tIns="0" rIns="0" bIns="0" rtlCol="0" anchor="t">
            <a:normAutofit fontScale="25000" lnSpcReduction="20000"/>
          </a:bodyPr>
          <a:lstStyle/>
          <a:p>
            <a:pPr marL="0" indent="0" algn="l">
              <a:lnSpc>
                <a:spcPts val="945"/>
              </a:lnSpc>
              <a:buNone/>
            </a:pPr>
            <a:r>
              <a:rPr lang="en-US" sz="675" dirty="0">
                <a:solidFill>
                  <a:srgbClr val="86EFAC"/>
                </a:solidFill>
                <a:latin typeface="Courier New" pitchFamily="34" charset="0"/>
                <a:ea typeface="Courier New" pitchFamily="34" charset="-122"/>
                <a:cs typeface="Courier New" pitchFamily="34" charset="-120"/>
              </a:rPr>
              <a:t>"Ensure IAM policies are attached only to groups"</a:t>
            </a:r>
            <a:endParaRPr lang="en-US" sz="675" dirty="0"/>
          </a:p>
        </p:txBody>
      </p:sp>
      <p:sp>
        <p:nvSpPr>
          <p:cNvPr id="31" name="Text 29"/>
          <p:cNvSpPr/>
          <p:nvPr/>
        </p:nvSpPr>
        <p:spPr>
          <a:xfrm>
            <a:off x="666529" y="3639964"/>
            <a:ext cx="406302" cy="92561"/>
          </a:xfrm>
          <a:prstGeom prst="rect">
            <a:avLst/>
          </a:prstGeom>
          <a:noFill/>
          <a:ln/>
        </p:spPr>
        <p:txBody>
          <a:bodyPr wrap="none" lIns="0" tIns="0" rIns="0" bIns="0" rtlCol="0" anchor="t">
            <a:normAutofit fontScale="25000" lnSpcReduction="20000"/>
          </a:bodyPr>
          <a:lstStyle/>
          <a:p>
            <a:pPr marL="0" indent="0" algn="l">
              <a:lnSpc>
                <a:spcPts val="945"/>
              </a:lnSpc>
              <a:buNone/>
            </a:pPr>
            <a:r>
              <a:rPr lang="en-US" sz="675" b="1" dirty="0">
                <a:solidFill>
                  <a:srgbClr val="FCA5A5"/>
                </a:solidFill>
                <a:latin typeface="Courier New" pitchFamily="34" charset="0"/>
                <a:ea typeface="Courier New" pitchFamily="34" charset="-122"/>
                <a:cs typeface="Courier New" pitchFamily="34" charset="-120"/>
              </a:rPr>
              <a:t>FAILED</a:t>
            </a:r>
            <a:endParaRPr lang="en-US" sz="675" dirty="0"/>
          </a:p>
        </p:txBody>
      </p:sp>
      <p:sp>
        <p:nvSpPr>
          <p:cNvPr id="32" name="Text 30"/>
          <p:cNvSpPr/>
          <p:nvPr/>
        </p:nvSpPr>
        <p:spPr>
          <a:xfrm>
            <a:off x="1735397" y="3759957"/>
            <a:ext cx="386832" cy="146304"/>
          </a:xfrm>
          <a:prstGeom prst="rect">
            <a:avLst/>
          </a:prstGeom>
          <a:noFill/>
          <a:ln/>
        </p:spPr>
        <p:txBody>
          <a:bodyPr wrap="none" lIns="0" tIns="0" rIns="0" bIns="0" rtlCol="0" anchor="t"/>
          <a:lstStyle/>
          <a:p>
            <a:pPr marL="0" indent="0" algn="l">
              <a:lnSpc>
                <a:spcPts val="945"/>
              </a:lnSpc>
              <a:buNone/>
            </a:pPr>
            <a:r>
              <a:rPr lang="en-US" sz="800" dirty="0">
                <a:solidFill>
                  <a:srgbClr val="93C5FD"/>
                </a:solidFill>
                <a:latin typeface="Liberation Sans Narrow" pitchFamily="34" charset="0"/>
                <a:ea typeface="Liberation Sans Narrow" pitchFamily="34" charset="-122"/>
                <a:cs typeface="Liberation Sans Narrow" pitchFamily="34" charset="-120"/>
              </a:rPr>
              <a:t>12-30</a:t>
            </a:r>
            <a:endParaRPr lang="en-US" sz="800" dirty="0"/>
          </a:p>
        </p:txBody>
      </p:sp>
      <p:sp>
        <p:nvSpPr>
          <p:cNvPr id="33" name="Text 31"/>
          <p:cNvSpPr/>
          <p:nvPr/>
        </p:nvSpPr>
        <p:spPr>
          <a:xfrm>
            <a:off x="600075" y="3999942"/>
            <a:ext cx="2314575" cy="92561"/>
          </a:xfrm>
          <a:prstGeom prst="rect">
            <a:avLst/>
          </a:prstGeom>
          <a:noFill/>
          <a:ln/>
        </p:spPr>
        <p:txBody>
          <a:bodyPr wrap="none" lIns="0" tIns="0" rIns="0" bIns="0" rtlCol="0" anchor="t">
            <a:normAutofit fontScale="25000" lnSpcReduction="20000"/>
          </a:bodyPr>
          <a:lstStyle/>
          <a:p>
            <a:pPr marL="0" indent="0" algn="l">
              <a:lnSpc>
                <a:spcPts val="945"/>
              </a:lnSpc>
              <a:buNone/>
            </a:pPr>
            <a:r>
              <a:rPr lang="en-US" sz="675" i="1" dirty="0">
                <a:solidFill>
                  <a:srgbClr val="94A3B8"/>
                </a:solidFill>
                <a:latin typeface="Courier New" pitchFamily="34" charset="0"/>
                <a:ea typeface="Courier New" pitchFamily="34" charset="-122"/>
                <a:cs typeface="Courier New" pitchFamily="34" charset="-120"/>
              </a:rPr>
              <a:t># .checkov.yaml — CI configuration (skip noisy checks)</a:t>
            </a:r>
            <a:endParaRPr lang="en-US" sz="675" dirty="0"/>
          </a:p>
        </p:txBody>
      </p:sp>
      <p:sp>
        <p:nvSpPr>
          <p:cNvPr id="34" name="Text 32"/>
          <p:cNvSpPr/>
          <p:nvPr/>
        </p:nvSpPr>
        <p:spPr>
          <a:xfrm>
            <a:off x="593500" y="4119935"/>
            <a:ext cx="548931" cy="146304"/>
          </a:xfrm>
          <a:prstGeom prst="rect">
            <a:avLst/>
          </a:prstGeom>
          <a:noFill/>
          <a:ln/>
        </p:spPr>
        <p:txBody>
          <a:bodyPr wrap="none" lIns="0" tIns="0" rIns="0" bIns="0" rtlCol="0" anchor="t"/>
          <a:lstStyle/>
          <a:p>
            <a:pPr marL="0" indent="0" algn="l">
              <a:lnSpc>
                <a:spcPts val="945"/>
              </a:lnSpc>
              <a:buNone/>
            </a:pPr>
            <a:r>
              <a:rPr lang="en-US" sz="675" dirty="0">
                <a:solidFill>
                  <a:srgbClr val="FBBF24"/>
                </a:solidFill>
                <a:latin typeface="Courier New" pitchFamily="34" charset="0"/>
                <a:ea typeface="Courier New" pitchFamily="34" charset="-122"/>
                <a:cs typeface="Courier New" pitchFamily="34" charset="-120"/>
              </a:rPr>
              <a:t>framework:</a:t>
            </a:r>
            <a:endParaRPr lang="en-US" sz="675" dirty="0"/>
          </a:p>
        </p:txBody>
      </p:sp>
      <p:sp>
        <p:nvSpPr>
          <p:cNvPr id="35" name="Text 33"/>
          <p:cNvSpPr/>
          <p:nvPr/>
        </p:nvSpPr>
        <p:spPr>
          <a:xfrm>
            <a:off x="1049065" y="4119935"/>
            <a:ext cx="596636" cy="92561"/>
          </a:xfrm>
          <a:prstGeom prst="rect">
            <a:avLst/>
          </a:prstGeom>
          <a:noFill/>
          <a:ln/>
        </p:spPr>
        <p:txBody>
          <a:bodyPr wrap="none" lIns="0" tIns="0" rIns="0" bIns="0" rtlCol="0" anchor="t">
            <a:normAutofit fontScale="25000" lnSpcReduction="20000"/>
          </a:bodyPr>
          <a:lstStyle/>
          <a:p>
            <a:pPr marL="0" indent="0" algn="l">
              <a:lnSpc>
                <a:spcPts val="945"/>
              </a:lnSpc>
              <a:buNone/>
            </a:pPr>
            <a:r>
              <a:rPr lang="en-US" sz="800" dirty="0">
                <a:solidFill>
                  <a:srgbClr val="86EFAC"/>
                </a:solidFill>
                <a:latin typeface="Courier New" pitchFamily="34" charset="0"/>
                <a:ea typeface="Courier New" pitchFamily="34" charset="-122"/>
                <a:cs typeface="Courier New" pitchFamily="34" charset="-120"/>
              </a:rPr>
              <a:t>terraform</a:t>
            </a:r>
            <a:endParaRPr lang="en-US" sz="800" dirty="0"/>
          </a:p>
        </p:txBody>
      </p:sp>
      <p:sp>
        <p:nvSpPr>
          <p:cNvPr id="36" name="Text 34"/>
          <p:cNvSpPr/>
          <p:nvPr/>
        </p:nvSpPr>
        <p:spPr>
          <a:xfrm>
            <a:off x="597040" y="4239927"/>
            <a:ext cx="541851" cy="91440"/>
          </a:xfrm>
          <a:prstGeom prst="rect">
            <a:avLst/>
          </a:prstGeom>
          <a:noFill/>
          <a:ln/>
        </p:spPr>
        <p:txBody>
          <a:bodyPr wrap="none" lIns="0" tIns="0" rIns="0" bIns="0" rtlCol="0" anchor="t"/>
          <a:lstStyle/>
          <a:p>
            <a:pPr marL="0" indent="0" algn="l">
              <a:lnSpc>
                <a:spcPts val="945"/>
              </a:lnSpc>
              <a:buNone/>
            </a:pPr>
            <a:r>
              <a:rPr lang="en-US" sz="675" dirty="0">
                <a:solidFill>
                  <a:srgbClr val="FBBF24"/>
                </a:solidFill>
                <a:latin typeface="Courier New" pitchFamily="34" charset="0"/>
                <a:ea typeface="Courier New" pitchFamily="34" charset="-122"/>
                <a:cs typeface="Courier New" pitchFamily="34" charset="-120"/>
              </a:rPr>
              <a:t>soft-fail:</a:t>
            </a:r>
            <a:endParaRPr lang="en-US" sz="675" dirty="0"/>
          </a:p>
        </p:txBody>
      </p:sp>
      <p:sp>
        <p:nvSpPr>
          <p:cNvPr id="37" name="Text 35"/>
          <p:cNvSpPr/>
          <p:nvPr/>
        </p:nvSpPr>
        <p:spPr>
          <a:xfrm>
            <a:off x="1066259" y="4239927"/>
            <a:ext cx="284927" cy="91440"/>
          </a:xfrm>
          <a:prstGeom prst="rect">
            <a:avLst/>
          </a:prstGeom>
          <a:noFill/>
          <a:ln/>
        </p:spPr>
        <p:txBody>
          <a:bodyPr wrap="none" lIns="0" tIns="0" rIns="0" bIns="0" rtlCol="0" anchor="t"/>
          <a:lstStyle/>
          <a:p>
            <a:pPr marL="0" indent="0" algn="l">
              <a:lnSpc>
                <a:spcPts val="945"/>
              </a:lnSpc>
              <a:buNone/>
            </a:pPr>
            <a:r>
              <a:rPr lang="en-US" sz="800" dirty="0">
                <a:solidFill>
                  <a:srgbClr val="FBA74A"/>
                </a:solidFill>
                <a:latin typeface="Courier New" pitchFamily="34" charset="0"/>
                <a:ea typeface="Courier New" pitchFamily="34" charset="-122"/>
                <a:cs typeface="Courier New" pitchFamily="34" charset="-120"/>
              </a:rPr>
              <a:t>true</a:t>
            </a:r>
            <a:endParaRPr lang="en-US" sz="800" dirty="0"/>
          </a:p>
        </p:txBody>
      </p:sp>
      <p:sp>
        <p:nvSpPr>
          <p:cNvPr id="38" name="Text 36"/>
          <p:cNvSpPr/>
          <p:nvPr/>
        </p:nvSpPr>
        <p:spPr>
          <a:xfrm>
            <a:off x="1928813" y="4239927"/>
            <a:ext cx="1437608" cy="91440"/>
          </a:xfrm>
          <a:prstGeom prst="rect">
            <a:avLst/>
          </a:prstGeom>
          <a:noFill/>
          <a:ln/>
        </p:spPr>
        <p:txBody>
          <a:bodyPr wrap="none" lIns="0" tIns="0" rIns="0" bIns="0" rtlCol="0" anchor="t"/>
          <a:lstStyle/>
          <a:p>
            <a:pPr marL="0" indent="0" algn="l">
              <a:lnSpc>
                <a:spcPts val="945"/>
              </a:lnSpc>
              <a:buNone/>
            </a:pPr>
            <a:r>
              <a:rPr lang="en-US" sz="800" i="1" dirty="0">
                <a:solidFill>
                  <a:srgbClr val="94A3B8"/>
                </a:solidFill>
                <a:latin typeface="Courier New" pitchFamily="34" charset="0"/>
                <a:ea typeface="Courier New" pitchFamily="34" charset="-122"/>
                <a:cs typeface="Courier New" pitchFamily="34" charset="-120"/>
              </a:rPr>
              <a:t># don't fail CI, just warn</a:t>
            </a:r>
            <a:endParaRPr lang="en-US" sz="800" dirty="0"/>
          </a:p>
        </p:txBody>
      </p:sp>
      <p:sp>
        <p:nvSpPr>
          <p:cNvPr id="39" name="Text 37"/>
          <p:cNvSpPr/>
          <p:nvPr/>
        </p:nvSpPr>
        <p:spPr>
          <a:xfrm>
            <a:off x="598018" y="4359920"/>
            <a:ext cx="647052" cy="91440"/>
          </a:xfrm>
          <a:prstGeom prst="rect">
            <a:avLst/>
          </a:prstGeom>
          <a:noFill/>
          <a:ln/>
        </p:spPr>
        <p:txBody>
          <a:bodyPr wrap="none" lIns="0" tIns="0" rIns="0" bIns="0" rtlCol="0" anchor="t"/>
          <a:lstStyle/>
          <a:p>
            <a:pPr marL="0" indent="0" algn="l">
              <a:lnSpc>
                <a:spcPts val="945"/>
              </a:lnSpc>
              <a:buNone/>
            </a:pPr>
            <a:r>
              <a:rPr lang="en-US" sz="675" dirty="0">
                <a:solidFill>
                  <a:srgbClr val="FBBF24"/>
                </a:solidFill>
                <a:latin typeface="Courier New" pitchFamily="34" charset="0"/>
                <a:ea typeface="Courier New" pitchFamily="34" charset="-122"/>
                <a:cs typeface="Courier New" pitchFamily="34" charset="-120"/>
              </a:rPr>
              <a:t>skip-checks:</a:t>
            </a:r>
            <a:endParaRPr lang="en-US" sz="675" dirty="0"/>
          </a:p>
        </p:txBody>
      </p:sp>
      <p:sp>
        <p:nvSpPr>
          <p:cNvPr id="40" name="Text 38"/>
          <p:cNvSpPr/>
          <p:nvPr/>
        </p:nvSpPr>
        <p:spPr>
          <a:xfrm>
            <a:off x="728028" y="4479913"/>
            <a:ext cx="622775" cy="91440"/>
          </a:xfrm>
          <a:prstGeom prst="rect">
            <a:avLst/>
          </a:prstGeom>
          <a:noFill/>
          <a:ln/>
        </p:spPr>
        <p:txBody>
          <a:bodyPr wrap="none" lIns="0" tIns="0" rIns="0" bIns="0" rtlCol="0" anchor="t"/>
          <a:lstStyle/>
          <a:p>
            <a:pPr marL="0" indent="0" algn="l">
              <a:lnSpc>
                <a:spcPts val="945"/>
              </a:lnSpc>
              <a:buNone/>
            </a:pPr>
            <a:r>
              <a:rPr lang="en-US" sz="675" dirty="0">
                <a:solidFill>
                  <a:srgbClr val="86EFAC"/>
                </a:solidFill>
                <a:latin typeface="Liberation Sans Narrow" pitchFamily="34" charset="0"/>
                <a:ea typeface="Liberation Sans Narrow" pitchFamily="34" charset="-122"/>
                <a:cs typeface="Liberation Sans Narrow" pitchFamily="34" charset="-120"/>
              </a:rPr>
              <a:t>CKV_AWS_40</a:t>
            </a:r>
            <a:endParaRPr lang="en-US" sz="675" dirty="0"/>
          </a:p>
        </p:txBody>
      </p:sp>
      <p:sp>
        <p:nvSpPr>
          <p:cNvPr id="41" name="Text 39"/>
          <p:cNvSpPr/>
          <p:nvPr/>
        </p:nvSpPr>
        <p:spPr>
          <a:xfrm>
            <a:off x="1928813" y="4479913"/>
            <a:ext cx="1666494" cy="91440"/>
          </a:xfrm>
          <a:prstGeom prst="rect">
            <a:avLst/>
          </a:prstGeom>
          <a:noFill/>
          <a:ln/>
        </p:spPr>
        <p:txBody>
          <a:bodyPr wrap="none" lIns="0" tIns="0" rIns="0" bIns="0" rtlCol="0" anchor="t"/>
          <a:lstStyle/>
          <a:p>
            <a:pPr marL="0" indent="0" algn="l">
              <a:lnSpc>
                <a:spcPts val="945"/>
              </a:lnSpc>
              <a:buNone/>
            </a:pPr>
            <a:r>
              <a:rPr lang="en-US" sz="675" i="1" dirty="0">
                <a:solidFill>
                  <a:srgbClr val="94A3B8"/>
                </a:solidFill>
                <a:latin typeface="Courier New" pitchFamily="34" charset="0"/>
                <a:ea typeface="Courier New" pitchFamily="34" charset="-122"/>
                <a:cs typeface="Courier New" pitchFamily="34" charset="-120"/>
              </a:rPr>
              <a:t># legacy IAM pattern, being migrated</a:t>
            </a:r>
            <a:endParaRPr lang="en-US" sz="675" dirty="0"/>
          </a:p>
        </p:txBody>
      </p:sp>
      <p:sp>
        <p:nvSpPr>
          <p:cNvPr id="42" name="Text 40"/>
          <p:cNvSpPr/>
          <p:nvPr/>
        </p:nvSpPr>
        <p:spPr>
          <a:xfrm>
            <a:off x="600075" y="4599905"/>
            <a:ext cx="1071563" cy="91440"/>
          </a:xfrm>
          <a:prstGeom prst="rect">
            <a:avLst/>
          </a:prstGeom>
          <a:noFill/>
          <a:ln/>
        </p:spPr>
        <p:txBody>
          <a:bodyPr wrap="none" lIns="0" tIns="0" rIns="0" bIns="0" rtlCol="0" anchor="t"/>
          <a:lstStyle/>
          <a:p>
            <a:pPr marL="0" indent="0" algn="l">
              <a:lnSpc>
                <a:spcPts val="945"/>
              </a:lnSpc>
              <a:buNone/>
            </a:pPr>
            <a:r>
              <a:rPr lang="en-US" sz="675" dirty="0">
                <a:solidFill>
                  <a:srgbClr val="FBBF24"/>
                </a:solidFill>
                <a:latin typeface="Courier New" pitchFamily="34" charset="0"/>
                <a:ea typeface="Courier New" pitchFamily="34" charset="-122"/>
                <a:cs typeface="Courier New" pitchFamily="34" charset="-120"/>
              </a:rPr>
              <a:t>external-checks-dir:</a:t>
            </a:r>
            <a:endParaRPr lang="en-US" sz="675" dirty="0"/>
          </a:p>
        </p:txBody>
      </p:sp>
      <p:sp>
        <p:nvSpPr>
          <p:cNvPr id="43" name="Text 41"/>
          <p:cNvSpPr/>
          <p:nvPr/>
        </p:nvSpPr>
        <p:spPr>
          <a:xfrm>
            <a:off x="1500188" y="4599905"/>
            <a:ext cx="803672" cy="91440"/>
          </a:xfrm>
          <a:prstGeom prst="rect">
            <a:avLst/>
          </a:prstGeom>
          <a:noFill/>
          <a:ln/>
        </p:spPr>
        <p:txBody>
          <a:bodyPr wrap="none" lIns="0" tIns="0" rIns="0" bIns="0" rtlCol="0" anchor="t"/>
          <a:lstStyle/>
          <a:p>
            <a:pPr marL="0" indent="0" algn="l">
              <a:lnSpc>
                <a:spcPts val="945"/>
              </a:lnSpc>
              <a:buNone/>
            </a:pPr>
            <a:r>
              <a:rPr lang="en-US" sz="675" dirty="0">
                <a:solidFill>
                  <a:srgbClr val="86EFAC"/>
                </a:solidFill>
                <a:latin typeface="Courier New" pitchFamily="34" charset="0"/>
                <a:ea typeface="Courier New" pitchFamily="34" charset="-122"/>
                <a:cs typeface="Courier New" pitchFamily="34" charset="-120"/>
              </a:rPr>
              <a:t>./custom-checks</a:t>
            </a:r>
            <a:endParaRPr lang="en-US" sz="675" dirty="0"/>
          </a:p>
        </p:txBody>
      </p:sp>
      <p:sp>
        <p:nvSpPr>
          <p:cNvPr id="44" name="Text 42"/>
          <p:cNvSpPr/>
          <p:nvPr/>
        </p:nvSpPr>
        <p:spPr>
          <a:xfrm>
            <a:off x="600075" y="4839891"/>
            <a:ext cx="1296162" cy="91440"/>
          </a:xfrm>
          <a:prstGeom prst="rect">
            <a:avLst/>
          </a:prstGeom>
          <a:noFill/>
          <a:ln/>
        </p:spPr>
        <p:txBody>
          <a:bodyPr wrap="none" lIns="0" tIns="0" rIns="0" bIns="0" rtlCol="0" anchor="t"/>
          <a:lstStyle/>
          <a:p>
            <a:pPr marL="0" indent="0" algn="l">
              <a:lnSpc>
                <a:spcPts val="945"/>
              </a:lnSpc>
              <a:buNone/>
            </a:pPr>
            <a:r>
              <a:rPr lang="en-US" sz="675" i="1" dirty="0">
                <a:solidFill>
                  <a:srgbClr val="94A3B8"/>
                </a:solidFill>
                <a:latin typeface="Courier New" pitchFamily="34" charset="0"/>
                <a:ea typeface="Courier New" pitchFamily="34" charset="-122"/>
                <a:cs typeface="Courier New" pitchFamily="34" charset="-120"/>
              </a:rPr>
              <a:t># GitHub Actions integration</a:t>
            </a:r>
            <a:endParaRPr lang="en-US" sz="675" dirty="0"/>
          </a:p>
        </p:txBody>
      </p:sp>
      <p:sp>
        <p:nvSpPr>
          <p:cNvPr id="45" name="Text 43"/>
          <p:cNvSpPr/>
          <p:nvPr/>
        </p:nvSpPr>
        <p:spPr>
          <a:xfrm>
            <a:off x="600075" y="5079876"/>
            <a:ext cx="1712786" cy="91440"/>
          </a:xfrm>
          <a:prstGeom prst="rect">
            <a:avLst/>
          </a:prstGeom>
          <a:noFill/>
          <a:ln/>
        </p:spPr>
        <p:txBody>
          <a:bodyPr wrap="none" lIns="0" tIns="0" rIns="0" bIns="0" rtlCol="0" anchor="t"/>
          <a:lstStyle/>
          <a:p>
            <a:pPr marL="0" indent="0" algn="l">
              <a:lnSpc>
                <a:spcPts val="945"/>
              </a:lnSpc>
              <a:buNone/>
            </a:pPr>
            <a:r>
              <a:rPr lang="en-US" sz="675" i="1" dirty="0">
                <a:solidFill>
                  <a:srgbClr val="94A3B8"/>
                </a:solidFill>
                <a:latin typeface="Courier New" pitchFamily="34" charset="0"/>
                <a:ea typeface="Courier New" pitchFamily="34" charset="-122"/>
                <a:cs typeface="Courier New" pitchFamily="34" charset="-120"/>
              </a:rPr>
              <a:t># Then upload to GitHub Code Scanning</a:t>
            </a:r>
            <a:endParaRPr lang="en-US" sz="675" dirty="0"/>
          </a:p>
        </p:txBody>
      </p:sp>
      <p:sp>
        <p:nvSpPr>
          <p:cNvPr id="46" name="Text 44"/>
          <p:cNvSpPr/>
          <p:nvPr/>
        </p:nvSpPr>
        <p:spPr>
          <a:xfrm>
            <a:off x="457200" y="4526347"/>
            <a:ext cx="8229600" cy="172749"/>
          </a:xfrm>
          <a:prstGeom prst="rect">
            <a:avLst/>
          </a:prstGeom>
          <a:noFill/>
          <a:ln/>
        </p:spPr>
        <p:txBody>
          <a:bodyPr wrap="square" lIns="0" tIns="0" rIns="0" bIns="0" rtlCol="0" anchor="t"/>
          <a:lstStyle/>
          <a:p>
            <a:pPr marL="0" indent="0" algn="l">
              <a:lnSpc>
                <a:spcPts val="1260"/>
              </a:lnSpc>
              <a:buNone/>
            </a:pPr>
            <a:r>
              <a:rPr lang="en-US" sz="900" b="1" dirty="0">
                <a:solidFill>
                  <a:srgbClr val="C2410C"/>
                </a:solidFill>
                <a:latin typeface="Segoe UI Symbol" pitchFamily="34" charset="0"/>
                <a:ea typeface="Segoe UI Symbol" pitchFamily="34" charset="-122"/>
                <a:cs typeface="Segoe UI Symbol" pitchFamily="34" charset="-120"/>
              </a:rPr>
              <a:t>✦</a:t>
            </a:r>
            <a:r>
              <a:rPr lang="en-US" sz="900" b="1" dirty="0">
                <a:solidFill>
                  <a:srgbClr val="C2410C"/>
                </a:solidFill>
                <a:latin typeface="Carlito" pitchFamily="34" charset="0"/>
                <a:ea typeface="Carlito" pitchFamily="34" charset="-122"/>
                <a:cs typeface="Carlito" pitchFamily="34" charset="-120"/>
              </a:rPr>
              <a:t> Checkov found 3 real security issues in this code. Each maps to a remediation guide.</a:t>
            </a:r>
            <a:endParaRPr lang="en-US" sz="9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6503581" cy="373346"/>
          </a:xfrm>
          <a:prstGeom prst="rect">
            <a:avLst/>
          </a:prstGeom>
          <a:noFill/>
          <a:ln/>
        </p:spPr>
        <p:txBody>
          <a:bodyPr wrap="square" lIns="0" tIns="0" rIns="0" bIns="0" rtlCol="0" anchor="t"/>
          <a:lstStyle/>
          <a:p>
            <a:pPr marL="0" indent="0" algn="l">
              <a:lnSpc>
                <a:spcPts val="2723"/>
              </a:lnSpc>
              <a:buNone/>
            </a:pPr>
            <a:r>
              <a:rPr lang="en-US" sz="2475" b="1" kern="0" spc="-28" dirty="0">
                <a:solidFill>
                  <a:srgbClr val="0F172A"/>
                </a:solidFill>
                <a:latin typeface="Carlito" pitchFamily="34" charset="0"/>
                <a:ea typeface="Carlito" pitchFamily="34" charset="-122"/>
                <a:cs typeface="Carlito" pitchFamily="34" charset="-120"/>
              </a:rPr>
              <a:t>AI-Augmented Rule Checking — The Frontier</a:t>
            </a:r>
            <a:endParaRPr lang="en-US" sz="2475" dirty="0"/>
          </a:p>
        </p:txBody>
      </p:sp>
      <p:sp>
        <p:nvSpPr>
          <p:cNvPr id="3" name="Text 1"/>
          <p:cNvSpPr/>
          <p:nvPr/>
        </p:nvSpPr>
        <p:spPr>
          <a:xfrm>
            <a:off x="457200" y="888616"/>
            <a:ext cx="571500" cy="42863"/>
          </a:xfrm>
          <a:prstGeom prst="roundRect">
            <a:avLst>
              <a:gd name="adj" fmla="val 66666"/>
            </a:avLst>
          </a:prstGeom>
          <a:solidFill>
            <a:srgbClr val="F97316"/>
          </a:solidFill>
          <a:ln/>
        </p:spPr>
        <p:txBody>
          <a:bodyPr wrap="square" rtlCol="0" anchor="ctr"/>
          <a:lstStyle/>
          <a:p>
            <a:pPr marL="0" indent="0">
              <a:buNone/>
            </a:pPr>
            <a:endParaRPr lang="en-US" dirty="0"/>
          </a:p>
        </p:txBody>
      </p:sp>
      <p:sp>
        <p:nvSpPr>
          <p:cNvPr id="4" name="Text 2"/>
          <p:cNvSpPr/>
          <p:nvPr/>
        </p:nvSpPr>
        <p:spPr>
          <a:xfrm>
            <a:off x="7162860" y="528672"/>
            <a:ext cx="1546800" cy="331333"/>
          </a:xfrm>
          <a:prstGeom prst="roundRect">
            <a:avLst>
              <a:gd name="adj" fmla="val 2871877"/>
            </a:avLst>
          </a:prstGeom>
          <a:solidFill>
            <a:srgbClr val="FED7AA"/>
          </a:solidFill>
          <a:ln/>
        </p:spPr>
        <p:txBody>
          <a:bodyPr wrap="square" rtlCol="0" anchor="ctr"/>
          <a:lstStyle/>
          <a:p>
            <a:pPr marL="0" indent="0">
              <a:buNone/>
            </a:pPr>
            <a:endParaRPr lang="en-US" dirty="0"/>
          </a:p>
        </p:txBody>
      </p:sp>
      <p:sp>
        <p:nvSpPr>
          <p:cNvPr id="5" name="Text 3"/>
          <p:cNvSpPr/>
          <p:nvPr/>
        </p:nvSpPr>
        <p:spPr>
          <a:xfrm>
            <a:off x="7185720" y="541474"/>
            <a:ext cx="1501080" cy="305730"/>
          </a:xfrm>
          <a:prstGeom prst="rect">
            <a:avLst/>
          </a:prstGeom>
          <a:noFill/>
          <a:ln/>
        </p:spPr>
        <p:txBody>
          <a:bodyPr wrap="none" lIns="0" tIns="0" rIns="0" bIns="0" rtlCol="0" anchor="ctr"/>
          <a:lstStyle/>
          <a:p>
            <a:pPr marL="0" indent="0" algn="ctr">
              <a:lnSpc>
                <a:spcPts val="1733"/>
              </a:lnSpc>
              <a:buNone/>
            </a:pPr>
            <a:r>
              <a:rPr lang="en-US" sz="1238" b="1" kern="0" spc="28" dirty="0">
                <a:solidFill>
                  <a:srgbClr val="C2410C"/>
                </a:solidFill>
                <a:latin typeface="Liberation Sans Narrow" pitchFamily="34" charset="0"/>
                <a:ea typeface="Liberation Sans Narrow" pitchFamily="34" charset="-122"/>
                <a:cs typeface="Liberation Sans Narrow" pitchFamily="34" charset="-120"/>
              </a:rPr>
              <a:t>SECTION C · 3.20</a:t>
            </a:r>
            <a:endParaRPr lang="en-US" sz="1238" dirty="0"/>
          </a:p>
        </p:txBody>
      </p:sp>
      <p:sp>
        <p:nvSpPr>
          <p:cNvPr id="6" name="Text 4"/>
          <p:cNvSpPr/>
          <p:nvPr/>
        </p:nvSpPr>
        <p:spPr>
          <a:xfrm>
            <a:off x="457200" y="1045778"/>
            <a:ext cx="8229600" cy="216027"/>
          </a:xfrm>
          <a:prstGeom prst="rect">
            <a:avLst/>
          </a:prstGeom>
          <a:noFill/>
          <a:ln/>
        </p:spPr>
        <p:txBody>
          <a:bodyPr wrap="square" lIns="0" tIns="0" rIns="0" bIns="0" rtlCol="0" anchor="t"/>
          <a:lstStyle/>
          <a:p>
            <a:pPr marL="0" indent="0" algn="l">
              <a:lnSpc>
                <a:spcPts val="1575"/>
              </a:lnSpc>
              <a:buNone/>
            </a:pPr>
            <a:r>
              <a:rPr lang="en-US" sz="1125" dirty="0">
                <a:solidFill>
                  <a:srgbClr val="64748B"/>
                </a:solidFill>
                <a:latin typeface="Carlito" pitchFamily="34" charset="0"/>
                <a:ea typeface="Carlito" pitchFamily="34" charset="-122"/>
                <a:cs typeface="Carlito" pitchFamily="34" charset="-120"/>
              </a:rPr>
              <a:t>Linters catch the rules they know. AI helps with the rules they do not.</a:t>
            </a:r>
            <a:endParaRPr lang="en-US" sz="1125" dirty="0"/>
          </a:p>
        </p:txBody>
      </p:sp>
      <p:sp>
        <p:nvSpPr>
          <p:cNvPr id="7" name="Text 5"/>
          <p:cNvSpPr/>
          <p:nvPr/>
        </p:nvSpPr>
        <p:spPr>
          <a:xfrm>
            <a:off x="460772" y="1363675"/>
            <a:ext cx="4050506" cy="1398389"/>
          </a:xfrm>
          <a:prstGeom prst="roundRect">
            <a:avLst>
              <a:gd name="adj" fmla="val 9536"/>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8" name="Text 6"/>
          <p:cNvSpPr/>
          <p:nvPr/>
        </p:nvSpPr>
        <p:spPr>
          <a:xfrm>
            <a:off x="4121944" y="1481547"/>
            <a:ext cx="257175" cy="257175"/>
          </a:xfrm>
          <a:prstGeom prst="rect">
            <a:avLst/>
          </a:prstGeom>
          <a:noFill/>
          <a:ln/>
        </p:spPr>
        <p:txBody>
          <a:bodyPr wrap="none" lIns="0" tIns="0" rIns="0" bIns="0" rtlCol="0" anchor="ctr"/>
          <a:lstStyle/>
          <a:p>
            <a:pPr marL="0" indent="0" algn="ctr">
              <a:buNone/>
            </a:pPr>
            <a:r>
              <a:rPr lang="en-US" sz="2531" dirty="0">
                <a:solidFill>
                  <a:srgbClr val="FED7AA"/>
                </a:solidFill>
                <a:latin typeface="Segoe UI Symbol" pitchFamily="34" charset="0"/>
                <a:ea typeface="Segoe UI Symbol" pitchFamily="34" charset="-122"/>
                <a:cs typeface="Segoe UI Symbol" pitchFamily="34" charset="-120"/>
              </a:rPr>
              <a:t>⇄</a:t>
            </a:r>
            <a:endParaRPr lang="en-US" sz="2531" dirty="0"/>
          </a:p>
        </p:txBody>
      </p:sp>
      <p:sp>
        <p:nvSpPr>
          <p:cNvPr id="9" name="Text 7"/>
          <p:cNvSpPr/>
          <p:nvPr/>
        </p:nvSpPr>
        <p:spPr>
          <a:xfrm>
            <a:off x="621506" y="1510122"/>
            <a:ext cx="3729038" cy="339471"/>
          </a:xfrm>
          <a:prstGeom prst="rect">
            <a:avLst/>
          </a:prstGeom>
          <a:noFill/>
          <a:ln/>
        </p:spPr>
        <p:txBody>
          <a:bodyPr wrap="none" lIns="0" tIns="0" rIns="0" bIns="0" rtlCol="0" anchor="t"/>
          <a:lstStyle/>
          <a:p>
            <a:pPr marL="0" indent="0" algn="l">
              <a:lnSpc>
                <a:spcPts val="2475"/>
              </a:lnSpc>
              <a:buNone/>
            </a:pPr>
            <a:r>
              <a:rPr lang="en-US" sz="2475" b="1" kern="0" spc="-56" dirty="0">
                <a:solidFill>
                  <a:srgbClr val="F97316"/>
                </a:solidFill>
                <a:latin typeface="Liberation Sans Narrow" pitchFamily="34" charset="0"/>
                <a:ea typeface="Liberation Sans Narrow" pitchFamily="34" charset="-122"/>
                <a:cs typeface="Liberation Sans Narrow" pitchFamily="34" charset="-120"/>
              </a:rPr>
              <a:t>01</a:t>
            </a:r>
            <a:endParaRPr lang="en-US" sz="2475" dirty="0"/>
          </a:p>
        </p:txBody>
      </p:sp>
      <p:sp>
        <p:nvSpPr>
          <p:cNvPr id="10" name="Text 8"/>
          <p:cNvSpPr/>
          <p:nvPr/>
        </p:nvSpPr>
        <p:spPr>
          <a:xfrm>
            <a:off x="621506" y="1881597"/>
            <a:ext cx="3838766" cy="194328"/>
          </a:xfrm>
          <a:prstGeom prst="rect">
            <a:avLst/>
          </a:prstGeom>
          <a:noFill/>
          <a:ln/>
        </p:spPr>
        <p:txBody>
          <a:bodyPr wrap="square" lIns="0" tIns="0" rIns="0" bIns="0" rtlCol="0" anchor="t"/>
          <a:lstStyle/>
          <a:p>
            <a:pPr marL="0" indent="0" algn="l">
              <a:lnSpc>
                <a:spcPts val="1418"/>
              </a:lnSpc>
              <a:buNone/>
            </a:pPr>
            <a:r>
              <a:rPr lang="en-US" sz="1181" b="1" dirty="0">
                <a:solidFill>
                  <a:srgbClr val="0F172A"/>
                </a:solidFill>
                <a:latin typeface="Carlito" pitchFamily="34" charset="0"/>
                <a:ea typeface="Carlito" pitchFamily="34" charset="-122"/>
                <a:cs typeface="Carlito" pitchFamily="34" charset="-120"/>
              </a:rPr>
              <a:t>Natural-Language Violation Explanations</a:t>
            </a:r>
            <a:endParaRPr lang="en-US" sz="1181" dirty="0"/>
          </a:p>
        </p:txBody>
      </p:sp>
      <p:sp>
        <p:nvSpPr>
          <p:cNvPr id="11" name="Text 9"/>
          <p:cNvSpPr/>
          <p:nvPr/>
        </p:nvSpPr>
        <p:spPr>
          <a:xfrm>
            <a:off x="621506" y="2118680"/>
            <a:ext cx="3729038" cy="496937"/>
          </a:xfrm>
          <a:prstGeom prst="rect">
            <a:avLst/>
          </a:prstGeom>
          <a:noFill/>
          <a:ln/>
        </p:spPr>
        <p:txBody>
          <a:bodyPr wrap="square" lIns="0" tIns="0" rIns="0" bIns="0" rtlCol="0" anchor="t"/>
          <a:lstStyle/>
          <a:p>
            <a:pPr marL="0" indent="0" algn="l">
              <a:lnSpc>
                <a:spcPts val="1305"/>
              </a:lnSpc>
              <a:buNone/>
            </a:pPr>
            <a:r>
              <a:rPr lang="en-US" sz="900" dirty="0">
                <a:solidFill>
                  <a:srgbClr val="334155"/>
                </a:solidFill>
                <a:latin typeface="Carlito" pitchFamily="34" charset="0"/>
                <a:ea typeface="Carlito" pitchFamily="34" charset="-122"/>
                <a:cs typeface="Carlito" pitchFamily="34" charset="-120"/>
              </a:rPr>
              <a:t>Checkov finds CKV_AWS_18 failed — S3 bucket missing access logging. AI explains WHY this matters and HOW to fix it in plain English. Reduces onboarding time for new engineers.</a:t>
            </a:r>
            <a:endParaRPr lang="en-US" sz="900" dirty="0"/>
          </a:p>
        </p:txBody>
      </p:sp>
      <p:sp>
        <p:nvSpPr>
          <p:cNvPr id="12" name="Text 10"/>
          <p:cNvSpPr/>
          <p:nvPr/>
        </p:nvSpPr>
        <p:spPr>
          <a:xfrm>
            <a:off x="4632722" y="1363675"/>
            <a:ext cx="4050506" cy="1398389"/>
          </a:xfrm>
          <a:prstGeom prst="roundRect">
            <a:avLst>
              <a:gd name="adj" fmla="val 9536"/>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13" name="Text 11"/>
          <p:cNvSpPr/>
          <p:nvPr/>
        </p:nvSpPr>
        <p:spPr>
          <a:xfrm>
            <a:off x="8293894" y="1481547"/>
            <a:ext cx="257175" cy="257175"/>
          </a:xfrm>
          <a:prstGeom prst="rect">
            <a:avLst/>
          </a:prstGeom>
          <a:noFill/>
          <a:ln/>
        </p:spPr>
        <p:txBody>
          <a:bodyPr wrap="none" lIns="0" tIns="0" rIns="0" bIns="0" rtlCol="0" anchor="ctr"/>
          <a:lstStyle/>
          <a:p>
            <a:pPr marL="0" indent="0" algn="ctr">
              <a:buNone/>
            </a:pPr>
            <a:r>
              <a:rPr lang="en-US" sz="2531" dirty="0">
                <a:solidFill>
                  <a:srgbClr val="FED7AA"/>
                </a:solidFill>
                <a:latin typeface="Segoe UI Symbol" pitchFamily="34" charset="0"/>
                <a:ea typeface="Segoe UI Symbol" pitchFamily="34" charset="-122"/>
                <a:cs typeface="Segoe UI Symbol" pitchFamily="34" charset="-120"/>
              </a:rPr>
              <a:t>⚒</a:t>
            </a:r>
            <a:endParaRPr lang="en-US" sz="2531" dirty="0"/>
          </a:p>
        </p:txBody>
      </p:sp>
      <p:sp>
        <p:nvSpPr>
          <p:cNvPr id="14" name="Text 12"/>
          <p:cNvSpPr/>
          <p:nvPr/>
        </p:nvSpPr>
        <p:spPr>
          <a:xfrm>
            <a:off x="4793456" y="1510122"/>
            <a:ext cx="3729038" cy="339471"/>
          </a:xfrm>
          <a:prstGeom prst="rect">
            <a:avLst/>
          </a:prstGeom>
          <a:noFill/>
          <a:ln/>
        </p:spPr>
        <p:txBody>
          <a:bodyPr wrap="none" lIns="0" tIns="0" rIns="0" bIns="0" rtlCol="0" anchor="t"/>
          <a:lstStyle/>
          <a:p>
            <a:pPr marL="0" indent="0" algn="l">
              <a:lnSpc>
                <a:spcPts val="2475"/>
              </a:lnSpc>
              <a:buNone/>
            </a:pPr>
            <a:r>
              <a:rPr lang="en-US" sz="2475" b="1" kern="0" spc="-56" dirty="0">
                <a:solidFill>
                  <a:srgbClr val="F97316"/>
                </a:solidFill>
                <a:latin typeface="Liberation Sans Narrow" pitchFamily="34" charset="0"/>
                <a:ea typeface="Liberation Sans Narrow" pitchFamily="34" charset="-122"/>
                <a:cs typeface="Liberation Sans Narrow" pitchFamily="34" charset="-120"/>
              </a:rPr>
              <a:t>02</a:t>
            </a:r>
            <a:endParaRPr lang="en-US" sz="2475" dirty="0"/>
          </a:p>
        </p:txBody>
      </p:sp>
      <p:sp>
        <p:nvSpPr>
          <p:cNvPr id="15" name="Text 13"/>
          <p:cNvSpPr/>
          <p:nvPr/>
        </p:nvSpPr>
        <p:spPr>
          <a:xfrm>
            <a:off x="4793456" y="1881597"/>
            <a:ext cx="3729038" cy="194328"/>
          </a:xfrm>
          <a:prstGeom prst="rect">
            <a:avLst/>
          </a:prstGeom>
          <a:noFill/>
          <a:ln/>
        </p:spPr>
        <p:txBody>
          <a:bodyPr wrap="none" lIns="0" tIns="0" rIns="0" bIns="0" rtlCol="0" anchor="t"/>
          <a:lstStyle/>
          <a:p>
            <a:pPr marL="0" indent="0" algn="l">
              <a:lnSpc>
                <a:spcPts val="1418"/>
              </a:lnSpc>
              <a:buNone/>
            </a:pPr>
            <a:r>
              <a:rPr lang="en-US" sz="1181" b="1" dirty="0">
                <a:solidFill>
                  <a:srgbClr val="0F172A"/>
                </a:solidFill>
                <a:latin typeface="Carlito" pitchFamily="34" charset="0"/>
                <a:ea typeface="Carlito" pitchFamily="34" charset="-122"/>
                <a:cs typeface="Carlito" pitchFamily="34" charset="-120"/>
              </a:rPr>
              <a:t>Auto-Fix Suggestions</a:t>
            </a:r>
            <a:endParaRPr lang="en-US" sz="1181" dirty="0"/>
          </a:p>
        </p:txBody>
      </p:sp>
      <p:sp>
        <p:nvSpPr>
          <p:cNvPr id="16" name="Text 14"/>
          <p:cNvSpPr/>
          <p:nvPr/>
        </p:nvSpPr>
        <p:spPr>
          <a:xfrm>
            <a:off x="4793456" y="2118680"/>
            <a:ext cx="3729038" cy="496937"/>
          </a:xfrm>
          <a:prstGeom prst="rect">
            <a:avLst/>
          </a:prstGeom>
          <a:noFill/>
          <a:ln/>
        </p:spPr>
        <p:txBody>
          <a:bodyPr wrap="square" lIns="0" tIns="0" rIns="0" bIns="0" rtlCol="0" anchor="t"/>
          <a:lstStyle/>
          <a:p>
            <a:pPr marL="0" indent="0" algn="l">
              <a:lnSpc>
                <a:spcPts val="1305"/>
              </a:lnSpc>
              <a:buNone/>
            </a:pPr>
            <a:r>
              <a:rPr lang="en-US" sz="900" dirty="0">
                <a:solidFill>
                  <a:srgbClr val="334155"/>
                </a:solidFill>
                <a:latin typeface="Carlito" pitchFamily="34" charset="0"/>
                <a:ea typeface="Carlito" pitchFamily="34" charset="-122"/>
                <a:cs typeface="Carlito" pitchFamily="34" charset="-120"/>
              </a:rPr>
              <a:t>AI proposes a remediation patch: add logging block to the S3 bucket. Engineer reviews and accepts. Cuts remediation time from 30 minutes to 2 minutes.</a:t>
            </a:r>
            <a:endParaRPr lang="en-US" sz="900" dirty="0"/>
          </a:p>
        </p:txBody>
      </p:sp>
      <p:sp>
        <p:nvSpPr>
          <p:cNvPr id="17" name="Text 15"/>
          <p:cNvSpPr/>
          <p:nvPr/>
        </p:nvSpPr>
        <p:spPr>
          <a:xfrm>
            <a:off x="460772" y="2883508"/>
            <a:ext cx="4050506" cy="1398389"/>
          </a:xfrm>
          <a:prstGeom prst="roundRect">
            <a:avLst>
              <a:gd name="adj" fmla="val 9536"/>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18" name="Text 16"/>
          <p:cNvSpPr/>
          <p:nvPr/>
        </p:nvSpPr>
        <p:spPr>
          <a:xfrm>
            <a:off x="4121944" y="3001380"/>
            <a:ext cx="257175" cy="257175"/>
          </a:xfrm>
          <a:prstGeom prst="rect">
            <a:avLst/>
          </a:prstGeom>
          <a:noFill/>
          <a:ln/>
        </p:spPr>
        <p:txBody>
          <a:bodyPr wrap="none" lIns="0" tIns="0" rIns="0" bIns="0" rtlCol="0" anchor="ctr"/>
          <a:lstStyle/>
          <a:p>
            <a:pPr marL="0" indent="0" algn="ctr">
              <a:buNone/>
            </a:pPr>
            <a:r>
              <a:rPr lang="en-US" sz="2531" dirty="0">
                <a:solidFill>
                  <a:srgbClr val="FED7AA"/>
                </a:solidFill>
                <a:latin typeface="Segoe UI Symbol" pitchFamily="34" charset="0"/>
                <a:ea typeface="Segoe UI Symbol" pitchFamily="34" charset="-122"/>
                <a:cs typeface="Segoe UI Symbol" pitchFamily="34" charset="-120"/>
              </a:rPr>
              <a:t>✦</a:t>
            </a:r>
            <a:endParaRPr lang="en-US" sz="2531" dirty="0"/>
          </a:p>
        </p:txBody>
      </p:sp>
      <p:sp>
        <p:nvSpPr>
          <p:cNvPr id="19" name="Text 17"/>
          <p:cNvSpPr/>
          <p:nvPr/>
        </p:nvSpPr>
        <p:spPr>
          <a:xfrm>
            <a:off x="621506" y="3029955"/>
            <a:ext cx="3729038" cy="339471"/>
          </a:xfrm>
          <a:prstGeom prst="rect">
            <a:avLst/>
          </a:prstGeom>
          <a:noFill/>
          <a:ln/>
        </p:spPr>
        <p:txBody>
          <a:bodyPr wrap="none" lIns="0" tIns="0" rIns="0" bIns="0" rtlCol="0" anchor="t"/>
          <a:lstStyle/>
          <a:p>
            <a:pPr marL="0" indent="0" algn="l">
              <a:lnSpc>
                <a:spcPts val="2475"/>
              </a:lnSpc>
              <a:buNone/>
            </a:pPr>
            <a:r>
              <a:rPr lang="en-US" sz="2475" b="1" kern="0" spc="-56" dirty="0">
                <a:solidFill>
                  <a:srgbClr val="F97316"/>
                </a:solidFill>
                <a:latin typeface="Liberation Sans Narrow" pitchFamily="34" charset="0"/>
                <a:ea typeface="Liberation Sans Narrow" pitchFamily="34" charset="-122"/>
                <a:cs typeface="Liberation Sans Narrow" pitchFamily="34" charset="-120"/>
              </a:rPr>
              <a:t>03</a:t>
            </a:r>
            <a:endParaRPr lang="en-US" sz="2475" dirty="0"/>
          </a:p>
        </p:txBody>
      </p:sp>
      <p:sp>
        <p:nvSpPr>
          <p:cNvPr id="20" name="Text 18"/>
          <p:cNvSpPr/>
          <p:nvPr/>
        </p:nvSpPr>
        <p:spPr>
          <a:xfrm>
            <a:off x="621506" y="3401430"/>
            <a:ext cx="3729038" cy="194328"/>
          </a:xfrm>
          <a:prstGeom prst="rect">
            <a:avLst/>
          </a:prstGeom>
          <a:noFill/>
          <a:ln/>
        </p:spPr>
        <p:txBody>
          <a:bodyPr wrap="none" lIns="0" tIns="0" rIns="0" bIns="0" rtlCol="0" anchor="t"/>
          <a:lstStyle/>
          <a:p>
            <a:pPr marL="0" indent="0" algn="l">
              <a:lnSpc>
                <a:spcPts val="1418"/>
              </a:lnSpc>
              <a:buNone/>
            </a:pPr>
            <a:r>
              <a:rPr lang="en-US" sz="1181" b="1" dirty="0">
                <a:solidFill>
                  <a:srgbClr val="0F172A"/>
                </a:solidFill>
                <a:latin typeface="Carlito" pitchFamily="34" charset="0"/>
                <a:ea typeface="Carlito" pitchFamily="34" charset="-122"/>
                <a:cs typeface="Carlito" pitchFamily="34" charset="-120"/>
              </a:rPr>
              <a:t>Custom Rule Generation</a:t>
            </a:r>
            <a:endParaRPr lang="en-US" sz="1181" dirty="0"/>
          </a:p>
        </p:txBody>
      </p:sp>
      <p:sp>
        <p:nvSpPr>
          <p:cNvPr id="21" name="Text 19"/>
          <p:cNvSpPr/>
          <p:nvPr/>
        </p:nvSpPr>
        <p:spPr>
          <a:xfrm>
            <a:off x="621506" y="3638513"/>
            <a:ext cx="3729038" cy="496937"/>
          </a:xfrm>
          <a:prstGeom prst="rect">
            <a:avLst/>
          </a:prstGeom>
          <a:noFill/>
          <a:ln/>
        </p:spPr>
        <p:txBody>
          <a:bodyPr wrap="square" lIns="0" tIns="0" rIns="0" bIns="0" rtlCol="0" anchor="t"/>
          <a:lstStyle/>
          <a:p>
            <a:pPr marL="0" indent="0" algn="l">
              <a:lnSpc>
                <a:spcPts val="1305"/>
              </a:lnSpc>
              <a:buNone/>
            </a:pPr>
            <a:r>
              <a:rPr lang="en-US" sz="900" dirty="0">
                <a:solidFill>
                  <a:srgbClr val="334155"/>
                </a:solidFill>
                <a:latin typeface="Carlito" pitchFamily="34" charset="0"/>
                <a:ea typeface="Carlito" pitchFamily="34" charset="-122"/>
                <a:cs typeface="Carlito" pitchFamily="34" charset="-120"/>
              </a:rPr>
              <a:t>Engineer describes a custom policy in English ("all S3 buckets in prod must have lifecycle rules"). AI generates a Checkov custom rule in Python. Engineer reviews and merges.</a:t>
            </a:r>
            <a:endParaRPr lang="en-US" sz="900" dirty="0"/>
          </a:p>
        </p:txBody>
      </p:sp>
      <p:sp>
        <p:nvSpPr>
          <p:cNvPr id="22" name="Text 20"/>
          <p:cNvSpPr/>
          <p:nvPr/>
        </p:nvSpPr>
        <p:spPr>
          <a:xfrm>
            <a:off x="4632722" y="2883508"/>
            <a:ext cx="4050506" cy="1398389"/>
          </a:xfrm>
          <a:prstGeom prst="roundRect">
            <a:avLst>
              <a:gd name="adj" fmla="val 9536"/>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23" name="Text 21"/>
          <p:cNvSpPr/>
          <p:nvPr/>
        </p:nvSpPr>
        <p:spPr>
          <a:xfrm>
            <a:off x="8293894" y="3001380"/>
            <a:ext cx="257175" cy="257175"/>
          </a:xfrm>
          <a:prstGeom prst="rect">
            <a:avLst/>
          </a:prstGeom>
          <a:noFill/>
          <a:ln/>
        </p:spPr>
        <p:txBody>
          <a:bodyPr wrap="none" lIns="0" tIns="0" rIns="0" bIns="0" rtlCol="0" anchor="ctr"/>
          <a:lstStyle/>
          <a:p>
            <a:pPr marL="0" indent="0" algn="ctr">
              <a:buNone/>
            </a:pPr>
            <a:r>
              <a:rPr lang="en-US" sz="2531" dirty="0">
                <a:solidFill>
                  <a:srgbClr val="FED7AA"/>
                </a:solidFill>
                <a:latin typeface="Segoe UI Symbol" pitchFamily="34" charset="0"/>
                <a:ea typeface="Segoe UI Symbol" pitchFamily="34" charset="-122"/>
                <a:cs typeface="Segoe UI Symbol" pitchFamily="34" charset="-120"/>
              </a:rPr>
              <a:t>◯</a:t>
            </a:r>
            <a:endParaRPr lang="en-US" sz="2531" dirty="0"/>
          </a:p>
        </p:txBody>
      </p:sp>
      <p:sp>
        <p:nvSpPr>
          <p:cNvPr id="24" name="Text 22"/>
          <p:cNvSpPr/>
          <p:nvPr/>
        </p:nvSpPr>
        <p:spPr>
          <a:xfrm>
            <a:off x="4793456" y="3029955"/>
            <a:ext cx="3729038" cy="339471"/>
          </a:xfrm>
          <a:prstGeom prst="rect">
            <a:avLst/>
          </a:prstGeom>
          <a:noFill/>
          <a:ln/>
        </p:spPr>
        <p:txBody>
          <a:bodyPr wrap="none" lIns="0" tIns="0" rIns="0" bIns="0" rtlCol="0" anchor="t"/>
          <a:lstStyle/>
          <a:p>
            <a:pPr marL="0" indent="0" algn="l">
              <a:lnSpc>
                <a:spcPts val="2475"/>
              </a:lnSpc>
              <a:buNone/>
            </a:pPr>
            <a:r>
              <a:rPr lang="en-US" sz="2475" b="1" kern="0" spc="-56" dirty="0">
                <a:solidFill>
                  <a:srgbClr val="F97316"/>
                </a:solidFill>
                <a:latin typeface="Liberation Sans Narrow" pitchFamily="34" charset="0"/>
                <a:ea typeface="Liberation Sans Narrow" pitchFamily="34" charset="-122"/>
                <a:cs typeface="Liberation Sans Narrow" pitchFamily="34" charset="-120"/>
              </a:rPr>
              <a:t>04</a:t>
            </a:r>
            <a:endParaRPr lang="en-US" sz="2475" dirty="0"/>
          </a:p>
        </p:txBody>
      </p:sp>
      <p:sp>
        <p:nvSpPr>
          <p:cNvPr id="25" name="Text 23"/>
          <p:cNvSpPr/>
          <p:nvPr/>
        </p:nvSpPr>
        <p:spPr>
          <a:xfrm>
            <a:off x="4793456" y="3401430"/>
            <a:ext cx="3729038" cy="194328"/>
          </a:xfrm>
          <a:prstGeom prst="rect">
            <a:avLst/>
          </a:prstGeom>
          <a:noFill/>
          <a:ln/>
        </p:spPr>
        <p:txBody>
          <a:bodyPr wrap="none" lIns="0" tIns="0" rIns="0" bIns="0" rtlCol="0" anchor="t"/>
          <a:lstStyle/>
          <a:p>
            <a:pPr marL="0" indent="0" algn="l">
              <a:lnSpc>
                <a:spcPts val="1418"/>
              </a:lnSpc>
              <a:buNone/>
            </a:pPr>
            <a:r>
              <a:rPr lang="en-US" sz="1181" b="1" dirty="0">
                <a:solidFill>
                  <a:srgbClr val="0F172A"/>
                </a:solidFill>
                <a:latin typeface="Carlito" pitchFamily="34" charset="0"/>
                <a:ea typeface="Carlito" pitchFamily="34" charset="-122"/>
                <a:cs typeface="Carlito" pitchFamily="34" charset="-120"/>
              </a:rPr>
              <a:t>Hallucination Detection</a:t>
            </a:r>
            <a:endParaRPr lang="en-US" sz="1181" dirty="0"/>
          </a:p>
        </p:txBody>
      </p:sp>
      <p:sp>
        <p:nvSpPr>
          <p:cNvPr id="26" name="Text 24"/>
          <p:cNvSpPr/>
          <p:nvPr/>
        </p:nvSpPr>
        <p:spPr>
          <a:xfrm>
            <a:off x="4793456" y="3638513"/>
            <a:ext cx="3729038" cy="496937"/>
          </a:xfrm>
          <a:prstGeom prst="rect">
            <a:avLst/>
          </a:prstGeom>
          <a:noFill/>
          <a:ln/>
        </p:spPr>
        <p:txBody>
          <a:bodyPr wrap="square" lIns="0" tIns="0" rIns="0" bIns="0" rtlCol="0" anchor="t"/>
          <a:lstStyle/>
          <a:p>
            <a:pPr marL="0" indent="0" algn="l">
              <a:lnSpc>
                <a:spcPts val="1305"/>
              </a:lnSpc>
              <a:buNone/>
            </a:pPr>
            <a:r>
              <a:rPr lang="en-US" sz="900" dirty="0">
                <a:solidFill>
                  <a:srgbClr val="334155"/>
                </a:solidFill>
                <a:latin typeface="Carlito" pitchFamily="34" charset="0"/>
                <a:ea typeface="Carlito" pitchFamily="34" charset="-122"/>
                <a:cs typeface="Carlito" pitchFamily="34" charset="-120"/>
              </a:rPr>
              <a:t>AI cross-references the IaC against the cloud provider docs. Flags resources that look syntactically valid but do not actually exist (e.g., a hallucinated aws_s3_bucket_lifecycle_configuration argument).</a:t>
            </a:r>
            <a:endParaRPr lang="en-US" sz="900" dirty="0"/>
          </a:p>
        </p:txBody>
      </p:sp>
      <p:sp>
        <p:nvSpPr>
          <p:cNvPr id="27" name="Text 25"/>
          <p:cNvSpPr/>
          <p:nvPr/>
        </p:nvSpPr>
        <p:spPr>
          <a:xfrm>
            <a:off x="457200" y="4399769"/>
            <a:ext cx="8229600" cy="579983"/>
          </a:xfrm>
          <a:prstGeom prst="roundRect">
            <a:avLst>
              <a:gd name="adj" fmla="val 13138"/>
            </a:avLst>
          </a:prstGeom>
          <a:solidFill>
            <a:srgbClr val="FFF7ED"/>
          </a:solidFill>
          <a:ln/>
        </p:spPr>
        <p:txBody>
          <a:bodyPr wrap="square" rtlCol="0" anchor="ctr"/>
          <a:lstStyle/>
          <a:p>
            <a:pPr marL="0" indent="0">
              <a:buNone/>
            </a:pPr>
            <a:endParaRPr lang="en-US" dirty="0"/>
          </a:p>
        </p:txBody>
      </p:sp>
      <p:sp>
        <p:nvSpPr>
          <p:cNvPr id="28" name="Shape 26"/>
          <p:cNvSpPr/>
          <p:nvPr/>
        </p:nvSpPr>
        <p:spPr>
          <a:xfrm>
            <a:off x="478631" y="4399769"/>
            <a:ext cx="0" cy="579983"/>
          </a:xfrm>
          <a:prstGeom prst="line">
            <a:avLst/>
          </a:prstGeom>
          <a:noFill/>
          <a:ln w="42863">
            <a:solidFill>
              <a:srgbClr val="F97316"/>
            </a:solidFill>
            <a:prstDash val="solid"/>
          </a:ln>
        </p:spPr>
      </p:sp>
      <p:sp>
        <p:nvSpPr>
          <p:cNvPr id="29" name="Text 27"/>
          <p:cNvSpPr/>
          <p:nvPr/>
        </p:nvSpPr>
        <p:spPr>
          <a:xfrm>
            <a:off x="657225" y="4499781"/>
            <a:ext cx="7872413" cy="379958"/>
          </a:xfrm>
          <a:prstGeom prst="rect">
            <a:avLst/>
          </a:prstGeom>
          <a:noFill/>
          <a:ln/>
        </p:spPr>
        <p:txBody>
          <a:bodyPr wrap="square" lIns="0" tIns="0" rIns="0" bIns="0" rtlCol="0" anchor="t"/>
          <a:lstStyle/>
          <a:p>
            <a:pPr marL="0" indent="0" algn="l">
              <a:lnSpc>
                <a:spcPts val="1496"/>
              </a:lnSpc>
              <a:buNone/>
            </a:pPr>
            <a:r>
              <a:rPr lang="en-US" sz="1069" b="1" dirty="0">
                <a:solidFill>
                  <a:srgbClr val="C2410C"/>
                </a:solidFill>
                <a:latin typeface="Segoe UI Symbol" pitchFamily="34" charset="0"/>
                <a:ea typeface="Segoe UI Symbol" pitchFamily="34" charset="-122"/>
                <a:cs typeface="Segoe UI Symbol" pitchFamily="34" charset="-120"/>
              </a:rPr>
              <a:t>✻</a:t>
            </a:r>
            <a:r>
              <a:rPr lang="en-US" sz="1069" b="1" dirty="0">
                <a:solidFill>
                  <a:srgbClr val="C2410C"/>
                </a:solidFill>
                <a:latin typeface="Carlito" pitchFamily="34" charset="0"/>
                <a:ea typeface="Carlito" pitchFamily="34" charset="-122"/>
                <a:cs typeface="Carlito" pitchFamily="34" charset="-120"/>
              </a:rPr>
              <a:t> Pattern: linters run first, deterministic. AI runs second, augmentative. AI does not replace linters — it explains them and extends them.</a:t>
            </a:r>
            <a:endParaRPr lang="en-US" sz="1069"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8050158" cy="373346"/>
          </a:xfrm>
          <a:prstGeom prst="rect">
            <a:avLst/>
          </a:prstGeom>
          <a:noFill/>
          <a:ln/>
        </p:spPr>
        <p:txBody>
          <a:bodyPr wrap="square" lIns="0" tIns="0" rIns="0" bIns="0" rtlCol="0" anchor="t"/>
          <a:lstStyle/>
          <a:p>
            <a:pPr marL="0" indent="0" algn="l">
              <a:lnSpc>
                <a:spcPts val="2723"/>
              </a:lnSpc>
              <a:buNone/>
            </a:pPr>
            <a:r>
              <a:rPr lang="en-US" sz="2475" b="1" kern="0" spc="-28" dirty="0">
                <a:solidFill>
                  <a:srgbClr val="0F172A"/>
                </a:solidFill>
                <a:latin typeface="Carlito" pitchFamily="34" charset="0"/>
                <a:ea typeface="Carlito" pitchFamily="34" charset="-122"/>
                <a:cs typeface="Carlito" pitchFamily="34" charset="-120"/>
              </a:rPr>
              <a:t>Section C Recap — AI-Driven Infrastructure Generation</a:t>
            </a:r>
            <a:endParaRPr lang="en-US" sz="2475" dirty="0"/>
          </a:p>
        </p:txBody>
      </p:sp>
      <p:sp>
        <p:nvSpPr>
          <p:cNvPr id="3" name="Text 1"/>
          <p:cNvSpPr/>
          <p:nvPr/>
        </p:nvSpPr>
        <p:spPr>
          <a:xfrm>
            <a:off x="457200" y="888616"/>
            <a:ext cx="571500" cy="42863"/>
          </a:xfrm>
          <a:prstGeom prst="roundRect">
            <a:avLst>
              <a:gd name="adj" fmla="val 66666"/>
            </a:avLst>
          </a:prstGeom>
          <a:solidFill>
            <a:srgbClr val="F97316"/>
          </a:solidFill>
          <a:ln/>
        </p:spPr>
        <p:txBody>
          <a:bodyPr wrap="square" rtlCol="0" anchor="ctr"/>
          <a:lstStyle/>
          <a:p>
            <a:pPr marL="0" indent="0">
              <a:buNone/>
            </a:pPr>
            <a:endParaRPr lang="en-US" dirty="0"/>
          </a:p>
        </p:txBody>
      </p:sp>
      <p:sp>
        <p:nvSpPr>
          <p:cNvPr id="4" name="Text 2"/>
          <p:cNvSpPr/>
          <p:nvPr/>
        </p:nvSpPr>
        <p:spPr>
          <a:xfrm>
            <a:off x="7958941" y="528672"/>
            <a:ext cx="750719" cy="331333"/>
          </a:xfrm>
          <a:prstGeom prst="roundRect">
            <a:avLst>
              <a:gd name="adj" fmla="val 2871877"/>
            </a:avLst>
          </a:prstGeom>
          <a:solidFill>
            <a:srgbClr val="FED7AA"/>
          </a:solidFill>
          <a:ln/>
        </p:spPr>
        <p:txBody>
          <a:bodyPr wrap="square" rtlCol="0" anchor="ctr"/>
          <a:lstStyle/>
          <a:p>
            <a:pPr marL="0" indent="0">
              <a:buNone/>
            </a:pPr>
            <a:endParaRPr lang="en-US" dirty="0"/>
          </a:p>
        </p:txBody>
      </p:sp>
      <p:sp>
        <p:nvSpPr>
          <p:cNvPr id="5" name="Text 3"/>
          <p:cNvSpPr/>
          <p:nvPr/>
        </p:nvSpPr>
        <p:spPr>
          <a:xfrm>
            <a:off x="7981801" y="541474"/>
            <a:ext cx="704999" cy="305730"/>
          </a:xfrm>
          <a:prstGeom prst="rect">
            <a:avLst/>
          </a:prstGeom>
          <a:noFill/>
          <a:ln/>
        </p:spPr>
        <p:txBody>
          <a:bodyPr wrap="none" lIns="0" tIns="0" rIns="0" bIns="0" rtlCol="0" anchor="ctr"/>
          <a:lstStyle/>
          <a:p>
            <a:pPr marL="0" indent="0" algn="ctr">
              <a:lnSpc>
                <a:spcPts val="1733"/>
              </a:lnSpc>
              <a:buNone/>
            </a:pPr>
            <a:r>
              <a:rPr lang="en-US" sz="1238" b="1" kern="0" spc="28" dirty="0">
                <a:solidFill>
                  <a:srgbClr val="C2410C"/>
                </a:solidFill>
                <a:latin typeface="Carlito" pitchFamily="34" charset="0"/>
                <a:ea typeface="Carlito" pitchFamily="34" charset="-122"/>
                <a:cs typeface="Carlito" pitchFamily="34" charset="-120"/>
              </a:rPr>
              <a:t>RECAP</a:t>
            </a:r>
            <a:endParaRPr lang="en-US" sz="1238" dirty="0"/>
          </a:p>
        </p:txBody>
      </p:sp>
      <p:sp>
        <p:nvSpPr>
          <p:cNvPr id="6" name="Text 4"/>
          <p:cNvSpPr/>
          <p:nvPr/>
        </p:nvSpPr>
        <p:spPr>
          <a:xfrm>
            <a:off x="460772" y="1020775"/>
            <a:ext cx="4079081" cy="915405"/>
          </a:xfrm>
          <a:prstGeom prst="roundRect">
            <a:avLst>
              <a:gd name="adj" fmla="val 10405"/>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7" name="Text 5"/>
          <p:cNvSpPr/>
          <p:nvPr/>
        </p:nvSpPr>
        <p:spPr>
          <a:xfrm>
            <a:off x="555784" y="1318503"/>
            <a:ext cx="617220" cy="319836"/>
          </a:xfrm>
          <a:prstGeom prst="roundRect">
            <a:avLst>
              <a:gd name="adj" fmla="val 23825"/>
            </a:avLst>
          </a:prstGeom>
          <a:solidFill>
            <a:srgbClr val="F97316"/>
          </a:solidFill>
          <a:ln/>
        </p:spPr>
        <p:txBody>
          <a:bodyPr wrap="square" rtlCol="0" anchor="ctr"/>
          <a:lstStyle/>
          <a:p>
            <a:pPr marL="0" indent="0">
              <a:buNone/>
            </a:pPr>
            <a:endParaRPr lang="en-US" dirty="0"/>
          </a:p>
        </p:txBody>
      </p:sp>
      <p:sp>
        <p:nvSpPr>
          <p:cNvPr id="8" name="Text 6"/>
          <p:cNvSpPr/>
          <p:nvPr/>
        </p:nvSpPr>
        <p:spPr>
          <a:xfrm>
            <a:off x="578644" y="1331305"/>
            <a:ext cx="571500" cy="294233"/>
          </a:xfrm>
          <a:prstGeom prst="rect">
            <a:avLst/>
          </a:prstGeom>
          <a:noFill/>
          <a:ln/>
        </p:spPr>
        <p:txBody>
          <a:bodyPr wrap="none" lIns="0" tIns="0" rIns="0" bIns="0" rtlCol="0" anchor="ctr"/>
          <a:lstStyle/>
          <a:p>
            <a:pPr marL="0" indent="0" algn="ctr">
              <a:lnSpc>
                <a:spcPts val="1418"/>
              </a:lnSpc>
              <a:buNone/>
            </a:pPr>
            <a:r>
              <a:rPr lang="en-US" sz="1013" b="1" kern="0" spc="28" dirty="0">
                <a:solidFill>
                  <a:srgbClr val="FFFFFF"/>
                </a:solidFill>
                <a:latin typeface="Liberation Sans Narrow" pitchFamily="34" charset="0"/>
                <a:ea typeface="Liberation Sans Narrow" pitchFamily="34" charset="-122"/>
                <a:cs typeface="Liberation Sans Narrow" pitchFamily="34" charset="-120"/>
              </a:rPr>
              <a:t>3.1</a:t>
            </a:r>
            <a:endParaRPr lang="en-US" sz="1013" dirty="0"/>
          </a:p>
        </p:txBody>
      </p:sp>
      <p:sp>
        <p:nvSpPr>
          <p:cNvPr id="9" name="Text 7"/>
          <p:cNvSpPr/>
          <p:nvPr/>
        </p:nvSpPr>
        <p:spPr>
          <a:xfrm>
            <a:off x="1264444" y="1244129"/>
            <a:ext cx="3157538" cy="141116"/>
          </a:xfrm>
          <a:prstGeom prst="rect">
            <a:avLst/>
          </a:prstGeom>
          <a:noFill/>
          <a:ln/>
        </p:spPr>
        <p:txBody>
          <a:bodyPr wrap="none" lIns="0" tIns="0" rIns="0" bIns="0" rtlCol="0" anchor="t">
            <a:normAutofit fontScale="70000" lnSpcReduction="20000"/>
          </a:bodyPr>
          <a:lstStyle/>
          <a:p>
            <a:pPr marL="0" indent="0" algn="l">
              <a:lnSpc>
                <a:spcPts val="1215"/>
              </a:lnSpc>
              <a:buNone/>
            </a:pPr>
            <a:r>
              <a:rPr lang="en-US" sz="1013" b="1" dirty="0">
                <a:solidFill>
                  <a:srgbClr val="0F172A"/>
                </a:solidFill>
                <a:latin typeface="Carlito" pitchFamily="34" charset="0"/>
                <a:ea typeface="Carlito" pitchFamily="34" charset="-122"/>
                <a:cs typeface="Carlito" pitchFamily="34" charset="-120"/>
              </a:rPr>
              <a:t>IaC Concept</a:t>
            </a:r>
            <a:endParaRPr lang="en-US" sz="1013" dirty="0"/>
          </a:p>
        </p:txBody>
      </p:sp>
      <p:sp>
        <p:nvSpPr>
          <p:cNvPr id="10" name="Text 8"/>
          <p:cNvSpPr/>
          <p:nvPr/>
        </p:nvSpPr>
        <p:spPr>
          <a:xfrm>
            <a:off x="1264444" y="1412677"/>
            <a:ext cx="3157538" cy="324041"/>
          </a:xfrm>
          <a:prstGeom prst="rect">
            <a:avLst/>
          </a:prstGeom>
          <a:noFill/>
          <a:ln/>
        </p:spPr>
        <p:txBody>
          <a:bodyPr wrap="square" lIns="0" tIns="0" rIns="0" bIns="0" rtlCol="0" anchor="t"/>
          <a:lstStyle/>
          <a:p>
            <a:pPr marL="0" indent="0" algn="l">
              <a:lnSpc>
                <a:spcPts val="1181"/>
              </a:lnSpc>
              <a:buNone/>
            </a:pPr>
            <a:r>
              <a:rPr lang="en-US" sz="844" dirty="0">
                <a:solidFill>
                  <a:srgbClr val="334155"/>
                </a:solidFill>
                <a:latin typeface="Carlito" pitchFamily="34" charset="0"/>
                <a:ea typeface="Carlito" pitchFamily="34" charset="-122"/>
                <a:cs typeface="Carlito" pitchFamily="34" charset="-120"/>
              </a:rPr>
              <a:t>Infrastructure as code — version-controlled, reviewable, repeatable. Terraform provisions, Ansible configures.</a:t>
            </a:r>
            <a:endParaRPr lang="en-US" sz="844" dirty="0"/>
          </a:p>
        </p:txBody>
      </p:sp>
      <p:sp>
        <p:nvSpPr>
          <p:cNvPr id="11" name="Text 9"/>
          <p:cNvSpPr/>
          <p:nvPr/>
        </p:nvSpPr>
        <p:spPr>
          <a:xfrm>
            <a:off x="4604147" y="1020775"/>
            <a:ext cx="4079081" cy="915405"/>
          </a:xfrm>
          <a:prstGeom prst="roundRect">
            <a:avLst>
              <a:gd name="adj" fmla="val 10405"/>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12" name="Text 10"/>
          <p:cNvSpPr/>
          <p:nvPr/>
        </p:nvSpPr>
        <p:spPr>
          <a:xfrm>
            <a:off x="4699159" y="1318503"/>
            <a:ext cx="617220" cy="319836"/>
          </a:xfrm>
          <a:prstGeom prst="roundRect">
            <a:avLst>
              <a:gd name="adj" fmla="val 23825"/>
            </a:avLst>
          </a:prstGeom>
          <a:solidFill>
            <a:srgbClr val="F97316"/>
          </a:solidFill>
          <a:ln/>
        </p:spPr>
        <p:txBody>
          <a:bodyPr wrap="square" rtlCol="0" anchor="ctr"/>
          <a:lstStyle/>
          <a:p>
            <a:pPr marL="0" indent="0">
              <a:buNone/>
            </a:pPr>
            <a:endParaRPr lang="en-US" dirty="0"/>
          </a:p>
        </p:txBody>
      </p:sp>
      <p:sp>
        <p:nvSpPr>
          <p:cNvPr id="13" name="Text 11"/>
          <p:cNvSpPr/>
          <p:nvPr/>
        </p:nvSpPr>
        <p:spPr>
          <a:xfrm>
            <a:off x="4722019" y="1331305"/>
            <a:ext cx="571500" cy="294233"/>
          </a:xfrm>
          <a:prstGeom prst="rect">
            <a:avLst/>
          </a:prstGeom>
          <a:noFill/>
          <a:ln/>
        </p:spPr>
        <p:txBody>
          <a:bodyPr wrap="none" lIns="0" tIns="0" rIns="0" bIns="0" rtlCol="0" anchor="ctr"/>
          <a:lstStyle/>
          <a:p>
            <a:pPr marL="0" indent="0" algn="ctr">
              <a:lnSpc>
                <a:spcPts val="1418"/>
              </a:lnSpc>
              <a:buNone/>
            </a:pPr>
            <a:r>
              <a:rPr lang="en-US" sz="1013" b="1" kern="0" spc="28" dirty="0">
                <a:solidFill>
                  <a:srgbClr val="FFFFFF"/>
                </a:solidFill>
                <a:latin typeface="Liberation Sans Narrow" pitchFamily="34" charset="0"/>
                <a:ea typeface="Liberation Sans Narrow" pitchFamily="34" charset="-122"/>
                <a:cs typeface="Liberation Sans Narrow" pitchFamily="34" charset="-120"/>
              </a:rPr>
              <a:t>3.2</a:t>
            </a:r>
            <a:endParaRPr lang="en-US" sz="1013" dirty="0"/>
          </a:p>
        </p:txBody>
      </p:sp>
      <p:sp>
        <p:nvSpPr>
          <p:cNvPr id="14" name="Text 12"/>
          <p:cNvSpPr/>
          <p:nvPr/>
        </p:nvSpPr>
        <p:spPr>
          <a:xfrm>
            <a:off x="5407819" y="1244129"/>
            <a:ext cx="3157538" cy="141116"/>
          </a:xfrm>
          <a:prstGeom prst="rect">
            <a:avLst/>
          </a:prstGeom>
          <a:noFill/>
          <a:ln/>
        </p:spPr>
        <p:txBody>
          <a:bodyPr wrap="none" lIns="0" tIns="0" rIns="0" bIns="0" rtlCol="0" anchor="t">
            <a:normAutofit fontScale="70000" lnSpcReduction="20000"/>
          </a:bodyPr>
          <a:lstStyle/>
          <a:p>
            <a:pPr marL="0" indent="0" algn="l">
              <a:lnSpc>
                <a:spcPts val="1215"/>
              </a:lnSpc>
              <a:buNone/>
            </a:pPr>
            <a:r>
              <a:rPr lang="en-US" sz="1013" b="1" dirty="0">
                <a:solidFill>
                  <a:srgbClr val="0F172A"/>
                </a:solidFill>
                <a:latin typeface="Carlito" pitchFamily="34" charset="0"/>
                <a:ea typeface="Carlito" pitchFamily="34" charset="-122"/>
                <a:cs typeface="Carlito" pitchFamily="34" charset="-120"/>
              </a:rPr>
              <a:t>Manual IaC Problem</a:t>
            </a:r>
            <a:endParaRPr lang="en-US" sz="1013" dirty="0"/>
          </a:p>
        </p:txBody>
      </p:sp>
      <p:sp>
        <p:nvSpPr>
          <p:cNvPr id="15" name="Text 13"/>
          <p:cNvSpPr/>
          <p:nvPr/>
        </p:nvSpPr>
        <p:spPr>
          <a:xfrm>
            <a:off x="5407819" y="1412677"/>
            <a:ext cx="3157538" cy="324041"/>
          </a:xfrm>
          <a:prstGeom prst="rect">
            <a:avLst/>
          </a:prstGeom>
          <a:noFill/>
          <a:ln/>
        </p:spPr>
        <p:txBody>
          <a:bodyPr wrap="square" lIns="0" tIns="0" rIns="0" bIns="0" rtlCol="0" anchor="t"/>
          <a:lstStyle/>
          <a:p>
            <a:pPr marL="0" indent="0" algn="l">
              <a:lnSpc>
                <a:spcPts val="1181"/>
              </a:lnSpc>
              <a:buNone/>
            </a:pPr>
            <a:r>
              <a:rPr lang="en-US" sz="844" dirty="0">
                <a:solidFill>
                  <a:srgbClr val="334155"/>
                </a:solidFill>
                <a:latin typeface="Carlito" pitchFamily="34" charset="0"/>
                <a:ea typeface="Carlito" pitchFamily="34" charset="-122"/>
                <a:cs typeface="Carlito" pitchFamily="34" charset="-120"/>
              </a:rPr>
              <a:t>3 weeks to write a Terraform module. 40% is boilerplate. 65% of bugs are typos. Prime AI territory.</a:t>
            </a:r>
            <a:endParaRPr lang="en-US" sz="844" dirty="0"/>
          </a:p>
        </p:txBody>
      </p:sp>
      <p:sp>
        <p:nvSpPr>
          <p:cNvPr id="16" name="Text 14"/>
          <p:cNvSpPr/>
          <p:nvPr/>
        </p:nvSpPr>
        <p:spPr>
          <a:xfrm>
            <a:off x="460772" y="2000473"/>
            <a:ext cx="4079081" cy="1065423"/>
          </a:xfrm>
          <a:prstGeom prst="roundRect">
            <a:avLst>
              <a:gd name="adj" fmla="val 8940"/>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17" name="Text 15"/>
          <p:cNvSpPr/>
          <p:nvPr/>
        </p:nvSpPr>
        <p:spPr>
          <a:xfrm>
            <a:off x="555784" y="2373211"/>
            <a:ext cx="617220" cy="319836"/>
          </a:xfrm>
          <a:prstGeom prst="roundRect">
            <a:avLst>
              <a:gd name="adj" fmla="val 23825"/>
            </a:avLst>
          </a:prstGeom>
          <a:solidFill>
            <a:srgbClr val="F97316"/>
          </a:solidFill>
          <a:ln/>
        </p:spPr>
        <p:txBody>
          <a:bodyPr wrap="square" rtlCol="0" anchor="ctr"/>
          <a:lstStyle/>
          <a:p>
            <a:pPr marL="0" indent="0">
              <a:buNone/>
            </a:pPr>
            <a:endParaRPr lang="en-US" dirty="0"/>
          </a:p>
        </p:txBody>
      </p:sp>
      <p:sp>
        <p:nvSpPr>
          <p:cNvPr id="18" name="Text 16"/>
          <p:cNvSpPr/>
          <p:nvPr/>
        </p:nvSpPr>
        <p:spPr>
          <a:xfrm>
            <a:off x="578644" y="2386013"/>
            <a:ext cx="571500" cy="294233"/>
          </a:xfrm>
          <a:prstGeom prst="rect">
            <a:avLst/>
          </a:prstGeom>
          <a:noFill/>
          <a:ln/>
        </p:spPr>
        <p:txBody>
          <a:bodyPr wrap="none" lIns="0" tIns="0" rIns="0" bIns="0" rtlCol="0" anchor="ctr"/>
          <a:lstStyle/>
          <a:p>
            <a:pPr marL="0" indent="0" algn="ctr">
              <a:lnSpc>
                <a:spcPts val="1418"/>
              </a:lnSpc>
              <a:buNone/>
            </a:pPr>
            <a:r>
              <a:rPr lang="en-US" sz="1013" b="1" kern="0" spc="28" dirty="0">
                <a:solidFill>
                  <a:srgbClr val="FFFFFF"/>
                </a:solidFill>
                <a:latin typeface="Liberation Sans Narrow" pitchFamily="34" charset="0"/>
                <a:ea typeface="Liberation Sans Narrow" pitchFamily="34" charset="-122"/>
                <a:cs typeface="Liberation Sans Narrow" pitchFamily="34" charset="-120"/>
              </a:rPr>
              <a:t>3.3</a:t>
            </a:r>
            <a:endParaRPr lang="en-US" sz="1013" dirty="0"/>
          </a:p>
        </p:txBody>
      </p:sp>
      <p:sp>
        <p:nvSpPr>
          <p:cNvPr id="19" name="Text 17"/>
          <p:cNvSpPr/>
          <p:nvPr/>
        </p:nvSpPr>
        <p:spPr>
          <a:xfrm>
            <a:off x="1264444" y="2223827"/>
            <a:ext cx="3157538" cy="141116"/>
          </a:xfrm>
          <a:prstGeom prst="rect">
            <a:avLst/>
          </a:prstGeom>
          <a:noFill/>
          <a:ln/>
        </p:spPr>
        <p:txBody>
          <a:bodyPr wrap="none" lIns="0" tIns="0" rIns="0" bIns="0" rtlCol="0" anchor="t">
            <a:normAutofit fontScale="70000" lnSpcReduction="20000"/>
          </a:bodyPr>
          <a:lstStyle/>
          <a:p>
            <a:pPr marL="0" indent="0" algn="l">
              <a:lnSpc>
                <a:spcPts val="1215"/>
              </a:lnSpc>
              <a:buNone/>
            </a:pPr>
            <a:r>
              <a:rPr lang="en-US" sz="1013" b="1" dirty="0">
                <a:solidFill>
                  <a:srgbClr val="0F172A"/>
                </a:solidFill>
                <a:latin typeface="Carlito" pitchFamily="34" charset="0"/>
                <a:ea typeface="Carlito" pitchFamily="34" charset="-122"/>
                <a:cs typeface="Carlito" pitchFamily="34" charset="-120"/>
              </a:rPr>
              <a:t>NL → Terraform</a:t>
            </a:r>
            <a:endParaRPr lang="en-US" sz="1013" dirty="0"/>
          </a:p>
        </p:txBody>
      </p:sp>
      <p:sp>
        <p:nvSpPr>
          <p:cNvPr id="20" name="Text 18"/>
          <p:cNvSpPr/>
          <p:nvPr/>
        </p:nvSpPr>
        <p:spPr>
          <a:xfrm>
            <a:off x="1264444" y="2392375"/>
            <a:ext cx="3157538" cy="486061"/>
          </a:xfrm>
          <a:prstGeom prst="rect">
            <a:avLst/>
          </a:prstGeom>
          <a:noFill/>
          <a:ln/>
        </p:spPr>
        <p:txBody>
          <a:bodyPr wrap="square" lIns="0" tIns="0" rIns="0" bIns="0" rtlCol="0" anchor="t"/>
          <a:lstStyle/>
          <a:p>
            <a:pPr marL="0" indent="0" algn="l">
              <a:lnSpc>
                <a:spcPts val="1181"/>
              </a:lnSpc>
              <a:buNone/>
            </a:pPr>
            <a:r>
              <a:rPr lang="en-US" sz="844" dirty="0">
                <a:solidFill>
                  <a:srgbClr val="334155"/>
                </a:solidFill>
                <a:latin typeface="Carlito" pitchFamily="34" charset="0"/>
                <a:ea typeface="Carlito" pitchFamily="34" charset="-122"/>
                <a:cs typeface="Carlito" pitchFamily="34" charset="-120"/>
              </a:rPr>
              <a:t>Prompt with context + constraints + examples. LLM generates HCL. 92% passes tflint on first try. ALWAYS run tflint + Checkov before apply.</a:t>
            </a:r>
            <a:endParaRPr lang="en-US" sz="844" dirty="0"/>
          </a:p>
        </p:txBody>
      </p:sp>
      <p:sp>
        <p:nvSpPr>
          <p:cNvPr id="21" name="Text 19"/>
          <p:cNvSpPr/>
          <p:nvPr/>
        </p:nvSpPr>
        <p:spPr>
          <a:xfrm>
            <a:off x="4604147" y="2000473"/>
            <a:ext cx="4079081" cy="1065423"/>
          </a:xfrm>
          <a:prstGeom prst="roundRect">
            <a:avLst>
              <a:gd name="adj" fmla="val 8940"/>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22" name="Text 20"/>
          <p:cNvSpPr/>
          <p:nvPr/>
        </p:nvSpPr>
        <p:spPr>
          <a:xfrm>
            <a:off x="4699159" y="2373211"/>
            <a:ext cx="617220" cy="319836"/>
          </a:xfrm>
          <a:prstGeom prst="roundRect">
            <a:avLst>
              <a:gd name="adj" fmla="val 23825"/>
            </a:avLst>
          </a:prstGeom>
          <a:solidFill>
            <a:srgbClr val="F97316"/>
          </a:solidFill>
          <a:ln/>
        </p:spPr>
        <p:txBody>
          <a:bodyPr wrap="square" rtlCol="0" anchor="ctr"/>
          <a:lstStyle/>
          <a:p>
            <a:pPr marL="0" indent="0">
              <a:buNone/>
            </a:pPr>
            <a:endParaRPr lang="en-US" dirty="0"/>
          </a:p>
        </p:txBody>
      </p:sp>
      <p:sp>
        <p:nvSpPr>
          <p:cNvPr id="23" name="Text 21"/>
          <p:cNvSpPr/>
          <p:nvPr/>
        </p:nvSpPr>
        <p:spPr>
          <a:xfrm>
            <a:off x="4722019" y="2386013"/>
            <a:ext cx="571500" cy="294233"/>
          </a:xfrm>
          <a:prstGeom prst="rect">
            <a:avLst/>
          </a:prstGeom>
          <a:noFill/>
          <a:ln/>
        </p:spPr>
        <p:txBody>
          <a:bodyPr wrap="none" lIns="0" tIns="0" rIns="0" bIns="0" rtlCol="0" anchor="ctr"/>
          <a:lstStyle/>
          <a:p>
            <a:pPr marL="0" indent="0" algn="ctr">
              <a:lnSpc>
                <a:spcPts val="1418"/>
              </a:lnSpc>
              <a:buNone/>
            </a:pPr>
            <a:r>
              <a:rPr lang="en-US" sz="1013" b="1" kern="0" spc="28" dirty="0">
                <a:solidFill>
                  <a:srgbClr val="FFFFFF"/>
                </a:solidFill>
                <a:latin typeface="Liberation Sans Narrow" pitchFamily="34" charset="0"/>
                <a:ea typeface="Liberation Sans Narrow" pitchFamily="34" charset="-122"/>
                <a:cs typeface="Liberation Sans Narrow" pitchFamily="34" charset="-120"/>
              </a:rPr>
              <a:t>3.4</a:t>
            </a:r>
            <a:endParaRPr lang="en-US" sz="1013" dirty="0"/>
          </a:p>
        </p:txBody>
      </p:sp>
      <p:sp>
        <p:nvSpPr>
          <p:cNvPr id="24" name="Text 22"/>
          <p:cNvSpPr/>
          <p:nvPr/>
        </p:nvSpPr>
        <p:spPr>
          <a:xfrm>
            <a:off x="5407819" y="2223827"/>
            <a:ext cx="3157538" cy="141116"/>
          </a:xfrm>
          <a:prstGeom prst="rect">
            <a:avLst/>
          </a:prstGeom>
          <a:noFill/>
          <a:ln/>
        </p:spPr>
        <p:txBody>
          <a:bodyPr wrap="none" lIns="0" tIns="0" rIns="0" bIns="0" rtlCol="0" anchor="t">
            <a:normAutofit fontScale="70000" lnSpcReduction="20000"/>
          </a:bodyPr>
          <a:lstStyle/>
          <a:p>
            <a:pPr marL="0" indent="0" algn="l">
              <a:lnSpc>
                <a:spcPts val="1215"/>
              </a:lnSpc>
              <a:buNone/>
            </a:pPr>
            <a:r>
              <a:rPr lang="en-US" sz="1013" b="1" dirty="0">
                <a:solidFill>
                  <a:srgbClr val="0F172A"/>
                </a:solidFill>
                <a:latin typeface="Carlito" pitchFamily="34" charset="0"/>
                <a:ea typeface="Carlito" pitchFamily="34" charset="-122"/>
                <a:cs typeface="Carlito" pitchFamily="34" charset="-120"/>
              </a:rPr>
              <a:t>NL → Ansible</a:t>
            </a:r>
            <a:endParaRPr lang="en-US" sz="1013" dirty="0"/>
          </a:p>
        </p:txBody>
      </p:sp>
      <p:sp>
        <p:nvSpPr>
          <p:cNvPr id="25" name="Text 23"/>
          <p:cNvSpPr/>
          <p:nvPr/>
        </p:nvSpPr>
        <p:spPr>
          <a:xfrm>
            <a:off x="5407819" y="2392375"/>
            <a:ext cx="3157538" cy="486061"/>
          </a:xfrm>
          <a:prstGeom prst="rect">
            <a:avLst/>
          </a:prstGeom>
          <a:noFill/>
          <a:ln/>
        </p:spPr>
        <p:txBody>
          <a:bodyPr wrap="square" lIns="0" tIns="0" rIns="0" bIns="0" rtlCol="0" anchor="t"/>
          <a:lstStyle/>
          <a:p>
            <a:pPr marL="0" indent="0" algn="l">
              <a:lnSpc>
                <a:spcPts val="1181"/>
              </a:lnSpc>
              <a:buNone/>
            </a:pPr>
            <a:r>
              <a:rPr lang="en-US" sz="844" dirty="0">
                <a:solidFill>
                  <a:srgbClr val="334155"/>
                </a:solidFill>
                <a:latin typeface="Carlito" pitchFamily="34" charset="0"/>
                <a:ea typeface="Carlito" pitchFamily="34" charset="-122"/>
                <a:cs typeface="Carlito" pitchFamily="34" charset="-120"/>
              </a:rPr>
              <a:t>Same pattern. LLM generates playbooks. Best for boilerplate — install stack, create users, deploy service. Run ansible-lint + --check.</a:t>
            </a:r>
            <a:endParaRPr lang="en-US" sz="844" dirty="0"/>
          </a:p>
        </p:txBody>
      </p:sp>
      <p:sp>
        <p:nvSpPr>
          <p:cNvPr id="26" name="Text 24"/>
          <p:cNvSpPr/>
          <p:nvPr/>
        </p:nvSpPr>
        <p:spPr>
          <a:xfrm>
            <a:off x="460772" y="3130190"/>
            <a:ext cx="4079081" cy="915405"/>
          </a:xfrm>
          <a:prstGeom prst="roundRect">
            <a:avLst>
              <a:gd name="adj" fmla="val 10405"/>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27" name="Text 25"/>
          <p:cNvSpPr/>
          <p:nvPr/>
        </p:nvSpPr>
        <p:spPr>
          <a:xfrm>
            <a:off x="555784" y="3427919"/>
            <a:ext cx="617220" cy="319836"/>
          </a:xfrm>
          <a:prstGeom prst="roundRect">
            <a:avLst>
              <a:gd name="adj" fmla="val 23825"/>
            </a:avLst>
          </a:prstGeom>
          <a:solidFill>
            <a:srgbClr val="F97316"/>
          </a:solidFill>
          <a:ln/>
        </p:spPr>
        <p:txBody>
          <a:bodyPr wrap="square" rtlCol="0" anchor="ctr"/>
          <a:lstStyle/>
          <a:p>
            <a:pPr marL="0" indent="0">
              <a:buNone/>
            </a:pPr>
            <a:endParaRPr lang="en-US" dirty="0"/>
          </a:p>
        </p:txBody>
      </p:sp>
      <p:sp>
        <p:nvSpPr>
          <p:cNvPr id="28" name="Text 26"/>
          <p:cNvSpPr/>
          <p:nvPr/>
        </p:nvSpPr>
        <p:spPr>
          <a:xfrm>
            <a:off x="578644" y="3440720"/>
            <a:ext cx="571500" cy="294233"/>
          </a:xfrm>
          <a:prstGeom prst="rect">
            <a:avLst/>
          </a:prstGeom>
          <a:noFill/>
          <a:ln/>
        </p:spPr>
        <p:txBody>
          <a:bodyPr wrap="none" lIns="0" tIns="0" rIns="0" bIns="0" rtlCol="0" anchor="ctr"/>
          <a:lstStyle/>
          <a:p>
            <a:pPr marL="0" indent="0" algn="ctr">
              <a:lnSpc>
                <a:spcPts val="1418"/>
              </a:lnSpc>
              <a:buNone/>
            </a:pPr>
            <a:r>
              <a:rPr lang="en-US" sz="1013" b="1" kern="0" spc="28" dirty="0">
                <a:solidFill>
                  <a:srgbClr val="FFFFFF"/>
                </a:solidFill>
                <a:latin typeface="Liberation Sans Narrow" pitchFamily="34" charset="0"/>
                <a:ea typeface="Liberation Sans Narrow" pitchFamily="34" charset="-122"/>
                <a:cs typeface="Liberation Sans Narrow" pitchFamily="34" charset="-120"/>
              </a:rPr>
              <a:t>3.5</a:t>
            </a:r>
            <a:endParaRPr lang="en-US" sz="1013" dirty="0"/>
          </a:p>
        </p:txBody>
      </p:sp>
      <p:sp>
        <p:nvSpPr>
          <p:cNvPr id="29" name="Text 27"/>
          <p:cNvSpPr/>
          <p:nvPr/>
        </p:nvSpPr>
        <p:spPr>
          <a:xfrm>
            <a:off x="1264444" y="3353544"/>
            <a:ext cx="3267266" cy="141116"/>
          </a:xfrm>
          <a:prstGeom prst="rect">
            <a:avLst/>
          </a:prstGeom>
          <a:noFill/>
          <a:ln/>
        </p:spPr>
        <p:txBody>
          <a:bodyPr wrap="square" lIns="0" tIns="0" rIns="0" bIns="0" rtlCol="0" anchor="t">
            <a:normAutofit fontScale="70000" lnSpcReduction="20000"/>
          </a:bodyPr>
          <a:lstStyle/>
          <a:p>
            <a:pPr marL="0" indent="0" algn="l">
              <a:lnSpc>
                <a:spcPts val="1215"/>
              </a:lnSpc>
              <a:buNone/>
            </a:pPr>
            <a:r>
              <a:rPr lang="en-US" sz="1013" b="1" dirty="0">
                <a:solidFill>
                  <a:srgbClr val="0F172A"/>
                </a:solidFill>
                <a:latin typeface="Carlito" pitchFamily="34" charset="0"/>
                <a:ea typeface="Carlito" pitchFamily="34" charset="-122"/>
                <a:cs typeface="Carlito" pitchFamily="34" charset="-120"/>
              </a:rPr>
              <a:t>Linting (tflint, ansible-lint)</a:t>
            </a:r>
            <a:endParaRPr lang="en-US" sz="1013" dirty="0"/>
          </a:p>
        </p:txBody>
      </p:sp>
      <p:sp>
        <p:nvSpPr>
          <p:cNvPr id="30" name="Text 28"/>
          <p:cNvSpPr/>
          <p:nvPr/>
        </p:nvSpPr>
        <p:spPr>
          <a:xfrm>
            <a:off x="1264444" y="3522092"/>
            <a:ext cx="3157538" cy="324041"/>
          </a:xfrm>
          <a:prstGeom prst="rect">
            <a:avLst/>
          </a:prstGeom>
          <a:noFill/>
          <a:ln/>
        </p:spPr>
        <p:txBody>
          <a:bodyPr wrap="square" lIns="0" tIns="0" rIns="0" bIns="0" rtlCol="0" anchor="t"/>
          <a:lstStyle/>
          <a:p>
            <a:pPr marL="0" indent="0" algn="l">
              <a:lnSpc>
                <a:spcPts val="1181"/>
              </a:lnSpc>
              <a:buNone/>
            </a:pPr>
            <a:r>
              <a:rPr lang="en-US" sz="844" dirty="0">
                <a:solidFill>
                  <a:srgbClr val="334155"/>
                </a:solidFill>
                <a:latin typeface="Carlito" pitchFamily="34" charset="0"/>
                <a:ea typeface="Carlito" pitchFamily="34" charset="-122"/>
                <a:cs typeface="Carlito" pitchFamily="34" charset="-120"/>
              </a:rPr>
              <a:t>Syntax + provider-specific checks. tflint catches invalid AMIs, deprecated syntax. Mandatory in CI.</a:t>
            </a:r>
            <a:endParaRPr lang="en-US" sz="844" dirty="0"/>
          </a:p>
        </p:txBody>
      </p:sp>
      <p:sp>
        <p:nvSpPr>
          <p:cNvPr id="31" name="Text 29"/>
          <p:cNvSpPr/>
          <p:nvPr/>
        </p:nvSpPr>
        <p:spPr>
          <a:xfrm>
            <a:off x="4604147" y="3130190"/>
            <a:ext cx="4079081" cy="915405"/>
          </a:xfrm>
          <a:prstGeom prst="roundRect">
            <a:avLst>
              <a:gd name="adj" fmla="val 10405"/>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32" name="Text 30"/>
          <p:cNvSpPr/>
          <p:nvPr/>
        </p:nvSpPr>
        <p:spPr>
          <a:xfrm>
            <a:off x="4699159" y="3427919"/>
            <a:ext cx="617220" cy="319836"/>
          </a:xfrm>
          <a:prstGeom prst="roundRect">
            <a:avLst>
              <a:gd name="adj" fmla="val 23825"/>
            </a:avLst>
          </a:prstGeom>
          <a:solidFill>
            <a:srgbClr val="F97316"/>
          </a:solidFill>
          <a:ln/>
        </p:spPr>
        <p:txBody>
          <a:bodyPr wrap="square" rtlCol="0" anchor="ctr"/>
          <a:lstStyle/>
          <a:p>
            <a:pPr marL="0" indent="0">
              <a:buNone/>
            </a:pPr>
            <a:endParaRPr lang="en-US" dirty="0"/>
          </a:p>
        </p:txBody>
      </p:sp>
      <p:sp>
        <p:nvSpPr>
          <p:cNvPr id="33" name="Text 31"/>
          <p:cNvSpPr/>
          <p:nvPr/>
        </p:nvSpPr>
        <p:spPr>
          <a:xfrm>
            <a:off x="4722019" y="3440720"/>
            <a:ext cx="571500" cy="294233"/>
          </a:xfrm>
          <a:prstGeom prst="rect">
            <a:avLst/>
          </a:prstGeom>
          <a:noFill/>
          <a:ln/>
        </p:spPr>
        <p:txBody>
          <a:bodyPr wrap="none" lIns="0" tIns="0" rIns="0" bIns="0" rtlCol="0" anchor="ctr"/>
          <a:lstStyle/>
          <a:p>
            <a:pPr marL="0" indent="0" algn="ctr">
              <a:lnSpc>
                <a:spcPts val="1418"/>
              </a:lnSpc>
              <a:buNone/>
            </a:pPr>
            <a:r>
              <a:rPr lang="en-US" sz="1013" b="1" kern="0" spc="28" dirty="0">
                <a:solidFill>
                  <a:srgbClr val="FFFFFF"/>
                </a:solidFill>
                <a:latin typeface="Liberation Sans Narrow" pitchFamily="34" charset="0"/>
                <a:ea typeface="Liberation Sans Narrow" pitchFamily="34" charset="-122"/>
                <a:cs typeface="Liberation Sans Narrow" pitchFamily="34" charset="-120"/>
              </a:rPr>
              <a:t>3.6</a:t>
            </a:r>
            <a:endParaRPr lang="en-US" sz="1013" dirty="0"/>
          </a:p>
        </p:txBody>
      </p:sp>
      <p:sp>
        <p:nvSpPr>
          <p:cNvPr id="34" name="Text 32"/>
          <p:cNvSpPr/>
          <p:nvPr/>
        </p:nvSpPr>
        <p:spPr>
          <a:xfrm>
            <a:off x="5407819" y="3353544"/>
            <a:ext cx="3157538" cy="141116"/>
          </a:xfrm>
          <a:prstGeom prst="rect">
            <a:avLst/>
          </a:prstGeom>
          <a:noFill/>
          <a:ln/>
        </p:spPr>
        <p:txBody>
          <a:bodyPr wrap="none" lIns="0" tIns="0" rIns="0" bIns="0" rtlCol="0" anchor="t">
            <a:normAutofit fontScale="70000" lnSpcReduction="20000"/>
          </a:bodyPr>
          <a:lstStyle/>
          <a:p>
            <a:pPr marL="0" indent="0" algn="l">
              <a:lnSpc>
                <a:spcPts val="1215"/>
              </a:lnSpc>
              <a:buNone/>
            </a:pPr>
            <a:r>
              <a:rPr lang="en-US" sz="1013" b="1" dirty="0">
                <a:solidFill>
                  <a:srgbClr val="0F172A"/>
                </a:solidFill>
                <a:latin typeface="Carlito" pitchFamily="34" charset="0"/>
                <a:ea typeface="Carlito" pitchFamily="34" charset="-122"/>
                <a:cs typeface="Carlito" pitchFamily="34" charset="-120"/>
              </a:rPr>
              <a:t>Policy (Checkov)</a:t>
            </a:r>
            <a:endParaRPr lang="en-US" sz="1013" dirty="0"/>
          </a:p>
        </p:txBody>
      </p:sp>
      <p:sp>
        <p:nvSpPr>
          <p:cNvPr id="35" name="Text 33"/>
          <p:cNvSpPr/>
          <p:nvPr/>
        </p:nvSpPr>
        <p:spPr>
          <a:xfrm>
            <a:off x="5407819" y="3522092"/>
            <a:ext cx="3157538" cy="324041"/>
          </a:xfrm>
          <a:prstGeom prst="rect">
            <a:avLst/>
          </a:prstGeom>
          <a:noFill/>
          <a:ln/>
        </p:spPr>
        <p:txBody>
          <a:bodyPr wrap="square" lIns="0" tIns="0" rIns="0" bIns="0" rtlCol="0" anchor="t"/>
          <a:lstStyle/>
          <a:p>
            <a:pPr marL="0" indent="0" algn="l">
              <a:lnSpc>
                <a:spcPts val="1181"/>
              </a:lnSpc>
              <a:buNone/>
            </a:pPr>
            <a:r>
              <a:rPr lang="en-US" sz="844" dirty="0">
                <a:solidFill>
                  <a:srgbClr val="334155"/>
                </a:solidFill>
                <a:latin typeface="Carlito" pitchFamily="34" charset="0"/>
                <a:ea typeface="Carlito" pitchFamily="34" charset="-122"/>
                <a:cs typeface="Carlito" pitchFamily="34" charset="-120"/>
              </a:rPr>
              <a:t>1,000+ security policies. Maps to CIS, PCI, HIPAA. Finds open SGs, unencrypted S3, over-permissive IAM. Cheap insurance.</a:t>
            </a:r>
            <a:endParaRPr lang="en-US" sz="844" dirty="0"/>
          </a:p>
        </p:txBody>
      </p:sp>
      <p:sp>
        <p:nvSpPr>
          <p:cNvPr id="36" name="Text 34"/>
          <p:cNvSpPr/>
          <p:nvPr/>
        </p:nvSpPr>
        <p:spPr>
          <a:xfrm>
            <a:off x="457200" y="4134892"/>
            <a:ext cx="8229600" cy="551408"/>
          </a:xfrm>
          <a:prstGeom prst="roundRect">
            <a:avLst>
              <a:gd name="adj" fmla="val 13819"/>
            </a:avLst>
          </a:prstGeom>
          <a:solidFill>
            <a:srgbClr val="FFF7ED"/>
          </a:solidFill>
          <a:ln/>
        </p:spPr>
        <p:txBody>
          <a:bodyPr wrap="square" rtlCol="0" anchor="ctr"/>
          <a:lstStyle/>
          <a:p>
            <a:pPr marL="0" indent="0">
              <a:buNone/>
            </a:pPr>
            <a:endParaRPr lang="en-US" dirty="0"/>
          </a:p>
        </p:txBody>
      </p:sp>
      <p:sp>
        <p:nvSpPr>
          <p:cNvPr id="37" name="Shape 35"/>
          <p:cNvSpPr/>
          <p:nvPr/>
        </p:nvSpPr>
        <p:spPr>
          <a:xfrm>
            <a:off x="478631" y="4134892"/>
            <a:ext cx="0" cy="551408"/>
          </a:xfrm>
          <a:prstGeom prst="line">
            <a:avLst/>
          </a:prstGeom>
          <a:noFill/>
          <a:ln w="42863">
            <a:solidFill>
              <a:srgbClr val="F97316"/>
            </a:solidFill>
            <a:prstDash val="solid"/>
          </a:ln>
        </p:spPr>
      </p:sp>
      <p:sp>
        <p:nvSpPr>
          <p:cNvPr id="38" name="Text 36"/>
          <p:cNvSpPr/>
          <p:nvPr/>
        </p:nvSpPr>
        <p:spPr>
          <a:xfrm>
            <a:off x="657225" y="4220617"/>
            <a:ext cx="7872413" cy="379958"/>
          </a:xfrm>
          <a:prstGeom prst="rect">
            <a:avLst/>
          </a:prstGeom>
          <a:noFill/>
          <a:ln/>
        </p:spPr>
        <p:txBody>
          <a:bodyPr wrap="square" lIns="0" tIns="0" rIns="0" bIns="0" rtlCol="0" anchor="t"/>
          <a:lstStyle/>
          <a:p>
            <a:pPr marL="0" indent="0" algn="l">
              <a:lnSpc>
                <a:spcPts val="1496"/>
              </a:lnSpc>
              <a:buNone/>
            </a:pPr>
            <a:r>
              <a:rPr lang="en-US" sz="1069" b="1" dirty="0">
                <a:solidFill>
                  <a:srgbClr val="C2410C"/>
                </a:solidFill>
                <a:latin typeface="Segoe UI Symbol" pitchFamily="34" charset="0"/>
                <a:ea typeface="Segoe UI Symbol" pitchFamily="34" charset="-122"/>
                <a:cs typeface="Segoe UI Symbol" pitchFamily="34" charset="-120"/>
              </a:rPr>
              <a:t>⚑</a:t>
            </a:r>
            <a:r>
              <a:rPr lang="en-US" sz="1069" b="1" dirty="0">
                <a:solidFill>
                  <a:srgbClr val="C2410C"/>
                </a:solidFill>
                <a:latin typeface="Carlito" pitchFamily="34" charset="0"/>
                <a:ea typeface="Carlito" pitchFamily="34" charset="-122"/>
                <a:cs typeface="Carlito" pitchFamily="34" charset="-120"/>
              </a:rPr>
              <a:t> Section C taught you to bring AI into IaC authoring — with safety rails. Linters and policy checks remain mandatory. AI accelerates; it does not replace.</a:t>
            </a:r>
            <a:endParaRPr lang="en-US" sz="1069"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pic>
        <p:nvPicPr>
          <p:cNvPr id="2" name="Image 0" descr="https://z-cdn.chatglm.cn/image-search-mcp/images-ppt/4b4e64d596ab.jpg"/>
          <p:cNvPicPr>
            <a:picLocks noChangeAspect="1"/>
          </p:cNvPicPr>
          <p:nvPr/>
        </p:nvPicPr>
        <p:blipFill>
          <a:blip r:embed="rId3"/>
          <a:srcRect/>
          <a:stretch/>
        </p:blipFill>
        <p:spPr>
          <a:xfrm>
            <a:off x="0" y="0"/>
            <a:ext cx="9144000" cy="5143500"/>
          </a:xfrm>
          <a:prstGeom prst="rect">
            <a:avLst/>
          </a:prstGeom>
        </p:spPr>
      </p:pic>
      <p:sp>
        <p:nvSpPr>
          <p:cNvPr id="3" name="Text 0"/>
          <p:cNvSpPr/>
          <p:nvPr/>
        </p:nvSpPr>
        <p:spPr>
          <a:xfrm>
            <a:off x="0" y="0"/>
            <a:ext cx="9144000" cy="5143500"/>
          </a:xfrm>
          <a:prstGeom prst="rect">
            <a:avLst/>
          </a:prstGeom>
          <a:solidFill>
            <a:srgbClr val="0F172A">
              <a:alpha val="55000"/>
            </a:srgbClr>
          </a:solidFill>
          <a:ln/>
        </p:spPr>
        <p:txBody>
          <a:bodyPr wrap="square" rtlCol="0" anchor="ctr"/>
          <a:lstStyle/>
          <a:p>
            <a:pPr marL="0" indent="0">
              <a:buNone/>
            </a:pPr>
            <a:endParaRPr lang="en-US" dirty="0"/>
          </a:p>
        </p:txBody>
      </p:sp>
      <p:sp>
        <p:nvSpPr>
          <p:cNvPr id="4" name="Text 1"/>
          <p:cNvSpPr/>
          <p:nvPr/>
        </p:nvSpPr>
        <p:spPr>
          <a:xfrm>
            <a:off x="575072" y="1205285"/>
            <a:ext cx="7993856" cy="341449"/>
          </a:xfrm>
          <a:prstGeom prst="roundRect">
            <a:avLst>
              <a:gd name="adj" fmla="val 2786792"/>
            </a:avLst>
          </a:prstGeom>
          <a:solidFill>
            <a:srgbClr val="F97316">
              <a:alpha val="18000"/>
            </a:srgbClr>
          </a:solidFill>
          <a:ln w="7144">
            <a:solidFill>
              <a:srgbClr val="F97316"/>
            </a:solidFill>
            <a:prstDash val="solid"/>
          </a:ln>
        </p:spPr>
        <p:txBody>
          <a:bodyPr wrap="square" rtlCol="0" anchor="ctr"/>
          <a:lstStyle/>
          <a:p>
            <a:pPr marL="0" indent="0">
              <a:buNone/>
            </a:pPr>
            <a:endParaRPr lang="en-US" dirty="0"/>
          </a:p>
        </p:txBody>
      </p:sp>
      <p:sp>
        <p:nvSpPr>
          <p:cNvPr id="5" name="Text 2"/>
          <p:cNvSpPr/>
          <p:nvPr/>
        </p:nvSpPr>
        <p:spPr>
          <a:xfrm>
            <a:off x="571500" y="1201713"/>
            <a:ext cx="8001000" cy="376480"/>
          </a:xfrm>
          <a:prstGeom prst="rect">
            <a:avLst/>
          </a:prstGeom>
          <a:noFill/>
          <a:ln/>
        </p:spPr>
        <p:txBody>
          <a:bodyPr wrap="none" lIns="157163" tIns="57150" rIns="157163" bIns="57150" rtlCol="0" anchor="t"/>
          <a:lstStyle/>
          <a:p>
            <a:pPr marL="0" indent="0" algn="l">
              <a:lnSpc>
                <a:spcPts val="1733"/>
              </a:lnSpc>
              <a:buNone/>
            </a:pPr>
            <a:r>
              <a:rPr lang="en-US" sz="1238" b="1" kern="0" spc="113" dirty="0">
                <a:solidFill>
                  <a:srgbClr val="FED7AA"/>
                </a:solidFill>
                <a:latin typeface="Liberation Sans Narrow" pitchFamily="34" charset="0"/>
                <a:ea typeface="Liberation Sans Narrow" pitchFamily="34" charset="-122"/>
                <a:cs typeface="Liberation Sans Narrow" pitchFamily="34" charset="-120"/>
              </a:rPr>
              <a:t>MODULE 4 · SECTION D</a:t>
            </a:r>
            <a:endParaRPr lang="en-US" sz="1238" dirty="0"/>
          </a:p>
        </p:txBody>
      </p:sp>
      <p:sp>
        <p:nvSpPr>
          <p:cNvPr id="6" name="Text 3"/>
          <p:cNvSpPr/>
          <p:nvPr/>
        </p:nvSpPr>
        <p:spPr>
          <a:xfrm>
            <a:off x="571500" y="1721755"/>
            <a:ext cx="8572500" cy="740664"/>
          </a:xfrm>
          <a:prstGeom prst="rect">
            <a:avLst/>
          </a:prstGeom>
          <a:noFill/>
          <a:ln/>
        </p:spPr>
        <p:txBody>
          <a:bodyPr wrap="none" lIns="0" tIns="0" rIns="0" bIns="0" rtlCol="0" anchor="t"/>
          <a:lstStyle/>
          <a:p>
            <a:pPr marL="0" indent="0" algn="l">
              <a:lnSpc>
                <a:spcPts val="5400"/>
              </a:lnSpc>
              <a:buNone/>
            </a:pPr>
            <a:r>
              <a:rPr lang="en-US" sz="5400" b="1" kern="0" spc="-112" dirty="0">
                <a:solidFill>
                  <a:srgbClr val="F97316"/>
                </a:solidFill>
                <a:latin typeface="Liberation Sans Narrow" pitchFamily="34" charset="0"/>
                <a:ea typeface="Liberation Sans Narrow" pitchFamily="34" charset="-122"/>
                <a:cs typeface="Liberation Sans Narrow" pitchFamily="34" charset="-120"/>
              </a:rPr>
              <a:t>04 / 04</a:t>
            </a:r>
            <a:endParaRPr lang="en-US" sz="5400" dirty="0"/>
          </a:p>
        </p:txBody>
      </p:sp>
      <p:sp>
        <p:nvSpPr>
          <p:cNvPr id="7" name="Text 4"/>
          <p:cNvSpPr/>
          <p:nvPr/>
        </p:nvSpPr>
        <p:spPr>
          <a:xfrm>
            <a:off x="571500" y="2521855"/>
            <a:ext cx="8401050" cy="543081"/>
          </a:xfrm>
          <a:prstGeom prst="rect">
            <a:avLst/>
          </a:prstGeom>
          <a:noFill/>
          <a:ln/>
        </p:spPr>
        <p:txBody>
          <a:bodyPr wrap="none" lIns="0" tIns="0" rIns="0" bIns="0" rtlCol="0" anchor="t"/>
          <a:lstStyle/>
          <a:p>
            <a:pPr marL="0" indent="0" algn="l">
              <a:lnSpc>
                <a:spcPts val="3960"/>
              </a:lnSpc>
              <a:buNone/>
            </a:pPr>
            <a:r>
              <a:rPr lang="en-US" sz="3600" b="1" kern="0" spc="-56" dirty="0">
                <a:solidFill>
                  <a:srgbClr val="FFFFFF"/>
                </a:solidFill>
                <a:latin typeface="Carlito" pitchFamily="34" charset="0"/>
                <a:ea typeface="Carlito" pitchFamily="34" charset="-122"/>
                <a:cs typeface="Carlito" pitchFamily="34" charset="-120"/>
              </a:rPr>
              <a:t>Bringing It All Together</a:t>
            </a:r>
            <a:endParaRPr lang="en-US" sz="3600" dirty="0"/>
          </a:p>
        </p:txBody>
      </p:sp>
      <p:sp>
        <p:nvSpPr>
          <p:cNvPr id="8" name="Text 5"/>
          <p:cNvSpPr/>
          <p:nvPr/>
        </p:nvSpPr>
        <p:spPr>
          <a:xfrm>
            <a:off x="571500" y="3196158"/>
            <a:ext cx="6572250" cy="604683"/>
          </a:xfrm>
          <a:prstGeom prst="rect">
            <a:avLst/>
          </a:prstGeom>
          <a:noFill/>
          <a:ln/>
        </p:spPr>
        <p:txBody>
          <a:bodyPr wrap="square" lIns="0" tIns="0" rIns="0" bIns="0" rtlCol="0" anchor="t"/>
          <a:lstStyle/>
          <a:p>
            <a:pPr marL="0" indent="0" algn="l">
              <a:lnSpc>
                <a:spcPts val="2205"/>
              </a:lnSpc>
              <a:buNone/>
            </a:pPr>
            <a:r>
              <a:rPr lang="en-US" sz="1575" dirty="0">
                <a:solidFill>
                  <a:srgbClr val="FFFFFF"/>
                </a:solidFill>
                <a:latin typeface="Carlito" pitchFamily="34" charset="0"/>
                <a:ea typeface="Carlito" pitchFamily="34" charset="-122"/>
                <a:cs typeface="Carlito" pitchFamily="34" charset="-120"/>
              </a:rPr>
              <a:t>End-to-end pipelines, orchestration patterns, pitfalls, best practices, and module recap.</a:t>
            </a:r>
            <a:endParaRPr lang="en-US" sz="1575" dirty="0"/>
          </a:p>
        </p:txBody>
      </p:sp>
      <p:sp>
        <p:nvSpPr>
          <p:cNvPr id="9" name="Text 6"/>
          <p:cNvSpPr/>
          <p:nvPr/>
        </p:nvSpPr>
        <p:spPr>
          <a:xfrm>
            <a:off x="571500" y="3898925"/>
            <a:ext cx="857250" cy="42863"/>
          </a:xfrm>
          <a:prstGeom prst="roundRect">
            <a:avLst>
              <a:gd name="adj" fmla="val 66666"/>
            </a:avLst>
          </a:prstGeom>
          <a:solidFill>
            <a:srgbClr val="F97316"/>
          </a:solidFill>
          <a:ln/>
        </p:spPr>
        <p:txBody>
          <a:bodyPr wrap="square" rtlCol="0" anchor="ctr"/>
          <a:lstStyle/>
          <a:p>
            <a:pPr marL="0" indent="0">
              <a:buNone/>
            </a:pPr>
            <a:endParaRPr lang="en-US" dirty="0"/>
          </a:p>
        </p:txBody>
      </p:sp>
      <p:sp>
        <p:nvSpPr>
          <p:cNvPr id="10" name="Text 7"/>
          <p:cNvSpPr/>
          <p:nvPr/>
        </p:nvSpPr>
        <p:spPr>
          <a:xfrm>
            <a:off x="5694350" y="4734967"/>
            <a:ext cx="3163900" cy="194328"/>
          </a:xfrm>
          <a:prstGeom prst="rect">
            <a:avLst/>
          </a:prstGeom>
          <a:noFill/>
          <a:ln/>
        </p:spPr>
        <p:txBody>
          <a:bodyPr wrap="square" lIns="0" tIns="0" rIns="0" bIns="0" rtlCol="0" anchor="t"/>
          <a:lstStyle/>
          <a:p>
            <a:pPr marL="0" indent="0" algn="l">
              <a:lnSpc>
                <a:spcPts val="1418"/>
              </a:lnSpc>
              <a:buNone/>
            </a:pPr>
            <a:r>
              <a:rPr lang="en-US" sz="1013" dirty="0">
                <a:solidFill>
                  <a:srgbClr val="FFFFFF">
                    <a:alpha val="70000"/>
                  </a:srgbClr>
                </a:solidFill>
                <a:latin typeface="Carlito" pitchFamily="34" charset="0"/>
                <a:ea typeface="Carlito" pitchFamily="34" charset="-122"/>
                <a:cs typeface="Carlito" pitchFamily="34" charset="-120"/>
              </a:rPr>
              <a:t>Module 4 · AI-Assisted Build &amp; Configuration Automation</a:t>
            </a:r>
            <a:endParaRPr lang="en-US" sz="1013"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4984384" cy="373346"/>
          </a:xfrm>
          <a:prstGeom prst="rect">
            <a:avLst/>
          </a:prstGeom>
          <a:noFill/>
          <a:ln/>
        </p:spPr>
        <p:txBody>
          <a:bodyPr wrap="square" lIns="0" tIns="0" rIns="0" bIns="0" rtlCol="0" anchor="t"/>
          <a:lstStyle/>
          <a:p>
            <a:pPr marL="0" indent="0" algn="l">
              <a:lnSpc>
                <a:spcPts val="2723"/>
              </a:lnSpc>
              <a:buNone/>
            </a:pPr>
            <a:r>
              <a:rPr lang="en-US" sz="2475" b="1" kern="0" spc="-28" dirty="0">
                <a:solidFill>
                  <a:srgbClr val="0F172A"/>
                </a:solidFill>
                <a:latin typeface="Carlito" pitchFamily="34" charset="0"/>
                <a:ea typeface="Carlito" pitchFamily="34" charset="-122"/>
                <a:cs typeface="Carlito" pitchFamily="34" charset="-120"/>
              </a:rPr>
              <a:t>End-to-End AI-Augmented Pipeline</a:t>
            </a:r>
            <a:endParaRPr lang="en-US" sz="2475" dirty="0"/>
          </a:p>
        </p:txBody>
      </p:sp>
      <p:sp>
        <p:nvSpPr>
          <p:cNvPr id="3" name="Text 1"/>
          <p:cNvSpPr/>
          <p:nvPr/>
        </p:nvSpPr>
        <p:spPr>
          <a:xfrm>
            <a:off x="457200" y="888616"/>
            <a:ext cx="571500" cy="42863"/>
          </a:xfrm>
          <a:prstGeom prst="roundRect">
            <a:avLst>
              <a:gd name="adj" fmla="val 66666"/>
            </a:avLst>
          </a:prstGeom>
          <a:solidFill>
            <a:srgbClr val="F97316"/>
          </a:solidFill>
          <a:ln/>
        </p:spPr>
        <p:txBody>
          <a:bodyPr wrap="square" rtlCol="0" anchor="ctr"/>
          <a:lstStyle/>
          <a:p>
            <a:pPr marL="0" indent="0">
              <a:buNone/>
            </a:pPr>
            <a:endParaRPr lang="en-US" dirty="0"/>
          </a:p>
        </p:txBody>
      </p:sp>
      <p:sp>
        <p:nvSpPr>
          <p:cNvPr id="4" name="Text 2"/>
          <p:cNvSpPr/>
          <p:nvPr/>
        </p:nvSpPr>
        <p:spPr>
          <a:xfrm>
            <a:off x="7254389" y="528672"/>
            <a:ext cx="1455271" cy="331333"/>
          </a:xfrm>
          <a:prstGeom prst="roundRect">
            <a:avLst>
              <a:gd name="adj" fmla="val 2871877"/>
            </a:avLst>
          </a:prstGeom>
          <a:solidFill>
            <a:srgbClr val="FED7AA"/>
          </a:solidFill>
          <a:ln/>
        </p:spPr>
        <p:txBody>
          <a:bodyPr wrap="square" rtlCol="0" anchor="ctr"/>
          <a:lstStyle/>
          <a:p>
            <a:pPr marL="0" indent="0">
              <a:buNone/>
            </a:pPr>
            <a:endParaRPr lang="en-US" dirty="0"/>
          </a:p>
        </p:txBody>
      </p:sp>
      <p:sp>
        <p:nvSpPr>
          <p:cNvPr id="5" name="Text 3"/>
          <p:cNvSpPr/>
          <p:nvPr/>
        </p:nvSpPr>
        <p:spPr>
          <a:xfrm>
            <a:off x="7218278" y="541474"/>
            <a:ext cx="1527494" cy="305730"/>
          </a:xfrm>
          <a:prstGeom prst="rect">
            <a:avLst/>
          </a:prstGeom>
          <a:noFill/>
          <a:ln/>
        </p:spPr>
        <p:txBody>
          <a:bodyPr wrap="none" lIns="0" tIns="0" rIns="0" bIns="0" rtlCol="0" anchor="ctr"/>
          <a:lstStyle/>
          <a:p>
            <a:pPr marL="0" indent="0" algn="ctr">
              <a:lnSpc>
                <a:spcPts val="1733"/>
              </a:lnSpc>
              <a:buNone/>
            </a:pPr>
            <a:r>
              <a:rPr lang="en-US" sz="1238" b="1" kern="0" spc="28" dirty="0">
                <a:solidFill>
                  <a:srgbClr val="C2410C"/>
                </a:solidFill>
                <a:latin typeface="Liberation Sans Narrow" pitchFamily="34" charset="0"/>
                <a:ea typeface="Liberation Sans Narrow" pitchFamily="34" charset="-122"/>
                <a:cs typeface="Liberation Sans Narrow" pitchFamily="34" charset="-120"/>
              </a:rPr>
              <a:t>SECTION D · 4.1</a:t>
            </a:r>
            <a:endParaRPr lang="en-US" sz="1238" dirty="0"/>
          </a:p>
        </p:txBody>
      </p:sp>
      <p:sp>
        <p:nvSpPr>
          <p:cNvPr id="6" name="Text 4"/>
          <p:cNvSpPr/>
          <p:nvPr/>
        </p:nvSpPr>
        <p:spPr>
          <a:xfrm>
            <a:off x="457200" y="1045778"/>
            <a:ext cx="8229600" cy="216027"/>
          </a:xfrm>
          <a:prstGeom prst="rect">
            <a:avLst/>
          </a:prstGeom>
          <a:noFill/>
          <a:ln/>
        </p:spPr>
        <p:txBody>
          <a:bodyPr wrap="square" lIns="0" tIns="0" rIns="0" bIns="0" rtlCol="0" anchor="t"/>
          <a:lstStyle/>
          <a:p>
            <a:pPr marL="0" indent="0" algn="l">
              <a:lnSpc>
                <a:spcPts val="1575"/>
              </a:lnSpc>
              <a:buNone/>
            </a:pPr>
            <a:r>
              <a:rPr lang="en-US" sz="1125" dirty="0">
                <a:solidFill>
                  <a:srgbClr val="64748B"/>
                </a:solidFill>
                <a:latin typeface="Carlito" pitchFamily="34" charset="0"/>
                <a:ea typeface="Carlito" pitchFamily="34" charset="-122"/>
                <a:cs typeface="Carlito" pitchFamily="34" charset="-120"/>
              </a:rPr>
              <a:t>From commit to production — every stage augmented by AI.</a:t>
            </a:r>
            <a:endParaRPr lang="en-US" sz="1125" dirty="0"/>
          </a:p>
        </p:txBody>
      </p:sp>
      <p:sp>
        <p:nvSpPr>
          <p:cNvPr id="7" name="Text 5"/>
          <p:cNvSpPr/>
          <p:nvPr/>
        </p:nvSpPr>
        <p:spPr>
          <a:xfrm>
            <a:off x="460772" y="1392250"/>
            <a:ext cx="1033723" cy="2757599"/>
          </a:xfrm>
          <a:prstGeom prst="roundRect">
            <a:avLst>
              <a:gd name="adj" fmla="val 12900"/>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8" name="Text 6"/>
          <p:cNvSpPr/>
          <p:nvPr/>
        </p:nvSpPr>
        <p:spPr>
          <a:xfrm>
            <a:off x="550069" y="1510122"/>
            <a:ext cx="171450" cy="171450"/>
          </a:xfrm>
          <a:prstGeom prst="rect">
            <a:avLst/>
          </a:prstGeom>
          <a:noFill/>
          <a:ln/>
        </p:spPr>
        <p:txBody>
          <a:bodyPr wrap="none" lIns="0" tIns="0" rIns="0" bIns="0" rtlCol="0" anchor="ctr"/>
          <a:lstStyle/>
          <a:p>
            <a:pPr marL="0" indent="0" algn="ctr">
              <a:buNone/>
            </a:pPr>
            <a:r>
              <a:rPr lang="en-US" sz="1688" dirty="0">
                <a:solidFill>
                  <a:srgbClr val="F97316"/>
                </a:solidFill>
                <a:latin typeface="Segoe UI Symbol" pitchFamily="34" charset="0"/>
                <a:ea typeface="Segoe UI Symbol" pitchFamily="34" charset="-122"/>
                <a:cs typeface="Segoe UI Symbol" pitchFamily="34" charset="-120"/>
              </a:rPr>
              <a:t>✦</a:t>
            </a:r>
            <a:endParaRPr lang="en-US" sz="1688" dirty="0"/>
          </a:p>
        </p:txBody>
      </p:sp>
      <p:sp>
        <p:nvSpPr>
          <p:cNvPr id="9" name="Text 7"/>
          <p:cNvSpPr/>
          <p:nvPr/>
        </p:nvSpPr>
        <p:spPr>
          <a:xfrm>
            <a:off x="550069" y="1724434"/>
            <a:ext cx="855129" cy="215456"/>
          </a:xfrm>
          <a:prstGeom prst="rect">
            <a:avLst/>
          </a:prstGeom>
          <a:noFill/>
          <a:ln/>
        </p:spPr>
        <p:txBody>
          <a:bodyPr wrap="none" lIns="0" tIns="0" rIns="0" bIns="0" rtlCol="0" anchor="t"/>
          <a:lstStyle/>
          <a:p>
            <a:pPr marL="0" indent="0" algn="l">
              <a:lnSpc>
                <a:spcPts val="1575"/>
              </a:lnSpc>
              <a:buNone/>
            </a:pPr>
            <a:r>
              <a:rPr lang="en-US" sz="1125" b="1" dirty="0">
                <a:solidFill>
                  <a:srgbClr val="F97316"/>
                </a:solidFill>
                <a:latin typeface="Liberation Sans Narrow" pitchFamily="34" charset="0"/>
                <a:ea typeface="Liberation Sans Narrow" pitchFamily="34" charset="-122"/>
                <a:cs typeface="Liberation Sans Narrow" pitchFamily="34" charset="-120"/>
              </a:rPr>
              <a:t>01</a:t>
            </a:r>
            <a:endParaRPr lang="en-US" sz="1125" dirty="0"/>
          </a:p>
        </p:txBody>
      </p:sp>
      <p:sp>
        <p:nvSpPr>
          <p:cNvPr id="10" name="Text 8"/>
          <p:cNvSpPr/>
          <p:nvPr/>
        </p:nvSpPr>
        <p:spPr>
          <a:xfrm>
            <a:off x="550069" y="1967322"/>
            <a:ext cx="855129" cy="148036"/>
          </a:xfrm>
          <a:prstGeom prst="rect">
            <a:avLst/>
          </a:prstGeom>
          <a:noFill/>
          <a:ln/>
        </p:spPr>
        <p:txBody>
          <a:bodyPr wrap="none" lIns="0" tIns="0" rIns="0" bIns="0" rtlCol="0" anchor="t"/>
          <a:lstStyle/>
          <a:p>
            <a:pPr marL="0" indent="0" algn="l">
              <a:lnSpc>
                <a:spcPts val="1080"/>
              </a:lnSpc>
              <a:buNone/>
            </a:pPr>
            <a:r>
              <a:rPr lang="en-US" sz="900" b="1" dirty="0">
                <a:solidFill>
                  <a:srgbClr val="0F172A"/>
                </a:solidFill>
                <a:latin typeface="Carlito" pitchFamily="34" charset="0"/>
                <a:ea typeface="Carlito" pitchFamily="34" charset="-122"/>
                <a:cs typeface="Carlito" pitchFamily="34" charset="-120"/>
              </a:rPr>
              <a:t>Commit</a:t>
            </a:r>
            <a:endParaRPr lang="en-US" sz="900" dirty="0"/>
          </a:p>
        </p:txBody>
      </p:sp>
      <p:sp>
        <p:nvSpPr>
          <p:cNvPr id="11" name="Text 9"/>
          <p:cNvSpPr/>
          <p:nvPr/>
        </p:nvSpPr>
        <p:spPr>
          <a:xfrm>
            <a:off x="550069" y="2147255"/>
            <a:ext cx="906437" cy="614477"/>
          </a:xfrm>
          <a:prstGeom prst="rect">
            <a:avLst/>
          </a:prstGeom>
          <a:noFill/>
          <a:ln/>
        </p:spPr>
        <p:txBody>
          <a:bodyPr wrap="square" lIns="0" tIns="0" rIns="0" bIns="0" rtlCol="0" anchor="t"/>
          <a:lstStyle/>
          <a:p>
            <a:pPr marL="0" indent="0" algn="l">
              <a:lnSpc>
                <a:spcPts val="984"/>
              </a:lnSpc>
              <a:buNone/>
            </a:pPr>
            <a:r>
              <a:rPr lang="en-US" sz="800" dirty="0">
                <a:solidFill>
                  <a:srgbClr val="334155"/>
                </a:solidFill>
                <a:latin typeface="Carlito" pitchFamily="34" charset="0"/>
                <a:ea typeface="Carlito" pitchFamily="34" charset="-122"/>
                <a:cs typeface="Carlito" pitchFamily="34" charset="-120"/>
              </a:rPr>
              <a:t>Developer pushes code. Pre-commit hook runs AI review on the diff.</a:t>
            </a:r>
            <a:endParaRPr lang="en-US" sz="800" dirty="0"/>
          </a:p>
        </p:txBody>
      </p:sp>
      <p:sp>
        <p:nvSpPr>
          <p:cNvPr id="12" name="Text 10"/>
          <p:cNvSpPr/>
          <p:nvPr/>
        </p:nvSpPr>
        <p:spPr>
          <a:xfrm>
            <a:off x="1498067" y="1388678"/>
            <a:ext cx="157163" cy="2764743"/>
          </a:xfrm>
          <a:prstGeom prst="rect">
            <a:avLst/>
          </a:prstGeom>
          <a:noFill/>
          <a:ln/>
        </p:spPr>
        <p:txBody>
          <a:bodyPr wrap="none" lIns="0" tIns="0" rIns="0" bIns="0" rtlCol="0" anchor="ctr"/>
          <a:lstStyle/>
          <a:p>
            <a:pPr marL="0" indent="0" algn="ctr">
              <a:lnSpc>
                <a:spcPts val="2047"/>
              </a:lnSpc>
              <a:buNone/>
            </a:pPr>
            <a:r>
              <a:rPr lang="en-US" sz="1463" b="1" dirty="0">
                <a:solidFill>
                  <a:srgbClr val="F97316"/>
                </a:solidFill>
                <a:latin typeface="Carlito" pitchFamily="34" charset="0"/>
                <a:ea typeface="Carlito" pitchFamily="34" charset="-122"/>
                <a:cs typeface="Carlito" pitchFamily="34" charset="-120"/>
              </a:rPr>
              <a:t>›</a:t>
            </a:r>
            <a:endParaRPr lang="en-US" sz="1463" dirty="0"/>
          </a:p>
        </p:txBody>
      </p:sp>
      <p:sp>
        <p:nvSpPr>
          <p:cNvPr id="13" name="Text 11"/>
          <p:cNvSpPr/>
          <p:nvPr/>
        </p:nvSpPr>
        <p:spPr>
          <a:xfrm>
            <a:off x="1658801" y="1392250"/>
            <a:ext cx="1033835" cy="2757599"/>
          </a:xfrm>
          <a:prstGeom prst="roundRect">
            <a:avLst>
              <a:gd name="adj" fmla="val 12899"/>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14" name="Text 12"/>
          <p:cNvSpPr/>
          <p:nvPr/>
        </p:nvSpPr>
        <p:spPr>
          <a:xfrm>
            <a:off x="1748098" y="1510122"/>
            <a:ext cx="171450" cy="171450"/>
          </a:xfrm>
          <a:prstGeom prst="rect">
            <a:avLst/>
          </a:prstGeom>
          <a:noFill/>
          <a:ln/>
        </p:spPr>
        <p:txBody>
          <a:bodyPr wrap="none" lIns="0" tIns="0" rIns="0" bIns="0" rtlCol="0" anchor="ctr"/>
          <a:lstStyle/>
          <a:p>
            <a:pPr marL="0" indent="0" algn="ctr">
              <a:buNone/>
            </a:pPr>
            <a:r>
              <a:rPr lang="en-US" sz="1688" dirty="0">
                <a:solidFill>
                  <a:srgbClr val="F97316"/>
                </a:solidFill>
                <a:latin typeface="Segoe UI Symbol" pitchFamily="34" charset="0"/>
                <a:ea typeface="Segoe UI Symbol" pitchFamily="34" charset="-122"/>
                <a:cs typeface="Segoe UI Symbol" pitchFamily="34" charset="-120"/>
              </a:rPr>
              <a:t>◆</a:t>
            </a:r>
            <a:endParaRPr lang="en-US" sz="1688" dirty="0"/>
          </a:p>
        </p:txBody>
      </p:sp>
      <p:sp>
        <p:nvSpPr>
          <p:cNvPr id="15" name="Text 13"/>
          <p:cNvSpPr/>
          <p:nvPr/>
        </p:nvSpPr>
        <p:spPr>
          <a:xfrm>
            <a:off x="1748098" y="1724434"/>
            <a:ext cx="855241" cy="215456"/>
          </a:xfrm>
          <a:prstGeom prst="rect">
            <a:avLst/>
          </a:prstGeom>
          <a:noFill/>
          <a:ln/>
        </p:spPr>
        <p:txBody>
          <a:bodyPr wrap="none" lIns="0" tIns="0" rIns="0" bIns="0" rtlCol="0" anchor="t"/>
          <a:lstStyle/>
          <a:p>
            <a:pPr marL="0" indent="0" algn="l">
              <a:lnSpc>
                <a:spcPts val="1575"/>
              </a:lnSpc>
              <a:buNone/>
            </a:pPr>
            <a:r>
              <a:rPr lang="en-US" sz="1125" b="1" dirty="0">
                <a:solidFill>
                  <a:srgbClr val="F97316"/>
                </a:solidFill>
                <a:latin typeface="Liberation Sans Narrow" pitchFamily="34" charset="0"/>
                <a:ea typeface="Liberation Sans Narrow" pitchFamily="34" charset="-122"/>
                <a:cs typeface="Liberation Sans Narrow" pitchFamily="34" charset="-120"/>
              </a:rPr>
              <a:t>02</a:t>
            </a:r>
            <a:endParaRPr lang="en-US" sz="1125" dirty="0"/>
          </a:p>
        </p:txBody>
      </p:sp>
      <p:sp>
        <p:nvSpPr>
          <p:cNvPr id="16" name="Text 14"/>
          <p:cNvSpPr/>
          <p:nvPr/>
        </p:nvSpPr>
        <p:spPr>
          <a:xfrm>
            <a:off x="1748098" y="1967322"/>
            <a:ext cx="855241" cy="148036"/>
          </a:xfrm>
          <a:prstGeom prst="rect">
            <a:avLst/>
          </a:prstGeom>
          <a:noFill/>
          <a:ln/>
        </p:spPr>
        <p:txBody>
          <a:bodyPr wrap="none" lIns="0" tIns="0" rIns="0" bIns="0" rtlCol="0" anchor="t"/>
          <a:lstStyle/>
          <a:p>
            <a:pPr marL="0" indent="0" algn="l">
              <a:lnSpc>
                <a:spcPts val="1080"/>
              </a:lnSpc>
              <a:buNone/>
            </a:pPr>
            <a:r>
              <a:rPr lang="en-US" sz="900" b="1" dirty="0">
                <a:solidFill>
                  <a:srgbClr val="0F172A"/>
                </a:solidFill>
                <a:latin typeface="Carlito" pitchFamily="34" charset="0"/>
                <a:ea typeface="Carlito" pitchFamily="34" charset="-122"/>
                <a:cs typeface="Carlito" pitchFamily="34" charset="-120"/>
              </a:rPr>
              <a:t>Plan</a:t>
            </a:r>
            <a:endParaRPr lang="en-US" sz="900" dirty="0"/>
          </a:p>
        </p:txBody>
      </p:sp>
      <p:sp>
        <p:nvSpPr>
          <p:cNvPr id="17" name="Text 15"/>
          <p:cNvSpPr/>
          <p:nvPr/>
        </p:nvSpPr>
        <p:spPr>
          <a:xfrm>
            <a:off x="1748098" y="2147255"/>
            <a:ext cx="906555" cy="614477"/>
          </a:xfrm>
          <a:prstGeom prst="rect">
            <a:avLst/>
          </a:prstGeom>
          <a:noFill/>
          <a:ln/>
        </p:spPr>
        <p:txBody>
          <a:bodyPr wrap="square" lIns="0" tIns="0" rIns="0" bIns="0" rtlCol="0" anchor="t"/>
          <a:lstStyle/>
          <a:p>
            <a:pPr marL="0" indent="0" algn="l">
              <a:lnSpc>
                <a:spcPts val="984"/>
              </a:lnSpc>
              <a:buNone/>
            </a:pPr>
            <a:r>
              <a:rPr lang="en-US" sz="800" dirty="0">
                <a:solidFill>
                  <a:srgbClr val="334155"/>
                </a:solidFill>
                <a:latin typeface="Carlito" pitchFamily="34" charset="0"/>
                <a:ea typeface="Carlito" pitchFamily="34" charset="-122"/>
                <a:cs typeface="Carlito" pitchFamily="34" charset="-120"/>
              </a:rPr>
              <a:t>AI change-impact analysis decides what to rebuild and which tests to run.</a:t>
            </a:r>
            <a:endParaRPr lang="en-US" sz="800" dirty="0"/>
          </a:p>
        </p:txBody>
      </p:sp>
      <p:sp>
        <p:nvSpPr>
          <p:cNvPr id="18" name="Text 16"/>
          <p:cNvSpPr/>
          <p:nvPr/>
        </p:nvSpPr>
        <p:spPr>
          <a:xfrm>
            <a:off x="2696208" y="1388678"/>
            <a:ext cx="157163" cy="2764743"/>
          </a:xfrm>
          <a:prstGeom prst="rect">
            <a:avLst/>
          </a:prstGeom>
          <a:noFill/>
          <a:ln/>
        </p:spPr>
        <p:txBody>
          <a:bodyPr wrap="none" lIns="0" tIns="0" rIns="0" bIns="0" rtlCol="0" anchor="ctr"/>
          <a:lstStyle/>
          <a:p>
            <a:pPr marL="0" indent="0" algn="ctr">
              <a:lnSpc>
                <a:spcPts val="2047"/>
              </a:lnSpc>
              <a:buNone/>
            </a:pPr>
            <a:r>
              <a:rPr lang="en-US" sz="1463" b="1" dirty="0">
                <a:solidFill>
                  <a:srgbClr val="F97316"/>
                </a:solidFill>
                <a:latin typeface="Carlito" pitchFamily="34" charset="0"/>
                <a:ea typeface="Carlito" pitchFamily="34" charset="-122"/>
                <a:cs typeface="Carlito" pitchFamily="34" charset="-120"/>
              </a:rPr>
              <a:t>›</a:t>
            </a:r>
            <a:endParaRPr lang="en-US" sz="1463" dirty="0"/>
          </a:p>
        </p:txBody>
      </p:sp>
      <p:sp>
        <p:nvSpPr>
          <p:cNvPr id="19" name="Text 17"/>
          <p:cNvSpPr/>
          <p:nvPr/>
        </p:nvSpPr>
        <p:spPr>
          <a:xfrm>
            <a:off x="2856942" y="1392250"/>
            <a:ext cx="1033835" cy="2757599"/>
          </a:xfrm>
          <a:prstGeom prst="roundRect">
            <a:avLst>
              <a:gd name="adj" fmla="val 12899"/>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20" name="Text 18"/>
          <p:cNvSpPr/>
          <p:nvPr/>
        </p:nvSpPr>
        <p:spPr>
          <a:xfrm>
            <a:off x="2946239" y="1510122"/>
            <a:ext cx="171450" cy="171450"/>
          </a:xfrm>
          <a:prstGeom prst="rect">
            <a:avLst/>
          </a:prstGeom>
          <a:noFill/>
          <a:ln/>
        </p:spPr>
        <p:txBody>
          <a:bodyPr wrap="none" lIns="0" tIns="0" rIns="0" bIns="0" rtlCol="0" anchor="ctr"/>
          <a:lstStyle/>
          <a:p>
            <a:pPr marL="0" indent="0" algn="ctr">
              <a:buNone/>
            </a:pPr>
            <a:r>
              <a:rPr lang="en-US" sz="1688" dirty="0">
                <a:solidFill>
                  <a:srgbClr val="F97316"/>
                </a:solidFill>
                <a:latin typeface="Segoe UI Symbol" pitchFamily="34" charset="0"/>
                <a:ea typeface="Segoe UI Symbol" pitchFamily="34" charset="-122"/>
                <a:cs typeface="Segoe UI Symbol" pitchFamily="34" charset="-120"/>
              </a:rPr>
              <a:t>☁</a:t>
            </a:r>
            <a:endParaRPr lang="en-US" sz="1688" dirty="0"/>
          </a:p>
        </p:txBody>
      </p:sp>
      <p:sp>
        <p:nvSpPr>
          <p:cNvPr id="21" name="Text 19"/>
          <p:cNvSpPr/>
          <p:nvPr/>
        </p:nvSpPr>
        <p:spPr>
          <a:xfrm>
            <a:off x="2946239" y="1724434"/>
            <a:ext cx="855241" cy="215456"/>
          </a:xfrm>
          <a:prstGeom prst="rect">
            <a:avLst/>
          </a:prstGeom>
          <a:noFill/>
          <a:ln/>
        </p:spPr>
        <p:txBody>
          <a:bodyPr wrap="none" lIns="0" tIns="0" rIns="0" bIns="0" rtlCol="0" anchor="t"/>
          <a:lstStyle/>
          <a:p>
            <a:pPr marL="0" indent="0" algn="l">
              <a:lnSpc>
                <a:spcPts val="1575"/>
              </a:lnSpc>
              <a:buNone/>
            </a:pPr>
            <a:r>
              <a:rPr lang="en-US" sz="1125" b="1" dirty="0">
                <a:solidFill>
                  <a:srgbClr val="F97316"/>
                </a:solidFill>
                <a:latin typeface="Liberation Sans Narrow" pitchFamily="34" charset="0"/>
                <a:ea typeface="Liberation Sans Narrow" pitchFamily="34" charset="-122"/>
                <a:cs typeface="Liberation Sans Narrow" pitchFamily="34" charset="-120"/>
              </a:rPr>
              <a:t>03</a:t>
            </a:r>
            <a:endParaRPr lang="en-US" sz="1125" dirty="0"/>
          </a:p>
        </p:txBody>
      </p:sp>
      <p:sp>
        <p:nvSpPr>
          <p:cNvPr id="22" name="Text 20"/>
          <p:cNvSpPr/>
          <p:nvPr/>
        </p:nvSpPr>
        <p:spPr>
          <a:xfrm>
            <a:off x="2946239" y="1967322"/>
            <a:ext cx="855241" cy="148036"/>
          </a:xfrm>
          <a:prstGeom prst="rect">
            <a:avLst/>
          </a:prstGeom>
          <a:noFill/>
          <a:ln/>
        </p:spPr>
        <p:txBody>
          <a:bodyPr wrap="none" lIns="0" tIns="0" rIns="0" bIns="0" rtlCol="0" anchor="t"/>
          <a:lstStyle/>
          <a:p>
            <a:pPr marL="0" indent="0" algn="l">
              <a:lnSpc>
                <a:spcPts val="1080"/>
              </a:lnSpc>
              <a:buNone/>
            </a:pPr>
            <a:r>
              <a:rPr lang="en-US" sz="900" b="1" dirty="0">
                <a:solidFill>
                  <a:srgbClr val="0F172A"/>
                </a:solidFill>
                <a:latin typeface="Carlito" pitchFamily="34" charset="0"/>
                <a:ea typeface="Carlito" pitchFamily="34" charset="-122"/>
                <a:cs typeface="Carlito" pitchFamily="34" charset="-120"/>
              </a:rPr>
              <a:t>Provision</a:t>
            </a:r>
            <a:endParaRPr lang="en-US" sz="900" dirty="0"/>
          </a:p>
        </p:txBody>
      </p:sp>
      <p:sp>
        <p:nvSpPr>
          <p:cNvPr id="23" name="Text 21"/>
          <p:cNvSpPr/>
          <p:nvPr/>
        </p:nvSpPr>
        <p:spPr>
          <a:xfrm>
            <a:off x="2946239" y="2147255"/>
            <a:ext cx="906555" cy="614477"/>
          </a:xfrm>
          <a:prstGeom prst="rect">
            <a:avLst/>
          </a:prstGeom>
          <a:noFill/>
          <a:ln/>
        </p:spPr>
        <p:txBody>
          <a:bodyPr wrap="square" lIns="0" tIns="0" rIns="0" bIns="0" rtlCol="0" anchor="t"/>
          <a:lstStyle/>
          <a:p>
            <a:pPr marL="0" indent="0" algn="l">
              <a:lnSpc>
                <a:spcPts val="984"/>
              </a:lnSpc>
              <a:buNone/>
            </a:pPr>
            <a:r>
              <a:rPr lang="en-US" sz="800" dirty="0">
                <a:solidFill>
                  <a:srgbClr val="334155"/>
                </a:solidFill>
                <a:latin typeface="Carlito" pitchFamily="34" charset="0"/>
                <a:ea typeface="Carlito" pitchFamily="34" charset="-122"/>
                <a:cs typeface="Carlito" pitchFamily="34" charset="-120"/>
              </a:rPr>
              <a:t>Terraform (AI-assisted authoring) creates new infra if needed.</a:t>
            </a:r>
            <a:endParaRPr lang="en-US" sz="800" dirty="0"/>
          </a:p>
        </p:txBody>
      </p:sp>
      <p:sp>
        <p:nvSpPr>
          <p:cNvPr id="24" name="Text 22"/>
          <p:cNvSpPr/>
          <p:nvPr/>
        </p:nvSpPr>
        <p:spPr>
          <a:xfrm>
            <a:off x="3894348" y="1388678"/>
            <a:ext cx="157163" cy="2764743"/>
          </a:xfrm>
          <a:prstGeom prst="rect">
            <a:avLst/>
          </a:prstGeom>
          <a:noFill/>
          <a:ln/>
        </p:spPr>
        <p:txBody>
          <a:bodyPr wrap="none" lIns="0" tIns="0" rIns="0" bIns="0" rtlCol="0" anchor="ctr"/>
          <a:lstStyle/>
          <a:p>
            <a:pPr marL="0" indent="0" algn="ctr">
              <a:lnSpc>
                <a:spcPts val="2047"/>
              </a:lnSpc>
              <a:buNone/>
            </a:pPr>
            <a:r>
              <a:rPr lang="en-US" sz="1463" b="1" dirty="0">
                <a:solidFill>
                  <a:srgbClr val="F97316"/>
                </a:solidFill>
                <a:latin typeface="Carlito" pitchFamily="34" charset="0"/>
                <a:ea typeface="Carlito" pitchFamily="34" charset="-122"/>
                <a:cs typeface="Carlito" pitchFamily="34" charset="-120"/>
              </a:rPr>
              <a:t>›</a:t>
            </a:r>
            <a:endParaRPr lang="en-US" sz="1463" dirty="0"/>
          </a:p>
        </p:txBody>
      </p:sp>
      <p:sp>
        <p:nvSpPr>
          <p:cNvPr id="25" name="Text 23"/>
          <p:cNvSpPr/>
          <p:nvPr/>
        </p:nvSpPr>
        <p:spPr>
          <a:xfrm>
            <a:off x="4055083" y="1392250"/>
            <a:ext cx="1033723" cy="2757599"/>
          </a:xfrm>
          <a:prstGeom prst="roundRect">
            <a:avLst>
              <a:gd name="adj" fmla="val 12900"/>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26" name="Text 24"/>
          <p:cNvSpPr/>
          <p:nvPr/>
        </p:nvSpPr>
        <p:spPr>
          <a:xfrm>
            <a:off x="4144380" y="1510122"/>
            <a:ext cx="171450" cy="171450"/>
          </a:xfrm>
          <a:prstGeom prst="rect">
            <a:avLst/>
          </a:prstGeom>
          <a:noFill/>
          <a:ln/>
        </p:spPr>
        <p:txBody>
          <a:bodyPr wrap="none" lIns="0" tIns="0" rIns="0" bIns="0" rtlCol="0" anchor="ctr"/>
          <a:lstStyle/>
          <a:p>
            <a:pPr marL="0" indent="0" algn="ctr">
              <a:buNone/>
            </a:pPr>
            <a:r>
              <a:rPr lang="en-US" sz="1688" dirty="0">
                <a:solidFill>
                  <a:srgbClr val="F97316"/>
                </a:solidFill>
                <a:latin typeface="Segoe UI Symbol" pitchFamily="34" charset="0"/>
                <a:ea typeface="Segoe UI Symbol" pitchFamily="34" charset="-122"/>
                <a:cs typeface="Segoe UI Symbol" pitchFamily="34" charset="-120"/>
              </a:rPr>
              <a:t>⚙</a:t>
            </a:r>
            <a:endParaRPr lang="en-US" sz="1688" dirty="0"/>
          </a:p>
        </p:txBody>
      </p:sp>
      <p:sp>
        <p:nvSpPr>
          <p:cNvPr id="27" name="Text 25"/>
          <p:cNvSpPr/>
          <p:nvPr/>
        </p:nvSpPr>
        <p:spPr>
          <a:xfrm>
            <a:off x="4144380" y="1724434"/>
            <a:ext cx="855129" cy="215456"/>
          </a:xfrm>
          <a:prstGeom prst="rect">
            <a:avLst/>
          </a:prstGeom>
          <a:noFill/>
          <a:ln/>
        </p:spPr>
        <p:txBody>
          <a:bodyPr wrap="none" lIns="0" tIns="0" rIns="0" bIns="0" rtlCol="0" anchor="t"/>
          <a:lstStyle/>
          <a:p>
            <a:pPr marL="0" indent="0" algn="l">
              <a:lnSpc>
                <a:spcPts val="1575"/>
              </a:lnSpc>
              <a:buNone/>
            </a:pPr>
            <a:r>
              <a:rPr lang="en-US" sz="1125" b="1" dirty="0">
                <a:solidFill>
                  <a:srgbClr val="F97316"/>
                </a:solidFill>
                <a:latin typeface="Liberation Sans Narrow" pitchFamily="34" charset="0"/>
                <a:ea typeface="Liberation Sans Narrow" pitchFamily="34" charset="-122"/>
                <a:cs typeface="Liberation Sans Narrow" pitchFamily="34" charset="-120"/>
              </a:rPr>
              <a:t>04</a:t>
            </a:r>
            <a:endParaRPr lang="en-US" sz="1125" dirty="0"/>
          </a:p>
        </p:txBody>
      </p:sp>
      <p:sp>
        <p:nvSpPr>
          <p:cNvPr id="28" name="Text 26"/>
          <p:cNvSpPr/>
          <p:nvPr/>
        </p:nvSpPr>
        <p:spPr>
          <a:xfrm>
            <a:off x="4144380" y="1967322"/>
            <a:ext cx="855129" cy="148036"/>
          </a:xfrm>
          <a:prstGeom prst="rect">
            <a:avLst/>
          </a:prstGeom>
          <a:noFill/>
          <a:ln/>
        </p:spPr>
        <p:txBody>
          <a:bodyPr wrap="none" lIns="0" tIns="0" rIns="0" bIns="0" rtlCol="0" anchor="t"/>
          <a:lstStyle/>
          <a:p>
            <a:pPr marL="0" indent="0" algn="l">
              <a:lnSpc>
                <a:spcPts val="1080"/>
              </a:lnSpc>
              <a:buNone/>
            </a:pPr>
            <a:r>
              <a:rPr lang="en-US" sz="900" b="1" dirty="0">
                <a:solidFill>
                  <a:srgbClr val="0F172A"/>
                </a:solidFill>
                <a:latin typeface="Carlito" pitchFamily="34" charset="0"/>
                <a:ea typeface="Carlito" pitchFamily="34" charset="-122"/>
                <a:cs typeface="Carlito" pitchFamily="34" charset="-120"/>
              </a:rPr>
              <a:t>Configure</a:t>
            </a:r>
            <a:endParaRPr lang="en-US" sz="900" dirty="0"/>
          </a:p>
        </p:txBody>
      </p:sp>
      <p:sp>
        <p:nvSpPr>
          <p:cNvPr id="29" name="Text 27"/>
          <p:cNvSpPr/>
          <p:nvPr/>
        </p:nvSpPr>
        <p:spPr>
          <a:xfrm>
            <a:off x="4144380" y="2147255"/>
            <a:ext cx="906437" cy="614477"/>
          </a:xfrm>
          <a:prstGeom prst="rect">
            <a:avLst/>
          </a:prstGeom>
          <a:noFill/>
          <a:ln/>
        </p:spPr>
        <p:txBody>
          <a:bodyPr wrap="square" lIns="0" tIns="0" rIns="0" bIns="0" rtlCol="0" anchor="t"/>
          <a:lstStyle/>
          <a:p>
            <a:pPr marL="0" indent="0" algn="l">
              <a:lnSpc>
                <a:spcPts val="984"/>
              </a:lnSpc>
              <a:buNone/>
            </a:pPr>
            <a:r>
              <a:rPr lang="en-US" sz="800" dirty="0">
                <a:solidFill>
                  <a:srgbClr val="334155"/>
                </a:solidFill>
                <a:latin typeface="Carlito" pitchFamily="34" charset="0"/>
                <a:ea typeface="Carlito" pitchFamily="34" charset="-122"/>
                <a:cs typeface="Carlito" pitchFamily="34" charset="-120"/>
              </a:rPr>
              <a:t>Ansible (AI-assisted authoring) configures hosts with the desired state.</a:t>
            </a:r>
            <a:endParaRPr lang="en-US" sz="800" dirty="0"/>
          </a:p>
        </p:txBody>
      </p:sp>
      <p:sp>
        <p:nvSpPr>
          <p:cNvPr id="30" name="Text 28"/>
          <p:cNvSpPr/>
          <p:nvPr/>
        </p:nvSpPr>
        <p:spPr>
          <a:xfrm>
            <a:off x="5092378" y="1388678"/>
            <a:ext cx="157163" cy="2764743"/>
          </a:xfrm>
          <a:prstGeom prst="rect">
            <a:avLst/>
          </a:prstGeom>
          <a:noFill/>
          <a:ln/>
        </p:spPr>
        <p:txBody>
          <a:bodyPr wrap="none" lIns="0" tIns="0" rIns="0" bIns="0" rtlCol="0" anchor="ctr"/>
          <a:lstStyle/>
          <a:p>
            <a:pPr marL="0" indent="0" algn="ctr">
              <a:lnSpc>
                <a:spcPts val="2047"/>
              </a:lnSpc>
              <a:buNone/>
            </a:pPr>
            <a:r>
              <a:rPr lang="en-US" sz="1463" b="1" dirty="0">
                <a:solidFill>
                  <a:srgbClr val="F97316"/>
                </a:solidFill>
                <a:latin typeface="Carlito" pitchFamily="34" charset="0"/>
                <a:ea typeface="Carlito" pitchFamily="34" charset="-122"/>
                <a:cs typeface="Carlito" pitchFamily="34" charset="-120"/>
              </a:rPr>
              <a:t>›</a:t>
            </a:r>
            <a:endParaRPr lang="en-US" sz="1463" dirty="0"/>
          </a:p>
        </p:txBody>
      </p:sp>
      <p:sp>
        <p:nvSpPr>
          <p:cNvPr id="31" name="Text 29"/>
          <p:cNvSpPr/>
          <p:nvPr/>
        </p:nvSpPr>
        <p:spPr>
          <a:xfrm>
            <a:off x="5253112" y="1392250"/>
            <a:ext cx="1033835" cy="2757599"/>
          </a:xfrm>
          <a:prstGeom prst="roundRect">
            <a:avLst>
              <a:gd name="adj" fmla="val 12899"/>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32" name="Text 30"/>
          <p:cNvSpPr/>
          <p:nvPr/>
        </p:nvSpPr>
        <p:spPr>
          <a:xfrm>
            <a:off x="5342409" y="1510122"/>
            <a:ext cx="171450" cy="171450"/>
          </a:xfrm>
          <a:prstGeom prst="rect">
            <a:avLst/>
          </a:prstGeom>
          <a:noFill/>
          <a:ln/>
        </p:spPr>
        <p:txBody>
          <a:bodyPr wrap="none" lIns="0" tIns="0" rIns="0" bIns="0" rtlCol="0" anchor="ctr"/>
          <a:lstStyle/>
          <a:p>
            <a:pPr marL="0" indent="0" algn="ctr">
              <a:buNone/>
            </a:pPr>
            <a:r>
              <a:rPr lang="en-US" sz="1688" dirty="0">
                <a:solidFill>
                  <a:srgbClr val="F97316"/>
                </a:solidFill>
                <a:latin typeface="Segoe UI Symbol" pitchFamily="34" charset="0"/>
                <a:ea typeface="Segoe UI Symbol" pitchFamily="34" charset="-122"/>
                <a:cs typeface="Segoe UI Symbol" pitchFamily="34" charset="-120"/>
              </a:rPr>
              <a:t>⚒</a:t>
            </a:r>
            <a:endParaRPr lang="en-US" sz="1688" dirty="0"/>
          </a:p>
        </p:txBody>
      </p:sp>
      <p:sp>
        <p:nvSpPr>
          <p:cNvPr id="33" name="Text 31"/>
          <p:cNvSpPr/>
          <p:nvPr/>
        </p:nvSpPr>
        <p:spPr>
          <a:xfrm>
            <a:off x="5342409" y="1724434"/>
            <a:ext cx="855241" cy="215456"/>
          </a:xfrm>
          <a:prstGeom prst="rect">
            <a:avLst/>
          </a:prstGeom>
          <a:noFill/>
          <a:ln/>
        </p:spPr>
        <p:txBody>
          <a:bodyPr wrap="none" lIns="0" tIns="0" rIns="0" bIns="0" rtlCol="0" anchor="t"/>
          <a:lstStyle/>
          <a:p>
            <a:pPr marL="0" indent="0" algn="l">
              <a:lnSpc>
                <a:spcPts val="1575"/>
              </a:lnSpc>
              <a:buNone/>
            </a:pPr>
            <a:r>
              <a:rPr lang="en-US" sz="1125" b="1" dirty="0">
                <a:solidFill>
                  <a:srgbClr val="F97316"/>
                </a:solidFill>
                <a:latin typeface="Liberation Sans Narrow" pitchFamily="34" charset="0"/>
                <a:ea typeface="Liberation Sans Narrow" pitchFamily="34" charset="-122"/>
                <a:cs typeface="Liberation Sans Narrow" pitchFamily="34" charset="-120"/>
              </a:rPr>
              <a:t>05</a:t>
            </a:r>
            <a:endParaRPr lang="en-US" sz="1125" dirty="0"/>
          </a:p>
        </p:txBody>
      </p:sp>
      <p:sp>
        <p:nvSpPr>
          <p:cNvPr id="34" name="Text 32"/>
          <p:cNvSpPr/>
          <p:nvPr/>
        </p:nvSpPr>
        <p:spPr>
          <a:xfrm>
            <a:off x="5342409" y="1967322"/>
            <a:ext cx="855241" cy="148036"/>
          </a:xfrm>
          <a:prstGeom prst="rect">
            <a:avLst/>
          </a:prstGeom>
          <a:noFill/>
          <a:ln/>
        </p:spPr>
        <p:txBody>
          <a:bodyPr wrap="none" lIns="0" tIns="0" rIns="0" bIns="0" rtlCol="0" anchor="t"/>
          <a:lstStyle/>
          <a:p>
            <a:pPr marL="0" indent="0" algn="l">
              <a:lnSpc>
                <a:spcPts val="1080"/>
              </a:lnSpc>
              <a:buNone/>
            </a:pPr>
            <a:r>
              <a:rPr lang="en-US" sz="900" b="1" dirty="0">
                <a:solidFill>
                  <a:srgbClr val="0F172A"/>
                </a:solidFill>
                <a:latin typeface="Carlito" pitchFamily="34" charset="0"/>
                <a:ea typeface="Carlito" pitchFamily="34" charset="-122"/>
                <a:cs typeface="Carlito" pitchFamily="34" charset="-120"/>
              </a:rPr>
              <a:t>Build</a:t>
            </a:r>
            <a:endParaRPr lang="en-US" sz="900" dirty="0"/>
          </a:p>
        </p:txBody>
      </p:sp>
      <p:sp>
        <p:nvSpPr>
          <p:cNvPr id="35" name="Text 33"/>
          <p:cNvSpPr/>
          <p:nvPr/>
        </p:nvSpPr>
        <p:spPr>
          <a:xfrm>
            <a:off x="5342409" y="2147255"/>
            <a:ext cx="906555" cy="614477"/>
          </a:xfrm>
          <a:prstGeom prst="rect">
            <a:avLst/>
          </a:prstGeom>
          <a:noFill/>
          <a:ln/>
        </p:spPr>
        <p:txBody>
          <a:bodyPr wrap="square" lIns="0" tIns="0" rIns="0" bIns="0" rtlCol="0" anchor="t"/>
          <a:lstStyle/>
          <a:p>
            <a:pPr marL="0" indent="0" algn="l">
              <a:lnSpc>
                <a:spcPts val="984"/>
              </a:lnSpc>
              <a:buNone/>
            </a:pPr>
            <a:r>
              <a:rPr lang="en-US" sz="800" dirty="0">
                <a:solidFill>
                  <a:srgbClr val="334155"/>
                </a:solidFill>
                <a:latin typeface="Carlito" pitchFamily="34" charset="0"/>
                <a:ea typeface="Carlito" pitchFamily="34" charset="-122"/>
                <a:cs typeface="Carlito" pitchFamily="34" charset="-120"/>
              </a:rPr>
              <a:t>Smart build cache (Section A Topic 1.1) — only rebuild what changed.</a:t>
            </a:r>
            <a:endParaRPr lang="en-US" sz="800" dirty="0"/>
          </a:p>
        </p:txBody>
      </p:sp>
      <p:sp>
        <p:nvSpPr>
          <p:cNvPr id="36" name="Text 34"/>
          <p:cNvSpPr/>
          <p:nvPr/>
        </p:nvSpPr>
        <p:spPr>
          <a:xfrm>
            <a:off x="6290518" y="1388678"/>
            <a:ext cx="157163" cy="2764743"/>
          </a:xfrm>
          <a:prstGeom prst="rect">
            <a:avLst/>
          </a:prstGeom>
          <a:noFill/>
          <a:ln/>
        </p:spPr>
        <p:txBody>
          <a:bodyPr wrap="none" lIns="0" tIns="0" rIns="0" bIns="0" rtlCol="0" anchor="ctr"/>
          <a:lstStyle/>
          <a:p>
            <a:pPr marL="0" indent="0" algn="ctr">
              <a:lnSpc>
                <a:spcPts val="2047"/>
              </a:lnSpc>
              <a:buNone/>
            </a:pPr>
            <a:r>
              <a:rPr lang="en-US" sz="1463" b="1" dirty="0">
                <a:solidFill>
                  <a:srgbClr val="F97316"/>
                </a:solidFill>
                <a:latin typeface="Carlito" pitchFamily="34" charset="0"/>
                <a:ea typeface="Carlito" pitchFamily="34" charset="-122"/>
                <a:cs typeface="Carlito" pitchFamily="34" charset="-120"/>
              </a:rPr>
              <a:t>›</a:t>
            </a:r>
            <a:endParaRPr lang="en-US" sz="1463" dirty="0"/>
          </a:p>
        </p:txBody>
      </p:sp>
      <p:sp>
        <p:nvSpPr>
          <p:cNvPr id="37" name="Text 35"/>
          <p:cNvSpPr/>
          <p:nvPr/>
        </p:nvSpPr>
        <p:spPr>
          <a:xfrm>
            <a:off x="6451253" y="1392250"/>
            <a:ext cx="1033835" cy="2757599"/>
          </a:xfrm>
          <a:prstGeom prst="roundRect">
            <a:avLst>
              <a:gd name="adj" fmla="val 12899"/>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38" name="Text 36"/>
          <p:cNvSpPr/>
          <p:nvPr/>
        </p:nvSpPr>
        <p:spPr>
          <a:xfrm>
            <a:off x="6540550" y="1510122"/>
            <a:ext cx="171450" cy="171450"/>
          </a:xfrm>
          <a:prstGeom prst="rect">
            <a:avLst/>
          </a:prstGeom>
          <a:noFill/>
          <a:ln/>
        </p:spPr>
        <p:txBody>
          <a:bodyPr wrap="none" lIns="0" tIns="0" rIns="0" bIns="0" rtlCol="0" anchor="ctr"/>
          <a:lstStyle/>
          <a:p>
            <a:pPr marL="0" indent="0" algn="ctr">
              <a:buNone/>
            </a:pPr>
            <a:r>
              <a:rPr lang="en-US" sz="1688" dirty="0">
                <a:solidFill>
                  <a:srgbClr val="F97316"/>
                </a:solidFill>
                <a:latin typeface="Segoe UI Symbol" pitchFamily="34" charset="0"/>
                <a:ea typeface="Segoe UI Symbol" pitchFamily="34" charset="-122"/>
                <a:cs typeface="Segoe UI Symbol" pitchFamily="34" charset="-120"/>
              </a:rPr>
              <a:t>⚗</a:t>
            </a:r>
            <a:endParaRPr lang="en-US" sz="1688" dirty="0"/>
          </a:p>
        </p:txBody>
      </p:sp>
      <p:sp>
        <p:nvSpPr>
          <p:cNvPr id="39" name="Text 37"/>
          <p:cNvSpPr/>
          <p:nvPr/>
        </p:nvSpPr>
        <p:spPr>
          <a:xfrm>
            <a:off x="6540550" y="1724434"/>
            <a:ext cx="855241" cy="215456"/>
          </a:xfrm>
          <a:prstGeom prst="rect">
            <a:avLst/>
          </a:prstGeom>
          <a:noFill/>
          <a:ln/>
        </p:spPr>
        <p:txBody>
          <a:bodyPr wrap="none" lIns="0" tIns="0" rIns="0" bIns="0" rtlCol="0" anchor="t"/>
          <a:lstStyle/>
          <a:p>
            <a:pPr marL="0" indent="0" algn="l">
              <a:lnSpc>
                <a:spcPts val="1575"/>
              </a:lnSpc>
              <a:buNone/>
            </a:pPr>
            <a:r>
              <a:rPr lang="en-US" sz="1125" b="1" dirty="0">
                <a:solidFill>
                  <a:srgbClr val="F97316"/>
                </a:solidFill>
                <a:latin typeface="Liberation Sans Narrow" pitchFamily="34" charset="0"/>
                <a:ea typeface="Liberation Sans Narrow" pitchFamily="34" charset="-122"/>
                <a:cs typeface="Liberation Sans Narrow" pitchFamily="34" charset="-120"/>
              </a:rPr>
              <a:t>06</a:t>
            </a:r>
            <a:endParaRPr lang="en-US" sz="1125" dirty="0"/>
          </a:p>
        </p:txBody>
      </p:sp>
      <p:sp>
        <p:nvSpPr>
          <p:cNvPr id="40" name="Text 38"/>
          <p:cNvSpPr/>
          <p:nvPr/>
        </p:nvSpPr>
        <p:spPr>
          <a:xfrm>
            <a:off x="6540550" y="1967322"/>
            <a:ext cx="855241" cy="148036"/>
          </a:xfrm>
          <a:prstGeom prst="rect">
            <a:avLst/>
          </a:prstGeom>
          <a:noFill/>
          <a:ln/>
        </p:spPr>
        <p:txBody>
          <a:bodyPr wrap="none" lIns="0" tIns="0" rIns="0" bIns="0" rtlCol="0" anchor="t"/>
          <a:lstStyle/>
          <a:p>
            <a:pPr marL="0" indent="0" algn="l">
              <a:lnSpc>
                <a:spcPts val="1080"/>
              </a:lnSpc>
              <a:buNone/>
            </a:pPr>
            <a:r>
              <a:rPr lang="en-US" sz="900" b="1" dirty="0">
                <a:solidFill>
                  <a:srgbClr val="0F172A"/>
                </a:solidFill>
                <a:latin typeface="Carlito" pitchFamily="34" charset="0"/>
                <a:ea typeface="Carlito" pitchFamily="34" charset="-122"/>
                <a:cs typeface="Carlito" pitchFamily="34" charset="-120"/>
              </a:rPr>
              <a:t>Test</a:t>
            </a:r>
            <a:endParaRPr lang="en-US" sz="900" dirty="0"/>
          </a:p>
        </p:txBody>
      </p:sp>
      <p:sp>
        <p:nvSpPr>
          <p:cNvPr id="41" name="Text 39"/>
          <p:cNvSpPr/>
          <p:nvPr/>
        </p:nvSpPr>
        <p:spPr>
          <a:xfrm>
            <a:off x="6540550" y="2147255"/>
            <a:ext cx="906555" cy="614477"/>
          </a:xfrm>
          <a:prstGeom prst="rect">
            <a:avLst/>
          </a:prstGeom>
          <a:noFill/>
          <a:ln/>
        </p:spPr>
        <p:txBody>
          <a:bodyPr wrap="square" lIns="0" tIns="0" rIns="0" bIns="0" rtlCol="0" anchor="t"/>
          <a:lstStyle/>
          <a:p>
            <a:pPr marL="0" indent="0" algn="l">
              <a:lnSpc>
                <a:spcPts val="984"/>
              </a:lnSpc>
              <a:buNone/>
            </a:pPr>
            <a:r>
              <a:rPr lang="en-US" sz="800" dirty="0">
                <a:solidFill>
                  <a:srgbClr val="334155"/>
                </a:solidFill>
                <a:latin typeface="Carlito" pitchFamily="34" charset="0"/>
                <a:ea typeface="Carlito" pitchFamily="34" charset="-122"/>
                <a:cs typeface="Carlito" pitchFamily="34" charset="-120"/>
              </a:rPr>
              <a:t>Dynamic test-subset routing (Section A Topic 1.2) — run only relevant tests.</a:t>
            </a:r>
            <a:endParaRPr lang="en-US" sz="800" dirty="0"/>
          </a:p>
        </p:txBody>
      </p:sp>
      <p:sp>
        <p:nvSpPr>
          <p:cNvPr id="42" name="Text 40"/>
          <p:cNvSpPr/>
          <p:nvPr/>
        </p:nvSpPr>
        <p:spPr>
          <a:xfrm>
            <a:off x="7488659" y="1388678"/>
            <a:ext cx="157163" cy="2764743"/>
          </a:xfrm>
          <a:prstGeom prst="rect">
            <a:avLst/>
          </a:prstGeom>
          <a:noFill/>
          <a:ln/>
        </p:spPr>
        <p:txBody>
          <a:bodyPr wrap="none" lIns="0" tIns="0" rIns="0" bIns="0" rtlCol="0" anchor="ctr"/>
          <a:lstStyle/>
          <a:p>
            <a:pPr marL="0" indent="0" algn="ctr">
              <a:lnSpc>
                <a:spcPts val="2047"/>
              </a:lnSpc>
              <a:buNone/>
            </a:pPr>
            <a:r>
              <a:rPr lang="en-US" sz="1463" b="1" dirty="0">
                <a:solidFill>
                  <a:srgbClr val="F97316"/>
                </a:solidFill>
                <a:latin typeface="Carlito" pitchFamily="34" charset="0"/>
                <a:ea typeface="Carlito" pitchFamily="34" charset="-122"/>
                <a:cs typeface="Carlito" pitchFamily="34" charset="-120"/>
              </a:rPr>
              <a:t>›</a:t>
            </a:r>
            <a:endParaRPr lang="en-US" sz="1463" dirty="0"/>
          </a:p>
        </p:txBody>
      </p:sp>
      <p:sp>
        <p:nvSpPr>
          <p:cNvPr id="43" name="Text 41"/>
          <p:cNvSpPr/>
          <p:nvPr/>
        </p:nvSpPr>
        <p:spPr>
          <a:xfrm>
            <a:off x="7649394" y="1392250"/>
            <a:ext cx="1033723" cy="2757599"/>
          </a:xfrm>
          <a:prstGeom prst="roundRect">
            <a:avLst>
              <a:gd name="adj" fmla="val 12900"/>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44" name="Text 42"/>
          <p:cNvSpPr/>
          <p:nvPr/>
        </p:nvSpPr>
        <p:spPr>
          <a:xfrm>
            <a:off x="7738690" y="1510122"/>
            <a:ext cx="171450" cy="171450"/>
          </a:xfrm>
          <a:prstGeom prst="rect">
            <a:avLst/>
          </a:prstGeom>
          <a:noFill/>
          <a:ln/>
        </p:spPr>
        <p:txBody>
          <a:bodyPr wrap="none" lIns="0" tIns="0" rIns="0" bIns="0" rtlCol="0" anchor="ctr"/>
          <a:lstStyle/>
          <a:p>
            <a:pPr marL="0" indent="0" algn="ctr">
              <a:buNone/>
            </a:pPr>
            <a:r>
              <a:rPr lang="en-US" sz="1688" dirty="0">
                <a:solidFill>
                  <a:srgbClr val="F97316"/>
                </a:solidFill>
                <a:latin typeface="Segoe UI Symbol" pitchFamily="34" charset="0"/>
                <a:ea typeface="Segoe UI Symbol" pitchFamily="34" charset="-122"/>
                <a:cs typeface="Segoe UI Symbol" pitchFamily="34" charset="-120"/>
              </a:rPr>
              <a:t>♥</a:t>
            </a:r>
            <a:endParaRPr lang="en-US" sz="1688" dirty="0"/>
          </a:p>
        </p:txBody>
      </p:sp>
      <p:sp>
        <p:nvSpPr>
          <p:cNvPr id="45" name="Text 43"/>
          <p:cNvSpPr/>
          <p:nvPr/>
        </p:nvSpPr>
        <p:spPr>
          <a:xfrm>
            <a:off x="7738690" y="1724434"/>
            <a:ext cx="855129" cy="215456"/>
          </a:xfrm>
          <a:prstGeom prst="rect">
            <a:avLst/>
          </a:prstGeom>
          <a:noFill/>
          <a:ln/>
        </p:spPr>
        <p:txBody>
          <a:bodyPr wrap="none" lIns="0" tIns="0" rIns="0" bIns="0" rtlCol="0" anchor="t"/>
          <a:lstStyle/>
          <a:p>
            <a:pPr marL="0" indent="0" algn="l">
              <a:lnSpc>
                <a:spcPts val="1575"/>
              </a:lnSpc>
              <a:buNone/>
            </a:pPr>
            <a:r>
              <a:rPr lang="en-US" sz="1125" b="1" dirty="0">
                <a:solidFill>
                  <a:srgbClr val="F97316"/>
                </a:solidFill>
                <a:latin typeface="Liberation Sans Narrow" pitchFamily="34" charset="0"/>
                <a:ea typeface="Liberation Sans Narrow" pitchFamily="34" charset="-122"/>
                <a:cs typeface="Liberation Sans Narrow" pitchFamily="34" charset="-120"/>
              </a:rPr>
              <a:t>07</a:t>
            </a:r>
            <a:endParaRPr lang="en-US" sz="1125" dirty="0"/>
          </a:p>
        </p:txBody>
      </p:sp>
      <p:sp>
        <p:nvSpPr>
          <p:cNvPr id="46" name="Text 44"/>
          <p:cNvSpPr/>
          <p:nvPr/>
        </p:nvSpPr>
        <p:spPr>
          <a:xfrm>
            <a:off x="7738690" y="1967322"/>
            <a:ext cx="855129" cy="148036"/>
          </a:xfrm>
          <a:prstGeom prst="rect">
            <a:avLst/>
          </a:prstGeom>
          <a:noFill/>
          <a:ln/>
        </p:spPr>
        <p:txBody>
          <a:bodyPr wrap="none" lIns="0" tIns="0" rIns="0" bIns="0" rtlCol="0" anchor="t"/>
          <a:lstStyle/>
          <a:p>
            <a:pPr marL="0" indent="0" algn="l">
              <a:lnSpc>
                <a:spcPts val="1080"/>
              </a:lnSpc>
              <a:buNone/>
            </a:pPr>
            <a:r>
              <a:rPr lang="en-US" sz="900" b="1" dirty="0">
                <a:solidFill>
                  <a:srgbClr val="0F172A"/>
                </a:solidFill>
                <a:latin typeface="Carlito" pitchFamily="34" charset="0"/>
                <a:ea typeface="Carlito" pitchFamily="34" charset="-122"/>
                <a:cs typeface="Carlito" pitchFamily="34" charset="-120"/>
              </a:rPr>
              <a:t>Operate</a:t>
            </a:r>
            <a:endParaRPr lang="en-US" sz="900" dirty="0"/>
          </a:p>
        </p:txBody>
      </p:sp>
      <p:sp>
        <p:nvSpPr>
          <p:cNvPr id="47" name="Text 45"/>
          <p:cNvSpPr/>
          <p:nvPr/>
        </p:nvSpPr>
        <p:spPr>
          <a:xfrm>
            <a:off x="7738690" y="2147255"/>
            <a:ext cx="906437" cy="768096"/>
          </a:xfrm>
          <a:prstGeom prst="rect">
            <a:avLst/>
          </a:prstGeom>
          <a:noFill/>
          <a:ln/>
        </p:spPr>
        <p:txBody>
          <a:bodyPr wrap="square" lIns="0" tIns="0" rIns="0" bIns="0" rtlCol="0" anchor="t"/>
          <a:lstStyle/>
          <a:p>
            <a:pPr marL="0" indent="0" algn="l">
              <a:lnSpc>
                <a:spcPts val="984"/>
              </a:lnSpc>
              <a:buNone/>
            </a:pPr>
            <a:r>
              <a:rPr lang="en-US" sz="800" dirty="0">
                <a:solidFill>
                  <a:srgbClr val="334155"/>
                </a:solidFill>
                <a:latin typeface="Carlito" pitchFamily="34" charset="0"/>
                <a:ea typeface="Carlito" pitchFamily="34" charset="-122"/>
                <a:cs typeface="Carlito" pitchFamily="34" charset="-120"/>
              </a:rPr>
              <a:t>LLM log summarisation + failure prediction (Section A Topics 1.3-1.4).</a:t>
            </a:r>
            <a:endParaRPr lang="en-US" sz="800" dirty="0"/>
          </a:p>
        </p:txBody>
      </p:sp>
      <p:sp>
        <p:nvSpPr>
          <p:cNvPr id="48" name="Text 46"/>
          <p:cNvSpPr/>
          <p:nvPr/>
        </p:nvSpPr>
        <p:spPr>
          <a:xfrm>
            <a:off x="457200" y="4296296"/>
            <a:ext cx="8229600" cy="390004"/>
          </a:xfrm>
          <a:prstGeom prst="roundRect">
            <a:avLst>
              <a:gd name="adj" fmla="val 19538"/>
            </a:avLst>
          </a:prstGeom>
          <a:solidFill>
            <a:srgbClr val="FFF7ED"/>
          </a:solidFill>
          <a:ln/>
        </p:spPr>
        <p:txBody>
          <a:bodyPr wrap="square" rtlCol="0" anchor="ctr"/>
          <a:lstStyle/>
          <a:p>
            <a:pPr marL="0" indent="0">
              <a:buNone/>
            </a:pPr>
            <a:endParaRPr lang="en-US" dirty="0"/>
          </a:p>
        </p:txBody>
      </p:sp>
      <p:sp>
        <p:nvSpPr>
          <p:cNvPr id="49" name="Shape 47"/>
          <p:cNvSpPr/>
          <p:nvPr/>
        </p:nvSpPr>
        <p:spPr>
          <a:xfrm>
            <a:off x="478631" y="4296296"/>
            <a:ext cx="0" cy="390004"/>
          </a:xfrm>
          <a:prstGeom prst="line">
            <a:avLst/>
          </a:prstGeom>
          <a:noFill/>
          <a:ln w="42863">
            <a:solidFill>
              <a:srgbClr val="F97316"/>
            </a:solidFill>
            <a:prstDash val="solid"/>
          </a:ln>
        </p:spPr>
      </p:sp>
      <p:sp>
        <p:nvSpPr>
          <p:cNvPr id="50" name="Text 48"/>
          <p:cNvSpPr/>
          <p:nvPr/>
        </p:nvSpPr>
        <p:spPr>
          <a:xfrm>
            <a:off x="657225" y="4396308"/>
            <a:ext cx="7872413" cy="189979"/>
          </a:xfrm>
          <a:prstGeom prst="rect">
            <a:avLst/>
          </a:prstGeom>
          <a:noFill/>
          <a:ln/>
        </p:spPr>
        <p:txBody>
          <a:bodyPr wrap="square" lIns="0" tIns="0" rIns="0" bIns="0" rtlCol="0" anchor="t"/>
          <a:lstStyle/>
          <a:p>
            <a:pPr marL="0" indent="0" algn="l">
              <a:lnSpc>
                <a:spcPts val="1496"/>
              </a:lnSpc>
              <a:buNone/>
            </a:pPr>
            <a:r>
              <a:rPr lang="en-US" sz="1069" b="1" dirty="0">
                <a:solidFill>
                  <a:srgbClr val="C2410C"/>
                </a:solidFill>
                <a:latin typeface="Segoe UI Symbol" pitchFamily="34" charset="0"/>
                <a:ea typeface="Segoe UI Symbol" pitchFamily="34" charset="-122"/>
                <a:cs typeface="Segoe UI Symbol" pitchFamily="34" charset="-120"/>
              </a:rPr>
              <a:t>⛨</a:t>
            </a:r>
            <a:r>
              <a:rPr lang="en-US" sz="1069" b="1" dirty="0">
                <a:solidFill>
                  <a:srgbClr val="C2410C"/>
                </a:solidFill>
                <a:latin typeface="Carlito" pitchFamily="34" charset="0"/>
                <a:ea typeface="Carlito" pitchFamily="34" charset="-122"/>
                <a:cs typeface="Carlito" pitchFamily="34" charset="-120"/>
              </a:rPr>
              <a:t> Every stage uses AI. No stage is replaced by AI. The human reviews at each gate.</a:t>
            </a:r>
            <a:endParaRPr lang="en-US" sz="1069"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7565287" cy="746692"/>
          </a:xfrm>
          <a:prstGeom prst="rect">
            <a:avLst/>
          </a:prstGeom>
          <a:noFill/>
          <a:ln/>
        </p:spPr>
        <p:txBody>
          <a:bodyPr wrap="square" lIns="0" tIns="0" rIns="0" bIns="0" rtlCol="0" anchor="t"/>
          <a:lstStyle/>
          <a:p>
            <a:pPr marL="0" indent="0" algn="l">
              <a:lnSpc>
                <a:spcPts val="2723"/>
              </a:lnSpc>
              <a:buNone/>
            </a:pPr>
            <a:r>
              <a:rPr lang="en-US" sz="2475" b="1" kern="0" spc="-28" dirty="0">
                <a:solidFill>
                  <a:srgbClr val="0F172A"/>
                </a:solidFill>
                <a:latin typeface="Carlito" pitchFamily="34" charset="0"/>
                <a:ea typeface="Carlito" pitchFamily="34" charset="-122"/>
                <a:cs typeface="Carlito" pitchFamily="34" charset="-120"/>
              </a:rPr>
              <a:t>AI Orchestration Pattern — The Hub-and-Spoke Model</a:t>
            </a:r>
            <a:endParaRPr lang="en-US" sz="2475" dirty="0"/>
          </a:p>
        </p:txBody>
      </p:sp>
      <p:sp>
        <p:nvSpPr>
          <p:cNvPr id="3" name="Text 1"/>
          <p:cNvSpPr/>
          <p:nvPr/>
        </p:nvSpPr>
        <p:spPr>
          <a:xfrm>
            <a:off x="457200" y="1234306"/>
            <a:ext cx="571500" cy="42863"/>
          </a:xfrm>
          <a:prstGeom prst="roundRect">
            <a:avLst>
              <a:gd name="adj" fmla="val 66666"/>
            </a:avLst>
          </a:prstGeom>
          <a:solidFill>
            <a:srgbClr val="F97316"/>
          </a:solidFill>
          <a:ln/>
        </p:spPr>
        <p:txBody>
          <a:bodyPr wrap="square" rtlCol="0" anchor="ctr"/>
          <a:lstStyle/>
          <a:p>
            <a:pPr marL="0" indent="0">
              <a:buNone/>
            </a:pPr>
            <a:endParaRPr lang="en-US" dirty="0"/>
          </a:p>
        </p:txBody>
      </p:sp>
      <p:sp>
        <p:nvSpPr>
          <p:cNvPr id="4" name="Text 2"/>
          <p:cNvSpPr/>
          <p:nvPr/>
        </p:nvSpPr>
        <p:spPr>
          <a:xfrm>
            <a:off x="7334734" y="604317"/>
            <a:ext cx="1352066" cy="525735"/>
          </a:xfrm>
          <a:prstGeom prst="roundRect">
            <a:avLst>
              <a:gd name="adj" fmla="val 1809938"/>
            </a:avLst>
          </a:prstGeom>
          <a:solidFill>
            <a:srgbClr val="FED7AA"/>
          </a:solidFill>
          <a:ln/>
        </p:spPr>
        <p:txBody>
          <a:bodyPr wrap="square" rtlCol="0" anchor="ctr"/>
          <a:lstStyle/>
          <a:p>
            <a:pPr marL="0" indent="0">
              <a:buNone/>
            </a:pPr>
            <a:endParaRPr lang="en-US" dirty="0"/>
          </a:p>
        </p:txBody>
      </p:sp>
      <p:sp>
        <p:nvSpPr>
          <p:cNvPr id="5" name="Text 3"/>
          <p:cNvSpPr/>
          <p:nvPr/>
        </p:nvSpPr>
        <p:spPr>
          <a:xfrm>
            <a:off x="7334734" y="604317"/>
            <a:ext cx="1352066" cy="567794"/>
          </a:xfrm>
          <a:prstGeom prst="rect">
            <a:avLst/>
          </a:prstGeom>
          <a:noFill/>
          <a:ln/>
        </p:spPr>
        <p:txBody>
          <a:bodyPr wrap="none" lIns="114300" tIns="42863" rIns="114300" bIns="42863" rtlCol="0" anchor="t"/>
          <a:lstStyle/>
          <a:p>
            <a:pPr marL="0" indent="0" algn="l">
              <a:lnSpc>
                <a:spcPts val="1733"/>
              </a:lnSpc>
              <a:buNone/>
            </a:pPr>
            <a:r>
              <a:rPr lang="en-US" sz="1238" b="1" kern="0" spc="28" dirty="0">
                <a:solidFill>
                  <a:srgbClr val="C2410C"/>
                </a:solidFill>
                <a:latin typeface="Liberation Sans Narrow" pitchFamily="34" charset="0"/>
                <a:ea typeface="Liberation Sans Narrow" pitchFamily="34" charset="-122"/>
                <a:cs typeface="Liberation Sans Narrow" pitchFamily="34" charset="-120"/>
              </a:rPr>
              <a:t>SECTION D · 4.2</a:t>
            </a:r>
            <a:endParaRPr lang="en-US" sz="1238" dirty="0"/>
          </a:p>
        </p:txBody>
      </p:sp>
      <p:sp>
        <p:nvSpPr>
          <p:cNvPr id="6" name="Text 4"/>
          <p:cNvSpPr/>
          <p:nvPr/>
        </p:nvSpPr>
        <p:spPr>
          <a:xfrm>
            <a:off x="460772" y="1366465"/>
            <a:ext cx="4519092" cy="3316263"/>
          </a:xfrm>
          <a:prstGeom prst="roundRect">
            <a:avLst>
              <a:gd name="adj" fmla="val 4021"/>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7" name="Shape 5"/>
          <p:cNvSpPr/>
          <p:nvPr/>
        </p:nvSpPr>
        <p:spPr>
          <a:xfrm>
            <a:off x="607219" y="2241463"/>
            <a:ext cx="4226198" cy="0"/>
          </a:xfrm>
          <a:prstGeom prst="line">
            <a:avLst/>
          </a:prstGeom>
          <a:noFill/>
          <a:ln w="7144">
            <a:solidFill>
              <a:srgbClr val="CBD5E1"/>
            </a:solidFill>
            <a:prstDash val="dash"/>
          </a:ln>
        </p:spPr>
      </p:sp>
      <p:sp>
        <p:nvSpPr>
          <p:cNvPr id="8" name="Text 6"/>
          <p:cNvSpPr/>
          <p:nvPr/>
        </p:nvSpPr>
        <p:spPr>
          <a:xfrm>
            <a:off x="607219" y="1555775"/>
            <a:ext cx="434340" cy="610679"/>
          </a:xfrm>
          <a:prstGeom prst="rect">
            <a:avLst/>
          </a:prstGeom>
          <a:noFill/>
          <a:ln/>
        </p:spPr>
        <p:txBody>
          <a:bodyPr wrap="none" lIns="0" tIns="0" rIns="0" bIns="0" rtlCol="0" anchor="t"/>
          <a:lstStyle/>
          <a:p>
            <a:pPr marL="0" indent="0" algn="l">
              <a:lnSpc>
                <a:spcPts val="1463"/>
              </a:lnSpc>
              <a:buNone/>
            </a:pPr>
            <a:r>
              <a:rPr lang="en-US" sz="1463" b="1" dirty="0">
                <a:solidFill>
                  <a:srgbClr val="F97316"/>
                </a:solidFill>
                <a:latin typeface="Liberation Sans Narrow" pitchFamily="34" charset="0"/>
                <a:ea typeface="Liberation Sans Narrow" pitchFamily="34" charset="-122"/>
                <a:cs typeface="Liberation Sans Narrow" pitchFamily="34" charset="-120"/>
              </a:rPr>
              <a:t>01</a:t>
            </a:r>
            <a:endParaRPr lang="en-US" sz="1463" dirty="0"/>
          </a:p>
        </p:txBody>
      </p:sp>
      <p:sp>
        <p:nvSpPr>
          <p:cNvPr id="9" name="Text 7"/>
          <p:cNvSpPr/>
          <p:nvPr/>
        </p:nvSpPr>
        <p:spPr>
          <a:xfrm>
            <a:off x="978694" y="1555775"/>
            <a:ext cx="3854723" cy="148260"/>
          </a:xfrm>
          <a:prstGeom prst="rect">
            <a:avLst/>
          </a:prstGeom>
          <a:noFill/>
          <a:ln/>
        </p:spPr>
        <p:txBody>
          <a:bodyPr wrap="none" lIns="0" tIns="0" rIns="0" bIns="0" rtlCol="0" anchor="t">
            <a:normAutofit fontScale="92500"/>
          </a:bodyPr>
          <a:lstStyle/>
          <a:p>
            <a:pPr marL="0" indent="0" algn="l">
              <a:lnSpc>
                <a:spcPts val="1215"/>
              </a:lnSpc>
              <a:buNone/>
            </a:pPr>
            <a:r>
              <a:rPr lang="en-US" sz="1013" b="1" dirty="0">
                <a:solidFill>
                  <a:srgbClr val="0F172A"/>
                </a:solidFill>
                <a:latin typeface="Carlito" pitchFamily="34" charset="0"/>
                <a:ea typeface="Carlito" pitchFamily="34" charset="-122"/>
                <a:cs typeface="Carlito" pitchFamily="34" charset="-120"/>
              </a:rPr>
              <a:t>Central AI Gateway</a:t>
            </a:r>
            <a:endParaRPr lang="en-US" sz="1013" dirty="0"/>
          </a:p>
        </p:txBody>
      </p:sp>
      <p:sp>
        <p:nvSpPr>
          <p:cNvPr id="10" name="Text 8"/>
          <p:cNvSpPr/>
          <p:nvPr/>
        </p:nvSpPr>
        <p:spPr>
          <a:xfrm>
            <a:off x="978694" y="1731466"/>
            <a:ext cx="3854723" cy="434987"/>
          </a:xfrm>
          <a:prstGeom prst="rect">
            <a:avLst/>
          </a:prstGeom>
          <a:noFill/>
          <a:ln/>
        </p:spPr>
        <p:txBody>
          <a:bodyPr wrap="square" lIns="0" tIns="0" rIns="0" bIns="0" rtlCol="0" anchor="t"/>
          <a:lstStyle/>
          <a:p>
            <a:pPr marL="0" indent="0" algn="l">
              <a:lnSpc>
                <a:spcPts val="1142"/>
              </a:lnSpc>
              <a:buNone/>
            </a:pPr>
            <a:r>
              <a:rPr lang="en-US" sz="816" dirty="0">
                <a:solidFill>
                  <a:srgbClr val="334155"/>
                </a:solidFill>
                <a:latin typeface="Carlito" pitchFamily="34" charset="0"/>
                <a:ea typeface="Carlito" pitchFamily="34" charset="-122"/>
                <a:cs typeface="Carlito" pitchFamily="34" charset="-120"/>
              </a:rPr>
              <a:t>All AI calls go through a single gateway in your VPC. Gateway handles auth, rate limiting, logging, prompt templating, model routing (GPT-4 for hard tasks, Llama 70B for cheap tasks).</a:t>
            </a:r>
            <a:endParaRPr lang="en-US" sz="816" dirty="0"/>
          </a:p>
        </p:txBody>
      </p:sp>
      <p:sp>
        <p:nvSpPr>
          <p:cNvPr id="11" name="Shape 9"/>
          <p:cNvSpPr/>
          <p:nvPr/>
        </p:nvSpPr>
        <p:spPr>
          <a:xfrm>
            <a:off x="607219" y="3002161"/>
            <a:ext cx="4226198" cy="0"/>
          </a:xfrm>
          <a:prstGeom prst="line">
            <a:avLst/>
          </a:prstGeom>
          <a:noFill/>
          <a:ln w="7144">
            <a:solidFill>
              <a:srgbClr val="CBD5E1"/>
            </a:solidFill>
            <a:prstDash val="dash"/>
          </a:ln>
        </p:spPr>
      </p:sp>
      <p:sp>
        <p:nvSpPr>
          <p:cNvPr id="12" name="Text 10"/>
          <p:cNvSpPr/>
          <p:nvPr/>
        </p:nvSpPr>
        <p:spPr>
          <a:xfrm>
            <a:off x="607219" y="2316473"/>
            <a:ext cx="434340" cy="610679"/>
          </a:xfrm>
          <a:prstGeom prst="rect">
            <a:avLst/>
          </a:prstGeom>
          <a:noFill/>
          <a:ln/>
        </p:spPr>
        <p:txBody>
          <a:bodyPr wrap="none" lIns="0" tIns="0" rIns="0" bIns="0" rtlCol="0" anchor="t"/>
          <a:lstStyle/>
          <a:p>
            <a:pPr marL="0" indent="0" algn="l">
              <a:lnSpc>
                <a:spcPts val="1463"/>
              </a:lnSpc>
              <a:buNone/>
            </a:pPr>
            <a:r>
              <a:rPr lang="en-US" sz="1463" b="1" dirty="0">
                <a:solidFill>
                  <a:srgbClr val="F97316"/>
                </a:solidFill>
                <a:latin typeface="Liberation Sans Narrow" pitchFamily="34" charset="0"/>
                <a:ea typeface="Liberation Sans Narrow" pitchFamily="34" charset="-122"/>
                <a:cs typeface="Liberation Sans Narrow" pitchFamily="34" charset="-120"/>
              </a:rPr>
              <a:t>02</a:t>
            </a:r>
            <a:endParaRPr lang="en-US" sz="1463" dirty="0"/>
          </a:p>
        </p:txBody>
      </p:sp>
      <p:sp>
        <p:nvSpPr>
          <p:cNvPr id="13" name="Text 11"/>
          <p:cNvSpPr/>
          <p:nvPr/>
        </p:nvSpPr>
        <p:spPr>
          <a:xfrm>
            <a:off x="978694" y="2316473"/>
            <a:ext cx="3854723" cy="148260"/>
          </a:xfrm>
          <a:prstGeom prst="rect">
            <a:avLst/>
          </a:prstGeom>
          <a:noFill/>
          <a:ln/>
        </p:spPr>
        <p:txBody>
          <a:bodyPr wrap="none" lIns="0" tIns="0" rIns="0" bIns="0" rtlCol="0" anchor="t">
            <a:normAutofit fontScale="92500"/>
          </a:bodyPr>
          <a:lstStyle/>
          <a:p>
            <a:pPr marL="0" indent="0" algn="l">
              <a:lnSpc>
                <a:spcPts val="1215"/>
              </a:lnSpc>
              <a:buNone/>
            </a:pPr>
            <a:r>
              <a:rPr lang="en-US" sz="1013" b="1" dirty="0">
                <a:solidFill>
                  <a:srgbClr val="0F172A"/>
                </a:solidFill>
                <a:latin typeface="Carlito" pitchFamily="34" charset="0"/>
                <a:ea typeface="Carlito" pitchFamily="34" charset="-122"/>
                <a:cs typeface="Carlito" pitchFamily="34" charset="-120"/>
              </a:rPr>
              <a:t>Tool-Specific Wrappers</a:t>
            </a:r>
            <a:endParaRPr lang="en-US" sz="1013" dirty="0"/>
          </a:p>
        </p:txBody>
      </p:sp>
      <p:sp>
        <p:nvSpPr>
          <p:cNvPr id="14" name="Text 12"/>
          <p:cNvSpPr/>
          <p:nvPr/>
        </p:nvSpPr>
        <p:spPr>
          <a:xfrm>
            <a:off x="978694" y="2492164"/>
            <a:ext cx="3854723" cy="434987"/>
          </a:xfrm>
          <a:prstGeom prst="rect">
            <a:avLst/>
          </a:prstGeom>
          <a:noFill/>
          <a:ln/>
        </p:spPr>
        <p:txBody>
          <a:bodyPr wrap="square" lIns="0" tIns="0" rIns="0" bIns="0" rtlCol="0" anchor="t"/>
          <a:lstStyle/>
          <a:p>
            <a:pPr marL="0" indent="0" algn="l">
              <a:lnSpc>
                <a:spcPts val="1142"/>
              </a:lnSpc>
              <a:buNone/>
            </a:pPr>
            <a:r>
              <a:rPr lang="en-US" sz="816" dirty="0">
                <a:solidFill>
                  <a:srgbClr val="334155"/>
                </a:solidFill>
                <a:latin typeface="Carlito" pitchFamily="34" charset="0"/>
                <a:ea typeface="Carlito" pitchFamily="34" charset="-122"/>
                <a:cs typeface="Carlito" pitchFamily="34" charset="-120"/>
              </a:rPr>
              <a:t>Each tool (Copilot for code, BuildCopilot for logs, AI-Terraform for IaC) is a thin wrapper around the gateway. Wrappers add tool-specific context (repo, CI logs, cloud account).</a:t>
            </a:r>
            <a:endParaRPr lang="en-US" sz="816" dirty="0"/>
          </a:p>
        </p:txBody>
      </p:sp>
      <p:sp>
        <p:nvSpPr>
          <p:cNvPr id="15" name="Shape 13"/>
          <p:cNvSpPr/>
          <p:nvPr/>
        </p:nvSpPr>
        <p:spPr>
          <a:xfrm>
            <a:off x="607219" y="3617863"/>
            <a:ext cx="4226198" cy="0"/>
          </a:xfrm>
          <a:prstGeom prst="line">
            <a:avLst/>
          </a:prstGeom>
          <a:noFill/>
          <a:ln w="7144">
            <a:solidFill>
              <a:srgbClr val="CBD5E1"/>
            </a:solidFill>
            <a:prstDash val="dash"/>
          </a:ln>
        </p:spPr>
      </p:sp>
      <p:sp>
        <p:nvSpPr>
          <p:cNvPr id="16" name="Text 14"/>
          <p:cNvSpPr/>
          <p:nvPr/>
        </p:nvSpPr>
        <p:spPr>
          <a:xfrm>
            <a:off x="607219" y="3077170"/>
            <a:ext cx="434340" cy="465683"/>
          </a:xfrm>
          <a:prstGeom prst="rect">
            <a:avLst/>
          </a:prstGeom>
          <a:noFill/>
          <a:ln/>
        </p:spPr>
        <p:txBody>
          <a:bodyPr wrap="none" lIns="0" tIns="0" rIns="0" bIns="0" rtlCol="0" anchor="t"/>
          <a:lstStyle/>
          <a:p>
            <a:pPr marL="0" indent="0" algn="l">
              <a:lnSpc>
                <a:spcPts val="1463"/>
              </a:lnSpc>
              <a:buNone/>
            </a:pPr>
            <a:r>
              <a:rPr lang="en-US" sz="1463" b="1" dirty="0">
                <a:solidFill>
                  <a:srgbClr val="F97316"/>
                </a:solidFill>
                <a:latin typeface="Liberation Sans Narrow" pitchFamily="34" charset="0"/>
                <a:ea typeface="Liberation Sans Narrow" pitchFamily="34" charset="-122"/>
                <a:cs typeface="Liberation Sans Narrow" pitchFamily="34" charset="-120"/>
              </a:rPr>
              <a:t>03</a:t>
            </a:r>
            <a:endParaRPr lang="en-US" sz="1463" dirty="0"/>
          </a:p>
        </p:txBody>
      </p:sp>
      <p:sp>
        <p:nvSpPr>
          <p:cNvPr id="17" name="Text 15"/>
          <p:cNvSpPr/>
          <p:nvPr/>
        </p:nvSpPr>
        <p:spPr>
          <a:xfrm>
            <a:off x="978694" y="3077170"/>
            <a:ext cx="3854723" cy="148260"/>
          </a:xfrm>
          <a:prstGeom prst="rect">
            <a:avLst/>
          </a:prstGeom>
          <a:noFill/>
          <a:ln/>
        </p:spPr>
        <p:txBody>
          <a:bodyPr wrap="none" lIns="0" tIns="0" rIns="0" bIns="0" rtlCol="0" anchor="t">
            <a:normAutofit fontScale="92500"/>
          </a:bodyPr>
          <a:lstStyle/>
          <a:p>
            <a:pPr marL="0" indent="0" algn="l">
              <a:lnSpc>
                <a:spcPts val="1215"/>
              </a:lnSpc>
              <a:buNone/>
            </a:pPr>
            <a:r>
              <a:rPr lang="en-US" sz="1013" b="1" dirty="0">
                <a:solidFill>
                  <a:srgbClr val="0F172A"/>
                </a:solidFill>
                <a:latin typeface="Carlito" pitchFamily="34" charset="0"/>
                <a:ea typeface="Carlito" pitchFamily="34" charset="-122"/>
                <a:cs typeface="Carlito" pitchFamily="34" charset="-120"/>
              </a:rPr>
              <a:t>Audit + Replay</a:t>
            </a:r>
            <a:endParaRPr lang="en-US" sz="1013" dirty="0"/>
          </a:p>
        </p:txBody>
      </p:sp>
      <p:sp>
        <p:nvSpPr>
          <p:cNvPr id="18" name="Text 16"/>
          <p:cNvSpPr/>
          <p:nvPr/>
        </p:nvSpPr>
        <p:spPr>
          <a:xfrm>
            <a:off x="978694" y="3252862"/>
            <a:ext cx="3854723" cy="289992"/>
          </a:xfrm>
          <a:prstGeom prst="rect">
            <a:avLst/>
          </a:prstGeom>
          <a:noFill/>
          <a:ln/>
        </p:spPr>
        <p:txBody>
          <a:bodyPr wrap="square" lIns="0" tIns="0" rIns="0" bIns="0" rtlCol="0" anchor="t"/>
          <a:lstStyle/>
          <a:p>
            <a:pPr marL="0" indent="0" algn="l">
              <a:lnSpc>
                <a:spcPts val="1142"/>
              </a:lnSpc>
              <a:buNone/>
            </a:pPr>
            <a:r>
              <a:rPr lang="en-US" sz="816" dirty="0">
                <a:solidFill>
                  <a:srgbClr val="334155"/>
                </a:solidFill>
                <a:latin typeface="Carlito" pitchFamily="34" charset="0"/>
                <a:ea typeface="Carlito" pitchFamily="34" charset="-122"/>
                <a:cs typeface="Carlito" pitchFamily="34" charset="-120"/>
              </a:rPr>
              <a:t>Every AI prompt and response is logged. Audit team can replay any decision. Critical for regulated industries (banking, healthcare).</a:t>
            </a:r>
            <a:endParaRPr lang="en-US" sz="816" dirty="0"/>
          </a:p>
        </p:txBody>
      </p:sp>
      <p:sp>
        <p:nvSpPr>
          <p:cNvPr id="19" name="Text 17"/>
          <p:cNvSpPr/>
          <p:nvPr/>
        </p:nvSpPr>
        <p:spPr>
          <a:xfrm>
            <a:off x="607219" y="3692872"/>
            <a:ext cx="434340" cy="502938"/>
          </a:xfrm>
          <a:prstGeom prst="rect">
            <a:avLst/>
          </a:prstGeom>
          <a:noFill/>
          <a:ln/>
        </p:spPr>
        <p:txBody>
          <a:bodyPr wrap="none" lIns="0" tIns="0" rIns="0" bIns="0" rtlCol="0" anchor="t"/>
          <a:lstStyle/>
          <a:p>
            <a:pPr marL="0" indent="0" algn="l">
              <a:lnSpc>
                <a:spcPts val="1463"/>
              </a:lnSpc>
              <a:buNone/>
            </a:pPr>
            <a:r>
              <a:rPr lang="en-US" sz="1463" b="1" dirty="0">
                <a:solidFill>
                  <a:srgbClr val="F97316"/>
                </a:solidFill>
                <a:latin typeface="Liberation Sans Narrow" pitchFamily="34" charset="0"/>
                <a:ea typeface="Liberation Sans Narrow" pitchFamily="34" charset="-122"/>
                <a:cs typeface="Liberation Sans Narrow" pitchFamily="34" charset="-120"/>
              </a:rPr>
              <a:t>04</a:t>
            </a:r>
            <a:endParaRPr lang="en-US" sz="1463" dirty="0"/>
          </a:p>
        </p:txBody>
      </p:sp>
      <p:sp>
        <p:nvSpPr>
          <p:cNvPr id="20" name="Text 18"/>
          <p:cNvSpPr/>
          <p:nvPr/>
        </p:nvSpPr>
        <p:spPr>
          <a:xfrm>
            <a:off x="978694" y="3692872"/>
            <a:ext cx="3854723" cy="148260"/>
          </a:xfrm>
          <a:prstGeom prst="rect">
            <a:avLst/>
          </a:prstGeom>
          <a:noFill/>
          <a:ln/>
        </p:spPr>
        <p:txBody>
          <a:bodyPr wrap="none" lIns="0" tIns="0" rIns="0" bIns="0" rtlCol="0" anchor="t">
            <a:normAutofit fontScale="92500"/>
          </a:bodyPr>
          <a:lstStyle/>
          <a:p>
            <a:pPr marL="0" indent="0" algn="l">
              <a:lnSpc>
                <a:spcPts val="1215"/>
              </a:lnSpc>
              <a:buNone/>
            </a:pPr>
            <a:r>
              <a:rPr lang="en-US" sz="1013" b="1" dirty="0">
                <a:solidFill>
                  <a:srgbClr val="0F172A"/>
                </a:solidFill>
                <a:latin typeface="Carlito" pitchFamily="34" charset="0"/>
                <a:ea typeface="Carlito" pitchFamily="34" charset="-122"/>
                <a:cs typeface="Carlito" pitchFamily="34" charset="-120"/>
              </a:rPr>
              <a:t>Cost Controls</a:t>
            </a:r>
            <a:endParaRPr lang="en-US" sz="1013" dirty="0"/>
          </a:p>
        </p:txBody>
      </p:sp>
      <p:sp>
        <p:nvSpPr>
          <p:cNvPr id="21" name="Text 19"/>
          <p:cNvSpPr/>
          <p:nvPr/>
        </p:nvSpPr>
        <p:spPr>
          <a:xfrm>
            <a:off x="978694" y="3868564"/>
            <a:ext cx="3854723" cy="313191"/>
          </a:xfrm>
          <a:prstGeom prst="rect">
            <a:avLst/>
          </a:prstGeom>
          <a:noFill/>
          <a:ln/>
        </p:spPr>
        <p:txBody>
          <a:bodyPr wrap="square" lIns="0" tIns="0" rIns="0" bIns="0" rtlCol="0" anchor="t"/>
          <a:lstStyle/>
          <a:p>
            <a:pPr marL="0" indent="0" algn="l">
              <a:lnSpc>
                <a:spcPts val="1142"/>
              </a:lnSpc>
              <a:buNone/>
            </a:pPr>
            <a:r>
              <a:rPr lang="en-US" sz="816" dirty="0">
                <a:solidFill>
                  <a:srgbClr val="334155"/>
                </a:solidFill>
                <a:latin typeface="Carlito" pitchFamily="34" charset="0"/>
                <a:ea typeface="Carlito" pitchFamily="34" charset="-122"/>
                <a:cs typeface="Carlito" pitchFamily="34" charset="-120"/>
              </a:rPr>
              <a:t>Gateway enforces per-team token budgets. Teams that exceed budget get degraded model (cheaper, slightly worse). Prevents runaway spend.</a:t>
            </a:r>
            <a:endParaRPr lang="en-US" sz="816" dirty="0"/>
          </a:p>
        </p:txBody>
      </p:sp>
      <p:sp>
        <p:nvSpPr>
          <p:cNvPr id="22" name="Text 20"/>
          <p:cNvSpPr/>
          <p:nvPr/>
        </p:nvSpPr>
        <p:spPr>
          <a:xfrm>
            <a:off x="5254898" y="1462906"/>
            <a:ext cx="861643" cy="139654"/>
          </a:xfrm>
          <a:prstGeom prst="rect">
            <a:avLst/>
          </a:prstGeom>
          <a:noFill/>
          <a:ln/>
        </p:spPr>
        <p:txBody>
          <a:bodyPr wrap="none" lIns="0" tIns="0" rIns="0" bIns="0" rtlCol="0" anchor="t"/>
          <a:lstStyle/>
          <a:p>
            <a:pPr marL="0" indent="0" algn="l">
              <a:lnSpc>
                <a:spcPts val="866"/>
              </a:lnSpc>
              <a:buNone/>
            </a:pPr>
            <a:r>
              <a:rPr lang="en-US" sz="619" i="1" dirty="0">
                <a:solidFill>
                  <a:srgbClr val="94A3B8"/>
                </a:solidFill>
                <a:latin typeface="Courier New" pitchFamily="34" charset="0"/>
                <a:ea typeface="Courier New" pitchFamily="34" charset="-122"/>
                <a:cs typeface="Courier New" pitchFamily="34" charset="-120"/>
              </a:rPr>
              <a:t>[Developer Tools]</a:t>
            </a:r>
            <a:endParaRPr lang="en-US" sz="619" dirty="0"/>
          </a:p>
        </p:txBody>
      </p:sp>
      <p:sp>
        <p:nvSpPr>
          <p:cNvPr id="23" name="Text 21"/>
          <p:cNvSpPr/>
          <p:nvPr/>
        </p:nvSpPr>
        <p:spPr>
          <a:xfrm>
            <a:off x="5451351" y="1682800"/>
            <a:ext cx="125730" cy="139654"/>
          </a:xfrm>
          <a:prstGeom prst="rect">
            <a:avLst/>
          </a:prstGeom>
          <a:noFill/>
          <a:ln/>
        </p:spPr>
        <p:txBody>
          <a:bodyPr wrap="none" lIns="0" tIns="0" rIns="0" bIns="0" rtlCol="0" anchor="t"/>
          <a:lstStyle/>
          <a:p>
            <a:pPr marL="0" indent="0" algn="l">
              <a:lnSpc>
                <a:spcPts val="866"/>
              </a:lnSpc>
              <a:buNone/>
            </a:pPr>
            <a:r>
              <a:rPr lang="en-US" sz="800" dirty="0">
                <a:solidFill>
                  <a:srgbClr val="FBA74A"/>
                </a:solidFill>
                <a:latin typeface="Courier New" pitchFamily="34" charset="0"/>
                <a:ea typeface="Courier New" pitchFamily="34" charset="-122"/>
                <a:cs typeface="Courier New" pitchFamily="34" charset="-120"/>
              </a:rPr>
              <a:t>│</a:t>
            </a:r>
            <a:endParaRPr lang="en-US" sz="800" dirty="0"/>
          </a:p>
        </p:txBody>
      </p:sp>
      <p:sp>
        <p:nvSpPr>
          <p:cNvPr id="24" name="Text 22"/>
          <p:cNvSpPr/>
          <p:nvPr/>
        </p:nvSpPr>
        <p:spPr>
          <a:xfrm>
            <a:off x="5844257" y="1682800"/>
            <a:ext cx="125730" cy="139654"/>
          </a:xfrm>
          <a:prstGeom prst="rect">
            <a:avLst/>
          </a:prstGeom>
          <a:noFill/>
          <a:ln/>
        </p:spPr>
        <p:txBody>
          <a:bodyPr wrap="none" lIns="0" tIns="0" rIns="0" bIns="0" rtlCol="0" anchor="t"/>
          <a:lstStyle/>
          <a:p>
            <a:pPr marL="0" indent="0" algn="l">
              <a:lnSpc>
                <a:spcPts val="866"/>
              </a:lnSpc>
              <a:buNone/>
            </a:pPr>
            <a:r>
              <a:rPr lang="en-US" sz="800" dirty="0">
                <a:solidFill>
                  <a:srgbClr val="FBA74A"/>
                </a:solidFill>
                <a:latin typeface="Courier New" pitchFamily="34" charset="0"/>
                <a:ea typeface="Courier New" pitchFamily="34" charset="-122"/>
                <a:cs typeface="Courier New" pitchFamily="34" charset="-120"/>
              </a:rPr>
              <a:t>│</a:t>
            </a:r>
            <a:endParaRPr lang="en-US" sz="800" dirty="0"/>
          </a:p>
        </p:txBody>
      </p:sp>
      <p:sp>
        <p:nvSpPr>
          <p:cNvPr id="25" name="Text 23"/>
          <p:cNvSpPr/>
          <p:nvPr/>
        </p:nvSpPr>
        <p:spPr>
          <a:xfrm>
            <a:off x="6276454" y="1682800"/>
            <a:ext cx="125730" cy="139654"/>
          </a:xfrm>
          <a:prstGeom prst="rect">
            <a:avLst/>
          </a:prstGeom>
          <a:noFill/>
          <a:ln/>
        </p:spPr>
        <p:txBody>
          <a:bodyPr wrap="none" lIns="0" tIns="0" rIns="0" bIns="0" rtlCol="0" anchor="t"/>
          <a:lstStyle/>
          <a:p>
            <a:pPr marL="0" indent="0" algn="l">
              <a:lnSpc>
                <a:spcPts val="866"/>
              </a:lnSpc>
              <a:buNone/>
            </a:pPr>
            <a:r>
              <a:rPr lang="en-US" sz="800" dirty="0">
                <a:solidFill>
                  <a:srgbClr val="FBA74A"/>
                </a:solidFill>
                <a:latin typeface="Courier New" pitchFamily="34" charset="0"/>
                <a:ea typeface="Courier New" pitchFamily="34" charset="-122"/>
                <a:cs typeface="Courier New" pitchFamily="34" charset="-120"/>
              </a:rPr>
              <a:t>│</a:t>
            </a:r>
            <a:endParaRPr lang="en-US" sz="800" dirty="0"/>
          </a:p>
        </p:txBody>
      </p:sp>
      <p:sp>
        <p:nvSpPr>
          <p:cNvPr id="26" name="Text 24"/>
          <p:cNvSpPr/>
          <p:nvPr/>
        </p:nvSpPr>
        <p:spPr>
          <a:xfrm>
            <a:off x="6865813" y="1682800"/>
            <a:ext cx="125730" cy="91440"/>
          </a:xfrm>
          <a:prstGeom prst="rect">
            <a:avLst/>
          </a:prstGeom>
          <a:noFill/>
          <a:ln/>
        </p:spPr>
        <p:txBody>
          <a:bodyPr wrap="none" lIns="0" tIns="0" rIns="0" bIns="0" rtlCol="0" anchor="t">
            <a:normAutofit fontScale="25000" lnSpcReduction="20000"/>
          </a:bodyPr>
          <a:lstStyle/>
          <a:p>
            <a:pPr marL="0" indent="0" algn="l">
              <a:lnSpc>
                <a:spcPts val="866"/>
              </a:lnSpc>
              <a:buNone/>
            </a:pPr>
            <a:r>
              <a:rPr lang="en-US" sz="800" dirty="0">
                <a:solidFill>
                  <a:srgbClr val="FBA74A"/>
                </a:solidFill>
                <a:latin typeface="Courier New" pitchFamily="34" charset="0"/>
                <a:ea typeface="Courier New" pitchFamily="34" charset="-122"/>
                <a:cs typeface="Courier New" pitchFamily="34" charset="-120"/>
              </a:rPr>
              <a:t>│</a:t>
            </a:r>
            <a:endParaRPr lang="en-US" sz="800" dirty="0"/>
          </a:p>
        </p:txBody>
      </p:sp>
      <p:sp>
        <p:nvSpPr>
          <p:cNvPr id="27" name="Text 25"/>
          <p:cNvSpPr/>
          <p:nvPr/>
        </p:nvSpPr>
        <p:spPr>
          <a:xfrm>
            <a:off x="5451351" y="1792746"/>
            <a:ext cx="2885504" cy="91440"/>
          </a:xfrm>
          <a:prstGeom prst="rect">
            <a:avLst/>
          </a:prstGeom>
          <a:noFill/>
          <a:ln/>
        </p:spPr>
        <p:txBody>
          <a:bodyPr wrap="none" lIns="0" tIns="0" rIns="0" bIns="0" rtlCol="0" anchor="t">
            <a:normAutofit fontScale="25000" lnSpcReduction="20000"/>
          </a:bodyPr>
          <a:lstStyle/>
          <a:p>
            <a:pPr marL="0" indent="0" algn="l">
              <a:lnSpc>
                <a:spcPts val="866"/>
              </a:lnSpc>
              <a:buNone/>
            </a:pPr>
            <a:r>
              <a:rPr lang="en-US" sz="800" dirty="0">
                <a:solidFill>
                  <a:srgbClr val="FBA74A"/>
                </a:solidFill>
                <a:latin typeface="Courier New" pitchFamily="34" charset="0"/>
                <a:ea typeface="Courier New" pitchFamily="34" charset="-122"/>
                <a:cs typeface="Courier New" pitchFamily="34" charset="-120"/>
              </a:rPr>
              <a:t>└────────┴────┬────┴─────────────┘</a:t>
            </a:r>
            <a:endParaRPr lang="en-US" sz="800" dirty="0"/>
          </a:p>
        </p:txBody>
      </p:sp>
      <p:sp>
        <p:nvSpPr>
          <p:cNvPr id="28" name="Text 26"/>
          <p:cNvSpPr/>
          <p:nvPr/>
        </p:nvSpPr>
        <p:spPr>
          <a:xfrm>
            <a:off x="6001420" y="1902693"/>
            <a:ext cx="91440" cy="91440"/>
          </a:xfrm>
          <a:prstGeom prst="rect">
            <a:avLst/>
          </a:prstGeom>
          <a:noFill/>
          <a:ln/>
        </p:spPr>
        <p:txBody>
          <a:bodyPr wrap="none" lIns="0" tIns="0" rIns="0" bIns="0" rtlCol="0" anchor="ctr">
            <a:normAutofit fontScale="92500" lnSpcReduction="20000"/>
          </a:bodyPr>
          <a:lstStyle/>
          <a:p>
            <a:pPr marL="0" indent="0" algn="ctr">
              <a:buNone/>
            </a:pPr>
            <a:r>
              <a:rPr lang="en-US" sz="800" dirty="0">
                <a:solidFill>
                  <a:srgbClr val="FBA74A"/>
                </a:solidFill>
                <a:latin typeface="Segoe UI Symbol" pitchFamily="34" charset="0"/>
                <a:ea typeface="Segoe UI Symbol" pitchFamily="34" charset="-122"/>
                <a:cs typeface="Segoe UI Symbol" pitchFamily="34" charset="-120"/>
              </a:rPr>
              <a:t>▼</a:t>
            </a:r>
            <a:endParaRPr lang="en-US" sz="800" dirty="0"/>
          </a:p>
        </p:txBody>
      </p:sp>
      <p:sp>
        <p:nvSpPr>
          <p:cNvPr id="29" name="Text 27"/>
          <p:cNvSpPr/>
          <p:nvPr/>
        </p:nvSpPr>
        <p:spPr>
          <a:xfrm>
            <a:off x="5643136" y="2012640"/>
            <a:ext cx="598695" cy="91440"/>
          </a:xfrm>
          <a:prstGeom prst="rect">
            <a:avLst/>
          </a:prstGeom>
          <a:noFill/>
          <a:ln/>
        </p:spPr>
        <p:txBody>
          <a:bodyPr wrap="none" lIns="0" tIns="0" rIns="0" bIns="0" rtlCol="0" anchor="t">
            <a:normAutofit fontScale="25000" lnSpcReduction="20000"/>
          </a:bodyPr>
          <a:lstStyle/>
          <a:p>
            <a:pPr marL="0" indent="0" algn="l">
              <a:lnSpc>
                <a:spcPts val="866"/>
              </a:lnSpc>
              <a:buNone/>
            </a:pPr>
            <a:r>
              <a:rPr lang="en-US" sz="619" dirty="0">
                <a:solidFill>
                  <a:srgbClr val="FBBF24"/>
                </a:solidFill>
                <a:latin typeface="Courier New" pitchFamily="34" charset="0"/>
                <a:ea typeface="Courier New" pitchFamily="34" charset="-122"/>
                <a:cs typeface="Courier New" pitchFamily="34" charset="-120"/>
              </a:rPr>
              <a:t>[AI Gateway]</a:t>
            </a:r>
            <a:endParaRPr lang="en-US" sz="619" dirty="0"/>
          </a:p>
        </p:txBody>
      </p:sp>
      <p:sp>
        <p:nvSpPr>
          <p:cNvPr id="30" name="Text 28"/>
          <p:cNvSpPr/>
          <p:nvPr/>
        </p:nvSpPr>
        <p:spPr>
          <a:xfrm>
            <a:off x="5647804" y="2122587"/>
            <a:ext cx="933152" cy="91440"/>
          </a:xfrm>
          <a:prstGeom prst="rect">
            <a:avLst/>
          </a:prstGeom>
          <a:noFill/>
          <a:ln/>
        </p:spPr>
        <p:txBody>
          <a:bodyPr wrap="none" lIns="0" tIns="0" rIns="0" bIns="0" rtlCol="0" anchor="t">
            <a:normAutofit fontScale="25000" lnSpcReduction="20000"/>
          </a:bodyPr>
          <a:lstStyle/>
          <a:p>
            <a:pPr marL="0" indent="0" algn="l">
              <a:lnSpc>
                <a:spcPts val="866"/>
              </a:lnSpc>
              <a:buNone/>
            </a:pPr>
            <a:r>
              <a:rPr lang="en-US" sz="619" dirty="0">
                <a:solidFill>
                  <a:srgbClr val="86EFAC"/>
                </a:solidFill>
                <a:latin typeface="Courier New" pitchFamily="34" charset="0"/>
                <a:ea typeface="Courier New" pitchFamily="34" charset="-122"/>
                <a:cs typeface="Courier New" pitchFamily="34" charset="-120"/>
              </a:rPr>
              <a:t>- Auth + Rate-limit</a:t>
            </a:r>
            <a:endParaRPr lang="en-US" sz="619" dirty="0"/>
          </a:p>
        </p:txBody>
      </p:sp>
      <p:sp>
        <p:nvSpPr>
          <p:cNvPr id="31" name="Text 29"/>
          <p:cNvSpPr/>
          <p:nvPr/>
        </p:nvSpPr>
        <p:spPr>
          <a:xfrm>
            <a:off x="5647804" y="2232533"/>
            <a:ext cx="884039" cy="91440"/>
          </a:xfrm>
          <a:prstGeom prst="rect">
            <a:avLst/>
          </a:prstGeom>
          <a:noFill/>
          <a:ln/>
        </p:spPr>
        <p:txBody>
          <a:bodyPr wrap="none" lIns="0" tIns="0" rIns="0" bIns="0" rtlCol="0" anchor="t">
            <a:normAutofit fontScale="25000" lnSpcReduction="20000"/>
          </a:bodyPr>
          <a:lstStyle/>
          <a:p>
            <a:pPr marL="0" indent="0" algn="l">
              <a:lnSpc>
                <a:spcPts val="866"/>
              </a:lnSpc>
              <a:buNone/>
            </a:pPr>
            <a:r>
              <a:rPr lang="en-US" sz="619" dirty="0">
                <a:solidFill>
                  <a:srgbClr val="86EFAC"/>
                </a:solidFill>
                <a:latin typeface="Courier New" pitchFamily="34" charset="0"/>
                <a:ea typeface="Courier New" pitchFamily="34" charset="-122"/>
                <a:cs typeface="Courier New" pitchFamily="34" charset="-120"/>
              </a:rPr>
              <a:t>- Prompt templates</a:t>
            </a:r>
            <a:endParaRPr lang="en-US" sz="619" dirty="0"/>
          </a:p>
        </p:txBody>
      </p:sp>
      <p:sp>
        <p:nvSpPr>
          <p:cNvPr id="32" name="Text 30"/>
          <p:cNvSpPr/>
          <p:nvPr/>
        </p:nvSpPr>
        <p:spPr>
          <a:xfrm>
            <a:off x="5647804" y="2342480"/>
            <a:ext cx="736699" cy="91440"/>
          </a:xfrm>
          <a:prstGeom prst="rect">
            <a:avLst/>
          </a:prstGeom>
          <a:noFill/>
          <a:ln/>
        </p:spPr>
        <p:txBody>
          <a:bodyPr wrap="none" lIns="0" tIns="0" rIns="0" bIns="0" rtlCol="0" anchor="t">
            <a:normAutofit fontScale="25000" lnSpcReduction="20000"/>
          </a:bodyPr>
          <a:lstStyle/>
          <a:p>
            <a:pPr marL="0" indent="0" algn="l">
              <a:lnSpc>
                <a:spcPts val="866"/>
              </a:lnSpc>
              <a:buNone/>
            </a:pPr>
            <a:r>
              <a:rPr lang="en-US" sz="619" dirty="0">
                <a:solidFill>
                  <a:srgbClr val="86EFAC"/>
                </a:solidFill>
                <a:latin typeface="Courier New" pitchFamily="34" charset="0"/>
                <a:ea typeface="Courier New" pitchFamily="34" charset="-122"/>
                <a:cs typeface="Courier New" pitchFamily="34" charset="-120"/>
              </a:rPr>
              <a:t>- Model routing</a:t>
            </a:r>
            <a:endParaRPr lang="en-US" sz="619" dirty="0"/>
          </a:p>
        </p:txBody>
      </p:sp>
      <p:sp>
        <p:nvSpPr>
          <p:cNvPr id="33" name="Text 31"/>
          <p:cNvSpPr/>
          <p:nvPr/>
        </p:nvSpPr>
        <p:spPr>
          <a:xfrm>
            <a:off x="5647804" y="2452427"/>
            <a:ext cx="540246" cy="91440"/>
          </a:xfrm>
          <a:prstGeom prst="rect">
            <a:avLst/>
          </a:prstGeom>
          <a:noFill/>
          <a:ln/>
        </p:spPr>
        <p:txBody>
          <a:bodyPr wrap="none" lIns="0" tIns="0" rIns="0" bIns="0" rtlCol="0" anchor="t">
            <a:normAutofit fontScale="25000" lnSpcReduction="20000"/>
          </a:bodyPr>
          <a:lstStyle/>
          <a:p>
            <a:pPr marL="0" indent="0" algn="l">
              <a:lnSpc>
                <a:spcPts val="866"/>
              </a:lnSpc>
              <a:buNone/>
            </a:pPr>
            <a:r>
              <a:rPr lang="en-US" sz="619" dirty="0">
                <a:solidFill>
                  <a:srgbClr val="86EFAC"/>
                </a:solidFill>
                <a:latin typeface="Courier New" pitchFamily="34" charset="0"/>
                <a:ea typeface="Courier New" pitchFamily="34" charset="-122"/>
                <a:cs typeface="Courier New" pitchFamily="34" charset="-120"/>
              </a:rPr>
              <a:t>- Audit log</a:t>
            </a:r>
            <a:endParaRPr lang="en-US" sz="619" dirty="0"/>
          </a:p>
        </p:txBody>
      </p:sp>
      <p:sp>
        <p:nvSpPr>
          <p:cNvPr id="34" name="Text 32"/>
          <p:cNvSpPr/>
          <p:nvPr/>
        </p:nvSpPr>
        <p:spPr>
          <a:xfrm>
            <a:off x="5647804" y="2562374"/>
            <a:ext cx="736699" cy="91440"/>
          </a:xfrm>
          <a:prstGeom prst="rect">
            <a:avLst/>
          </a:prstGeom>
          <a:noFill/>
          <a:ln/>
        </p:spPr>
        <p:txBody>
          <a:bodyPr wrap="none" lIns="0" tIns="0" rIns="0" bIns="0" rtlCol="0" anchor="t">
            <a:normAutofit fontScale="25000" lnSpcReduction="20000"/>
          </a:bodyPr>
          <a:lstStyle/>
          <a:p>
            <a:pPr marL="0" indent="0" algn="l">
              <a:lnSpc>
                <a:spcPts val="866"/>
              </a:lnSpc>
              <a:buNone/>
            </a:pPr>
            <a:r>
              <a:rPr lang="en-US" sz="619" dirty="0">
                <a:solidFill>
                  <a:srgbClr val="86EFAC"/>
                </a:solidFill>
                <a:latin typeface="Courier New" pitchFamily="34" charset="0"/>
                <a:ea typeface="Courier New" pitchFamily="34" charset="-122"/>
                <a:cs typeface="Courier New" pitchFamily="34" charset="-120"/>
              </a:rPr>
              <a:t>- Cost controls</a:t>
            </a:r>
            <a:endParaRPr lang="en-US" sz="619" dirty="0"/>
          </a:p>
        </p:txBody>
      </p:sp>
      <p:sp>
        <p:nvSpPr>
          <p:cNvPr id="35" name="Text 33"/>
          <p:cNvSpPr/>
          <p:nvPr/>
        </p:nvSpPr>
        <p:spPr>
          <a:xfrm>
            <a:off x="6001420" y="2672321"/>
            <a:ext cx="125730" cy="91440"/>
          </a:xfrm>
          <a:prstGeom prst="rect">
            <a:avLst/>
          </a:prstGeom>
          <a:noFill/>
          <a:ln/>
        </p:spPr>
        <p:txBody>
          <a:bodyPr wrap="none" lIns="0" tIns="0" rIns="0" bIns="0" rtlCol="0" anchor="t">
            <a:normAutofit fontScale="25000" lnSpcReduction="20000"/>
          </a:bodyPr>
          <a:lstStyle/>
          <a:p>
            <a:pPr marL="0" indent="0" algn="l">
              <a:lnSpc>
                <a:spcPts val="866"/>
              </a:lnSpc>
              <a:buNone/>
            </a:pPr>
            <a:r>
              <a:rPr lang="en-US" sz="800" dirty="0">
                <a:solidFill>
                  <a:srgbClr val="FBA74A"/>
                </a:solidFill>
                <a:latin typeface="Courier New" pitchFamily="34" charset="0"/>
                <a:ea typeface="Courier New" pitchFamily="34" charset="-122"/>
                <a:cs typeface="Courier New" pitchFamily="34" charset="-120"/>
              </a:rPr>
              <a:t>│</a:t>
            </a:r>
            <a:endParaRPr lang="en-US" sz="800" dirty="0"/>
          </a:p>
        </p:txBody>
      </p:sp>
      <p:sp>
        <p:nvSpPr>
          <p:cNvPr id="36" name="Text 34"/>
          <p:cNvSpPr/>
          <p:nvPr/>
        </p:nvSpPr>
        <p:spPr>
          <a:xfrm>
            <a:off x="6001420" y="2782267"/>
            <a:ext cx="91440" cy="91440"/>
          </a:xfrm>
          <a:prstGeom prst="rect">
            <a:avLst/>
          </a:prstGeom>
          <a:noFill/>
          <a:ln/>
        </p:spPr>
        <p:txBody>
          <a:bodyPr wrap="none" lIns="0" tIns="0" rIns="0" bIns="0" rtlCol="0" anchor="ctr">
            <a:normAutofit fontScale="92500" lnSpcReduction="20000"/>
          </a:bodyPr>
          <a:lstStyle/>
          <a:p>
            <a:pPr marL="0" indent="0" algn="ctr">
              <a:buNone/>
            </a:pPr>
            <a:r>
              <a:rPr lang="en-US" sz="800" dirty="0">
                <a:solidFill>
                  <a:srgbClr val="FBA74A"/>
                </a:solidFill>
                <a:latin typeface="Segoe UI Symbol" pitchFamily="34" charset="0"/>
                <a:ea typeface="Segoe UI Symbol" pitchFamily="34" charset="-122"/>
                <a:cs typeface="Segoe UI Symbol" pitchFamily="34" charset="-120"/>
              </a:rPr>
              <a:t>▼</a:t>
            </a:r>
            <a:endParaRPr lang="en-US" sz="800" dirty="0"/>
          </a:p>
        </p:txBody>
      </p:sp>
      <p:sp>
        <p:nvSpPr>
          <p:cNvPr id="37" name="Text 35"/>
          <p:cNvSpPr/>
          <p:nvPr/>
        </p:nvSpPr>
        <p:spPr>
          <a:xfrm>
            <a:off x="5569223" y="2892214"/>
            <a:ext cx="736699" cy="91440"/>
          </a:xfrm>
          <a:prstGeom prst="rect">
            <a:avLst/>
          </a:prstGeom>
          <a:noFill/>
          <a:ln/>
        </p:spPr>
        <p:txBody>
          <a:bodyPr wrap="none" lIns="0" tIns="0" rIns="0" bIns="0" rtlCol="0" anchor="t">
            <a:normAutofit fontScale="25000" lnSpcReduction="20000"/>
          </a:bodyPr>
          <a:lstStyle/>
          <a:p>
            <a:pPr marL="0" indent="0" algn="l">
              <a:lnSpc>
                <a:spcPts val="866"/>
              </a:lnSpc>
              <a:buNone/>
            </a:pPr>
            <a:r>
              <a:rPr lang="en-US" sz="619" dirty="0">
                <a:solidFill>
                  <a:srgbClr val="FBBF24"/>
                </a:solidFill>
                <a:latin typeface="Courier New" pitchFamily="34" charset="0"/>
                <a:ea typeface="Courier New" pitchFamily="34" charset="-122"/>
                <a:cs typeface="Courier New" pitchFamily="34" charset="-120"/>
              </a:rPr>
              <a:t>[LLM Providers]</a:t>
            </a:r>
            <a:endParaRPr lang="en-US" sz="619" dirty="0"/>
          </a:p>
        </p:txBody>
      </p:sp>
      <p:sp>
        <p:nvSpPr>
          <p:cNvPr id="38" name="Text 36"/>
          <p:cNvSpPr/>
          <p:nvPr/>
        </p:nvSpPr>
        <p:spPr>
          <a:xfrm>
            <a:off x="5569223" y="3002161"/>
            <a:ext cx="982266" cy="139654"/>
          </a:xfrm>
          <a:prstGeom prst="rect">
            <a:avLst/>
          </a:prstGeom>
          <a:noFill/>
          <a:ln/>
        </p:spPr>
        <p:txBody>
          <a:bodyPr wrap="none" lIns="0" tIns="0" rIns="0" bIns="0" rtlCol="0" anchor="t"/>
          <a:lstStyle/>
          <a:p>
            <a:pPr marL="0" indent="0" algn="l">
              <a:lnSpc>
                <a:spcPts val="866"/>
              </a:lnSpc>
              <a:buNone/>
            </a:pPr>
            <a:r>
              <a:rPr lang="en-US" sz="619" dirty="0">
                <a:solidFill>
                  <a:srgbClr val="86EFAC"/>
                </a:solidFill>
                <a:latin typeface="Liberation Sans Narrow" pitchFamily="34" charset="0"/>
                <a:ea typeface="Liberation Sans Narrow" pitchFamily="34" charset="-122"/>
                <a:cs typeface="Liberation Sans Narrow" pitchFamily="34" charset="-120"/>
              </a:rPr>
              <a:t>GPT-4  Claude  Llama</a:t>
            </a:r>
            <a:endParaRPr lang="en-US" sz="619" dirty="0"/>
          </a:p>
        </p:txBody>
      </p:sp>
      <p:sp>
        <p:nvSpPr>
          <p:cNvPr id="39" name="Text 37"/>
          <p:cNvSpPr/>
          <p:nvPr/>
        </p:nvSpPr>
        <p:spPr>
          <a:xfrm>
            <a:off x="5126310" y="4526347"/>
            <a:ext cx="3703253" cy="172749"/>
          </a:xfrm>
          <a:prstGeom prst="rect">
            <a:avLst/>
          </a:prstGeom>
          <a:noFill/>
          <a:ln/>
        </p:spPr>
        <p:txBody>
          <a:bodyPr wrap="square" lIns="0" tIns="0" rIns="0" bIns="0" rtlCol="0" anchor="t"/>
          <a:lstStyle/>
          <a:p>
            <a:pPr marL="0" indent="0" algn="l">
              <a:lnSpc>
                <a:spcPts val="1260"/>
              </a:lnSpc>
              <a:buNone/>
            </a:pPr>
            <a:r>
              <a:rPr lang="en-US" sz="900" b="1" dirty="0">
                <a:solidFill>
                  <a:srgbClr val="C2410C"/>
                </a:solidFill>
                <a:latin typeface="Segoe UI Symbol" pitchFamily="34" charset="0"/>
                <a:ea typeface="Segoe UI Symbol" pitchFamily="34" charset="-122"/>
                <a:cs typeface="Segoe UI Symbol" pitchFamily="34" charset="-120"/>
              </a:rPr>
              <a:t>✦</a:t>
            </a:r>
            <a:r>
              <a:rPr lang="en-US" sz="900" b="1" dirty="0">
                <a:solidFill>
                  <a:srgbClr val="C2410C"/>
                </a:solidFill>
                <a:latin typeface="Carlito" pitchFamily="34" charset="0"/>
                <a:ea typeface="Carlito" pitchFamily="34" charset="-122"/>
                <a:cs typeface="Carlito" pitchFamily="34" charset="-120"/>
              </a:rPr>
              <a:t> No tool talks to an LLM directly. All traffic flows through the gateway.</a:t>
            </a:r>
            <a:endParaRPr lang="en-US" sz="9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3380110" cy="373346"/>
          </a:xfrm>
          <a:prstGeom prst="rect">
            <a:avLst/>
          </a:prstGeom>
          <a:noFill/>
          <a:ln/>
        </p:spPr>
        <p:txBody>
          <a:bodyPr wrap="square" lIns="0" tIns="0" rIns="0" bIns="0" rtlCol="0" anchor="t"/>
          <a:lstStyle/>
          <a:p>
            <a:pPr marL="0" indent="0" algn="l">
              <a:lnSpc>
                <a:spcPts val="2723"/>
              </a:lnSpc>
              <a:buNone/>
            </a:pPr>
            <a:r>
              <a:rPr lang="en-US" sz="2475" b="1" kern="0" spc="-28" dirty="0">
                <a:solidFill>
                  <a:srgbClr val="0F172A"/>
                </a:solidFill>
                <a:latin typeface="Carlito" pitchFamily="34" charset="0"/>
                <a:ea typeface="Carlito" pitchFamily="34" charset="-122"/>
                <a:cs typeface="Carlito" pitchFamily="34" charset="-120"/>
              </a:rPr>
              <a:t>Pitfalls &amp; Best Practices</a:t>
            </a:r>
            <a:endParaRPr lang="en-US" sz="2475" dirty="0"/>
          </a:p>
        </p:txBody>
      </p:sp>
      <p:sp>
        <p:nvSpPr>
          <p:cNvPr id="3" name="Text 1"/>
          <p:cNvSpPr/>
          <p:nvPr/>
        </p:nvSpPr>
        <p:spPr>
          <a:xfrm>
            <a:off x="457200" y="888616"/>
            <a:ext cx="571500" cy="42863"/>
          </a:xfrm>
          <a:prstGeom prst="roundRect">
            <a:avLst>
              <a:gd name="adj" fmla="val 66666"/>
            </a:avLst>
          </a:prstGeom>
          <a:solidFill>
            <a:srgbClr val="F97316"/>
          </a:solidFill>
          <a:ln/>
        </p:spPr>
        <p:txBody>
          <a:bodyPr wrap="square" rtlCol="0" anchor="ctr"/>
          <a:lstStyle/>
          <a:p>
            <a:pPr marL="0" indent="0">
              <a:buNone/>
            </a:pPr>
            <a:endParaRPr lang="en-US" dirty="0"/>
          </a:p>
        </p:txBody>
      </p:sp>
      <p:sp>
        <p:nvSpPr>
          <p:cNvPr id="4" name="Text 2"/>
          <p:cNvSpPr/>
          <p:nvPr/>
        </p:nvSpPr>
        <p:spPr>
          <a:xfrm>
            <a:off x="7254389" y="528672"/>
            <a:ext cx="1455271" cy="331333"/>
          </a:xfrm>
          <a:prstGeom prst="roundRect">
            <a:avLst>
              <a:gd name="adj" fmla="val 2871877"/>
            </a:avLst>
          </a:prstGeom>
          <a:solidFill>
            <a:srgbClr val="FED7AA"/>
          </a:solidFill>
          <a:ln/>
        </p:spPr>
        <p:txBody>
          <a:bodyPr wrap="square" rtlCol="0" anchor="ctr"/>
          <a:lstStyle/>
          <a:p>
            <a:pPr marL="0" indent="0">
              <a:buNone/>
            </a:pPr>
            <a:endParaRPr lang="en-US" dirty="0"/>
          </a:p>
        </p:txBody>
      </p:sp>
      <p:sp>
        <p:nvSpPr>
          <p:cNvPr id="5" name="Text 3"/>
          <p:cNvSpPr/>
          <p:nvPr/>
        </p:nvSpPr>
        <p:spPr>
          <a:xfrm>
            <a:off x="7218278" y="541474"/>
            <a:ext cx="1527494" cy="305730"/>
          </a:xfrm>
          <a:prstGeom prst="rect">
            <a:avLst/>
          </a:prstGeom>
          <a:noFill/>
          <a:ln/>
        </p:spPr>
        <p:txBody>
          <a:bodyPr wrap="none" lIns="0" tIns="0" rIns="0" bIns="0" rtlCol="0" anchor="ctr"/>
          <a:lstStyle/>
          <a:p>
            <a:pPr marL="0" indent="0" algn="ctr">
              <a:lnSpc>
                <a:spcPts val="1733"/>
              </a:lnSpc>
              <a:buNone/>
            </a:pPr>
            <a:r>
              <a:rPr lang="en-US" sz="1238" b="1" kern="0" spc="28" dirty="0">
                <a:solidFill>
                  <a:srgbClr val="C2410C"/>
                </a:solidFill>
                <a:latin typeface="Liberation Sans Narrow" pitchFamily="34" charset="0"/>
                <a:ea typeface="Liberation Sans Narrow" pitchFamily="34" charset="-122"/>
                <a:cs typeface="Liberation Sans Narrow" pitchFamily="34" charset="-120"/>
              </a:rPr>
              <a:t>SECTION D · 4.3</a:t>
            </a:r>
            <a:endParaRPr lang="en-US" sz="1238" dirty="0"/>
          </a:p>
        </p:txBody>
      </p:sp>
      <p:sp>
        <p:nvSpPr>
          <p:cNvPr id="6" name="Text 4"/>
          <p:cNvSpPr/>
          <p:nvPr/>
        </p:nvSpPr>
        <p:spPr>
          <a:xfrm>
            <a:off x="457200" y="1017203"/>
            <a:ext cx="4057650" cy="411435"/>
          </a:xfrm>
          <a:prstGeom prst="roundRect">
            <a:avLst>
              <a:gd name="adj" fmla="val 27781"/>
            </a:avLst>
          </a:prstGeom>
          <a:solidFill>
            <a:srgbClr val="DC2626"/>
          </a:solidFill>
          <a:ln/>
        </p:spPr>
        <p:txBody>
          <a:bodyPr wrap="square" rtlCol="0" anchor="ctr"/>
          <a:lstStyle/>
          <a:p>
            <a:pPr marL="0" indent="0">
              <a:buNone/>
            </a:pPr>
            <a:endParaRPr lang="en-US" dirty="0"/>
          </a:p>
        </p:txBody>
      </p:sp>
      <p:sp>
        <p:nvSpPr>
          <p:cNvPr id="7" name="Text 5"/>
          <p:cNvSpPr/>
          <p:nvPr/>
        </p:nvSpPr>
        <p:spPr>
          <a:xfrm>
            <a:off x="857250" y="1110072"/>
            <a:ext cx="1666838" cy="231458"/>
          </a:xfrm>
          <a:prstGeom prst="rect">
            <a:avLst/>
          </a:prstGeom>
          <a:noFill/>
          <a:ln/>
        </p:spPr>
        <p:txBody>
          <a:bodyPr wrap="none" lIns="0" tIns="0" rIns="0" bIns="0" rtlCol="0" anchor="t"/>
          <a:lstStyle/>
          <a:p>
            <a:pPr marL="0" indent="0" algn="l">
              <a:lnSpc>
                <a:spcPts val="1890"/>
              </a:lnSpc>
              <a:buNone/>
            </a:pPr>
            <a:r>
              <a:rPr lang="en-US" sz="1350" b="1" kern="0" spc="56" dirty="0">
                <a:solidFill>
                  <a:srgbClr val="FFFFFF"/>
                </a:solidFill>
                <a:latin typeface="Carlito" pitchFamily="34" charset="0"/>
                <a:ea typeface="Carlito" pitchFamily="34" charset="-122"/>
                <a:cs typeface="Carlito" pitchFamily="34" charset="-120"/>
              </a:rPr>
              <a:t>PITFALLS — DO NOT</a:t>
            </a:r>
            <a:endParaRPr lang="en-US" sz="1350" dirty="0"/>
          </a:p>
        </p:txBody>
      </p:sp>
      <p:sp>
        <p:nvSpPr>
          <p:cNvPr id="8" name="Text 6"/>
          <p:cNvSpPr/>
          <p:nvPr/>
        </p:nvSpPr>
        <p:spPr>
          <a:xfrm>
            <a:off x="600075" y="1130052"/>
            <a:ext cx="185738" cy="185738"/>
          </a:xfrm>
          <a:prstGeom prst="rect">
            <a:avLst/>
          </a:prstGeom>
          <a:noFill/>
          <a:ln/>
        </p:spPr>
        <p:txBody>
          <a:bodyPr wrap="none" lIns="0" tIns="0" rIns="0" bIns="0" rtlCol="0" anchor="ctr"/>
          <a:lstStyle/>
          <a:p>
            <a:pPr marL="0" indent="0" algn="ctr">
              <a:buNone/>
            </a:pPr>
            <a:r>
              <a:rPr lang="en-US" sz="1828" dirty="0">
                <a:solidFill>
                  <a:srgbClr val="FFFFFF"/>
                </a:solidFill>
                <a:latin typeface="Segoe UI Symbol" pitchFamily="34" charset="0"/>
                <a:ea typeface="Segoe UI Symbol" pitchFamily="34" charset="-122"/>
                <a:cs typeface="Segoe UI Symbol" pitchFamily="34" charset="-120"/>
              </a:rPr>
              <a:t>⊘</a:t>
            </a:r>
            <a:endParaRPr lang="en-US" sz="1828" dirty="0"/>
          </a:p>
        </p:txBody>
      </p:sp>
      <p:sp>
        <p:nvSpPr>
          <p:cNvPr id="9" name="Text 7"/>
          <p:cNvSpPr/>
          <p:nvPr/>
        </p:nvSpPr>
        <p:spPr>
          <a:xfrm>
            <a:off x="457200" y="1428638"/>
            <a:ext cx="4057650" cy="2781933"/>
          </a:xfrm>
          <a:prstGeom prst="rect">
            <a:avLst/>
          </a:prstGeom>
          <a:solidFill>
            <a:srgbClr val="F8FAFC"/>
          </a:solidFill>
          <a:ln/>
        </p:spPr>
        <p:txBody>
          <a:bodyPr wrap="square" rtlCol="0" anchor="ctr"/>
          <a:lstStyle/>
          <a:p>
            <a:pPr marL="0" indent="0">
              <a:buNone/>
            </a:pPr>
            <a:endParaRPr lang="en-US" dirty="0"/>
          </a:p>
        </p:txBody>
      </p:sp>
      <p:sp>
        <p:nvSpPr>
          <p:cNvPr id="10" name="Shape 8"/>
          <p:cNvSpPr/>
          <p:nvPr/>
        </p:nvSpPr>
        <p:spPr>
          <a:xfrm>
            <a:off x="4511278" y="1428638"/>
            <a:ext cx="0" cy="2781933"/>
          </a:xfrm>
          <a:prstGeom prst="line">
            <a:avLst/>
          </a:prstGeom>
          <a:noFill/>
          <a:ln w="7144">
            <a:solidFill>
              <a:srgbClr val="CBD5E1"/>
            </a:solidFill>
            <a:prstDash val="solid"/>
          </a:ln>
        </p:spPr>
      </p:sp>
      <p:sp>
        <p:nvSpPr>
          <p:cNvPr id="11" name="Shape 9"/>
          <p:cNvSpPr/>
          <p:nvPr/>
        </p:nvSpPr>
        <p:spPr>
          <a:xfrm>
            <a:off x="457200" y="4206999"/>
            <a:ext cx="4057650" cy="0"/>
          </a:xfrm>
          <a:prstGeom prst="line">
            <a:avLst/>
          </a:prstGeom>
          <a:noFill/>
          <a:ln w="7144">
            <a:solidFill>
              <a:srgbClr val="CBD5E1"/>
            </a:solidFill>
            <a:prstDash val="solid"/>
          </a:ln>
        </p:spPr>
      </p:sp>
      <p:sp>
        <p:nvSpPr>
          <p:cNvPr id="12" name="Shape 10"/>
          <p:cNvSpPr/>
          <p:nvPr/>
        </p:nvSpPr>
        <p:spPr>
          <a:xfrm>
            <a:off x="460772" y="1428638"/>
            <a:ext cx="0" cy="2781933"/>
          </a:xfrm>
          <a:prstGeom prst="line">
            <a:avLst/>
          </a:prstGeom>
          <a:noFill/>
          <a:ln w="7144">
            <a:solidFill>
              <a:srgbClr val="CBD5E1"/>
            </a:solidFill>
            <a:prstDash val="solid"/>
          </a:ln>
        </p:spPr>
      </p:sp>
      <p:sp>
        <p:nvSpPr>
          <p:cNvPr id="13" name="Shape 11"/>
          <p:cNvSpPr/>
          <p:nvPr/>
        </p:nvSpPr>
        <p:spPr>
          <a:xfrm>
            <a:off x="592931" y="1777231"/>
            <a:ext cx="3786188" cy="0"/>
          </a:xfrm>
          <a:prstGeom prst="line">
            <a:avLst/>
          </a:prstGeom>
          <a:noFill/>
          <a:ln w="7144">
            <a:solidFill>
              <a:srgbClr val="CBD5E1"/>
            </a:solidFill>
            <a:prstDash val="dash"/>
          </a:ln>
        </p:spPr>
      </p:sp>
      <p:sp>
        <p:nvSpPr>
          <p:cNvPr id="14" name="Text 12"/>
          <p:cNvSpPr/>
          <p:nvPr/>
        </p:nvSpPr>
        <p:spPr>
          <a:xfrm>
            <a:off x="592931" y="1578657"/>
            <a:ext cx="251460" cy="144996"/>
          </a:xfrm>
          <a:prstGeom prst="rect">
            <a:avLst/>
          </a:prstGeom>
          <a:noFill/>
          <a:ln/>
        </p:spPr>
        <p:txBody>
          <a:bodyPr wrap="none" lIns="0" tIns="0" rIns="0" bIns="0" rtlCol="0" anchor="t"/>
          <a:lstStyle/>
          <a:p>
            <a:pPr marL="0" indent="0" algn="l">
              <a:lnSpc>
                <a:spcPts val="1142"/>
              </a:lnSpc>
              <a:buNone/>
            </a:pPr>
            <a:r>
              <a:rPr lang="en-US" sz="816" b="1" dirty="0">
                <a:solidFill>
                  <a:srgbClr val="DC2626"/>
                </a:solidFill>
                <a:latin typeface="Liberation Sans Narrow" pitchFamily="34" charset="0"/>
                <a:ea typeface="Liberation Sans Narrow" pitchFamily="34" charset="-122"/>
                <a:cs typeface="Liberation Sans Narrow" pitchFamily="34" charset="-120"/>
              </a:rPr>
              <a:t>1.</a:t>
            </a:r>
            <a:endParaRPr lang="en-US" sz="816" dirty="0"/>
          </a:p>
        </p:txBody>
      </p:sp>
      <p:sp>
        <p:nvSpPr>
          <p:cNvPr id="15" name="Text 13"/>
          <p:cNvSpPr/>
          <p:nvPr/>
        </p:nvSpPr>
        <p:spPr>
          <a:xfrm>
            <a:off x="821531" y="1578657"/>
            <a:ext cx="3557588" cy="144996"/>
          </a:xfrm>
          <a:prstGeom prst="rect">
            <a:avLst/>
          </a:prstGeom>
          <a:noFill/>
          <a:ln/>
        </p:spPr>
        <p:txBody>
          <a:bodyPr wrap="square" lIns="0" tIns="0" rIns="0" bIns="0" rtlCol="0" anchor="t"/>
          <a:lstStyle/>
          <a:p>
            <a:pPr marL="0" indent="0" algn="l">
              <a:lnSpc>
                <a:spcPts val="1142"/>
              </a:lnSpc>
              <a:buNone/>
            </a:pPr>
            <a:r>
              <a:rPr lang="en-US" sz="816" dirty="0">
                <a:solidFill>
                  <a:srgbClr val="0F172A"/>
                </a:solidFill>
                <a:latin typeface="Carlito" pitchFamily="34" charset="0"/>
                <a:ea typeface="Carlito" pitchFamily="34" charset="-122"/>
                <a:cs typeface="Carlito" pitchFamily="34" charset="-120"/>
              </a:rPr>
              <a:t>Apply AI-generated IaC directly to production without lint + review.</a:t>
            </a:r>
            <a:endParaRPr lang="en-US" sz="816" dirty="0"/>
          </a:p>
        </p:txBody>
      </p:sp>
      <p:sp>
        <p:nvSpPr>
          <p:cNvPr id="16" name="Shape 14"/>
          <p:cNvSpPr/>
          <p:nvPr/>
        </p:nvSpPr>
        <p:spPr>
          <a:xfrm>
            <a:off x="592931" y="2174379"/>
            <a:ext cx="3786188" cy="0"/>
          </a:xfrm>
          <a:prstGeom prst="line">
            <a:avLst/>
          </a:prstGeom>
          <a:noFill/>
          <a:ln w="7144">
            <a:solidFill>
              <a:srgbClr val="CBD5E1"/>
            </a:solidFill>
            <a:prstDash val="dash"/>
          </a:ln>
        </p:spPr>
      </p:sp>
      <p:sp>
        <p:nvSpPr>
          <p:cNvPr id="17" name="Text 15"/>
          <p:cNvSpPr/>
          <p:nvPr/>
        </p:nvSpPr>
        <p:spPr>
          <a:xfrm>
            <a:off x="592931" y="1830809"/>
            <a:ext cx="251460" cy="289992"/>
          </a:xfrm>
          <a:prstGeom prst="rect">
            <a:avLst/>
          </a:prstGeom>
          <a:noFill/>
          <a:ln/>
        </p:spPr>
        <p:txBody>
          <a:bodyPr wrap="none" lIns="0" tIns="0" rIns="0" bIns="0" rtlCol="0" anchor="t"/>
          <a:lstStyle/>
          <a:p>
            <a:pPr marL="0" indent="0" algn="l">
              <a:lnSpc>
                <a:spcPts val="1142"/>
              </a:lnSpc>
              <a:buNone/>
            </a:pPr>
            <a:r>
              <a:rPr lang="en-US" sz="816" b="1" dirty="0">
                <a:solidFill>
                  <a:srgbClr val="DC2626"/>
                </a:solidFill>
                <a:latin typeface="Liberation Sans Narrow" pitchFamily="34" charset="0"/>
                <a:ea typeface="Liberation Sans Narrow" pitchFamily="34" charset="-122"/>
                <a:cs typeface="Liberation Sans Narrow" pitchFamily="34" charset="-120"/>
              </a:rPr>
              <a:t>2.</a:t>
            </a:r>
            <a:endParaRPr lang="en-US" sz="816" dirty="0"/>
          </a:p>
        </p:txBody>
      </p:sp>
      <p:sp>
        <p:nvSpPr>
          <p:cNvPr id="18" name="Text 16"/>
          <p:cNvSpPr/>
          <p:nvPr/>
        </p:nvSpPr>
        <p:spPr>
          <a:xfrm>
            <a:off x="821531" y="1830809"/>
            <a:ext cx="3557588" cy="289992"/>
          </a:xfrm>
          <a:prstGeom prst="rect">
            <a:avLst/>
          </a:prstGeom>
          <a:noFill/>
          <a:ln/>
        </p:spPr>
        <p:txBody>
          <a:bodyPr wrap="square" lIns="0" tIns="0" rIns="0" bIns="0" rtlCol="0" anchor="t"/>
          <a:lstStyle/>
          <a:p>
            <a:pPr marL="0" indent="0" algn="l">
              <a:lnSpc>
                <a:spcPts val="1142"/>
              </a:lnSpc>
              <a:buNone/>
            </a:pPr>
            <a:r>
              <a:rPr lang="en-US" sz="816" dirty="0">
                <a:solidFill>
                  <a:srgbClr val="0F172A"/>
                </a:solidFill>
                <a:latin typeface="Carlito" pitchFamily="34" charset="0"/>
                <a:ea typeface="Carlito" pitchFamily="34" charset="-122"/>
                <a:cs typeface="Carlito" pitchFamily="34" charset="-120"/>
              </a:rPr>
              <a:t>Use command/shell modules in Ansible when a real module exists (breaks idempotency).</a:t>
            </a:r>
            <a:endParaRPr lang="en-US" sz="816" dirty="0"/>
          </a:p>
        </p:txBody>
      </p:sp>
      <p:sp>
        <p:nvSpPr>
          <p:cNvPr id="19" name="Shape 17"/>
          <p:cNvSpPr/>
          <p:nvPr/>
        </p:nvSpPr>
        <p:spPr>
          <a:xfrm>
            <a:off x="592931" y="2426531"/>
            <a:ext cx="3786188" cy="0"/>
          </a:xfrm>
          <a:prstGeom prst="line">
            <a:avLst/>
          </a:prstGeom>
          <a:noFill/>
          <a:ln w="7144">
            <a:solidFill>
              <a:srgbClr val="CBD5E1"/>
            </a:solidFill>
            <a:prstDash val="dash"/>
          </a:ln>
        </p:spPr>
      </p:sp>
      <p:sp>
        <p:nvSpPr>
          <p:cNvPr id="20" name="Text 18"/>
          <p:cNvSpPr/>
          <p:nvPr/>
        </p:nvSpPr>
        <p:spPr>
          <a:xfrm>
            <a:off x="592931" y="2227957"/>
            <a:ext cx="251460" cy="144996"/>
          </a:xfrm>
          <a:prstGeom prst="rect">
            <a:avLst/>
          </a:prstGeom>
          <a:noFill/>
          <a:ln/>
        </p:spPr>
        <p:txBody>
          <a:bodyPr wrap="none" lIns="0" tIns="0" rIns="0" bIns="0" rtlCol="0" anchor="t"/>
          <a:lstStyle/>
          <a:p>
            <a:pPr marL="0" indent="0" algn="l">
              <a:lnSpc>
                <a:spcPts val="1142"/>
              </a:lnSpc>
              <a:buNone/>
            </a:pPr>
            <a:r>
              <a:rPr lang="en-US" sz="816" b="1" dirty="0">
                <a:solidFill>
                  <a:srgbClr val="DC2626"/>
                </a:solidFill>
                <a:latin typeface="Liberation Sans Narrow" pitchFamily="34" charset="0"/>
                <a:ea typeface="Liberation Sans Narrow" pitchFamily="34" charset="-122"/>
                <a:cs typeface="Liberation Sans Narrow" pitchFamily="34" charset="-120"/>
              </a:rPr>
              <a:t>3.</a:t>
            </a:r>
            <a:endParaRPr lang="en-US" sz="816" dirty="0"/>
          </a:p>
        </p:txBody>
      </p:sp>
      <p:sp>
        <p:nvSpPr>
          <p:cNvPr id="21" name="Text 19"/>
          <p:cNvSpPr/>
          <p:nvPr/>
        </p:nvSpPr>
        <p:spPr>
          <a:xfrm>
            <a:off x="821531" y="2227957"/>
            <a:ext cx="3557588" cy="144996"/>
          </a:xfrm>
          <a:prstGeom prst="rect">
            <a:avLst/>
          </a:prstGeom>
          <a:noFill/>
          <a:ln/>
        </p:spPr>
        <p:txBody>
          <a:bodyPr wrap="square" lIns="0" tIns="0" rIns="0" bIns="0" rtlCol="0" anchor="t"/>
          <a:lstStyle/>
          <a:p>
            <a:pPr marL="0" indent="0" algn="l">
              <a:lnSpc>
                <a:spcPts val="1142"/>
              </a:lnSpc>
              <a:buNone/>
            </a:pPr>
            <a:r>
              <a:rPr lang="en-US" sz="816" dirty="0">
                <a:solidFill>
                  <a:srgbClr val="0F172A"/>
                </a:solidFill>
                <a:latin typeface="Carlito" pitchFamily="34" charset="0"/>
                <a:ea typeface="Carlito" pitchFamily="34" charset="-122"/>
                <a:cs typeface="Carlito" pitchFamily="34" charset="-120"/>
              </a:rPr>
              <a:t>Trust AI-generated tests without verifying coverage and false positives.</a:t>
            </a:r>
            <a:endParaRPr lang="en-US" sz="816" dirty="0"/>
          </a:p>
        </p:txBody>
      </p:sp>
      <p:sp>
        <p:nvSpPr>
          <p:cNvPr id="22" name="Shape 20"/>
          <p:cNvSpPr/>
          <p:nvPr/>
        </p:nvSpPr>
        <p:spPr>
          <a:xfrm>
            <a:off x="592931" y="2678683"/>
            <a:ext cx="3786188" cy="0"/>
          </a:xfrm>
          <a:prstGeom prst="line">
            <a:avLst/>
          </a:prstGeom>
          <a:noFill/>
          <a:ln w="7144">
            <a:solidFill>
              <a:srgbClr val="CBD5E1"/>
            </a:solidFill>
            <a:prstDash val="dash"/>
          </a:ln>
        </p:spPr>
      </p:sp>
      <p:sp>
        <p:nvSpPr>
          <p:cNvPr id="23" name="Text 21"/>
          <p:cNvSpPr/>
          <p:nvPr/>
        </p:nvSpPr>
        <p:spPr>
          <a:xfrm>
            <a:off x="592931" y="2480109"/>
            <a:ext cx="251460" cy="144996"/>
          </a:xfrm>
          <a:prstGeom prst="rect">
            <a:avLst/>
          </a:prstGeom>
          <a:noFill/>
          <a:ln/>
        </p:spPr>
        <p:txBody>
          <a:bodyPr wrap="none" lIns="0" tIns="0" rIns="0" bIns="0" rtlCol="0" anchor="t"/>
          <a:lstStyle/>
          <a:p>
            <a:pPr marL="0" indent="0" algn="l">
              <a:lnSpc>
                <a:spcPts val="1142"/>
              </a:lnSpc>
              <a:buNone/>
            </a:pPr>
            <a:r>
              <a:rPr lang="en-US" sz="816" b="1" dirty="0">
                <a:solidFill>
                  <a:srgbClr val="DC2626"/>
                </a:solidFill>
                <a:latin typeface="Liberation Sans Narrow" pitchFamily="34" charset="0"/>
                <a:ea typeface="Liberation Sans Narrow" pitchFamily="34" charset="-122"/>
                <a:cs typeface="Liberation Sans Narrow" pitchFamily="34" charset="-120"/>
              </a:rPr>
              <a:t>4.</a:t>
            </a:r>
            <a:endParaRPr lang="en-US" sz="816" dirty="0"/>
          </a:p>
        </p:txBody>
      </p:sp>
      <p:sp>
        <p:nvSpPr>
          <p:cNvPr id="24" name="Text 22"/>
          <p:cNvSpPr/>
          <p:nvPr/>
        </p:nvSpPr>
        <p:spPr>
          <a:xfrm>
            <a:off x="821531" y="2480109"/>
            <a:ext cx="3557588" cy="144996"/>
          </a:xfrm>
          <a:prstGeom prst="rect">
            <a:avLst/>
          </a:prstGeom>
          <a:noFill/>
          <a:ln/>
        </p:spPr>
        <p:txBody>
          <a:bodyPr wrap="square" lIns="0" tIns="0" rIns="0" bIns="0" rtlCol="0" anchor="t"/>
          <a:lstStyle/>
          <a:p>
            <a:pPr marL="0" indent="0" algn="l">
              <a:lnSpc>
                <a:spcPts val="1142"/>
              </a:lnSpc>
              <a:buNone/>
            </a:pPr>
            <a:r>
              <a:rPr lang="en-US" sz="816" dirty="0">
                <a:solidFill>
                  <a:srgbClr val="0F172A"/>
                </a:solidFill>
                <a:latin typeface="Carlito" pitchFamily="34" charset="0"/>
                <a:ea typeface="Carlito" pitchFamily="34" charset="-122"/>
                <a:cs typeface="Carlito" pitchFamily="34" charset="-120"/>
              </a:rPr>
              <a:t>Let AI tools talk directly to LLM providers (no audit, no cost control).</a:t>
            </a:r>
            <a:endParaRPr lang="en-US" sz="816" dirty="0"/>
          </a:p>
        </p:txBody>
      </p:sp>
      <p:sp>
        <p:nvSpPr>
          <p:cNvPr id="25" name="Shape 23"/>
          <p:cNvSpPr/>
          <p:nvPr/>
        </p:nvSpPr>
        <p:spPr>
          <a:xfrm>
            <a:off x="592931" y="2930835"/>
            <a:ext cx="3786188" cy="0"/>
          </a:xfrm>
          <a:prstGeom prst="line">
            <a:avLst/>
          </a:prstGeom>
          <a:noFill/>
          <a:ln w="7144">
            <a:solidFill>
              <a:srgbClr val="CBD5E1"/>
            </a:solidFill>
            <a:prstDash val="dash"/>
          </a:ln>
        </p:spPr>
      </p:sp>
      <p:sp>
        <p:nvSpPr>
          <p:cNvPr id="26" name="Text 24"/>
          <p:cNvSpPr/>
          <p:nvPr/>
        </p:nvSpPr>
        <p:spPr>
          <a:xfrm>
            <a:off x="592931" y="2732261"/>
            <a:ext cx="251460" cy="144996"/>
          </a:xfrm>
          <a:prstGeom prst="rect">
            <a:avLst/>
          </a:prstGeom>
          <a:noFill/>
          <a:ln/>
        </p:spPr>
        <p:txBody>
          <a:bodyPr wrap="none" lIns="0" tIns="0" rIns="0" bIns="0" rtlCol="0" anchor="t"/>
          <a:lstStyle/>
          <a:p>
            <a:pPr marL="0" indent="0" algn="l">
              <a:lnSpc>
                <a:spcPts val="1142"/>
              </a:lnSpc>
              <a:buNone/>
            </a:pPr>
            <a:r>
              <a:rPr lang="en-US" sz="816" b="1" dirty="0">
                <a:solidFill>
                  <a:srgbClr val="DC2626"/>
                </a:solidFill>
                <a:latin typeface="Liberation Sans Narrow" pitchFamily="34" charset="0"/>
                <a:ea typeface="Liberation Sans Narrow" pitchFamily="34" charset="-122"/>
                <a:cs typeface="Liberation Sans Narrow" pitchFamily="34" charset="-120"/>
              </a:rPr>
              <a:t>5.</a:t>
            </a:r>
            <a:endParaRPr lang="en-US" sz="816" dirty="0"/>
          </a:p>
        </p:txBody>
      </p:sp>
      <p:sp>
        <p:nvSpPr>
          <p:cNvPr id="27" name="Text 25"/>
          <p:cNvSpPr/>
          <p:nvPr/>
        </p:nvSpPr>
        <p:spPr>
          <a:xfrm>
            <a:off x="821531" y="2732261"/>
            <a:ext cx="3557588" cy="144996"/>
          </a:xfrm>
          <a:prstGeom prst="rect">
            <a:avLst/>
          </a:prstGeom>
          <a:noFill/>
          <a:ln/>
        </p:spPr>
        <p:txBody>
          <a:bodyPr wrap="square" lIns="0" tIns="0" rIns="0" bIns="0" rtlCol="0" anchor="t"/>
          <a:lstStyle/>
          <a:p>
            <a:pPr marL="0" indent="0" algn="l">
              <a:lnSpc>
                <a:spcPts val="1142"/>
              </a:lnSpc>
              <a:buNone/>
            </a:pPr>
            <a:r>
              <a:rPr lang="en-US" sz="816" dirty="0">
                <a:solidFill>
                  <a:srgbClr val="0F172A"/>
                </a:solidFill>
                <a:latin typeface="Carlito" pitchFamily="34" charset="0"/>
                <a:ea typeface="Carlito" pitchFamily="34" charset="-122"/>
                <a:cs typeface="Carlito" pitchFamily="34" charset="-120"/>
              </a:rPr>
              <a:t>Skip terraform plan or ansible-playbook --check before applying.</a:t>
            </a:r>
            <a:endParaRPr lang="en-US" sz="816" dirty="0"/>
          </a:p>
        </p:txBody>
      </p:sp>
      <p:sp>
        <p:nvSpPr>
          <p:cNvPr id="28" name="Shape 26"/>
          <p:cNvSpPr/>
          <p:nvPr/>
        </p:nvSpPr>
        <p:spPr>
          <a:xfrm>
            <a:off x="592931" y="3182987"/>
            <a:ext cx="3786188" cy="0"/>
          </a:xfrm>
          <a:prstGeom prst="line">
            <a:avLst/>
          </a:prstGeom>
          <a:noFill/>
          <a:ln w="7144">
            <a:solidFill>
              <a:srgbClr val="CBD5E1"/>
            </a:solidFill>
            <a:prstDash val="dash"/>
          </a:ln>
        </p:spPr>
      </p:sp>
      <p:sp>
        <p:nvSpPr>
          <p:cNvPr id="29" name="Text 27"/>
          <p:cNvSpPr/>
          <p:nvPr/>
        </p:nvSpPr>
        <p:spPr>
          <a:xfrm>
            <a:off x="592931" y="2984413"/>
            <a:ext cx="251460" cy="144996"/>
          </a:xfrm>
          <a:prstGeom prst="rect">
            <a:avLst/>
          </a:prstGeom>
          <a:noFill/>
          <a:ln/>
        </p:spPr>
        <p:txBody>
          <a:bodyPr wrap="none" lIns="0" tIns="0" rIns="0" bIns="0" rtlCol="0" anchor="t"/>
          <a:lstStyle/>
          <a:p>
            <a:pPr marL="0" indent="0" algn="l">
              <a:lnSpc>
                <a:spcPts val="1142"/>
              </a:lnSpc>
              <a:buNone/>
            </a:pPr>
            <a:r>
              <a:rPr lang="en-US" sz="816" b="1" dirty="0">
                <a:solidFill>
                  <a:srgbClr val="DC2626"/>
                </a:solidFill>
                <a:latin typeface="Liberation Sans Narrow" pitchFamily="34" charset="0"/>
                <a:ea typeface="Liberation Sans Narrow" pitchFamily="34" charset="-122"/>
                <a:cs typeface="Liberation Sans Narrow" pitchFamily="34" charset="-120"/>
              </a:rPr>
              <a:t>6.</a:t>
            </a:r>
            <a:endParaRPr lang="en-US" sz="816" dirty="0"/>
          </a:p>
        </p:txBody>
      </p:sp>
      <p:sp>
        <p:nvSpPr>
          <p:cNvPr id="30" name="Text 28"/>
          <p:cNvSpPr/>
          <p:nvPr/>
        </p:nvSpPr>
        <p:spPr>
          <a:xfrm>
            <a:off x="821531" y="2984413"/>
            <a:ext cx="3557588" cy="144996"/>
          </a:xfrm>
          <a:prstGeom prst="rect">
            <a:avLst/>
          </a:prstGeom>
          <a:noFill/>
          <a:ln/>
        </p:spPr>
        <p:txBody>
          <a:bodyPr wrap="square" lIns="0" tIns="0" rIns="0" bIns="0" rtlCol="0" anchor="t"/>
          <a:lstStyle/>
          <a:p>
            <a:pPr marL="0" indent="0" algn="l">
              <a:lnSpc>
                <a:spcPts val="1142"/>
              </a:lnSpc>
              <a:buNone/>
            </a:pPr>
            <a:r>
              <a:rPr lang="en-US" sz="816" dirty="0">
                <a:solidFill>
                  <a:srgbClr val="0F172A"/>
                </a:solidFill>
                <a:latin typeface="Carlito" pitchFamily="34" charset="0"/>
                <a:ea typeface="Carlito" pitchFamily="34" charset="-122"/>
                <a:cs typeface="Carlito" pitchFamily="34" charset="-120"/>
              </a:rPr>
              <a:t>Assume AI knows your team's security policies — it does not.</a:t>
            </a:r>
            <a:endParaRPr lang="en-US" sz="816" dirty="0"/>
          </a:p>
        </p:txBody>
      </p:sp>
      <p:sp>
        <p:nvSpPr>
          <p:cNvPr id="31" name="Text 29"/>
          <p:cNvSpPr/>
          <p:nvPr/>
        </p:nvSpPr>
        <p:spPr>
          <a:xfrm>
            <a:off x="592931" y="3236565"/>
            <a:ext cx="251460" cy="156595"/>
          </a:xfrm>
          <a:prstGeom prst="rect">
            <a:avLst/>
          </a:prstGeom>
          <a:noFill/>
          <a:ln/>
        </p:spPr>
        <p:txBody>
          <a:bodyPr wrap="none" lIns="0" tIns="0" rIns="0" bIns="0" rtlCol="0" anchor="t"/>
          <a:lstStyle/>
          <a:p>
            <a:pPr marL="0" indent="0" algn="l">
              <a:lnSpc>
                <a:spcPts val="1142"/>
              </a:lnSpc>
              <a:buNone/>
            </a:pPr>
            <a:r>
              <a:rPr lang="en-US" sz="816" b="1" dirty="0">
                <a:solidFill>
                  <a:srgbClr val="DC2626"/>
                </a:solidFill>
                <a:latin typeface="Liberation Sans Narrow" pitchFamily="34" charset="0"/>
                <a:ea typeface="Liberation Sans Narrow" pitchFamily="34" charset="-122"/>
                <a:cs typeface="Liberation Sans Narrow" pitchFamily="34" charset="-120"/>
              </a:rPr>
              <a:t>7.</a:t>
            </a:r>
            <a:endParaRPr lang="en-US" sz="816" dirty="0"/>
          </a:p>
        </p:txBody>
      </p:sp>
      <p:sp>
        <p:nvSpPr>
          <p:cNvPr id="32" name="Text 30"/>
          <p:cNvSpPr/>
          <p:nvPr/>
        </p:nvSpPr>
        <p:spPr>
          <a:xfrm>
            <a:off x="821531" y="3236565"/>
            <a:ext cx="3557588" cy="156595"/>
          </a:xfrm>
          <a:prstGeom prst="rect">
            <a:avLst/>
          </a:prstGeom>
          <a:noFill/>
          <a:ln/>
        </p:spPr>
        <p:txBody>
          <a:bodyPr wrap="square" lIns="0" tIns="0" rIns="0" bIns="0" rtlCol="0" anchor="t"/>
          <a:lstStyle/>
          <a:p>
            <a:pPr marL="0" indent="0" algn="l">
              <a:lnSpc>
                <a:spcPts val="1142"/>
              </a:lnSpc>
              <a:buNone/>
            </a:pPr>
            <a:r>
              <a:rPr lang="en-US" sz="816" dirty="0">
                <a:solidFill>
                  <a:srgbClr val="0F172A"/>
                </a:solidFill>
                <a:latin typeface="Carlito" pitchFamily="34" charset="0"/>
                <a:ea typeface="Carlito" pitchFamily="34" charset="-122"/>
                <a:cs typeface="Carlito" pitchFamily="34" charset="-120"/>
              </a:rPr>
              <a:t>Treat AI output as a final answer — it is a draft for human review.</a:t>
            </a:r>
            <a:endParaRPr lang="en-US" sz="816" dirty="0"/>
          </a:p>
        </p:txBody>
      </p:sp>
      <p:sp>
        <p:nvSpPr>
          <p:cNvPr id="33" name="Text 31"/>
          <p:cNvSpPr/>
          <p:nvPr/>
        </p:nvSpPr>
        <p:spPr>
          <a:xfrm>
            <a:off x="4629150" y="1017203"/>
            <a:ext cx="4057650" cy="411435"/>
          </a:xfrm>
          <a:prstGeom prst="roundRect">
            <a:avLst>
              <a:gd name="adj" fmla="val 27781"/>
            </a:avLst>
          </a:prstGeom>
          <a:solidFill>
            <a:srgbClr val="16A34A"/>
          </a:solidFill>
          <a:ln/>
        </p:spPr>
        <p:txBody>
          <a:bodyPr wrap="square" rtlCol="0" anchor="ctr"/>
          <a:lstStyle/>
          <a:p>
            <a:pPr marL="0" indent="0">
              <a:buNone/>
            </a:pPr>
            <a:endParaRPr lang="en-US" dirty="0"/>
          </a:p>
        </p:txBody>
      </p:sp>
      <p:sp>
        <p:nvSpPr>
          <p:cNvPr id="34" name="Text 32"/>
          <p:cNvSpPr/>
          <p:nvPr/>
        </p:nvSpPr>
        <p:spPr>
          <a:xfrm>
            <a:off x="5029200" y="1110072"/>
            <a:ext cx="1924124" cy="231458"/>
          </a:xfrm>
          <a:prstGeom prst="rect">
            <a:avLst/>
          </a:prstGeom>
          <a:noFill/>
          <a:ln/>
        </p:spPr>
        <p:txBody>
          <a:bodyPr wrap="none" lIns="0" tIns="0" rIns="0" bIns="0" rtlCol="0" anchor="t"/>
          <a:lstStyle/>
          <a:p>
            <a:pPr marL="0" indent="0" algn="l">
              <a:lnSpc>
                <a:spcPts val="1890"/>
              </a:lnSpc>
              <a:buNone/>
            </a:pPr>
            <a:r>
              <a:rPr lang="en-US" sz="1350" b="1" kern="0" spc="56" dirty="0">
                <a:solidFill>
                  <a:srgbClr val="FFFFFF"/>
                </a:solidFill>
                <a:latin typeface="Carlito" pitchFamily="34" charset="0"/>
                <a:ea typeface="Carlito" pitchFamily="34" charset="-122"/>
                <a:cs typeface="Carlito" pitchFamily="34" charset="-120"/>
              </a:rPr>
              <a:t>BEST PRACTICES — DO</a:t>
            </a:r>
            <a:endParaRPr lang="en-US" sz="1350" dirty="0"/>
          </a:p>
        </p:txBody>
      </p:sp>
      <p:sp>
        <p:nvSpPr>
          <p:cNvPr id="35" name="Text 33"/>
          <p:cNvSpPr/>
          <p:nvPr/>
        </p:nvSpPr>
        <p:spPr>
          <a:xfrm>
            <a:off x="4772025" y="1130052"/>
            <a:ext cx="185738" cy="185738"/>
          </a:xfrm>
          <a:prstGeom prst="rect">
            <a:avLst/>
          </a:prstGeom>
          <a:noFill/>
          <a:ln/>
        </p:spPr>
        <p:txBody>
          <a:bodyPr wrap="none" lIns="0" tIns="0" rIns="0" bIns="0" rtlCol="0" anchor="ctr"/>
          <a:lstStyle/>
          <a:p>
            <a:pPr marL="0" indent="0" algn="ctr">
              <a:buNone/>
            </a:pPr>
            <a:r>
              <a:rPr lang="en-US" sz="1828" dirty="0">
                <a:solidFill>
                  <a:srgbClr val="FFFFFF"/>
                </a:solidFill>
                <a:latin typeface="Segoe UI Symbol" pitchFamily="34" charset="0"/>
                <a:ea typeface="Segoe UI Symbol" pitchFamily="34" charset="-122"/>
                <a:cs typeface="Segoe UI Symbol" pitchFamily="34" charset="-120"/>
              </a:rPr>
              <a:t>✓</a:t>
            </a:r>
            <a:endParaRPr lang="en-US" sz="1828" dirty="0"/>
          </a:p>
        </p:txBody>
      </p:sp>
      <p:sp>
        <p:nvSpPr>
          <p:cNvPr id="36" name="Text 34"/>
          <p:cNvSpPr/>
          <p:nvPr/>
        </p:nvSpPr>
        <p:spPr>
          <a:xfrm>
            <a:off x="4629150" y="1428638"/>
            <a:ext cx="4057650" cy="2781933"/>
          </a:xfrm>
          <a:prstGeom prst="rect">
            <a:avLst/>
          </a:prstGeom>
          <a:solidFill>
            <a:srgbClr val="F8FAFC"/>
          </a:solidFill>
          <a:ln/>
        </p:spPr>
        <p:txBody>
          <a:bodyPr wrap="square" rtlCol="0" anchor="ctr"/>
          <a:lstStyle/>
          <a:p>
            <a:pPr marL="0" indent="0">
              <a:buNone/>
            </a:pPr>
            <a:endParaRPr lang="en-US" dirty="0"/>
          </a:p>
        </p:txBody>
      </p:sp>
      <p:sp>
        <p:nvSpPr>
          <p:cNvPr id="37" name="Shape 35"/>
          <p:cNvSpPr/>
          <p:nvPr/>
        </p:nvSpPr>
        <p:spPr>
          <a:xfrm>
            <a:off x="8683228" y="1428638"/>
            <a:ext cx="0" cy="2781933"/>
          </a:xfrm>
          <a:prstGeom prst="line">
            <a:avLst/>
          </a:prstGeom>
          <a:noFill/>
          <a:ln w="7144">
            <a:solidFill>
              <a:srgbClr val="CBD5E1"/>
            </a:solidFill>
            <a:prstDash val="solid"/>
          </a:ln>
        </p:spPr>
      </p:sp>
      <p:sp>
        <p:nvSpPr>
          <p:cNvPr id="38" name="Shape 36"/>
          <p:cNvSpPr/>
          <p:nvPr/>
        </p:nvSpPr>
        <p:spPr>
          <a:xfrm>
            <a:off x="4629150" y="4206999"/>
            <a:ext cx="4057650" cy="0"/>
          </a:xfrm>
          <a:prstGeom prst="line">
            <a:avLst/>
          </a:prstGeom>
          <a:noFill/>
          <a:ln w="7144">
            <a:solidFill>
              <a:srgbClr val="CBD5E1"/>
            </a:solidFill>
            <a:prstDash val="solid"/>
          </a:ln>
        </p:spPr>
      </p:sp>
      <p:sp>
        <p:nvSpPr>
          <p:cNvPr id="39" name="Shape 37"/>
          <p:cNvSpPr/>
          <p:nvPr/>
        </p:nvSpPr>
        <p:spPr>
          <a:xfrm>
            <a:off x="4632722" y="1428638"/>
            <a:ext cx="0" cy="2781933"/>
          </a:xfrm>
          <a:prstGeom prst="line">
            <a:avLst/>
          </a:prstGeom>
          <a:noFill/>
          <a:ln w="7144">
            <a:solidFill>
              <a:srgbClr val="CBD5E1"/>
            </a:solidFill>
            <a:prstDash val="solid"/>
          </a:ln>
        </p:spPr>
      </p:sp>
      <p:sp>
        <p:nvSpPr>
          <p:cNvPr id="40" name="Shape 38"/>
          <p:cNvSpPr/>
          <p:nvPr/>
        </p:nvSpPr>
        <p:spPr>
          <a:xfrm>
            <a:off x="4764881" y="1777231"/>
            <a:ext cx="3786188" cy="0"/>
          </a:xfrm>
          <a:prstGeom prst="line">
            <a:avLst/>
          </a:prstGeom>
          <a:noFill/>
          <a:ln w="7144">
            <a:solidFill>
              <a:srgbClr val="CBD5E1"/>
            </a:solidFill>
            <a:prstDash val="dash"/>
          </a:ln>
        </p:spPr>
      </p:sp>
      <p:sp>
        <p:nvSpPr>
          <p:cNvPr id="41" name="Text 39"/>
          <p:cNvSpPr/>
          <p:nvPr/>
        </p:nvSpPr>
        <p:spPr>
          <a:xfrm>
            <a:off x="4764881" y="1578657"/>
            <a:ext cx="251460" cy="144996"/>
          </a:xfrm>
          <a:prstGeom prst="rect">
            <a:avLst/>
          </a:prstGeom>
          <a:noFill/>
          <a:ln/>
        </p:spPr>
        <p:txBody>
          <a:bodyPr wrap="none" lIns="0" tIns="0" rIns="0" bIns="0" rtlCol="0" anchor="t"/>
          <a:lstStyle/>
          <a:p>
            <a:pPr marL="0" indent="0" algn="l">
              <a:lnSpc>
                <a:spcPts val="1142"/>
              </a:lnSpc>
              <a:buNone/>
            </a:pPr>
            <a:r>
              <a:rPr lang="en-US" sz="816" b="1" dirty="0">
                <a:solidFill>
                  <a:srgbClr val="16A34A"/>
                </a:solidFill>
                <a:latin typeface="Liberation Sans Narrow" pitchFamily="34" charset="0"/>
                <a:ea typeface="Liberation Sans Narrow" pitchFamily="34" charset="-122"/>
                <a:cs typeface="Liberation Sans Narrow" pitchFamily="34" charset="-120"/>
              </a:rPr>
              <a:t>1.</a:t>
            </a:r>
            <a:endParaRPr lang="en-US" sz="816" dirty="0"/>
          </a:p>
        </p:txBody>
      </p:sp>
      <p:sp>
        <p:nvSpPr>
          <p:cNvPr id="42" name="Text 40"/>
          <p:cNvSpPr/>
          <p:nvPr/>
        </p:nvSpPr>
        <p:spPr>
          <a:xfrm>
            <a:off x="4993481" y="1578657"/>
            <a:ext cx="3557588" cy="144996"/>
          </a:xfrm>
          <a:prstGeom prst="rect">
            <a:avLst/>
          </a:prstGeom>
          <a:noFill/>
          <a:ln/>
        </p:spPr>
        <p:txBody>
          <a:bodyPr wrap="square" lIns="0" tIns="0" rIns="0" bIns="0" rtlCol="0" anchor="t"/>
          <a:lstStyle/>
          <a:p>
            <a:pPr marL="0" indent="0" algn="l">
              <a:lnSpc>
                <a:spcPts val="1142"/>
              </a:lnSpc>
              <a:buNone/>
            </a:pPr>
            <a:r>
              <a:rPr lang="en-US" sz="816" dirty="0">
                <a:solidFill>
                  <a:srgbClr val="0F172A"/>
                </a:solidFill>
                <a:latin typeface="Carlito" pitchFamily="34" charset="0"/>
                <a:ea typeface="Carlito" pitchFamily="34" charset="-122"/>
                <a:cs typeface="Carlito" pitchFamily="34" charset="-120"/>
              </a:rPr>
              <a:t>Run tflint + Checkov + ansible-lint on EVERY commit, in CI.</a:t>
            </a:r>
            <a:endParaRPr lang="en-US" sz="816" dirty="0"/>
          </a:p>
        </p:txBody>
      </p:sp>
      <p:sp>
        <p:nvSpPr>
          <p:cNvPr id="43" name="Shape 41"/>
          <p:cNvSpPr/>
          <p:nvPr/>
        </p:nvSpPr>
        <p:spPr>
          <a:xfrm>
            <a:off x="4764881" y="2174379"/>
            <a:ext cx="3786188" cy="0"/>
          </a:xfrm>
          <a:prstGeom prst="line">
            <a:avLst/>
          </a:prstGeom>
          <a:noFill/>
          <a:ln w="7144">
            <a:solidFill>
              <a:srgbClr val="CBD5E1"/>
            </a:solidFill>
            <a:prstDash val="dash"/>
          </a:ln>
        </p:spPr>
      </p:sp>
      <p:sp>
        <p:nvSpPr>
          <p:cNvPr id="44" name="Text 42"/>
          <p:cNvSpPr/>
          <p:nvPr/>
        </p:nvSpPr>
        <p:spPr>
          <a:xfrm>
            <a:off x="4764881" y="1830809"/>
            <a:ext cx="251460" cy="289992"/>
          </a:xfrm>
          <a:prstGeom prst="rect">
            <a:avLst/>
          </a:prstGeom>
          <a:noFill/>
          <a:ln/>
        </p:spPr>
        <p:txBody>
          <a:bodyPr wrap="none" lIns="0" tIns="0" rIns="0" bIns="0" rtlCol="0" anchor="t"/>
          <a:lstStyle/>
          <a:p>
            <a:pPr marL="0" indent="0" algn="l">
              <a:lnSpc>
                <a:spcPts val="1142"/>
              </a:lnSpc>
              <a:buNone/>
            </a:pPr>
            <a:r>
              <a:rPr lang="en-US" sz="816" b="1" dirty="0">
                <a:solidFill>
                  <a:srgbClr val="16A34A"/>
                </a:solidFill>
                <a:latin typeface="Liberation Sans Narrow" pitchFamily="34" charset="0"/>
                <a:ea typeface="Liberation Sans Narrow" pitchFamily="34" charset="-122"/>
                <a:cs typeface="Liberation Sans Narrow" pitchFamily="34" charset="-120"/>
              </a:rPr>
              <a:t>2.</a:t>
            </a:r>
            <a:endParaRPr lang="en-US" sz="816" dirty="0"/>
          </a:p>
        </p:txBody>
      </p:sp>
      <p:sp>
        <p:nvSpPr>
          <p:cNvPr id="45" name="Text 43"/>
          <p:cNvSpPr/>
          <p:nvPr/>
        </p:nvSpPr>
        <p:spPr>
          <a:xfrm>
            <a:off x="4993481" y="1830809"/>
            <a:ext cx="3557588" cy="289992"/>
          </a:xfrm>
          <a:prstGeom prst="rect">
            <a:avLst/>
          </a:prstGeom>
          <a:noFill/>
          <a:ln/>
        </p:spPr>
        <p:txBody>
          <a:bodyPr wrap="square" lIns="0" tIns="0" rIns="0" bIns="0" rtlCol="0" anchor="t"/>
          <a:lstStyle/>
          <a:p>
            <a:pPr marL="0" indent="0" algn="l">
              <a:lnSpc>
                <a:spcPts val="1142"/>
              </a:lnSpc>
              <a:buNone/>
            </a:pPr>
            <a:r>
              <a:rPr lang="en-US" sz="816" dirty="0">
                <a:solidFill>
                  <a:srgbClr val="0F172A"/>
                </a:solidFill>
                <a:latin typeface="Carlito" pitchFamily="34" charset="0"/>
                <a:ea typeface="Carlito" pitchFamily="34" charset="-122"/>
                <a:cs typeface="Carlito" pitchFamily="34" charset="-120"/>
              </a:rPr>
              <a:t>Use real Ansible modules (apt, copy, template, service) — idempotent by design.</a:t>
            </a:r>
            <a:endParaRPr lang="en-US" sz="816" dirty="0"/>
          </a:p>
        </p:txBody>
      </p:sp>
      <p:sp>
        <p:nvSpPr>
          <p:cNvPr id="46" name="Shape 44"/>
          <p:cNvSpPr/>
          <p:nvPr/>
        </p:nvSpPr>
        <p:spPr>
          <a:xfrm>
            <a:off x="4764881" y="2426531"/>
            <a:ext cx="3786188" cy="0"/>
          </a:xfrm>
          <a:prstGeom prst="line">
            <a:avLst/>
          </a:prstGeom>
          <a:noFill/>
          <a:ln w="7144">
            <a:solidFill>
              <a:srgbClr val="CBD5E1"/>
            </a:solidFill>
            <a:prstDash val="dash"/>
          </a:ln>
        </p:spPr>
      </p:sp>
      <p:sp>
        <p:nvSpPr>
          <p:cNvPr id="47" name="Text 45"/>
          <p:cNvSpPr/>
          <p:nvPr/>
        </p:nvSpPr>
        <p:spPr>
          <a:xfrm>
            <a:off x="4764881" y="2227957"/>
            <a:ext cx="251460" cy="144996"/>
          </a:xfrm>
          <a:prstGeom prst="rect">
            <a:avLst/>
          </a:prstGeom>
          <a:noFill/>
          <a:ln/>
        </p:spPr>
        <p:txBody>
          <a:bodyPr wrap="none" lIns="0" tIns="0" rIns="0" bIns="0" rtlCol="0" anchor="t"/>
          <a:lstStyle/>
          <a:p>
            <a:pPr marL="0" indent="0" algn="l">
              <a:lnSpc>
                <a:spcPts val="1142"/>
              </a:lnSpc>
              <a:buNone/>
            </a:pPr>
            <a:r>
              <a:rPr lang="en-US" sz="816" b="1" dirty="0">
                <a:solidFill>
                  <a:srgbClr val="16A34A"/>
                </a:solidFill>
                <a:latin typeface="Liberation Sans Narrow" pitchFamily="34" charset="0"/>
                <a:ea typeface="Liberation Sans Narrow" pitchFamily="34" charset="-122"/>
                <a:cs typeface="Liberation Sans Narrow" pitchFamily="34" charset="-120"/>
              </a:rPr>
              <a:t>3.</a:t>
            </a:r>
            <a:endParaRPr lang="en-US" sz="816" dirty="0"/>
          </a:p>
        </p:txBody>
      </p:sp>
      <p:sp>
        <p:nvSpPr>
          <p:cNvPr id="48" name="Text 46"/>
          <p:cNvSpPr/>
          <p:nvPr/>
        </p:nvSpPr>
        <p:spPr>
          <a:xfrm>
            <a:off x="4993481" y="2227957"/>
            <a:ext cx="3557588" cy="144996"/>
          </a:xfrm>
          <a:prstGeom prst="rect">
            <a:avLst/>
          </a:prstGeom>
          <a:noFill/>
          <a:ln/>
        </p:spPr>
        <p:txBody>
          <a:bodyPr wrap="square" lIns="0" tIns="0" rIns="0" bIns="0" rtlCol="0" anchor="t"/>
          <a:lstStyle/>
          <a:p>
            <a:pPr marL="0" indent="0" algn="l">
              <a:lnSpc>
                <a:spcPts val="1142"/>
              </a:lnSpc>
              <a:buNone/>
            </a:pPr>
            <a:r>
              <a:rPr lang="en-US" sz="816" dirty="0">
                <a:solidFill>
                  <a:srgbClr val="0F172A"/>
                </a:solidFill>
                <a:latin typeface="Carlito" pitchFamily="34" charset="0"/>
                <a:ea typeface="Carlito" pitchFamily="34" charset="-122"/>
                <a:cs typeface="Carlito" pitchFamily="34" charset="-120"/>
              </a:rPr>
              <a:t>Verify AI-generated tests with coverage metrics + manual review of assertions.</a:t>
            </a:r>
            <a:endParaRPr lang="en-US" sz="816" dirty="0"/>
          </a:p>
        </p:txBody>
      </p:sp>
      <p:sp>
        <p:nvSpPr>
          <p:cNvPr id="49" name="Shape 47"/>
          <p:cNvSpPr/>
          <p:nvPr/>
        </p:nvSpPr>
        <p:spPr>
          <a:xfrm>
            <a:off x="4764881" y="2678683"/>
            <a:ext cx="3786188" cy="0"/>
          </a:xfrm>
          <a:prstGeom prst="line">
            <a:avLst/>
          </a:prstGeom>
          <a:noFill/>
          <a:ln w="7144">
            <a:solidFill>
              <a:srgbClr val="CBD5E1"/>
            </a:solidFill>
            <a:prstDash val="dash"/>
          </a:ln>
        </p:spPr>
      </p:sp>
      <p:sp>
        <p:nvSpPr>
          <p:cNvPr id="50" name="Text 48"/>
          <p:cNvSpPr/>
          <p:nvPr/>
        </p:nvSpPr>
        <p:spPr>
          <a:xfrm>
            <a:off x="4764881" y="2480109"/>
            <a:ext cx="251460" cy="144996"/>
          </a:xfrm>
          <a:prstGeom prst="rect">
            <a:avLst/>
          </a:prstGeom>
          <a:noFill/>
          <a:ln/>
        </p:spPr>
        <p:txBody>
          <a:bodyPr wrap="none" lIns="0" tIns="0" rIns="0" bIns="0" rtlCol="0" anchor="t"/>
          <a:lstStyle/>
          <a:p>
            <a:pPr marL="0" indent="0" algn="l">
              <a:lnSpc>
                <a:spcPts val="1142"/>
              </a:lnSpc>
              <a:buNone/>
            </a:pPr>
            <a:r>
              <a:rPr lang="en-US" sz="816" b="1" dirty="0">
                <a:solidFill>
                  <a:srgbClr val="16A34A"/>
                </a:solidFill>
                <a:latin typeface="Liberation Sans Narrow" pitchFamily="34" charset="0"/>
                <a:ea typeface="Liberation Sans Narrow" pitchFamily="34" charset="-122"/>
                <a:cs typeface="Liberation Sans Narrow" pitchFamily="34" charset="-120"/>
              </a:rPr>
              <a:t>4.</a:t>
            </a:r>
            <a:endParaRPr lang="en-US" sz="816" dirty="0"/>
          </a:p>
        </p:txBody>
      </p:sp>
      <p:sp>
        <p:nvSpPr>
          <p:cNvPr id="51" name="Text 49"/>
          <p:cNvSpPr/>
          <p:nvPr/>
        </p:nvSpPr>
        <p:spPr>
          <a:xfrm>
            <a:off x="4993481" y="2480109"/>
            <a:ext cx="3557588" cy="144996"/>
          </a:xfrm>
          <a:prstGeom prst="rect">
            <a:avLst/>
          </a:prstGeom>
          <a:noFill/>
          <a:ln/>
        </p:spPr>
        <p:txBody>
          <a:bodyPr wrap="square" lIns="0" tIns="0" rIns="0" bIns="0" rtlCol="0" anchor="t"/>
          <a:lstStyle/>
          <a:p>
            <a:pPr marL="0" indent="0" algn="l">
              <a:lnSpc>
                <a:spcPts val="1142"/>
              </a:lnSpc>
              <a:buNone/>
            </a:pPr>
            <a:r>
              <a:rPr lang="en-US" sz="816" dirty="0">
                <a:solidFill>
                  <a:srgbClr val="0F172A"/>
                </a:solidFill>
                <a:latin typeface="Carlito" pitchFamily="34" charset="0"/>
                <a:ea typeface="Carlito" pitchFamily="34" charset="-122"/>
                <a:cs typeface="Carlito" pitchFamily="34" charset="-120"/>
              </a:rPr>
              <a:t>Centralise AI calls through a gateway with auth, logging, cost controls.</a:t>
            </a:r>
            <a:endParaRPr lang="en-US" sz="816" dirty="0"/>
          </a:p>
        </p:txBody>
      </p:sp>
      <p:sp>
        <p:nvSpPr>
          <p:cNvPr id="52" name="Shape 50"/>
          <p:cNvSpPr/>
          <p:nvPr/>
        </p:nvSpPr>
        <p:spPr>
          <a:xfrm>
            <a:off x="4764881" y="2930835"/>
            <a:ext cx="3786188" cy="0"/>
          </a:xfrm>
          <a:prstGeom prst="line">
            <a:avLst/>
          </a:prstGeom>
          <a:noFill/>
          <a:ln w="7144">
            <a:solidFill>
              <a:srgbClr val="CBD5E1"/>
            </a:solidFill>
            <a:prstDash val="dash"/>
          </a:ln>
        </p:spPr>
      </p:sp>
      <p:sp>
        <p:nvSpPr>
          <p:cNvPr id="53" name="Text 51"/>
          <p:cNvSpPr/>
          <p:nvPr/>
        </p:nvSpPr>
        <p:spPr>
          <a:xfrm>
            <a:off x="4764881" y="2732261"/>
            <a:ext cx="251460" cy="144996"/>
          </a:xfrm>
          <a:prstGeom prst="rect">
            <a:avLst/>
          </a:prstGeom>
          <a:noFill/>
          <a:ln/>
        </p:spPr>
        <p:txBody>
          <a:bodyPr wrap="none" lIns="0" tIns="0" rIns="0" bIns="0" rtlCol="0" anchor="t"/>
          <a:lstStyle/>
          <a:p>
            <a:pPr marL="0" indent="0" algn="l">
              <a:lnSpc>
                <a:spcPts val="1142"/>
              </a:lnSpc>
              <a:buNone/>
            </a:pPr>
            <a:r>
              <a:rPr lang="en-US" sz="816" b="1" dirty="0">
                <a:solidFill>
                  <a:srgbClr val="16A34A"/>
                </a:solidFill>
                <a:latin typeface="Liberation Sans Narrow" pitchFamily="34" charset="0"/>
                <a:ea typeface="Liberation Sans Narrow" pitchFamily="34" charset="-122"/>
                <a:cs typeface="Liberation Sans Narrow" pitchFamily="34" charset="-120"/>
              </a:rPr>
              <a:t>5.</a:t>
            </a:r>
            <a:endParaRPr lang="en-US" sz="816" dirty="0"/>
          </a:p>
        </p:txBody>
      </p:sp>
      <p:sp>
        <p:nvSpPr>
          <p:cNvPr id="54" name="Text 52"/>
          <p:cNvSpPr/>
          <p:nvPr/>
        </p:nvSpPr>
        <p:spPr>
          <a:xfrm>
            <a:off x="4993481" y="2732261"/>
            <a:ext cx="3557588" cy="144996"/>
          </a:xfrm>
          <a:prstGeom prst="rect">
            <a:avLst/>
          </a:prstGeom>
          <a:noFill/>
          <a:ln/>
        </p:spPr>
        <p:txBody>
          <a:bodyPr wrap="square" lIns="0" tIns="0" rIns="0" bIns="0" rtlCol="0" anchor="t"/>
          <a:lstStyle/>
          <a:p>
            <a:pPr marL="0" indent="0" algn="l">
              <a:lnSpc>
                <a:spcPts val="1142"/>
              </a:lnSpc>
              <a:buNone/>
            </a:pPr>
            <a:r>
              <a:rPr lang="en-US" sz="816" dirty="0">
                <a:solidFill>
                  <a:srgbClr val="0F172A"/>
                </a:solidFill>
                <a:latin typeface="Carlito" pitchFamily="34" charset="0"/>
                <a:ea typeface="Carlito" pitchFamily="34" charset="-122"/>
                <a:cs typeface="Carlito" pitchFamily="34" charset="-120"/>
              </a:rPr>
              <a:t>Always run plan/check before apply. Use sandbox accounts for testing.</a:t>
            </a:r>
            <a:endParaRPr lang="en-US" sz="816" dirty="0"/>
          </a:p>
        </p:txBody>
      </p:sp>
      <p:sp>
        <p:nvSpPr>
          <p:cNvPr id="55" name="Shape 53"/>
          <p:cNvSpPr/>
          <p:nvPr/>
        </p:nvSpPr>
        <p:spPr>
          <a:xfrm>
            <a:off x="4764881" y="3327983"/>
            <a:ext cx="3786188" cy="0"/>
          </a:xfrm>
          <a:prstGeom prst="line">
            <a:avLst/>
          </a:prstGeom>
          <a:noFill/>
          <a:ln w="7144">
            <a:solidFill>
              <a:srgbClr val="CBD5E1"/>
            </a:solidFill>
            <a:prstDash val="dash"/>
          </a:ln>
        </p:spPr>
      </p:sp>
      <p:sp>
        <p:nvSpPr>
          <p:cNvPr id="56" name="Text 54"/>
          <p:cNvSpPr/>
          <p:nvPr/>
        </p:nvSpPr>
        <p:spPr>
          <a:xfrm>
            <a:off x="4764881" y="2984413"/>
            <a:ext cx="251460" cy="289992"/>
          </a:xfrm>
          <a:prstGeom prst="rect">
            <a:avLst/>
          </a:prstGeom>
          <a:noFill/>
          <a:ln/>
        </p:spPr>
        <p:txBody>
          <a:bodyPr wrap="none" lIns="0" tIns="0" rIns="0" bIns="0" rtlCol="0" anchor="t"/>
          <a:lstStyle/>
          <a:p>
            <a:pPr marL="0" indent="0" algn="l">
              <a:lnSpc>
                <a:spcPts val="1142"/>
              </a:lnSpc>
              <a:buNone/>
            </a:pPr>
            <a:r>
              <a:rPr lang="en-US" sz="816" b="1" dirty="0">
                <a:solidFill>
                  <a:srgbClr val="16A34A"/>
                </a:solidFill>
                <a:latin typeface="Liberation Sans Narrow" pitchFamily="34" charset="0"/>
                <a:ea typeface="Liberation Sans Narrow" pitchFamily="34" charset="-122"/>
                <a:cs typeface="Liberation Sans Narrow" pitchFamily="34" charset="-120"/>
              </a:rPr>
              <a:t>6.</a:t>
            </a:r>
            <a:endParaRPr lang="en-US" sz="816" dirty="0"/>
          </a:p>
        </p:txBody>
      </p:sp>
      <p:sp>
        <p:nvSpPr>
          <p:cNvPr id="57" name="Text 55"/>
          <p:cNvSpPr/>
          <p:nvPr/>
        </p:nvSpPr>
        <p:spPr>
          <a:xfrm>
            <a:off x="4993481" y="2984413"/>
            <a:ext cx="3557588" cy="289992"/>
          </a:xfrm>
          <a:prstGeom prst="rect">
            <a:avLst/>
          </a:prstGeom>
          <a:noFill/>
          <a:ln/>
        </p:spPr>
        <p:txBody>
          <a:bodyPr wrap="square" lIns="0" tIns="0" rIns="0" bIns="0" rtlCol="0" anchor="t"/>
          <a:lstStyle/>
          <a:p>
            <a:pPr marL="0" indent="0" algn="l">
              <a:lnSpc>
                <a:spcPts val="1142"/>
              </a:lnSpc>
              <a:buNone/>
            </a:pPr>
            <a:r>
              <a:rPr lang="en-US" sz="816" dirty="0">
                <a:solidFill>
                  <a:srgbClr val="0F172A"/>
                </a:solidFill>
                <a:latin typeface="Carlito" pitchFamily="34" charset="0"/>
                <a:ea typeface="Carlito" pitchFamily="34" charset="-122"/>
                <a:cs typeface="Carlito" pitchFamily="34" charset="-120"/>
              </a:rPr>
              <a:t>Encode security policies as Checkov custom rules — let the linter enforce them.</a:t>
            </a:r>
            <a:endParaRPr lang="en-US" sz="816" dirty="0"/>
          </a:p>
        </p:txBody>
      </p:sp>
      <p:sp>
        <p:nvSpPr>
          <p:cNvPr id="58" name="Text 56"/>
          <p:cNvSpPr/>
          <p:nvPr/>
        </p:nvSpPr>
        <p:spPr>
          <a:xfrm>
            <a:off x="4764881" y="3381561"/>
            <a:ext cx="251460" cy="156595"/>
          </a:xfrm>
          <a:prstGeom prst="rect">
            <a:avLst/>
          </a:prstGeom>
          <a:noFill/>
          <a:ln/>
        </p:spPr>
        <p:txBody>
          <a:bodyPr wrap="none" lIns="0" tIns="0" rIns="0" bIns="0" rtlCol="0" anchor="t"/>
          <a:lstStyle/>
          <a:p>
            <a:pPr marL="0" indent="0" algn="l">
              <a:lnSpc>
                <a:spcPts val="1142"/>
              </a:lnSpc>
              <a:buNone/>
            </a:pPr>
            <a:r>
              <a:rPr lang="en-US" sz="816" b="1" dirty="0">
                <a:solidFill>
                  <a:srgbClr val="16A34A"/>
                </a:solidFill>
                <a:latin typeface="Liberation Sans Narrow" pitchFamily="34" charset="0"/>
                <a:ea typeface="Liberation Sans Narrow" pitchFamily="34" charset="-122"/>
                <a:cs typeface="Liberation Sans Narrow" pitchFamily="34" charset="-120"/>
              </a:rPr>
              <a:t>7.</a:t>
            </a:r>
            <a:endParaRPr lang="en-US" sz="816" dirty="0"/>
          </a:p>
        </p:txBody>
      </p:sp>
      <p:sp>
        <p:nvSpPr>
          <p:cNvPr id="59" name="Text 57"/>
          <p:cNvSpPr/>
          <p:nvPr/>
        </p:nvSpPr>
        <p:spPr>
          <a:xfrm>
            <a:off x="4993481" y="3381561"/>
            <a:ext cx="3557588" cy="156595"/>
          </a:xfrm>
          <a:prstGeom prst="rect">
            <a:avLst/>
          </a:prstGeom>
          <a:noFill/>
          <a:ln/>
        </p:spPr>
        <p:txBody>
          <a:bodyPr wrap="square" lIns="0" tIns="0" rIns="0" bIns="0" rtlCol="0" anchor="t"/>
          <a:lstStyle/>
          <a:p>
            <a:pPr marL="0" indent="0" algn="l">
              <a:lnSpc>
                <a:spcPts val="1142"/>
              </a:lnSpc>
              <a:buNone/>
            </a:pPr>
            <a:r>
              <a:rPr lang="en-US" sz="816" dirty="0">
                <a:solidFill>
                  <a:srgbClr val="0F172A"/>
                </a:solidFill>
                <a:latin typeface="Carlito" pitchFamily="34" charset="0"/>
                <a:ea typeface="Carlito" pitchFamily="34" charset="-122"/>
                <a:cs typeface="Carlito" pitchFamily="34" charset="-120"/>
              </a:rPr>
              <a:t>Treat AI output as a junior engineer's PR — review every line.</a:t>
            </a:r>
            <a:endParaRPr lang="en-US" sz="816" dirty="0"/>
          </a:p>
        </p:txBody>
      </p:sp>
      <p:sp>
        <p:nvSpPr>
          <p:cNvPr id="60" name="Text 58"/>
          <p:cNvSpPr/>
          <p:nvPr/>
        </p:nvSpPr>
        <p:spPr>
          <a:xfrm>
            <a:off x="457200" y="4324871"/>
            <a:ext cx="8229600" cy="361429"/>
          </a:xfrm>
          <a:prstGeom prst="roundRect">
            <a:avLst>
              <a:gd name="adj" fmla="val 21083"/>
            </a:avLst>
          </a:prstGeom>
          <a:solidFill>
            <a:srgbClr val="FFF7ED"/>
          </a:solidFill>
          <a:ln/>
        </p:spPr>
        <p:txBody>
          <a:bodyPr wrap="square" rtlCol="0" anchor="ctr"/>
          <a:lstStyle/>
          <a:p>
            <a:pPr marL="0" indent="0">
              <a:buNone/>
            </a:pPr>
            <a:endParaRPr lang="en-US" dirty="0"/>
          </a:p>
        </p:txBody>
      </p:sp>
      <p:sp>
        <p:nvSpPr>
          <p:cNvPr id="61" name="Shape 59"/>
          <p:cNvSpPr/>
          <p:nvPr/>
        </p:nvSpPr>
        <p:spPr>
          <a:xfrm>
            <a:off x="478631" y="4324871"/>
            <a:ext cx="0" cy="361429"/>
          </a:xfrm>
          <a:prstGeom prst="line">
            <a:avLst/>
          </a:prstGeom>
          <a:noFill/>
          <a:ln w="42863">
            <a:solidFill>
              <a:srgbClr val="F97316"/>
            </a:solidFill>
            <a:prstDash val="solid"/>
          </a:ln>
        </p:spPr>
      </p:sp>
      <p:sp>
        <p:nvSpPr>
          <p:cNvPr id="62" name="Text 60"/>
          <p:cNvSpPr/>
          <p:nvPr/>
        </p:nvSpPr>
        <p:spPr>
          <a:xfrm>
            <a:off x="657225" y="4410596"/>
            <a:ext cx="7872413" cy="189979"/>
          </a:xfrm>
          <a:prstGeom prst="rect">
            <a:avLst/>
          </a:prstGeom>
          <a:noFill/>
          <a:ln/>
        </p:spPr>
        <p:txBody>
          <a:bodyPr wrap="square" lIns="0" tIns="0" rIns="0" bIns="0" rtlCol="0" anchor="t"/>
          <a:lstStyle/>
          <a:p>
            <a:pPr marL="0" indent="0" algn="l">
              <a:lnSpc>
                <a:spcPts val="1496"/>
              </a:lnSpc>
              <a:buNone/>
            </a:pPr>
            <a:r>
              <a:rPr lang="en-US" sz="1069" b="1" dirty="0">
                <a:solidFill>
                  <a:srgbClr val="C2410C"/>
                </a:solidFill>
                <a:latin typeface="Segoe UI Symbol" pitchFamily="34" charset="0"/>
                <a:ea typeface="Segoe UI Symbol" pitchFamily="34" charset="-122"/>
                <a:cs typeface="Segoe UI Symbol" pitchFamily="34" charset="-120"/>
              </a:rPr>
              <a:t>✻</a:t>
            </a:r>
            <a:r>
              <a:rPr lang="en-US" sz="1069" b="1" dirty="0">
                <a:solidFill>
                  <a:srgbClr val="C2410C"/>
                </a:solidFill>
                <a:latin typeface="Carlito" pitchFamily="34" charset="0"/>
                <a:ea typeface="Carlito" pitchFamily="34" charset="-122"/>
                <a:cs typeface="Carlito" pitchFamily="34" charset="-120"/>
              </a:rPr>
              <a:t> The pattern: AI accelerates generation, humans + linters enforce quality. Never skip the human + linter steps.</a:t>
            </a:r>
            <a:endParaRPr lang="en-US" sz="1069"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5656008" cy="373346"/>
          </a:xfrm>
          <a:prstGeom prst="rect">
            <a:avLst/>
          </a:prstGeom>
          <a:noFill/>
          <a:ln/>
        </p:spPr>
        <p:txBody>
          <a:bodyPr wrap="square" lIns="0" tIns="0" rIns="0" bIns="0" rtlCol="0" anchor="t"/>
          <a:lstStyle/>
          <a:p>
            <a:pPr marL="0" indent="0" algn="l">
              <a:lnSpc>
                <a:spcPts val="2723"/>
              </a:lnSpc>
              <a:buNone/>
            </a:pPr>
            <a:r>
              <a:rPr lang="en-US" sz="2475" b="1" kern="0" spc="-28" dirty="0">
                <a:solidFill>
                  <a:srgbClr val="0F172A"/>
                </a:solidFill>
                <a:latin typeface="Liberation Sans Narrow" pitchFamily="34" charset="0"/>
                <a:ea typeface="Liberation Sans Narrow" pitchFamily="34" charset="-122"/>
                <a:cs typeface="Liberation Sans Narrow" pitchFamily="34" charset="-120"/>
              </a:rPr>
              <a:t>Module 4 Summary — Key Takeaways</a:t>
            </a:r>
            <a:endParaRPr lang="en-US" sz="2475" dirty="0"/>
          </a:p>
        </p:txBody>
      </p:sp>
      <p:sp>
        <p:nvSpPr>
          <p:cNvPr id="3" name="Text 1"/>
          <p:cNvSpPr/>
          <p:nvPr/>
        </p:nvSpPr>
        <p:spPr>
          <a:xfrm>
            <a:off x="457200" y="888616"/>
            <a:ext cx="571500" cy="42863"/>
          </a:xfrm>
          <a:prstGeom prst="roundRect">
            <a:avLst>
              <a:gd name="adj" fmla="val 66666"/>
            </a:avLst>
          </a:prstGeom>
          <a:solidFill>
            <a:srgbClr val="F97316"/>
          </a:solidFill>
          <a:ln/>
        </p:spPr>
        <p:txBody>
          <a:bodyPr wrap="square" rtlCol="0" anchor="ctr"/>
          <a:lstStyle/>
          <a:p>
            <a:pPr marL="0" indent="0">
              <a:buNone/>
            </a:pPr>
            <a:endParaRPr lang="en-US" dirty="0"/>
          </a:p>
        </p:txBody>
      </p:sp>
      <p:sp>
        <p:nvSpPr>
          <p:cNvPr id="4" name="Text 2"/>
          <p:cNvSpPr/>
          <p:nvPr/>
        </p:nvSpPr>
        <p:spPr>
          <a:xfrm>
            <a:off x="7681674" y="528672"/>
            <a:ext cx="1027986" cy="331333"/>
          </a:xfrm>
          <a:prstGeom prst="roundRect">
            <a:avLst>
              <a:gd name="adj" fmla="val 2871877"/>
            </a:avLst>
          </a:prstGeom>
          <a:solidFill>
            <a:srgbClr val="FED7AA"/>
          </a:solidFill>
          <a:ln/>
        </p:spPr>
        <p:txBody>
          <a:bodyPr wrap="square" rtlCol="0" anchor="ctr"/>
          <a:lstStyle/>
          <a:p>
            <a:pPr marL="0" indent="0">
              <a:buNone/>
            </a:pPr>
            <a:endParaRPr lang="en-US" dirty="0"/>
          </a:p>
        </p:txBody>
      </p:sp>
      <p:sp>
        <p:nvSpPr>
          <p:cNvPr id="5" name="Text 3"/>
          <p:cNvSpPr/>
          <p:nvPr/>
        </p:nvSpPr>
        <p:spPr>
          <a:xfrm>
            <a:off x="7704534" y="541474"/>
            <a:ext cx="982266" cy="305730"/>
          </a:xfrm>
          <a:prstGeom prst="rect">
            <a:avLst/>
          </a:prstGeom>
          <a:noFill/>
          <a:ln/>
        </p:spPr>
        <p:txBody>
          <a:bodyPr wrap="none" lIns="0" tIns="0" rIns="0" bIns="0" rtlCol="0" anchor="ctr"/>
          <a:lstStyle/>
          <a:p>
            <a:pPr marL="0" indent="0" algn="ctr">
              <a:lnSpc>
                <a:spcPts val="1733"/>
              </a:lnSpc>
              <a:buNone/>
            </a:pPr>
            <a:r>
              <a:rPr lang="en-US" sz="1238" b="1" kern="0" spc="28" dirty="0">
                <a:solidFill>
                  <a:srgbClr val="C2410C"/>
                </a:solidFill>
                <a:latin typeface="Carlito" pitchFamily="34" charset="0"/>
                <a:ea typeface="Carlito" pitchFamily="34" charset="-122"/>
                <a:cs typeface="Carlito" pitchFamily="34" charset="-120"/>
              </a:rPr>
              <a:t>SUMMARY</a:t>
            </a:r>
            <a:endParaRPr lang="en-US" sz="1238" dirty="0"/>
          </a:p>
        </p:txBody>
      </p:sp>
      <p:sp>
        <p:nvSpPr>
          <p:cNvPr id="6" name="Text 4"/>
          <p:cNvSpPr/>
          <p:nvPr/>
        </p:nvSpPr>
        <p:spPr>
          <a:xfrm>
            <a:off x="457200" y="1017203"/>
            <a:ext cx="8229600" cy="216027"/>
          </a:xfrm>
          <a:prstGeom prst="rect">
            <a:avLst/>
          </a:prstGeom>
          <a:noFill/>
          <a:ln/>
        </p:spPr>
        <p:txBody>
          <a:bodyPr wrap="square" lIns="0" tIns="0" rIns="0" bIns="0" rtlCol="0" anchor="t"/>
          <a:lstStyle/>
          <a:p>
            <a:pPr marL="0" indent="0" algn="l">
              <a:lnSpc>
                <a:spcPts val="1575"/>
              </a:lnSpc>
              <a:buNone/>
            </a:pPr>
            <a:r>
              <a:rPr lang="en-US" sz="1125" dirty="0">
                <a:solidFill>
                  <a:srgbClr val="64748B"/>
                </a:solidFill>
                <a:latin typeface="Carlito" pitchFamily="34" charset="0"/>
                <a:ea typeface="Carlito" pitchFamily="34" charset="-122"/>
                <a:cs typeface="Carlito" pitchFamily="34" charset="-120"/>
              </a:rPr>
              <a:t>Six things you should remember from this 9-hour module.</a:t>
            </a:r>
            <a:endParaRPr lang="en-US" sz="1125" dirty="0"/>
          </a:p>
        </p:txBody>
      </p:sp>
      <p:sp>
        <p:nvSpPr>
          <p:cNvPr id="7" name="Text 5"/>
          <p:cNvSpPr/>
          <p:nvPr/>
        </p:nvSpPr>
        <p:spPr>
          <a:xfrm>
            <a:off x="460772" y="1306525"/>
            <a:ext cx="2678906" cy="1370595"/>
          </a:xfrm>
          <a:prstGeom prst="roundRect">
            <a:avLst>
              <a:gd name="adj" fmla="val 9729"/>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8" name="Text 6"/>
          <p:cNvSpPr/>
          <p:nvPr/>
        </p:nvSpPr>
        <p:spPr>
          <a:xfrm>
            <a:off x="2793206" y="1410109"/>
            <a:ext cx="228600" cy="228600"/>
          </a:xfrm>
          <a:prstGeom prst="rect">
            <a:avLst/>
          </a:prstGeom>
          <a:noFill/>
          <a:ln/>
        </p:spPr>
        <p:txBody>
          <a:bodyPr wrap="none" lIns="0" tIns="0" rIns="0" bIns="0" rtlCol="0" anchor="ctr"/>
          <a:lstStyle/>
          <a:p>
            <a:pPr marL="0" indent="0" algn="ctr">
              <a:buNone/>
            </a:pPr>
            <a:r>
              <a:rPr lang="en-US" sz="2250" dirty="0">
                <a:solidFill>
                  <a:srgbClr val="FED7AA"/>
                </a:solidFill>
                <a:latin typeface="Segoe UI Symbol" pitchFamily="34" charset="0"/>
                <a:ea typeface="Segoe UI Symbol" pitchFamily="34" charset="-122"/>
                <a:cs typeface="Segoe UI Symbol" pitchFamily="34" charset="-120"/>
              </a:rPr>
              <a:t>◆</a:t>
            </a:r>
            <a:endParaRPr lang="en-US" sz="2250" dirty="0"/>
          </a:p>
        </p:txBody>
      </p:sp>
      <p:sp>
        <p:nvSpPr>
          <p:cNvPr id="9" name="Text 7"/>
          <p:cNvSpPr/>
          <p:nvPr/>
        </p:nvSpPr>
        <p:spPr>
          <a:xfrm>
            <a:off x="592931" y="1424397"/>
            <a:ext cx="2414588" cy="301181"/>
          </a:xfrm>
          <a:prstGeom prst="rect">
            <a:avLst/>
          </a:prstGeom>
          <a:noFill/>
          <a:ln/>
        </p:spPr>
        <p:txBody>
          <a:bodyPr wrap="none" lIns="0" tIns="0" rIns="0" bIns="0" rtlCol="0" anchor="t">
            <a:normAutofit/>
          </a:bodyPr>
          <a:lstStyle/>
          <a:p>
            <a:pPr marL="0" indent="0" algn="l">
              <a:lnSpc>
                <a:spcPts val="2250"/>
              </a:lnSpc>
              <a:buNone/>
            </a:pPr>
            <a:r>
              <a:rPr lang="en-US" sz="2250" b="1" kern="0" spc="-56" dirty="0">
                <a:solidFill>
                  <a:srgbClr val="F97316"/>
                </a:solidFill>
                <a:latin typeface="Liberation Sans Narrow" pitchFamily="34" charset="0"/>
                <a:ea typeface="Liberation Sans Narrow" pitchFamily="34" charset="-122"/>
                <a:cs typeface="Liberation Sans Narrow" pitchFamily="34" charset="-120"/>
              </a:rPr>
              <a:t>01</a:t>
            </a:r>
            <a:endParaRPr lang="en-US" sz="2250" dirty="0"/>
          </a:p>
        </p:txBody>
      </p:sp>
      <p:sp>
        <p:nvSpPr>
          <p:cNvPr id="10" name="Text 8"/>
          <p:cNvSpPr/>
          <p:nvPr/>
        </p:nvSpPr>
        <p:spPr>
          <a:xfrm>
            <a:off x="592931" y="1753009"/>
            <a:ext cx="2414588" cy="175884"/>
          </a:xfrm>
          <a:prstGeom prst="rect">
            <a:avLst/>
          </a:prstGeom>
          <a:noFill/>
          <a:ln/>
        </p:spPr>
        <p:txBody>
          <a:bodyPr wrap="none" lIns="0" tIns="0" rIns="0" bIns="0" rtlCol="0" anchor="t"/>
          <a:lstStyle/>
          <a:p>
            <a:pPr marL="0" indent="0" algn="l">
              <a:lnSpc>
                <a:spcPts val="1283"/>
              </a:lnSpc>
              <a:buNone/>
            </a:pPr>
            <a:r>
              <a:rPr lang="en-US" sz="1069" b="1" dirty="0">
                <a:solidFill>
                  <a:srgbClr val="0F172A"/>
                </a:solidFill>
                <a:latin typeface="Carlito" pitchFamily="34" charset="0"/>
                <a:ea typeface="Carlito" pitchFamily="34" charset="-122"/>
                <a:cs typeface="Carlito" pitchFamily="34" charset="-120"/>
              </a:rPr>
              <a:t>Build Intelligence</a:t>
            </a:r>
            <a:endParaRPr lang="en-US" sz="1069" dirty="0"/>
          </a:p>
        </p:txBody>
      </p:sp>
      <p:sp>
        <p:nvSpPr>
          <p:cNvPr id="11" name="Text 9"/>
          <p:cNvSpPr/>
          <p:nvPr/>
        </p:nvSpPr>
        <p:spPr>
          <a:xfrm>
            <a:off x="592931" y="1958727"/>
            <a:ext cx="2414588" cy="600521"/>
          </a:xfrm>
          <a:prstGeom prst="rect">
            <a:avLst/>
          </a:prstGeom>
          <a:noFill/>
          <a:ln/>
        </p:spPr>
        <p:txBody>
          <a:bodyPr wrap="square" lIns="0" tIns="0" rIns="0" bIns="0" rtlCol="0" anchor="t"/>
          <a:lstStyle/>
          <a:p>
            <a:pPr marL="0" indent="0" algn="l">
              <a:lnSpc>
                <a:spcPts val="1183"/>
              </a:lnSpc>
              <a:buNone/>
            </a:pPr>
            <a:r>
              <a:rPr lang="en-US" sz="816" dirty="0">
                <a:solidFill>
                  <a:srgbClr val="334155"/>
                </a:solidFill>
                <a:latin typeface="Carlito" pitchFamily="34" charset="0"/>
                <a:ea typeface="Carlito" pitchFamily="34" charset="-122"/>
                <a:cs typeface="Carlito" pitchFamily="34" charset="-120"/>
              </a:rPr>
              <a:t>AI change-impact analysis enables surgical cache invalidation, dynamic test routing, log summarisation, and failure prediction. 30-70% faster CI.</a:t>
            </a:r>
            <a:endParaRPr lang="en-US" sz="816" dirty="0"/>
          </a:p>
        </p:txBody>
      </p:sp>
      <p:sp>
        <p:nvSpPr>
          <p:cNvPr id="12" name="Text 10"/>
          <p:cNvSpPr/>
          <p:nvPr/>
        </p:nvSpPr>
        <p:spPr>
          <a:xfrm>
            <a:off x="3232547" y="1306525"/>
            <a:ext cx="2678906" cy="1370595"/>
          </a:xfrm>
          <a:prstGeom prst="roundRect">
            <a:avLst>
              <a:gd name="adj" fmla="val 9729"/>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13" name="Text 11"/>
          <p:cNvSpPr/>
          <p:nvPr/>
        </p:nvSpPr>
        <p:spPr>
          <a:xfrm>
            <a:off x="5564981" y="1410109"/>
            <a:ext cx="228600" cy="228600"/>
          </a:xfrm>
          <a:prstGeom prst="rect">
            <a:avLst/>
          </a:prstGeom>
          <a:noFill/>
          <a:ln/>
        </p:spPr>
        <p:txBody>
          <a:bodyPr wrap="none" lIns="0" tIns="0" rIns="0" bIns="0" rtlCol="0" anchor="ctr"/>
          <a:lstStyle/>
          <a:p>
            <a:pPr marL="0" indent="0" algn="ctr">
              <a:buNone/>
            </a:pPr>
            <a:r>
              <a:rPr lang="en-US" sz="2250" dirty="0">
                <a:solidFill>
                  <a:srgbClr val="FED7AA"/>
                </a:solidFill>
                <a:latin typeface="Segoe UI Symbol" pitchFamily="34" charset="0"/>
                <a:ea typeface="Segoe UI Symbol" pitchFamily="34" charset="-122"/>
                <a:cs typeface="Segoe UI Symbol" pitchFamily="34" charset="-120"/>
              </a:rPr>
              <a:t>⚙</a:t>
            </a:r>
            <a:endParaRPr lang="en-US" sz="2250" dirty="0"/>
          </a:p>
        </p:txBody>
      </p:sp>
      <p:sp>
        <p:nvSpPr>
          <p:cNvPr id="14" name="Text 12"/>
          <p:cNvSpPr/>
          <p:nvPr/>
        </p:nvSpPr>
        <p:spPr>
          <a:xfrm>
            <a:off x="3364706" y="1424397"/>
            <a:ext cx="2414588" cy="301181"/>
          </a:xfrm>
          <a:prstGeom prst="rect">
            <a:avLst/>
          </a:prstGeom>
          <a:noFill/>
          <a:ln/>
        </p:spPr>
        <p:txBody>
          <a:bodyPr wrap="none" lIns="0" tIns="0" rIns="0" bIns="0" rtlCol="0" anchor="t">
            <a:normAutofit/>
          </a:bodyPr>
          <a:lstStyle/>
          <a:p>
            <a:pPr marL="0" indent="0" algn="l">
              <a:lnSpc>
                <a:spcPts val="2250"/>
              </a:lnSpc>
              <a:buNone/>
            </a:pPr>
            <a:r>
              <a:rPr lang="en-US" sz="2250" b="1" kern="0" spc="-56" dirty="0">
                <a:solidFill>
                  <a:srgbClr val="F97316"/>
                </a:solidFill>
                <a:latin typeface="Liberation Sans Narrow" pitchFamily="34" charset="0"/>
                <a:ea typeface="Liberation Sans Narrow" pitchFamily="34" charset="-122"/>
                <a:cs typeface="Liberation Sans Narrow" pitchFamily="34" charset="-120"/>
              </a:rPr>
              <a:t>02</a:t>
            </a:r>
            <a:endParaRPr lang="en-US" sz="2250" dirty="0"/>
          </a:p>
        </p:txBody>
      </p:sp>
      <p:sp>
        <p:nvSpPr>
          <p:cNvPr id="15" name="Text 13"/>
          <p:cNvSpPr/>
          <p:nvPr/>
        </p:nvSpPr>
        <p:spPr>
          <a:xfrm>
            <a:off x="3364706" y="1753009"/>
            <a:ext cx="2414588" cy="175884"/>
          </a:xfrm>
          <a:prstGeom prst="rect">
            <a:avLst/>
          </a:prstGeom>
          <a:noFill/>
          <a:ln/>
        </p:spPr>
        <p:txBody>
          <a:bodyPr wrap="none" lIns="0" tIns="0" rIns="0" bIns="0" rtlCol="0" anchor="t"/>
          <a:lstStyle/>
          <a:p>
            <a:pPr marL="0" indent="0" algn="l">
              <a:lnSpc>
                <a:spcPts val="1283"/>
              </a:lnSpc>
              <a:buNone/>
            </a:pPr>
            <a:r>
              <a:rPr lang="en-US" sz="1069" b="1" dirty="0">
                <a:solidFill>
                  <a:srgbClr val="0F172A"/>
                </a:solidFill>
                <a:latin typeface="Carlito" pitchFamily="34" charset="0"/>
                <a:ea typeface="Carlito" pitchFamily="34" charset="-122"/>
                <a:cs typeface="Carlito" pitchFamily="34" charset="-120"/>
              </a:rPr>
              <a:t>Ansible Core</a:t>
            </a:r>
            <a:endParaRPr lang="en-US" sz="1069" dirty="0"/>
          </a:p>
        </p:txBody>
      </p:sp>
      <p:sp>
        <p:nvSpPr>
          <p:cNvPr id="16" name="Text 14"/>
          <p:cNvSpPr/>
          <p:nvPr/>
        </p:nvSpPr>
        <p:spPr>
          <a:xfrm>
            <a:off x="3364706" y="1958727"/>
            <a:ext cx="2414588" cy="486422"/>
          </a:xfrm>
          <a:prstGeom prst="rect">
            <a:avLst/>
          </a:prstGeom>
          <a:noFill/>
          <a:ln/>
        </p:spPr>
        <p:txBody>
          <a:bodyPr wrap="square" lIns="0" tIns="0" rIns="0" bIns="0" rtlCol="0" anchor="t"/>
          <a:lstStyle/>
          <a:p>
            <a:pPr marL="0" indent="0" algn="l">
              <a:lnSpc>
                <a:spcPts val="1183"/>
              </a:lnSpc>
              <a:buNone/>
            </a:pPr>
            <a:r>
              <a:rPr lang="en-US" sz="816" dirty="0">
                <a:solidFill>
                  <a:srgbClr val="334155"/>
                </a:solidFill>
                <a:latin typeface="Carlito" pitchFamily="34" charset="0"/>
                <a:ea typeface="Carlito" pitchFamily="34" charset="-122"/>
                <a:cs typeface="Carlito" pitchFamily="34" charset="-120"/>
              </a:rPr>
              <a:t>Agentless, push-based, YAML-native. Playbook → Play → Task → Module. Idempotency is the heart. Run twice = run once.</a:t>
            </a:r>
            <a:endParaRPr lang="en-US" sz="816" dirty="0"/>
          </a:p>
        </p:txBody>
      </p:sp>
      <p:sp>
        <p:nvSpPr>
          <p:cNvPr id="17" name="Text 15"/>
          <p:cNvSpPr/>
          <p:nvPr/>
        </p:nvSpPr>
        <p:spPr>
          <a:xfrm>
            <a:off x="6004322" y="1306525"/>
            <a:ext cx="2678906" cy="1370595"/>
          </a:xfrm>
          <a:prstGeom prst="roundRect">
            <a:avLst>
              <a:gd name="adj" fmla="val 9729"/>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18" name="Text 16"/>
          <p:cNvSpPr/>
          <p:nvPr/>
        </p:nvSpPr>
        <p:spPr>
          <a:xfrm>
            <a:off x="8336756" y="1410109"/>
            <a:ext cx="228600" cy="228600"/>
          </a:xfrm>
          <a:prstGeom prst="rect">
            <a:avLst/>
          </a:prstGeom>
          <a:noFill/>
          <a:ln/>
        </p:spPr>
        <p:txBody>
          <a:bodyPr wrap="none" lIns="0" tIns="0" rIns="0" bIns="0" rtlCol="0" anchor="ctr"/>
          <a:lstStyle/>
          <a:p>
            <a:pPr marL="0" indent="0" algn="ctr">
              <a:buNone/>
            </a:pPr>
            <a:r>
              <a:rPr lang="en-US" sz="2250" dirty="0">
                <a:solidFill>
                  <a:srgbClr val="FED7AA"/>
                </a:solidFill>
                <a:latin typeface="Segoe UI Symbol" pitchFamily="34" charset="0"/>
                <a:ea typeface="Segoe UI Symbol" pitchFamily="34" charset="-122"/>
                <a:cs typeface="Segoe UI Symbol" pitchFamily="34" charset="-120"/>
              </a:rPr>
              <a:t>◖</a:t>
            </a:r>
            <a:endParaRPr lang="en-US" sz="2250" dirty="0"/>
          </a:p>
        </p:txBody>
      </p:sp>
      <p:sp>
        <p:nvSpPr>
          <p:cNvPr id="19" name="Text 17"/>
          <p:cNvSpPr/>
          <p:nvPr/>
        </p:nvSpPr>
        <p:spPr>
          <a:xfrm>
            <a:off x="6136481" y="1424397"/>
            <a:ext cx="2414588" cy="301181"/>
          </a:xfrm>
          <a:prstGeom prst="rect">
            <a:avLst/>
          </a:prstGeom>
          <a:noFill/>
          <a:ln/>
        </p:spPr>
        <p:txBody>
          <a:bodyPr wrap="none" lIns="0" tIns="0" rIns="0" bIns="0" rtlCol="0" anchor="t">
            <a:normAutofit/>
          </a:bodyPr>
          <a:lstStyle/>
          <a:p>
            <a:pPr marL="0" indent="0" algn="l">
              <a:lnSpc>
                <a:spcPts val="2250"/>
              </a:lnSpc>
              <a:buNone/>
            </a:pPr>
            <a:r>
              <a:rPr lang="en-US" sz="2250" b="1" kern="0" spc="-56" dirty="0">
                <a:solidFill>
                  <a:srgbClr val="F97316"/>
                </a:solidFill>
                <a:latin typeface="Liberation Sans Narrow" pitchFamily="34" charset="0"/>
                <a:ea typeface="Liberation Sans Narrow" pitchFamily="34" charset="-122"/>
                <a:cs typeface="Liberation Sans Narrow" pitchFamily="34" charset="-120"/>
              </a:rPr>
              <a:t>03</a:t>
            </a:r>
            <a:endParaRPr lang="en-US" sz="2250" dirty="0"/>
          </a:p>
        </p:txBody>
      </p:sp>
      <p:sp>
        <p:nvSpPr>
          <p:cNvPr id="20" name="Text 18"/>
          <p:cNvSpPr/>
          <p:nvPr/>
        </p:nvSpPr>
        <p:spPr>
          <a:xfrm>
            <a:off x="6136481" y="1753009"/>
            <a:ext cx="2414587" cy="175884"/>
          </a:xfrm>
          <a:prstGeom prst="rect">
            <a:avLst/>
          </a:prstGeom>
          <a:noFill/>
          <a:ln/>
        </p:spPr>
        <p:txBody>
          <a:bodyPr wrap="none" lIns="0" tIns="0" rIns="0" bIns="0" rtlCol="0" anchor="t"/>
          <a:lstStyle/>
          <a:p>
            <a:pPr marL="0" indent="0" algn="l">
              <a:lnSpc>
                <a:spcPts val="1283"/>
              </a:lnSpc>
              <a:buNone/>
            </a:pPr>
            <a:r>
              <a:rPr lang="en-US" sz="1069" b="1" dirty="0">
                <a:solidFill>
                  <a:srgbClr val="0F172A"/>
                </a:solidFill>
                <a:latin typeface="Carlito" pitchFamily="34" charset="0"/>
                <a:ea typeface="Carlito" pitchFamily="34" charset="-122"/>
                <a:cs typeface="Carlito" pitchFamily="34" charset="-120"/>
              </a:rPr>
              <a:t>Roles + Handlers</a:t>
            </a:r>
            <a:endParaRPr lang="en-US" sz="1069" dirty="0"/>
          </a:p>
        </p:txBody>
      </p:sp>
      <p:sp>
        <p:nvSpPr>
          <p:cNvPr id="21" name="Text 19"/>
          <p:cNvSpPr/>
          <p:nvPr/>
        </p:nvSpPr>
        <p:spPr>
          <a:xfrm>
            <a:off x="6136481" y="1958727"/>
            <a:ext cx="2414588" cy="486422"/>
          </a:xfrm>
          <a:prstGeom prst="rect">
            <a:avLst/>
          </a:prstGeom>
          <a:noFill/>
          <a:ln/>
        </p:spPr>
        <p:txBody>
          <a:bodyPr wrap="square" lIns="0" tIns="0" rIns="0" bIns="0" rtlCol="0" anchor="t"/>
          <a:lstStyle/>
          <a:p>
            <a:pPr marL="0" indent="0" algn="l">
              <a:lnSpc>
                <a:spcPts val="1183"/>
              </a:lnSpc>
              <a:buNone/>
            </a:pPr>
            <a:r>
              <a:rPr lang="en-US" sz="816" dirty="0">
                <a:solidFill>
                  <a:srgbClr val="334155"/>
                </a:solidFill>
                <a:latin typeface="Carlito" pitchFamily="34" charset="0"/>
                <a:ea typeface="Carlito" pitchFamily="34" charset="-122"/>
                <a:cs typeface="Carlito" pitchFamily="34" charset="-120"/>
              </a:rPr>
              <a:t>Roles bundle tasks/handlers/templates/files into reusable units. Handlers batch service restarts — only when notified, only once.</a:t>
            </a:r>
            <a:endParaRPr lang="en-US" sz="816" dirty="0"/>
          </a:p>
        </p:txBody>
      </p:sp>
      <p:sp>
        <p:nvSpPr>
          <p:cNvPr id="22" name="Text 20"/>
          <p:cNvSpPr/>
          <p:nvPr/>
        </p:nvSpPr>
        <p:spPr>
          <a:xfrm>
            <a:off x="460772" y="2769989"/>
            <a:ext cx="2678906" cy="1370595"/>
          </a:xfrm>
          <a:prstGeom prst="roundRect">
            <a:avLst>
              <a:gd name="adj" fmla="val 9729"/>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23" name="Text 21"/>
          <p:cNvSpPr/>
          <p:nvPr/>
        </p:nvSpPr>
        <p:spPr>
          <a:xfrm>
            <a:off x="2793206" y="2873573"/>
            <a:ext cx="228600" cy="228600"/>
          </a:xfrm>
          <a:prstGeom prst="rect">
            <a:avLst/>
          </a:prstGeom>
          <a:noFill/>
          <a:ln/>
        </p:spPr>
        <p:txBody>
          <a:bodyPr wrap="none" lIns="0" tIns="0" rIns="0" bIns="0" rtlCol="0" anchor="ctr"/>
          <a:lstStyle/>
          <a:p>
            <a:pPr marL="0" indent="0" algn="ctr">
              <a:buNone/>
            </a:pPr>
            <a:r>
              <a:rPr lang="en-US" sz="2250" dirty="0">
                <a:solidFill>
                  <a:srgbClr val="FED7AA"/>
                </a:solidFill>
                <a:latin typeface="Segoe UI Symbol" pitchFamily="34" charset="0"/>
                <a:ea typeface="Segoe UI Symbol" pitchFamily="34" charset="-122"/>
                <a:cs typeface="Segoe UI Symbol" pitchFamily="34" charset="-120"/>
              </a:rPr>
              <a:t>✦</a:t>
            </a:r>
            <a:endParaRPr lang="en-US" sz="2250" dirty="0"/>
          </a:p>
        </p:txBody>
      </p:sp>
      <p:sp>
        <p:nvSpPr>
          <p:cNvPr id="24" name="Text 22"/>
          <p:cNvSpPr/>
          <p:nvPr/>
        </p:nvSpPr>
        <p:spPr>
          <a:xfrm>
            <a:off x="592931" y="2887861"/>
            <a:ext cx="2414588" cy="301181"/>
          </a:xfrm>
          <a:prstGeom prst="rect">
            <a:avLst/>
          </a:prstGeom>
          <a:noFill/>
          <a:ln/>
        </p:spPr>
        <p:txBody>
          <a:bodyPr wrap="none" lIns="0" tIns="0" rIns="0" bIns="0" rtlCol="0" anchor="t">
            <a:normAutofit/>
          </a:bodyPr>
          <a:lstStyle/>
          <a:p>
            <a:pPr marL="0" indent="0" algn="l">
              <a:lnSpc>
                <a:spcPts val="2250"/>
              </a:lnSpc>
              <a:buNone/>
            </a:pPr>
            <a:r>
              <a:rPr lang="en-US" sz="2250" b="1" kern="0" spc="-56" dirty="0">
                <a:solidFill>
                  <a:srgbClr val="F97316"/>
                </a:solidFill>
                <a:latin typeface="Liberation Sans Narrow" pitchFamily="34" charset="0"/>
                <a:ea typeface="Liberation Sans Narrow" pitchFamily="34" charset="-122"/>
                <a:cs typeface="Liberation Sans Narrow" pitchFamily="34" charset="-120"/>
              </a:rPr>
              <a:t>04</a:t>
            </a:r>
            <a:endParaRPr lang="en-US" sz="2250" dirty="0"/>
          </a:p>
        </p:txBody>
      </p:sp>
      <p:sp>
        <p:nvSpPr>
          <p:cNvPr id="25" name="Text 23"/>
          <p:cNvSpPr/>
          <p:nvPr/>
        </p:nvSpPr>
        <p:spPr>
          <a:xfrm>
            <a:off x="592931" y="3216473"/>
            <a:ext cx="2414588" cy="175884"/>
          </a:xfrm>
          <a:prstGeom prst="rect">
            <a:avLst/>
          </a:prstGeom>
          <a:noFill/>
          <a:ln/>
        </p:spPr>
        <p:txBody>
          <a:bodyPr wrap="none" lIns="0" tIns="0" rIns="0" bIns="0" rtlCol="0" anchor="t"/>
          <a:lstStyle/>
          <a:p>
            <a:pPr marL="0" indent="0" algn="l">
              <a:lnSpc>
                <a:spcPts val="1283"/>
              </a:lnSpc>
              <a:buNone/>
            </a:pPr>
            <a:r>
              <a:rPr lang="en-US" sz="1069" b="1" dirty="0">
                <a:solidFill>
                  <a:srgbClr val="0F172A"/>
                </a:solidFill>
                <a:latin typeface="Carlito" pitchFamily="34" charset="0"/>
                <a:ea typeface="Carlito" pitchFamily="34" charset="-122"/>
                <a:cs typeface="Carlito" pitchFamily="34" charset="-120"/>
              </a:rPr>
              <a:t>AI-Generated IaC</a:t>
            </a:r>
            <a:endParaRPr lang="en-US" sz="1069" dirty="0"/>
          </a:p>
        </p:txBody>
      </p:sp>
      <p:sp>
        <p:nvSpPr>
          <p:cNvPr id="26" name="Text 24"/>
          <p:cNvSpPr/>
          <p:nvPr/>
        </p:nvSpPr>
        <p:spPr>
          <a:xfrm>
            <a:off x="592931" y="3422191"/>
            <a:ext cx="2414588" cy="486422"/>
          </a:xfrm>
          <a:prstGeom prst="rect">
            <a:avLst/>
          </a:prstGeom>
          <a:noFill/>
          <a:ln/>
        </p:spPr>
        <p:txBody>
          <a:bodyPr wrap="square" lIns="0" tIns="0" rIns="0" bIns="0" rtlCol="0" anchor="t"/>
          <a:lstStyle/>
          <a:p>
            <a:pPr marL="0" indent="0" algn="l">
              <a:lnSpc>
                <a:spcPts val="1183"/>
              </a:lnSpc>
              <a:buNone/>
            </a:pPr>
            <a:r>
              <a:rPr lang="en-US" sz="816" dirty="0">
                <a:solidFill>
                  <a:srgbClr val="334155"/>
                </a:solidFill>
                <a:latin typeface="Carlito" pitchFamily="34" charset="0"/>
                <a:ea typeface="Carlito" pitchFamily="34" charset="-122"/>
                <a:cs typeface="Carlito" pitchFamily="34" charset="-120"/>
              </a:rPr>
              <a:t>NL → Terraform/Ansible. 92% passes tflint on first try. ALWAYS run linters + policy checks + sandbox tests + human review before apply.</a:t>
            </a:r>
            <a:endParaRPr lang="en-US" sz="816" dirty="0"/>
          </a:p>
        </p:txBody>
      </p:sp>
      <p:sp>
        <p:nvSpPr>
          <p:cNvPr id="27" name="Text 25"/>
          <p:cNvSpPr/>
          <p:nvPr/>
        </p:nvSpPr>
        <p:spPr>
          <a:xfrm>
            <a:off x="3232547" y="2769989"/>
            <a:ext cx="2678906" cy="1370595"/>
          </a:xfrm>
          <a:prstGeom prst="roundRect">
            <a:avLst>
              <a:gd name="adj" fmla="val 9729"/>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28" name="Text 26"/>
          <p:cNvSpPr/>
          <p:nvPr/>
        </p:nvSpPr>
        <p:spPr>
          <a:xfrm>
            <a:off x="5564981" y="2873573"/>
            <a:ext cx="228600" cy="228600"/>
          </a:xfrm>
          <a:prstGeom prst="rect">
            <a:avLst/>
          </a:prstGeom>
          <a:noFill/>
          <a:ln/>
        </p:spPr>
        <p:txBody>
          <a:bodyPr wrap="none" lIns="0" tIns="0" rIns="0" bIns="0" rtlCol="0" anchor="ctr"/>
          <a:lstStyle/>
          <a:p>
            <a:pPr marL="0" indent="0" algn="ctr">
              <a:buNone/>
            </a:pPr>
            <a:r>
              <a:rPr lang="en-US" sz="2250" dirty="0">
                <a:solidFill>
                  <a:srgbClr val="FED7AA"/>
                </a:solidFill>
                <a:latin typeface="Segoe UI Symbol" pitchFamily="34" charset="0"/>
                <a:ea typeface="Segoe UI Symbol" pitchFamily="34" charset="-122"/>
                <a:cs typeface="Segoe UI Symbol" pitchFamily="34" charset="-120"/>
              </a:rPr>
              <a:t>⛨</a:t>
            </a:r>
            <a:endParaRPr lang="en-US" sz="2250" dirty="0"/>
          </a:p>
        </p:txBody>
      </p:sp>
      <p:sp>
        <p:nvSpPr>
          <p:cNvPr id="29" name="Text 27"/>
          <p:cNvSpPr/>
          <p:nvPr/>
        </p:nvSpPr>
        <p:spPr>
          <a:xfrm>
            <a:off x="3364706" y="2887861"/>
            <a:ext cx="2414588" cy="301181"/>
          </a:xfrm>
          <a:prstGeom prst="rect">
            <a:avLst/>
          </a:prstGeom>
          <a:noFill/>
          <a:ln/>
        </p:spPr>
        <p:txBody>
          <a:bodyPr wrap="none" lIns="0" tIns="0" rIns="0" bIns="0" rtlCol="0" anchor="t">
            <a:normAutofit/>
          </a:bodyPr>
          <a:lstStyle/>
          <a:p>
            <a:pPr marL="0" indent="0" algn="l">
              <a:lnSpc>
                <a:spcPts val="2250"/>
              </a:lnSpc>
              <a:buNone/>
            </a:pPr>
            <a:r>
              <a:rPr lang="en-US" sz="2250" b="1" kern="0" spc="-56" dirty="0">
                <a:solidFill>
                  <a:srgbClr val="F97316"/>
                </a:solidFill>
                <a:latin typeface="Liberation Sans Narrow" pitchFamily="34" charset="0"/>
                <a:ea typeface="Liberation Sans Narrow" pitchFamily="34" charset="-122"/>
                <a:cs typeface="Liberation Sans Narrow" pitchFamily="34" charset="-120"/>
              </a:rPr>
              <a:t>05</a:t>
            </a:r>
            <a:endParaRPr lang="en-US" sz="2250" dirty="0"/>
          </a:p>
        </p:txBody>
      </p:sp>
      <p:sp>
        <p:nvSpPr>
          <p:cNvPr id="30" name="Text 28"/>
          <p:cNvSpPr/>
          <p:nvPr/>
        </p:nvSpPr>
        <p:spPr>
          <a:xfrm>
            <a:off x="3364706" y="3216473"/>
            <a:ext cx="2414588" cy="175884"/>
          </a:xfrm>
          <a:prstGeom prst="rect">
            <a:avLst/>
          </a:prstGeom>
          <a:noFill/>
          <a:ln/>
        </p:spPr>
        <p:txBody>
          <a:bodyPr wrap="none" lIns="0" tIns="0" rIns="0" bIns="0" rtlCol="0" anchor="t"/>
          <a:lstStyle/>
          <a:p>
            <a:pPr marL="0" indent="0" algn="l">
              <a:lnSpc>
                <a:spcPts val="1283"/>
              </a:lnSpc>
              <a:buNone/>
            </a:pPr>
            <a:r>
              <a:rPr lang="en-US" sz="1069" b="1" dirty="0">
                <a:solidFill>
                  <a:srgbClr val="0F172A"/>
                </a:solidFill>
                <a:latin typeface="Carlito" pitchFamily="34" charset="0"/>
                <a:ea typeface="Carlito" pitchFamily="34" charset="-122"/>
                <a:cs typeface="Carlito" pitchFamily="34" charset="-120"/>
              </a:rPr>
              <a:t>Lint + Policy</a:t>
            </a:r>
            <a:endParaRPr lang="en-US" sz="1069" dirty="0"/>
          </a:p>
        </p:txBody>
      </p:sp>
      <p:sp>
        <p:nvSpPr>
          <p:cNvPr id="31" name="Text 29"/>
          <p:cNvSpPr/>
          <p:nvPr/>
        </p:nvSpPr>
        <p:spPr>
          <a:xfrm>
            <a:off x="3364706" y="3422191"/>
            <a:ext cx="2414588" cy="600521"/>
          </a:xfrm>
          <a:prstGeom prst="rect">
            <a:avLst/>
          </a:prstGeom>
          <a:noFill/>
          <a:ln/>
        </p:spPr>
        <p:txBody>
          <a:bodyPr wrap="square" lIns="0" tIns="0" rIns="0" bIns="0" rtlCol="0" anchor="t"/>
          <a:lstStyle/>
          <a:p>
            <a:pPr marL="0" indent="0" algn="l">
              <a:lnSpc>
                <a:spcPts val="1183"/>
              </a:lnSpc>
              <a:buNone/>
            </a:pPr>
            <a:r>
              <a:rPr lang="en-US" sz="816" dirty="0">
                <a:solidFill>
                  <a:srgbClr val="334155"/>
                </a:solidFill>
                <a:latin typeface="Carlito" pitchFamily="34" charset="0"/>
                <a:ea typeface="Carlito" pitchFamily="34" charset="-122"/>
                <a:cs typeface="Carlito" pitchFamily="34" charset="-120"/>
              </a:rPr>
              <a:t>tflint catches syntax + provider issues. Checkov catches security + policy issues. 73% of cloud incidents trace to IaC misconfig — linters prevent this.</a:t>
            </a:r>
            <a:endParaRPr lang="en-US" sz="816" dirty="0"/>
          </a:p>
        </p:txBody>
      </p:sp>
      <p:sp>
        <p:nvSpPr>
          <p:cNvPr id="32" name="Text 30"/>
          <p:cNvSpPr/>
          <p:nvPr/>
        </p:nvSpPr>
        <p:spPr>
          <a:xfrm>
            <a:off x="6004322" y="2769989"/>
            <a:ext cx="2678906" cy="1370595"/>
          </a:xfrm>
          <a:prstGeom prst="roundRect">
            <a:avLst>
              <a:gd name="adj" fmla="val 9729"/>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33" name="Text 31"/>
          <p:cNvSpPr/>
          <p:nvPr/>
        </p:nvSpPr>
        <p:spPr>
          <a:xfrm>
            <a:off x="8336756" y="2873573"/>
            <a:ext cx="228600" cy="228600"/>
          </a:xfrm>
          <a:prstGeom prst="rect">
            <a:avLst/>
          </a:prstGeom>
          <a:noFill/>
          <a:ln/>
        </p:spPr>
        <p:txBody>
          <a:bodyPr wrap="none" lIns="0" tIns="0" rIns="0" bIns="0" rtlCol="0" anchor="ctr"/>
          <a:lstStyle/>
          <a:p>
            <a:pPr marL="0" indent="0" algn="ctr">
              <a:buNone/>
            </a:pPr>
            <a:r>
              <a:rPr lang="en-US" sz="2250" dirty="0">
                <a:solidFill>
                  <a:srgbClr val="FED7AA"/>
                </a:solidFill>
                <a:latin typeface="Segoe UI Symbol" pitchFamily="34" charset="0"/>
                <a:ea typeface="Segoe UI Symbol" pitchFamily="34" charset="-122"/>
                <a:cs typeface="Segoe UI Symbol" pitchFamily="34" charset="-120"/>
              </a:rPr>
              <a:t>✦</a:t>
            </a:r>
            <a:endParaRPr lang="en-US" sz="2250" dirty="0"/>
          </a:p>
        </p:txBody>
      </p:sp>
      <p:sp>
        <p:nvSpPr>
          <p:cNvPr id="34" name="Text 32"/>
          <p:cNvSpPr/>
          <p:nvPr/>
        </p:nvSpPr>
        <p:spPr>
          <a:xfrm>
            <a:off x="6136481" y="2887861"/>
            <a:ext cx="2414588" cy="301181"/>
          </a:xfrm>
          <a:prstGeom prst="rect">
            <a:avLst/>
          </a:prstGeom>
          <a:noFill/>
          <a:ln/>
        </p:spPr>
        <p:txBody>
          <a:bodyPr wrap="none" lIns="0" tIns="0" rIns="0" bIns="0" rtlCol="0" anchor="t">
            <a:normAutofit/>
          </a:bodyPr>
          <a:lstStyle/>
          <a:p>
            <a:pPr marL="0" indent="0" algn="l">
              <a:lnSpc>
                <a:spcPts val="2250"/>
              </a:lnSpc>
              <a:buNone/>
            </a:pPr>
            <a:r>
              <a:rPr lang="en-US" sz="2250" b="1" kern="0" spc="-56" dirty="0">
                <a:solidFill>
                  <a:srgbClr val="F97316"/>
                </a:solidFill>
                <a:latin typeface="Liberation Sans Narrow" pitchFamily="34" charset="0"/>
                <a:ea typeface="Liberation Sans Narrow" pitchFamily="34" charset="-122"/>
                <a:cs typeface="Liberation Sans Narrow" pitchFamily="34" charset="-120"/>
              </a:rPr>
              <a:t>06</a:t>
            </a:r>
            <a:endParaRPr lang="en-US" sz="2250" dirty="0"/>
          </a:p>
        </p:txBody>
      </p:sp>
      <p:sp>
        <p:nvSpPr>
          <p:cNvPr id="35" name="Text 33"/>
          <p:cNvSpPr/>
          <p:nvPr/>
        </p:nvSpPr>
        <p:spPr>
          <a:xfrm>
            <a:off x="6136481" y="3216473"/>
            <a:ext cx="2414588" cy="175884"/>
          </a:xfrm>
          <a:prstGeom prst="rect">
            <a:avLst/>
          </a:prstGeom>
          <a:noFill/>
          <a:ln/>
        </p:spPr>
        <p:txBody>
          <a:bodyPr wrap="none" lIns="0" tIns="0" rIns="0" bIns="0" rtlCol="0" anchor="t"/>
          <a:lstStyle/>
          <a:p>
            <a:pPr marL="0" indent="0" algn="l">
              <a:lnSpc>
                <a:spcPts val="1283"/>
              </a:lnSpc>
              <a:buNone/>
            </a:pPr>
            <a:r>
              <a:rPr lang="en-US" sz="1069" b="1" dirty="0">
                <a:solidFill>
                  <a:srgbClr val="0F172A"/>
                </a:solidFill>
                <a:latin typeface="Carlito" pitchFamily="34" charset="0"/>
                <a:ea typeface="Carlito" pitchFamily="34" charset="-122"/>
                <a:cs typeface="Carlito" pitchFamily="34" charset="-120"/>
              </a:rPr>
              <a:t>Orchestration</a:t>
            </a:r>
            <a:endParaRPr lang="en-US" sz="1069" dirty="0"/>
          </a:p>
        </p:txBody>
      </p:sp>
      <p:sp>
        <p:nvSpPr>
          <p:cNvPr id="36" name="Text 34"/>
          <p:cNvSpPr/>
          <p:nvPr/>
        </p:nvSpPr>
        <p:spPr>
          <a:xfrm>
            <a:off x="6136481" y="3422191"/>
            <a:ext cx="2414588" cy="486422"/>
          </a:xfrm>
          <a:prstGeom prst="rect">
            <a:avLst/>
          </a:prstGeom>
          <a:noFill/>
          <a:ln/>
        </p:spPr>
        <p:txBody>
          <a:bodyPr wrap="square" lIns="0" tIns="0" rIns="0" bIns="0" rtlCol="0" anchor="t"/>
          <a:lstStyle/>
          <a:p>
            <a:pPr marL="0" indent="0" algn="l">
              <a:lnSpc>
                <a:spcPts val="1183"/>
              </a:lnSpc>
              <a:buNone/>
            </a:pPr>
            <a:r>
              <a:rPr lang="en-US" sz="816" dirty="0">
                <a:solidFill>
                  <a:srgbClr val="334155"/>
                </a:solidFill>
                <a:latin typeface="Carlito" pitchFamily="34" charset="0"/>
                <a:ea typeface="Carlito" pitchFamily="34" charset="-122"/>
                <a:cs typeface="Carlito" pitchFamily="34" charset="-120"/>
              </a:rPr>
              <a:t>Central AI gateway. Auth + rate limit + audit + cost control. No tool talks to LLM directly. Treat AI output as a junior PR — review every line.</a:t>
            </a:r>
            <a:endParaRPr lang="en-US" sz="816" dirty="0"/>
          </a:p>
        </p:txBody>
      </p:sp>
      <p:sp>
        <p:nvSpPr>
          <p:cNvPr id="37" name="Text 35"/>
          <p:cNvSpPr/>
          <p:nvPr/>
        </p:nvSpPr>
        <p:spPr>
          <a:xfrm>
            <a:off x="457200" y="4229881"/>
            <a:ext cx="8229600" cy="551408"/>
          </a:xfrm>
          <a:prstGeom prst="roundRect">
            <a:avLst>
              <a:gd name="adj" fmla="val 13819"/>
            </a:avLst>
          </a:prstGeom>
          <a:solidFill>
            <a:srgbClr val="FFF7ED"/>
          </a:solidFill>
          <a:ln/>
        </p:spPr>
        <p:txBody>
          <a:bodyPr wrap="square" rtlCol="0" anchor="ctr"/>
          <a:lstStyle/>
          <a:p>
            <a:pPr marL="0" indent="0">
              <a:buNone/>
            </a:pPr>
            <a:endParaRPr lang="en-US" dirty="0"/>
          </a:p>
        </p:txBody>
      </p:sp>
      <p:sp>
        <p:nvSpPr>
          <p:cNvPr id="38" name="Shape 36"/>
          <p:cNvSpPr/>
          <p:nvPr/>
        </p:nvSpPr>
        <p:spPr>
          <a:xfrm>
            <a:off x="478631" y="4229881"/>
            <a:ext cx="0" cy="551408"/>
          </a:xfrm>
          <a:prstGeom prst="line">
            <a:avLst/>
          </a:prstGeom>
          <a:noFill/>
          <a:ln w="42863">
            <a:solidFill>
              <a:srgbClr val="F97316"/>
            </a:solidFill>
            <a:prstDash val="solid"/>
          </a:ln>
        </p:spPr>
      </p:sp>
      <p:sp>
        <p:nvSpPr>
          <p:cNvPr id="39" name="Text 37"/>
          <p:cNvSpPr/>
          <p:nvPr/>
        </p:nvSpPr>
        <p:spPr>
          <a:xfrm>
            <a:off x="657225" y="4315606"/>
            <a:ext cx="7872413" cy="379958"/>
          </a:xfrm>
          <a:prstGeom prst="rect">
            <a:avLst/>
          </a:prstGeom>
          <a:noFill/>
          <a:ln/>
        </p:spPr>
        <p:txBody>
          <a:bodyPr wrap="square" lIns="0" tIns="0" rIns="0" bIns="0" rtlCol="0" anchor="t"/>
          <a:lstStyle/>
          <a:p>
            <a:pPr marL="0" indent="0" algn="l">
              <a:lnSpc>
                <a:spcPts val="1496"/>
              </a:lnSpc>
              <a:buNone/>
            </a:pPr>
            <a:r>
              <a:rPr lang="en-US" sz="1069" b="1" dirty="0">
                <a:solidFill>
                  <a:srgbClr val="C2410C"/>
                </a:solidFill>
                <a:latin typeface="Segoe UI Symbol" pitchFamily="34" charset="0"/>
                <a:ea typeface="Segoe UI Symbol" pitchFamily="34" charset="-122"/>
                <a:cs typeface="Segoe UI Symbol" pitchFamily="34" charset="-120"/>
              </a:rPr>
              <a:t>▿</a:t>
            </a:r>
            <a:r>
              <a:rPr lang="en-US" sz="1069" b="1" dirty="0">
                <a:solidFill>
                  <a:srgbClr val="C2410C"/>
                </a:solidFill>
                <a:latin typeface="Carlito" pitchFamily="34" charset="0"/>
                <a:ea typeface="Carlito" pitchFamily="34" charset="-122"/>
                <a:cs typeface="Carlito" pitchFamily="34" charset="-120"/>
              </a:rPr>
              <a:t> Module 4 made you fluent in the AI-augmented build + config layer. You can now write smarter pipelines, declarative configurations, and AI-assisted infrastructure code — with safety rails.</a:t>
            </a:r>
            <a:endParaRPr lang="en-US" sz="1069"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4306375" cy="373346"/>
          </a:xfrm>
          <a:prstGeom prst="rect">
            <a:avLst/>
          </a:prstGeom>
          <a:noFill/>
          <a:ln/>
        </p:spPr>
        <p:txBody>
          <a:bodyPr wrap="square" lIns="0" tIns="0" rIns="0" bIns="0" rtlCol="0" anchor="t"/>
          <a:lstStyle/>
          <a:p>
            <a:pPr marL="0" indent="0" algn="l">
              <a:lnSpc>
                <a:spcPts val="2723"/>
              </a:lnSpc>
              <a:buNone/>
            </a:pPr>
            <a:r>
              <a:rPr lang="en-US" sz="2475" b="1" kern="0" spc="-28" dirty="0">
                <a:solidFill>
                  <a:srgbClr val="0F172A"/>
                </a:solidFill>
                <a:latin typeface="Carlito" pitchFamily="34" charset="0"/>
                <a:ea typeface="Carlito" pitchFamily="34" charset="-122"/>
                <a:cs typeface="Carlito" pitchFamily="34" charset="-120"/>
              </a:rPr>
              <a:t>Further Reading &amp; Resources</a:t>
            </a:r>
            <a:endParaRPr lang="en-US" sz="2475" dirty="0"/>
          </a:p>
        </p:txBody>
      </p:sp>
      <p:sp>
        <p:nvSpPr>
          <p:cNvPr id="3" name="Text 1"/>
          <p:cNvSpPr/>
          <p:nvPr/>
        </p:nvSpPr>
        <p:spPr>
          <a:xfrm>
            <a:off x="457200" y="888616"/>
            <a:ext cx="571500" cy="42863"/>
          </a:xfrm>
          <a:prstGeom prst="roundRect">
            <a:avLst>
              <a:gd name="adj" fmla="val 66666"/>
            </a:avLst>
          </a:prstGeom>
          <a:solidFill>
            <a:srgbClr val="F97316"/>
          </a:solidFill>
          <a:ln/>
        </p:spPr>
        <p:txBody>
          <a:bodyPr wrap="square" rtlCol="0" anchor="ctr"/>
          <a:lstStyle/>
          <a:p>
            <a:pPr marL="0" indent="0">
              <a:buNone/>
            </a:pPr>
            <a:endParaRPr lang="en-US" dirty="0"/>
          </a:p>
        </p:txBody>
      </p:sp>
      <p:sp>
        <p:nvSpPr>
          <p:cNvPr id="4" name="Text 2"/>
          <p:cNvSpPr/>
          <p:nvPr/>
        </p:nvSpPr>
        <p:spPr>
          <a:xfrm>
            <a:off x="7254389" y="528672"/>
            <a:ext cx="1455271" cy="331333"/>
          </a:xfrm>
          <a:prstGeom prst="roundRect">
            <a:avLst>
              <a:gd name="adj" fmla="val 2871877"/>
            </a:avLst>
          </a:prstGeom>
          <a:solidFill>
            <a:srgbClr val="FED7AA"/>
          </a:solidFill>
          <a:ln/>
        </p:spPr>
        <p:txBody>
          <a:bodyPr wrap="square" rtlCol="0" anchor="ctr"/>
          <a:lstStyle/>
          <a:p>
            <a:pPr marL="0" indent="0">
              <a:buNone/>
            </a:pPr>
            <a:endParaRPr lang="en-US" dirty="0"/>
          </a:p>
        </p:txBody>
      </p:sp>
      <p:sp>
        <p:nvSpPr>
          <p:cNvPr id="5" name="Text 3"/>
          <p:cNvSpPr/>
          <p:nvPr/>
        </p:nvSpPr>
        <p:spPr>
          <a:xfrm>
            <a:off x="7218278" y="541474"/>
            <a:ext cx="1527494" cy="305730"/>
          </a:xfrm>
          <a:prstGeom prst="rect">
            <a:avLst/>
          </a:prstGeom>
          <a:noFill/>
          <a:ln/>
        </p:spPr>
        <p:txBody>
          <a:bodyPr wrap="none" lIns="0" tIns="0" rIns="0" bIns="0" rtlCol="0" anchor="ctr"/>
          <a:lstStyle/>
          <a:p>
            <a:pPr marL="0" indent="0" algn="ctr">
              <a:lnSpc>
                <a:spcPts val="1733"/>
              </a:lnSpc>
              <a:buNone/>
            </a:pPr>
            <a:r>
              <a:rPr lang="en-US" sz="1238" b="1" kern="0" spc="28" dirty="0">
                <a:solidFill>
                  <a:srgbClr val="C2410C"/>
                </a:solidFill>
                <a:latin typeface="Liberation Sans Narrow" pitchFamily="34" charset="0"/>
                <a:ea typeface="Liberation Sans Narrow" pitchFamily="34" charset="-122"/>
                <a:cs typeface="Liberation Sans Narrow" pitchFamily="34" charset="-120"/>
              </a:rPr>
              <a:t>SECTION D · 4.4</a:t>
            </a:r>
            <a:endParaRPr lang="en-US" sz="1238" dirty="0"/>
          </a:p>
        </p:txBody>
      </p:sp>
      <p:sp>
        <p:nvSpPr>
          <p:cNvPr id="6" name="Text 4"/>
          <p:cNvSpPr/>
          <p:nvPr/>
        </p:nvSpPr>
        <p:spPr>
          <a:xfrm>
            <a:off x="457200" y="1017203"/>
            <a:ext cx="8229600" cy="216027"/>
          </a:xfrm>
          <a:prstGeom prst="rect">
            <a:avLst/>
          </a:prstGeom>
          <a:noFill/>
          <a:ln/>
        </p:spPr>
        <p:txBody>
          <a:bodyPr wrap="square" lIns="0" tIns="0" rIns="0" bIns="0" rtlCol="0" anchor="t"/>
          <a:lstStyle/>
          <a:p>
            <a:pPr marL="0" indent="0" algn="l">
              <a:lnSpc>
                <a:spcPts val="1575"/>
              </a:lnSpc>
              <a:buNone/>
            </a:pPr>
            <a:r>
              <a:rPr lang="en-US" sz="1125" dirty="0">
                <a:solidFill>
                  <a:srgbClr val="64748B"/>
                </a:solidFill>
                <a:latin typeface="Carlito" pitchFamily="34" charset="0"/>
                <a:ea typeface="Carlito" pitchFamily="34" charset="-122"/>
                <a:cs typeface="Carlito" pitchFamily="34" charset="-120"/>
              </a:rPr>
              <a:t>Curated resources to deepen your understanding of Module 4 topics.</a:t>
            </a:r>
            <a:endParaRPr lang="en-US" sz="1125" dirty="0"/>
          </a:p>
        </p:txBody>
      </p:sp>
      <p:sp>
        <p:nvSpPr>
          <p:cNvPr id="7" name="Text 5"/>
          <p:cNvSpPr/>
          <p:nvPr/>
        </p:nvSpPr>
        <p:spPr>
          <a:xfrm>
            <a:off x="460772" y="1306525"/>
            <a:ext cx="4064794" cy="1187648"/>
          </a:xfrm>
          <a:prstGeom prst="roundRect">
            <a:avLst>
              <a:gd name="adj" fmla="val 11228"/>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8" name="Text 6"/>
          <p:cNvSpPr/>
          <p:nvPr/>
        </p:nvSpPr>
        <p:spPr>
          <a:xfrm>
            <a:off x="835819" y="1421495"/>
            <a:ext cx="860821" cy="185166"/>
          </a:xfrm>
          <a:prstGeom prst="rect">
            <a:avLst/>
          </a:prstGeom>
          <a:noFill/>
          <a:ln/>
        </p:spPr>
        <p:txBody>
          <a:bodyPr wrap="none" lIns="0" tIns="0" rIns="0" bIns="0" rtlCol="0" anchor="t"/>
          <a:lstStyle/>
          <a:p>
            <a:pPr marL="0" indent="0" algn="l">
              <a:lnSpc>
                <a:spcPts val="1283"/>
              </a:lnSpc>
              <a:buNone/>
            </a:pPr>
            <a:r>
              <a:rPr lang="en-US" sz="1069" b="1" dirty="0">
                <a:solidFill>
                  <a:srgbClr val="0F172A"/>
                </a:solidFill>
                <a:latin typeface="Carlito" pitchFamily="34" charset="0"/>
                <a:ea typeface="Carlito" pitchFamily="34" charset="-122"/>
                <a:cs typeface="Carlito" pitchFamily="34" charset="-120"/>
              </a:rPr>
              <a:t>Textbooks</a:t>
            </a:r>
            <a:endParaRPr lang="en-US" sz="1069" dirty="0"/>
          </a:p>
        </p:txBody>
      </p:sp>
      <p:sp>
        <p:nvSpPr>
          <p:cNvPr id="9" name="Text 7"/>
          <p:cNvSpPr/>
          <p:nvPr/>
        </p:nvSpPr>
        <p:spPr>
          <a:xfrm>
            <a:off x="592931" y="1424397"/>
            <a:ext cx="171450" cy="171450"/>
          </a:xfrm>
          <a:prstGeom prst="rect">
            <a:avLst/>
          </a:prstGeom>
          <a:noFill/>
          <a:ln/>
        </p:spPr>
        <p:txBody>
          <a:bodyPr wrap="none" lIns="0" tIns="0" rIns="0" bIns="0" rtlCol="0" anchor="ctr"/>
          <a:lstStyle/>
          <a:p>
            <a:pPr marL="0" indent="0" algn="ctr">
              <a:buNone/>
            </a:pPr>
            <a:r>
              <a:rPr lang="en-US" sz="1688" dirty="0">
                <a:solidFill>
                  <a:srgbClr val="F97316"/>
                </a:solidFill>
                <a:latin typeface="Segoe UI Symbol" pitchFamily="34" charset="0"/>
                <a:ea typeface="Segoe UI Symbol" pitchFamily="34" charset="-122"/>
                <a:cs typeface="Segoe UI Symbol" pitchFamily="34" charset="-120"/>
              </a:rPr>
              <a:t>▤</a:t>
            </a:r>
            <a:endParaRPr lang="en-US" sz="1688" dirty="0"/>
          </a:p>
        </p:txBody>
      </p:sp>
      <p:sp>
        <p:nvSpPr>
          <p:cNvPr id="10" name="Text 8"/>
          <p:cNvSpPr/>
          <p:nvPr/>
        </p:nvSpPr>
        <p:spPr>
          <a:xfrm>
            <a:off x="592931" y="1652997"/>
            <a:ext cx="3800475" cy="723305"/>
          </a:xfrm>
          <a:prstGeom prst="rect">
            <a:avLst/>
          </a:prstGeom>
          <a:noFill/>
          <a:ln/>
        </p:spPr>
        <p:txBody>
          <a:bodyPr wrap="square" lIns="0" tIns="0" rIns="0" bIns="0" rtlCol="0" anchor="t"/>
          <a:lstStyle/>
          <a:p>
            <a:pPr marL="0" indent="0" algn="l">
              <a:lnSpc>
                <a:spcPts val="1139"/>
              </a:lnSpc>
              <a:buNone/>
            </a:pPr>
            <a:r>
              <a:rPr lang="en-US" sz="800" b="1" dirty="0">
                <a:solidFill>
                  <a:srgbClr val="C2410C"/>
                </a:solidFill>
                <a:latin typeface="Liberation Sans Narrow" pitchFamily="34" charset="0"/>
                <a:ea typeface="Liberation Sans Narrow" pitchFamily="34" charset="-122"/>
                <a:cs typeface="Liberation Sans Narrow" pitchFamily="34" charset="-120"/>
              </a:rPr>
              <a:t>T1:</a:t>
            </a:r>
            <a:r>
              <a:rPr lang="en-US" sz="800" dirty="0">
                <a:solidFill>
                  <a:srgbClr val="334155"/>
                </a:solidFill>
                <a:latin typeface="Courier New" pitchFamily="34" charset="0"/>
                <a:ea typeface="Courier New" pitchFamily="34" charset="-122"/>
                <a:cs typeface="Courier New" pitchFamily="34" charset="-120"/>
              </a:rPr>
              <a:t> Continuous Delivery (Humble &amp; Farley, 2011)</a:t>
            </a:r>
            <a:endParaRPr lang="en-US" sz="800" dirty="0"/>
          </a:p>
          <a:p>
            <a:pPr marL="0" indent="0" algn="l">
              <a:lnSpc>
                <a:spcPts val="1139"/>
              </a:lnSpc>
              <a:buNone/>
            </a:pPr>
            <a:r>
              <a:rPr lang="en-US" sz="800" b="1" dirty="0">
                <a:solidFill>
                  <a:srgbClr val="C2410C"/>
                </a:solidFill>
                <a:latin typeface="Liberation Sans Narrow" pitchFamily="34" charset="0"/>
                <a:ea typeface="Liberation Sans Narrow" pitchFamily="34" charset="-122"/>
                <a:cs typeface="Liberation Sans Narrow" pitchFamily="34" charset="-120"/>
              </a:rPr>
              <a:t>T2:</a:t>
            </a:r>
            <a:r>
              <a:rPr lang="en-US" sz="800" dirty="0">
                <a:solidFill>
                  <a:srgbClr val="334155"/>
                </a:solidFill>
                <a:latin typeface="Courier New" pitchFamily="34" charset="0"/>
                <a:ea typeface="Courier New" pitchFamily="34" charset="-122"/>
                <a:cs typeface="Courier New" pitchFamily="34" charset="-120"/>
              </a:rPr>
              <a:t> Hands-on AIOps (Sabharwal &amp; Bhardwaj, 2022)</a:t>
            </a:r>
            <a:endParaRPr lang="en-US" sz="800" dirty="0"/>
          </a:p>
          <a:p>
            <a:pPr marL="0" indent="0" algn="l">
              <a:lnSpc>
                <a:spcPts val="1139"/>
              </a:lnSpc>
              <a:buNone/>
            </a:pPr>
            <a:r>
              <a:rPr lang="en-US" sz="800" b="1" dirty="0">
                <a:solidFill>
                  <a:srgbClr val="C2410C"/>
                </a:solidFill>
                <a:latin typeface="Liberation Sans Narrow" pitchFamily="34" charset="0"/>
                <a:ea typeface="Liberation Sans Narrow" pitchFamily="34" charset="-122"/>
                <a:cs typeface="Liberation Sans Narrow" pitchFamily="34" charset="-120"/>
              </a:rPr>
              <a:t>R1:</a:t>
            </a:r>
            <a:r>
              <a:rPr lang="en-US" sz="800" dirty="0">
                <a:solidFill>
                  <a:srgbClr val="334155"/>
                </a:solidFill>
                <a:latin typeface="Courier New" pitchFamily="34" charset="0"/>
                <a:ea typeface="Courier New" pitchFamily="34" charset="-122"/>
                <a:cs typeface="Courier New" pitchFamily="34" charset="-120"/>
              </a:rPr>
              <a:t> The DevOps Handbook (Kim et al., 2021)</a:t>
            </a:r>
            <a:endParaRPr lang="en-US" sz="800" dirty="0"/>
          </a:p>
          <a:p>
            <a:pPr marL="0" indent="0" algn="l">
              <a:lnSpc>
                <a:spcPts val="1139"/>
              </a:lnSpc>
              <a:buNone/>
            </a:pPr>
            <a:r>
              <a:rPr lang="en-US" sz="800" b="1" dirty="0">
                <a:solidFill>
                  <a:srgbClr val="C2410C"/>
                </a:solidFill>
                <a:latin typeface="Liberation Sans Narrow" pitchFamily="34" charset="0"/>
                <a:ea typeface="Liberation Sans Narrow" pitchFamily="34" charset="-122"/>
                <a:cs typeface="Liberation Sans Narrow" pitchFamily="34" charset="-120"/>
              </a:rPr>
              <a:t>R2:</a:t>
            </a:r>
            <a:r>
              <a:rPr lang="en-US" sz="800" dirty="0">
                <a:solidFill>
                  <a:srgbClr val="334155"/>
                </a:solidFill>
                <a:latin typeface="Liberation Sans Narrow" pitchFamily="34" charset="0"/>
                <a:ea typeface="Liberation Sans Narrow" pitchFamily="34" charset="-122"/>
                <a:cs typeface="Liberation Sans Narrow" pitchFamily="34" charset="-120"/>
              </a:rPr>
              <a:t> Accelerate (Forsgren et al., 2018)</a:t>
            </a:r>
            <a:endParaRPr lang="en-US" sz="800" dirty="0"/>
          </a:p>
          <a:p>
            <a:pPr marL="0" indent="0" algn="l">
              <a:lnSpc>
                <a:spcPts val="1139"/>
              </a:lnSpc>
              <a:buNone/>
            </a:pPr>
            <a:r>
              <a:rPr lang="en-US" sz="800" b="1" dirty="0">
                <a:solidFill>
                  <a:srgbClr val="C2410C"/>
                </a:solidFill>
                <a:latin typeface="Liberation Sans Narrow" pitchFamily="34" charset="0"/>
                <a:ea typeface="Liberation Sans Narrow" pitchFamily="34" charset="-122"/>
                <a:cs typeface="Liberation Sans Narrow" pitchFamily="34" charset="-120"/>
              </a:rPr>
              <a:t>R3:</a:t>
            </a:r>
            <a:r>
              <a:rPr lang="en-US" sz="800" dirty="0">
                <a:solidFill>
                  <a:srgbClr val="334155"/>
                </a:solidFill>
                <a:latin typeface="Courier New" pitchFamily="34" charset="0"/>
                <a:ea typeface="Courier New" pitchFamily="34" charset="-122"/>
                <a:cs typeface="Courier New" pitchFamily="34" charset="-120"/>
              </a:rPr>
              <a:t> Terraform: Up &amp; Running (Brikman, 2022)</a:t>
            </a:r>
            <a:endParaRPr lang="en-US" sz="800" dirty="0"/>
          </a:p>
        </p:txBody>
      </p:sp>
      <p:sp>
        <p:nvSpPr>
          <p:cNvPr id="11" name="Text 9"/>
          <p:cNvSpPr/>
          <p:nvPr/>
        </p:nvSpPr>
        <p:spPr>
          <a:xfrm>
            <a:off x="4618434" y="1306525"/>
            <a:ext cx="4064794" cy="1187648"/>
          </a:xfrm>
          <a:prstGeom prst="roundRect">
            <a:avLst>
              <a:gd name="adj" fmla="val 11228"/>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12" name="Text 10"/>
          <p:cNvSpPr/>
          <p:nvPr/>
        </p:nvSpPr>
        <p:spPr>
          <a:xfrm>
            <a:off x="4993481" y="1421495"/>
            <a:ext cx="1121373" cy="185166"/>
          </a:xfrm>
          <a:prstGeom prst="rect">
            <a:avLst/>
          </a:prstGeom>
          <a:noFill/>
          <a:ln/>
        </p:spPr>
        <p:txBody>
          <a:bodyPr wrap="none" lIns="0" tIns="0" rIns="0" bIns="0" rtlCol="0" anchor="t"/>
          <a:lstStyle/>
          <a:p>
            <a:pPr marL="0" indent="0" algn="l">
              <a:lnSpc>
                <a:spcPts val="1283"/>
              </a:lnSpc>
              <a:buNone/>
            </a:pPr>
            <a:r>
              <a:rPr lang="en-US" sz="1069" b="1" dirty="0">
                <a:solidFill>
                  <a:srgbClr val="0F172A"/>
                </a:solidFill>
                <a:latin typeface="Carlito" pitchFamily="34" charset="0"/>
                <a:ea typeface="Carlito" pitchFamily="34" charset="-122"/>
                <a:cs typeface="Carlito" pitchFamily="34" charset="-120"/>
              </a:rPr>
              <a:t>Documentation</a:t>
            </a:r>
            <a:endParaRPr lang="en-US" sz="1069" dirty="0"/>
          </a:p>
        </p:txBody>
      </p:sp>
      <p:sp>
        <p:nvSpPr>
          <p:cNvPr id="13" name="Text 11"/>
          <p:cNvSpPr/>
          <p:nvPr/>
        </p:nvSpPr>
        <p:spPr>
          <a:xfrm>
            <a:off x="4750594" y="1424397"/>
            <a:ext cx="171450" cy="171450"/>
          </a:xfrm>
          <a:prstGeom prst="rect">
            <a:avLst/>
          </a:prstGeom>
          <a:noFill/>
          <a:ln/>
        </p:spPr>
        <p:txBody>
          <a:bodyPr wrap="none" lIns="0" tIns="0" rIns="0" bIns="0" rtlCol="0" anchor="ctr"/>
          <a:lstStyle/>
          <a:p>
            <a:pPr marL="0" indent="0" algn="ctr">
              <a:buNone/>
            </a:pPr>
            <a:r>
              <a:rPr lang="en-US" sz="1688" dirty="0">
                <a:solidFill>
                  <a:srgbClr val="F97316"/>
                </a:solidFill>
                <a:latin typeface="Segoe UI Symbol" pitchFamily="34" charset="0"/>
                <a:ea typeface="Segoe UI Symbol" pitchFamily="34" charset="-122"/>
                <a:cs typeface="Segoe UI Symbol" pitchFamily="34" charset="-120"/>
              </a:rPr>
              <a:t>▤</a:t>
            </a:r>
            <a:endParaRPr lang="en-US" sz="1688" dirty="0"/>
          </a:p>
        </p:txBody>
      </p:sp>
      <p:sp>
        <p:nvSpPr>
          <p:cNvPr id="14" name="Text 12"/>
          <p:cNvSpPr/>
          <p:nvPr/>
        </p:nvSpPr>
        <p:spPr>
          <a:xfrm>
            <a:off x="4750594" y="1652997"/>
            <a:ext cx="3800475" cy="658368"/>
          </a:xfrm>
          <a:prstGeom prst="rect">
            <a:avLst/>
          </a:prstGeom>
          <a:noFill/>
          <a:ln/>
        </p:spPr>
        <p:txBody>
          <a:bodyPr wrap="square" lIns="0" tIns="0" rIns="0" bIns="0" rtlCol="0" anchor="t"/>
          <a:lstStyle/>
          <a:p>
            <a:pPr marL="0" indent="0" algn="l">
              <a:lnSpc>
                <a:spcPts val="1139"/>
              </a:lnSpc>
              <a:buNone/>
            </a:pPr>
            <a:r>
              <a:rPr lang="en-US" sz="800" b="1" dirty="0">
                <a:solidFill>
                  <a:srgbClr val="C2410C"/>
                </a:solidFill>
                <a:latin typeface="Courier New" pitchFamily="34" charset="0"/>
                <a:ea typeface="Courier New" pitchFamily="34" charset="-122"/>
                <a:cs typeface="Courier New" pitchFamily="34" charset="-120"/>
              </a:rPr>
              <a:t>Ansible:</a:t>
            </a:r>
            <a:r>
              <a:rPr lang="en-US" sz="800" dirty="0">
                <a:solidFill>
                  <a:srgbClr val="334155"/>
                </a:solidFill>
                <a:latin typeface="Courier New" pitchFamily="34" charset="0"/>
                <a:ea typeface="Courier New" pitchFamily="34" charset="-122"/>
                <a:cs typeface="Courier New" pitchFamily="34" charset="-120"/>
              </a:rPr>
              <a:t> docs.ansible.com</a:t>
            </a:r>
            <a:endParaRPr lang="en-US" sz="800" dirty="0"/>
          </a:p>
          <a:p>
            <a:pPr marL="0" indent="0" algn="l">
              <a:lnSpc>
                <a:spcPts val="1139"/>
              </a:lnSpc>
              <a:buNone/>
            </a:pPr>
            <a:r>
              <a:rPr lang="en-US" sz="800" b="1" dirty="0">
                <a:solidFill>
                  <a:srgbClr val="C2410C"/>
                </a:solidFill>
                <a:latin typeface="Courier New" pitchFamily="34" charset="0"/>
                <a:ea typeface="Courier New" pitchFamily="34" charset="-122"/>
                <a:cs typeface="Courier New" pitchFamily="34" charset="-120"/>
              </a:rPr>
              <a:t>Terraform:</a:t>
            </a:r>
            <a:r>
              <a:rPr lang="en-US" sz="800" dirty="0">
                <a:solidFill>
                  <a:srgbClr val="334155"/>
                </a:solidFill>
                <a:latin typeface="Courier New" pitchFamily="34" charset="0"/>
                <a:ea typeface="Courier New" pitchFamily="34" charset="-122"/>
                <a:cs typeface="Courier New" pitchFamily="34" charset="-120"/>
              </a:rPr>
              <a:t> developer.hashicorp.com/terraform</a:t>
            </a:r>
            <a:endParaRPr lang="en-US" sz="800" dirty="0"/>
          </a:p>
          <a:p>
            <a:pPr marL="0" indent="0" algn="l">
              <a:lnSpc>
                <a:spcPts val="1139"/>
              </a:lnSpc>
              <a:buNone/>
            </a:pPr>
            <a:r>
              <a:rPr lang="en-US" sz="800" b="1" dirty="0">
                <a:solidFill>
                  <a:srgbClr val="C2410C"/>
                </a:solidFill>
                <a:latin typeface="Courier New" pitchFamily="34" charset="0"/>
                <a:ea typeface="Courier New" pitchFamily="34" charset="-122"/>
                <a:cs typeface="Courier New" pitchFamily="34" charset="-120"/>
              </a:rPr>
              <a:t>tflint:</a:t>
            </a:r>
            <a:r>
              <a:rPr lang="en-US" sz="800" dirty="0">
                <a:solidFill>
                  <a:srgbClr val="334155"/>
                </a:solidFill>
                <a:latin typeface="Courier New" pitchFamily="34" charset="0"/>
                <a:ea typeface="Courier New" pitchFamily="34" charset="-122"/>
                <a:cs typeface="Courier New" pitchFamily="34" charset="-120"/>
              </a:rPr>
              <a:t> github.com/terraform-linters/tflint</a:t>
            </a:r>
            <a:endParaRPr lang="en-US" sz="800" dirty="0"/>
          </a:p>
          <a:p>
            <a:pPr marL="0" indent="0" algn="l">
              <a:lnSpc>
                <a:spcPts val="1139"/>
              </a:lnSpc>
              <a:buNone/>
            </a:pPr>
            <a:r>
              <a:rPr lang="en-US" sz="800" b="1" dirty="0">
                <a:solidFill>
                  <a:srgbClr val="C2410C"/>
                </a:solidFill>
                <a:latin typeface="Courier New" pitchFamily="34" charset="0"/>
                <a:ea typeface="Courier New" pitchFamily="34" charset="-122"/>
                <a:cs typeface="Courier New" pitchFamily="34" charset="-120"/>
              </a:rPr>
              <a:t>Checkov:</a:t>
            </a:r>
            <a:r>
              <a:rPr lang="en-US" sz="800" dirty="0">
                <a:solidFill>
                  <a:srgbClr val="334155"/>
                </a:solidFill>
                <a:latin typeface="Courier New" pitchFamily="34" charset="0"/>
                <a:ea typeface="Courier New" pitchFamily="34" charset="-122"/>
                <a:cs typeface="Courier New" pitchFamily="34" charset="-120"/>
              </a:rPr>
              <a:t> github.com/bridgecrewio/checkov</a:t>
            </a:r>
            <a:endParaRPr lang="en-US" sz="800" dirty="0"/>
          </a:p>
        </p:txBody>
      </p:sp>
      <p:sp>
        <p:nvSpPr>
          <p:cNvPr id="15" name="Text 13"/>
          <p:cNvSpPr/>
          <p:nvPr/>
        </p:nvSpPr>
        <p:spPr>
          <a:xfrm>
            <a:off x="460772" y="2587042"/>
            <a:ext cx="4064794" cy="898327"/>
          </a:xfrm>
          <a:prstGeom prst="roundRect">
            <a:avLst>
              <a:gd name="adj" fmla="val 14844"/>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16" name="Text 14"/>
          <p:cNvSpPr/>
          <p:nvPr/>
        </p:nvSpPr>
        <p:spPr>
          <a:xfrm>
            <a:off x="835819" y="2702012"/>
            <a:ext cx="658904" cy="185166"/>
          </a:xfrm>
          <a:prstGeom prst="rect">
            <a:avLst/>
          </a:prstGeom>
          <a:noFill/>
          <a:ln/>
        </p:spPr>
        <p:txBody>
          <a:bodyPr wrap="none" lIns="0" tIns="0" rIns="0" bIns="0" rtlCol="0" anchor="t"/>
          <a:lstStyle/>
          <a:p>
            <a:pPr marL="0" indent="0" algn="l">
              <a:lnSpc>
                <a:spcPts val="1283"/>
              </a:lnSpc>
              <a:buNone/>
            </a:pPr>
            <a:r>
              <a:rPr lang="en-US" sz="1069" b="1" dirty="0">
                <a:solidFill>
                  <a:srgbClr val="0F172A"/>
                </a:solidFill>
                <a:latin typeface="Carlito" pitchFamily="34" charset="0"/>
                <a:ea typeface="Carlito" pitchFamily="34" charset="-122"/>
                <a:cs typeface="Carlito" pitchFamily="34" charset="-120"/>
              </a:rPr>
              <a:t>Reports</a:t>
            </a:r>
            <a:endParaRPr lang="en-US" sz="1069" dirty="0"/>
          </a:p>
        </p:txBody>
      </p:sp>
      <p:sp>
        <p:nvSpPr>
          <p:cNvPr id="17" name="Text 15"/>
          <p:cNvSpPr/>
          <p:nvPr/>
        </p:nvSpPr>
        <p:spPr>
          <a:xfrm>
            <a:off x="592931" y="2704914"/>
            <a:ext cx="171450" cy="171450"/>
          </a:xfrm>
          <a:prstGeom prst="rect">
            <a:avLst/>
          </a:prstGeom>
          <a:noFill/>
          <a:ln/>
        </p:spPr>
        <p:txBody>
          <a:bodyPr wrap="none" lIns="0" tIns="0" rIns="0" bIns="0" rtlCol="0" anchor="ctr"/>
          <a:lstStyle/>
          <a:p>
            <a:pPr marL="0" indent="0" algn="ctr">
              <a:buNone/>
            </a:pPr>
            <a:r>
              <a:rPr lang="en-US" sz="1688" dirty="0">
                <a:solidFill>
                  <a:srgbClr val="F97316"/>
                </a:solidFill>
                <a:latin typeface="Segoe UI Symbol" pitchFamily="34" charset="0"/>
                <a:ea typeface="Segoe UI Symbol" pitchFamily="34" charset="-122"/>
                <a:cs typeface="Segoe UI Symbol" pitchFamily="34" charset="-120"/>
              </a:rPr>
              <a:t>▦</a:t>
            </a:r>
            <a:endParaRPr lang="en-US" sz="1688" dirty="0"/>
          </a:p>
        </p:txBody>
      </p:sp>
      <p:sp>
        <p:nvSpPr>
          <p:cNvPr id="18" name="Text 16"/>
          <p:cNvSpPr/>
          <p:nvPr/>
        </p:nvSpPr>
        <p:spPr>
          <a:xfrm>
            <a:off x="592931" y="2933514"/>
            <a:ext cx="3800475" cy="329184"/>
          </a:xfrm>
          <a:prstGeom prst="rect">
            <a:avLst/>
          </a:prstGeom>
          <a:noFill/>
          <a:ln/>
        </p:spPr>
        <p:txBody>
          <a:bodyPr wrap="square" lIns="0" tIns="0" rIns="0" bIns="0" rtlCol="0" anchor="t"/>
          <a:lstStyle/>
          <a:p>
            <a:pPr marL="0" indent="0" algn="l">
              <a:lnSpc>
                <a:spcPts val="1139"/>
              </a:lnSpc>
              <a:buNone/>
            </a:pPr>
            <a:r>
              <a:rPr lang="en-US" sz="800" b="1" dirty="0">
                <a:solidFill>
                  <a:srgbClr val="C2410C"/>
                </a:solidFill>
                <a:latin typeface="Courier New" pitchFamily="34" charset="0"/>
                <a:ea typeface="Courier New" pitchFamily="34" charset="-122"/>
                <a:cs typeface="Courier New" pitchFamily="34" charset="-120"/>
              </a:rPr>
              <a:t>DORA State of DevOps Report</a:t>
            </a:r>
            <a:r>
              <a:rPr lang="en-US" sz="800" dirty="0">
                <a:solidFill>
                  <a:srgbClr val="334155"/>
                </a:solidFill>
                <a:latin typeface="Courier New" pitchFamily="34" charset="0"/>
                <a:ea typeface="Courier New" pitchFamily="34" charset="-122"/>
                <a:cs typeface="Courier New" pitchFamily="34" charset="-120"/>
              </a:rPr>
              <a:t> (annual, free PDF): dora.dev/research</a:t>
            </a:r>
            <a:endParaRPr lang="en-US" sz="800" dirty="0"/>
          </a:p>
          <a:p>
            <a:pPr marL="0" indent="0" algn="l">
              <a:lnSpc>
                <a:spcPts val="1139"/>
              </a:lnSpc>
              <a:buNone/>
            </a:pPr>
            <a:r>
              <a:rPr lang="en-US" sz="800" b="1" dirty="0">
                <a:solidFill>
                  <a:srgbClr val="C2410C"/>
                </a:solidFill>
                <a:latin typeface="Courier New" pitchFamily="34" charset="0"/>
                <a:ea typeface="Courier New" pitchFamily="34" charset="-122"/>
                <a:cs typeface="Courier New" pitchFamily="34" charset="-120"/>
              </a:rPr>
              <a:t>GitHub State of the Octoverse</a:t>
            </a:r>
            <a:r>
              <a:rPr lang="en-US" sz="800" dirty="0">
                <a:solidFill>
                  <a:srgbClr val="334155"/>
                </a:solidFill>
                <a:latin typeface="Courier New" pitchFamily="34" charset="0"/>
                <a:ea typeface="Courier New" pitchFamily="34" charset="-122"/>
                <a:cs typeface="Courier New" pitchFamily="34" charset="-120"/>
              </a:rPr>
              <a:t> (annual): octoverse.github.com</a:t>
            </a:r>
            <a:endParaRPr lang="en-US" sz="800" dirty="0"/>
          </a:p>
        </p:txBody>
      </p:sp>
      <p:sp>
        <p:nvSpPr>
          <p:cNvPr id="19" name="Text 17"/>
          <p:cNvSpPr/>
          <p:nvPr/>
        </p:nvSpPr>
        <p:spPr>
          <a:xfrm>
            <a:off x="4618434" y="2587042"/>
            <a:ext cx="4064794" cy="898327"/>
          </a:xfrm>
          <a:prstGeom prst="roundRect">
            <a:avLst>
              <a:gd name="adj" fmla="val 14844"/>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20" name="Text 18"/>
          <p:cNvSpPr/>
          <p:nvPr/>
        </p:nvSpPr>
        <p:spPr>
          <a:xfrm>
            <a:off x="4993481" y="2702012"/>
            <a:ext cx="1433494" cy="185166"/>
          </a:xfrm>
          <a:prstGeom prst="rect">
            <a:avLst/>
          </a:prstGeom>
          <a:noFill/>
          <a:ln/>
        </p:spPr>
        <p:txBody>
          <a:bodyPr wrap="none" lIns="0" tIns="0" rIns="0" bIns="0" rtlCol="0" anchor="t"/>
          <a:lstStyle/>
          <a:p>
            <a:pPr marL="0" indent="0" algn="l">
              <a:lnSpc>
                <a:spcPts val="1283"/>
              </a:lnSpc>
              <a:buNone/>
            </a:pPr>
            <a:r>
              <a:rPr lang="en-US" sz="1069" b="1" dirty="0">
                <a:solidFill>
                  <a:srgbClr val="0F172A"/>
                </a:solidFill>
                <a:latin typeface="Carlito" pitchFamily="34" charset="0"/>
                <a:ea typeface="Carlito" pitchFamily="34" charset="-122"/>
                <a:cs typeface="Carlito" pitchFamily="34" charset="-120"/>
              </a:rPr>
              <a:t>Prompt Engineering</a:t>
            </a:r>
            <a:endParaRPr lang="en-US" sz="1069" dirty="0"/>
          </a:p>
        </p:txBody>
      </p:sp>
      <p:sp>
        <p:nvSpPr>
          <p:cNvPr id="21" name="Text 19"/>
          <p:cNvSpPr/>
          <p:nvPr/>
        </p:nvSpPr>
        <p:spPr>
          <a:xfrm>
            <a:off x="4750594" y="2704914"/>
            <a:ext cx="171450" cy="171450"/>
          </a:xfrm>
          <a:prstGeom prst="rect">
            <a:avLst/>
          </a:prstGeom>
          <a:noFill/>
          <a:ln/>
        </p:spPr>
        <p:txBody>
          <a:bodyPr wrap="none" lIns="0" tIns="0" rIns="0" bIns="0" rtlCol="0" anchor="ctr"/>
          <a:lstStyle/>
          <a:p>
            <a:pPr marL="0" indent="0" algn="ctr">
              <a:buNone/>
            </a:pPr>
            <a:r>
              <a:rPr lang="en-US" sz="1688" dirty="0">
                <a:solidFill>
                  <a:srgbClr val="F97316"/>
                </a:solidFill>
                <a:latin typeface="Segoe UI Symbol" pitchFamily="34" charset="0"/>
                <a:ea typeface="Segoe UI Symbol" pitchFamily="34" charset="-122"/>
                <a:cs typeface="Segoe UI Symbol" pitchFamily="34" charset="-120"/>
              </a:rPr>
              <a:t>◯</a:t>
            </a:r>
            <a:endParaRPr lang="en-US" sz="1688" dirty="0"/>
          </a:p>
        </p:txBody>
      </p:sp>
      <p:sp>
        <p:nvSpPr>
          <p:cNvPr id="22" name="Text 20"/>
          <p:cNvSpPr/>
          <p:nvPr/>
        </p:nvSpPr>
        <p:spPr>
          <a:xfrm>
            <a:off x="4750594" y="2933514"/>
            <a:ext cx="3800475" cy="433983"/>
          </a:xfrm>
          <a:prstGeom prst="rect">
            <a:avLst/>
          </a:prstGeom>
          <a:noFill/>
          <a:ln/>
        </p:spPr>
        <p:txBody>
          <a:bodyPr wrap="square" lIns="0" tIns="0" rIns="0" bIns="0" rtlCol="0" anchor="t"/>
          <a:lstStyle/>
          <a:p>
            <a:pPr marL="0" indent="0" algn="l">
              <a:lnSpc>
                <a:spcPts val="1139"/>
              </a:lnSpc>
              <a:buNone/>
            </a:pPr>
            <a:r>
              <a:rPr lang="en-US" sz="800" b="1" dirty="0">
                <a:solidFill>
                  <a:srgbClr val="C2410C"/>
                </a:solidFill>
                <a:latin typeface="Courier New" pitchFamily="34" charset="0"/>
                <a:ea typeface="Courier New" pitchFamily="34" charset="-122"/>
                <a:cs typeface="Courier New" pitchFamily="34" charset="-120"/>
              </a:rPr>
              <a:t>DAIR.AI Prompt Engineering Guide:</a:t>
            </a:r>
            <a:r>
              <a:rPr lang="en-US" sz="800" dirty="0">
                <a:solidFill>
                  <a:srgbClr val="334155"/>
                </a:solidFill>
                <a:latin typeface="Courier New" pitchFamily="34" charset="0"/>
                <a:ea typeface="Courier New" pitchFamily="34" charset="-122"/>
                <a:cs typeface="Courier New" pitchFamily="34" charset="-120"/>
              </a:rPr>
              <a:t> promptingguide.ai (free, open-source)</a:t>
            </a:r>
            <a:endParaRPr lang="en-US" sz="800" dirty="0"/>
          </a:p>
          <a:p>
            <a:pPr marL="0" indent="0" algn="l">
              <a:lnSpc>
                <a:spcPts val="1139"/>
              </a:lnSpc>
              <a:buNone/>
            </a:pPr>
            <a:r>
              <a:rPr lang="en-US" sz="800" b="1" dirty="0">
                <a:solidFill>
                  <a:srgbClr val="C2410C"/>
                </a:solidFill>
                <a:latin typeface="Courier New" pitchFamily="34" charset="0"/>
                <a:ea typeface="Courier New" pitchFamily="34" charset="-122"/>
                <a:cs typeface="Courier New" pitchFamily="34" charset="-120"/>
              </a:rPr>
              <a:t>Anthropic Prompt Engineering Guide:</a:t>
            </a:r>
            <a:r>
              <a:rPr lang="en-US" sz="800" dirty="0">
                <a:solidFill>
                  <a:srgbClr val="334155"/>
                </a:solidFill>
                <a:latin typeface="Courier New" pitchFamily="34" charset="0"/>
                <a:ea typeface="Courier New" pitchFamily="34" charset="-122"/>
                <a:cs typeface="Courier New" pitchFamily="34" charset="-120"/>
              </a:rPr>
              <a:t> docs.anthropic.com/claude/docs/prompt-engineering</a:t>
            </a:r>
            <a:endParaRPr lang="en-US" sz="800" dirty="0"/>
          </a:p>
        </p:txBody>
      </p:sp>
      <p:sp>
        <p:nvSpPr>
          <p:cNvPr id="23" name="Text 21"/>
          <p:cNvSpPr/>
          <p:nvPr/>
        </p:nvSpPr>
        <p:spPr>
          <a:xfrm>
            <a:off x="460772" y="3578237"/>
            <a:ext cx="4064794" cy="1042988"/>
          </a:xfrm>
          <a:prstGeom prst="roundRect">
            <a:avLst>
              <a:gd name="adj" fmla="val 12785"/>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24" name="Text 22"/>
          <p:cNvSpPr/>
          <p:nvPr/>
        </p:nvSpPr>
        <p:spPr>
          <a:xfrm>
            <a:off x="835819" y="3693207"/>
            <a:ext cx="1094445" cy="185166"/>
          </a:xfrm>
          <a:prstGeom prst="rect">
            <a:avLst/>
          </a:prstGeom>
          <a:noFill/>
          <a:ln/>
        </p:spPr>
        <p:txBody>
          <a:bodyPr wrap="none" lIns="0" tIns="0" rIns="0" bIns="0" rtlCol="0" anchor="t"/>
          <a:lstStyle/>
          <a:p>
            <a:pPr marL="0" indent="0" algn="l">
              <a:lnSpc>
                <a:spcPts val="1283"/>
              </a:lnSpc>
              <a:buNone/>
            </a:pPr>
            <a:r>
              <a:rPr lang="en-US" sz="1069" b="1" dirty="0">
                <a:solidFill>
                  <a:srgbClr val="0F172A"/>
                </a:solidFill>
                <a:latin typeface="Carlito" pitchFamily="34" charset="0"/>
                <a:ea typeface="Carlito" pitchFamily="34" charset="-122"/>
                <a:cs typeface="Carlito" pitchFamily="34" charset="-120"/>
              </a:rPr>
              <a:t>Tools to Install</a:t>
            </a:r>
            <a:endParaRPr lang="en-US" sz="1069" dirty="0"/>
          </a:p>
        </p:txBody>
      </p:sp>
      <p:sp>
        <p:nvSpPr>
          <p:cNvPr id="25" name="Text 23"/>
          <p:cNvSpPr/>
          <p:nvPr/>
        </p:nvSpPr>
        <p:spPr>
          <a:xfrm>
            <a:off x="592931" y="3696109"/>
            <a:ext cx="171450" cy="171450"/>
          </a:xfrm>
          <a:prstGeom prst="rect">
            <a:avLst/>
          </a:prstGeom>
          <a:noFill/>
          <a:ln/>
        </p:spPr>
        <p:txBody>
          <a:bodyPr wrap="none" lIns="0" tIns="0" rIns="0" bIns="0" rtlCol="0" anchor="ctr"/>
          <a:lstStyle/>
          <a:p>
            <a:pPr marL="0" indent="0" algn="ctr">
              <a:buNone/>
            </a:pPr>
            <a:r>
              <a:rPr lang="en-US" sz="1688" dirty="0">
                <a:solidFill>
                  <a:srgbClr val="F97316"/>
                </a:solidFill>
                <a:latin typeface="Segoe UI Symbol" pitchFamily="34" charset="0"/>
                <a:ea typeface="Segoe UI Symbol" pitchFamily="34" charset="-122"/>
                <a:cs typeface="Segoe UI Symbol" pitchFamily="34" charset="-120"/>
              </a:rPr>
              <a:t>↓</a:t>
            </a:r>
            <a:endParaRPr lang="en-US" sz="1688" dirty="0"/>
          </a:p>
        </p:txBody>
      </p:sp>
      <p:sp>
        <p:nvSpPr>
          <p:cNvPr id="26" name="Text 24"/>
          <p:cNvSpPr/>
          <p:nvPr/>
        </p:nvSpPr>
        <p:spPr>
          <a:xfrm>
            <a:off x="592931" y="3924709"/>
            <a:ext cx="3800475" cy="493776"/>
          </a:xfrm>
          <a:prstGeom prst="rect">
            <a:avLst/>
          </a:prstGeom>
          <a:noFill/>
          <a:ln/>
        </p:spPr>
        <p:txBody>
          <a:bodyPr wrap="square" lIns="0" tIns="0" rIns="0" bIns="0" rtlCol="0" anchor="t"/>
          <a:lstStyle/>
          <a:p>
            <a:pPr marL="0" indent="0" algn="l">
              <a:lnSpc>
                <a:spcPts val="1139"/>
              </a:lnSpc>
              <a:buNone/>
            </a:pPr>
            <a:r>
              <a:rPr lang="en-US" sz="800" b="1" dirty="0">
                <a:solidFill>
                  <a:srgbClr val="C2410C"/>
                </a:solidFill>
                <a:latin typeface="Courier New" pitchFamily="34" charset="0"/>
                <a:ea typeface="Courier New" pitchFamily="34" charset="-122"/>
                <a:cs typeface="Courier New" pitchFamily="34" charset="-120"/>
              </a:rPr>
              <a:t>Install:</a:t>
            </a:r>
            <a:r>
              <a:rPr lang="en-US" sz="800" dirty="0">
                <a:solidFill>
                  <a:srgbClr val="334155"/>
                </a:solidFill>
                <a:latin typeface="Courier New" pitchFamily="34" charset="0"/>
                <a:ea typeface="Courier New" pitchFamily="34" charset="-122"/>
                <a:cs typeface="Courier New" pitchFamily="34" charset="-120"/>
              </a:rPr>
              <a:t> ansible, terraform, tflint, checkov, ansible-lint, molecule</a:t>
            </a:r>
            <a:endParaRPr lang="en-US" sz="800" dirty="0"/>
          </a:p>
          <a:p>
            <a:pPr marL="0" indent="0" algn="l">
              <a:lnSpc>
                <a:spcPts val="1139"/>
              </a:lnSpc>
              <a:buNone/>
            </a:pPr>
            <a:r>
              <a:rPr lang="en-US" sz="800" b="1" dirty="0">
                <a:solidFill>
                  <a:srgbClr val="C2410C"/>
                </a:solidFill>
                <a:latin typeface="Courier New" pitchFamily="34" charset="0"/>
                <a:ea typeface="Courier New" pitchFamily="34" charset="-122"/>
                <a:cs typeface="Courier New" pitchFamily="34" charset="-120"/>
              </a:rPr>
              <a:t>Try:</a:t>
            </a:r>
            <a:r>
              <a:rPr lang="en-US" sz="800" dirty="0">
                <a:solidFill>
                  <a:srgbClr val="334155"/>
                </a:solidFill>
                <a:latin typeface="Courier New" pitchFamily="34" charset="0"/>
                <a:ea typeface="Courier New" pitchFamily="34" charset="-122"/>
                <a:cs typeface="Courier New" pitchFamily="34" charset="-120"/>
              </a:rPr>
              <a:t> GitHub Copilot free tier. Cursor IDE free trial. Continue.dev (open-source AI coding).</a:t>
            </a:r>
            <a:endParaRPr lang="en-US" sz="800" dirty="0"/>
          </a:p>
        </p:txBody>
      </p:sp>
      <p:sp>
        <p:nvSpPr>
          <p:cNvPr id="27" name="Text 25"/>
          <p:cNvSpPr/>
          <p:nvPr/>
        </p:nvSpPr>
        <p:spPr>
          <a:xfrm>
            <a:off x="4618434" y="3578237"/>
            <a:ext cx="4064794" cy="1042988"/>
          </a:xfrm>
          <a:prstGeom prst="roundRect">
            <a:avLst>
              <a:gd name="adj" fmla="val 12785"/>
            </a:avLst>
          </a:prstGeom>
          <a:solidFill>
            <a:srgbClr val="F8FAFC"/>
          </a:solidFill>
          <a:ln w="7144">
            <a:solidFill>
              <a:srgbClr val="CBD5E1"/>
            </a:solidFill>
            <a:prstDash val="solid"/>
          </a:ln>
        </p:spPr>
        <p:txBody>
          <a:bodyPr wrap="square" rtlCol="0" anchor="ctr"/>
          <a:lstStyle/>
          <a:p>
            <a:pPr marL="0" indent="0">
              <a:buNone/>
            </a:pPr>
            <a:endParaRPr lang="en-US" dirty="0"/>
          </a:p>
        </p:txBody>
      </p:sp>
      <p:sp>
        <p:nvSpPr>
          <p:cNvPr id="28" name="Text 26"/>
          <p:cNvSpPr/>
          <p:nvPr/>
        </p:nvSpPr>
        <p:spPr>
          <a:xfrm>
            <a:off x="4993481" y="3693207"/>
            <a:ext cx="1233413" cy="185166"/>
          </a:xfrm>
          <a:prstGeom prst="rect">
            <a:avLst/>
          </a:prstGeom>
          <a:noFill/>
          <a:ln/>
        </p:spPr>
        <p:txBody>
          <a:bodyPr wrap="none" lIns="0" tIns="0" rIns="0" bIns="0" rtlCol="0" anchor="t"/>
          <a:lstStyle/>
          <a:p>
            <a:pPr marL="0" indent="0" algn="l">
              <a:lnSpc>
                <a:spcPts val="1283"/>
              </a:lnSpc>
              <a:buNone/>
            </a:pPr>
            <a:r>
              <a:rPr lang="en-US" sz="1069" b="1" dirty="0">
                <a:solidFill>
                  <a:srgbClr val="0F172A"/>
                </a:solidFill>
                <a:latin typeface="Carlito" pitchFamily="34" charset="0"/>
                <a:ea typeface="Carlito" pitchFamily="34" charset="-122"/>
                <a:cs typeface="Carlito" pitchFamily="34" charset="-120"/>
              </a:rPr>
              <a:t>Practice Projects</a:t>
            </a:r>
            <a:endParaRPr lang="en-US" sz="1069" dirty="0"/>
          </a:p>
        </p:txBody>
      </p:sp>
      <p:sp>
        <p:nvSpPr>
          <p:cNvPr id="29" name="Text 27"/>
          <p:cNvSpPr/>
          <p:nvPr/>
        </p:nvSpPr>
        <p:spPr>
          <a:xfrm>
            <a:off x="4750594" y="3696109"/>
            <a:ext cx="171450" cy="171450"/>
          </a:xfrm>
          <a:prstGeom prst="rect">
            <a:avLst/>
          </a:prstGeom>
          <a:noFill/>
          <a:ln/>
        </p:spPr>
        <p:txBody>
          <a:bodyPr wrap="none" lIns="0" tIns="0" rIns="0" bIns="0" rtlCol="0" anchor="ctr"/>
          <a:lstStyle/>
          <a:p>
            <a:pPr marL="0" indent="0" algn="ctr">
              <a:buNone/>
            </a:pPr>
            <a:r>
              <a:rPr lang="en-US" sz="1688" dirty="0">
                <a:solidFill>
                  <a:srgbClr val="F97316"/>
                </a:solidFill>
                <a:latin typeface="Segoe UI Symbol" pitchFamily="34" charset="0"/>
                <a:ea typeface="Segoe UI Symbol" pitchFamily="34" charset="-122"/>
                <a:cs typeface="Segoe UI Symbol" pitchFamily="34" charset="-120"/>
              </a:rPr>
              <a:t>✦</a:t>
            </a:r>
            <a:endParaRPr lang="en-US" sz="1688" dirty="0"/>
          </a:p>
        </p:txBody>
      </p:sp>
      <p:sp>
        <p:nvSpPr>
          <p:cNvPr id="30" name="Text 28"/>
          <p:cNvSpPr/>
          <p:nvPr/>
        </p:nvSpPr>
        <p:spPr>
          <a:xfrm>
            <a:off x="4750594" y="3924709"/>
            <a:ext cx="3800475" cy="578644"/>
          </a:xfrm>
          <a:prstGeom prst="rect">
            <a:avLst/>
          </a:prstGeom>
          <a:noFill/>
          <a:ln/>
        </p:spPr>
        <p:txBody>
          <a:bodyPr wrap="square" lIns="0" tIns="0" rIns="0" bIns="0" rtlCol="0" anchor="t"/>
          <a:lstStyle/>
          <a:p>
            <a:pPr marL="0" indent="0" algn="l">
              <a:lnSpc>
                <a:spcPts val="1139"/>
              </a:lnSpc>
              <a:buNone/>
            </a:pPr>
            <a:r>
              <a:rPr lang="en-US" sz="800" b="1" dirty="0">
                <a:solidFill>
                  <a:srgbClr val="C2410C"/>
                </a:solidFill>
                <a:latin typeface="Liberation Sans Narrow" pitchFamily="34" charset="0"/>
                <a:ea typeface="Liberation Sans Narrow" pitchFamily="34" charset="-122"/>
                <a:cs typeface="Liberation Sans Narrow" pitchFamily="34" charset="-120"/>
              </a:rPr>
              <a:t>1.</a:t>
            </a:r>
            <a:r>
              <a:rPr lang="en-US" sz="800" dirty="0">
                <a:solidFill>
                  <a:srgbClr val="334155"/>
                </a:solidFill>
                <a:latin typeface="Courier New" pitchFamily="34" charset="0"/>
                <a:ea typeface="Courier New" pitchFamily="34" charset="-122"/>
                <a:cs typeface="Courier New" pitchFamily="34" charset="-120"/>
              </a:rPr>
              <a:t> Write an Ansible role to deploy a Flask app.</a:t>
            </a:r>
            <a:endParaRPr lang="en-US" sz="800" dirty="0"/>
          </a:p>
          <a:p>
            <a:pPr marL="0" indent="0" algn="l">
              <a:lnSpc>
                <a:spcPts val="1139"/>
              </a:lnSpc>
              <a:buNone/>
            </a:pPr>
            <a:r>
              <a:rPr lang="en-US" sz="800" b="1" dirty="0">
                <a:solidFill>
                  <a:srgbClr val="C2410C"/>
                </a:solidFill>
                <a:latin typeface="Liberation Sans Narrow" pitchFamily="34" charset="0"/>
                <a:ea typeface="Liberation Sans Narrow" pitchFamily="34" charset="-122"/>
                <a:cs typeface="Liberation Sans Narrow" pitchFamily="34" charset="-120"/>
              </a:rPr>
              <a:t>2.</a:t>
            </a:r>
            <a:r>
              <a:rPr lang="en-US" sz="800" dirty="0">
                <a:solidFill>
                  <a:srgbClr val="334155"/>
                </a:solidFill>
                <a:latin typeface="Courier New" pitchFamily="34" charset="0"/>
                <a:ea typeface="Courier New" pitchFamily="34" charset="-122"/>
                <a:cs typeface="Courier New" pitchFamily="34" charset="-120"/>
              </a:rPr>
              <a:t> Generate Terraform for a 3-tier VPC via NL prompt.</a:t>
            </a:r>
            <a:endParaRPr lang="en-US" sz="800" dirty="0"/>
          </a:p>
          <a:p>
            <a:pPr marL="0" indent="0" algn="l">
              <a:lnSpc>
                <a:spcPts val="1139"/>
              </a:lnSpc>
              <a:buNone/>
            </a:pPr>
            <a:r>
              <a:rPr lang="en-US" sz="800" b="1" dirty="0">
                <a:solidFill>
                  <a:srgbClr val="C2410C"/>
                </a:solidFill>
                <a:latin typeface="Liberation Sans Narrow" pitchFamily="34" charset="0"/>
                <a:ea typeface="Liberation Sans Narrow" pitchFamily="34" charset="-122"/>
                <a:cs typeface="Liberation Sans Narrow" pitchFamily="34" charset="-120"/>
              </a:rPr>
              <a:t>3.</a:t>
            </a:r>
            <a:r>
              <a:rPr lang="en-US" sz="800" dirty="0">
                <a:solidFill>
                  <a:srgbClr val="334155"/>
                </a:solidFill>
                <a:latin typeface="Courier New" pitchFamily="34" charset="0"/>
                <a:ea typeface="Courier New" pitchFamily="34" charset="-122"/>
                <a:cs typeface="Courier New" pitchFamily="34" charset="-120"/>
              </a:rPr>
              <a:t> Set up tflint + Checkov in a GitHub Actions workflow.</a:t>
            </a:r>
            <a:endParaRPr lang="en-US" sz="800" dirty="0"/>
          </a:p>
          <a:p>
            <a:pPr marL="0" indent="0" algn="l">
              <a:lnSpc>
                <a:spcPts val="1139"/>
              </a:lnSpc>
              <a:buNone/>
            </a:pPr>
            <a:r>
              <a:rPr lang="en-US" sz="800" b="1" dirty="0">
                <a:solidFill>
                  <a:srgbClr val="C2410C"/>
                </a:solidFill>
                <a:latin typeface="Liberation Sans Narrow" pitchFamily="34" charset="0"/>
                <a:ea typeface="Liberation Sans Narrow" pitchFamily="34" charset="-122"/>
                <a:cs typeface="Liberation Sans Narrow" pitchFamily="34" charset="-120"/>
              </a:rPr>
              <a:t>4.</a:t>
            </a:r>
            <a:r>
              <a:rPr lang="en-US" sz="800" dirty="0">
                <a:solidFill>
                  <a:srgbClr val="334155"/>
                </a:solidFill>
                <a:latin typeface="Courier New" pitchFamily="34" charset="0"/>
                <a:ea typeface="Courier New" pitchFamily="34" charset="-122"/>
                <a:cs typeface="Courier New" pitchFamily="34" charset="-120"/>
              </a:rPr>
              <a:t> Build a log-summarisation prompt template.</a:t>
            </a:r>
            <a:endParaRPr lang="en-US" sz="800" dirty="0"/>
          </a:p>
        </p:txBody>
      </p:sp>
      <p:sp>
        <p:nvSpPr>
          <p:cNvPr id="31" name="Text 29"/>
          <p:cNvSpPr/>
          <p:nvPr/>
        </p:nvSpPr>
        <p:spPr>
          <a:xfrm>
            <a:off x="457200" y="4710522"/>
            <a:ext cx="8229600" cy="361429"/>
          </a:xfrm>
          <a:prstGeom prst="roundRect">
            <a:avLst>
              <a:gd name="adj" fmla="val 21083"/>
            </a:avLst>
          </a:prstGeom>
          <a:solidFill>
            <a:srgbClr val="FFF7ED"/>
          </a:solidFill>
          <a:ln/>
        </p:spPr>
        <p:txBody>
          <a:bodyPr wrap="square" rtlCol="0" anchor="ctr"/>
          <a:lstStyle/>
          <a:p>
            <a:pPr marL="0" indent="0">
              <a:buNone/>
            </a:pPr>
            <a:endParaRPr lang="en-US" dirty="0"/>
          </a:p>
        </p:txBody>
      </p:sp>
      <p:sp>
        <p:nvSpPr>
          <p:cNvPr id="32" name="Shape 30"/>
          <p:cNvSpPr/>
          <p:nvPr/>
        </p:nvSpPr>
        <p:spPr>
          <a:xfrm>
            <a:off x="478631" y="4710522"/>
            <a:ext cx="0" cy="361429"/>
          </a:xfrm>
          <a:prstGeom prst="line">
            <a:avLst/>
          </a:prstGeom>
          <a:noFill/>
          <a:ln w="42863">
            <a:solidFill>
              <a:srgbClr val="F97316"/>
            </a:solidFill>
            <a:prstDash val="solid"/>
          </a:ln>
        </p:spPr>
      </p:sp>
      <p:sp>
        <p:nvSpPr>
          <p:cNvPr id="33" name="Text 31"/>
          <p:cNvSpPr/>
          <p:nvPr/>
        </p:nvSpPr>
        <p:spPr>
          <a:xfrm>
            <a:off x="657225" y="4796247"/>
            <a:ext cx="7872413" cy="189979"/>
          </a:xfrm>
          <a:prstGeom prst="rect">
            <a:avLst/>
          </a:prstGeom>
          <a:noFill/>
          <a:ln/>
        </p:spPr>
        <p:txBody>
          <a:bodyPr wrap="square" lIns="0" tIns="0" rIns="0" bIns="0" rtlCol="0" anchor="t"/>
          <a:lstStyle/>
          <a:p>
            <a:pPr marL="0" indent="0" algn="l">
              <a:lnSpc>
                <a:spcPts val="1496"/>
              </a:lnSpc>
              <a:buNone/>
            </a:pPr>
            <a:r>
              <a:rPr lang="en-US" sz="1069" b="1" dirty="0">
                <a:solidFill>
                  <a:srgbClr val="C2410C"/>
                </a:solidFill>
                <a:latin typeface="Segoe UI Symbol" pitchFamily="34" charset="0"/>
                <a:ea typeface="Segoe UI Symbol" pitchFamily="34" charset="-122"/>
                <a:cs typeface="Segoe UI Symbol" pitchFamily="34" charset="-120"/>
              </a:rPr>
              <a:t>▣</a:t>
            </a:r>
            <a:r>
              <a:rPr lang="en-US" sz="1069" b="1" dirty="0">
                <a:solidFill>
                  <a:srgbClr val="C2410C"/>
                </a:solidFill>
                <a:latin typeface="Carlito" pitchFamily="34" charset="0"/>
                <a:ea typeface="Carlito" pitchFamily="34" charset="-122"/>
                <a:cs typeface="Carlito" pitchFamily="34" charset="-120"/>
              </a:rPr>
              <a:t> Do not just read — DO. The assignments and lab exercises are where Module 4 concepts become skills.</a:t>
            </a:r>
            <a:endParaRPr lang="en-US" sz="1069"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pic>
        <p:nvPicPr>
          <p:cNvPr id="2" name="Image 0" descr="https://z-cdn.chatglm.cn/image-search-mcp/images-ppt/5482a7fc6c9b.jpg"/>
          <p:cNvPicPr>
            <a:picLocks noChangeAspect="1"/>
          </p:cNvPicPr>
          <p:nvPr/>
        </p:nvPicPr>
        <p:blipFill>
          <a:blip r:embed="rId3"/>
          <a:srcRect/>
          <a:stretch/>
        </p:blipFill>
        <p:spPr>
          <a:xfrm>
            <a:off x="0" y="0"/>
            <a:ext cx="9144000" cy="5143500"/>
          </a:xfrm>
          <a:prstGeom prst="rect">
            <a:avLst/>
          </a:prstGeom>
        </p:spPr>
      </p:pic>
      <p:sp>
        <p:nvSpPr>
          <p:cNvPr id="3" name="Text 0"/>
          <p:cNvSpPr/>
          <p:nvPr/>
        </p:nvSpPr>
        <p:spPr>
          <a:xfrm>
            <a:off x="0" y="0"/>
            <a:ext cx="9144000" cy="5143500"/>
          </a:xfrm>
          <a:prstGeom prst="rect">
            <a:avLst/>
          </a:prstGeom>
          <a:solidFill>
            <a:srgbClr val="0F172A">
              <a:alpha val="62000"/>
            </a:srgbClr>
          </a:solidFill>
          <a:ln/>
        </p:spPr>
        <p:txBody>
          <a:bodyPr wrap="square" rtlCol="0" anchor="ctr"/>
          <a:lstStyle/>
          <a:p>
            <a:pPr marL="0" indent="0">
              <a:buNone/>
            </a:pPr>
            <a:endParaRPr lang="en-US" dirty="0"/>
          </a:p>
        </p:txBody>
      </p:sp>
      <p:sp>
        <p:nvSpPr>
          <p:cNvPr id="4" name="Text 1"/>
          <p:cNvSpPr/>
          <p:nvPr/>
        </p:nvSpPr>
        <p:spPr>
          <a:xfrm>
            <a:off x="274320" y="1453195"/>
            <a:ext cx="8595360" cy="740664"/>
          </a:xfrm>
          <a:prstGeom prst="rect">
            <a:avLst/>
          </a:prstGeom>
          <a:noFill/>
          <a:ln/>
        </p:spPr>
        <p:txBody>
          <a:bodyPr wrap="none" lIns="0" tIns="0" rIns="0" bIns="0" rtlCol="0" anchor="t"/>
          <a:lstStyle/>
          <a:p>
            <a:pPr marL="0" indent="0" algn="ctr">
              <a:lnSpc>
                <a:spcPts val="5400"/>
              </a:lnSpc>
              <a:buNone/>
            </a:pPr>
            <a:r>
              <a:rPr lang="en-US" sz="5400" b="1" kern="0" spc="-169" dirty="0">
                <a:solidFill>
                  <a:srgbClr val="FFFFFF"/>
                </a:solidFill>
                <a:latin typeface="Carlito" pitchFamily="34" charset="0"/>
                <a:ea typeface="Carlito" pitchFamily="34" charset="-122"/>
                <a:cs typeface="Carlito" pitchFamily="34" charset="-120"/>
              </a:rPr>
              <a:t>Questions?</a:t>
            </a:r>
            <a:endParaRPr lang="en-US" sz="5400" dirty="0"/>
          </a:p>
        </p:txBody>
      </p:sp>
      <p:sp>
        <p:nvSpPr>
          <p:cNvPr id="5" name="Text 2"/>
          <p:cNvSpPr/>
          <p:nvPr/>
        </p:nvSpPr>
        <p:spPr>
          <a:xfrm>
            <a:off x="4071938" y="2253295"/>
            <a:ext cx="1000125" cy="42863"/>
          </a:xfrm>
          <a:prstGeom prst="roundRect">
            <a:avLst>
              <a:gd name="adj" fmla="val 66666"/>
            </a:avLst>
          </a:prstGeom>
          <a:solidFill>
            <a:srgbClr val="F97316"/>
          </a:solidFill>
          <a:ln/>
        </p:spPr>
        <p:txBody>
          <a:bodyPr wrap="square" rtlCol="0" anchor="ctr"/>
          <a:lstStyle/>
          <a:p>
            <a:pPr marL="0" indent="0">
              <a:buNone/>
            </a:pPr>
            <a:endParaRPr lang="en-US" dirty="0"/>
          </a:p>
        </p:txBody>
      </p:sp>
      <p:sp>
        <p:nvSpPr>
          <p:cNvPr id="6" name="Text 3"/>
          <p:cNvSpPr/>
          <p:nvPr/>
        </p:nvSpPr>
        <p:spPr>
          <a:xfrm>
            <a:off x="1440814" y="2439033"/>
            <a:ext cx="6262372" cy="320906"/>
          </a:xfrm>
          <a:prstGeom prst="rect">
            <a:avLst/>
          </a:prstGeom>
          <a:noFill/>
          <a:ln/>
        </p:spPr>
        <p:txBody>
          <a:bodyPr wrap="square" lIns="0" tIns="0" rIns="0" bIns="0" rtlCol="0" anchor="t"/>
          <a:lstStyle/>
          <a:p>
            <a:pPr marL="0" indent="0" algn="ctr">
              <a:lnSpc>
                <a:spcPts val="2340"/>
              </a:lnSpc>
              <a:buNone/>
            </a:pPr>
            <a:r>
              <a:rPr lang="en-US" sz="1800" dirty="0">
                <a:solidFill>
                  <a:srgbClr val="FFFFFF"/>
                </a:solidFill>
                <a:latin typeface="Carlito" pitchFamily="34" charset="0"/>
                <a:ea typeface="Carlito" pitchFamily="34" charset="-122"/>
                <a:cs typeface="Carlito" pitchFamily="34" charset="-120"/>
              </a:rPr>
              <a:t>Module 4 — AI-Assisted Build &amp; Configuration Automation</a:t>
            </a:r>
            <a:endParaRPr lang="en-US" sz="1800" dirty="0"/>
          </a:p>
        </p:txBody>
      </p:sp>
      <p:sp>
        <p:nvSpPr>
          <p:cNvPr id="7" name="Text 4"/>
          <p:cNvSpPr/>
          <p:nvPr/>
        </p:nvSpPr>
        <p:spPr>
          <a:xfrm>
            <a:off x="2639330" y="2936193"/>
            <a:ext cx="3865340" cy="223939"/>
          </a:xfrm>
          <a:prstGeom prst="rect">
            <a:avLst/>
          </a:prstGeom>
          <a:noFill/>
          <a:ln/>
        </p:spPr>
        <p:txBody>
          <a:bodyPr wrap="square" lIns="0" tIns="0" rIns="0" bIns="0" rtlCol="0" anchor="t">
            <a:normAutofit fontScale="70000" lnSpcReduction="20000"/>
          </a:bodyPr>
          <a:lstStyle/>
          <a:p>
            <a:pPr marL="0" indent="0" algn="ctr">
              <a:lnSpc>
                <a:spcPts val="1980"/>
              </a:lnSpc>
              <a:buNone/>
            </a:pPr>
            <a:r>
              <a:rPr lang="en-US" sz="1238" b="1" dirty="0">
                <a:solidFill>
                  <a:srgbClr val="FED7AA"/>
                </a:solidFill>
                <a:latin typeface="Carlito" pitchFamily="34" charset="0"/>
                <a:ea typeface="Carlito" pitchFamily="34" charset="-122"/>
                <a:cs typeface="Carlito" pitchFamily="34" charset="-120"/>
              </a:rPr>
              <a:t>Faculty:</a:t>
            </a:r>
            <a:r>
              <a:rPr lang="en-US" sz="1238" dirty="0">
                <a:solidFill>
                  <a:srgbClr val="FFFFFF"/>
                </a:solidFill>
                <a:latin typeface="Carlito" pitchFamily="34" charset="0"/>
                <a:ea typeface="Carlito" pitchFamily="34" charset="-122"/>
                <a:cs typeface="Carlito" pitchFamily="34" charset="-120"/>
              </a:rPr>
              <a:t> Mr. Shiva Prasad M</a:t>
            </a:r>
            <a:endParaRPr lang="en-US" sz="1238" dirty="0"/>
          </a:p>
        </p:txBody>
      </p:sp>
      <p:sp>
        <p:nvSpPr>
          <p:cNvPr id="8" name="Text 5"/>
          <p:cNvSpPr/>
          <p:nvPr/>
        </p:nvSpPr>
        <p:spPr>
          <a:xfrm>
            <a:off x="2639330" y="3187564"/>
            <a:ext cx="3865340" cy="223939"/>
          </a:xfrm>
          <a:prstGeom prst="rect">
            <a:avLst/>
          </a:prstGeom>
          <a:noFill/>
          <a:ln/>
        </p:spPr>
        <p:txBody>
          <a:bodyPr wrap="square" lIns="0" tIns="0" rIns="0" bIns="0" rtlCol="0" anchor="t">
            <a:normAutofit fontScale="70000" lnSpcReduction="20000"/>
          </a:bodyPr>
          <a:lstStyle/>
          <a:p>
            <a:pPr marL="0" indent="0" algn="ctr">
              <a:lnSpc>
                <a:spcPts val="1980"/>
              </a:lnSpc>
              <a:buNone/>
            </a:pPr>
            <a:r>
              <a:rPr lang="en-US" sz="1238" b="1" dirty="0">
                <a:solidFill>
                  <a:srgbClr val="FED7AA"/>
                </a:solidFill>
                <a:latin typeface="Carlito" pitchFamily="34" charset="0"/>
                <a:ea typeface="Carlito" pitchFamily="34" charset="-122"/>
                <a:cs typeface="Carlito" pitchFamily="34" charset="-120"/>
              </a:rPr>
              <a:t>Course:</a:t>
            </a:r>
            <a:r>
              <a:rPr lang="en-US" sz="1238" dirty="0">
                <a:solidFill>
                  <a:srgbClr val="FFFFFF"/>
                </a:solidFill>
                <a:latin typeface="Carlito" pitchFamily="34" charset="0"/>
                <a:ea typeface="Carlito" pitchFamily="34" charset="-122"/>
                <a:cs typeface="Carlito" pitchFamily="34" charset="-120"/>
              </a:rPr>
              <a:t> 24CSE539 | V Semester | AI Driven DevOps</a:t>
            </a:r>
            <a:endParaRPr lang="en-US" sz="1238" dirty="0"/>
          </a:p>
        </p:txBody>
      </p:sp>
      <p:sp>
        <p:nvSpPr>
          <p:cNvPr id="9" name="Text 6"/>
          <p:cNvSpPr/>
          <p:nvPr/>
        </p:nvSpPr>
        <p:spPr>
          <a:xfrm>
            <a:off x="2639330" y="3438934"/>
            <a:ext cx="3865340" cy="271480"/>
          </a:xfrm>
          <a:prstGeom prst="rect">
            <a:avLst/>
          </a:prstGeom>
          <a:noFill/>
          <a:ln/>
        </p:spPr>
        <p:txBody>
          <a:bodyPr wrap="square" lIns="0" tIns="0" rIns="0" bIns="0" rtlCol="0" anchor="t"/>
          <a:lstStyle/>
          <a:p>
            <a:pPr marL="0" indent="0" algn="ctr">
              <a:lnSpc>
                <a:spcPts val="1980"/>
              </a:lnSpc>
              <a:buNone/>
            </a:pPr>
            <a:r>
              <a:rPr lang="en-US" sz="1238" b="1" dirty="0">
                <a:solidFill>
                  <a:srgbClr val="FED7AA"/>
                </a:solidFill>
                <a:latin typeface="Carlito" pitchFamily="34" charset="0"/>
                <a:ea typeface="Carlito" pitchFamily="34" charset="-122"/>
                <a:cs typeface="Carlito" pitchFamily="34" charset="-120"/>
              </a:rPr>
              <a:t>Department:</a:t>
            </a:r>
            <a:r>
              <a:rPr lang="en-US" sz="1238" dirty="0">
                <a:solidFill>
                  <a:srgbClr val="FFFFFF"/>
                </a:solidFill>
                <a:latin typeface="Carlito" pitchFamily="34" charset="0"/>
                <a:ea typeface="Carlito" pitchFamily="34" charset="-122"/>
                <a:cs typeface="Carlito" pitchFamily="34" charset="-120"/>
              </a:rPr>
              <a:t> Department of CSE (AI Driven DevOps)</a:t>
            </a:r>
            <a:endParaRPr lang="en-US" sz="1238" dirty="0"/>
          </a:p>
        </p:txBody>
      </p:sp>
      <p:sp>
        <p:nvSpPr>
          <p:cNvPr id="10" name="Text 7"/>
          <p:cNvSpPr/>
          <p:nvPr/>
        </p:nvSpPr>
        <p:spPr>
          <a:xfrm>
            <a:off x="8198815" y="4273672"/>
            <a:ext cx="710870" cy="265589"/>
          </a:xfrm>
          <a:prstGeom prst="roundRect">
            <a:avLst>
              <a:gd name="adj" fmla="val 3582782"/>
            </a:avLst>
          </a:prstGeom>
          <a:solidFill>
            <a:srgbClr val="F97316">
              <a:alpha val="18000"/>
            </a:srgbClr>
          </a:solidFill>
          <a:ln w="7144">
            <a:solidFill>
              <a:srgbClr val="F97316"/>
            </a:solidFill>
            <a:prstDash val="solid"/>
          </a:ln>
        </p:spPr>
        <p:txBody>
          <a:bodyPr wrap="square" rtlCol="0" anchor="ctr"/>
          <a:lstStyle/>
          <a:p>
            <a:pPr marL="0" indent="0">
              <a:buNone/>
            </a:pPr>
            <a:endParaRPr lang="en-US" dirty="0"/>
          </a:p>
        </p:txBody>
      </p:sp>
      <p:sp>
        <p:nvSpPr>
          <p:cNvPr id="11" name="Text 8"/>
          <p:cNvSpPr/>
          <p:nvPr/>
        </p:nvSpPr>
        <p:spPr>
          <a:xfrm>
            <a:off x="8221675" y="4286473"/>
            <a:ext cx="665150" cy="239985"/>
          </a:xfrm>
          <a:prstGeom prst="rect">
            <a:avLst/>
          </a:prstGeom>
          <a:noFill/>
          <a:ln/>
        </p:spPr>
        <p:txBody>
          <a:bodyPr wrap="none" lIns="0" tIns="0" rIns="0" bIns="0" rtlCol="0" anchor="ctr"/>
          <a:lstStyle/>
          <a:p>
            <a:pPr marL="0" indent="0" algn="ctr">
              <a:lnSpc>
                <a:spcPts val="1103"/>
              </a:lnSpc>
              <a:buNone/>
            </a:pPr>
            <a:r>
              <a:rPr lang="en-US" sz="800" b="1" kern="0" spc="84" dirty="0">
                <a:solidFill>
                  <a:srgbClr val="FED7AA"/>
                </a:solidFill>
                <a:latin typeface="Carlito" pitchFamily="34" charset="0"/>
                <a:ea typeface="Carlito" pitchFamily="34" charset="-122"/>
                <a:cs typeface="Carlito" pitchFamily="34" charset="-120"/>
              </a:rPr>
              <a:t>UP NEXT</a:t>
            </a:r>
            <a:endParaRPr lang="en-US" sz="800" dirty="0"/>
          </a:p>
        </p:txBody>
      </p:sp>
      <p:sp>
        <p:nvSpPr>
          <p:cNvPr id="12" name="Text 9"/>
          <p:cNvSpPr/>
          <p:nvPr/>
        </p:nvSpPr>
        <p:spPr>
          <a:xfrm>
            <a:off x="6315075" y="4583609"/>
            <a:ext cx="2571750" cy="388656"/>
          </a:xfrm>
          <a:prstGeom prst="rect">
            <a:avLst/>
          </a:prstGeom>
          <a:noFill/>
          <a:ln/>
        </p:spPr>
        <p:txBody>
          <a:bodyPr wrap="square" lIns="0" tIns="0" rIns="0" bIns="0" rtlCol="0" anchor="t"/>
          <a:lstStyle/>
          <a:p>
            <a:pPr marL="0" indent="0" algn="r">
              <a:lnSpc>
                <a:spcPts val="1418"/>
              </a:lnSpc>
              <a:buNone/>
            </a:pPr>
            <a:r>
              <a:rPr lang="en-US" sz="1013" dirty="0">
                <a:solidFill>
                  <a:srgbClr val="FFFFFF"/>
                </a:solidFill>
                <a:latin typeface="Carlito" pitchFamily="34" charset="0"/>
                <a:ea typeface="Carlito" pitchFamily="34" charset="-122"/>
                <a:cs typeface="Carlito" pitchFamily="34" charset="-120"/>
              </a:rPr>
              <a:t>Module 5 — Intelligent Operations &amp; Continuous Automation (AIOps)</a:t>
            </a:r>
            <a:endParaRPr lang="en-US" sz="1013"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TotalTime>
  <Words>27552</Words>
  <Application>Microsoft Office PowerPoint</Application>
  <PresentationFormat>On-screen Show (16:9)</PresentationFormat>
  <Paragraphs>2724</Paragraphs>
  <Slides>88</Slides>
  <Notes>88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88</vt:i4>
      </vt:variant>
    </vt:vector>
  </HeadingPairs>
  <TitlesOfParts>
    <vt:vector size="94" baseType="lpstr">
      <vt:lpstr>Arial</vt:lpstr>
      <vt:lpstr>Carlito</vt:lpstr>
      <vt:lpstr>Courier New</vt:lpstr>
      <vt:lpstr>Liberation Sans Narrow</vt:lpstr>
      <vt:lpstr>Segoe UI Symbol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shiva prasad</cp:lastModifiedBy>
  <cp:revision>5</cp:revision>
  <dcterms:created xsi:type="dcterms:W3CDTF">2026-10-12T08:12:32Z</dcterms:created>
  <dcterms:modified xsi:type="dcterms:W3CDTF">2026-10-12T08:47:09Z</dcterms:modified>
</cp:coreProperties>
</file>